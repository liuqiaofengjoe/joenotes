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64" r:id="rId2"/>
    <p:sldMasterId id="2147483948" r:id="rId3"/>
    <p:sldMasterId id="2147484050" r:id="rId4"/>
  </p:sldMasterIdLst>
  <p:sldIdLst>
    <p:sldId id="256" r:id="rId5"/>
    <p:sldId id="257" r:id="rId6"/>
    <p:sldId id="259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1" r:id="rId20"/>
    <p:sldId id="272" r:id="rId21"/>
    <p:sldId id="305" r:id="rId22"/>
    <p:sldId id="274" r:id="rId23"/>
    <p:sldId id="275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76" r:id="rId32"/>
    <p:sldId id="277" r:id="rId33"/>
    <p:sldId id="278" r:id="rId34"/>
    <p:sldId id="279" r:id="rId35"/>
    <p:sldId id="280" r:id="rId36"/>
    <p:sldId id="281" r:id="rId37"/>
    <p:sldId id="289" r:id="rId38"/>
    <p:sldId id="293" r:id="rId39"/>
    <p:sldId id="290" r:id="rId40"/>
    <p:sldId id="291" r:id="rId41"/>
    <p:sldId id="292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6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19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53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70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4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6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2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2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6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4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7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469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77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65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50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42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48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691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91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1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610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7916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006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0861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467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7326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65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54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453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6485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105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08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1576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1261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7326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215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50982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3960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4106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9697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74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247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695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479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94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83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826E396-A5D1-4FE1-A3F5-4D00D589E982}" type="datetimeFigureOut">
              <a:rPr lang="zh-CN" altLang="en-US" smtClean="0"/>
              <a:t>2024/1/10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CE1DEE5-49BA-4ACB-8E2F-A10C61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3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wingdi/ns-wingdi-bitmapv4header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wingdi/ns-wingdi-bitmapv5header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TR/png-3/" TargetMode="Externa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颜</a:t>
            </a:r>
            <a:r>
              <a:rPr lang="zh-CN" altLang="en-US" dirty="0" smtClean="0"/>
              <a:t>色编码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Hudson</a:t>
            </a:r>
            <a:r>
              <a:rPr lang="en-US" altLang="zh-CN" dirty="0"/>
              <a:t>,</a:t>
            </a:r>
            <a:r>
              <a:rPr lang="en-US" altLang="zh-CN" dirty="0" smtClean="0"/>
              <a:t> 2024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041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为什</a:t>
            </a:r>
            <a:r>
              <a:rPr lang="zh-CN" altLang="en-US" sz="2800" dirty="0" smtClean="0"/>
              <a:t>么同一个图像在不同的机器上看起来</a:t>
            </a:r>
            <a:r>
              <a:rPr lang="zh-CN" altLang="en-US" sz="2800" dirty="0"/>
              <a:t>颜色</a:t>
            </a:r>
            <a:r>
              <a:rPr lang="zh-CN" altLang="en-US" sz="2800" dirty="0" smtClean="0"/>
              <a:t>不一样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70119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简短回答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600" dirty="0" smtClean="0"/>
              <a:t>彩色是</a:t>
            </a:r>
            <a:r>
              <a:rPr lang="en-US" altLang="zh-CN" sz="2600" dirty="0" smtClean="0"/>
              <a:t>RGB</a:t>
            </a:r>
            <a:r>
              <a:rPr lang="zh-CN" altLang="en-US" sz="2600" dirty="0" smtClean="0"/>
              <a:t>三原色的叠加，不同的机器的三原色不一样</a:t>
            </a:r>
            <a:endParaRPr lang="en-US" altLang="zh-CN" sz="2600" dirty="0" smtClean="0"/>
          </a:p>
          <a:p>
            <a:pPr lvl="1"/>
            <a:r>
              <a:rPr lang="en-US" altLang="zh-CN" sz="2200" dirty="0" smtClean="0"/>
              <a:t>CRT</a:t>
            </a:r>
            <a:r>
              <a:rPr lang="zh-CN" altLang="en-US" sz="2200" dirty="0" smtClean="0"/>
              <a:t>：荧光粉的组成成分不同</a:t>
            </a:r>
            <a:endParaRPr lang="en-US" altLang="zh-CN" sz="2200" dirty="0" smtClean="0"/>
          </a:p>
          <a:p>
            <a:pPr lvl="1"/>
            <a:r>
              <a:rPr lang="en-US" altLang="zh-CN" sz="2200" dirty="0" smtClean="0"/>
              <a:t>LED</a:t>
            </a:r>
            <a:r>
              <a:rPr lang="zh-CN" altLang="en-US" sz="2200" dirty="0" smtClean="0"/>
              <a:t>：半导体材料成分不同、荧光粉成分不同</a:t>
            </a:r>
            <a:endParaRPr lang="en-US" altLang="zh-CN" sz="2200" dirty="0" smtClean="0"/>
          </a:p>
          <a:p>
            <a:pPr lvl="1"/>
            <a:r>
              <a:rPr lang="en-US" altLang="zh-CN" sz="2200" dirty="0" smtClean="0"/>
              <a:t>LCD</a:t>
            </a:r>
            <a:endParaRPr lang="en-US" altLang="zh-CN" sz="2200" dirty="0"/>
          </a:p>
          <a:p>
            <a:pPr lvl="2"/>
            <a:r>
              <a:rPr lang="en-US" altLang="zh-CN" sz="2000" dirty="0" smtClean="0"/>
              <a:t>CCFL</a:t>
            </a:r>
            <a:r>
              <a:rPr lang="zh-CN" altLang="en-US" sz="2000" dirty="0" smtClean="0"/>
              <a:t>：背光灯管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荧光粉</a:t>
            </a:r>
            <a:r>
              <a:rPr lang="zh-CN" altLang="en-US" sz="2000" dirty="0" smtClean="0"/>
              <a:t>成</a:t>
            </a:r>
            <a:r>
              <a:rPr lang="zh-CN" altLang="en-US" sz="2000" dirty="0" smtClean="0"/>
              <a:t>分不同</a:t>
            </a:r>
            <a:endParaRPr lang="en-US" altLang="zh-CN" sz="2000" dirty="0" smtClean="0"/>
          </a:p>
          <a:p>
            <a:pPr lvl="2"/>
            <a:r>
              <a:rPr lang="en-US" altLang="zh-CN" sz="2000" dirty="0" smtClean="0"/>
              <a:t>LED</a:t>
            </a:r>
          </a:p>
          <a:p>
            <a:pPr lvl="2"/>
            <a:r>
              <a:rPr lang="zh-CN" altLang="en-US" sz="2000" dirty="0"/>
              <a:t>滤色</a:t>
            </a:r>
            <a:r>
              <a:rPr lang="zh-CN" altLang="en-US" sz="2000" dirty="0" smtClean="0"/>
              <a:t>片的光谱特性不同</a:t>
            </a:r>
            <a:endParaRPr lang="en-US" altLang="zh-CN" sz="2000" dirty="0" smtClean="0"/>
          </a:p>
          <a:p>
            <a:r>
              <a:rPr lang="zh-CN" altLang="en-US" sz="2600" dirty="0" smtClean="0"/>
              <a:t>器件会老化，同一台机器，它的三原色也会发生变化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10057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985" t="1156" r="1290"/>
          <a:stretch/>
        </p:blipFill>
        <p:spPr>
          <a:xfrm>
            <a:off x="2056653" y="3245969"/>
            <a:ext cx="2890621" cy="30716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</a:t>
            </a:r>
            <a:r>
              <a:rPr lang="zh-CN" altLang="en-US" dirty="0" smtClean="0"/>
              <a:t>类色彩感知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生理基础</a:t>
            </a:r>
            <a:endParaRPr lang="en-US" altLang="zh-CN" sz="2800" dirty="0" smtClean="0"/>
          </a:p>
          <a:p>
            <a:pPr lvl="1"/>
            <a:r>
              <a:rPr lang="zh-CN" altLang="en-US" sz="2400" dirty="0"/>
              <a:t>视杆细胞</a:t>
            </a:r>
          </a:p>
          <a:p>
            <a:pPr lvl="1"/>
            <a:r>
              <a:rPr lang="zh-CN" altLang="en-US" sz="2400" dirty="0" smtClean="0"/>
              <a:t>视锥细胞</a:t>
            </a:r>
            <a:endParaRPr lang="en-US" altLang="zh-CN" sz="24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55" y="3242844"/>
            <a:ext cx="4115177" cy="30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4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色彩匹配</a:t>
            </a:r>
            <a:r>
              <a:rPr lang="en-US" altLang="zh-CN" dirty="0"/>
              <a:t> </a:t>
            </a:r>
            <a:r>
              <a:rPr lang="en-US" altLang="zh-CN" dirty="0" smtClean="0"/>
              <a:t>color matching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1920</a:t>
            </a:r>
            <a:r>
              <a:rPr lang="zh-CN" altLang="en-US" sz="2400" dirty="0" smtClean="0"/>
              <a:t>年代做了一系列的色彩匹配实验</a:t>
            </a:r>
            <a:endParaRPr lang="zh-CN" altLang="en-US" sz="2400" dirty="0"/>
          </a:p>
        </p:txBody>
      </p:sp>
      <p:pic>
        <p:nvPicPr>
          <p:cNvPr id="2050" name="Picture 2" descr="Perception Lecture Notes: Col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2" b="27191"/>
          <a:stretch/>
        </p:blipFill>
        <p:spPr bwMode="auto">
          <a:xfrm>
            <a:off x="2059212" y="2499217"/>
            <a:ext cx="7000679" cy="301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58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CIE 1931 RGB color space</a:t>
            </a:r>
            <a:endParaRPr lang="zh-CN" altLang="en-US" sz="2400" dirty="0"/>
          </a:p>
        </p:txBody>
      </p:sp>
      <p:pic>
        <p:nvPicPr>
          <p:cNvPr id="3074" name="Picture 2" descr="File:CIE1931 RGBCM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377" y="2444875"/>
            <a:ext cx="4980349" cy="37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03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680" y="3161514"/>
            <a:ext cx="5811023" cy="3525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实验数据整理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1828800"/>
            <a:ext cx="4814188" cy="4351337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CIE 1931 XYZ color space</a:t>
            </a:r>
          </a:p>
          <a:p>
            <a:pPr lvl="1"/>
            <a:r>
              <a:rPr lang="zh-CN" altLang="en-US" sz="2000" dirty="0" smtClean="0"/>
              <a:t>假想的三原色</a:t>
            </a:r>
            <a:r>
              <a:rPr lang="en-US" altLang="zh-CN" sz="2000" dirty="0" smtClean="0"/>
              <a:t>XYZ</a:t>
            </a:r>
          </a:p>
          <a:p>
            <a:pPr lvl="1"/>
            <a:r>
              <a:rPr lang="zh-CN" altLang="en-US" sz="2000" dirty="0"/>
              <a:t>曲</a:t>
            </a:r>
            <a:r>
              <a:rPr lang="zh-CN" altLang="en-US" sz="2000" dirty="0" smtClean="0"/>
              <a:t>线没有负数部分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Y</a:t>
            </a:r>
            <a:r>
              <a:rPr lang="zh-CN" altLang="en-US" sz="2000" dirty="0"/>
              <a:t>符合</a:t>
            </a:r>
            <a:r>
              <a:rPr lang="zh-CN" altLang="en-US" sz="2000" dirty="0" smtClean="0"/>
              <a:t>早前测量得到的亮度响应特性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7316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939" y="1828800"/>
            <a:ext cx="4262437" cy="44882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CIE 1931 XYZ </a:t>
            </a:r>
            <a:r>
              <a:rPr lang="zh-CN" altLang="en-US" dirty="0" smtClean="0"/>
              <a:t>的用途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派</a:t>
            </a:r>
            <a:r>
              <a:rPr lang="zh-CN" altLang="en-US" sz="2400" dirty="0" smtClean="0"/>
              <a:t>生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xyY color space</a:t>
            </a:r>
          </a:p>
          <a:p>
            <a:pPr lvl="1"/>
            <a:r>
              <a:rPr lang="en-US" altLang="zh-CN" sz="2000" dirty="0" smtClean="0"/>
              <a:t>x = X / (X + Y + Z)</a:t>
            </a:r>
          </a:p>
          <a:p>
            <a:pPr lvl="1"/>
            <a:r>
              <a:rPr lang="en-US" altLang="zh-CN" sz="2000" dirty="0" smtClean="0"/>
              <a:t>y = Y / (X + Y + Z)</a:t>
            </a:r>
          </a:p>
          <a:p>
            <a:pPr lvl="1"/>
            <a:r>
              <a:rPr lang="en-US" altLang="zh-CN" sz="2000" dirty="0" smtClean="0"/>
              <a:t>z = Z / (X + Y + Z)</a:t>
            </a:r>
          </a:p>
          <a:p>
            <a:r>
              <a:rPr lang="zh-CN" altLang="en-US" sz="2400" dirty="0"/>
              <a:t>色</a:t>
            </a:r>
            <a:r>
              <a:rPr lang="zh-CN" altLang="en-US" sz="2400" dirty="0" smtClean="0"/>
              <a:t>度图 </a:t>
            </a:r>
            <a:r>
              <a:rPr lang="en-US" altLang="zh-CN" sz="2400" dirty="0" smtClean="0"/>
              <a:t>chromaticity diagram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062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80" y="1608007"/>
            <a:ext cx="4802505" cy="52499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CIE 1931 XYZ</a:t>
            </a:r>
            <a:r>
              <a:rPr lang="zh-CN" altLang="en-US" dirty="0" smtClean="0"/>
              <a:t>的用途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定义</a:t>
            </a:r>
            <a:r>
              <a:rPr lang="zh-CN" altLang="en-US" sz="2400" dirty="0"/>
              <a:t>实</a:t>
            </a:r>
            <a:r>
              <a:rPr lang="zh-CN" altLang="en-US" sz="2400" dirty="0" smtClean="0"/>
              <a:t>用的</a:t>
            </a:r>
            <a:r>
              <a:rPr lang="en-US" altLang="zh-CN" sz="2400" dirty="0" smtClean="0"/>
              <a:t>RGB color space</a:t>
            </a:r>
          </a:p>
          <a:p>
            <a:pPr lvl="1"/>
            <a:r>
              <a:rPr lang="en-US" altLang="zh-CN" sz="2000" dirty="0" smtClean="0"/>
              <a:t>BT.709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62" y="3611221"/>
            <a:ext cx="4816608" cy="167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5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白</a:t>
            </a:r>
            <a:r>
              <a:rPr lang="zh-CN" altLang="en-US" dirty="0" smtClean="0"/>
              <a:t>点 </a:t>
            </a:r>
            <a:r>
              <a:rPr lang="en-US" altLang="zh-CN" dirty="0" smtClean="0"/>
              <a:t>white point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1828800"/>
            <a:ext cx="4538853" cy="4351337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只有三原色不足以定义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，因为只知道它们在哪，不知道它们的比例</a:t>
            </a:r>
            <a:endParaRPr lang="en-US" altLang="zh-CN" sz="2000" dirty="0" smtClean="0"/>
          </a:p>
          <a:p>
            <a:r>
              <a:rPr lang="zh-CN" altLang="en-US" sz="2000" dirty="0"/>
              <a:t>通</a:t>
            </a:r>
            <a:r>
              <a:rPr lang="zh-CN" altLang="en-US" sz="2000" dirty="0" smtClean="0"/>
              <a:t>过定义白点，定义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的比例</a:t>
            </a:r>
            <a:endParaRPr lang="en-US" altLang="zh-CN" sz="2000" dirty="0" smtClean="0"/>
          </a:p>
          <a:p>
            <a:pPr lvl="1"/>
            <a:r>
              <a:rPr lang="en-US" altLang="zh-CN" sz="1800" dirty="0" smtClean="0"/>
              <a:t>BT.709</a:t>
            </a:r>
            <a:endParaRPr lang="zh-CN" altLang="en-US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07" y="1379471"/>
            <a:ext cx="4802505" cy="52499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89" y="3395796"/>
            <a:ext cx="4890135" cy="281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1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线性 </a:t>
            </a:r>
            <a:r>
              <a:rPr lang="en-US" altLang="zh-CN" dirty="0" smtClean="0"/>
              <a:t>RGB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400" dirty="0" smtClean="0"/>
                  <a:t>我们知道通过四个 </a:t>
                </a:r>
                <a:r>
                  <a:rPr lang="en-US" altLang="zh-CN" sz="2400" dirty="0" smtClean="0"/>
                  <a:t>CIE 1931 xy </a:t>
                </a:r>
                <a:r>
                  <a:rPr lang="zh-CN" altLang="en-US" sz="2400" dirty="0" smtClean="0"/>
                  <a:t>坐标点可以确定一个 </a:t>
                </a:r>
                <a:r>
                  <a:rPr lang="en-US" altLang="zh-CN" sz="2400" dirty="0" smtClean="0"/>
                  <a:t>RGB </a:t>
                </a:r>
                <a:r>
                  <a:rPr lang="zh-CN" altLang="en-US" sz="2400" dirty="0" smtClean="0"/>
                  <a:t>色彩空间</a:t>
                </a:r>
                <a:endParaRPr lang="en-US" altLang="zh-CN" sz="2400" dirty="0" smtClean="0"/>
              </a:p>
              <a:p>
                <a:pPr lvl="1"/>
                <a:r>
                  <a:rPr lang="zh-CN" altLang="en-US" sz="2000" dirty="0"/>
                  <a:t>各种颜色</a:t>
                </a:r>
                <a:r>
                  <a:rPr lang="zh-CN" altLang="en-US" sz="2000" dirty="0" smtClean="0"/>
                  <a:t>是三原色的线性组合</a:t>
                </a:r>
                <a:endParaRPr lang="en-US" altLang="zh-CN" sz="2000" dirty="0" smtClean="0"/>
              </a:p>
              <a:p>
                <a:pPr lvl="1"/>
                <a:r>
                  <a:rPr lang="zh-CN" altLang="en-US" sz="2000" dirty="0"/>
                  <a:t>这</a:t>
                </a:r>
                <a:r>
                  <a:rPr lang="zh-CN" altLang="en-US" sz="2000" dirty="0" smtClean="0"/>
                  <a:t>个空间下，</a:t>
                </a:r>
                <a:r>
                  <a:rPr lang="en-US" altLang="zh-CN" sz="2000" dirty="0" smtClean="0"/>
                  <a:t>R</a:t>
                </a:r>
                <a:r>
                  <a:rPr lang="zh-CN" altLang="en-US" sz="2000" dirty="0" smtClean="0"/>
                  <a:t>、</a:t>
                </a:r>
                <a:r>
                  <a:rPr lang="en-US" altLang="zh-CN" sz="2000" dirty="0" smtClean="0"/>
                  <a:t>G</a:t>
                </a:r>
                <a:r>
                  <a:rPr lang="zh-CN" altLang="en-US" sz="2000" dirty="0" smtClean="0"/>
                  <a:t>、</a:t>
                </a:r>
                <a:r>
                  <a:rPr lang="en-US" altLang="zh-CN" sz="2000" dirty="0" smtClean="0"/>
                  <a:t>B</a:t>
                </a:r>
                <a:r>
                  <a:rPr lang="zh-CN" altLang="en-US" sz="2000" dirty="0" smtClean="0"/>
                  <a:t>是表示光的强度的物理量</a:t>
                </a:r>
                <a:endParaRPr lang="en-US" altLang="zh-CN" sz="2000" dirty="0" smtClean="0"/>
              </a:p>
              <a:p>
                <a:pPr lvl="2"/>
                <a:r>
                  <a:rPr lang="en-US" altLang="zh-CN" sz="1800" dirty="0" smtClean="0"/>
                  <a:t>R</a:t>
                </a:r>
                <a:r>
                  <a:rPr lang="zh-CN" altLang="en-US" sz="1800" dirty="0" smtClean="0"/>
                  <a:t>、</a:t>
                </a:r>
                <a:r>
                  <a:rPr lang="en-US" altLang="zh-CN" sz="1800" dirty="0" smtClean="0"/>
                  <a:t>G</a:t>
                </a:r>
                <a:r>
                  <a:rPr lang="zh-CN" altLang="en-US" sz="1800" dirty="0" smtClean="0"/>
                  <a:t>、</a:t>
                </a:r>
                <a:r>
                  <a:rPr lang="en-US" altLang="zh-CN" sz="1800" dirty="0" smtClean="0"/>
                  <a:t>B</a:t>
                </a:r>
                <a:r>
                  <a:rPr lang="zh-CN" altLang="en-US" sz="1800" dirty="0" smtClean="0"/>
                  <a:t>的值与光强度成线性比例</a:t>
                </a:r>
                <a:r>
                  <a:rPr lang="en-US" altLang="zh-CN" sz="1800" dirty="0" smtClean="0"/>
                  <a:t>——linear RGB</a:t>
                </a:r>
                <a:r>
                  <a:rPr lang="zh-CN" altLang="en-US" sz="1800" dirty="0" smtClean="0"/>
                  <a:t>（</a:t>
                </a:r>
                <a:r>
                  <a:rPr lang="en-US" altLang="zh-CN" sz="1800" dirty="0" smtClean="0"/>
                  <a:t>LR</a:t>
                </a:r>
                <a:r>
                  <a:rPr lang="zh-CN" altLang="en-US" sz="1800" dirty="0" smtClean="0"/>
                  <a:t>，</a:t>
                </a:r>
                <a:r>
                  <a:rPr lang="en-US" altLang="zh-CN" sz="1800" dirty="0" smtClean="0"/>
                  <a:t>LG</a:t>
                </a:r>
                <a:r>
                  <a:rPr lang="zh-CN" altLang="en-US" sz="1800" dirty="0" smtClean="0"/>
                  <a:t>，</a:t>
                </a:r>
                <a:r>
                  <a:rPr lang="en-US" altLang="zh-CN" sz="1800" dirty="0" smtClean="0"/>
                  <a:t>LB</a:t>
                </a:r>
                <a:r>
                  <a:rPr lang="zh-CN" altLang="en-US" sz="1800" dirty="0" smtClean="0"/>
                  <a:t>）</a:t>
                </a:r>
                <a:endParaRPr lang="en-US" altLang="zh-CN" sz="1800" dirty="0" smtClean="0"/>
              </a:p>
              <a:p>
                <a:pPr lvl="1"/>
                <a:r>
                  <a:rPr lang="zh-CN" altLang="en-US" sz="2000" dirty="0"/>
                  <a:t>线</a:t>
                </a:r>
                <a:r>
                  <a:rPr lang="zh-CN" altLang="en-US" sz="2000" dirty="0" smtClean="0"/>
                  <a:t>性 </a:t>
                </a:r>
                <a:r>
                  <a:rPr lang="en-US" altLang="zh-CN" sz="2000" dirty="0" smtClean="0"/>
                  <a:t>RGB </a:t>
                </a:r>
                <a:r>
                  <a:rPr lang="zh-CN" altLang="en-US" sz="2000" dirty="0" smtClean="0"/>
                  <a:t>和 </a:t>
                </a:r>
                <a:r>
                  <a:rPr lang="en-US" altLang="zh-CN" sz="2000" dirty="0" smtClean="0"/>
                  <a:t>XYZ </a:t>
                </a:r>
                <a:r>
                  <a:rPr lang="zh-CN" altLang="en-US" sz="2000" dirty="0" smtClean="0"/>
                  <a:t>直</a:t>
                </a:r>
                <a:r>
                  <a:rPr lang="zh-CN" altLang="en-US" sz="2000" dirty="0" smtClean="0"/>
                  <a:t>接可以通</a:t>
                </a:r>
                <a:r>
                  <a:rPr lang="zh-CN" altLang="en-US" sz="2000" dirty="0" smtClean="0"/>
                  <a:t>过 </a:t>
                </a:r>
                <a:r>
                  <a:rPr lang="en-US" altLang="zh-CN" sz="2000" smtClean="0"/>
                  <a:t>3×3 </a:t>
                </a:r>
                <a:r>
                  <a:rPr lang="zh-CN" altLang="en-US" sz="2000" dirty="0" smtClean="0"/>
                  <a:t>矩</a:t>
                </a:r>
                <a:r>
                  <a:rPr lang="zh-CN" altLang="en-US" sz="2000" dirty="0" smtClean="0"/>
                  <a:t>阵互相转换</a:t>
                </a:r>
                <a:endParaRPr lang="en-US" altLang="zh-CN" sz="2000" dirty="0"/>
              </a:p>
              <a:p>
                <a:pPr lvl="1"/>
                <a:endParaRPr lang="en-US" altLang="zh-CN" sz="2000" dirty="0" smtClean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𝐿𝐺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𝐶𝑅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𝐶𝑅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𝐶𝑅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𝐶𝐺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𝐶𝐺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𝐶𝐵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𝐶𝐵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，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𝐶𝑌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𝐶𝑌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𝐶𝑍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𝐶𝑍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𝐿𝐺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𝐿𝐵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/>
              </a:p>
              <a:p>
                <a:r>
                  <a:rPr lang="zh-CN" altLang="en-US" sz="2400" dirty="0" smtClean="0"/>
                  <a:t>我们是不是可以直接实用它来记录彩色图像了呢？</a:t>
                </a:r>
                <a:endParaRPr lang="en-US" altLang="zh-CN" sz="2400" dirty="0" smtClean="0"/>
              </a:p>
              <a:p>
                <a:pPr lvl="1"/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6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17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03" y="3032759"/>
            <a:ext cx="4174023" cy="31473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人类对光强的感知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在大多数环境亮度下，人眼大致可以分辨</a:t>
            </a:r>
            <a:r>
              <a:rPr lang="en-US" altLang="zh-CN" sz="2400" dirty="0" smtClean="0"/>
              <a:t>100</a:t>
            </a:r>
            <a:r>
              <a:rPr lang="zh-CN" altLang="en-US" sz="2400" dirty="0" smtClean="0"/>
              <a:t>级的灰阶</a:t>
            </a:r>
            <a:endParaRPr lang="en-US" altLang="zh-CN" sz="2400" dirty="0" smtClean="0"/>
          </a:p>
          <a:p>
            <a:r>
              <a:rPr lang="zh-CN" altLang="en-US" sz="2400" dirty="0"/>
              <a:t>但</a:t>
            </a:r>
            <a:r>
              <a:rPr lang="zh-CN" altLang="en-US" sz="2400" dirty="0" smtClean="0"/>
              <a:t>是人眼可以适应的环境亮度范围很大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10^-6 nit ~ 10^6 nit</a:t>
            </a:r>
            <a:r>
              <a:rPr lang="zh-CN" altLang="en-US" sz="2000" dirty="0" smtClean="0"/>
              <a:t>，从黑夜到晴天</a:t>
            </a:r>
            <a:endParaRPr lang="en-US" altLang="zh-CN" sz="2000" dirty="0" smtClean="0"/>
          </a:p>
          <a:p>
            <a:r>
              <a:rPr lang="zh-CN" altLang="en-US" sz="2400" dirty="0" smtClean="0"/>
              <a:t>人眼对光强的感受呈对数关系</a:t>
            </a:r>
            <a:endParaRPr lang="en-US" altLang="zh-CN" sz="2400" dirty="0" smtClean="0"/>
          </a:p>
          <a:p>
            <a:pPr lvl="1"/>
            <a:r>
              <a:rPr lang="zh-CN" altLang="en-US" sz="2000" dirty="0"/>
              <a:t>如</a:t>
            </a:r>
            <a:r>
              <a:rPr lang="zh-CN" altLang="en-US" sz="2000" dirty="0" smtClean="0"/>
              <a:t>果用线性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编码的话，效率太低</a:t>
            </a:r>
            <a:endParaRPr lang="en-US" altLang="zh-CN" sz="2000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7797467" y="5245617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</a:t>
            </a:r>
            <a:r>
              <a:rPr lang="en-US" altLang="zh-CN" baseline="-25000" dirty="0" smtClean="0"/>
              <a:t>10</a:t>
            </a:r>
            <a:r>
              <a:rPr lang="en-US" altLang="zh-CN" dirty="0" smtClean="0"/>
              <a:t>(x)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57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从线性 </a:t>
            </a:r>
            <a:r>
              <a:rPr lang="en-US" altLang="zh-CN" dirty="0" smtClean="0"/>
              <a:t>RGB </a:t>
            </a:r>
            <a:r>
              <a:rPr lang="zh-CN" altLang="en-US" dirty="0" smtClean="0"/>
              <a:t>到非线性 </a:t>
            </a:r>
            <a:r>
              <a:rPr lang="en-US" altLang="zh-CN" dirty="0" smtClean="0"/>
              <a:t>RGB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既然线性 </a:t>
            </a:r>
            <a:r>
              <a:rPr lang="en-US" altLang="zh-CN" sz="2400" dirty="0" smtClean="0"/>
              <a:t>RGB </a:t>
            </a:r>
            <a:r>
              <a:rPr lang="zh-CN" altLang="en-US" sz="2400" dirty="0" smtClean="0"/>
              <a:t>效率太差，那就按人的感知来编码吧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非线性 </a:t>
            </a:r>
            <a:r>
              <a:rPr lang="en-US" altLang="zh-CN" sz="2000" dirty="0" smtClean="0"/>
              <a:t>RGB</a:t>
            </a:r>
          </a:p>
          <a:p>
            <a:r>
              <a:rPr lang="zh-CN" altLang="en-US" sz="2400" dirty="0"/>
              <a:t>线</a:t>
            </a:r>
            <a:r>
              <a:rPr lang="zh-CN" altLang="en-US" sz="2400" dirty="0" smtClean="0"/>
              <a:t>性 </a:t>
            </a:r>
            <a:r>
              <a:rPr lang="en-US" altLang="zh-CN" sz="2400" dirty="0" smtClean="0"/>
              <a:t>RGB </a:t>
            </a:r>
            <a:r>
              <a:rPr lang="zh-CN" altLang="en-US" sz="2400" dirty="0" smtClean="0"/>
              <a:t>和 非线性 </a:t>
            </a:r>
            <a:r>
              <a:rPr lang="en-US" altLang="zh-CN" sz="2400" dirty="0" smtClean="0"/>
              <a:t>RGB </a:t>
            </a:r>
            <a:r>
              <a:rPr lang="zh-CN" altLang="en-US" sz="2400" dirty="0" smtClean="0"/>
              <a:t>通过传输函数</a:t>
            </a:r>
            <a:r>
              <a:rPr lang="en-US" altLang="zh-CN" sz="2400" dirty="0" smtClean="0"/>
              <a:t>(transfer function)</a:t>
            </a:r>
            <a:r>
              <a:rPr lang="zh-CN" altLang="en-US" sz="2400" dirty="0" smtClean="0"/>
              <a:t>互相映射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传输函数俗称 </a:t>
            </a:r>
            <a:r>
              <a:rPr lang="en-US" altLang="zh-CN" sz="2000" dirty="0" smtClean="0"/>
              <a:t>gamma</a:t>
            </a:r>
          </a:p>
          <a:p>
            <a:r>
              <a:rPr lang="zh-CN" altLang="en-US" sz="2400" dirty="0"/>
              <a:t>举</a:t>
            </a:r>
            <a:r>
              <a:rPr lang="zh-CN" altLang="en-US" sz="2400" dirty="0" smtClean="0"/>
              <a:t>个例子，</a:t>
            </a:r>
            <a:r>
              <a:rPr lang="en-US" altLang="zh-CN" sz="2400" dirty="0" smtClean="0"/>
              <a:t>BT.709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7" y="4594128"/>
            <a:ext cx="10115490" cy="158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6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BT.709 </a:t>
            </a:r>
            <a:r>
              <a:rPr lang="zh-CN" altLang="en-US" dirty="0" smtClean="0"/>
              <a:t>传输函数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2217737"/>
            <a:ext cx="4072467" cy="3962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414" y="2250280"/>
            <a:ext cx="4054925" cy="38973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43883" y="2402840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LRGB </a:t>
            </a:r>
            <a:r>
              <a:rPr lang="zh-CN" altLang="en-US" dirty="0" smtClean="0"/>
              <a:t>转 </a:t>
            </a:r>
            <a:r>
              <a:rPr lang="en-US" altLang="zh-CN" dirty="0" smtClean="0"/>
              <a:t>RGB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2902" y="2402840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RGB </a:t>
            </a:r>
            <a:r>
              <a:rPr lang="zh-CN" altLang="en-US" dirty="0" smtClean="0"/>
              <a:t>转 </a:t>
            </a:r>
            <a:r>
              <a:rPr lang="en-US" altLang="zh-CN" dirty="0" smtClean="0"/>
              <a:t>LRGB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90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符号记法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一般标准文档和学术文献中的记法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线性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R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</a:t>
            </a:r>
          </a:p>
          <a:p>
            <a:pPr lvl="1"/>
            <a:r>
              <a:rPr lang="zh-CN" altLang="en-US" sz="2000" dirty="0"/>
              <a:t>非线</a:t>
            </a:r>
            <a:r>
              <a:rPr lang="zh-CN" altLang="en-US" sz="2000" dirty="0" smtClean="0"/>
              <a:t>性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R’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G’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B’</a:t>
            </a:r>
          </a:p>
        </p:txBody>
      </p:sp>
    </p:spTree>
    <p:extLst>
      <p:ext uri="{BB962C8B-B14F-4D97-AF65-F5344CB8AC3E}">
        <p14:creationId xmlns:p14="http://schemas.microsoft.com/office/powerpoint/2010/main" val="3841563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图像视频数据压缩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即使用了非线性 </a:t>
            </a:r>
            <a:r>
              <a:rPr lang="en-US" altLang="zh-CN" sz="2400" dirty="0" smtClean="0"/>
              <a:t>RGB </a:t>
            </a:r>
            <a:r>
              <a:rPr lang="zh-CN" altLang="en-US" sz="2400" dirty="0" smtClean="0"/>
              <a:t>编码，图像视频的数据量还是太大了</a:t>
            </a:r>
            <a:endParaRPr lang="en-US" altLang="zh-CN" sz="2400" dirty="0" smtClean="0"/>
          </a:p>
          <a:p>
            <a:r>
              <a:rPr lang="zh-CN" altLang="en-US" sz="2400" dirty="0"/>
              <a:t>人类视</a:t>
            </a:r>
            <a:r>
              <a:rPr lang="zh-CN" altLang="en-US" sz="2400" dirty="0" smtClean="0"/>
              <a:t>觉还有什么可以利用的“弱点”？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379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亮</a:t>
            </a:r>
            <a:r>
              <a:rPr lang="zh-CN" altLang="en-US" dirty="0" smtClean="0"/>
              <a:t>度和色度信号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1" y="1828801"/>
            <a:ext cx="8839257" cy="1266980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人眼对亮度的分辨率较高，但是色度的分辨率较低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把 </a:t>
            </a:r>
            <a:r>
              <a:rPr lang="en-US" altLang="zh-CN" sz="2000" dirty="0" smtClean="0"/>
              <a:t>RGB </a:t>
            </a:r>
            <a:r>
              <a:rPr lang="zh-CN" altLang="en-US" sz="2000" dirty="0" smtClean="0"/>
              <a:t>转换为亮度信号和色度信号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降</a:t>
            </a:r>
            <a:r>
              <a:rPr lang="zh-CN" altLang="en-US" sz="2000" dirty="0" smtClean="0"/>
              <a:t>低色度的分辨率，从而降低数据量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261871" y="3095779"/>
            <a:ext cx="5006340" cy="2539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7743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380" y="1555335"/>
            <a:ext cx="4686300" cy="28431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第一步，</a:t>
            </a:r>
            <a:r>
              <a:rPr lang="en-US" altLang="zh-CN" dirty="0" smtClean="0"/>
              <a:t>RGB</a:t>
            </a:r>
            <a:r>
              <a:rPr lang="zh-CN" altLang="en-US" dirty="0" smtClean="0"/>
              <a:t>转亮度色度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261872" y="3640508"/>
                <a:ext cx="8595360" cy="253962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CN" sz="2400" dirty="0"/>
                  <a:t>CIE 1931 XYZ </a:t>
                </a:r>
                <a:r>
                  <a:rPr lang="zh-CN" altLang="en-US" sz="2400" dirty="0"/>
                  <a:t>中的 </a:t>
                </a:r>
                <a:r>
                  <a:rPr lang="en-US" altLang="zh-CN" sz="2400" dirty="0"/>
                  <a:t>Y</a:t>
                </a:r>
              </a:p>
              <a:p>
                <a:pPr lvl="1"/>
                <a:r>
                  <a:rPr lang="zh-CN" altLang="en-US" sz="2000" dirty="0"/>
                  <a:t>由</a:t>
                </a:r>
                <a:r>
                  <a:rPr lang="en-US" altLang="zh-CN" sz="2000" dirty="0"/>
                  <a:t>RGB</a:t>
                </a:r>
                <a:r>
                  <a:rPr lang="zh-CN" altLang="en-US" sz="2000" dirty="0"/>
                  <a:t>到</a:t>
                </a:r>
                <a:r>
                  <a:rPr lang="en-US" altLang="zh-CN" sz="2000" dirty="0"/>
                  <a:t>XYZ</a:t>
                </a:r>
                <a:r>
                  <a:rPr lang="zh-CN" altLang="en-US" sz="2000" dirty="0"/>
                  <a:t>的转换矩阵</a:t>
                </a:r>
                <a:endParaRPr lang="en-US" altLang="zh-CN" sz="20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𝐶𝑌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𝐶𝑌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𝐶𝑌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𝐶𝑍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𝐶𝑍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𝐶𝑍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𝐿𝐺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lvl="1"/>
                <a:r>
                  <a:rPr lang="zh-CN" altLang="en-US" sz="2000" dirty="0"/>
                  <a:t>色度信号？</a:t>
                </a:r>
                <a:endParaRPr lang="en-US" altLang="zh-CN" sz="2000" dirty="0"/>
              </a:p>
              <a:p>
                <a:pPr lvl="2"/>
                <a:r>
                  <a:rPr lang="zh-CN" altLang="en-US" sz="1800" dirty="0"/>
                  <a:t>色差信号，由于绿色在</a:t>
                </a:r>
                <a:r>
                  <a:rPr lang="en-US" altLang="zh-CN" sz="1800" dirty="0"/>
                  <a:t>Y</a:t>
                </a:r>
                <a:r>
                  <a:rPr lang="zh-CN" altLang="en-US" sz="1800" dirty="0"/>
                  <a:t>中的占比通常比较大，所以色差信号常取</a:t>
                </a:r>
                <a:r>
                  <a:rPr lang="en-US" altLang="zh-CN" sz="1800" dirty="0"/>
                  <a:t>R</a:t>
                </a:r>
                <a:r>
                  <a:rPr lang="zh-CN" altLang="en-US" sz="1800" dirty="0"/>
                  <a:t>、</a:t>
                </a:r>
                <a:r>
                  <a:rPr lang="en-US" altLang="zh-CN" sz="1800" dirty="0"/>
                  <a:t>B</a:t>
                </a:r>
              </a:p>
              <a:p>
                <a:pPr marL="1097280" lvl="4" indent="0">
                  <a:buNone/>
                </a:pPr>
                <a:r>
                  <a:rPr lang="en-US" altLang="zh-CN" sz="1800" dirty="0"/>
                  <a:t>C</a:t>
                </a:r>
                <a:r>
                  <a:rPr lang="en-US" altLang="zh-CN" sz="1800" baseline="-25000" dirty="0"/>
                  <a:t>R</a:t>
                </a:r>
                <a:r>
                  <a:rPr lang="en-US" altLang="zh-CN" sz="1800" dirty="0"/>
                  <a:t> = R – Y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C</a:t>
                </a:r>
                <a:r>
                  <a:rPr lang="en-US" altLang="zh-CN" sz="1800" baseline="-25000" dirty="0"/>
                  <a:t>B</a:t>
                </a:r>
                <a:r>
                  <a:rPr lang="en-US" altLang="zh-CN" sz="1800" dirty="0"/>
                  <a:t> = B – Y </a:t>
                </a:r>
                <a:endParaRPr lang="zh-CN" altLang="en-US" sz="1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3640508"/>
                <a:ext cx="8595360" cy="2539629"/>
              </a:xfrm>
              <a:blipFill>
                <a:blip r:embed="rId3"/>
                <a:stretch>
                  <a:fillRect l="-426" t="-4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622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</a:t>
            </a:r>
            <a:r>
              <a:rPr lang="zh-CN" altLang="en-US" dirty="0" smtClean="0"/>
              <a:t>际的例子，</a:t>
            </a:r>
            <a:r>
              <a:rPr lang="en-US" altLang="zh-CN" dirty="0" smtClean="0"/>
              <a:t>BT.709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4838700"/>
            <a:ext cx="8585513" cy="1341437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一些要注意的地方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E’</a:t>
            </a:r>
            <a:r>
              <a:rPr lang="en-US" altLang="zh-CN" sz="2000" baseline="-25000" dirty="0" smtClean="0"/>
              <a:t>CB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E’</a:t>
            </a:r>
            <a:r>
              <a:rPr lang="en-US" altLang="zh-CN" sz="2000" baseline="-25000" dirty="0" smtClean="0"/>
              <a:t>CR</a:t>
            </a:r>
            <a:r>
              <a:rPr lang="zh-CN" altLang="en-US" sz="2000" dirty="0" smtClean="0"/>
              <a:t>被</a:t>
            </a:r>
            <a:r>
              <a:rPr lang="zh-CN" altLang="en-US" sz="2000" dirty="0" smtClean="0">
                <a:solidFill>
                  <a:srgbClr val="FF0000"/>
                </a:solidFill>
              </a:rPr>
              <a:t>压缩</a:t>
            </a:r>
            <a:r>
              <a:rPr lang="zh-CN" altLang="en-US" sz="2000" dirty="0" smtClean="0"/>
              <a:t>到 </a:t>
            </a:r>
            <a:r>
              <a:rPr lang="en-US" altLang="zh-CN" sz="2000" dirty="0" smtClean="0"/>
              <a:t>[-0.5, 0.5] </a:t>
            </a:r>
            <a:r>
              <a:rPr lang="zh-CN" altLang="en-US" sz="2000" dirty="0" smtClean="0"/>
              <a:t>的范围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E’</a:t>
            </a:r>
            <a:r>
              <a:rPr lang="en-US" altLang="zh-CN" sz="2000" baseline="-25000" dirty="0" smtClean="0"/>
              <a:t>R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E’</a:t>
            </a:r>
            <a:r>
              <a:rPr lang="en-US" altLang="zh-CN" sz="2000" baseline="-25000" dirty="0" smtClean="0"/>
              <a:t>G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E’</a:t>
            </a:r>
            <a:r>
              <a:rPr lang="en-US" altLang="zh-CN" sz="2000" baseline="-25000" dirty="0" smtClean="0"/>
              <a:t>B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是非线性信号，跟理论是不符合的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83" y="2081239"/>
            <a:ext cx="8586202" cy="25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7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matrix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351015" y="4846145"/>
                <a:ext cx="6755504" cy="12661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𝐶𝐵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𝐶𝑅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.2126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0.7152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0.0722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−0.1146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−0.3854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−0.4542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−0.0458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015" y="4846145"/>
                <a:ext cx="6755504" cy="12661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68" y="1916369"/>
            <a:ext cx="9304199" cy="2717563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364565" y="1972362"/>
            <a:ext cx="3061446" cy="354489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361268" y="2902559"/>
            <a:ext cx="2745251" cy="50721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334605" y="3985479"/>
            <a:ext cx="2860670" cy="54379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8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第二步，减小色度空间分辨率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我们已经可以把 </a:t>
            </a:r>
            <a:r>
              <a:rPr lang="en-US" altLang="zh-CN" sz="2400" dirty="0" smtClean="0"/>
              <a:t>RGB </a:t>
            </a:r>
            <a:r>
              <a:rPr lang="zh-CN" altLang="en-US" sz="2400" dirty="0" smtClean="0"/>
              <a:t>转为 </a:t>
            </a:r>
            <a:r>
              <a:rPr lang="en-US" altLang="zh-CN" sz="2400" dirty="0" smtClean="0"/>
              <a:t>YCbCr</a:t>
            </a:r>
            <a:endParaRPr lang="zh-CN" altLang="en-US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502" y="2461418"/>
            <a:ext cx="7658100" cy="30861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02" y="5380036"/>
            <a:ext cx="8001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横</a:t>
            </a:r>
            <a:r>
              <a:rPr lang="zh-CN" altLang="en-US" dirty="0" smtClean="0"/>
              <a:t>着</a:t>
            </a:r>
            <a:r>
              <a:rPr lang="zh-CN" altLang="en-US" dirty="0"/>
              <a:t>砍</a:t>
            </a:r>
            <a:r>
              <a:rPr lang="zh-CN" altLang="en-US" dirty="0" smtClean="0"/>
              <a:t>一半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5107794"/>
            <a:ext cx="8595360" cy="1072343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YCbCr 4:2:2</a:t>
            </a:r>
          </a:p>
          <a:p>
            <a:r>
              <a:rPr lang="zh-CN" altLang="en-US" sz="2400" dirty="0"/>
              <a:t>数据</a:t>
            </a:r>
            <a:r>
              <a:rPr lang="zh-CN" altLang="en-US" sz="2400" dirty="0" smtClean="0"/>
              <a:t>量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宽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* </a:t>
            </a:r>
            <a:r>
              <a:rPr lang="zh-CN" altLang="en-US" sz="2400" dirty="0" smtClean="0"/>
              <a:t>高 </a:t>
            </a:r>
            <a:r>
              <a:rPr lang="en-US" altLang="zh-CN" sz="2400" dirty="0" smtClean="0"/>
              <a:t>* (1 + .5 + .5)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03" y="1691322"/>
            <a:ext cx="3267075" cy="1524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578" y="1875558"/>
            <a:ext cx="65341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1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竖着</a:t>
            </a:r>
            <a:r>
              <a:rPr lang="zh-CN" altLang="en-US" dirty="0"/>
              <a:t>砍</a:t>
            </a:r>
            <a:r>
              <a:rPr lang="zh-CN" altLang="en-US" dirty="0" smtClean="0"/>
              <a:t>一半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5107794"/>
            <a:ext cx="8595360" cy="1072343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YCbCr 4:2:2T</a:t>
            </a:r>
          </a:p>
          <a:p>
            <a:r>
              <a:rPr lang="zh-CN" altLang="en-US" sz="2400" dirty="0"/>
              <a:t>数据</a:t>
            </a:r>
            <a:r>
              <a:rPr lang="zh-CN" altLang="en-US" sz="2400" dirty="0" smtClean="0"/>
              <a:t>量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宽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* </a:t>
            </a:r>
            <a:r>
              <a:rPr lang="zh-CN" altLang="en-US" sz="2400" dirty="0" smtClean="0"/>
              <a:t>高 </a:t>
            </a:r>
            <a:r>
              <a:rPr lang="en-US" altLang="zh-CN" sz="2400" dirty="0" smtClean="0"/>
              <a:t>* (1 + .5 + .5)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03" y="1691322"/>
            <a:ext cx="3267075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578" y="1913658"/>
            <a:ext cx="65341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6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横着砍一半再砍一半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5107794"/>
            <a:ext cx="8595360" cy="1072343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YCbCr 4:1:1</a:t>
            </a:r>
          </a:p>
          <a:p>
            <a:r>
              <a:rPr lang="zh-CN" altLang="en-US" sz="2400" dirty="0"/>
              <a:t>数据</a:t>
            </a:r>
            <a:r>
              <a:rPr lang="zh-CN" altLang="en-US" sz="2400" dirty="0" smtClean="0"/>
              <a:t>量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宽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* </a:t>
            </a:r>
            <a:r>
              <a:rPr lang="zh-CN" altLang="en-US" sz="2400" dirty="0" smtClean="0"/>
              <a:t>高 </a:t>
            </a:r>
            <a:r>
              <a:rPr lang="en-US" altLang="zh-CN" sz="2400" dirty="0" smtClean="0"/>
              <a:t>* (1 + .25 + .25)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03" y="1691322"/>
            <a:ext cx="3267075" cy="1524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578" y="1875558"/>
            <a:ext cx="65341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4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横着砍一半再竖着砍一半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5107794"/>
            <a:ext cx="8595360" cy="1072343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YCbCr 4:2:0</a:t>
            </a:r>
          </a:p>
          <a:p>
            <a:r>
              <a:rPr lang="zh-CN" altLang="en-US" sz="2400" dirty="0"/>
              <a:t>数据</a:t>
            </a:r>
            <a:r>
              <a:rPr lang="zh-CN" altLang="en-US" sz="2400" dirty="0" smtClean="0"/>
              <a:t>量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宽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* </a:t>
            </a:r>
            <a:r>
              <a:rPr lang="zh-CN" altLang="en-US" sz="2400" dirty="0" smtClean="0"/>
              <a:t>高 </a:t>
            </a:r>
            <a:r>
              <a:rPr lang="en-US" altLang="zh-CN" sz="2400" dirty="0" smtClean="0"/>
              <a:t>* (1 + .25 + .25)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03" y="1691322"/>
            <a:ext cx="3267075" cy="1524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578" y="1913658"/>
            <a:ext cx="65341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</a:t>
            </a:r>
            <a:r>
              <a:rPr lang="zh-CN" altLang="en-US" dirty="0" smtClean="0"/>
              <a:t>际应用的</a:t>
            </a:r>
            <a:r>
              <a:rPr lang="en-US" altLang="zh-CN" dirty="0" smtClean="0"/>
              <a:t>4:2:0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Use case</a:t>
            </a:r>
          </a:p>
          <a:p>
            <a:pPr lvl="1"/>
            <a:r>
              <a:rPr lang="en-US" altLang="zh-CN" sz="2000" dirty="0" smtClean="0"/>
              <a:t>H.261, H.263</a:t>
            </a:r>
          </a:p>
          <a:p>
            <a:pPr lvl="1"/>
            <a:r>
              <a:rPr lang="en-US" altLang="zh-CN" sz="2000" dirty="0" smtClean="0"/>
              <a:t>MPEG-1</a:t>
            </a:r>
          </a:p>
          <a:p>
            <a:pPr lvl="1"/>
            <a:r>
              <a:rPr lang="en-US" altLang="zh-CN" sz="2000" dirty="0" smtClean="0"/>
              <a:t>JPEG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2566193"/>
            <a:ext cx="65151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8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2566193"/>
            <a:ext cx="6515100" cy="2876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</a:t>
            </a:r>
            <a:r>
              <a:rPr lang="zh-CN" altLang="en-US" dirty="0" smtClean="0"/>
              <a:t>前</a:t>
            </a:r>
            <a:r>
              <a:rPr lang="zh-CN" altLang="en-US" dirty="0"/>
              <a:t>更</a:t>
            </a:r>
            <a:r>
              <a:rPr lang="zh-CN" altLang="en-US" dirty="0" smtClean="0"/>
              <a:t>流行的</a:t>
            </a:r>
            <a:r>
              <a:rPr lang="en-US" altLang="zh-CN" dirty="0" smtClean="0"/>
              <a:t>4:2:0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Use case</a:t>
            </a:r>
          </a:p>
          <a:p>
            <a:pPr lvl="1"/>
            <a:r>
              <a:rPr lang="en-US" altLang="zh-CN" sz="2000" dirty="0"/>
              <a:t>MPEG-2, MPEG-4</a:t>
            </a:r>
            <a:endParaRPr lang="zh-CN" altLang="en-US" sz="2000" dirty="0"/>
          </a:p>
          <a:p>
            <a:pPr lvl="1"/>
            <a:r>
              <a:rPr lang="en-US" altLang="zh-CN" sz="2000" dirty="0" smtClean="0"/>
              <a:t>H.264, H.265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702" y="5070954"/>
            <a:ext cx="17526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0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是时</a:t>
            </a:r>
            <a:r>
              <a:rPr lang="zh-CN" altLang="en-US" dirty="0" smtClean="0"/>
              <a:t>候编码了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之前的讨论我们一直在讨论实数范围</a:t>
            </a:r>
            <a:endParaRPr lang="en-US" altLang="zh-CN" sz="2400" dirty="0" smtClean="0"/>
          </a:p>
          <a:p>
            <a:r>
              <a:rPr lang="zh-CN" altLang="en-US" sz="2400" dirty="0" smtClean="0"/>
              <a:t>但是数字电路</a:t>
            </a:r>
            <a:r>
              <a:rPr lang="en-US" altLang="zh-CN" sz="2400" dirty="0" smtClean="0"/>
              <a:t>……</a:t>
            </a:r>
            <a:r>
              <a:rPr lang="zh-CN" altLang="en-US" sz="2400" dirty="0" smtClean="0"/>
              <a:t>它是有限的</a:t>
            </a:r>
            <a:endParaRPr lang="en-US" altLang="zh-CN" sz="2400" dirty="0" smtClean="0"/>
          </a:p>
          <a:p>
            <a:pPr lvl="1"/>
            <a:r>
              <a:rPr lang="zh-CN" altLang="en-US" sz="2000" dirty="0"/>
              <a:t>实</a:t>
            </a:r>
            <a:r>
              <a:rPr lang="zh-CN" altLang="en-US" sz="2000" dirty="0" smtClean="0"/>
              <a:t>数需要量化编码为整数</a:t>
            </a:r>
            <a:endParaRPr lang="en-US" altLang="zh-CN" sz="2000" dirty="0" smtClean="0"/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7058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8-bit 0…255 </a:t>
            </a:r>
            <a:r>
              <a:rPr lang="zh-CN" altLang="en-US" dirty="0" smtClean="0"/>
              <a:t>的</a:t>
            </a:r>
            <a:r>
              <a:rPr lang="en-US" altLang="zh-CN" dirty="0" smtClean="0"/>
              <a:t> RGB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b="0" dirty="0" smtClean="0"/>
                  <a:t>计算公式</a:t>
                </a:r>
                <a:r>
                  <a:rPr lang="en-US" altLang="zh-CN" sz="3600" b="0" dirty="0" smtClean="0"/>
                  <a:t/>
                </a:r>
                <a:br>
                  <a:rPr lang="en-US" altLang="zh-CN" sz="3600" b="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</m:e>
                    </m:d>
                  </m:oMath>
                </a14:m>
                <a:r>
                  <a:rPr lang="en-US" altLang="zh-CN" sz="2800" b="0" dirty="0" smtClean="0"/>
                  <a:t/>
                </a:r>
                <a:br>
                  <a:rPr lang="en-US" altLang="zh-CN" sz="2800" b="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</m:e>
                    </m:d>
                  </m:oMath>
                </a14:m>
                <a:r>
                  <a:rPr lang="en-US" altLang="zh-CN" sz="2800" b="0" dirty="0" smtClean="0"/>
                  <a:t/>
                </a:r>
                <a:br>
                  <a:rPr lang="en-US" altLang="zh-CN" sz="2800" b="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</m:e>
                    </m:d>
                  </m:oMath>
                </a14:m>
                <a:endParaRPr lang="en-US" altLang="zh-CN" sz="2400" b="0" dirty="0" smtClean="0"/>
              </a:p>
              <a:p>
                <a:r>
                  <a:rPr lang="en-US" altLang="zh-CN" sz="2400" dirty="0" smtClean="0"/>
                  <a:t>Use cases</a:t>
                </a:r>
                <a:endParaRPr lang="en-US" altLang="zh-CN" sz="2400" b="0" dirty="0" smtClean="0"/>
              </a:p>
              <a:p>
                <a:pPr lvl="1"/>
                <a:r>
                  <a:rPr lang="zh-CN" altLang="en-US" sz="2000" dirty="0" smtClean="0"/>
                  <a:t>计算机内原生图像编码</a:t>
                </a:r>
                <a:endParaRPr lang="en-US" altLang="zh-CN" sz="2000" dirty="0" smtClean="0"/>
              </a:p>
              <a:p>
                <a:pPr lvl="1"/>
                <a:r>
                  <a:rPr lang="en-US" altLang="zh-CN" sz="2000" dirty="0" smtClean="0"/>
                  <a:t>BMP, PNG, …</a:t>
                </a:r>
              </a:p>
              <a:p>
                <a:pPr lvl="1"/>
                <a:r>
                  <a:rPr lang="en-US" altLang="zh-CN" sz="2000" b="0" dirty="0" smtClean="0"/>
                  <a:t>DVI, HDMI, DisplayPort</a:t>
                </a:r>
              </a:p>
              <a:p>
                <a:pPr lvl="1"/>
                <a:r>
                  <a:rPr lang="en-US" altLang="zh-CN" sz="2000" b="0" dirty="0" smtClean="0"/>
                  <a:t>LVDS, MIPI</a:t>
                </a:r>
              </a:p>
              <a:p>
                <a:endParaRPr lang="en-US" altLang="zh-CN" sz="2400" b="0" dirty="0" smtClean="0"/>
              </a:p>
              <a:p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6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86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8-bit 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YCbCr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400" dirty="0" smtClean="0"/>
                  <a:t>Cb</a:t>
                </a:r>
                <a:r>
                  <a:rPr lang="zh-CN" altLang="en-US" sz="2400" dirty="0" smtClean="0"/>
                  <a:t>、</a:t>
                </a:r>
                <a:r>
                  <a:rPr lang="en-US" altLang="zh-CN" sz="2400" dirty="0" smtClean="0"/>
                  <a:t>Cr</a:t>
                </a:r>
                <a:r>
                  <a:rPr lang="zh-CN" altLang="en-US" sz="2400" dirty="0" smtClean="0"/>
                  <a:t>的范围是 </a:t>
                </a:r>
                <a:r>
                  <a:rPr lang="en-US" altLang="zh-CN" sz="2400" dirty="0" smtClean="0"/>
                  <a:t>[-0.5, 0.5]</a:t>
                </a:r>
                <a:r>
                  <a:rPr lang="zh-CN" altLang="en-US" sz="2400" dirty="0" smtClean="0"/>
                  <a:t>，怎么办？</a:t>
                </a:r>
                <a:endParaRPr lang="en-US" altLang="zh-CN" sz="2400" dirty="0" smtClean="0"/>
              </a:p>
              <a:p>
                <a:pPr lvl="1"/>
                <a:r>
                  <a:rPr lang="en-US" altLang="zh-CN" sz="2000" dirty="0" smtClean="0"/>
                  <a:t>Biased coding</a:t>
                </a:r>
                <a:r>
                  <a:rPr lang="zh-CN" altLang="en-US" sz="2000" dirty="0" smtClean="0"/>
                  <a:t>：加上一个</a:t>
                </a:r>
                <a:r>
                  <a:rPr lang="en-US" altLang="zh-CN" sz="2000" dirty="0" smtClean="0"/>
                  <a:t>bias</a:t>
                </a:r>
                <a:r>
                  <a:rPr lang="zh-CN" altLang="en-US" sz="2000" dirty="0" smtClean="0"/>
                  <a:t>（</a:t>
                </a:r>
                <a:r>
                  <a:rPr lang="en-US" altLang="zh-CN" sz="2000" dirty="0" smtClean="0"/>
                  <a:t>offset</a:t>
                </a:r>
                <a:r>
                  <a:rPr lang="zh-CN" altLang="en-US" sz="2000" dirty="0" smtClean="0"/>
                  <a:t>），移动数字范围，消灭负数</a:t>
                </a:r>
                <a:endParaRPr lang="en-US" altLang="zh-CN" sz="2000" dirty="0"/>
              </a:p>
              <a:p>
                <a:r>
                  <a:rPr lang="zh-CN" altLang="en-US" sz="2400" dirty="0"/>
                  <a:t>计算公式</a:t>
                </a:r>
                <a:r>
                  <a:rPr lang="en-US" altLang="zh-CN" sz="2400" dirty="0"/>
                  <a:t/>
                </a:r>
                <a:br>
                  <a:rPr lang="en-US" altLang="zh-CN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𝐶𝑏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𝐶𝑏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+128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𝐶𝑟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𝐶𝑟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∗255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+128</m:t>
                        </m:r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 smtClean="0"/>
                  <a:t>Use cases</a:t>
                </a:r>
              </a:p>
              <a:p>
                <a:pPr lvl="1"/>
                <a:r>
                  <a:rPr lang="en-US" altLang="zh-CN" sz="2000" dirty="0" smtClean="0"/>
                  <a:t>JPEG</a:t>
                </a:r>
              </a:p>
              <a:p>
                <a:pPr lvl="1"/>
                <a:r>
                  <a:rPr lang="en-US" altLang="zh-CN" sz="2000" dirty="0" smtClean="0"/>
                  <a:t>AirPlay video</a:t>
                </a:r>
              </a:p>
              <a:p>
                <a:pPr lvl="1"/>
                <a:r>
                  <a:rPr lang="en-US" altLang="zh-CN" sz="2000" dirty="0" smtClean="0"/>
                  <a:t>HDMI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6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849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收缩的</a:t>
            </a:r>
            <a:r>
              <a:rPr lang="en-US" altLang="zh-CN" dirty="0" smtClean="0"/>
              <a:t>8-bit YCbCr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为视频处理设计的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limited range YCbCr</a:t>
                </a:r>
              </a:p>
              <a:p>
                <a:pPr lvl="1"/>
                <a:r>
                  <a:rPr lang="zh-CN" altLang="en-US" sz="2000" dirty="0" smtClean="0"/>
                  <a:t>为滤波器处理留下过充的空间</a:t>
                </a:r>
                <a:endParaRPr lang="en-US" altLang="zh-CN" sz="2000" dirty="0" smtClean="0"/>
              </a:p>
              <a:p>
                <a:pPr lvl="1"/>
                <a:r>
                  <a:rPr lang="zh-CN" altLang="en-US" sz="2000" dirty="0" smtClean="0"/>
                  <a:t>为同步信号留下码字</a:t>
                </a:r>
                <a:r>
                  <a:rPr lang="en-US" altLang="zh-CN" sz="2000" dirty="0" smtClean="0"/>
                  <a:t>(0, 255)</a:t>
                </a:r>
              </a:p>
              <a:p>
                <a:r>
                  <a:rPr lang="zh-CN" altLang="en-US" sz="2400" dirty="0"/>
                  <a:t>计算公式</a:t>
                </a:r>
                <a:r>
                  <a:rPr lang="en-US" altLang="zh-CN" sz="2400" dirty="0"/>
                  <a:t/>
                </a:r>
                <a:br>
                  <a:rPr lang="en-US" altLang="zh-CN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∗219+16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𝐶𝑏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∗224+128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𝐶𝑟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𝐶𝑟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∗224+128</m:t>
                        </m:r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 smtClean="0"/>
                  <a:t>Use</a:t>
                </a:r>
                <a:r>
                  <a:rPr lang="zh-CN" altLang="en-US" sz="2400" dirty="0" smtClean="0"/>
                  <a:t> </a:t>
                </a:r>
                <a:r>
                  <a:rPr lang="en-US" altLang="zh-CN" sz="2400" dirty="0" smtClean="0"/>
                  <a:t>case</a:t>
                </a:r>
              </a:p>
              <a:p>
                <a:pPr lvl="1"/>
                <a:r>
                  <a:rPr lang="en-US" altLang="zh-CN" sz="2000" dirty="0" smtClean="0"/>
                  <a:t>SD/HD/UHD video</a:t>
                </a:r>
              </a:p>
              <a:p>
                <a:pPr lvl="1"/>
                <a:r>
                  <a:rPr lang="en-US" altLang="zh-CN" sz="2000" dirty="0" smtClean="0"/>
                  <a:t>HDMI, DisplayPort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6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156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</a:t>
            </a:r>
            <a:r>
              <a:rPr lang="zh-CN" altLang="en-US" dirty="0" smtClean="0"/>
              <a:t>缩的</a:t>
            </a:r>
            <a:r>
              <a:rPr lang="en-US" altLang="zh-CN" dirty="0" smtClean="0"/>
              <a:t>8-bit RGB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37346"/>
                <a:ext cx="8595360" cy="435133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 smtClean="0"/>
                  <a:t>Limited range RGB</a:t>
                </a:r>
              </a:p>
              <a:p>
                <a:r>
                  <a:rPr lang="zh-CN" altLang="en-US" sz="2400" dirty="0" smtClean="0"/>
                  <a:t>计算公式</a:t>
                </a:r>
                <a:r>
                  <a:rPr lang="en-US" altLang="zh-CN" sz="2400" dirty="0"/>
                  <a:t/>
                </a:r>
                <a:br>
                  <a:rPr lang="en-US" altLang="zh-CN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∗219+16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∗219+16</m:t>
                        </m:r>
                      </m:e>
                    </m:d>
                  </m:oMath>
                </a14:m>
                <a:r>
                  <a:rPr lang="en-US" altLang="zh-CN" sz="2800" dirty="0"/>
                  <a:t/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∗219+16</m:t>
                        </m:r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 smtClean="0"/>
                  <a:t>Use case</a:t>
                </a:r>
              </a:p>
              <a:p>
                <a:pPr lvl="1"/>
                <a:r>
                  <a:rPr lang="en-US" altLang="zh-CN" sz="2000" dirty="0" smtClean="0"/>
                  <a:t>HDMI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37346"/>
                <a:ext cx="8595360" cy="4351337"/>
              </a:xfrm>
              <a:blipFill>
                <a:blip r:embed="rId2"/>
                <a:stretch>
                  <a:fillRect l="-496" t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46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讲了很多了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用三原色和白点的</a:t>
            </a:r>
            <a:r>
              <a:rPr lang="en-US" altLang="zh-CN" sz="2400" dirty="0" smtClean="0"/>
              <a:t>CIE 1931 xy </a:t>
            </a:r>
            <a:r>
              <a:rPr lang="zh-CN" altLang="en-US" sz="2400" dirty="0" smtClean="0"/>
              <a:t>坐标去定义</a:t>
            </a:r>
            <a:r>
              <a:rPr lang="en-US" altLang="zh-CN" sz="2400" dirty="0" smtClean="0"/>
              <a:t>RGB color space</a:t>
            </a:r>
          </a:p>
          <a:p>
            <a:r>
              <a:rPr lang="zh-CN" altLang="en-US" sz="2400" dirty="0" smtClean="0"/>
              <a:t>用传输函数（</a:t>
            </a:r>
            <a:r>
              <a:rPr lang="en-US" altLang="zh-CN" sz="2400" dirty="0" smtClean="0"/>
              <a:t>gamma</a:t>
            </a:r>
            <a:r>
              <a:rPr lang="zh-CN" altLang="en-US" sz="2400" dirty="0" smtClean="0"/>
              <a:t>）去有效地记录</a:t>
            </a:r>
            <a:r>
              <a:rPr lang="en-US" altLang="zh-CN" sz="2400" dirty="0" smtClean="0"/>
              <a:t>RGB</a:t>
            </a:r>
            <a:r>
              <a:rPr lang="zh-CN" altLang="en-US" sz="2400" dirty="0" smtClean="0"/>
              <a:t>信号</a:t>
            </a:r>
            <a:endParaRPr lang="en-US" altLang="zh-CN" sz="2400" dirty="0" smtClean="0"/>
          </a:p>
          <a:p>
            <a:r>
              <a:rPr lang="zh-CN" altLang="en-US" sz="2400" dirty="0" smtClean="0"/>
              <a:t>用变换矩阵把</a:t>
            </a:r>
            <a:r>
              <a:rPr lang="en-US" altLang="zh-CN" sz="2400" dirty="0" smtClean="0"/>
              <a:t>RGB</a:t>
            </a:r>
            <a:r>
              <a:rPr lang="zh-CN" altLang="en-US" sz="2400" dirty="0" smtClean="0"/>
              <a:t>信号变成</a:t>
            </a:r>
            <a:r>
              <a:rPr lang="zh-CN" altLang="en-US" sz="2400" dirty="0"/>
              <a:t>亮度</a:t>
            </a:r>
            <a:r>
              <a:rPr lang="zh-CN" altLang="en-US" sz="2400" dirty="0" smtClean="0"/>
              <a:t>色差信号</a:t>
            </a:r>
            <a:r>
              <a:rPr lang="en-US" altLang="zh-CN" sz="2400" dirty="0" smtClean="0"/>
              <a:t>YCbCr</a:t>
            </a:r>
          </a:p>
          <a:p>
            <a:r>
              <a:rPr lang="zh-CN" altLang="en-US" sz="2400" dirty="0" smtClean="0"/>
              <a:t>用色度亚采样减少色差信号的分辨率，从而减少数据量</a:t>
            </a:r>
            <a:endParaRPr lang="en-US" altLang="zh-CN" sz="2400" dirty="0" smtClean="0"/>
          </a:p>
          <a:p>
            <a:r>
              <a:rPr lang="zh-CN" altLang="en-US" sz="2400" dirty="0" smtClean="0"/>
              <a:t>用</a:t>
            </a:r>
            <a:r>
              <a:rPr lang="en-US" altLang="zh-CN" sz="2400" dirty="0" smtClean="0"/>
              <a:t>full range</a:t>
            </a:r>
            <a:r>
              <a:rPr lang="zh-CN" altLang="en-US" sz="2400" dirty="0" smtClean="0"/>
              <a:t>或者</a:t>
            </a:r>
            <a:r>
              <a:rPr lang="en-US" altLang="zh-CN" sz="2400" dirty="0" smtClean="0"/>
              <a:t>limited range</a:t>
            </a:r>
            <a:r>
              <a:rPr lang="zh-CN" altLang="en-US" sz="2400" dirty="0" smtClean="0"/>
              <a:t>去量化编码</a:t>
            </a:r>
            <a:r>
              <a:rPr lang="en-US" altLang="zh-CN" sz="2400" dirty="0" smtClean="0"/>
              <a:t>YCbCr</a:t>
            </a:r>
            <a:r>
              <a:rPr lang="zh-CN" altLang="en-US" sz="2400" dirty="0" smtClean="0"/>
              <a:t>或者</a:t>
            </a:r>
            <a:r>
              <a:rPr lang="en-US" altLang="zh-CN" sz="2400" dirty="0" smtClean="0"/>
              <a:t>RGB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414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色彩空间标准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ITU BT.470 </a:t>
            </a:r>
            <a:r>
              <a:rPr lang="zh-CN" altLang="en-US" sz="2400" dirty="0" smtClean="0"/>
              <a:t>定义了标清电视信号，其中包含</a:t>
            </a:r>
            <a:r>
              <a:rPr lang="en-US" altLang="zh-CN" sz="2400" dirty="0" smtClean="0"/>
              <a:t>RGB</a:t>
            </a:r>
            <a:r>
              <a:rPr lang="zh-CN" altLang="en-US" sz="2400" dirty="0" smtClean="0"/>
              <a:t>色彩空间</a:t>
            </a:r>
            <a:endParaRPr lang="en-US" altLang="zh-CN" sz="2400" dirty="0" smtClean="0"/>
          </a:p>
          <a:p>
            <a:r>
              <a:rPr lang="en-US" altLang="zh-CN" sz="2400" dirty="0" smtClean="0"/>
              <a:t>ITU BT.601 </a:t>
            </a:r>
            <a:r>
              <a:rPr lang="zh-CN" altLang="en-US" sz="2400" dirty="0" smtClean="0"/>
              <a:t>定义了</a:t>
            </a:r>
            <a:r>
              <a:rPr lang="zh-CN" altLang="en-US" sz="2400" dirty="0"/>
              <a:t>经</a:t>
            </a:r>
            <a:r>
              <a:rPr lang="zh-CN" altLang="en-US" sz="2400" dirty="0" smtClean="0"/>
              <a:t>典的</a:t>
            </a:r>
            <a:r>
              <a:rPr lang="en-US" altLang="zh-CN" sz="2400" dirty="0" smtClean="0"/>
              <a:t>YCbCr</a:t>
            </a:r>
            <a:r>
              <a:rPr lang="zh-CN" altLang="en-US" sz="2400" dirty="0" smtClean="0"/>
              <a:t>转换矩阵</a:t>
            </a:r>
            <a:endParaRPr lang="en-US" altLang="zh-CN" sz="2400" dirty="0" smtClean="0"/>
          </a:p>
          <a:p>
            <a:r>
              <a:rPr lang="en-US" altLang="zh-CN" sz="2400" dirty="0" smtClean="0"/>
              <a:t>ITU BT.709 </a:t>
            </a:r>
            <a:r>
              <a:rPr lang="zh-CN" altLang="en-US" sz="2400" dirty="0" smtClean="0"/>
              <a:t>定义了高清电视颜色空间</a:t>
            </a:r>
            <a:endParaRPr lang="en-US" altLang="zh-CN" sz="2400" dirty="0" smtClean="0"/>
          </a:p>
          <a:p>
            <a:r>
              <a:rPr lang="en-US" altLang="zh-CN" sz="2400" dirty="0" smtClean="0"/>
              <a:t>ISO/IEC 61966-2-1 </a:t>
            </a:r>
            <a:r>
              <a:rPr lang="zh-CN" altLang="en-US" sz="2400" dirty="0" smtClean="0"/>
              <a:t>定义了</a:t>
            </a:r>
            <a:r>
              <a:rPr lang="en-US" altLang="zh-CN" sz="2400" dirty="0" smtClean="0"/>
              <a:t>sRGB</a:t>
            </a:r>
          </a:p>
          <a:p>
            <a:r>
              <a:rPr lang="en-US" altLang="zh-CN" sz="2400" dirty="0" smtClean="0"/>
              <a:t>ITU BT.2020 </a:t>
            </a:r>
            <a:r>
              <a:rPr lang="zh-CN" altLang="en-US" sz="2400" dirty="0" smtClean="0"/>
              <a:t>定义了 </a:t>
            </a:r>
            <a:r>
              <a:rPr lang="en-US" altLang="zh-CN" sz="2400" dirty="0" smtClean="0"/>
              <a:t>UHD </a:t>
            </a:r>
            <a:r>
              <a:rPr lang="zh-CN" altLang="en-US" sz="2400" dirty="0" smtClean="0"/>
              <a:t>电视的色彩空间</a:t>
            </a:r>
            <a:endParaRPr lang="en-US" altLang="zh-CN" sz="2400" dirty="0" smtClean="0"/>
          </a:p>
          <a:p>
            <a:r>
              <a:rPr lang="en-US" altLang="zh-CN" sz="2400" dirty="0" smtClean="0"/>
              <a:t>ITU BT.2100 </a:t>
            </a:r>
            <a:r>
              <a:rPr lang="zh-CN" altLang="en-US" sz="2400" dirty="0" smtClean="0"/>
              <a:t>定义了 </a:t>
            </a:r>
            <a:r>
              <a:rPr lang="en-US" altLang="zh-CN" sz="2400" dirty="0" smtClean="0"/>
              <a:t>UHD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HDR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电视的色彩空间</a:t>
            </a:r>
            <a:endParaRPr lang="en-US" altLang="zh-CN" sz="2400" dirty="0" smtClean="0"/>
          </a:p>
          <a:p>
            <a:r>
              <a:rPr lang="en-US" altLang="zh-CN" sz="24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412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图像视频及接口中的色彩编码信息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971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BITMAPV4HEADER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78" y="718437"/>
            <a:ext cx="5825944" cy="5668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904722" y="4732773"/>
            <a:ext cx="2956845" cy="1258392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2405" y="6387277"/>
            <a:ext cx="959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learn.microsoft.com/en-us/windows/win32/api/wingdi/ns-wingdi-bitmapv4header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0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BITMAPV5HEADER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390" y="756982"/>
            <a:ext cx="4836764" cy="556063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7679" y="6317615"/>
            <a:ext cx="9783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learn.microsoft.com/en-us/windows/win32/api/wingdi/ns-wingdi-bitmapv5header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723851" y="4105700"/>
            <a:ext cx="2956845" cy="1652005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23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4</a:t>
            </a:r>
            <a:r>
              <a:rPr lang="zh-CN" altLang="en-US" sz="2800" dirty="0" smtClean="0"/>
              <a:t>种方式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CICP metadata (cICP chunk)</a:t>
            </a:r>
          </a:p>
          <a:p>
            <a:pPr lvl="1"/>
            <a:r>
              <a:rPr lang="zh-CN" altLang="en-US" sz="2400" dirty="0" smtClean="0"/>
              <a:t>内嵌 </a:t>
            </a:r>
            <a:r>
              <a:rPr lang="en-US" altLang="zh-CN" sz="2400" dirty="0" smtClean="0"/>
              <a:t>ICC profile (iCCP chunkj)</a:t>
            </a:r>
          </a:p>
          <a:p>
            <a:pPr lvl="1"/>
            <a:r>
              <a:rPr lang="en-US" altLang="zh-CN" sz="2400" dirty="0" smtClean="0"/>
              <a:t>sRGB metadata (sRGB chunk)</a:t>
            </a:r>
          </a:p>
          <a:p>
            <a:pPr lvl="2"/>
            <a:r>
              <a:rPr lang="en-US" altLang="zh-CN" sz="2000" dirty="0"/>
              <a:t>rendering intent:</a:t>
            </a:r>
            <a:endParaRPr lang="en-US" altLang="zh-CN" sz="2000" dirty="0" smtClean="0"/>
          </a:p>
          <a:p>
            <a:pPr lvl="1"/>
            <a:r>
              <a:rPr lang="en-US" altLang="zh-CN" sz="2400" dirty="0" smtClean="0"/>
              <a:t>RGBW CIE 1931 xy + gamma value (cHRM + gAMA chunk)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3767647" y="4743455"/>
            <a:ext cx="4681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hlinkClick r:id="rId2"/>
              </a:rPr>
              <a:t>https://</a:t>
            </a:r>
            <a:r>
              <a:rPr lang="en-US" altLang="zh-CN" sz="2400" dirty="0" smtClean="0">
                <a:hlinkClick r:id="rId2"/>
              </a:rPr>
              <a:t>www.w3.org/TR/png-3/</a:t>
            </a:r>
            <a:r>
              <a:rPr lang="en-US" altLang="zh-CN" sz="2400" dirty="0" smtClean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7892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JPEG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JPEG </a:t>
            </a:r>
            <a:r>
              <a:rPr lang="zh-CN" altLang="en-US" sz="2400" dirty="0" smtClean="0"/>
              <a:t>的编码技术与颜色编码无关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它甚至可以编码 </a:t>
            </a:r>
            <a:r>
              <a:rPr lang="en-US" altLang="zh-CN" sz="2000" dirty="0" smtClean="0"/>
              <a:t>RGB </a:t>
            </a:r>
            <a:r>
              <a:rPr lang="zh-CN" altLang="en-US" sz="2000" dirty="0" smtClean="0"/>
              <a:t>和 </a:t>
            </a:r>
            <a:r>
              <a:rPr lang="en-US" altLang="zh-CN" sz="2000" dirty="0" smtClean="0"/>
              <a:t>CMYK</a:t>
            </a:r>
          </a:p>
          <a:p>
            <a:r>
              <a:rPr lang="zh-CN" altLang="en-US" sz="2400" dirty="0"/>
              <a:t>默</a:t>
            </a:r>
            <a:r>
              <a:rPr lang="zh-CN" altLang="en-US" sz="2400" dirty="0" smtClean="0"/>
              <a:t>认</a:t>
            </a:r>
            <a:r>
              <a:rPr lang="en-US" altLang="zh-CN" sz="2400" dirty="0" smtClean="0"/>
              <a:t>sRGB</a:t>
            </a:r>
          </a:p>
          <a:p>
            <a:r>
              <a:rPr lang="zh-CN" altLang="en-US" sz="2400" dirty="0" smtClean="0"/>
              <a:t>内嵌 </a:t>
            </a:r>
            <a:r>
              <a:rPr lang="en-US" altLang="zh-CN" sz="2400" dirty="0" smtClean="0"/>
              <a:t>ICC profile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38378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H.264/H.265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872" y="1828800"/>
            <a:ext cx="4297679" cy="4351337"/>
          </a:xfrm>
        </p:spPr>
        <p:txBody>
          <a:bodyPr>
            <a:normAutofit/>
          </a:bodyPr>
          <a:lstStyle/>
          <a:p>
            <a:r>
              <a:rPr lang="en-US" altLang="zh-CN" sz="2000" dirty="0" smtClean="0"/>
              <a:t>VUI (video usability information)</a:t>
            </a:r>
          </a:p>
          <a:p>
            <a:r>
              <a:rPr lang="en-US" altLang="zh-CN" sz="2000" dirty="0"/>
              <a:t>H.273 Coding-independent code points for video </a:t>
            </a:r>
            <a:r>
              <a:rPr lang="en-US" altLang="zh-CN" sz="2000" dirty="0" smtClean="0"/>
              <a:t>signal </a:t>
            </a:r>
            <a:r>
              <a:rPr lang="en-US" altLang="zh-CN" sz="2000" dirty="0"/>
              <a:t>type identification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1" y="1812402"/>
            <a:ext cx="3602033" cy="436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3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smtClean="0"/>
              <a:t>Colour</a:t>
            </a:r>
            <a:br>
              <a:rPr lang="en-US" altLang="zh-CN" sz="4000" dirty="0" smtClean="0"/>
            </a:br>
            <a:r>
              <a:rPr lang="en-US" altLang="zh-CN" sz="4000" dirty="0" smtClean="0"/>
              <a:t>primaries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198" y="365760"/>
            <a:ext cx="5010121" cy="605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3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262" y="365760"/>
            <a:ext cx="6191250" cy="18097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Transfer</a:t>
            </a:r>
            <a:br>
              <a:rPr lang="en-US" altLang="zh-CN" dirty="0" smtClean="0"/>
            </a:br>
            <a:r>
              <a:rPr lang="en-US" altLang="zh-CN" dirty="0" smtClean="0"/>
              <a:t>characteristics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787" y="2220083"/>
            <a:ext cx="61722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5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Matrix</a:t>
            </a:r>
            <a:br>
              <a:rPr lang="en-US" altLang="zh-CN" dirty="0" smtClean="0"/>
            </a:br>
            <a:r>
              <a:rPr lang="en-US" altLang="zh-CN" dirty="0" smtClean="0"/>
              <a:t>coefficients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356" y="365760"/>
            <a:ext cx="60769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1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Chroma</a:t>
            </a:r>
            <a:br>
              <a:rPr lang="en-US" altLang="zh-CN" dirty="0" smtClean="0"/>
            </a:br>
            <a:r>
              <a:rPr lang="en-US" altLang="zh-CN" dirty="0" smtClean="0"/>
              <a:t>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317" y="203321"/>
            <a:ext cx="4857750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8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EDID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Extended Display Identification Data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470943"/>
            <a:ext cx="8917556" cy="1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61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EDID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264" y="539263"/>
            <a:ext cx="74771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7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EDID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294" y="2333002"/>
            <a:ext cx="7702798" cy="298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0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AVI InfoFrame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CTA (</a:t>
            </a:r>
            <a:r>
              <a:rPr lang="zh-CN" altLang="en-US" sz="2400" dirty="0" smtClean="0"/>
              <a:t>原 </a:t>
            </a:r>
            <a:r>
              <a:rPr lang="en-US" altLang="zh-CN" sz="2400" dirty="0" smtClean="0"/>
              <a:t>CEA) 861 </a:t>
            </a:r>
            <a:r>
              <a:rPr lang="zh-CN" altLang="en-US" sz="2400" dirty="0" smtClean="0"/>
              <a:t>定义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" y="2288540"/>
            <a:ext cx="9220200" cy="40290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606324" y="2982482"/>
            <a:ext cx="2281727" cy="19655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06324" y="3179035"/>
            <a:ext cx="1518336" cy="227355"/>
          </a:xfrm>
          <a:prstGeom prst="rect">
            <a:avLst/>
          </a:prstGeom>
          <a:gradFill>
            <a:gsLst>
              <a:gs pos="0">
                <a:srgbClr val="FF3300">
                  <a:alpha val="20000"/>
                </a:srgbClr>
              </a:gs>
              <a:gs pos="100000">
                <a:srgbClr val="00B0F0">
                  <a:alpha val="20000"/>
                </a:srgbClr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65492" y="3394772"/>
            <a:ext cx="2276468" cy="226083"/>
          </a:xfrm>
          <a:prstGeom prst="rect">
            <a:avLst/>
          </a:prstGeom>
          <a:gradFill>
            <a:gsLst>
              <a:gs pos="0">
                <a:srgbClr val="FF3300">
                  <a:alpha val="20000"/>
                </a:srgbClr>
              </a:gs>
              <a:gs pos="100000">
                <a:srgbClr val="00B0F0">
                  <a:alpha val="20000"/>
                </a:srgbClr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27612" y="5672701"/>
            <a:ext cx="3114348" cy="235730"/>
          </a:xfrm>
          <a:prstGeom prst="rect">
            <a:avLst/>
          </a:prstGeom>
          <a:gradFill>
            <a:gsLst>
              <a:gs pos="0">
                <a:srgbClr val="FF3300">
                  <a:alpha val="20000"/>
                </a:srgbClr>
              </a:gs>
              <a:gs pos="100000">
                <a:srgbClr val="00B0F0">
                  <a:alpha val="20000"/>
                </a:srgbClr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699903" y="3389821"/>
            <a:ext cx="1661828" cy="226083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606325" y="3825472"/>
            <a:ext cx="1518336" cy="194011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084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400" dirty="0" smtClean="0"/>
              <a:t>正确传递颜色编码的信息</a:t>
            </a:r>
            <a:endParaRPr lang="en-US" altLang="zh-CN" sz="2400" dirty="0" smtClean="0"/>
          </a:p>
          <a:p>
            <a:pPr lvl="1"/>
            <a:r>
              <a:rPr lang="zh-CN" altLang="en-US" sz="2000" dirty="0"/>
              <a:t>三原</a:t>
            </a:r>
            <a:r>
              <a:rPr lang="zh-CN" altLang="en-US" sz="2000" dirty="0" smtClean="0"/>
              <a:t>色和白点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传输函</a:t>
            </a:r>
            <a:r>
              <a:rPr lang="zh-CN" altLang="en-US" sz="2000" dirty="0" smtClean="0"/>
              <a:t>数</a:t>
            </a:r>
            <a:r>
              <a:rPr lang="en-US" altLang="zh-CN" sz="2000" dirty="0" smtClean="0"/>
              <a:t>/gamma</a:t>
            </a:r>
          </a:p>
          <a:p>
            <a:pPr lvl="1"/>
            <a:r>
              <a:rPr lang="en-US" altLang="zh-CN" sz="2000" dirty="0" smtClean="0"/>
              <a:t>RGB/YCC</a:t>
            </a:r>
            <a:r>
              <a:rPr lang="zh-CN" altLang="en-US" sz="2000" dirty="0" smtClean="0"/>
              <a:t>转换矩阵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量化编码范围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色</a:t>
            </a:r>
            <a:r>
              <a:rPr lang="zh-CN" altLang="en-US" sz="2000" dirty="0" smtClean="0"/>
              <a:t>度下采样</a:t>
            </a:r>
            <a:r>
              <a:rPr lang="zh-CN" altLang="en-US" sz="2000" dirty="0"/>
              <a:t>模</a:t>
            </a:r>
            <a:r>
              <a:rPr lang="zh-CN" altLang="en-US" sz="2000" dirty="0" smtClean="0"/>
              <a:t>式和位置</a:t>
            </a:r>
            <a:endParaRPr lang="en-US" altLang="zh-CN" sz="2000" dirty="0" smtClean="0"/>
          </a:p>
          <a:p>
            <a:r>
              <a:rPr lang="zh-CN" altLang="en-US" sz="2200" dirty="0" smtClean="0"/>
              <a:t>基本按照 </a:t>
            </a:r>
            <a:r>
              <a:rPr lang="en-US" altLang="zh-CN" sz="2200" dirty="0" smtClean="0"/>
              <a:t>H.273 </a:t>
            </a:r>
            <a:r>
              <a:rPr lang="zh-CN" altLang="en-US" sz="2200" dirty="0" smtClean="0"/>
              <a:t>的枚举值设置即可，但是要留出定制值</a:t>
            </a:r>
            <a:endParaRPr lang="en-US" altLang="zh-CN" sz="2200" dirty="0" smtClean="0"/>
          </a:p>
          <a:p>
            <a:r>
              <a:rPr lang="zh-CN" altLang="en-US" sz="2200" dirty="0"/>
              <a:t>它</a:t>
            </a:r>
            <a:r>
              <a:rPr lang="zh-CN" altLang="en-US" sz="2200" dirty="0" smtClean="0"/>
              <a:t>们可以组合出很多模式，所以如果传递组合形成的</a:t>
            </a:r>
            <a:r>
              <a:rPr lang="en-US" altLang="zh-CN" sz="2200" dirty="0" smtClean="0"/>
              <a:t>use case</a:t>
            </a:r>
            <a:r>
              <a:rPr lang="zh-CN" altLang="en-US" sz="2200" dirty="0" smtClean="0"/>
              <a:t>，会有很多</a:t>
            </a:r>
            <a:endParaRPr lang="en-US" altLang="zh-CN" sz="2200" dirty="0"/>
          </a:p>
          <a:p>
            <a:r>
              <a:rPr lang="zh-CN" altLang="en-US" sz="2400" dirty="0" smtClean="0"/>
              <a:t>颜色编码信息作为 </a:t>
            </a:r>
            <a:r>
              <a:rPr lang="en-US" altLang="zh-CN" sz="2400" dirty="0" smtClean="0"/>
              <a:t>frame buffer metadata </a:t>
            </a:r>
            <a:r>
              <a:rPr lang="zh-CN" altLang="en-US" sz="2400" dirty="0" smtClean="0"/>
              <a:t>传递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struct color_metadata</a:t>
            </a:r>
          </a:p>
          <a:p>
            <a:pPr lvl="1"/>
            <a:r>
              <a:rPr lang="en-US" altLang="zh-CN" sz="2000" dirty="0" smtClean="0"/>
              <a:t>Frame buffer: struct color_metadata *</a:t>
            </a:r>
          </a:p>
          <a:p>
            <a:r>
              <a:rPr lang="zh-CN" altLang="en-US" sz="2400" dirty="0"/>
              <a:t>默认</a:t>
            </a:r>
            <a:r>
              <a:rPr lang="zh-CN" altLang="en-US" sz="2400" dirty="0" smtClean="0"/>
              <a:t>值由源端（</a:t>
            </a:r>
            <a:r>
              <a:rPr lang="en-US" altLang="zh-CN" sz="2400" dirty="0" smtClean="0"/>
              <a:t>Rx</a:t>
            </a:r>
            <a:r>
              <a:rPr lang="zh-CN" altLang="en-US" sz="2400" dirty="0" smtClean="0"/>
              <a:t>、解码器）设置，不要让下游去猜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10191550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1485</TotalTime>
  <Words>2220</Words>
  <Application>Microsoft Office PowerPoint</Application>
  <PresentationFormat>宽屏</PresentationFormat>
  <Paragraphs>203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Century Schoolbook</vt:lpstr>
      <vt:lpstr>Wingdings 2</vt:lpstr>
      <vt:lpstr>宋体</vt:lpstr>
      <vt:lpstr>Arial</vt:lpstr>
      <vt:lpstr>Calibri</vt:lpstr>
      <vt:lpstr>Calibri Light</vt:lpstr>
      <vt:lpstr>Cambria Math</vt:lpstr>
      <vt:lpstr>HDOfficeLightV0</vt:lpstr>
      <vt:lpstr>1_HDOfficeLightV0</vt:lpstr>
      <vt:lpstr>2_HDOfficeLightV0</vt:lpstr>
      <vt:lpstr>View</vt:lpstr>
      <vt:lpstr>颜色编码</vt:lpstr>
      <vt:lpstr>问题</vt:lpstr>
      <vt:lpstr>简短回答</vt:lpstr>
      <vt:lpstr>人类色彩感知</vt:lpstr>
      <vt:lpstr>色彩匹配 color matching</vt:lpstr>
      <vt:lpstr>实验结果</vt:lpstr>
      <vt:lpstr>实验数据整理</vt:lpstr>
      <vt:lpstr>CIE 1931 XYZ 的用途</vt:lpstr>
      <vt:lpstr>CIE 1931 XYZ的用途</vt:lpstr>
      <vt:lpstr>白点 white point</vt:lpstr>
      <vt:lpstr>线性 RGB</vt:lpstr>
      <vt:lpstr>人类对光强的感知</vt:lpstr>
      <vt:lpstr>从线性 RGB 到非线性 RGB</vt:lpstr>
      <vt:lpstr>BT.709 传输函数</vt:lpstr>
      <vt:lpstr>符号记法</vt:lpstr>
      <vt:lpstr>图像视频数据压缩</vt:lpstr>
      <vt:lpstr>亮度和色度信号</vt:lpstr>
      <vt:lpstr>第一步，RGB转亮度色度</vt:lpstr>
      <vt:lpstr>实际的例子，BT.709</vt:lpstr>
      <vt:lpstr>The matrix</vt:lpstr>
      <vt:lpstr>第二步，减小色度空间分辨率</vt:lpstr>
      <vt:lpstr>横着砍一半</vt:lpstr>
      <vt:lpstr>竖着砍一半</vt:lpstr>
      <vt:lpstr>横着砍一半再砍一半</vt:lpstr>
      <vt:lpstr>横着砍一半再竖着砍一半</vt:lpstr>
      <vt:lpstr>实际应用的4:2:0</vt:lpstr>
      <vt:lpstr>目前更流行的4:2:0</vt:lpstr>
      <vt:lpstr>是时候编码了</vt:lpstr>
      <vt:lpstr>8-bit 0…255 的 RGB</vt:lpstr>
      <vt:lpstr>8-bit 的 YCbCr</vt:lpstr>
      <vt:lpstr>收缩的8-bit YCbCr</vt:lpstr>
      <vt:lpstr>收缩的8-bit RGB</vt:lpstr>
      <vt:lpstr>讲了很多了</vt:lpstr>
      <vt:lpstr>色彩空间标准</vt:lpstr>
      <vt:lpstr>图像视频及接口中的色彩编码信息</vt:lpstr>
      <vt:lpstr>BMP</vt:lpstr>
      <vt:lpstr>BMP</vt:lpstr>
      <vt:lpstr>PNG</vt:lpstr>
      <vt:lpstr>JPEG</vt:lpstr>
      <vt:lpstr>H.264/H.265</vt:lpstr>
      <vt:lpstr>Colour primaries</vt:lpstr>
      <vt:lpstr>Transfer characteristics</vt:lpstr>
      <vt:lpstr>Matrix coefficients</vt:lpstr>
      <vt:lpstr>Chroma location</vt:lpstr>
      <vt:lpstr>EDID</vt:lpstr>
      <vt:lpstr>EDID</vt:lpstr>
      <vt:lpstr>EDID</vt:lpstr>
      <vt:lpstr>AVI InfoFrame</vt:lpstr>
      <vt:lpstr>软件设计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颜色编码和 软件系统设计</dc:title>
  <dc:creator>Hudson Deng</dc:creator>
  <cp:lastModifiedBy>Hudson Deng</cp:lastModifiedBy>
  <cp:revision>235</cp:revision>
  <dcterms:created xsi:type="dcterms:W3CDTF">2024-01-08T07:57:44Z</dcterms:created>
  <dcterms:modified xsi:type="dcterms:W3CDTF">2024-01-10T01:55:12Z</dcterms:modified>
</cp:coreProperties>
</file>