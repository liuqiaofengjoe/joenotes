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handoutMasterIdLst>
    <p:handoutMasterId r:id="rId80"/>
  </p:handoutMasterIdLst>
  <p:sldIdLst>
    <p:sldId id="256" r:id="rId3"/>
    <p:sldId id="257" r:id="rId5"/>
    <p:sldId id="439" r:id="rId6"/>
    <p:sldId id="411" r:id="rId7"/>
    <p:sldId id="412" r:id="rId8"/>
    <p:sldId id="413" r:id="rId9"/>
    <p:sldId id="388" r:id="rId10"/>
    <p:sldId id="443" r:id="rId11"/>
    <p:sldId id="442" r:id="rId12"/>
    <p:sldId id="523" r:id="rId13"/>
    <p:sldId id="440" r:id="rId14"/>
    <p:sldId id="390" r:id="rId15"/>
    <p:sldId id="444" r:id="rId16"/>
    <p:sldId id="445" r:id="rId17"/>
    <p:sldId id="453" r:id="rId18"/>
    <p:sldId id="446" r:id="rId19"/>
    <p:sldId id="454" r:id="rId20"/>
    <p:sldId id="455" r:id="rId21"/>
    <p:sldId id="456" r:id="rId22"/>
    <p:sldId id="457" r:id="rId23"/>
    <p:sldId id="447" r:id="rId24"/>
    <p:sldId id="458" r:id="rId25"/>
    <p:sldId id="459" r:id="rId26"/>
    <p:sldId id="460" r:id="rId27"/>
    <p:sldId id="463" r:id="rId28"/>
    <p:sldId id="461" r:id="rId29"/>
    <p:sldId id="449" r:id="rId30"/>
    <p:sldId id="448" r:id="rId31"/>
    <p:sldId id="524" r:id="rId32"/>
    <p:sldId id="451" r:id="rId33"/>
    <p:sldId id="525" r:id="rId34"/>
    <p:sldId id="526" r:id="rId35"/>
    <p:sldId id="450" r:id="rId36"/>
    <p:sldId id="464" r:id="rId37"/>
    <p:sldId id="465" r:id="rId38"/>
    <p:sldId id="466" r:id="rId39"/>
    <p:sldId id="467" r:id="rId40"/>
    <p:sldId id="483" r:id="rId41"/>
    <p:sldId id="484" r:id="rId42"/>
    <p:sldId id="485" r:id="rId43"/>
    <p:sldId id="469" r:id="rId44"/>
    <p:sldId id="476" r:id="rId45"/>
    <p:sldId id="475" r:id="rId46"/>
    <p:sldId id="478" r:id="rId47"/>
    <p:sldId id="493" r:id="rId48"/>
    <p:sldId id="513" r:id="rId49"/>
    <p:sldId id="479" r:id="rId50"/>
    <p:sldId id="480" r:id="rId51"/>
    <p:sldId id="514" r:id="rId52"/>
    <p:sldId id="515" r:id="rId53"/>
    <p:sldId id="516" r:id="rId54"/>
    <p:sldId id="517" r:id="rId55"/>
    <p:sldId id="486" r:id="rId56"/>
    <p:sldId id="494" r:id="rId57"/>
    <p:sldId id="495" r:id="rId58"/>
    <p:sldId id="496" r:id="rId59"/>
    <p:sldId id="497" r:id="rId60"/>
    <p:sldId id="498" r:id="rId61"/>
    <p:sldId id="499" r:id="rId62"/>
    <p:sldId id="500" r:id="rId63"/>
    <p:sldId id="501" r:id="rId64"/>
    <p:sldId id="502" r:id="rId65"/>
    <p:sldId id="503" r:id="rId66"/>
    <p:sldId id="504" r:id="rId67"/>
    <p:sldId id="505" r:id="rId68"/>
    <p:sldId id="506" r:id="rId69"/>
    <p:sldId id="507" r:id="rId70"/>
    <p:sldId id="508" r:id="rId71"/>
    <p:sldId id="509" r:id="rId72"/>
    <p:sldId id="521" r:id="rId73"/>
    <p:sldId id="492" r:id="rId74"/>
    <p:sldId id="510" r:id="rId75"/>
    <p:sldId id="511" r:id="rId76"/>
    <p:sldId id="512" r:id="rId77"/>
    <p:sldId id="520" r:id="rId78"/>
    <p:sldId id="429" r:id="rId79"/>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3" Type="http://schemas.openxmlformats.org/officeDocument/2006/relationships/tableStyles" Target="tableStyles.xml"/><Relationship Id="rId82" Type="http://schemas.openxmlformats.org/officeDocument/2006/relationships/viewProps" Target="viewProps.xml"/><Relationship Id="rId81" Type="http://schemas.openxmlformats.org/officeDocument/2006/relationships/presProps" Target="presProps.xml"/><Relationship Id="rId80" Type="http://schemas.openxmlformats.org/officeDocument/2006/relationships/handoutMaster" Target="handoutMasters/handoutMaster1.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1671638" cy="458788"/>
          </a:xfrm>
          <a:prstGeom prst="rect">
            <a:avLst/>
          </a:prstGeom>
        </p:spPr>
        <p:txBody>
          <a:bodyPr vert="horz" lIns="91440" tIns="45720" rIns="91440" bIns="45720" rtlCol="0"/>
          <a:lstStyle>
            <a:lvl1pPr algn="l">
              <a:defRPr sz="675"/>
            </a:lvl1pPr>
          </a:lstStyle>
          <a:p>
            <a:endParaRPr lang="zh-CN" altLang="en-US"/>
          </a:p>
        </p:txBody>
      </p:sp>
      <p:sp>
        <p:nvSpPr>
          <p:cNvPr id="3" name="日期占位符 2"/>
          <p:cNvSpPr>
            <a:spLocks noGrp="1"/>
          </p:cNvSpPr>
          <p:nvPr>
            <p:ph type="dt" sz="quarter" idx="1"/>
          </p:nvPr>
        </p:nvSpPr>
        <p:spPr>
          <a:xfrm>
            <a:off x="2185095" y="0"/>
            <a:ext cx="1671638" cy="458788"/>
          </a:xfrm>
          <a:prstGeom prst="rect">
            <a:avLst/>
          </a:prstGeom>
        </p:spPr>
        <p:txBody>
          <a:bodyPr vert="horz" lIns="91440" tIns="45720" rIns="91440" bIns="45720" rtlCol="0"/>
          <a:lstStyle>
            <a:lvl1pPr algn="r">
              <a:defRPr sz="67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1671638" cy="458787"/>
          </a:xfrm>
          <a:prstGeom prst="rect">
            <a:avLst/>
          </a:prstGeom>
        </p:spPr>
        <p:txBody>
          <a:bodyPr vert="horz" lIns="91440" tIns="45720" rIns="91440" bIns="45720" rtlCol="0" anchor="b"/>
          <a:lstStyle>
            <a:lvl1pPr algn="l">
              <a:defRPr sz="675"/>
            </a:lvl1pPr>
          </a:lstStyle>
          <a:p>
            <a:endParaRPr lang="zh-CN" altLang="en-US"/>
          </a:p>
        </p:txBody>
      </p:sp>
      <p:sp>
        <p:nvSpPr>
          <p:cNvPr id="5" name="灯片编号占位符 4"/>
          <p:cNvSpPr>
            <a:spLocks noGrp="1"/>
          </p:cNvSpPr>
          <p:nvPr>
            <p:ph type="sldNum" sz="quarter" idx="3"/>
          </p:nvPr>
        </p:nvSpPr>
        <p:spPr>
          <a:xfrm>
            <a:off x="2185095" y="8685213"/>
            <a:ext cx="1671638" cy="458787"/>
          </a:xfrm>
          <a:prstGeom prst="rect">
            <a:avLst/>
          </a:prstGeom>
        </p:spPr>
        <p:txBody>
          <a:bodyPr vert="horz" lIns="91440" tIns="45720" rIns="91440" bIns="45720" rtlCol="0" anchor="b"/>
          <a:lstStyle>
            <a:lvl1pPr algn="r">
              <a:defRPr sz="67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2-16T17:43:21"/>
    </inkml:context>
    <inkml:brush xml:id="br0">
      <inkml:brushProperty name="width" value="0.05292" units="cm"/>
      <inkml:brushProperty name="height" value="0.05292" units="cm"/>
      <inkml:brushProperty name="color" value="#ff0000"/>
      <inkml:brushProperty name="ignorePressure" value="0"/>
    </inkml:brush>
  </inkml:definitions>
  <inkml:trace contextRef="#ctx0" brushRef="#br0">1349.000 203.000,'-0.008'0.000,"-0.012"0.000,-0.013 0.000,-0.013 0.000,-0.011 0.000,-0.010 0.000,-0.008 0.000,-0.006 0.000,-0.004 0.000,-0.003 0.000,-0.002 0.000,-0.001 0.000,-0.000 0.000,0.000 0.000,0.000 0.000,0.000 0.000,0.000 0.000,0.000 0.000,0.000 0.000,0.000 0.000,0.000 0.000,0.000 0.000,0.000 0.000,0.000 0.000,0.000 0.000,0.000 0.000,0.000 0.000,0.000 0.000,0.000 0.000,0.000 0.000,-0.000 0.000,0.000 0.000,0.000 0.000,0.000 0.000,-0.024-0.018,-0.048-0.029,-0.056-0.033,-0.057-0.034,-0.090-0.013,-0.104 0.001,0.019 0.024,-0.023 0.011,-0.008 0.012,-0.110-0.004,-0.006-0.003,0.025-0.007,0.044-0.010,0.053-0.011,0.056-0.011,0.037-0.003,0.042 0.010,0.034 0.015,0.025 0.017,-0.147 0.017,-0.100 0.016,-0.062 0.014,-0.033 0.012,-0.049 0.009,-0.056 0.007,-0.096 0.005,0.015 0.004,0.090 0.002,0.071 0.001,0.076 0.000,0.073-0.000,0.065-0.001,0.021-0.001,0.015-0.000,0.035-0.001,0.035-0.001,0.032-0.000,0.027-0.000,0.022-0.000,0.017-0.000,0.013-0.000,0.009-0.000,0.006-0.000,-0.116 0.066,-0.083 0.039,-0.045 0.019,-0.017 0.004,-0.297 0.148,-0.193 0.070,0.031-0.013,-0.070 0.023,-0.049 0.014,0.006-0.014,-0.098 0.017,-0.382 0.109,-0.026-0.001,0.023-0.011,-0.021-0.042,-0.211 0.061,0.032-0.032,0.298-0.055,0.195-0.001,0.197-0.012,0.183-0.018,0.161-0.020,0.135-0.021,0.107 0.007,0.125-0.009,0.104-0.005,0.098-0.051,0.030 0.162,0.048 0.063,0.033 0.053,-0.035-0.145,-0.040-0.009,-0.040-0.009,-0.039-0.009,-0.020-0.001,-0.006 0.005,-0.053 0.130,0.024-0.014,0.032-0.022,0.042 0.070,0.030 0.116,0.027 0.044,0.023-0.006,0.019-0.037,0.015 0.112,0.011 0.051,0.009 0.093,0.006-0.031,0.003-0.015,0.001 0.052,0.000 0.002,-0.000-0.030,-0.001-0.049,-0.001-0.057,-0.001-0.114,-0.001-0.063,-0.001-0.060,-0.000 0.037,-0.001-0.020,-0.001-0.004,-0.000 0.009,-0.000-0.012,-0.000-0.137,-0.000-0.017,0.000-0.016,0.110 0.201,0.099 0.083,-0.021-0.166,0.042 0.046,0.188 0.331,0.032-0.020,0.003-0.062,-0.014-0.084,0.123 0.049,0.087 0.107,-0.365-0.515,0.380 0.413,0.060 0.022,0.040 0.025,0.024 0.026,0.011 0.026,0.152 0.200,0.008 0.057,0.225 0.208,-0.009-0.146,-0.258-0.317,-0.055-0.090,0.060-0.009,-0.017-0.082,-0.004-0.030,0.005 0.005,0.281 0.145,0.098 0.019,-0.052-0.091,0.061-0.028,0.151 0.031,-0.027-0.047,-0.264-0.188,0.017-0.072,0.573 0.120,0.167 0.008,-0.121-0.053,0.013-0.002,-0.014-0.039,-0.031-0.060,0.182 0.115,0.084 0.071,0.176 0.062,-0.123-0.058,-0.109-0.092,-0.020-0.025,-0.120-0.015,-0.175-0.008,-0.131-0.019,-0.023-0.008,-0.060-0.032,-0.082-0.046,-0.461-0.144,0.590 0.079,-0.042-0.065,-0.127-0.077,0.019-0.038,-0.032-0.032,-0.065-0.027,-0.394-0.028,0.530-0.006,-0.162-0.020,-0.177-0.013,-0.172-0.007,-0.154-0.003,-0.131-0.000,-0.105 0.001,-0.103 0.004,-0.037 0.002,-0.020 0.002,-0.007 0.002,0.001 0.002,0.000 0.002,-0.022 0.001,-0.026 0.001,-0.027 0.001,-0.026 0.001,-0.023 0.000,-0.019 0.000,-0.015 0.000,0.052 0.000,0.092-0.000,0.076-0.020,0.028-0.031,0.005-0.036,-0.010-0.035,-0.029-0.005,-0.009 0.002,-0.008 0.011,-0.012-0.003,-0.015-0.012,-0.015-0.016,-0.014-0.018,-0.026-0.025,-0.009-0.042,-0.006-0.046,-0.005-0.045,0.009-0.047,-0.016 0.005,-0.018 0.020,-0.018 0.028,-0.016 0.031,-0.014 0.031,-0.011 0.028,0.003-0.009,0.006-0.024,0.010-0.035,0.012-0.038,-0.017-0.018,-0.018-0.033,-0.018-0.052,-0.028-0.026,-0.026-0.019,-0.024-0.014,-0.021 0.015,-0.015-0.007,-0.012-0.079,-0.009-0.046,-0.007-0.131,-0.005-0.066,-0.001 0.174,-0.001-0.018,-0.000 0.002,-0.001-0.071,0.000 0.020,0.000 0.026,0.001 0.028,0.000-0.103,0.001 0.047,0.001 0.224,0.000 0.030,0.000 0.027,0.000 0.015,0.000 0.007,0.000-0.125,0.000 0.002,0.000 0.003,0.000 0.004,0.000 0.028,0.000 0.001,0.000-0.074,-0.000-0.043,0.000-0.057,0.000-0.061,0.000-0.023,-0.000 0.003,0.000-0.076,0.000 0.022,0.000 0.058,0.000 0.076,0.000 0.049,0.000-0.017,0.000-0.001,0.000 0.009,0.000-0.096,0.000-0.082,0.000-0.030,0.000 0.005,0.000 0.027,0.000 0.039,0.000-0.290,0.000-0.080,-0.018 0.109,-0.029 0.042,-0.033 0.062,-0.034 0.070,0.014 0.191,-0.001-0.001,-0.019-0.264,0.017-0.041,0.015 0.001,0.016 0.052,0.015 0.082,0.014 0.096,0.016 0.153,0.007 0.018,0.006 0.008,0.005 0.000,0.004-0.125,0.004-0.028,-0.015-0.068,-0.027 0.045,-0.032 0.064,-0.033 0.071,-0.035 0.057,-0.023 0.077,-0.017 0.069,-0.012 0.058,-0.008 0.047,-0.018 0.022,-0.037-0.010,-0.041-0.023,-0.041-0.030,-0.001-0.069,-0.009-0.032,-0.037-0.053,-0.022-0.029,-0.049-0.072,0.015 0.001,0.026 0.013,0.032 0.020,0.034 0.023,0.044 0.122,-0.253-0.151,-0.051 0.008,0.018 0.029,0.060 0.040,0.074 0.055,0.041 0.027,0.032 0.022,-0.024-0.032,-0.024-0.017,0.002 0.018,0.009 0.030,0.013 0.035,0.015 0.035,0.014 0.033,0.095 0.070,0.004 0.000,0.000-0.006,-0.108-0.108,-0.055-0.067,-0.100-0.070,-0.028 0.015,-0.012 0.042,-0.001 0.056,-0.003 0.030,0.045 0.034,0.052 0.023,0.052 0.014,0.010-0.025,0.013-0.029,0.047 0.059,-0.057 0.018,-0.160-0.011,-0.030 0.043,0.050 0.051,0.001 0.032,0.126 0.038,0.014 0.016,0.014 0.013,-0.044-0.005,0.003-0.013,-0.000-0.021,-0.003-0.025,-0.130-0.024,-0.044 0.000,-0.085-0.001,0.006 0.018,0.047 0.026,-0.036 0.016,-0.008 0.015,0.010 0.013,0.068 0.011,0.056 0.008,0.062 0.006,0.062 0.005,0.058 0.003,0.123 0.019,0.004 0.032,-0.126 0.098,0.006 0.061,0.008 0.048,0.009 0.036,0.008 0.026,0.008 0.017,0.024-0.007,0.014-0.003,0.014-0.008,0.013-0.010,0.017-0.017,0.019-0.020,0.019-0.021,0.017-0.019,0.015-0.017,0.012-0.015,-0.004-0.004,0.003-0.014,0.000-0.012,-0.002-0.010,-0.003-0.007,-0.003-0.006,-0.003-0.004,-0.003-0.003,-0.002-0.001,-0.002-0.001,-0.001-0.000,-0.001 0.000,-0.001 0.000,-0.000 0.000,0.002 0.012,0.014 0.011,0.016 0.012,0.016 0.011,0.015 0.010,0.012 0.008,0.010 0.007,0.008 0.005,0.005 0.004,-0.250 0.572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521970" y="4767263"/>
            <a:ext cx="2057400" cy="273844"/>
          </a:xfrm>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3028950" y="4767263"/>
            <a:ext cx="3086100" cy="273844"/>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6565487" y="4767263"/>
            <a:ext cx="2057400" cy="273844"/>
          </a:xfrm>
        </p:spPr>
        <p:txBody>
          <a:bodyPr wrap="square">
            <a:normAutofit/>
          </a:bodyPr>
          <a:lstStyle/>
          <a:p>
            <a:fld id="{BE5F26B5-172A-4DC2-B0B7-181CFC56B87C}" type="slidenum">
              <a:rPr lang="zh-CN" altLang="en-US" smtClean="0"/>
            </a:fld>
            <a:endParaRPr lang="zh-CN" altLang="en-US"/>
          </a:p>
        </p:txBody>
      </p:sp>
      <p:sp>
        <p:nvSpPr>
          <p:cNvPr id="2" name="标题 1"/>
          <p:cNvSpPr>
            <a:spLocks noGrp="1"/>
          </p:cNvSpPr>
          <p:nvPr>
            <p:ph type="title"/>
            <p:custDataLst>
              <p:tags r:id="rId5"/>
            </p:custDataLst>
          </p:nvPr>
        </p:nvSpPr>
        <p:spPr>
          <a:xfrm>
            <a:off x="457200" y="456300"/>
            <a:ext cx="8229600" cy="572400"/>
          </a:xfrm>
        </p:spPr>
        <p:txBody>
          <a:bodyPr/>
          <a:lstStyle/>
          <a:p>
            <a:r>
              <a:rPr lang="zh-CN" altLang="en-US"/>
              <a:t>单击此处编辑母版标题样式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402742" y="-15112"/>
            <a:ext cx="8164576" cy="880618"/>
          </a:xfrm>
        </p:spPr>
        <p:txBody>
          <a:bodyPr lIns="0" tIns="0" rIns="0" bIns="0"/>
          <a:lstStyle>
            <a:lvl1pPr>
              <a:defRPr sz="3200" b="1" i="0">
                <a:solidFill>
                  <a:srgbClr val="F39A1E"/>
                </a:solidFill>
                <a:latin typeface="Calibri" panose="020F0502020204030204"/>
                <a:cs typeface="Calibri" panose="020F0502020204030204"/>
              </a:defRPr>
            </a:lvl1pPr>
          </a:lstStyle>
          <a:p/>
        </p:txBody>
      </p:sp>
      <p:sp>
        <p:nvSpPr>
          <p:cNvPr id="3" name="Holder 3"/>
          <p:cNvSpPr>
            <a:spLocks noGrp="1"/>
          </p:cNvSpPr>
          <p:nvPr>
            <p:ph type="body" idx="1"/>
          </p:nvPr>
        </p:nvSpPr>
        <p:spPr>
          <a:xfrm>
            <a:off x="4354829" y="1066823"/>
            <a:ext cx="3823334" cy="1200150"/>
          </a:xfrm>
        </p:spPr>
        <p:txBody>
          <a:bodyPr lIns="0" tIns="0" rIns="0" bIns="0"/>
          <a:lstStyle>
            <a:lvl1pPr>
              <a:defRPr sz="1800" b="1" i="0">
                <a:solidFill>
                  <a:srgbClr val="35362F"/>
                </a:solidFill>
                <a:latin typeface="Calibri" panose="020F0502020204030204"/>
                <a:cs typeface="Calibri" panose="020F0502020204030204"/>
              </a:defRPr>
            </a:lvl1pPr>
          </a:lstStyle>
          <a:p/>
        </p:txBody>
      </p:sp>
      <p:sp>
        <p:nvSpPr>
          <p:cNvPr id="4" name="Holder 4"/>
          <p:cNvSpPr>
            <a:spLocks noGrp="1"/>
          </p:cNvSpPr>
          <p:nvPr>
            <p:ph type="ftr" sz="quarter" idx="5"/>
          </p:nvPr>
        </p:nvSpPr>
        <p:spPr>
          <a:xfrm>
            <a:off x="3108960" y="4783455"/>
            <a:ext cx="2926080" cy="257175"/>
          </a:xfrm>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83455"/>
            <a:ext cx="2103120" cy="257175"/>
          </a:xfrm>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83455"/>
            <a:ext cx="2103120" cy="257175"/>
          </a:xfrm>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xml"/><Relationship Id="rId2" Type="http://schemas.openxmlformats.org/officeDocument/2006/relationships/image" Target="../media/image16.png"/><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image" Target="../media/image17.png"/><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image" Target="../media/image18.png"/><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slideLayout" Target="../slideLayouts/slideLayout1.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xml"/><Relationship Id="rId2" Type="http://schemas.openxmlformats.org/officeDocument/2006/relationships/image" Target="../media/image22.png"/><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xml"/><Relationship Id="rId2" Type="http://schemas.openxmlformats.org/officeDocument/2006/relationships/image" Target="../media/image23.png"/><Relationship Id="rId1" Type="http://schemas.openxmlformats.org/officeDocument/2006/relationships/image" Target="../media/image4.png"/></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1.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4.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xml"/><Relationship Id="rId2" Type="http://schemas.openxmlformats.org/officeDocument/2006/relationships/image" Target="../media/image26.png"/><Relationship Id="rId1" Type="http://schemas.openxmlformats.org/officeDocument/2006/relationships/image" Target="../media/image4.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xml"/><Relationship Id="rId2" Type="http://schemas.openxmlformats.org/officeDocument/2006/relationships/image" Target="../media/image27.png"/><Relationship Id="rId1" Type="http://schemas.openxmlformats.org/officeDocument/2006/relationships/image" Target="../media/image4.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xml"/><Relationship Id="rId2" Type="http://schemas.openxmlformats.org/officeDocument/2006/relationships/image" Target="../media/image28.png"/><Relationship Id="rId1"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37.xml.rels><?xml version="1.0" encoding="UTF-8" standalone="yes"?>
<Relationships xmlns="http://schemas.openxmlformats.org/package/2006/relationships"><Relationship Id="rId6" Type="http://schemas.openxmlformats.org/officeDocument/2006/relationships/notesSlide" Target="../notesSlides/notesSlide37.xml"/><Relationship Id="rId5" Type="http://schemas.openxmlformats.org/officeDocument/2006/relationships/slideLayout" Target="../slideLayouts/slideLayout1.xml"/><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4.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1.xml"/><Relationship Id="rId2" Type="http://schemas.openxmlformats.org/officeDocument/2006/relationships/image" Target="../media/image32.png"/><Relationship Id="rId1" Type="http://schemas.openxmlformats.org/officeDocument/2006/relationships/image" Target="../media/image4.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1.xml"/><Relationship Id="rId2" Type="http://schemas.openxmlformats.org/officeDocument/2006/relationships/image" Target="../media/image33.png"/><Relationship Id="rId1" Type="http://schemas.openxmlformats.org/officeDocument/2006/relationships/image" Target="../media/image4.png"/></Relationships>
</file>

<file path=ppt/slides/_rels/slide43.xml.rels><?xml version="1.0" encoding="UTF-8" standalone="yes"?>
<Relationships xmlns="http://schemas.openxmlformats.org/package/2006/relationships"><Relationship Id="rId9" Type="http://schemas.openxmlformats.org/officeDocument/2006/relationships/image" Target="../media/image41.png"/><Relationship Id="rId8" Type="http://schemas.openxmlformats.org/officeDocument/2006/relationships/image" Target="../media/image40.jpeg"/><Relationship Id="rId7" Type="http://schemas.openxmlformats.org/officeDocument/2006/relationships/image" Target="../media/image39.png"/><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33" Type="http://schemas.openxmlformats.org/officeDocument/2006/relationships/notesSlide" Target="../notesSlides/notesSlide43.xml"/><Relationship Id="rId32" Type="http://schemas.openxmlformats.org/officeDocument/2006/relationships/slideLayout" Target="../slideLayouts/slideLayout1.xml"/><Relationship Id="rId31" Type="http://schemas.openxmlformats.org/officeDocument/2006/relationships/image" Target="../media/image63.png"/><Relationship Id="rId30" Type="http://schemas.openxmlformats.org/officeDocument/2006/relationships/image" Target="../media/image62.png"/><Relationship Id="rId3" Type="http://schemas.openxmlformats.org/officeDocument/2006/relationships/image" Target="../media/image35.png"/><Relationship Id="rId29" Type="http://schemas.openxmlformats.org/officeDocument/2006/relationships/image" Target="../media/image61.png"/><Relationship Id="rId28" Type="http://schemas.openxmlformats.org/officeDocument/2006/relationships/image" Target="../media/image60.png"/><Relationship Id="rId27" Type="http://schemas.openxmlformats.org/officeDocument/2006/relationships/image" Target="../media/image59.png"/><Relationship Id="rId26" Type="http://schemas.openxmlformats.org/officeDocument/2006/relationships/image" Target="../media/image58.png"/><Relationship Id="rId25" Type="http://schemas.openxmlformats.org/officeDocument/2006/relationships/image" Target="../media/image57.png"/><Relationship Id="rId24" Type="http://schemas.openxmlformats.org/officeDocument/2006/relationships/image" Target="../media/image56.png"/><Relationship Id="rId23" Type="http://schemas.openxmlformats.org/officeDocument/2006/relationships/image" Target="../media/image55.png"/><Relationship Id="rId22" Type="http://schemas.openxmlformats.org/officeDocument/2006/relationships/image" Target="../media/image54.png"/><Relationship Id="rId21" Type="http://schemas.openxmlformats.org/officeDocument/2006/relationships/image" Target="../media/image53.png"/><Relationship Id="rId20" Type="http://schemas.openxmlformats.org/officeDocument/2006/relationships/image" Target="../media/image52.png"/><Relationship Id="rId2" Type="http://schemas.openxmlformats.org/officeDocument/2006/relationships/image" Target="../media/image34.png"/><Relationship Id="rId19" Type="http://schemas.openxmlformats.org/officeDocument/2006/relationships/image" Target="../media/image51.png"/><Relationship Id="rId18" Type="http://schemas.openxmlformats.org/officeDocument/2006/relationships/image" Target="../media/image50.png"/><Relationship Id="rId17" Type="http://schemas.openxmlformats.org/officeDocument/2006/relationships/image" Target="../media/image49.png"/><Relationship Id="rId16" Type="http://schemas.openxmlformats.org/officeDocument/2006/relationships/image" Target="../media/image48.png"/><Relationship Id="rId15" Type="http://schemas.openxmlformats.org/officeDocument/2006/relationships/image" Target="../media/image47.png"/><Relationship Id="rId14" Type="http://schemas.openxmlformats.org/officeDocument/2006/relationships/image" Target="../media/image46.png"/><Relationship Id="rId13" Type="http://schemas.openxmlformats.org/officeDocument/2006/relationships/image" Target="../media/image45.png"/><Relationship Id="rId12" Type="http://schemas.openxmlformats.org/officeDocument/2006/relationships/image" Target="../media/image44.png"/><Relationship Id="rId11" Type="http://schemas.openxmlformats.org/officeDocument/2006/relationships/image" Target="../media/image43.png"/><Relationship Id="rId10" Type="http://schemas.openxmlformats.org/officeDocument/2006/relationships/image" Target="../media/image42.png"/><Relationship Id="rId1" Type="http://schemas.openxmlformats.org/officeDocument/2006/relationships/image" Target="../media/image4.png"/></Relationships>
</file>

<file path=ppt/slides/_rels/slide44.xml.rels><?xml version="1.0" encoding="UTF-8" standalone="yes"?>
<Relationships xmlns="http://schemas.openxmlformats.org/package/2006/relationships"><Relationship Id="rId8" Type="http://schemas.openxmlformats.org/officeDocument/2006/relationships/notesSlide" Target="../notesSlides/notesSlide44.xml"/><Relationship Id="rId7"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46.xml.rels><?xml version="1.0" encoding="UTF-8" standalone="yes"?>
<Relationships xmlns="http://schemas.openxmlformats.org/package/2006/relationships"><Relationship Id="rId9" Type="http://schemas.openxmlformats.org/officeDocument/2006/relationships/notesSlide" Target="../notesSlides/notesSlide46.xml"/><Relationship Id="rId8" Type="http://schemas.openxmlformats.org/officeDocument/2006/relationships/slideLayout" Target="../slideLayouts/slideLayout1.xml"/><Relationship Id="rId7" Type="http://schemas.openxmlformats.org/officeDocument/2006/relationships/image" Target="../media/image74.png"/><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image" Target="../media/image4.pn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1.xml"/><Relationship Id="rId2" Type="http://schemas.openxmlformats.org/officeDocument/2006/relationships/image" Target="../media/image75.png"/><Relationship Id="rId1" Type="http://schemas.openxmlformats.org/officeDocument/2006/relationships/image" Target="../media/image4.png"/></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1.xml"/><Relationship Id="rId2" Type="http://schemas.openxmlformats.org/officeDocument/2006/relationships/image" Target="../media/image76.png"/><Relationship Id="rId1" Type="http://schemas.openxmlformats.org/officeDocument/2006/relationships/image" Target="../media/image4.png"/></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1.xml"/><Relationship Id="rId2" Type="http://schemas.openxmlformats.org/officeDocument/2006/relationships/image" Target="../media/image77.png"/><Relationship Id="rId1" Type="http://schemas.openxmlformats.org/officeDocument/2006/relationships/image" Target="../media/image4.png"/></Relationships>
</file>

<file path=ppt/slides/_rels/slide50.xml.rels><?xml version="1.0" encoding="UTF-8" standalone="yes"?>
<Relationships xmlns="http://schemas.openxmlformats.org/package/2006/relationships"><Relationship Id="rId5" Type="http://schemas.openxmlformats.org/officeDocument/2006/relationships/notesSlide" Target="../notesSlides/notesSlide50.xml"/><Relationship Id="rId4" Type="http://schemas.openxmlformats.org/officeDocument/2006/relationships/slideLayout" Target="../slideLayouts/slideLayout1.xml"/><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image" Target="../media/image4.png"/></Relationships>
</file>

<file path=ppt/slides/_rels/slide51.xml.rels><?xml version="1.0" encoding="UTF-8" standalone="yes"?>
<Relationships xmlns="http://schemas.openxmlformats.org/package/2006/relationships"><Relationship Id="rId9" Type="http://schemas.openxmlformats.org/officeDocument/2006/relationships/image" Target="../media/image87.png"/><Relationship Id="rId8" Type="http://schemas.openxmlformats.org/officeDocument/2006/relationships/image" Target="../media/image86.png"/><Relationship Id="rId7" Type="http://schemas.openxmlformats.org/officeDocument/2006/relationships/image" Target="../media/image85.png"/><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 Id="rId3" Type="http://schemas.openxmlformats.org/officeDocument/2006/relationships/image" Target="../media/image81.png"/><Relationship Id="rId2" Type="http://schemas.openxmlformats.org/officeDocument/2006/relationships/image" Target="../media/image80.png"/><Relationship Id="rId11" Type="http://schemas.openxmlformats.org/officeDocument/2006/relationships/notesSlide" Target="../notesSlides/notesSlide51.xml"/><Relationship Id="rId10" Type="http://schemas.openxmlformats.org/officeDocument/2006/relationships/slideLayout" Target="../slideLayouts/slideLayout1.xml"/><Relationship Id="rId1" Type="http://schemas.openxmlformats.org/officeDocument/2006/relationships/image" Target="../media/image4.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55.xml.rels><?xml version="1.0" encoding="UTF-8" standalone="yes"?>
<Relationships xmlns="http://schemas.openxmlformats.org/package/2006/relationships"><Relationship Id="rId9" Type="http://schemas.openxmlformats.org/officeDocument/2006/relationships/image" Target="../media/image95.png"/><Relationship Id="rId8" Type="http://schemas.openxmlformats.org/officeDocument/2006/relationships/image" Target="../media/image94.png"/><Relationship Id="rId7" Type="http://schemas.openxmlformats.org/officeDocument/2006/relationships/image" Target="../media/image93.png"/><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 Id="rId3" Type="http://schemas.openxmlformats.org/officeDocument/2006/relationships/image" Target="../media/image89.png"/><Relationship Id="rId2" Type="http://schemas.openxmlformats.org/officeDocument/2006/relationships/image" Target="../media/image88.png"/><Relationship Id="rId10" Type="http://schemas.openxmlformats.org/officeDocument/2006/relationships/slideLayout" Target="../slideLayouts/slideLayout4.xml"/><Relationship Id="rId1" Type="http://schemas.openxmlformats.org/officeDocument/2006/relationships/image" Target="../media/image4.png"/></Relationships>
</file>

<file path=ppt/slides/_rels/slide56.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89.png"/><Relationship Id="rId2" Type="http://schemas.openxmlformats.org/officeDocument/2006/relationships/image" Target="../media/image96.png"/><Relationship Id="rId1" Type="http://schemas.openxmlformats.org/officeDocument/2006/relationships/image" Target="../media/image4.png"/></Relationships>
</file>

<file path=ppt/slides/_rels/slide57.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 Id="rId3" Type="http://schemas.openxmlformats.org/officeDocument/2006/relationships/image" Target="../media/image89.png"/><Relationship Id="rId2" Type="http://schemas.openxmlformats.org/officeDocument/2006/relationships/image" Target="../media/image96.png"/><Relationship Id="rId1" Type="http://schemas.openxmlformats.org/officeDocument/2006/relationships/image" Target="../media/image4.png"/></Relationships>
</file>

<file path=ppt/slides/_rels/slide58.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openxmlformats.org/officeDocument/2006/relationships/image" Target="../media/image102.png"/><Relationship Id="rId5" Type="http://schemas.openxmlformats.org/officeDocument/2006/relationships/image" Target="../media/image101.png"/><Relationship Id="rId4" Type="http://schemas.openxmlformats.org/officeDocument/2006/relationships/image" Target="../media/image100.png"/><Relationship Id="rId3" Type="http://schemas.openxmlformats.org/officeDocument/2006/relationships/image" Target="../media/image89.png"/><Relationship Id="rId2" Type="http://schemas.openxmlformats.org/officeDocument/2006/relationships/image" Target="../media/image96.png"/><Relationship Id="rId1" Type="http://schemas.openxmlformats.org/officeDocument/2006/relationships/image" Target="../media/image4.png"/></Relationships>
</file>

<file path=ppt/slides/_rels/slide59.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image" Target="../media/image107.png"/><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104.png"/><Relationship Id="rId3" Type="http://schemas.openxmlformats.org/officeDocument/2006/relationships/image" Target="../media/image103.png"/><Relationship Id="rId2" Type="http://schemas.openxmlformats.org/officeDocument/2006/relationships/image" Target="../media/image96.png"/><Relationship Id="rId1" Type="http://schemas.openxmlformats.org/officeDocument/2006/relationships/image" Target="../media/image4.png"/></Relationships>
</file>

<file path=ppt/slides/_rels/slide60.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image" Target="../media/image110.png"/><Relationship Id="rId6" Type="http://schemas.openxmlformats.org/officeDocument/2006/relationships/image" Target="../media/image106.png"/><Relationship Id="rId5" Type="http://schemas.openxmlformats.org/officeDocument/2006/relationships/image" Target="../media/image109.png"/><Relationship Id="rId4" Type="http://schemas.openxmlformats.org/officeDocument/2006/relationships/image" Target="../media/image108.png"/><Relationship Id="rId3" Type="http://schemas.openxmlformats.org/officeDocument/2006/relationships/image" Target="../media/image89.png"/><Relationship Id="rId2" Type="http://schemas.openxmlformats.org/officeDocument/2006/relationships/image" Target="../media/image96.png"/><Relationship Id="rId1" Type="http://schemas.openxmlformats.org/officeDocument/2006/relationships/image" Target="../media/image4.png"/></Relationships>
</file>

<file path=ppt/slides/_rels/slide61.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image" Target="../media/image110.png"/><Relationship Id="rId6" Type="http://schemas.openxmlformats.org/officeDocument/2006/relationships/image" Target="../media/image106.png"/><Relationship Id="rId5" Type="http://schemas.openxmlformats.org/officeDocument/2006/relationships/image" Target="../media/image109.png"/><Relationship Id="rId4" Type="http://schemas.openxmlformats.org/officeDocument/2006/relationships/image" Target="../media/image108.png"/><Relationship Id="rId3" Type="http://schemas.openxmlformats.org/officeDocument/2006/relationships/image" Target="../media/image89.png"/><Relationship Id="rId2" Type="http://schemas.openxmlformats.org/officeDocument/2006/relationships/image" Target="../media/image96.png"/><Relationship Id="rId1" Type="http://schemas.openxmlformats.org/officeDocument/2006/relationships/image" Target="../media/image4.png"/></Relationships>
</file>

<file path=ppt/slides/_rels/slide62.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image" Target="../media/image72.png"/><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png"/><Relationship Id="rId3" Type="http://schemas.openxmlformats.org/officeDocument/2006/relationships/image" Target="../media/image89.png"/><Relationship Id="rId2" Type="http://schemas.openxmlformats.org/officeDocument/2006/relationships/image" Target="../media/image96.png"/><Relationship Id="rId1" Type="http://schemas.openxmlformats.org/officeDocument/2006/relationships/image" Target="../media/image4.png"/></Relationships>
</file>

<file path=ppt/slides/_rels/slide63.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 Id="rId3" Type="http://schemas.openxmlformats.org/officeDocument/2006/relationships/image" Target="../media/image103.png"/><Relationship Id="rId2" Type="http://schemas.openxmlformats.org/officeDocument/2006/relationships/image" Target="../media/image96.png"/><Relationship Id="rId1" Type="http://schemas.openxmlformats.org/officeDocument/2006/relationships/image" Target="../media/image4.png"/></Relationships>
</file>

<file path=ppt/slides/_rels/slide64.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image" Target="../media/image120.png"/><Relationship Id="rId6" Type="http://schemas.openxmlformats.org/officeDocument/2006/relationships/image" Target="../media/image119.png"/><Relationship Id="rId5" Type="http://schemas.openxmlformats.org/officeDocument/2006/relationships/image" Target="../media/image118.png"/><Relationship Id="rId4" Type="http://schemas.openxmlformats.org/officeDocument/2006/relationships/image" Target="../media/image117.png"/><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image" Target="../media/image4.png"/></Relationships>
</file>

<file path=ppt/slides/_rels/slide65.xml.rels><?xml version="1.0" encoding="UTF-8" standalone="yes"?>
<Relationships xmlns="http://schemas.openxmlformats.org/package/2006/relationships"><Relationship Id="rId9" Type="http://schemas.openxmlformats.org/officeDocument/2006/relationships/image" Target="../media/image126.png"/><Relationship Id="rId8" Type="http://schemas.openxmlformats.org/officeDocument/2006/relationships/image" Target="../media/image125.png"/><Relationship Id="rId7" Type="http://schemas.openxmlformats.org/officeDocument/2006/relationships/image" Target="../media/image124.png"/><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image" Target="../media/image121.png"/><Relationship Id="rId3" Type="http://schemas.openxmlformats.org/officeDocument/2006/relationships/image" Target="../media/image89.png"/><Relationship Id="rId2" Type="http://schemas.openxmlformats.org/officeDocument/2006/relationships/image" Target="../media/image88.png"/><Relationship Id="rId11" Type="http://schemas.openxmlformats.org/officeDocument/2006/relationships/slideLayout" Target="../slideLayouts/slideLayout4.xml"/><Relationship Id="rId10" Type="http://schemas.openxmlformats.org/officeDocument/2006/relationships/image" Target="../media/image92.png"/><Relationship Id="rId1" Type="http://schemas.openxmlformats.org/officeDocument/2006/relationships/image" Target="../media/image4.png"/></Relationships>
</file>

<file path=ppt/slides/_rels/slide66.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image" Target="../media/image131.png"/><Relationship Id="rId6" Type="http://schemas.openxmlformats.org/officeDocument/2006/relationships/image" Target="../media/image130.png"/><Relationship Id="rId5" Type="http://schemas.openxmlformats.org/officeDocument/2006/relationships/image" Target="../media/image129.png"/><Relationship Id="rId4" Type="http://schemas.openxmlformats.org/officeDocument/2006/relationships/image" Target="../media/image128.png"/><Relationship Id="rId3" Type="http://schemas.openxmlformats.org/officeDocument/2006/relationships/image" Target="../media/image89.png"/><Relationship Id="rId2" Type="http://schemas.openxmlformats.org/officeDocument/2006/relationships/image" Target="../media/image127.png"/><Relationship Id="rId1" Type="http://schemas.openxmlformats.org/officeDocument/2006/relationships/image" Target="../media/image4.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32.png"/><Relationship Id="rId1" Type="http://schemas.openxmlformats.org/officeDocument/2006/relationships/image" Target="../media/image4.png"/></Relationships>
</file>

<file path=ppt/slides/_rels/slide69.xml.rels><?xml version="1.0" encoding="UTF-8" standalone="yes"?>
<Relationships xmlns="http://schemas.openxmlformats.org/package/2006/relationships"><Relationship Id="rId9" Type="http://schemas.openxmlformats.org/officeDocument/2006/relationships/image" Target="../media/image95.png"/><Relationship Id="rId8" Type="http://schemas.openxmlformats.org/officeDocument/2006/relationships/image" Target="../media/image94.png"/><Relationship Id="rId7" Type="http://schemas.openxmlformats.org/officeDocument/2006/relationships/image" Target="../media/image93.png"/><Relationship Id="rId6" Type="http://schemas.openxmlformats.org/officeDocument/2006/relationships/image" Target="../media/image92.png"/><Relationship Id="rId5" Type="http://schemas.openxmlformats.org/officeDocument/2006/relationships/image" Target="../media/image91.png"/><Relationship Id="rId4" Type="http://schemas.openxmlformats.org/officeDocument/2006/relationships/image" Target="../media/image90.png"/><Relationship Id="rId3" Type="http://schemas.openxmlformats.org/officeDocument/2006/relationships/image" Target="../media/image89.png"/><Relationship Id="rId2" Type="http://schemas.openxmlformats.org/officeDocument/2006/relationships/image" Target="../media/image88.png"/><Relationship Id="rId10" Type="http://schemas.openxmlformats.org/officeDocument/2006/relationships/slideLayout" Target="../slideLayouts/slideLayout4.xml"/><Relationship Id="rId1" Type="http://schemas.openxmlformats.org/officeDocument/2006/relationships/image" Target="../media/image4.png"/></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1.xml"/><Relationship Id="rId2" Type="http://schemas.openxmlformats.org/officeDocument/2006/relationships/image" Target="../media/image133.png"/><Relationship Id="rId1" Type="http://schemas.openxmlformats.org/officeDocument/2006/relationships/image" Target="../media/image4.png"/></Relationships>
</file>

<file path=ppt/slides/_rels/slide71.xml.rels><?xml version="1.0" encoding="UTF-8" standalone="yes"?>
<Relationships xmlns="http://schemas.openxmlformats.org/package/2006/relationships"><Relationship Id="rId5" Type="http://schemas.openxmlformats.org/officeDocument/2006/relationships/notesSlide" Target="../notesSlides/notesSlide55.xml"/><Relationship Id="rId4" Type="http://schemas.openxmlformats.org/officeDocument/2006/relationships/slideLayout" Target="../slideLayouts/slideLayout1.xml"/><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image" Target="../media/image4.png"/></Relationships>
</file>

<file path=ppt/slides/_rels/slide72.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1.xml"/><Relationship Id="rId2" Type="http://schemas.openxmlformats.org/officeDocument/2006/relationships/image" Target="../media/image136.png"/><Relationship Id="rId1" Type="http://schemas.openxmlformats.org/officeDocument/2006/relationships/image" Target="../media/image4.png"/></Relationships>
</file>

<file path=ppt/slides/_rels/slide73.xml.rels><?xml version="1.0" encoding="UTF-8" standalone="yes"?>
<Relationships xmlns="http://schemas.openxmlformats.org/package/2006/relationships"><Relationship Id="rId6" Type="http://schemas.openxmlformats.org/officeDocument/2006/relationships/notesSlide" Target="../notesSlides/notesSlide57.xml"/><Relationship Id="rId5" Type="http://schemas.openxmlformats.org/officeDocument/2006/relationships/slideLayout" Target="../slideLayouts/slideLayout1.xml"/><Relationship Id="rId4" Type="http://schemas.openxmlformats.org/officeDocument/2006/relationships/image" Target="../media/image138.png"/><Relationship Id="rId3" Type="http://schemas.openxmlformats.org/officeDocument/2006/relationships/customXml" Target="../ink/ink1.xml"/><Relationship Id="rId2" Type="http://schemas.openxmlformats.org/officeDocument/2006/relationships/image" Target="../media/image137.png"/><Relationship Id="rId1" Type="http://schemas.openxmlformats.org/officeDocument/2006/relationships/image" Target="../media/image4.png"/></Relationships>
</file>

<file path=ppt/slides/_rels/slide74.xml.rels><?xml version="1.0" encoding="UTF-8" standalone="yes"?>
<Relationships xmlns="http://schemas.openxmlformats.org/package/2006/relationships"><Relationship Id="rId4" Type="http://schemas.openxmlformats.org/officeDocument/2006/relationships/notesSlide" Target="../notesSlides/notesSlide58.xml"/><Relationship Id="rId3" Type="http://schemas.openxmlformats.org/officeDocument/2006/relationships/slideLayout" Target="../slideLayouts/slideLayout1.xml"/><Relationship Id="rId2" Type="http://schemas.openxmlformats.org/officeDocument/2006/relationships/image" Target="../media/image139.png"/><Relationship Id="rId1" Type="http://schemas.openxmlformats.org/officeDocument/2006/relationships/image" Target="../media/image4.png"/></Relationships>
</file>

<file path=ppt/slides/_rels/slide75.xml.rels><?xml version="1.0" encoding="UTF-8" standalone="yes"?>
<Relationships xmlns="http://schemas.openxmlformats.org/package/2006/relationships"><Relationship Id="rId5" Type="http://schemas.openxmlformats.org/officeDocument/2006/relationships/notesSlide" Target="../notesSlides/notesSlide59.xml"/><Relationship Id="rId4" Type="http://schemas.openxmlformats.org/officeDocument/2006/relationships/slideLayout" Target="../slideLayouts/slideLayout1.xml"/><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image" Target="../media/image4.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186815" y="1931670"/>
            <a:ext cx="6184265" cy="767080"/>
          </a:xfrm>
          <a:prstGeom prst="rect">
            <a:avLst/>
          </a:prstGeom>
          <a:noFill/>
        </p:spPr>
        <p:txBody>
          <a:bodyPr wrap="square" lIns="95250" tIns="95250" rIns="95250" bIns="95250" rtlCol="0" anchor="t">
            <a:spAutoFit/>
          </a:bodyPr>
          <a:lstStyle/>
          <a:p>
            <a:pPr marL="0" indent="0">
              <a:lnSpc>
                <a:spcPct val="100000"/>
              </a:lnSpc>
              <a:spcBef>
                <a:spcPts val="375"/>
              </a:spcBef>
              <a:buNone/>
            </a:pPr>
            <a:r>
              <a:rPr lang="zh-CN" altLang="en-US" sz="3745" b="1"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功耗分析和低功耗</a:t>
            </a:r>
            <a:r>
              <a:rPr lang="zh-CN" altLang="en-US" sz="3745" b="1"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设计</a:t>
            </a:r>
            <a:endParaRPr lang="zh-CN" altLang="en-US" sz="3745" b="1"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3" name="Text 1"/>
          <p:cNvSpPr/>
          <p:nvPr/>
        </p:nvSpPr>
        <p:spPr>
          <a:xfrm>
            <a:off x="1186584" y="3594659"/>
            <a:ext cx="2102817" cy="415925"/>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295"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汇报人: </a:t>
            </a:r>
            <a:r>
              <a:rPr lang="zh-CN" altLang="en-US" sz="1295"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黎松松</a:t>
            </a:r>
            <a:endParaRPr lang="zh-CN" altLang="en-US" sz="1295"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0" y="2252641"/>
            <a:ext cx="2558968" cy="868680"/>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3600" b="1" dirty="0">
                <a:solidFill>
                  <a:srgbClr val="FFFFFF">
                    <a:alpha val="10000"/>
                  </a:srgbClr>
                </a:solidFill>
                <a:latin typeface="微软雅黑" panose="020B0503020204020204" pitchFamily="34" charset="-122"/>
                <a:ea typeface="微软雅黑" panose="020B0503020204020204" pitchFamily="34" charset="-122"/>
                <a:cs typeface="微软雅黑" panose="020B0503020204020204" pitchFamily="34" charset="-120"/>
              </a:rPr>
              <a:t>CONTENT</a:t>
            </a:r>
            <a:endParaRPr lang="en-US" sz="1440" dirty="0"/>
          </a:p>
        </p:txBody>
      </p:sp>
      <p:sp>
        <p:nvSpPr>
          <p:cNvPr id="3" name="Text 1"/>
          <p:cNvSpPr/>
          <p:nvPr/>
        </p:nvSpPr>
        <p:spPr>
          <a:xfrm>
            <a:off x="241152" y="1962497"/>
            <a:ext cx="2031357" cy="1005840"/>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4320" b="1" kern="0" spc="72"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目录</a:t>
            </a:r>
            <a:endParaRPr lang="en-US" sz="1440" dirty="0"/>
          </a:p>
        </p:txBody>
      </p:sp>
      <p:sp>
        <p:nvSpPr>
          <p:cNvPr id="5" name="Text 3"/>
          <p:cNvSpPr/>
          <p:nvPr/>
        </p:nvSpPr>
        <p:spPr>
          <a:xfrm>
            <a:off x="5156740" y="1536167"/>
            <a:ext cx="713232" cy="565150"/>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160" b="1"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7" name="Text 5"/>
          <p:cNvSpPr/>
          <p:nvPr/>
        </p:nvSpPr>
        <p:spPr>
          <a:xfrm>
            <a:off x="5156740" y="2142035"/>
            <a:ext cx="713232" cy="565150"/>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160" b="1"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
        <p:nvSpPr>
          <p:cNvPr id="8" name="Text 6"/>
          <p:cNvSpPr/>
          <p:nvPr/>
        </p:nvSpPr>
        <p:spPr>
          <a:xfrm>
            <a:off x="5769388" y="2224331"/>
            <a:ext cx="3017520" cy="415925"/>
          </a:xfrm>
          <a:prstGeom prst="rect">
            <a:avLst/>
          </a:prstGeom>
          <a:noFill/>
        </p:spPr>
        <p:txBody>
          <a:bodyPr wrap="square" lIns="95250" tIns="95250" rIns="95250" bIns="95250" rtlCol="0" anchor="t">
            <a:spAutoFit/>
          </a:bodyPr>
          <a:lstStyle/>
          <a:p>
            <a:pPr marL="0" indent="0">
              <a:lnSpc>
                <a:spcPct val="113000"/>
              </a:lnSpc>
              <a:spcBef>
                <a:spcPts val="375"/>
              </a:spcBef>
              <a:buNone/>
            </a:pPr>
            <a:r>
              <a:rPr lang="zh-CN" altLang="en-US" sz="1300" dirty="0">
                <a:latin typeface="微软雅黑" panose="020B0503020204020204" pitchFamily="34" charset="-122"/>
                <a:ea typeface="微软雅黑" panose="020B0503020204020204" pitchFamily="34" charset="-122"/>
              </a:rPr>
              <a:t>功耗分析流程及结果</a:t>
            </a:r>
            <a:r>
              <a:rPr lang="zh-CN" altLang="en-US" sz="1300" dirty="0">
                <a:latin typeface="微软雅黑" panose="020B0503020204020204" pitchFamily="34" charset="-122"/>
                <a:ea typeface="微软雅黑" panose="020B0503020204020204" pitchFamily="34" charset="-122"/>
              </a:rPr>
              <a:t>分析</a:t>
            </a:r>
            <a:endParaRPr lang="zh-CN" altLang="en-US" sz="1300" dirty="0">
              <a:latin typeface="微软雅黑" panose="020B0503020204020204" pitchFamily="34" charset="-122"/>
              <a:ea typeface="微软雅黑" panose="020B0503020204020204" pitchFamily="34" charset="-122"/>
            </a:endParaRPr>
          </a:p>
        </p:txBody>
      </p:sp>
      <p:sp>
        <p:nvSpPr>
          <p:cNvPr id="6" name="文本框 5"/>
          <p:cNvSpPr txBox="1"/>
          <p:nvPr/>
        </p:nvSpPr>
        <p:spPr>
          <a:xfrm>
            <a:off x="5769610" y="1650365"/>
            <a:ext cx="3048000" cy="491490"/>
          </a:xfrm>
          <a:prstGeom prst="rect">
            <a:avLst/>
          </a:prstGeom>
          <a:noFill/>
        </p:spPr>
        <p:txBody>
          <a:bodyPr wrap="square" rtlCol="0">
            <a:spAutoFit/>
          </a:bodyPr>
          <a:p>
            <a:r>
              <a:rPr lang="en-US" altLang="zh-CN" sz="1300" dirty="0">
                <a:latin typeface="微软雅黑" panose="020B0503020204020204" pitchFamily="34" charset="-122"/>
                <a:ea typeface="微软雅黑" panose="020B0503020204020204" pitchFamily="34" charset="-122"/>
              </a:rPr>
              <a:t>Smart PA</a:t>
            </a:r>
            <a:r>
              <a:rPr lang="zh-CN" altLang="en-US" sz="1300" dirty="0">
                <a:latin typeface="微软雅黑" panose="020B0503020204020204" pitchFamily="34" charset="-122"/>
                <a:ea typeface="微软雅黑" panose="020B0503020204020204" pitchFamily="34" charset="-122"/>
              </a:rPr>
              <a:t>环境</a:t>
            </a:r>
            <a:r>
              <a:rPr lang="zh-CN" altLang="en-US" sz="1300" dirty="0">
                <a:latin typeface="微软雅黑" panose="020B0503020204020204" pitchFamily="34" charset="-122"/>
                <a:ea typeface="微软雅黑" panose="020B0503020204020204" pitchFamily="34" charset="-122"/>
              </a:rPr>
              <a:t>介绍</a:t>
            </a:r>
            <a:endParaRPr lang="zh-CN" altLang="en-US" sz="1300" dirty="0">
              <a:latin typeface="微软雅黑" panose="020B0503020204020204" pitchFamily="34" charset="-122"/>
              <a:ea typeface="微软雅黑" panose="020B0503020204020204" pitchFamily="34" charset="-122"/>
            </a:endParaRPr>
          </a:p>
          <a:p>
            <a:endParaRPr lang="zh-CN" altLang="en-US" sz="1300"/>
          </a:p>
        </p:txBody>
      </p:sp>
      <p:sp>
        <p:nvSpPr>
          <p:cNvPr id="10" name="Text 5"/>
          <p:cNvSpPr/>
          <p:nvPr/>
        </p:nvSpPr>
        <p:spPr>
          <a:xfrm>
            <a:off x="5156740" y="2747825"/>
            <a:ext cx="713232" cy="565150"/>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160" b="1"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04</a:t>
            </a:r>
            <a:endParaRPr lang="en-US" sz="1440" dirty="0"/>
          </a:p>
        </p:txBody>
      </p:sp>
      <p:sp>
        <p:nvSpPr>
          <p:cNvPr id="11" name="Text 6"/>
          <p:cNvSpPr/>
          <p:nvPr/>
        </p:nvSpPr>
        <p:spPr>
          <a:xfrm>
            <a:off x="5769388" y="2816786"/>
            <a:ext cx="3017520" cy="415925"/>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altLang="zh-CN" sz="1300" dirty="0">
                <a:latin typeface="微软雅黑" panose="020B0503020204020204" pitchFamily="34" charset="-122"/>
                <a:ea typeface="微软雅黑" panose="020B0503020204020204" pitchFamily="34" charset="-122"/>
              </a:rPr>
              <a:t>UPF</a:t>
            </a:r>
            <a:r>
              <a:rPr lang="zh-CN" altLang="en-US" sz="1300" dirty="0">
                <a:latin typeface="微软雅黑" panose="020B0503020204020204" pitchFamily="34" charset="-122"/>
                <a:ea typeface="微软雅黑" panose="020B0503020204020204" pitchFamily="34" charset="-122"/>
              </a:rPr>
              <a:t>介绍</a:t>
            </a:r>
            <a:endParaRPr lang="zh-CN" altLang="en-US" sz="1300" dirty="0">
              <a:latin typeface="微软雅黑" panose="020B0503020204020204" pitchFamily="34" charset="-122"/>
              <a:ea typeface="微软雅黑" panose="020B0503020204020204" pitchFamily="34" charset="-122"/>
            </a:endParaRPr>
          </a:p>
        </p:txBody>
      </p:sp>
      <p:sp>
        <p:nvSpPr>
          <p:cNvPr id="4" name="Text 3"/>
          <p:cNvSpPr/>
          <p:nvPr/>
        </p:nvSpPr>
        <p:spPr>
          <a:xfrm>
            <a:off x="5156740" y="930377"/>
            <a:ext cx="713232" cy="565150"/>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160" b="1"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9" name="文本框 8"/>
          <p:cNvSpPr txBox="1"/>
          <p:nvPr/>
        </p:nvSpPr>
        <p:spPr>
          <a:xfrm>
            <a:off x="5769610" y="1076325"/>
            <a:ext cx="3048000" cy="491490"/>
          </a:xfrm>
          <a:prstGeom prst="rect">
            <a:avLst/>
          </a:prstGeom>
          <a:noFill/>
        </p:spPr>
        <p:txBody>
          <a:bodyPr wrap="square" rtlCol="0">
            <a:spAutoFit/>
          </a:bodyPr>
          <a:p>
            <a:r>
              <a:rPr lang="en-US" altLang="zh-CN" sz="1300" dirty="0">
                <a:latin typeface="微软雅黑" panose="020B0503020204020204" pitchFamily="34" charset="-122"/>
                <a:ea typeface="微软雅黑" panose="020B0503020204020204" pitchFamily="34" charset="-122"/>
              </a:rPr>
              <a:t>PowerArtist	</a:t>
            </a:r>
            <a:r>
              <a:rPr lang="zh-CN" altLang="en-US" sz="1300" dirty="0">
                <a:latin typeface="微软雅黑" panose="020B0503020204020204" pitchFamily="34" charset="-122"/>
                <a:ea typeface="微软雅黑" panose="020B0503020204020204" pitchFamily="34" charset="-122"/>
              </a:rPr>
              <a:t>工具</a:t>
            </a:r>
            <a:r>
              <a:rPr lang="zh-CN" altLang="en-US" sz="1300" dirty="0">
                <a:latin typeface="微软雅黑" panose="020B0503020204020204" pitchFamily="34" charset="-122"/>
                <a:ea typeface="微软雅黑" panose="020B0503020204020204" pitchFamily="34" charset="-122"/>
              </a:rPr>
              <a:t>介绍</a:t>
            </a:r>
            <a:endParaRPr lang="zh-CN" altLang="en-US" sz="1300" dirty="0">
              <a:latin typeface="微软雅黑" panose="020B0503020204020204" pitchFamily="34" charset="-122"/>
              <a:ea typeface="微软雅黑" panose="020B0503020204020204" pitchFamily="34" charset="-122"/>
            </a:endParaRPr>
          </a:p>
          <a:p>
            <a:endParaRPr lang="zh-CN" altLang="en-US" sz="1300"/>
          </a:p>
        </p:txBody>
      </p:sp>
      <p:sp>
        <p:nvSpPr>
          <p:cNvPr id="12" name="Text 5"/>
          <p:cNvSpPr/>
          <p:nvPr/>
        </p:nvSpPr>
        <p:spPr>
          <a:xfrm>
            <a:off x="5156740" y="3342820"/>
            <a:ext cx="713232" cy="565150"/>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160" b="1"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05</a:t>
            </a:r>
            <a:endParaRPr lang="en-US" sz="1440" dirty="0"/>
          </a:p>
        </p:txBody>
      </p:sp>
      <p:sp>
        <p:nvSpPr>
          <p:cNvPr id="13" name="Text 6"/>
          <p:cNvSpPr/>
          <p:nvPr/>
        </p:nvSpPr>
        <p:spPr>
          <a:xfrm>
            <a:off x="5769388" y="3420036"/>
            <a:ext cx="3017520" cy="415925"/>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altLang="zh-CN" sz="1300" dirty="0">
                <a:latin typeface="微软雅黑" panose="020B0503020204020204" pitchFamily="34" charset="-122"/>
                <a:ea typeface="微软雅黑" panose="020B0503020204020204" pitchFamily="34" charset="-122"/>
              </a:rPr>
              <a:t>UPF</a:t>
            </a:r>
            <a:r>
              <a:rPr lang="zh-CN" altLang="en-US" sz="1300" dirty="0">
                <a:latin typeface="微软雅黑" panose="020B0503020204020204" pitchFamily="34" charset="-122"/>
                <a:ea typeface="微软雅黑" panose="020B0503020204020204" pitchFamily="34" charset="-122"/>
              </a:rPr>
              <a:t>实例</a:t>
            </a:r>
            <a:endParaRPr lang="zh-CN" altLang="en-US" sz="13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153352" y="1208867"/>
            <a:ext cx="1646234" cy="1554480"/>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7200" b="1"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3" name="Text 1"/>
          <p:cNvSpPr/>
          <p:nvPr/>
        </p:nvSpPr>
        <p:spPr>
          <a:xfrm>
            <a:off x="3831779" y="2571750"/>
            <a:ext cx="3897443" cy="640080"/>
          </a:xfrm>
          <a:prstGeom prst="rect">
            <a:avLst/>
          </a:prstGeom>
          <a:noFill/>
        </p:spPr>
        <p:txBody>
          <a:bodyPr wrap="square" lIns="95250" tIns="95250" rIns="95250" bIns="95250" rtlCol="0" anchor="t">
            <a:spAutoFit/>
          </a:bodyPr>
          <a:lstStyle/>
          <a:p>
            <a:pPr marL="0" indent="0" algn="r">
              <a:lnSpc>
                <a:spcPct val="113000"/>
              </a:lnSpc>
              <a:spcBef>
                <a:spcPts val="375"/>
              </a:spcBef>
              <a:buNone/>
            </a:pPr>
            <a:r>
              <a:rPr lang="en-US" altLang="zh-CN" sz="2590" dirty="0">
                <a:latin typeface="微软雅黑" panose="020B0503020204020204" pitchFamily="34" charset="-122"/>
                <a:ea typeface="微软雅黑" panose="020B0503020204020204" pitchFamily="34" charset="-122"/>
                <a:sym typeface="+mn-ea"/>
              </a:rPr>
              <a:t>PowerArtist	</a:t>
            </a:r>
            <a:r>
              <a:rPr lang="zh-CN" altLang="en-US" sz="2590" dirty="0">
                <a:latin typeface="微软雅黑" panose="020B0503020204020204" pitchFamily="34" charset="-122"/>
                <a:ea typeface="微软雅黑" panose="020B0503020204020204" pitchFamily="34" charset="-122"/>
                <a:sym typeface="+mn-ea"/>
              </a:rPr>
              <a:t>工具介绍</a:t>
            </a:r>
            <a:endParaRPr lang="zh-CN" altLang="en-US" sz="2590" b="1"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en-US" altLang="zh-CN" sz="1730" b="1" dirty="0">
                <a:latin typeface="微软雅黑" panose="020B0503020204020204" pitchFamily="34" charset="-122"/>
                <a:ea typeface="微软雅黑" panose="020B0503020204020204" pitchFamily="34" charset="-122"/>
                <a:sym typeface="+mn-ea"/>
              </a:rPr>
              <a:t>PowerArtist</a:t>
            </a:r>
            <a:r>
              <a:rPr lang="zh-CN" altLang="en-US" sz="1730" b="1" dirty="0">
                <a:latin typeface="微软雅黑" panose="020B0503020204020204" pitchFamily="34" charset="-122"/>
                <a:ea typeface="微软雅黑" panose="020B0503020204020204" pitchFamily="34" charset="-122"/>
                <a:sym typeface="+mn-ea"/>
              </a:rPr>
              <a:t>简介</a:t>
            </a:r>
            <a:endParaRPr lang="zh-CN" altLang="en-US" sz="1730" b="1" dirty="0">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582295" y="794385"/>
            <a:ext cx="8047355" cy="3138170"/>
          </a:xfrm>
          <a:prstGeom prst="rect">
            <a:avLst/>
          </a:prstGeom>
          <a:noFill/>
        </p:spPr>
        <p:txBody>
          <a:bodyPr wrap="square" rtlCol="0">
            <a:spAutoFit/>
          </a:bodyPr>
          <a:p>
            <a:r>
              <a:rPr lang="en-US" altLang="zh-CN"/>
              <a:t>PowerArtist</a:t>
            </a:r>
            <a:r>
              <a:rPr lang="zh-CN" altLang="en-US"/>
              <a:t>是针对早期</a:t>
            </a:r>
            <a:r>
              <a:rPr lang="en-US" altLang="zh-CN"/>
              <a:t>RTL</a:t>
            </a:r>
            <a:r>
              <a:rPr lang="zh-CN" altLang="en-US"/>
              <a:t>级功耗分析和优化的综合性功耗设计平台。</a:t>
            </a:r>
            <a:endParaRPr lang="zh-CN" altLang="en-US"/>
          </a:p>
          <a:p>
            <a:endParaRPr lang="zh-CN" altLang="en-US"/>
          </a:p>
          <a:p>
            <a:r>
              <a:rPr lang="en-US" altLang="zh-CN"/>
              <a:t>PowerArtist</a:t>
            </a:r>
            <a:r>
              <a:rPr lang="zh-CN" altLang="en-US"/>
              <a:t>支持物理感知的</a:t>
            </a:r>
            <a:r>
              <a:rPr lang="en-US" altLang="zh-CN"/>
              <a:t>RTL</a:t>
            </a:r>
            <a:r>
              <a:rPr lang="zh-CN" altLang="en-US"/>
              <a:t>功耗预算，交互式诊断，分析驱动型功耗优化，功耗回归测试和基于实际应用的功耗波形分析，也支持从</a:t>
            </a:r>
            <a:r>
              <a:rPr lang="en-US" altLang="zh-CN"/>
              <a:t>RTL</a:t>
            </a:r>
            <a:r>
              <a:rPr lang="zh-CN" altLang="en-US"/>
              <a:t>无缝链接到物理级的电源完整性分析方法。</a:t>
            </a:r>
            <a:endParaRPr lang="zh-CN" altLang="en-US"/>
          </a:p>
          <a:p>
            <a:endParaRPr lang="zh-CN" altLang="en-US"/>
          </a:p>
          <a:p>
            <a:r>
              <a:rPr lang="en-US" altLang="zh-CN"/>
              <a:t>PowerArtist</a:t>
            </a:r>
            <a:r>
              <a:rPr lang="zh-CN" altLang="en-US"/>
              <a:t>结合时钟网络，数据路径和存储器结构，对子模块和实例化单元的时序组合电路自动进行功耗优化，最大程度实现功耗目标。使用强大的交互式的图形化诊断环境，</a:t>
            </a:r>
            <a:r>
              <a:rPr lang="en-US" altLang="zh-CN"/>
              <a:t>RTL</a:t>
            </a:r>
            <a:r>
              <a:rPr lang="zh-CN" altLang="en-US"/>
              <a:t>设计人员能够简单高效的诊断功耗热点。通过功耗回归方法，借助</a:t>
            </a:r>
            <a:r>
              <a:rPr lang="en-US" altLang="zh-CN"/>
              <a:t>PowerArtist</a:t>
            </a:r>
            <a:r>
              <a:rPr lang="zh-CN" altLang="en-US"/>
              <a:t>的时钟门控，功耗效率指标和</a:t>
            </a:r>
            <a:r>
              <a:rPr lang="en-US" altLang="zh-CN"/>
              <a:t>TCL</a:t>
            </a:r>
            <a:r>
              <a:rPr lang="zh-CN" altLang="en-US"/>
              <a:t>接口为客户自定义的功耗追踪。</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en-US" altLang="zh-CN" sz="1730" b="1" dirty="0">
                <a:latin typeface="微软雅黑" panose="020B0503020204020204" pitchFamily="34" charset="-122"/>
                <a:ea typeface="微软雅黑" panose="020B0503020204020204" pitchFamily="34" charset="-122"/>
                <a:sym typeface="+mn-ea"/>
              </a:rPr>
              <a:t>PowerArtist</a:t>
            </a:r>
            <a:r>
              <a:rPr lang="zh-CN" altLang="en-US" sz="1730" b="1" dirty="0">
                <a:latin typeface="微软雅黑" panose="020B0503020204020204" pitchFamily="34" charset="-122"/>
                <a:ea typeface="微软雅黑" panose="020B0503020204020204" pitchFamily="34" charset="-122"/>
                <a:sym typeface="+mn-ea"/>
              </a:rPr>
              <a:t>优势</a:t>
            </a:r>
            <a:endParaRPr lang="zh-CN" altLang="en-US" sz="1730" b="1" dirty="0">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643255" y="706755"/>
            <a:ext cx="7872730" cy="3692525"/>
          </a:xfrm>
          <a:prstGeom prst="rect">
            <a:avLst/>
          </a:prstGeom>
          <a:noFill/>
        </p:spPr>
        <p:txBody>
          <a:bodyPr wrap="square" rtlCol="0">
            <a:spAutoFit/>
          </a:bodyPr>
          <a:p>
            <a:r>
              <a:rPr lang="zh-CN" altLang="en-US"/>
              <a:t>强大的处理能力，最大容量支持上亿门</a:t>
            </a:r>
            <a:r>
              <a:rPr lang="en-US" altLang="zh-CN"/>
              <a:t>RTL</a:t>
            </a:r>
            <a:r>
              <a:rPr lang="zh-CN" altLang="en-US"/>
              <a:t>设计；</a:t>
            </a:r>
            <a:endParaRPr lang="en-US" altLang="zh-CN"/>
          </a:p>
          <a:p>
            <a:r>
              <a:rPr lang="zh-CN" altLang="en-US"/>
              <a:t>业界领先的快速</a:t>
            </a:r>
            <a:r>
              <a:rPr lang="en-US" altLang="zh-CN"/>
              <a:t>RTL</a:t>
            </a:r>
            <a:r>
              <a:rPr lang="zh-CN" altLang="en-US"/>
              <a:t>功耗分析速度，实现</a:t>
            </a:r>
            <a:r>
              <a:rPr lang="en-US" altLang="zh-CN"/>
              <a:t>RTL</a:t>
            </a:r>
            <a:r>
              <a:rPr lang="zh-CN" altLang="en-US"/>
              <a:t>设计的快速迭代；</a:t>
            </a:r>
            <a:endParaRPr lang="en-US" altLang="zh-CN"/>
          </a:p>
          <a:p>
            <a:r>
              <a:rPr lang="zh-CN" altLang="en-US"/>
              <a:t>利用物理感知模型</a:t>
            </a:r>
            <a:r>
              <a:rPr lang="en-US" altLang="zh-CN"/>
              <a:t>PACE</a:t>
            </a:r>
            <a:r>
              <a:rPr lang="zh-CN" altLang="en-US"/>
              <a:t>实现功耗与签核功耗误差</a:t>
            </a:r>
            <a:r>
              <a:rPr lang="en-US" altLang="zh-CN"/>
              <a:t>10~15%</a:t>
            </a:r>
            <a:r>
              <a:rPr lang="zh-CN" altLang="en-US"/>
              <a:t>以内；</a:t>
            </a:r>
            <a:endParaRPr lang="en-US" altLang="zh-CN"/>
          </a:p>
          <a:p>
            <a:r>
              <a:rPr lang="zh-CN" altLang="en-US"/>
              <a:t>比传统方法快</a:t>
            </a:r>
            <a:r>
              <a:rPr lang="en-US" altLang="zh-CN"/>
              <a:t>1000</a:t>
            </a:r>
            <a:r>
              <a:rPr lang="zh-CN" altLang="en-US"/>
              <a:t>倍的功耗</a:t>
            </a:r>
            <a:r>
              <a:rPr lang="en-US" altLang="zh-CN"/>
              <a:t>profile</a:t>
            </a:r>
            <a:r>
              <a:rPr lang="zh-CN" altLang="en-US"/>
              <a:t>功能，快速得到长矢量波形的功耗变化曲线；</a:t>
            </a:r>
            <a:endParaRPr lang="en-US" altLang="zh-CN"/>
          </a:p>
          <a:p>
            <a:r>
              <a:rPr lang="zh-CN" altLang="en-US"/>
              <a:t>提供图形交互界面，</a:t>
            </a:r>
            <a:r>
              <a:rPr lang="en-US" altLang="zh-CN"/>
              <a:t>TCL</a:t>
            </a:r>
            <a:r>
              <a:rPr lang="zh-CN" altLang="en-US"/>
              <a:t>接口，以及能效指标等多种诊断方式高效定位功耗缺陷；</a:t>
            </a:r>
            <a:endParaRPr lang="en-US" altLang="zh-CN"/>
          </a:p>
          <a:p>
            <a:r>
              <a:rPr lang="zh-CN" altLang="en-US"/>
              <a:t>联合硬件仿真加速器实现功耗分析速度</a:t>
            </a:r>
            <a:r>
              <a:rPr lang="en-US" altLang="zh-CN"/>
              <a:t>5~10</a:t>
            </a:r>
            <a:r>
              <a:rPr lang="zh-CN" altLang="en-US"/>
              <a:t>倍的提升；</a:t>
            </a:r>
            <a:endParaRPr lang="en-US" altLang="zh-CN"/>
          </a:p>
          <a:p>
            <a:r>
              <a:rPr lang="zh-CN" altLang="en-US"/>
              <a:t>分析型驱动的自动功耗优化技术快速定位功耗热点，提供</a:t>
            </a:r>
            <a:r>
              <a:rPr lang="en-US" altLang="zh-CN"/>
              <a:t>RTL</a:t>
            </a:r>
            <a:r>
              <a:rPr lang="zh-CN" altLang="en-US"/>
              <a:t>修改建议和生成功耗优化的</a:t>
            </a:r>
            <a:r>
              <a:rPr lang="en-US" altLang="zh-CN"/>
              <a:t>RTL</a:t>
            </a:r>
            <a:r>
              <a:rPr lang="zh-CN" altLang="en-US"/>
              <a:t>代码；</a:t>
            </a:r>
            <a:endParaRPr lang="en-US" altLang="zh-CN"/>
          </a:p>
          <a:p>
            <a:r>
              <a:rPr lang="zh-CN" altLang="en-US"/>
              <a:t>提供</a:t>
            </a:r>
            <a:r>
              <a:rPr lang="en-US" altLang="zh-CN"/>
              <a:t>RTL</a:t>
            </a:r>
            <a:r>
              <a:rPr lang="zh-CN" altLang="en-US"/>
              <a:t>功耗建模功能，为后端及系统设计提供早期电源完整性分析的功耗模型及签核分析阶段的向量选择；</a:t>
            </a:r>
            <a:endParaRPr lang="en-US" altLang="zh-CN"/>
          </a:p>
          <a:p>
            <a:r>
              <a:rPr lang="zh-CN" altLang="en-US"/>
              <a:t>支持功耗回归测试分析，监控功耗和功耗效率指标变化。</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061720" y="909320"/>
            <a:ext cx="7019925" cy="3143250"/>
          </a:xfrm>
          <a:prstGeom prst="rect">
            <a:avLst/>
          </a:prstGeom>
        </p:spPr>
      </p:pic>
      <p:sp>
        <p:nvSpPr>
          <p:cNvPr id="7"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en-US" altLang="zh-CN" sz="1730" b="1" dirty="0">
                <a:latin typeface="微软雅黑" panose="020B0503020204020204" pitchFamily="34" charset="-122"/>
                <a:ea typeface="微软雅黑" panose="020B0503020204020204" pitchFamily="34" charset="-122"/>
                <a:sym typeface="+mn-ea"/>
              </a:rPr>
              <a:t>PowerArtist</a:t>
            </a:r>
            <a:r>
              <a:rPr lang="zh-CN" altLang="en-US" sz="1730" b="1" dirty="0">
                <a:latin typeface="微软雅黑" panose="020B0503020204020204" pitchFamily="34" charset="-122"/>
                <a:ea typeface="微软雅黑" panose="020B0503020204020204" pitchFamily="34" charset="-122"/>
                <a:sym typeface="+mn-ea"/>
              </a:rPr>
              <a:t>的输入输出</a:t>
            </a:r>
            <a:r>
              <a:rPr lang="zh-CN" altLang="en-US" sz="1730" b="1" dirty="0">
                <a:latin typeface="微软雅黑" panose="020B0503020204020204" pitchFamily="34" charset="-122"/>
                <a:ea typeface="微软雅黑" panose="020B0503020204020204" pitchFamily="34" charset="-122"/>
                <a:sym typeface="+mn-ea"/>
              </a:rPr>
              <a:t>文件</a:t>
            </a:r>
            <a:endParaRPr lang="zh-CN" altLang="en-US" sz="1730" b="1"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en-US" altLang="zh-CN" sz="1730" b="1" dirty="0">
                <a:latin typeface="微软雅黑" panose="020B0503020204020204" pitchFamily="34" charset="-122"/>
                <a:ea typeface="微软雅黑" panose="020B0503020204020204" pitchFamily="34" charset="-122"/>
                <a:sym typeface="+mn-ea"/>
              </a:rPr>
              <a:t>PowerArtist</a:t>
            </a:r>
            <a:r>
              <a:rPr lang="zh-CN" altLang="en-US" sz="1730" b="1" dirty="0">
                <a:latin typeface="微软雅黑" panose="020B0503020204020204" pitchFamily="34" charset="-122"/>
                <a:ea typeface="微软雅黑" panose="020B0503020204020204" pitchFamily="34" charset="-122"/>
                <a:sym typeface="+mn-ea"/>
              </a:rPr>
              <a:t>的功耗</a:t>
            </a:r>
            <a:r>
              <a:rPr lang="zh-CN" altLang="en-US" sz="1730" b="1" dirty="0">
                <a:latin typeface="微软雅黑" panose="020B0503020204020204" pitchFamily="34" charset="-122"/>
                <a:ea typeface="微软雅黑" panose="020B0503020204020204" pitchFamily="34" charset="-122"/>
                <a:sym typeface="+mn-ea"/>
              </a:rPr>
              <a:t>分析流程</a:t>
            </a:r>
            <a:endParaRPr lang="zh-CN" altLang="en-US" sz="1730" b="1" dirty="0">
              <a:latin typeface="微软雅黑" panose="020B0503020204020204" pitchFamily="34" charset="-122"/>
              <a:ea typeface="微软雅黑" panose="020B0503020204020204" pitchFamily="34" charset="-122"/>
              <a:sym typeface="+mn-ea"/>
            </a:endParaRPr>
          </a:p>
        </p:txBody>
      </p:sp>
      <p:pic>
        <p:nvPicPr>
          <p:cNvPr id="7" name="图片 6"/>
          <p:cNvPicPr>
            <a:picLocks noChangeAspect="1"/>
          </p:cNvPicPr>
          <p:nvPr/>
        </p:nvPicPr>
        <p:blipFill>
          <a:blip r:embed="rId2"/>
          <a:stretch>
            <a:fillRect/>
          </a:stretch>
        </p:blipFill>
        <p:spPr>
          <a:xfrm>
            <a:off x="2166620" y="794385"/>
            <a:ext cx="4991735" cy="35490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基本术语</a:t>
            </a:r>
            <a:r>
              <a:rPr lang="zh-CN" altLang="en-US" sz="1730" b="1" dirty="0">
                <a:latin typeface="微软雅黑" panose="020B0503020204020204" pitchFamily="34" charset="-122"/>
                <a:ea typeface="微软雅黑" panose="020B0503020204020204" pitchFamily="34" charset="-122"/>
                <a:sym typeface="+mn-ea"/>
              </a:rPr>
              <a:t>介绍</a:t>
            </a:r>
            <a:endParaRPr lang="zh-CN" altLang="en-US" sz="1730" b="1" dirty="0">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680720" y="718820"/>
            <a:ext cx="7903210" cy="3875405"/>
          </a:xfrm>
          <a:prstGeom prst="rect">
            <a:avLst/>
          </a:prstGeom>
          <a:noFill/>
        </p:spPr>
        <p:txBody>
          <a:bodyPr wrap="square" rtlCol="0">
            <a:noAutofit/>
          </a:bodyPr>
          <a:p>
            <a:r>
              <a:rPr lang="zh-CN" altLang="en-US">
                <a:sym typeface="+mn-ea"/>
              </a:rPr>
              <a:t>SCGE: Static Clock Gating Efficiency（静态时钟门</a:t>
            </a:r>
            <a:r>
              <a:rPr lang="zh-CN" altLang="en-US">
                <a:sym typeface="+mn-ea"/>
              </a:rPr>
              <a:t>控效率）</a:t>
            </a:r>
            <a:endParaRPr lang="zh-CN" altLang="en-US">
              <a:sym typeface="+mn-ea"/>
            </a:endParaRPr>
          </a:p>
          <a:p>
            <a:endParaRPr lang="zh-CN" altLang="en-US"/>
          </a:p>
          <a:p>
            <a:endParaRPr lang="zh-CN" altLang="en-US">
              <a:sym typeface="+mn-ea"/>
            </a:endParaRPr>
          </a:p>
          <a:p>
            <a:r>
              <a:rPr lang="zh-CN" altLang="en-US">
                <a:sym typeface="+mn-ea"/>
              </a:rPr>
              <a:t>该指标计算了设计中触发器被门控的比例，当触发器被门控的比例越高，设计中时钟翻转浪费的功耗越少</a:t>
            </a:r>
            <a:endParaRPr lang="zh-CN" altLang="en-US">
              <a:sym typeface="+mn-ea"/>
            </a:endParaRPr>
          </a:p>
          <a:p>
            <a:pPr lvl="0"/>
            <a:r>
              <a:rPr lang="zh-CN" altLang="en-US">
                <a:sym typeface="+mn-ea"/>
              </a:rPr>
              <a:t>DCGE: Dynamic Clock Gating Efficiency（动态时钟门</a:t>
            </a:r>
            <a:r>
              <a:rPr lang="zh-CN" altLang="en-US">
                <a:sym typeface="+mn-ea"/>
              </a:rPr>
              <a:t>控效率）</a:t>
            </a:r>
            <a:endParaRPr lang="zh-CN" altLang="en-US">
              <a:sym typeface="+mn-ea"/>
            </a:endParaRPr>
          </a:p>
          <a:p>
            <a:pPr lvl="0"/>
            <a:endParaRPr lang="zh-CN" altLang="en-US"/>
          </a:p>
          <a:p>
            <a:pPr lvl="0"/>
            <a:endParaRPr lang="zh-CN" altLang="en-US">
              <a:sym typeface="+mn-ea"/>
            </a:endParaRPr>
          </a:p>
          <a:p>
            <a:pPr lvl="0"/>
            <a:r>
              <a:rPr lang="zh-CN" altLang="en-US">
                <a:sym typeface="+mn-ea"/>
              </a:rPr>
              <a:t>该指标计算了时钟信号被门控的周期个数占比，当被门控的时钟周期越多，那么无效的翻转就越少，从而达到节约功耗值的目的。</a:t>
            </a:r>
            <a:endParaRPr lang="zh-CN" altLang="en-US">
              <a:sym typeface="+mn-ea"/>
            </a:endParaRPr>
          </a:p>
          <a:p>
            <a:pPr lvl="0"/>
            <a:r>
              <a:rPr lang="zh-CN" altLang="en-US">
                <a:sym typeface="+mn-ea"/>
              </a:rPr>
              <a:t>DACGE: Data Aware Clock Gating Efficiency(有意义的时钟门效率)</a:t>
            </a:r>
            <a:endParaRPr lang="zh-CN" altLang="en-US"/>
          </a:p>
          <a:p>
            <a:pPr lvl="1"/>
            <a:endParaRPr lang="zh-CN" altLang="en-US"/>
          </a:p>
        </p:txBody>
      </p:sp>
      <p:pic>
        <p:nvPicPr>
          <p:cNvPr id="4" name="图片 3"/>
          <p:cNvPicPr>
            <a:picLocks noChangeAspect="1"/>
          </p:cNvPicPr>
          <p:nvPr/>
        </p:nvPicPr>
        <p:blipFill>
          <a:blip r:embed="rId2"/>
          <a:stretch>
            <a:fillRect/>
          </a:stretch>
        </p:blipFill>
        <p:spPr>
          <a:xfrm>
            <a:off x="2459990" y="1102360"/>
            <a:ext cx="3314700" cy="438150"/>
          </a:xfrm>
          <a:prstGeom prst="rect">
            <a:avLst/>
          </a:prstGeom>
        </p:spPr>
      </p:pic>
      <p:pic>
        <p:nvPicPr>
          <p:cNvPr id="5" name="图片 4"/>
          <p:cNvPicPr>
            <a:picLocks noChangeAspect="1"/>
          </p:cNvPicPr>
          <p:nvPr/>
        </p:nvPicPr>
        <p:blipFill>
          <a:blip r:embed="rId3"/>
          <a:stretch>
            <a:fillRect/>
          </a:stretch>
        </p:blipFill>
        <p:spPr>
          <a:xfrm>
            <a:off x="1899920" y="2413635"/>
            <a:ext cx="4857750" cy="485775"/>
          </a:xfrm>
          <a:prstGeom prst="rect">
            <a:avLst/>
          </a:prstGeom>
        </p:spPr>
      </p:pic>
      <p:pic>
        <p:nvPicPr>
          <p:cNvPr id="6" name="图片 5"/>
          <p:cNvPicPr>
            <a:picLocks noChangeAspect="1"/>
          </p:cNvPicPr>
          <p:nvPr/>
        </p:nvPicPr>
        <p:blipFill>
          <a:blip r:embed="rId4"/>
          <a:stretch>
            <a:fillRect/>
          </a:stretch>
        </p:blipFill>
        <p:spPr>
          <a:xfrm>
            <a:off x="1823720" y="3772535"/>
            <a:ext cx="5010150" cy="5619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基本术语</a:t>
            </a:r>
            <a:r>
              <a:rPr lang="zh-CN" altLang="en-US" sz="1730" b="1" dirty="0">
                <a:latin typeface="微软雅黑" panose="020B0503020204020204" pitchFamily="34" charset="-122"/>
                <a:ea typeface="微软雅黑" panose="020B0503020204020204" pitchFamily="34" charset="-122"/>
                <a:sym typeface="+mn-ea"/>
              </a:rPr>
              <a:t>介绍</a:t>
            </a:r>
            <a:endParaRPr lang="zh-CN" altLang="en-US" sz="1730" b="1" dirty="0">
              <a:latin typeface="微软雅黑" panose="020B0503020204020204" pitchFamily="34" charset="-122"/>
              <a:ea typeface="微软雅黑" panose="020B0503020204020204" pitchFamily="34" charset="-122"/>
              <a:sym typeface="+mn-ea"/>
            </a:endParaRPr>
          </a:p>
        </p:txBody>
      </p:sp>
      <p:pic>
        <p:nvPicPr>
          <p:cNvPr id="3" name="图片 2"/>
          <p:cNvPicPr>
            <a:picLocks noChangeAspect="1"/>
          </p:cNvPicPr>
          <p:nvPr/>
        </p:nvPicPr>
        <p:blipFill>
          <a:blip r:embed="rId2"/>
          <a:stretch>
            <a:fillRect/>
          </a:stretch>
        </p:blipFill>
        <p:spPr>
          <a:xfrm>
            <a:off x="775970" y="885825"/>
            <a:ext cx="7591425" cy="3371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3" name="Text 0"/>
          <p:cNvSpPr/>
          <p:nvPr/>
        </p:nvSpPr>
        <p:spPr>
          <a:xfrm>
            <a:off x="556260" y="300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en-US" altLang="zh-CN" sz="1730" b="1" dirty="0">
              <a:latin typeface="微软雅黑" panose="020B0503020204020204" pitchFamily="34" charset="-122"/>
              <a:ea typeface="微软雅黑" panose="020B0503020204020204" pitchFamily="34" charset="-122"/>
              <a:sym typeface="+mn-ea"/>
            </a:endParaRPr>
          </a:p>
        </p:txBody>
      </p:sp>
      <p:sp>
        <p:nvSpPr>
          <p:cNvPr id="5" name="内容占位符 2"/>
          <p:cNvSpPr>
            <a:spLocks noGrp="1"/>
          </p:cNvSpPr>
          <p:nvPr/>
        </p:nvSpPr>
        <p:spPr>
          <a:xfrm>
            <a:off x="608330" y="794385"/>
            <a:ext cx="7957185" cy="377571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p>
        </p:txBody>
      </p:sp>
      <p:sp>
        <p:nvSpPr>
          <p:cNvPr id="6" name="Text 0"/>
          <p:cNvSpPr/>
          <p:nvPr/>
        </p:nvSpPr>
        <p:spPr>
          <a:xfrm>
            <a:off x="28448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参考教程</a:t>
            </a:r>
            <a:r>
              <a:rPr lang="zh-CN" altLang="en-US" sz="1730" b="1" dirty="0">
                <a:latin typeface="微软雅黑" panose="020B0503020204020204" pitchFamily="34" charset="-122"/>
                <a:ea typeface="微软雅黑" panose="020B0503020204020204" pitchFamily="34" charset="-122"/>
                <a:sym typeface="+mn-ea"/>
              </a:rPr>
              <a:t>视频</a:t>
            </a:r>
            <a:endParaRPr lang="zh-CN" altLang="en-US" sz="1730" b="1" dirty="0">
              <a:latin typeface="微软雅黑" panose="020B0503020204020204" pitchFamily="34" charset="-122"/>
              <a:ea typeface="微软雅黑" panose="020B0503020204020204" pitchFamily="34" charset="-122"/>
              <a:sym typeface="+mn-ea"/>
            </a:endParaRPr>
          </a:p>
        </p:txBody>
      </p:sp>
      <p:pic>
        <p:nvPicPr>
          <p:cNvPr id="7" name="图片 6"/>
          <p:cNvPicPr>
            <a:picLocks noChangeAspect="1"/>
          </p:cNvPicPr>
          <p:nvPr/>
        </p:nvPicPr>
        <p:blipFill>
          <a:blip r:embed="rId2"/>
          <a:stretch>
            <a:fillRect/>
          </a:stretch>
        </p:blipFill>
        <p:spPr>
          <a:xfrm>
            <a:off x="1433830" y="794385"/>
            <a:ext cx="6445250" cy="2673985"/>
          </a:xfrm>
          <a:prstGeom prst="rect">
            <a:avLst/>
          </a:prstGeom>
        </p:spPr>
      </p:pic>
      <p:sp>
        <p:nvSpPr>
          <p:cNvPr id="8" name="文本框 7"/>
          <p:cNvSpPr txBox="1"/>
          <p:nvPr/>
        </p:nvSpPr>
        <p:spPr>
          <a:xfrm>
            <a:off x="2161540" y="3794760"/>
            <a:ext cx="5105400" cy="368300"/>
          </a:xfrm>
          <a:prstGeom prst="rect">
            <a:avLst/>
          </a:prstGeom>
          <a:noFill/>
        </p:spPr>
        <p:txBody>
          <a:bodyPr wrap="square" rtlCol="0">
            <a:spAutoFit/>
          </a:bodyPr>
          <a:p>
            <a:r>
              <a:rPr lang="en-US" altLang="zh-CN"/>
              <a:t>https://www.jishulink.com/video/liveC10156</a:t>
            </a:r>
            <a:endParaRPr lang="en-US" altLang="zh-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153352" y="1208867"/>
            <a:ext cx="1646234" cy="1442085"/>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7200" b="1"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3" name="Text 1"/>
          <p:cNvSpPr/>
          <p:nvPr/>
        </p:nvSpPr>
        <p:spPr>
          <a:xfrm>
            <a:off x="3831779" y="2571750"/>
            <a:ext cx="3897443" cy="640080"/>
          </a:xfrm>
          <a:prstGeom prst="rect">
            <a:avLst/>
          </a:prstGeom>
          <a:noFill/>
        </p:spPr>
        <p:txBody>
          <a:bodyPr wrap="square" lIns="95250" tIns="95250" rIns="95250" bIns="95250" rtlCol="0" anchor="t">
            <a:spAutoFit/>
          </a:bodyPr>
          <a:lstStyle/>
          <a:p>
            <a:pPr marL="0" indent="0" algn="r">
              <a:lnSpc>
                <a:spcPct val="113000"/>
              </a:lnSpc>
              <a:spcBef>
                <a:spcPts val="375"/>
              </a:spcBef>
              <a:buNone/>
            </a:pPr>
            <a:r>
              <a:rPr lang="en-US" altLang="zh-CN" sz="2590" dirty="0">
                <a:latin typeface="微软雅黑" panose="020B0503020204020204" pitchFamily="34" charset="-122"/>
                <a:ea typeface="微软雅黑" panose="020B0503020204020204" pitchFamily="34" charset="-122"/>
                <a:sym typeface="+mn-ea"/>
              </a:rPr>
              <a:t>Smart PA</a:t>
            </a:r>
            <a:r>
              <a:rPr lang="zh-CN" altLang="en-US" sz="2590" dirty="0">
                <a:latin typeface="微软雅黑" panose="020B0503020204020204" pitchFamily="34" charset="-122"/>
                <a:ea typeface="微软雅黑" panose="020B0503020204020204" pitchFamily="34" charset="-122"/>
                <a:sym typeface="+mn-ea"/>
              </a:rPr>
              <a:t>环境介绍</a:t>
            </a:r>
            <a:endParaRPr lang="zh-CN" altLang="en-US" sz="2590" b="1"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简介</a:t>
            </a:r>
            <a:endParaRPr lang="zh-CN" altLang="en-US" sz="1730" b="1" dirty="0">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582295" y="726440"/>
            <a:ext cx="8027035" cy="922020"/>
          </a:xfrm>
          <a:prstGeom prst="rect">
            <a:avLst/>
          </a:prstGeom>
          <a:noFill/>
        </p:spPr>
        <p:txBody>
          <a:bodyPr wrap="square" rtlCol="0">
            <a:spAutoFit/>
          </a:bodyPr>
          <a:p>
            <a:pPr marL="0" lvl="1" indent="0" algn="l" fontAlgn="auto"/>
            <a:r>
              <a:rPr lang="en-US" altLang="zh-CN">
                <a:latin typeface="+mn-ea"/>
                <a:cs typeface="+mn-ea"/>
                <a:sym typeface="+mn-ea"/>
              </a:rPr>
              <a:t>Smart PA</a:t>
            </a:r>
            <a:r>
              <a:rPr lang="zh-CN" altLang="en-US">
                <a:latin typeface="+mn-ea"/>
                <a:cs typeface="+mn-ea"/>
                <a:sym typeface="+mn-ea"/>
              </a:rPr>
              <a:t>是</a:t>
            </a:r>
            <a:r>
              <a:rPr lang="en-US" altLang="zh-CN">
                <a:latin typeface="+mn-ea"/>
                <a:cs typeface="+mn-ea"/>
                <a:sym typeface="+mn-ea"/>
              </a:rPr>
              <a:t>Ansys</a:t>
            </a:r>
            <a:r>
              <a:rPr lang="zh-CN" altLang="en-US">
                <a:latin typeface="+mn-ea"/>
                <a:cs typeface="+mn-ea"/>
                <a:sym typeface="+mn-ea"/>
              </a:rPr>
              <a:t>为了方便用户使用</a:t>
            </a:r>
            <a:r>
              <a:rPr lang="en-US" altLang="zh-CN">
                <a:latin typeface="+mn-ea"/>
                <a:cs typeface="+mn-ea"/>
                <a:sym typeface="+mn-ea"/>
              </a:rPr>
              <a:t>PowerArtist</a:t>
            </a:r>
            <a:r>
              <a:rPr lang="zh-CN" altLang="en-US">
                <a:latin typeface="+mn-ea"/>
                <a:cs typeface="+mn-ea"/>
                <a:sym typeface="+mn-ea"/>
              </a:rPr>
              <a:t>所给出的脚本环境。用户可以在这个环境里替换进自己的</a:t>
            </a:r>
            <a:r>
              <a:rPr lang="en-US" altLang="zh-CN">
                <a:latin typeface="+mn-ea"/>
                <a:cs typeface="+mn-ea"/>
                <a:sym typeface="+mn-ea"/>
              </a:rPr>
              <a:t>rtl</a:t>
            </a:r>
            <a:r>
              <a:rPr lang="zh-CN" altLang="en-US">
                <a:latin typeface="+mn-ea"/>
                <a:cs typeface="+mn-ea"/>
                <a:sym typeface="+mn-ea"/>
              </a:rPr>
              <a:t>代码，就可以轻松使用</a:t>
            </a:r>
            <a:r>
              <a:rPr lang="en-US" altLang="zh-CN">
                <a:latin typeface="+mn-ea"/>
                <a:cs typeface="+mn-ea"/>
                <a:sym typeface="+mn-ea"/>
              </a:rPr>
              <a:t>PowerArtist</a:t>
            </a:r>
            <a:r>
              <a:rPr lang="zh-CN" altLang="en-US">
                <a:latin typeface="+mn-ea"/>
                <a:cs typeface="+mn-ea"/>
                <a:sym typeface="+mn-ea"/>
              </a:rPr>
              <a:t>进行功耗分析优化了。</a:t>
            </a:r>
            <a:endParaRPr lang="zh-CN" altLang="en-US">
              <a:latin typeface="+mn-ea"/>
              <a:cs typeface="+mn-ea"/>
            </a:endParaRPr>
          </a:p>
        </p:txBody>
      </p:sp>
      <p:pic>
        <p:nvPicPr>
          <p:cNvPr id="5" name="图片 4"/>
          <p:cNvPicPr>
            <a:picLocks noChangeAspect="1"/>
          </p:cNvPicPr>
          <p:nvPr/>
        </p:nvPicPr>
        <p:blipFill>
          <a:blip r:embed="rId2"/>
          <a:stretch>
            <a:fillRect/>
          </a:stretch>
        </p:blipFill>
        <p:spPr>
          <a:xfrm>
            <a:off x="2154555" y="1935480"/>
            <a:ext cx="4541520" cy="490220"/>
          </a:xfrm>
          <a:prstGeom prst="rect">
            <a:avLst/>
          </a:prstGeom>
        </p:spPr>
      </p:pic>
      <p:pic>
        <p:nvPicPr>
          <p:cNvPr id="6" name="图片 5"/>
          <p:cNvPicPr>
            <a:picLocks noChangeAspect="1"/>
          </p:cNvPicPr>
          <p:nvPr/>
        </p:nvPicPr>
        <p:blipFill>
          <a:blip r:embed="rId3"/>
          <a:stretch>
            <a:fillRect/>
          </a:stretch>
        </p:blipFill>
        <p:spPr>
          <a:xfrm>
            <a:off x="1855470" y="2933065"/>
            <a:ext cx="5295900" cy="352425"/>
          </a:xfrm>
          <a:prstGeom prst="rect">
            <a:avLst/>
          </a:prstGeom>
        </p:spPr>
      </p:pic>
      <p:pic>
        <p:nvPicPr>
          <p:cNvPr id="7" name="图片 6"/>
          <p:cNvPicPr>
            <a:picLocks noChangeAspect="1"/>
          </p:cNvPicPr>
          <p:nvPr/>
        </p:nvPicPr>
        <p:blipFill>
          <a:blip r:embed="rId4"/>
          <a:stretch>
            <a:fillRect/>
          </a:stretch>
        </p:blipFill>
        <p:spPr>
          <a:xfrm>
            <a:off x="2306955" y="3792855"/>
            <a:ext cx="3803015" cy="27559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581660" y="707390"/>
            <a:ext cx="7997825" cy="3078480"/>
          </a:xfrm>
          <a:prstGeom prst="rect">
            <a:avLst/>
          </a:prstGeom>
          <a:noFill/>
        </p:spPr>
        <p:txBody>
          <a:bodyPr wrap="square" rtlCol="0">
            <a:noAutofit/>
          </a:bodyPr>
          <a:p>
            <a:endParaRPr lang="zh-CN" altLang="en-US"/>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en-US" altLang="zh-CN" sz="1730" b="1" dirty="0">
                <a:latin typeface="微软雅黑" panose="020B0503020204020204" pitchFamily="34" charset="-122"/>
                <a:ea typeface="微软雅黑" panose="020B0503020204020204" pitchFamily="34" charset="-122"/>
                <a:sym typeface="+mn-ea"/>
              </a:rPr>
              <a:t>run.tcl</a:t>
            </a:r>
            <a:endParaRPr lang="zh-CN" altLang="en-US" sz="1730" b="1" dirty="0">
              <a:latin typeface="微软雅黑" panose="020B0503020204020204" pitchFamily="34" charset="-122"/>
              <a:ea typeface="微软雅黑" panose="020B0503020204020204" pitchFamily="34" charset="-122"/>
              <a:sym typeface="+mn-ea"/>
            </a:endParaRPr>
          </a:p>
        </p:txBody>
      </p:sp>
      <p:pic>
        <p:nvPicPr>
          <p:cNvPr id="3" name="图片 2"/>
          <p:cNvPicPr>
            <a:picLocks noChangeAspect="1"/>
          </p:cNvPicPr>
          <p:nvPr/>
        </p:nvPicPr>
        <p:blipFill>
          <a:blip r:embed="rId2"/>
          <a:stretch>
            <a:fillRect/>
          </a:stretch>
        </p:blipFill>
        <p:spPr>
          <a:xfrm>
            <a:off x="1221740" y="601980"/>
            <a:ext cx="6838950" cy="3162300"/>
          </a:xfrm>
          <a:prstGeom prst="rect">
            <a:avLst/>
          </a:prstGeom>
        </p:spPr>
      </p:pic>
      <p:sp>
        <p:nvSpPr>
          <p:cNvPr id="5" name="文本框 4"/>
          <p:cNvSpPr txBox="1"/>
          <p:nvPr/>
        </p:nvSpPr>
        <p:spPr>
          <a:xfrm>
            <a:off x="1273810" y="3954780"/>
            <a:ext cx="7068820" cy="368300"/>
          </a:xfrm>
          <a:prstGeom prst="rect">
            <a:avLst/>
          </a:prstGeom>
          <a:noFill/>
        </p:spPr>
        <p:txBody>
          <a:bodyPr wrap="square" rtlCol="0">
            <a:spAutoFit/>
          </a:bodyPr>
          <a:p>
            <a:r>
              <a:rPr lang="zh-CN" altLang="en-US"/>
              <a:t>功耗分析和</a:t>
            </a:r>
            <a:r>
              <a:rPr lang="en-US" altLang="zh-CN"/>
              <a:t>debug</a:t>
            </a:r>
            <a:r>
              <a:rPr lang="zh-CN" altLang="en-US"/>
              <a:t>只需运行两个步骤，</a:t>
            </a:r>
            <a:r>
              <a:rPr lang="en-US" altLang="zh-CN"/>
              <a:t>ELABORATE</a:t>
            </a:r>
            <a:r>
              <a:rPr lang="zh-CN" altLang="en-US"/>
              <a:t>和</a:t>
            </a:r>
            <a:r>
              <a:rPr lang="en-US" altLang="zh-CN"/>
              <a:t>REDUCE</a:t>
            </a:r>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基本</a:t>
            </a:r>
            <a:r>
              <a:rPr lang="zh-CN" altLang="en-US" sz="1730" b="1" dirty="0">
                <a:latin typeface="微软雅黑" panose="020B0503020204020204" pitchFamily="34" charset="-122"/>
                <a:ea typeface="微软雅黑" panose="020B0503020204020204" pitchFamily="34" charset="-122"/>
                <a:sym typeface="+mn-ea"/>
              </a:rPr>
              <a:t>步骤介绍</a:t>
            </a:r>
            <a:endParaRPr lang="zh-CN" altLang="en-US" sz="1730" b="1" dirty="0">
              <a:latin typeface="微软雅黑" panose="020B0503020204020204" pitchFamily="34" charset="-122"/>
              <a:ea typeface="微软雅黑" panose="020B0503020204020204" pitchFamily="34" charset="-122"/>
              <a:sym typeface="+mn-ea"/>
            </a:endParaRPr>
          </a:p>
        </p:txBody>
      </p:sp>
      <p:sp>
        <p:nvSpPr>
          <p:cNvPr id="5" name="内容占位符 2"/>
          <p:cNvSpPr>
            <a:spLocks noGrp="1"/>
          </p:cNvSpPr>
          <p:nvPr/>
        </p:nvSpPr>
        <p:spPr>
          <a:xfrm>
            <a:off x="378460" y="794385"/>
            <a:ext cx="8464550" cy="3720465"/>
          </a:xfrm>
          <a:prstGeom prst="rect">
            <a:avLst/>
          </a:prstGeom>
        </p:spPr>
        <p:txBody>
          <a:bodyPr vert="horz" lIns="90000" tIns="46800" rIns="90000" bIns="46800" rtlCol="0">
            <a:normAutofit lnSpcReduction="10000"/>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dirty="0"/>
              <a:t>Elaborate</a:t>
            </a:r>
            <a:endParaRPr lang="zh-CN" altLang="en-US" dirty="0"/>
          </a:p>
          <a:p>
            <a:pPr lvl="1"/>
            <a:r>
              <a:rPr lang="zh-CN" altLang="en-US" dirty="0"/>
              <a:t>目的</a:t>
            </a:r>
            <a:endParaRPr lang="zh-CN" altLang="en-US" dirty="0"/>
          </a:p>
          <a:p>
            <a:pPr lvl="2"/>
            <a:r>
              <a:rPr lang="zh-CN" altLang="en-US" dirty="0"/>
              <a:t>将需要分析的rtl代码</a:t>
            </a:r>
            <a:r>
              <a:rPr lang="zh-CN" altLang="en-US"/>
              <a:t>进行</a:t>
            </a:r>
            <a:r>
              <a:rPr lang="zh-CN" altLang="en-US" smtClean="0"/>
              <a:t>预综合，</a:t>
            </a:r>
            <a:r>
              <a:rPr lang="zh-CN" altLang="en-US" dirty="0"/>
              <a:t>生成后面步骤需要的中间文件。</a:t>
            </a:r>
            <a:endParaRPr lang="zh-CN" altLang="en-US" dirty="0"/>
          </a:p>
          <a:p>
            <a:pPr lvl="1"/>
            <a:r>
              <a:rPr lang="zh-CN" altLang="en-US" dirty="0"/>
              <a:t>输入</a:t>
            </a:r>
            <a:endParaRPr lang="zh-CN" altLang="en-US" dirty="0"/>
          </a:p>
          <a:p>
            <a:pPr lvl="2"/>
            <a:r>
              <a:rPr lang="zh-CN" altLang="en-US" dirty="0"/>
              <a:t>rtl代码</a:t>
            </a:r>
            <a:endParaRPr lang="zh-CN" altLang="en-US" dirty="0"/>
          </a:p>
          <a:p>
            <a:pPr lvl="2"/>
            <a:r>
              <a:rPr lang="zh-CN" altLang="en-US" dirty="0"/>
              <a:t>综合工艺库lib和sram lib</a:t>
            </a:r>
            <a:endParaRPr lang="zh-CN" altLang="en-US" dirty="0"/>
          </a:p>
          <a:p>
            <a:pPr lvl="1"/>
            <a:r>
              <a:rPr lang="zh-CN" altLang="en-US" dirty="0"/>
              <a:t>输出</a:t>
            </a:r>
            <a:endParaRPr lang="zh-CN" altLang="en-US" dirty="0"/>
          </a:p>
          <a:p>
            <a:pPr lvl="2"/>
            <a:r>
              <a:rPr lang="zh-CN" altLang="en-US" dirty="0"/>
              <a:t>log（工作日志）和pdb(power database，PowerArtist可以读取的文件格式)</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基本</a:t>
            </a:r>
            <a:r>
              <a:rPr lang="zh-CN" altLang="en-US" sz="1730" b="1" dirty="0">
                <a:latin typeface="微软雅黑" panose="020B0503020204020204" pitchFamily="34" charset="-122"/>
                <a:ea typeface="微软雅黑" panose="020B0503020204020204" pitchFamily="34" charset="-122"/>
                <a:sym typeface="+mn-ea"/>
              </a:rPr>
              <a:t>步骤介绍</a:t>
            </a:r>
            <a:endParaRPr lang="zh-CN" altLang="en-US" sz="1730" b="1" dirty="0">
              <a:latin typeface="微软雅黑" panose="020B0503020204020204" pitchFamily="34" charset="-122"/>
              <a:ea typeface="微软雅黑" panose="020B0503020204020204" pitchFamily="34" charset="-122"/>
              <a:sym typeface="+mn-ea"/>
            </a:endParaRPr>
          </a:p>
        </p:txBody>
      </p:sp>
      <p:sp>
        <p:nvSpPr>
          <p:cNvPr id="5" name="内容占位符 2"/>
          <p:cNvSpPr>
            <a:spLocks noGrp="1"/>
          </p:cNvSpPr>
          <p:nvPr/>
        </p:nvSpPr>
        <p:spPr>
          <a:xfrm>
            <a:off x="429260" y="568325"/>
            <a:ext cx="8321040" cy="375031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Static Efficiency check（静态效率检查）</a:t>
            </a:r>
            <a:endParaRPr lang="zh-CN" altLang="en-US"/>
          </a:p>
          <a:p>
            <a:pPr lvl="1"/>
            <a:r>
              <a:rPr lang="zh-CN" altLang="en-US"/>
              <a:t>目的</a:t>
            </a:r>
            <a:endParaRPr lang="zh-CN" altLang="en-US"/>
          </a:p>
          <a:p>
            <a:pPr lvl="2"/>
            <a:r>
              <a:rPr lang="zh-CN" altLang="en-US"/>
              <a:t>分析rtl代码，报告时钟gate率等等power相关基本信息。</a:t>
            </a:r>
            <a:endParaRPr lang="zh-CN" altLang="en-US"/>
          </a:p>
          <a:p>
            <a:pPr lvl="1"/>
            <a:r>
              <a:rPr lang="zh-CN" altLang="en-US"/>
              <a:t>输入</a:t>
            </a:r>
            <a:endParaRPr lang="zh-CN" altLang="en-US"/>
          </a:p>
          <a:p>
            <a:pPr lvl="2"/>
            <a:r>
              <a:rPr lang="zh-CN" altLang="en-US"/>
              <a:t>elaborate输出的pdb文件。</a:t>
            </a:r>
            <a:endParaRPr lang="zh-CN" altLang="en-US"/>
          </a:p>
          <a:p>
            <a:pPr lvl="1"/>
            <a:r>
              <a:rPr lang="zh-CN" altLang="en-US"/>
              <a:t>输出</a:t>
            </a:r>
            <a:endParaRPr lang="zh-CN" altLang="en-US"/>
          </a:p>
          <a:p>
            <a:pPr lvl="2"/>
            <a:r>
              <a:rPr lang="zh-CN" altLang="en-US"/>
              <a:t>log和rpt（rpt是检查结果报告）</a:t>
            </a:r>
            <a:endParaRPr lang="zh-CN" altLang="en-US"/>
          </a:p>
          <a:p>
            <a:pPr lvl="2"/>
            <a:r>
              <a:rPr lang="zh-CN" altLang="en-US"/>
              <a:t>pdb文件.Static_Eff.pdb</a:t>
            </a: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581660" y="707390"/>
            <a:ext cx="7997825" cy="3862705"/>
          </a:xfrm>
          <a:prstGeom prst="rect">
            <a:avLst/>
          </a:prstGeom>
          <a:noFill/>
        </p:spPr>
        <p:txBody>
          <a:bodyPr wrap="square" rtlCol="0">
            <a:noAutofit/>
          </a:bodyPr>
          <a:p>
            <a:endParaRPr lang="zh-CN" altLang="en-US"/>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基本</a:t>
            </a:r>
            <a:r>
              <a:rPr lang="zh-CN" altLang="en-US" sz="1730" b="1" dirty="0">
                <a:latin typeface="微软雅黑" panose="020B0503020204020204" pitchFamily="34" charset="-122"/>
                <a:ea typeface="微软雅黑" panose="020B0503020204020204" pitchFamily="34" charset="-122"/>
                <a:sym typeface="+mn-ea"/>
              </a:rPr>
              <a:t>步骤介绍</a:t>
            </a:r>
            <a:endParaRPr lang="zh-CN" altLang="en-US" sz="1730" b="1" dirty="0">
              <a:latin typeface="微软雅黑" panose="020B0503020204020204" pitchFamily="34" charset="-122"/>
              <a:ea typeface="微软雅黑" panose="020B0503020204020204" pitchFamily="34" charset="-122"/>
              <a:sym typeface="+mn-ea"/>
            </a:endParaRPr>
          </a:p>
        </p:txBody>
      </p:sp>
      <p:sp>
        <p:nvSpPr>
          <p:cNvPr id="3" name="内容占位符 2"/>
          <p:cNvSpPr>
            <a:spLocks noGrp="1"/>
          </p:cNvSpPr>
          <p:nvPr/>
        </p:nvSpPr>
        <p:spPr>
          <a:xfrm>
            <a:off x="575310" y="707390"/>
            <a:ext cx="8004175" cy="3862705"/>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a:t>Vector Analysis</a:t>
            </a:r>
            <a:endParaRPr lang="zh-CN" altLang="en-US"/>
          </a:p>
          <a:p>
            <a:pPr lvl="1"/>
            <a:r>
              <a:rPr lang="zh-CN" altLang="en-US"/>
              <a:t>目的</a:t>
            </a:r>
            <a:endParaRPr lang="zh-CN" altLang="en-US"/>
          </a:p>
          <a:p>
            <a:pPr lvl="2"/>
            <a:r>
              <a:rPr lang="zh-CN" altLang="en-US"/>
              <a:t>分析</a:t>
            </a:r>
            <a:r>
              <a:rPr lang="zh-CN" altLang="en-US"/>
              <a:t>仿真波形，报告rtl模块的活动状态输入</a:t>
            </a:r>
            <a:endParaRPr lang="zh-CN" altLang="en-US"/>
          </a:p>
          <a:p>
            <a:pPr lvl="2"/>
            <a:r>
              <a:rPr lang="zh-CN" altLang="en-US"/>
              <a:t>elaborate输出的pdb文件。</a:t>
            </a:r>
            <a:endParaRPr lang="zh-CN" altLang="en-US"/>
          </a:p>
          <a:p>
            <a:pPr lvl="2"/>
            <a:r>
              <a:rPr lang="zh-CN" altLang="en-US"/>
              <a:t>仿真波形waveform</a:t>
            </a:r>
            <a:endParaRPr lang="zh-CN" altLang="en-US"/>
          </a:p>
          <a:p>
            <a:pPr lvl="1"/>
            <a:r>
              <a:rPr lang="zh-CN" altLang="en-US"/>
              <a:t>输出</a:t>
            </a:r>
            <a:endParaRPr lang="zh-CN" altLang="en-US"/>
          </a:p>
          <a:p>
            <a:pPr lvl="2"/>
            <a:r>
              <a:rPr lang="zh-CN" altLang="en-US"/>
              <a:t>表明本模块工作繁忙程度的波形文件fsdb（里面有各种group的分类）</a:t>
            </a:r>
            <a:endParaRPr lang="zh-CN" altLang="en-US"/>
          </a:p>
          <a:p>
            <a:pPr lvl="2"/>
            <a:r>
              <a:rPr lang="zh-CN" altLang="en-US"/>
              <a:t>波形文件的另一种格式ptcl</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581660" y="707390"/>
            <a:ext cx="7997825" cy="3862705"/>
          </a:xfrm>
          <a:prstGeom prst="rect">
            <a:avLst/>
          </a:prstGeom>
          <a:noFill/>
        </p:spPr>
        <p:txBody>
          <a:bodyPr wrap="square" rtlCol="0">
            <a:noAutofit/>
          </a:bodyPr>
          <a:p>
            <a:endParaRPr lang="zh-CN" altLang="en-US"/>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基本</a:t>
            </a:r>
            <a:r>
              <a:rPr lang="zh-CN" altLang="en-US" sz="1730" b="1" dirty="0">
                <a:latin typeface="微软雅黑" panose="020B0503020204020204" pitchFamily="34" charset="-122"/>
                <a:ea typeface="微软雅黑" panose="020B0503020204020204" pitchFamily="34" charset="-122"/>
                <a:sym typeface="+mn-ea"/>
              </a:rPr>
              <a:t>步骤介绍</a:t>
            </a:r>
            <a:endParaRPr lang="zh-CN" altLang="en-US" sz="1730" b="1" dirty="0">
              <a:latin typeface="微软雅黑" panose="020B0503020204020204" pitchFamily="34" charset="-122"/>
              <a:ea typeface="微软雅黑" panose="020B0503020204020204" pitchFamily="34" charset="-122"/>
              <a:sym typeface="+mn-ea"/>
            </a:endParaRPr>
          </a:p>
        </p:txBody>
      </p:sp>
      <p:sp>
        <p:nvSpPr>
          <p:cNvPr id="3" name="内容占位符 2"/>
          <p:cNvSpPr>
            <a:spLocks noGrp="1"/>
          </p:cNvSpPr>
          <p:nvPr/>
        </p:nvSpPr>
        <p:spPr>
          <a:xfrm>
            <a:off x="608330" y="707390"/>
            <a:ext cx="7971155" cy="3858260"/>
          </a:xfrm>
          <a:prstGeom prst="rect">
            <a:avLst/>
          </a:prstGeom>
        </p:spPr>
        <p:txBody>
          <a:bodyPr vert="horz" lIns="90000" tIns="46800" rIns="90000" bIns="46800" rtlCol="0">
            <a:normAutofit fontScale="90000"/>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a:t>Profile Power</a:t>
            </a:r>
            <a:endParaRPr lang="zh-CN" altLang="en-US"/>
          </a:p>
          <a:p>
            <a:pPr lvl="1"/>
            <a:r>
              <a:rPr lang="zh-CN" altLang="en-US"/>
              <a:t>目的</a:t>
            </a:r>
            <a:endParaRPr lang="zh-CN" altLang="en-US"/>
          </a:p>
          <a:p>
            <a:pPr lvl="2"/>
            <a:r>
              <a:rPr lang="zh-CN" altLang="en-US"/>
              <a:t>也是分析</a:t>
            </a:r>
            <a:r>
              <a:rPr lang="zh-CN" altLang="en-US"/>
              <a:t>仿真波形，但是采用的是一种快速分析方法，速度为百倍以上。</a:t>
            </a:r>
            <a:endParaRPr lang="zh-CN" altLang="en-US"/>
          </a:p>
          <a:p>
            <a:pPr lvl="1"/>
            <a:r>
              <a:rPr lang="zh-CN" altLang="en-US"/>
              <a:t>输入</a:t>
            </a:r>
            <a:endParaRPr lang="zh-CN" altLang="en-US"/>
          </a:p>
          <a:p>
            <a:pPr lvl="2"/>
            <a:r>
              <a:rPr lang="zh-CN" altLang="en-US"/>
              <a:t>elaborate输出的pdb文件。</a:t>
            </a:r>
            <a:endParaRPr lang="zh-CN" altLang="en-US"/>
          </a:p>
          <a:p>
            <a:pPr lvl="2"/>
            <a:r>
              <a:rPr lang="zh-CN" altLang="en-US"/>
              <a:t>仿真波形waveform</a:t>
            </a:r>
            <a:endParaRPr lang="zh-CN" altLang="en-US"/>
          </a:p>
          <a:p>
            <a:pPr lvl="2"/>
            <a:r>
              <a:rPr lang="zh-CN" altLang="en-US"/>
              <a:t>pdb文件.Static_Eff.pdb</a:t>
            </a:r>
            <a:endParaRPr lang="zh-CN" altLang="en-US"/>
          </a:p>
          <a:p>
            <a:pPr lvl="1"/>
            <a:r>
              <a:rPr lang="zh-CN" altLang="en-US"/>
              <a:t>输出</a:t>
            </a:r>
            <a:endParaRPr lang="zh-CN" altLang="en-US"/>
          </a:p>
          <a:p>
            <a:pPr lvl="2"/>
            <a:r>
              <a:rPr lang="zh-CN" altLang="en-US"/>
              <a:t>表明本模块工作繁忙程度的波形文件fsdb（里面只有两类，average和profile，前者是总体平均繁忙程度，后者是设定的小时间段范围内平均繁忙程度）</a:t>
            </a:r>
            <a:endParaRPr lang="zh-CN" altLang="en-US"/>
          </a:p>
          <a:p>
            <a:pPr lvl="2"/>
            <a:r>
              <a:rPr lang="zh-CN" altLang="en-US"/>
              <a:t>波形文件的另一种格式ptcl</a:t>
            </a: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581660" y="707390"/>
            <a:ext cx="7997825" cy="3862705"/>
          </a:xfrm>
          <a:prstGeom prst="rect">
            <a:avLst/>
          </a:prstGeom>
          <a:noFill/>
        </p:spPr>
        <p:txBody>
          <a:bodyPr wrap="square" rtlCol="0">
            <a:noAutofit/>
          </a:bodyPr>
          <a:p>
            <a:endParaRPr lang="zh-CN" altLang="en-US"/>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基本</a:t>
            </a:r>
            <a:r>
              <a:rPr lang="zh-CN" altLang="en-US" sz="1730" b="1" dirty="0">
                <a:latin typeface="微软雅黑" panose="020B0503020204020204" pitchFamily="34" charset="-122"/>
                <a:ea typeface="微软雅黑" panose="020B0503020204020204" pitchFamily="34" charset="-122"/>
                <a:sym typeface="+mn-ea"/>
              </a:rPr>
              <a:t>步骤介绍</a:t>
            </a:r>
            <a:endParaRPr lang="zh-CN" altLang="en-US" sz="1730" b="1" dirty="0">
              <a:latin typeface="微软雅黑" panose="020B0503020204020204" pitchFamily="34" charset="-122"/>
              <a:ea typeface="微软雅黑" panose="020B0503020204020204" pitchFamily="34" charset="-122"/>
              <a:sym typeface="+mn-ea"/>
            </a:endParaRPr>
          </a:p>
        </p:txBody>
      </p:sp>
      <p:sp>
        <p:nvSpPr>
          <p:cNvPr id="3" name="内容占位符 2"/>
          <p:cNvSpPr>
            <a:spLocks noGrp="1"/>
          </p:cNvSpPr>
          <p:nvPr/>
        </p:nvSpPr>
        <p:spPr>
          <a:xfrm>
            <a:off x="675005" y="707390"/>
            <a:ext cx="7971155" cy="3710305"/>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a:t>Average Power</a:t>
            </a:r>
            <a:endParaRPr lang="zh-CN" altLang="en-US"/>
          </a:p>
          <a:p>
            <a:pPr lvl="1"/>
            <a:r>
              <a:rPr lang="zh-CN" altLang="en-US"/>
              <a:t>目的</a:t>
            </a:r>
            <a:endParaRPr lang="zh-CN" altLang="en-US"/>
          </a:p>
          <a:p>
            <a:pPr lvl="2"/>
            <a:r>
              <a:rPr lang="zh-CN" altLang="en-US"/>
              <a:t>计算平均功耗（可用于评估修改rtl之后power优化的效果）</a:t>
            </a:r>
            <a:endParaRPr lang="zh-CN" altLang="en-US"/>
          </a:p>
          <a:p>
            <a:pPr lvl="1"/>
            <a:r>
              <a:rPr lang="zh-CN" altLang="en-US"/>
              <a:t>输入</a:t>
            </a:r>
            <a:endParaRPr lang="zh-CN" altLang="en-US"/>
          </a:p>
          <a:p>
            <a:pPr lvl="2"/>
            <a:r>
              <a:rPr lang="zh-CN" altLang="en-US"/>
              <a:t>elaborate输出的pdb文件。</a:t>
            </a:r>
            <a:endParaRPr lang="zh-CN" altLang="en-US"/>
          </a:p>
          <a:p>
            <a:pPr lvl="2"/>
            <a:r>
              <a:rPr lang="zh-CN" altLang="en-US"/>
              <a:t>仿真波形waveform</a:t>
            </a:r>
            <a:endParaRPr lang="zh-CN" altLang="en-US"/>
          </a:p>
          <a:p>
            <a:pPr lvl="1"/>
            <a:r>
              <a:rPr lang="zh-CN" altLang="en-US"/>
              <a:t>输出</a:t>
            </a:r>
            <a:endParaRPr lang="zh-CN" altLang="en-US"/>
          </a:p>
          <a:p>
            <a:pPr lvl="2"/>
            <a:r>
              <a:rPr lang="zh-CN" altLang="en-US"/>
              <a:t>pdb文件.AveragePower.pdb</a:t>
            </a:r>
            <a:endParaRPr lang="zh-CN" altLang="en-US"/>
          </a:p>
          <a:p>
            <a:pPr lvl="2"/>
            <a:r>
              <a:rPr lang="zh-CN" altLang="en-US"/>
              <a:t>rpt文件和log</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581660" y="707390"/>
            <a:ext cx="7997825" cy="3862705"/>
          </a:xfrm>
          <a:prstGeom prst="rect">
            <a:avLst/>
          </a:prstGeom>
          <a:noFill/>
        </p:spPr>
        <p:txBody>
          <a:bodyPr wrap="square" rtlCol="0">
            <a:noAutofit/>
          </a:bodyPr>
          <a:p>
            <a:endParaRPr lang="zh-CN" altLang="en-US"/>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基本</a:t>
            </a:r>
            <a:r>
              <a:rPr lang="zh-CN" altLang="en-US" sz="1730" b="1" dirty="0">
                <a:latin typeface="微软雅黑" panose="020B0503020204020204" pitchFamily="34" charset="-122"/>
                <a:ea typeface="微软雅黑" panose="020B0503020204020204" pitchFamily="34" charset="-122"/>
                <a:sym typeface="+mn-ea"/>
              </a:rPr>
              <a:t>步骤介绍</a:t>
            </a:r>
            <a:endParaRPr lang="zh-CN" altLang="en-US" sz="1730" b="1" dirty="0">
              <a:latin typeface="微软雅黑" panose="020B0503020204020204" pitchFamily="34" charset="-122"/>
              <a:ea typeface="微软雅黑" panose="020B0503020204020204" pitchFamily="34" charset="-122"/>
              <a:sym typeface="+mn-ea"/>
            </a:endParaRPr>
          </a:p>
        </p:txBody>
      </p:sp>
      <p:sp>
        <p:nvSpPr>
          <p:cNvPr id="3" name="内容占位符 2"/>
          <p:cNvSpPr>
            <a:spLocks noGrp="1"/>
          </p:cNvSpPr>
          <p:nvPr/>
        </p:nvSpPr>
        <p:spPr>
          <a:xfrm>
            <a:off x="608330" y="707390"/>
            <a:ext cx="7971155" cy="3862705"/>
          </a:xfrm>
          <a:prstGeom prst="rect">
            <a:avLst/>
          </a:prstGeom>
        </p:spPr>
        <p:txBody>
          <a:bodyPr vert="horz" lIns="90000" tIns="46800" rIns="90000" bIns="46800" rtlCol="0">
            <a:normAutofit lnSpcReduction="10000"/>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a:t>Time-Based Power</a:t>
            </a:r>
            <a:endParaRPr lang="zh-CN" altLang="en-US"/>
          </a:p>
          <a:p>
            <a:pPr lvl="1"/>
            <a:r>
              <a:rPr lang="zh-CN" altLang="en-US"/>
              <a:t>目的</a:t>
            </a:r>
            <a:endParaRPr lang="zh-CN" altLang="en-US"/>
          </a:p>
          <a:p>
            <a:pPr lvl="2"/>
            <a:r>
              <a:rPr lang="zh-CN" altLang="en-US"/>
              <a:t>计算平均功耗以及各个小时段的功耗，可报告最大功耗以及所在时间</a:t>
            </a:r>
            <a:endParaRPr lang="zh-CN" altLang="en-US"/>
          </a:p>
          <a:p>
            <a:pPr lvl="1"/>
            <a:r>
              <a:rPr lang="zh-CN" altLang="en-US"/>
              <a:t>输入</a:t>
            </a:r>
            <a:endParaRPr lang="zh-CN" altLang="en-US"/>
          </a:p>
          <a:p>
            <a:pPr lvl="2"/>
            <a:r>
              <a:rPr lang="zh-CN" altLang="en-US"/>
              <a:t>elaborate输出的pdb文件。</a:t>
            </a:r>
            <a:endParaRPr lang="zh-CN" altLang="en-US"/>
          </a:p>
          <a:p>
            <a:pPr lvl="2"/>
            <a:r>
              <a:rPr lang="zh-CN" altLang="en-US"/>
              <a:t>仿真波形waveform</a:t>
            </a:r>
            <a:endParaRPr lang="zh-CN" altLang="en-US"/>
          </a:p>
          <a:p>
            <a:pPr lvl="1"/>
            <a:r>
              <a:rPr lang="zh-CN" altLang="en-US"/>
              <a:t>输出</a:t>
            </a:r>
            <a:endParaRPr lang="zh-CN" altLang="en-US"/>
          </a:p>
          <a:p>
            <a:pPr lvl="2"/>
            <a:r>
              <a:rPr lang="zh-CN" altLang="en-US"/>
              <a:t>pdb文件.TimeBasedPower.pdb</a:t>
            </a:r>
            <a:endParaRPr lang="zh-CN" altLang="en-US"/>
          </a:p>
          <a:p>
            <a:pPr lvl="2"/>
            <a:r>
              <a:rPr lang="zh-CN" altLang="en-US"/>
              <a:t>rpt文件和log</a:t>
            </a:r>
            <a:endParaRPr lang="zh-CN" altLang="en-US"/>
          </a:p>
          <a:p>
            <a:pPr lvl="2"/>
            <a:r>
              <a:rPr lang="zh-CN" altLang="en-US"/>
              <a:t>波形文件</a:t>
            </a: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581660" y="707390"/>
            <a:ext cx="7997825" cy="3862705"/>
          </a:xfrm>
          <a:prstGeom prst="rect">
            <a:avLst/>
          </a:prstGeom>
          <a:noFill/>
        </p:spPr>
        <p:txBody>
          <a:bodyPr wrap="square" rtlCol="0">
            <a:noAutofit/>
          </a:bodyPr>
          <a:p>
            <a:endParaRPr lang="zh-CN" altLang="en-US"/>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基本</a:t>
            </a:r>
            <a:r>
              <a:rPr lang="zh-CN" altLang="en-US" sz="1730" b="1" dirty="0">
                <a:latin typeface="微软雅黑" panose="020B0503020204020204" pitchFamily="34" charset="-122"/>
                <a:ea typeface="微软雅黑" panose="020B0503020204020204" pitchFamily="34" charset="-122"/>
                <a:sym typeface="+mn-ea"/>
              </a:rPr>
              <a:t>步骤介绍</a:t>
            </a:r>
            <a:endParaRPr lang="zh-CN" altLang="en-US" sz="1730" b="1" dirty="0">
              <a:latin typeface="微软雅黑" panose="020B0503020204020204" pitchFamily="34" charset="-122"/>
              <a:ea typeface="微软雅黑" panose="020B0503020204020204" pitchFamily="34" charset="-122"/>
              <a:sym typeface="+mn-ea"/>
            </a:endParaRPr>
          </a:p>
        </p:txBody>
      </p:sp>
      <p:sp>
        <p:nvSpPr>
          <p:cNvPr id="3" name="内容占位符 2"/>
          <p:cNvSpPr>
            <a:spLocks noGrp="1"/>
          </p:cNvSpPr>
          <p:nvPr/>
        </p:nvSpPr>
        <p:spPr>
          <a:xfrm>
            <a:off x="581660" y="707390"/>
            <a:ext cx="7971155" cy="3776345"/>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a:t>Power Reduc</a:t>
            </a:r>
            <a:r>
              <a:rPr lang="en-US" altLang="zh-CN"/>
              <a:t>e</a:t>
            </a:r>
            <a:endParaRPr lang="zh-CN" altLang="en-US"/>
          </a:p>
          <a:p>
            <a:pPr lvl="1"/>
            <a:r>
              <a:rPr lang="zh-CN" altLang="en-US"/>
              <a:t>目的</a:t>
            </a:r>
            <a:endParaRPr lang="zh-CN" altLang="en-US"/>
          </a:p>
          <a:p>
            <a:pPr lvl="2"/>
            <a:r>
              <a:rPr lang="zh-CN" altLang="en-US"/>
              <a:t>产生如何降低功耗的报告（列出各种</a:t>
            </a:r>
            <a:r>
              <a:rPr lang="en-US" altLang="zh-CN"/>
              <a:t>power bug</a:t>
            </a:r>
            <a:r>
              <a:rPr lang="zh-CN" altLang="en-US"/>
              <a:t>）</a:t>
            </a:r>
            <a:endParaRPr lang="zh-CN" altLang="en-US"/>
          </a:p>
          <a:p>
            <a:pPr lvl="1"/>
            <a:r>
              <a:rPr lang="zh-CN" altLang="en-US"/>
              <a:t>输入</a:t>
            </a:r>
            <a:endParaRPr lang="zh-CN" altLang="en-US"/>
          </a:p>
          <a:p>
            <a:pPr lvl="2"/>
            <a:r>
              <a:rPr lang="zh-CN" altLang="en-US"/>
              <a:t>elaborate输出的pdb文件。</a:t>
            </a:r>
            <a:endParaRPr lang="zh-CN" altLang="en-US"/>
          </a:p>
          <a:p>
            <a:pPr lvl="2"/>
            <a:r>
              <a:rPr lang="zh-CN" altLang="en-US"/>
              <a:t>仿真波形waveform</a:t>
            </a:r>
            <a:endParaRPr lang="zh-CN" altLang="en-US"/>
          </a:p>
          <a:p>
            <a:pPr lvl="1"/>
            <a:r>
              <a:rPr lang="zh-CN" altLang="en-US"/>
              <a:t>输出</a:t>
            </a:r>
            <a:endParaRPr lang="zh-CN" altLang="en-US"/>
          </a:p>
          <a:p>
            <a:pPr lvl="2"/>
            <a:r>
              <a:rPr lang="zh-CN" altLang="en-US"/>
              <a:t>pdb文件.ReducePower.pdb</a:t>
            </a:r>
            <a:endParaRPr lang="zh-CN" altLang="en-US"/>
          </a:p>
          <a:p>
            <a:pPr lvl="2"/>
            <a:r>
              <a:rPr lang="zh-CN" altLang="en-US"/>
              <a:t>rpt文件和log</a:t>
            </a: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581660" y="707390"/>
            <a:ext cx="7997825" cy="3862705"/>
          </a:xfrm>
          <a:prstGeom prst="rect">
            <a:avLst/>
          </a:prstGeom>
          <a:noFill/>
        </p:spPr>
        <p:txBody>
          <a:bodyPr wrap="square" rtlCol="0">
            <a:noAutofit/>
          </a:bodyPr>
          <a:p>
            <a:endParaRPr lang="zh-CN" altLang="en-US"/>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en-US" altLang="zh-CN" sz="1730" b="1" dirty="0">
                <a:latin typeface="微软雅黑" panose="020B0503020204020204" pitchFamily="34" charset="-122"/>
                <a:ea typeface="微软雅黑" panose="020B0503020204020204" pitchFamily="34" charset="-122"/>
                <a:sym typeface="+mn-ea"/>
              </a:rPr>
              <a:t>setting.tcl</a:t>
            </a:r>
            <a:endParaRPr lang="zh-CN" altLang="en-US" sz="1730" b="1" dirty="0">
              <a:latin typeface="微软雅黑" panose="020B0503020204020204" pitchFamily="34" charset="-122"/>
              <a:ea typeface="微软雅黑" panose="020B0503020204020204" pitchFamily="34" charset="-122"/>
              <a:sym typeface="+mn-ea"/>
            </a:endParaRPr>
          </a:p>
        </p:txBody>
      </p:sp>
      <p:pic>
        <p:nvPicPr>
          <p:cNvPr id="3" name="图片 2"/>
          <p:cNvPicPr>
            <a:picLocks noChangeAspect="1"/>
          </p:cNvPicPr>
          <p:nvPr/>
        </p:nvPicPr>
        <p:blipFill>
          <a:blip r:embed="rId2"/>
          <a:stretch>
            <a:fillRect/>
          </a:stretch>
        </p:blipFill>
        <p:spPr>
          <a:xfrm>
            <a:off x="1072515" y="794385"/>
            <a:ext cx="6998335" cy="285559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581660" y="707390"/>
            <a:ext cx="7997825" cy="3862705"/>
          </a:xfrm>
          <a:prstGeom prst="rect">
            <a:avLst/>
          </a:prstGeom>
          <a:noFill/>
        </p:spPr>
        <p:txBody>
          <a:bodyPr wrap="square" rtlCol="0">
            <a:noAutofit/>
          </a:bodyPr>
          <a:p>
            <a:endParaRPr lang="zh-CN" altLang="en-US"/>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en-US" altLang="zh-CN" sz="1730" b="1" dirty="0">
                <a:latin typeface="微软雅黑" panose="020B0503020204020204" pitchFamily="34" charset="-122"/>
                <a:ea typeface="微软雅黑" panose="020B0503020204020204" pitchFamily="34" charset="-122"/>
                <a:sym typeface="+mn-ea"/>
              </a:rPr>
              <a:t>setting.tcl</a:t>
            </a:r>
            <a:endParaRPr lang="zh-CN" altLang="en-US" sz="1730" b="1" dirty="0">
              <a:latin typeface="微软雅黑" panose="020B0503020204020204" pitchFamily="34" charset="-122"/>
              <a:ea typeface="微软雅黑" panose="020B0503020204020204" pitchFamily="34" charset="-122"/>
              <a:sym typeface="+mn-ea"/>
            </a:endParaRPr>
          </a:p>
        </p:txBody>
      </p:sp>
      <p:pic>
        <p:nvPicPr>
          <p:cNvPr id="6" name="图片 5"/>
          <p:cNvPicPr>
            <a:picLocks noChangeAspect="1"/>
          </p:cNvPicPr>
          <p:nvPr/>
        </p:nvPicPr>
        <p:blipFill>
          <a:blip r:embed="rId2"/>
          <a:stretch>
            <a:fillRect/>
          </a:stretch>
        </p:blipFill>
        <p:spPr>
          <a:xfrm>
            <a:off x="987425" y="794385"/>
            <a:ext cx="6772275" cy="29146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581660" y="707390"/>
            <a:ext cx="7997825" cy="3862705"/>
          </a:xfrm>
          <a:prstGeom prst="rect">
            <a:avLst/>
          </a:prstGeom>
          <a:noFill/>
        </p:spPr>
        <p:txBody>
          <a:bodyPr wrap="square" rtlCol="0">
            <a:noAutofit/>
          </a:bodyPr>
          <a:p>
            <a:endParaRPr lang="zh-CN" altLang="en-US"/>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en-US" altLang="zh-CN" sz="1730" b="1" dirty="0">
                <a:latin typeface="微软雅黑" panose="020B0503020204020204" pitchFamily="34" charset="-122"/>
                <a:ea typeface="微软雅黑" panose="020B0503020204020204" pitchFamily="34" charset="-122"/>
                <a:sym typeface="+mn-ea"/>
              </a:rPr>
              <a:t>setting.tcl</a:t>
            </a:r>
            <a:endParaRPr lang="zh-CN" altLang="en-US" sz="1730" b="1" dirty="0">
              <a:latin typeface="微软雅黑" panose="020B0503020204020204" pitchFamily="34" charset="-122"/>
              <a:ea typeface="微软雅黑" panose="020B0503020204020204" pitchFamily="34" charset="-122"/>
              <a:sym typeface="+mn-ea"/>
            </a:endParaRPr>
          </a:p>
        </p:txBody>
      </p:sp>
      <p:pic>
        <p:nvPicPr>
          <p:cNvPr id="5" name="图片 4"/>
          <p:cNvPicPr>
            <a:picLocks noChangeAspect="1"/>
          </p:cNvPicPr>
          <p:nvPr/>
        </p:nvPicPr>
        <p:blipFill>
          <a:blip r:embed="rId2"/>
          <a:stretch>
            <a:fillRect/>
          </a:stretch>
        </p:blipFill>
        <p:spPr>
          <a:xfrm>
            <a:off x="773430" y="979170"/>
            <a:ext cx="7353300" cy="25908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581660" y="707390"/>
            <a:ext cx="7997825" cy="3862705"/>
          </a:xfrm>
          <a:prstGeom prst="rect">
            <a:avLst/>
          </a:prstGeom>
          <a:noFill/>
        </p:spPr>
        <p:txBody>
          <a:bodyPr wrap="square" rtlCol="0">
            <a:noAutofit/>
          </a:bodyPr>
          <a:p>
            <a:endParaRPr lang="zh-CN" altLang="en-US"/>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en-US" altLang="zh-CN" sz="1730" b="1" dirty="0">
                <a:latin typeface="微软雅黑" panose="020B0503020204020204" pitchFamily="34" charset="-122"/>
                <a:ea typeface="微软雅黑" panose="020B0503020204020204" pitchFamily="34" charset="-122"/>
                <a:sym typeface="+mn-ea"/>
              </a:rPr>
              <a:t>setting.tcl</a:t>
            </a:r>
            <a:endParaRPr lang="zh-CN" altLang="en-US" sz="1730" b="1" dirty="0">
              <a:latin typeface="微软雅黑" panose="020B0503020204020204" pitchFamily="34" charset="-122"/>
              <a:ea typeface="微软雅黑" panose="020B0503020204020204" pitchFamily="34" charset="-122"/>
              <a:sym typeface="+mn-ea"/>
            </a:endParaRPr>
          </a:p>
        </p:txBody>
      </p:sp>
      <p:pic>
        <p:nvPicPr>
          <p:cNvPr id="5" name="图片 4"/>
          <p:cNvPicPr>
            <a:picLocks noChangeAspect="1"/>
          </p:cNvPicPr>
          <p:nvPr/>
        </p:nvPicPr>
        <p:blipFill>
          <a:blip r:embed="rId2"/>
          <a:stretch>
            <a:fillRect/>
          </a:stretch>
        </p:blipFill>
        <p:spPr>
          <a:xfrm>
            <a:off x="1716405" y="1167765"/>
            <a:ext cx="5422265" cy="270129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153352" y="1208867"/>
            <a:ext cx="1646234" cy="1442085"/>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7200" b="1"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
        <p:nvSpPr>
          <p:cNvPr id="3" name="Text 1"/>
          <p:cNvSpPr/>
          <p:nvPr/>
        </p:nvSpPr>
        <p:spPr>
          <a:xfrm>
            <a:off x="3831779" y="2571750"/>
            <a:ext cx="3897443" cy="640080"/>
          </a:xfrm>
          <a:prstGeom prst="rect">
            <a:avLst/>
          </a:prstGeom>
          <a:noFill/>
        </p:spPr>
        <p:txBody>
          <a:bodyPr wrap="square" lIns="95250" tIns="95250" rIns="95250" bIns="95250" rtlCol="0" anchor="t">
            <a:spAutoFit/>
          </a:bodyPr>
          <a:lstStyle/>
          <a:p>
            <a:pPr marL="0" indent="0">
              <a:lnSpc>
                <a:spcPct val="113000"/>
              </a:lnSpc>
              <a:spcBef>
                <a:spcPts val="375"/>
              </a:spcBef>
              <a:buNone/>
            </a:pPr>
            <a:r>
              <a:rPr lang="zh-CN" altLang="en-US" sz="2590" dirty="0">
                <a:latin typeface="微软雅黑" panose="020B0503020204020204" pitchFamily="34" charset="-122"/>
                <a:ea typeface="微软雅黑" panose="020B0503020204020204" pitchFamily="34" charset="-122"/>
                <a:sym typeface="+mn-ea"/>
              </a:rPr>
              <a:t>功耗分析流程及结果分析</a:t>
            </a:r>
            <a:endParaRPr lang="zh-CN" altLang="en-US" sz="2590" b="1"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启动</a:t>
            </a:r>
            <a:r>
              <a:rPr lang="en-US" altLang="zh-CN" sz="1730" b="1" dirty="0">
                <a:latin typeface="微软雅黑" panose="020B0503020204020204" pitchFamily="34" charset="-122"/>
                <a:ea typeface="微软雅黑" panose="020B0503020204020204" pitchFamily="34" charset="-122"/>
                <a:sym typeface="+mn-ea"/>
              </a:rPr>
              <a:t>PowerArtist</a:t>
            </a:r>
            <a:endParaRPr lang="en-US" altLang="zh-CN" sz="1730" b="1" dirty="0">
              <a:latin typeface="微软雅黑" panose="020B0503020204020204" pitchFamily="34" charset="-122"/>
              <a:ea typeface="微软雅黑" panose="020B0503020204020204" pitchFamily="34" charset="-122"/>
              <a:sym typeface="+mn-ea"/>
            </a:endParaRPr>
          </a:p>
        </p:txBody>
      </p:sp>
      <p:pic>
        <p:nvPicPr>
          <p:cNvPr id="5" name="图片 4"/>
          <p:cNvPicPr>
            <a:picLocks noChangeAspect="1"/>
          </p:cNvPicPr>
          <p:nvPr/>
        </p:nvPicPr>
        <p:blipFill>
          <a:blip r:embed="rId2"/>
          <a:stretch>
            <a:fillRect/>
          </a:stretch>
        </p:blipFill>
        <p:spPr>
          <a:xfrm>
            <a:off x="1828800" y="1859280"/>
            <a:ext cx="4273550" cy="1031875"/>
          </a:xfrm>
          <a:prstGeom prst="rect">
            <a:avLst/>
          </a:prstGeom>
        </p:spPr>
      </p:pic>
      <p:sp>
        <p:nvSpPr>
          <p:cNvPr id="7" name="文本框 6"/>
          <p:cNvSpPr txBox="1"/>
          <p:nvPr/>
        </p:nvSpPr>
        <p:spPr>
          <a:xfrm>
            <a:off x="2807970" y="4090670"/>
            <a:ext cx="3086100" cy="459105"/>
          </a:xfrm>
          <a:prstGeom prst="rect">
            <a:avLst/>
          </a:prstGeom>
          <a:noFill/>
        </p:spPr>
        <p:txBody>
          <a:bodyPr wrap="square" rtlCol="0">
            <a:noAutofit/>
          </a:bodyPr>
          <a:p>
            <a:r>
              <a:rPr lang="en-US" altLang="zh-CN"/>
              <a:t>pa_shell -tcl run.tcl</a:t>
            </a:r>
            <a:endParaRPr lang="zh-CN" altLang="en-US"/>
          </a:p>
        </p:txBody>
      </p:sp>
      <p:sp>
        <p:nvSpPr>
          <p:cNvPr id="10" name="文本框 9"/>
          <p:cNvSpPr txBox="1"/>
          <p:nvPr/>
        </p:nvSpPr>
        <p:spPr>
          <a:xfrm>
            <a:off x="937260" y="794385"/>
            <a:ext cx="6232525" cy="368300"/>
          </a:xfrm>
          <a:prstGeom prst="rect">
            <a:avLst/>
          </a:prstGeom>
          <a:noFill/>
        </p:spPr>
        <p:txBody>
          <a:bodyPr wrap="square" rtlCol="0">
            <a:spAutoFit/>
          </a:bodyPr>
          <a:p>
            <a:r>
              <a:rPr lang="zh-CN" altLang="en-US"/>
              <a:t>在</a:t>
            </a:r>
            <a:r>
              <a:rPr lang="en-US" altLang="zh-CN"/>
              <a:t>h3</a:t>
            </a:r>
            <a:r>
              <a:rPr lang="zh-CN" altLang="en-US"/>
              <a:t>服务器启动</a:t>
            </a:r>
            <a:r>
              <a:rPr lang="en-US" altLang="zh-CN"/>
              <a:t>PowerArtist</a:t>
            </a:r>
            <a:r>
              <a:rPr lang="zh-CN" altLang="en-US"/>
              <a:t>（目前只能在</a:t>
            </a:r>
            <a:r>
              <a:rPr lang="en-US" altLang="zh-CN"/>
              <a:t>h3</a:t>
            </a:r>
            <a:r>
              <a:rPr lang="zh-CN" altLang="en-US"/>
              <a:t>上</a:t>
            </a:r>
            <a:r>
              <a:rPr lang="zh-CN" altLang="en-US"/>
              <a:t>运行）</a:t>
            </a:r>
            <a:endParaRPr lang="zh-CN" altLang="en-US"/>
          </a:p>
        </p:txBody>
      </p:sp>
      <p:sp>
        <p:nvSpPr>
          <p:cNvPr id="11" name="文本框 10"/>
          <p:cNvSpPr txBox="1"/>
          <p:nvPr/>
        </p:nvSpPr>
        <p:spPr>
          <a:xfrm>
            <a:off x="2617470" y="1325880"/>
            <a:ext cx="3276600" cy="645160"/>
          </a:xfrm>
          <a:prstGeom prst="rect">
            <a:avLst/>
          </a:prstGeom>
          <a:noFill/>
        </p:spPr>
        <p:txBody>
          <a:bodyPr wrap="square" rtlCol="0">
            <a:spAutoFit/>
          </a:bodyPr>
          <a:p>
            <a:r>
              <a:rPr lang="en-US" altLang="zh-CN"/>
              <a:t>source /tools/env/ansys.csh </a:t>
            </a:r>
            <a:endParaRPr lang="en-US" altLang="zh-CN"/>
          </a:p>
          <a:p>
            <a:endParaRPr lang="zh-CN" altLang="en-US"/>
          </a:p>
        </p:txBody>
      </p:sp>
      <p:pic>
        <p:nvPicPr>
          <p:cNvPr id="12" name="图片 11"/>
          <p:cNvPicPr>
            <a:picLocks noChangeAspect="1"/>
          </p:cNvPicPr>
          <p:nvPr/>
        </p:nvPicPr>
        <p:blipFill>
          <a:blip r:embed="rId3"/>
          <a:stretch>
            <a:fillRect/>
          </a:stretch>
        </p:blipFill>
        <p:spPr>
          <a:xfrm>
            <a:off x="1642110" y="2835910"/>
            <a:ext cx="4822190" cy="116776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581660" y="707390"/>
            <a:ext cx="7997825" cy="3862705"/>
          </a:xfrm>
          <a:prstGeom prst="rect">
            <a:avLst/>
          </a:prstGeom>
          <a:noFill/>
        </p:spPr>
        <p:txBody>
          <a:bodyPr wrap="square" rtlCol="0">
            <a:noAutofit/>
          </a:bodyPr>
          <a:p>
            <a:r>
              <a:rPr lang="en-US" altLang="zh-CN">
                <a:latin typeface="+mn-ea"/>
              </a:rPr>
              <a:t>File</a:t>
            </a:r>
            <a:r>
              <a:rPr lang="en-US" altLang="zh-CN">
                <a:latin typeface="+mn-ea"/>
                <a:cs typeface="+mn-ea"/>
                <a:sym typeface="+mn-ea"/>
              </a:rPr>
              <a:t>-&gt;Load D</a:t>
            </a:r>
            <a:r>
              <a:rPr lang="en-US" altLang="zh-CN">
                <a:latin typeface="+mn-ea"/>
                <a:cs typeface="+mn-ea"/>
                <a:sym typeface="+mn-ea"/>
              </a:rPr>
              <a:t>esign</a:t>
            </a:r>
            <a:endParaRPr lang="en-US" altLang="zh-CN">
              <a:latin typeface="+mn-ea"/>
              <a:cs typeface="+mn-ea"/>
              <a:sym typeface="+mn-ea"/>
            </a:endParaRPr>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加载功耗</a:t>
            </a:r>
            <a:r>
              <a:rPr lang="zh-CN" altLang="en-US" sz="1730" b="1" dirty="0">
                <a:latin typeface="微软雅黑" panose="020B0503020204020204" pitchFamily="34" charset="-122"/>
                <a:ea typeface="微软雅黑" panose="020B0503020204020204" pitchFamily="34" charset="-122"/>
                <a:sym typeface="+mn-ea"/>
              </a:rPr>
              <a:t>数据库</a:t>
            </a:r>
            <a:endParaRPr lang="zh-CN" altLang="en-US" sz="1730" b="1" dirty="0">
              <a:latin typeface="微软雅黑" panose="020B0503020204020204" pitchFamily="34" charset="-122"/>
              <a:ea typeface="微软雅黑" panose="020B0503020204020204" pitchFamily="34" charset="-122"/>
              <a:sym typeface="+mn-ea"/>
            </a:endParaRPr>
          </a:p>
        </p:txBody>
      </p:sp>
      <p:pic>
        <p:nvPicPr>
          <p:cNvPr id="6" name="图片 5"/>
          <p:cNvPicPr>
            <a:picLocks noChangeAspect="1"/>
          </p:cNvPicPr>
          <p:nvPr/>
        </p:nvPicPr>
        <p:blipFill>
          <a:blip r:embed="rId2"/>
          <a:stretch>
            <a:fillRect/>
          </a:stretch>
        </p:blipFill>
        <p:spPr>
          <a:xfrm>
            <a:off x="1929130" y="1212850"/>
            <a:ext cx="5243195" cy="323596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581660" y="707390"/>
            <a:ext cx="7997825" cy="3862705"/>
          </a:xfrm>
          <a:prstGeom prst="rect">
            <a:avLst/>
          </a:prstGeom>
          <a:noFill/>
        </p:spPr>
        <p:txBody>
          <a:bodyPr wrap="square" rtlCol="0">
            <a:noAutofit/>
          </a:bodyPr>
          <a:p>
            <a:endParaRPr lang="zh-CN" altLang="en-US"/>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5" name="Text 0"/>
          <p:cNvSpPr/>
          <p:nvPr/>
        </p:nvSpPr>
        <p:spPr>
          <a:xfrm>
            <a:off x="378460" y="86995"/>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使用图形界面查看</a:t>
            </a:r>
            <a:r>
              <a:rPr lang="zh-CN" altLang="en-US" sz="1730" b="1" dirty="0">
                <a:latin typeface="微软雅黑" panose="020B0503020204020204" pitchFamily="34" charset="-122"/>
                <a:ea typeface="微软雅黑" panose="020B0503020204020204" pitchFamily="34" charset="-122"/>
                <a:sym typeface="+mn-ea"/>
              </a:rPr>
              <a:t>结果</a:t>
            </a:r>
            <a:endParaRPr lang="zh-CN" altLang="en-US" sz="1730" b="1" dirty="0">
              <a:latin typeface="微软雅黑" panose="020B0503020204020204" pitchFamily="34" charset="-122"/>
              <a:ea typeface="微软雅黑" panose="020B0503020204020204" pitchFamily="34" charset="-122"/>
              <a:sym typeface="+mn-ea"/>
            </a:endParaRPr>
          </a:p>
        </p:txBody>
      </p:sp>
      <p:pic>
        <p:nvPicPr>
          <p:cNvPr id="7" name="图片 6"/>
          <p:cNvPicPr>
            <a:picLocks noChangeAspect="1"/>
          </p:cNvPicPr>
          <p:nvPr/>
        </p:nvPicPr>
        <p:blipFill>
          <a:blip r:embed="rId2"/>
          <a:stretch>
            <a:fillRect/>
          </a:stretch>
        </p:blipFill>
        <p:spPr>
          <a:xfrm>
            <a:off x="1008380" y="948055"/>
            <a:ext cx="7292975" cy="324802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581660" y="707390"/>
            <a:ext cx="7997825" cy="3862705"/>
          </a:xfrm>
          <a:prstGeom prst="rect">
            <a:avLst/>
          </a:prstGeom>
          <a:noFill/>
        </p:spPr>
        <p:txBody>
          <a:bodyPr wrap="square" rtlCol="0">
            <a:noAutofit/>
          </a:bodyPr>
          <a:p>
            <a:endParaRPr lang="zh-CN" altLang="en-US"/>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5" name="Text 0"/>
          <p:cNvSpPr/>
          <p:nvPr/>
        </p:nvSpPr>
        <p:spPr>
          <a:xfrm>
            <a:off x="378460" y="86995"/>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使用图形界面查看</a:t>
            </a:r>
            <a:r>
              <a:rPr lang="zh-CN" altLang="en-US" sz="1730" b="1" dirty="0">
                <a:latin typeface="微软雅黑" panose="020B0503020204020204" pitchFamily="34" charset="-122"/>
                <a:ea typeface="微软雅黑" panose="020B0503020204020204" pitchFamily="34" charset="-122"/>
                <a:sym typeface="+mn-ea"/>
              </a:rPr>
              <a:t>结果</a:t>
            </a:r>
            <a:endParaRPr lang="zh-CN" altLang="en-US" sz="1730" b="1" dirty="0">
              <a:latin typeface="微软雅黑" panose="020B0503020204020204" pitchFamily="34" charset="-122"/>
              <a:ea typeface="微软雅黑" panose="020B0503020204020204" pitchFamily="34" charset="-122"/>
              <a:sym typeface="+mn-ea"/>
            </a:endParaRPr>
          </a:p>
        </p:txBody>
      </p:sp>
      <p:pic>
        <p:nvPicPr>
          <p:cNvPr id="3" name="图片 2"/>
          <p:cNvPicPr>
            <a:picLocks noChangeAspect="1"/>
          </p:cNvPicPr>
          <p:nvPr/>
        </p:nvPicPr>
        <p:blipFill>
          <a:blip r:embed="rId2"/>
          <a:stretch>
            <a:fillRect/>
          </a:stretch>
        </p:blipFill>
        <p:spPr>
          <a:xfrm>
            <a:off x="1197610" y="611505"/>
            <a:ext cx="6887210" cy="1882140"/>
          </a:xfrm>
          <a:prstGeom prst="rect">
            <a:avLst/>
          </a:prstGeom>
        </p:spPr>
      </p:pic>
      <p:pic>
        <p:nvPicPr>
          <p:cNvPr id="7" name="图片 6"/>
          <p:cNvPicPr>
            <a:picLocks noChangeAspect="1"/>
          </p:cNvPicPr>
          <p:nvPr/>
        </p:nvPicPr>
        <p:blipFill>
          <a:blip r:embed="rId3"/>
          <a:stretch>
            <a:fillRect/>
          </a:stretch>
        </p:blipFill>
        <p:spPr>
          <a:xfrm>
            <a:off x="2878455" y="2571750"/>
            <a:ext cx="3593465" cy="198310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581660" y="707390"/>
            <a:ext cx="7997825" cy="3862705"/>
          </a:xfrm>
          <a:prstGeom prst="rect">
            <a:avLst/>
          </a:prstGeom>
          <a:noFill/>
        </p:spPr>
        <p:txBody>
          <a:bodyPr wrap="square" rtlCol="0">
            <a:noAutofit/>
          </a:bodyPr>
          <a:p>
            <a:r>
              <a:rPr lang="en-US" altLang="zh-CN">
                <a:latin typeface="+mn-ea"/>
                <a:cs typeface="+mn-ea"/>
                <a:sym typeface="+mn-ea"/>
              </a:rPr>
              <a:t>view-&gt;all power reductions,</a:t>
            </a:r>
            <a:r>
              <a:rPr lang="zh-CN" altLang="en-US">
                <a:latin typeface="+mn-ea"/>
                <a:cs typeface="+mn-ea"/>
                <a:sym typeface="+mn-ea"/>
              </a:rPr>
              <a:t>显示出各种</a:t>
            </a:r>
            <a:r>
              <a:rPr lang="en-US" altLang="zh-CN">
                <a:latin typeface="+mn-ea"/>
                <a:cs typeface="+mn-ea"/>
                <a:sym typeface="+mn-ea"/>
              </a:rPr>
              <a:t>power bug</a:t>
            </a:r>
            <a:endParaRPr lang="zh-CN" altLang="en-US">
              <a:latin typeface="+mn-ea"/>
              <a:cs typeface="+mn-ea"/>
            </a:endParaRPr>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en-US" altLang="zh-CN" sz="1730" b="1" dirty="0">
                <a:latin typeface="微软雅黑" panose="020B0503020204020204" pitchFamily="34" charset="-122"/>
                <a:ea typeface="微软雅黑" panose="020B0503020204020204" pitchFamily="34" charset="-122"/>
                <a:sym typeface="+mn-ea"/>
              </a:rPr>
              <a:t>Power Debug</a:t>
            </a:r>
            <a:endParaRPr lang="en-US" altLang="zh-CN" sz="1730" b="1" dirty="0">
              <a:latin typeface="微软雅黑" panose="020B0503020204020204" pitchFamily="34" charset="-122"/>
              <a:ea typeface="微软雅黑" panose="020B0503020204020204" pitchFamily="34" charset="-122"/>
              <a:sym typeface="+mn-ea"/>
            </a:endParaRPr>
          </a:p>
        </p:txBody>
      </p:sp>
      <p:pic>
        <p:nvPicPr>
          <p:cNvPr id="6" name="图片 5"/>
          <p:cNvPicPr>
            <a:picLocks noChangeAspect="1"/>
          </p:cNvPicPr>
          <p:nvPr/>
        </p:nvPicPr>
        <p:blipFill>
          <a:blip r:embed="rId2"/>
          <a:stretch>
            <a:fillRect/>
          </a:stretch>
        </p:blipFill>
        <p:spPr>
          <a:xfrm>
            <a:off x="1388110" y="1117600"/>
            <a:ext cx="6527165" cy="338391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581660" y="707390"/>
            <a:ext cx="7997825" cy="3862705"/>
          </a:xfrm>
          <a:prstGeom prst="rect">
            <a:avLst/>
          </a:prstGeom>
          <a:noFill/>
        </p:spPr>
        <p:txBody>
          <a:bodyPr wrap="square" rtlCol="0">
            <a:noAutofit/>
          </a:bodyPr>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r>
              <a:rPr lang="en-US" altLang="zh-CN"/>
              <a:t>                                        ReducePower_cg.srpt</a:t>
            </a:r>
            <a:r>
              <a:rPr lang="zh-CN" altLang="en-US"/>
              <a:t>（时钟门控</a:t>
            </a:r>
            <a:r>
              <a:rPr lang="zh-CN" altLang="en-US"/>
              <a:t>报告）</a:t>
            </a:r>
            <a:r>
              <a:rPr lang="en-US" altLang="zh-CN"/>
              <a:t> </a:t>
            </a:r>
            <a:endParaRPr lang="en-US" altLang="zh-CN"/>
          </a:p>
          <a:p>
            <a:endParaRPr lang="zh-CN" altLang="en-US"/>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5" name="Text 0"/>
          <p:cNvSpPr/>
          <p:nvPr/>
        </p:nvSpPr>
        <p:spPr>
          <a:xfrm>
            <a:off x="378460" y="86995"/>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查看文本</a:t>
            </a:r>
            <a:r>
              <a:rPr lang="zh-CN" altLang="en-US" sz="1730" b="1" dirty="0">
                <a:latin typeface="微软雅黑" panose="020B0503020204020204" pitchFamily="34" charset="-122"/>
                <a:ea typeface="微软雅黑" panose="020B0503020204020204" pitchFamily="34" charset="-122"/>
                <a:sym typeface="+mn-ea"/>
              </a:rPr>
              <a:t>报告</a:t>
            </a:r>
            <a:endParaRPr lang="zh-CN" altLang="en-US" sz="1730" b="1" dirty="0">
              <a:latin typeface="微软雅黑" panose="020B0503020204020204" pitchFamily="34" charset="-122"/>
              <a:ea typeface="微软雅黑" panose="020B0503020204020204" pitchFamily="34" charset="-122"/>
              <a:sym typeface="+mn-ea"/>
            </a:endParaRPr>
          </a:p>
        </p:txBody>
      </p:sp>
      <p:pic>
        <p:nvPicPr>
          <p:cNvPr id="9" name="图片 8"/>
          <p:cNvPicPr>
            <a:picLocks noChangeAspect="1"/>
          </p:cNvPicPr>
          <p:nvPr/>
        </p:nvPicPr>
        <p:blipFill>
          <a:blip r:embed="rId2"/>
          <a:stretch>
            <a:fillRect/>
          </a:stretch>
        </p:blipFill>
        <p:spPr>
          <a:xfrm>
            <a:off x="1197610" y="487680"/>
            <a:ext cx="6301105" cy="302323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581660" y="707390"/>
            <a:ext cx="7997825" cy="3862705"/>
          </a:xfrm>
          <a:prstGeom prst="rect">
            <a:avLst/>
          </a:prstGeom>
          <a:noFill/>
        </p:spPr>
        <p:txBody>
          <a:bodyPr wrap="square" rtlCol="0">
            <a:noAutofit/>
          </a:bodyPr>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r>
              <a:rPr lang="en-US" altLang="zh-CN"/>
              <a:t>                                        ReducePower.srpt</a:t>
            </a:r>
            <a:r>
              <a:rPr lang="zh-CN" altLang="en-US"/>
              <a:t>（功耗优化报告）</a:t>
            </a:r>
            <a:r>
              <a:rPr lang="en-US" altLang="zh-CN"/>
              <a:t> </a:t>
            </a:r>
            <a:endParaRPr lang="en-US" altLang="zh-CN"/>
          </a:p>
          <a:p>
            <a:endParaRPr lang="zh-CN" altLang="en-US"/>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5" name="Text 0"/>
          <p:cNvSpPr/>
          <p:nvPr/>
        </p:nvSpPr>
        <p:spPr>
          <a:xfrm>
            <a:off x="378460" y="86995"/>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查看文本</a:t>
            </a:r>
            <a:r>
              <a:rPr lang="zh-CN" altLang="en-US" sz="1730" b="1" dirty="0">
                <a:latin typeface="微软雅黑" panose="020B0503020204020204" pitchFamily="34" charset="-122"/>
                <a:ea typeface="微软雅黑" panose="020B0503020204020204" pitchFamily="34" charset="-122"/>
                <a:sym typeface="+mn-ea"/>
              </a:rPr>
              <a:t>报告</a:t>
            </a:r>
            <a:endParaRPr lang="zh-CN" altLang="en-US" sz="1730" b="1" dirty="0">
              <a:latin typeface="微软雅黑" panose="020B0503020204020204" pitchFamily="34" charset="-122"/>
              <a:ea typeface="微软雅黑" panose="020B0503020204020204" pitchFamily="34" charset="-122"/>
              <a:sym typeface="+mn-ea"/>
            </a:endParaRPr>
          </a:p>
        </p:txBody>
      </p:sp>
      <p:pic>
        <p:nvPicPr>
          <p:cNvPr id="3" name="图片 2"/>
          <p:cNvPicPr>
            <a:picLocks noChangeAspect="1"/>
          </p:cNvPicPr>
          <p:nvPr/>
        </p:nvPicPr>
        <p:blipFill>
          <a:blip r:embed="rId2"/>
          <a:stretch>
            <a:fillRect/>
          </a:stretch>
        </p:blipFill>
        <p:spPr>
          <a:xfrm>
            <a:off x="1793240" y="454025"/>
            <a:ext cx="5575300" cy="318325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581660" y="707390"/>
            <a:ext cx="7997825" cy="3862705"/>
          </a:xfrm>
          <a:prstGeom prst="rect">
            <a:avLst/>
          </a:prstGeom>
          <a:noFill/>
        </p:spPr>
        <p:txBody>
          <a:bodyPr wrap="square" rtlCol="0">
            <a:noAutofit/>
          </a:bodyPr>
          <a:p>
            <a:endParaRPr lang="zh-CN" altLang="en-US"/>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3"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一些常见的</a:t>
            </a:r>
            <a:r>
              <a:rPr lang="en-US" altLang="zh-CN" sz="1730" b="1" dirty="0">
                <a:latin typeface="微软雅黑" panose="020B0503020204020204" pitchFamily="34" charset="-122"/>
                <a:ea typeface="微软雅黑" panose="020B0503020204020204" pitchFamily="34" charset="-122"/>
                <a:sym typeface="+mn-ea"/>
              </a:rPr>
              <a:t>power bug</a:t>
            </a:r>
            <a:endParaRPr lang="en-US" altLang="zh-CN" sz="1730" b="1" dirty="0">
              <a:latin typeface="微软雅黑" panose="020B0503020204020204" pitchFamily="34" charset="-122"/>
              <a:ea typeface="微软雅黑" panose="020B0503020204020204" pitchFamily="34" charset="-122"/>
              <a:sym typeface="+mn-ea"/>
            </a:endParaRPr>
          </a:p>
        </p:txBody>
      </p:sp>
      <p:sp>
        <p:nvSpPr>
          <p:cNvPr id="5" name="内容占位符 2"/>
          <p:cNvSpPr>
            <a:spLocks noGrp="1"/>
          </p:cNvSpPr>
          <p:nvPr/>
        </p:nvSpPr>
        <p:spPr>
          <a:xfrm>
            <a:off x="429260" y="794385"/>
            <a:ext cx="8200390" cy="3823970"/>
          </a:xfrm>
          <a:prstGeom prst="rect">
            <a:avLst/>
          </a:prstGeom>
        </p:spPr>
        <p:txBody>
          <a:bodyPr vert="horz" lIns="90000" tIns="46800" rIns="90000" bIns="46800" rtlCol="0">
            <a:normAutofit fontScale="90000" lnSpcReduction="10000"/>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LNR: Low-Activity Non-Enabled Register</a:t>
            </a:r>
            <a:endParaRPr lang="zh-CN" altLang="en-US"/>
          </a:p>
          <a:p>
            <a:pPr lvl="1"/>
            <a:r>
              <a:rPr lang="zh-CN" altLang="en-US"/>
              <a:t>表示该组寄存器没有clock enable。</a:t>
            </a:r>
            <a:endParaRPr lang="zh-CN" altLang="en-US"/>
          </a:p>
          <a:p>
            <a:r>
              <a:rPr lang="zh-CN" altLang="en-US"/>
              <a:t>LER: Low_activity Enabled Register</a:t>
            </a:r>
            <a:endParaRPr lang="zh-CN" altLang="en-US"/>
          </a:p>
          <a:p>
            <a:pPr lvl="1"/>
            <a:r>
              <a:rPr lang="zh-CN" altLang="en-US"/>
              <a:t>表示该组寄存器虽然有clock enable，但是效率很低——即有大量无效clock enable。</a:t>
            </a:r>
            <a:endParaRPr lang="zh-CN" altLang="en-US"/>
          </a:p>
          <a:p>
            <a:r>
              <a:rPr lang="zh-CN" altLang="en-US"/>
              <a:t>DOI: Datapath Operator Isolation</a:t>
            </a:r>
            <a:endParaRPr lang="zh-CN" altLang="en-US"/>
          </a:p>
          <a:p>
            <a:pPr lvl="1"/>
            <a:r>
              <a:rPr lang="zh-CN" altLang="en-US"/>
              <a:t>表示虽然寄存器的时钟被gate了，但是D端的组合逻辑在时钟gate区域还在翻转。</a:t>
            </a:r>
            <a:endParaRPr lang="zh-CN" altLang="en-US"/>
          </a:p>
          <a:p>
            <a:r>
              <a:rPr lang="zh-CN" altLang="en-US"/>
              <a:t>LEC: Local Explicit Clock Enable</a:t>
            </a:r>
            <a:endParaRPr lang="zh-CN" altLang="en-US"/>
          </a:p>
          <a:p>
            <a:pPr lvl="1"/>
            <a:r>
              <a:rPr lang="zh-CN" altLang="en-US"/>
              <a:t>这表示该组寄存器虽然可以产生clock enable，但是却可能会被综合成在D端的mux，从而浪费功耗。</a:t>
            </a:r>
            <a:endParaRPr lang="zh-CN" altLang="en-US"/>
          </a:p>
          <a:p>
            <a:pPr lvl="1"/>
            <a:r>
              <a:rPr lang="zh-CN" altLang="en-US"/>
              <a:t>但因为我们的综合工具都会自动插clock gate，所以不会综合成在D端的mux（其实也还是会有，因为bit宽度不够，做出clock gate不划算）。因此不会有LEC报告出来。</a:t>
            </a:r>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581660" y="707390"/>
            <a:ext cx="7997825" cy="3862705"/>
          </a:xfrm>
          <a:prstGeom prst="rect">
            <a:avLst/>
          </a:prstGeom>
          <a:noFill/>
        </p:spPr>
        <p:txBody>
          <a:bodyPr wrap="square" rtlCol="0">
            <a:noAutofit/>
          </a:bodyPr>
          <a:p>
            <a:endParaRPr lang="zh-CN" altLang="en-US"/>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3" name="Text 0"/>
          <p:cNvSpPr/>
          <p:nvPr/>
        </p:nvSpPr>
        <p:spPr>
          <a:xfrm>
            <a:off x="4800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一些常见的</a:t>
            </a:r>
            <a:r>
              <a:rPr lang="en-US" altLang="zh-CN" sz="1730" b="1" dirty="0">
                <a:latin typeface="微软雅黑" panose="020B0503020204020204" pitchFamily="34" charset="-122"/>
                <a:ea typeface="微软雅黑" panose="020B0503020204020204" pitchFamily="34" charset="-122"/>
                <a:sym typeface="+mn-ea"/>
              </a:rPr>
              <a:t>power bug</a:t>
            </a:r>
            <a:endParaRPr lang="en-US" altLang="zh-CN" sz="1730" b="1" dirty="0">
              <a:latin typeface="微软雅黑" panose="020B0503020204020204" pitchFamily="34" charset="-122"/>
              <a:ea typeface="微软雅黑" panose="020B0503020204020204" pitchFamily="34" charset="-122"/>
              <a:sym typeface="+mn-ea"/>
            </a:endParaRPr>
          </a:p>
        </p:txBody>
      </p:sp>
      <p:sp>
        <p:nvSpPr>
          <p:cNvPr id="6" name="内容占位符 2"/>
          <p:cNvSpPr>
            <a:spLocks noGrp="1"/>
          </p:cNvSpPr>
          <p:nvPr/>
        </p:nvSpPr>
        <p:spPr>
          <a:xfrm>
            <a:off x="608330" y="794385"/>
            <a:ext cx="7985760" cy="3757930"/>
          </a:xfrm>
          <a:prstGeom prst="rect">
            <a:avLst/>
          </a:prstGeom>
        </p:spPr>
        <p:txBody>
          <a:bodyPr vert="horz" lIns="90000" tIns="46800" rIns="90000" bIns="46800" rtlCol="0">
            <a:normAutofit lnSpcReduction="20000"/>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SMW: Split Memory Words</a:t>
            </a:r>
            <a:endParaRPr lang="zh-CN" altLang="en-US"/>
          </a:p>
          <a:p>
            <a:pPr lvl="1"/>
            <a:r>
              <a:rPr lang="zh-CN" altLang="en-US"/>
              <a:t>表示这个sram太大了，很浪费功耗，最好分成多个sram，</a:t>
            </a:r>
            <a:r>
              <a:rPr lang="zh-CN" altLang="en-US"/>
              <a:t>把地址串起来用。</a:t>
            </a:r>
            <a:endParaRPr lang="zh-CN" altLang="en-US"/>
          </a:p>
          <a:p>
            <a:pPr lvl="1"/>
            <a:r>
              <a:rPr lang="zh-CN" altLang="en-US"/>
              <a:t>如果有SMW，则会产生smw.reduction.analysis.red文件。</a:t>
            </a:r>
            <a:endParaRPr lang="zh-CN" altLang="en-US"/>
          </a:p>
          <a:p>
            <a:r>
              <a:rPr lang="zh-CN" altLang="en-US"/>
              <a:t>GMC: Gate Memory Clock</a:t>
            </a:r>
            <a:endParaRPr lang="zh-CN" altLang="en-US"/>
          </a:p>
          <a:p>
            <a:pPr lvl="1"/>
            <a:r>
              <a:rPr lang="zh-CN" altLang="en-US"/>
              <a:t>表示这个sram</a:t>
            </a:r>
            <a:endParaRPr lang="zh-CN" altLang="en-US"/>
          </a:p>
          <a:p>
            <a:pPr lvl="2"/>
            <a:r>
              <a:rPr lang="zh-CN" altLang="en-US"/>
              <a:t>连续读同一个地址，读出的值始终是一个值；</a:t>
            </a:r>
            <a:endParaRPr lang="zh-CN" altLang="en-US"/>
          </a:p>
          <a:p>
            <a:pPr lvl="2"/>
            <a:r>
              <a:rPr lang="zh-CN" altLang="en-US"/>
              <a:t>连续写同一个地址，写入的值始终是一个值；</a:t>
            </a:r>
            <a:endParaRPr lang="zh-CN" altLang="en-US"/>
          </a:p>
          <a:p>
            <a:pPr lvl="2"/>
            <a:r>
              <a:rPr lang="zh-CN" altLang="en-US"/>
              <a:t>虽然没有读写，但是地址或者写数据却在变化。</a:t>
            </a:r>
            <a:endParaRPr lang="zh-CN" altLang="en-US"/>
          </a:p>
          <a:p>
            <a:pPr lvl="2"/>
            <a:r>
              <a:rPr lang="zh-CN" altLang="en-US"/>
              <a:t>这三种情况都会浪费功耗，一般来说第三种情况很常见。</a:t>
            </a:r>
            <a:endParaRPr lang="zh-CN" altLang="en-US"/>
          </a:p>
          <a:p>
            <a:pPr lvl="2"/>
            <a:r>
              <a:rPr lang="zh-CN" altLang="en-US"/>
              <a:t>如果存在GMC，则会产生mpl.analysis.red文件。</a:t>
            </a:r>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581660" y="707390"/>
            <a:ext cx="7997825" cy="3862705"/>
          </a:xfrm>
          <a:prstGeom prst="rect">
            <a:avLst/>
          </a:prstGeom>
          <a:noFill/>
        </p:spPr>
        <p:txBody>
          <a:bodyPr wrap="square" rtlCol="0">
            <a:noAutofit/>
          </a:bodyPr>
          <a:p>
            <a:endParaRPr lang="zh-CN" altLang="en-US"/>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3"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一些常见的</a:t>
            </a:r>
            <a:r>
              <a:rPr lang="en-US" altLang="zh-CN" sz="1730" b="1" dirty="0">
                <a:latin typeface="微软雅黑" panose="020B0503020204020204" pitchFamily="34" charset="-122"/>
                <a:ea typeface="微软雅黑" panose="020B0503020204020204" pitchFamily="34" charset="-122"/>
                <a:sym typeface="+mn-ea"/>
              </a:rPr>
              <a:t>power bug</a:t>
            </a:r>
            <a:endParaRPr lang="en-US" altLang="zh-CN" sz="1730" b="1" dirty="0">
              <a:latin typeface="微软雅黑" panose="020B0503020204020204" pitchFamily="34" charset="-122"/>
              <a:ea typeface="微软雅黑" panose="020B0503020204020204" pitchFamily="34" charset="-122"/>
              <a:sym typeface="+mn-ea"/>
            </a:endParaRPr>
          </a:p>
        </p:txBody>
      </p:sp>
      <p:sp>
        <p:nvSpPr>
          <p:cNvPr id="5" name="内容占位符 2"/>
          <p:cNvSpPr>
            <a:spLocks noGrp="1"/>
          </p:cNvSpPr>
          <p:nvPr/>
        </p:nvSpPr>
        <p:spPr>
          <a:xfrm>
            <a:off x="608330" y="794385"/>
            <a:ext cx="7971155" cy="377571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Prsim</a:t>
            </a:r>
            <a:endParaRPr lang="zh-CN" altLang="en-US"/>
          </a:p>
          <a:p>
            <a:pPr lvl="1"/>
            <a:r>
              <a:rPr lang="zh-CN" altLang="en-US"/>
              <a:t>Prsim观察的是一串寄存器，如果上游寄存器使用了clock enable，而下游寄存器没有相应的clock enable，则下游寄存器显然有无效的时钟翻转，浪费了功耗。</a:t>
            </a:r>
            <a:endParaRPr lang="zh-CN" altLang="en-US"/>
          </a:p>
          <a:p>
            <a:r>
              <a:rPr lang="zh-CN" altLang="en-US"/>
              <a:t>ODC: Observability Don't Care</a:t>
            </a:r>
            <a:endParaRPr lang="zh-CN" altLang="en-US"/>
          </a:p>
          <a:p>
            <a:pPr lvl="1"/>
            <a:r>
              <a:rPr lang="zh-CN" altLang="en-US"/>
              <a:t>有点类似Prsim，也是观察一串寄存器，但这里是检测到上游寄存器输出虽然在变化（上游没有clock enable），但是下游寄存器却有clock enable挡住了，没有使用变化的值，因此上游寄存器是在做无效的翻转，浪费了功耗。</a:t>
            </a:r>
            <a:endParaRPr lang="zh-CN" altLang="en-US"/>
          </a:p>
          <a:p>
            <a:pPr marL="0" indent="0">
              <a:buNone/>
            </a:pPr>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581660" y="707390"/>
            <a:ext cx="7997825" cy="3862705"/>
          </a:xfrm>
          <a:prstGeom prst="rect">
            <a:avLst/>
          </a:prstGeom>
          <a:noFill/>
        </p:spPr>
        <p:txBody>
          <a:bodyPr wrap="square" rtlCol="0">
            <a:noAutofit/>
          </a:bodyPr>
          <a:p>
            <a:endParaRPr lang="zh-CN" altLang="en-US"/>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3"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一些常见的</a:t>
            </a:r>
            <a:r>
              <a:rPr lang="en-US" altLang="zh-CN" sz="1730" b="1" dirty="0">
                <a:latin typeface="微软雅黑" panose="020B0503020204020204" pitchFamily="34" charset="-122"/>
                <a:ea typeface="微软雅黑" panose="020B0503020204020204" pitchFamily="34" charset="-122"/>
                <a:sym typeface="+mn-ea"/>
              </a:rPr>
              <a:t>power bug</a:t>
            </a:r>
            <a:endParaRPr lang="en-US" altLang="zh-CN" sz="1730" b="1" dirty="0">
              <a:latin typeface="微软雅黑" panose="020B0503020204020204" pitchFamily="34" charset="-122"/>
              <a:ea typeface="微软雅黑" panose="020B0503020204020204" pitchFamily="34" charset="-122"/>
              <a:sym typeface="+mn-ea"/>
            </a:endParaRPr>
          </a:p>
        </p:txBody>
      </p:sp>
      <p:sp>
        <p:nvSpPr>
          <p:cNvPr id="5" name="内容占位符 2"/>
          <p:cNvSpPr>
            <a:spLocks noGrp="1"/>
          </p:cNvSpPr>
          <p:nvPr/>
        </p:nvSpPr>
        <p:spPr>
          <a:xfrm>
            <a:off x="581660" y="794385"/>
            <a:ext cx="7971155" cy="3805555"/>
          </a:xfrm>
          <a:prstGeom prst="rect">
            <a:avLst/>
          </a:prstGeom>
        </p:spPr>
        <p:txBody>
          <a:bodyPr vert="horz" lIns="90000" tIns="46800" rIns="90000" bIns="46800" rtlCol="0">
            <a:normAutofit lnSpcReduction="10000"/>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MEM: Memory Power Linter</a:t>
            </a:r>
            <a:endParaRPr lang="zh-CN" altLang="en-US"/>
          </a:p>
          <a:p>
            <a:pPr lvl="1"/>
            <a:r>
              <a:rPr lang="zh-CN" altLang="en-US"/>
              <a:t>分析sram的输入，看是否有无意义的翻转。</a:t>
            </a:r>
            <a:endParaRPr lang="zh-CN" altLang="en-US"/>
          </a:p>
          <a:p>
            <a:r>
              <a:rPr lang="zh-CN" altLang="en-US"/>
              <a:t>MUX: MUX Power Linter</a:t>
            </a:r>
            <a:endParaRPr lang="zh-CN" altLang="en-US"/>
          </a:p>
          <a:p>
            <a:pPr lvl="1"/>
            <a:r>
              <a:rPr lang="zh-CN" altLang="en-US"/>
              <a:t>检测所有的mux选择器，看没有被选择的那些输入是否在做无效翻转。</a:t>
            </a:r>
            <a:endParaRPr lang="zh-CN" altLang="en-US"/>
          </a:p>
          <a:p>
            <a:r>
              <a:rPr lang="zh-CN" altLang="en-US"/>
              <a:t>REG: Register Power Linter</a:t>
            </a:r>
            <a:endParaRPr lang="zh-CN" altLang="en-US"/>
          </a:p>
          <a:p>
            <a:pPr lvl="1"/>
            <a:r>
              <a:rPr lang="zh-CN" altLang="en-US"/>
              <a:t>检测所有的寄存器，看在没有时钟的情况下输入是否有无效翻转。</a:t>
            </a:r>
            <a:endParaRPr lang="zh-CN" altLang="en-US"/>
          </a:p>
          <a:p>
            <a:r>
              <a:rPr lang="zh-CN" altLang="en-US"/>
              <a:t>CEC: Clock Enable Condition Linter</a:t>
            </a:r>
            <a:endParaRPr lang="zh-CN" altLang="en-US"/>
          </a:p>
          <a:p>
            <a:pPr lvl="1"/>
            <a:r>
              <a:rPr lang="zh-CN" altLang="en-US"/>
              <a:t>检测所有拥有loop back mux的寄存器，看这些mux是否有效的gate好了时钟。比如如果时钟还有，但是D端没有翻转，就是不好的gate。</a:t>
            </a:r>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3" name="Text 0"/>
          <p:cNvSpPr/>
          <p:nvPr/>
        </p:nvSpPr>
        <p:spPr>
          <a:xfrm>
            <a:off x="556260" y="300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en-US" altLang="zh-CN" sz="1730" b="1" dirty="0">
              <a:latin typeface="微软雅黑" panose="020B0503020204020204" pitchFamily="34" charset="-122"/>
              <a:ea typeface="微软雅黑" panose="020B0503020204020204" pitchFamily="34" charset="-122"/>
              <a:sym typeface="+mn-ea"/>
            </a:endParaRPr>
          </a:p>
        </p:txBody>
      </p:sp>
      <p:sp>
        <p:nvSpPr>
          <p:cNvPr id="5" name="内容占位符 2"/>
          <p:cNvSpPr>
            <a:spLocks noGrp="1"/>
          </p:cNvSpPr>
          <p:nvPr/>
        </p:nvSpPr>
        <p:spPr>
          <a:xfrm>
            <a:off x="608330" y="794385"/>
            <a:ext cx="7957185" cy="377571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p>
        </p:txBody>
      </p:sp>
      <p:sp>
        <p:nvSpPr>
          <p:cNvPr id="6" name="Text 0"/>
          <p:cNvSpPr/>
          <p:nvPr/>
        </p:nvSpPr>
        <p:spPr>
          <a:xfrm>
            <a:off x="28448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参考</a:t>
            </a:r>
            <a:r>
              <a:rPr lang="zh-CN" altLang="en-US" sz="1730" b="1" dirty="0">
                <a:latin typeface="微软雅黑" panose="020B0503020204020204" pitchFamily="34" charset="-122"/>
                <a:ea typeface="微软雅黑" panose="020B0503020204020204" pitchFamily="34" charset="-122"/>
                <a:sym typeface="+mn-ea"/>
              </a:rPr>
              <a:t>手册</a:t>
            </a:r>
            <a:endParaRPr lang="zh-CN" altLang="en-US" sz="1730" b="1" dirty="0">
              <a:latin typeface="微软雅黑" panose="020B0503020204020204" pitchFamily="34" charset="-122"/>
              <a:ea typeface="微软雅黑" panose="020B0503020204020204" pitchFamily="34" charset="-122"/>
              <a:sym typeface="+mn-ea"/>
            </a:endParaRPr>
          </a:p>
        </p:txBody>
      </p:sp>
      <p:pic>
        <p:nvPicPr>
          <p:cNvPr id="7" name="图片 6"/>
          <p:cNvPicPr>
            <a:picLocks noChangeAspect="1"/>
          </p:cNvPicPr>
          <p:nvPr/>
        </p:nvPicPr>
        <p:blipFill>
          <a:blip r:embed="rId2"/>
          <a:stretch>
            <a:fillRect/>
          </a:stretch>
        </p:blipFill>
        <p:spPr>
          <a:xfrm>
            <a:off x="1259840" y="528320"/>
            <a:ext cx="3270885" cy="4086860"/>
          </a:xfrm>
          <a:prstGeom prst="rect">
            <a:avLst/>
          </a:prstGeom>
        </p:spPr>
      </p:pic>
      <p:pic>
        <p:nvPicPr>
          <p:cNvPr id="9" name="图片 8"/>
          <p:cNvPicPr>
            <a:picLocks noChangeAspect="1"/>
          </p:cNvPicPr>
          <p:nvPr/>
        </p:nvPicPr>
        <p:blipFill>
          <a:blip r:embed="rId3"/>
          <a:stretch>
            <a:fillRect/>
          </a:stretch>
        </p:blipFill>
        <p:spPr>
          <a:xfrm>
            <a:off x="4986020" y="497205"/>
            <a:ext cx="3617595" cy="2074545"/>
          </a:xfrm>
          <a:prstGeom prst="rect">
            <a:avLst/>
          </a:prstGeom>
        </p:spPr>
      </p:pic>
      <p:pic>
        <p:nvPicPr>
          <p:cNvPr id="10" name="图片 9"/>
          <p:cNvPicPr>
            <a:picLocks noChangeAspect="1"/>
          </p:cNvPicPr>
          <p:nvPr/>
        </p:nvPicPr>
        <p:blipFill>
          <a:blip r:embed="rId4"/>
          <a:stretch>
            <a:fillRect/>
          </a:stretch>
        </p:blipFill>
        <p:spPr>
          <a:xfrm>
            <a:off x="5010150" y="2603500"/>
            <a:ext cx="3616960" cy="197104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3" name="Text 0"/>
          <p:cNvSpPr/>
          <p:nvPr/>
        </p:nvSpPr>
        <p:spPr>
          <a:xfrm>
            <a:off x="556260" y="300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en-US" altLang="zh-CN" sz="1730" b="1" dirty="0">
              <a:latin typeface="微软雅黑" panose="020B0503020204020204" pitchFamily="34" charset="-122"/>
              <a:ea typeface="微软雅黑" panose="020B0503020204020204" pitchFamily="34" charset="-122"/>
              <a:sym typeface="+mn-ea"/>
            </a:endParaRPr>
          </a:p>
        </p:txBody>
      </p:sp>
      <p:sp>
        <p:nvSpPr>
          <p:cNvPr id="5" name="内容占位符 2"/>
          <p:cNvSpPr>
            <a:spLocks noGrp="1"/>
          </p:cNvSpPr>
          <p:nvPr/>
        </p:nvSpPr>
        <p:spPr>
          <a:xfrm>
            <a:off x="608330" y="794385"/>
            <a:ext cx="7957185" cy="377571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p>
        </p:txBody>
      </p:sp>
      <p:sp>
        <p:nvSpPr>
          <p:cNvPr id="6" name="Text 0"/>
          <p:cNvSpPr/>
          <p:nvPr/>
        </p:nvSpPr>
        <p:spPr>
          <a:xfrm>
            <a:off x="28448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总结</a:t>
            </a:r>
            <a:endParaRPr lang="zh-CN" altLang="en-US" sz="1730" b="1" dirty="0">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480060" y="685800"/>
            <a:ext cx="8084820" cy="3886835"/>
          </a:xfrm>
          <a:prstGeom prst="rect">
            <a:avLst/>
          </a:prstGeom>
          <a:noFill/>
        </p:spPr>
        <p:txBody>
          <a:bodyPr wrap="square" rtlCol="0">
            <a:noAutofit/>
          </a:bodyPr>
          <a:p>
            <a:r>
              <a:rPr lang="en-US" altLang="zh-CN"/>
              <a:t>1.</a:t>
            </a:r>
            <a:r>
              <a:rPr lang="zh-CN" altLang="en-US"/>
              <a:t>多</a:t>
            </a:r>
            <a:r>
              <a:rPr lang="en-US" altLang="zh-CN"/>
              <a:t>bit</a:t>
            </a:r>
            <a:r>
              <a:rPr lang="zh-CN" altLang="en-US"/>
              <a:t>寄存器</a:t>
            </a:r>
            <a:endParaRPr lang="zh-CN" altLang="en-US"/>
          </a:p>
          <a:p>
            <a:r>
              <a:rPr lang="zh-CN" altLang="en-US"/>
              <a:t>对于多位寄存器，尽可能保证必须有</a:t>
            </a:r>
            <a:r>
              <a:rPr lang="en-US" altLang="zh-CN"/>
              <a:t>latch enable</a:t>
            </a:r>
            <a:r>
              <a:rPr lang="zh-CN" altLang="en-US"/>
              <a:t>的条件。</a:t>
            </a:r>
            <a:endParaRPr lang="zh-CN" altLang="en-US"/>
          </a:p>
          <a:p>
            <a:r>
              <a:rPr lang="zh-CN" altLang="en-US"/>
              <a:t>如果对</a:t>
            </a:r>
            <a:r>
              <a:rPr lang="en-US" altLang="zh-CN"/>
              <a:t>design</a:t>
            </a:r>
            <a:r>
              <a:rPr lang="zh-CN" altLang="en-US"/>
              <a:t>很了解，可以自己去思考如何产生</a:t>
            </a:r>
            <a:r>
              <a:rPr lang="en-US" altLang="zh-CN"/>
              <a:t>latch enable</a:t>
            </a:r>
            <a:r>
              <a:rPr lang="zh-CN" altLang="en-US"/>
              <a:t>的条件。这样做出来的</a:t>
            </a:r>
            <a:r>
              <a:rPr lang="en-US" altLang="zh-CN"/>
              <a:t>clk gate</a:t>
            </a:r>
            <a:r>
              <a:rPr lang="zh-CN" altLang="en-US"/>
              <a:t>效率更高，面积代价更小。</a:t>
            </a:r>
            <a:endParaRPr lang="zh-CN" altLang="en-US"/>
          </a:p>
          <a:p>
            <a:r>
              <a:rPr lang="zh-CN" altLang="en-US"/>
              <a:t>如果对</a:t>
            </a:r>
            <a:r>
              <a:rPr lang="en-US" altLang="zh-CN"/>
              <a:t>design</a:t>
            </a:r>
            <a:r>
              <a:rPr lang="zh-CN" altLang="en-US"/>
              <a:t>不够了解，或者寄存器本身</a:t>
            </a:r>
            <a:r>
              <a:rPr lang="en-US" altLang="zh-CN"/>
              <a:t>latch enable</a:t>
            </a:r>
            <a:r>
              <a:rPr lang="zh-CN" altLang="en-US"/>
              <a:t>条件很难产生，则使用业内通用做法</a:t>
            </a:r>
            <a:r>
              <a:rPr lang="en-US" altLang="zh-CN"/>
              <a:t>if(Q!=D)</a:t>
            </a:r>
            <a:r>
              <a:rPr lang="zh-CN" altLang="en-US"/>
              <a:t>作为</a:t>
            </a:r>
            <a:r>
              <a:rPr lang="en-US" altLang="zh-CN"/>
              <a:t>latch enable</a:t>
            </a:r>
            <a:r>
              <a:rPr lang="zh-CN" altLang="en-US"/>
              <a:t>条件。这种做法最安全，但是面积代价稍大，对于</a:t>
            </a:r>
            <a:r>
              <a:rPr lang="en-US" altLang="zh-CN"/>
              <a:t>power</a:t>
            </a:r>
            <a:r>
              <a:rPr lang="zh-CN" altLang="en-US"/>
              <a:t>的好处较小，属于不得已才使用的方案。</a:t>
            </a:r>
            <a:endParaRPr lang="zh-CN" altLang="en-US"/>
          </a:p>
          <a:p>
            <a:endParaRPr lang="zh-CN" altLang="en-US"/>
          </a:p>
          <a:p>
            <a:r>
              <a:rPr lang="en-US" altLang="zh-CN"/>
              <a:t>2.</a:t>
            </a:r>
            <a:r>
              <a:rPr lang="zh-CN" altLang="en-US"/>
              <a:t>单</a:t>
            </a:r>
            <a:r>
              <a:rPr lang="en-US" altLang="zh-CN"/>
              <a:t>bit</a:t>
            </a:r>
            <a:r>
              <a:rPr lang="zh-CN" altLang="en-US"/>
              <a:t>寄存器</a:t>
            </a:r>
            <a:endParaRPr lang="zh-CN" altLang="en-US"/>
          </a:p>
          <a:p>
            <a:r>
              <a:rPr lang="zh-CN" altLang="en-US"/>
              <a:t>可以将几个单位寄存器用</a:t>
            </a:r>
            <a:r>
              <a:rPr lang="en-US" altLang="zh-CN"/>
              <a:t>{}</a:t>
            </a:r>
            <a:r>
              <a:rPr lang="zh-CN" altLang="en-US"/>
              <a:t>并成一个多位寄存器，然后使用上面</a:t>
            </a:r>
            <a:r>
              <a:rPr lang="en-US" altLang="zh-CN"/>
              <a:t>if(Q!=D)</a:t>
            </a:r>
            <a:r>
              <a:rPr lang="zh-CN" altLang="en-US"/>
              <a:t>作为</a:t>
            </a:r>
            <a:r>
              <a:rPr lang="en-US" altLang="zh-CN"/>
              <a:t>latch enable</a:t>
            </a:r>
            <a:r>
              <a:rPr lang="zh-CN" altLang="en-US"/>
              <a:t>条件。</a:t>
            </a:r>
            <a:endParaRPr lang="zh-CN" altLang="en-US"/>
          </a:p>
          <a:p>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5" name="内容占位符 2"/>
          <p:cNvSpPr>
            <a:spLocks noGrp="1"/>
          </p:cNvSpPr>
          <p:nvPr/>
        </p:nvSpPr>
        <p:spPr>
          <a:xfrm>
            <a:off x="593090" y="683895"/>
            <a:ext cx="7979410" cy="3790315"/>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p>
        </p:txBody>
      </p:sp>
      <p:sp>
        <p:nvSpPr>
          <p:cNvPr id="6" name="Text 0"/>
          <p:cNvSpPr/>
          <p:nvPr/>
        </p:nvSpPr>
        <p:spPr>
          <a:xfrm>
            <a:off x="28448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总结</a:t>
            </a:r>
            <a:endParaRPr lang="zh-CN" altLang="en-US" sz="1730" b="1" dirty="0">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593090" y="683895"/>
            <a:ext cx="7840345" cy="3789680"/>
          </a:xfrm>
          <a:prstGeom prst="rect">
            <a:avLst/>
          </a:prstGeom>
          <a:noFill/>
        </p:spPr>
        <p:txBody>
          <a:bodyPr wrap="square" rtlCol="0">
            <a:noAutofit/>
          </a:bodyPr>
          <a:p>
            <a:r>
              <a:rPr lang="en-US" altLang="zh-CN">
                <a:sym typeface="+mn-ea"/>
              </a:rPr>
              <a:t>3.</a:t>
            </a:r>
            <a:r>
              <a:rPr lang="zh-CN" altLang="en-US">
                <a:sym typeface="+mn-ea"/>
              </a:rPr>
              <a:t>针对特定</a:t>
            </a:r>
            <a:r>
              <a:rPr lang="en-US" altLang="zh-CN">
                <a:sym typeface="+mn-ea"/>
              </a:rPr>
              <a:t>mux</a:t>
            </a:r>
            <a:endParaRPr lang="en-US" altLang="zh-CN"/>
          </a:p>
          <a:p>
            <a:r>
              <a:rPr lang="zh-CN" altLang="en-US">
                <a:sym typeface="+mn-ea"/>
              </a:rPr>
              <a:t>如果某个</a:t>
            </a:r>
            <a:r>
              <a:rPr lang="en-US" altLang="zh-CN">
                <a:sym typeface="+mn-ea"/>
              </a:rPr>
              <a:t>flow</a:t>
            </a:r>
            <a:r>
              <a:rPr lang="zh-CN" altLang="en-US">
                <a:sym typeface="+mn-ea"/>
              </a:rPr>
              <a:t>的结果用于</a:t>
            </a:r>
            <a:r>
              <a:rPr lang="en-US" altLang="zh-CN">
                <a:sym typeface="+mn-ea"/>
              </a:rPr>
              <a:t>mux</a:t>
            </a:r>
            <a:r>
              <a:rPr lang="zh-CN" altLang="en-US">
                <a:sym typeface="+mn-ea"/>
              </a:rPr>
              <a:t>，在某些条件下才使用这个结果，则可以在</a:t>
            </a:r>
            <a:r>
              <a:rPr lang="en-US" altLang="zh-CN">
                <a:sym typeface="+mn-ea"/>
              </a:rPr>
              <a:t>flow</a:t>
            </a:r>
            <a:r>
              <a:rPr lang="zh-CN" altLang="en-US">
                <a:sym typeface="+mn-ea"/>
              </a:rPr>
              <a:t>的最上游往后面都加上相应的</a:t>
            </a:r>
            <a:r>
              <a:rPr lang="en-US" altLang="zh-CN">
                <a:sym typeface="+mn-ea"/>
              </a:rPr>
              <a:t>latch enable</a:t>
            </a:r>
            <a:r>
              <a:rPr lang="zh-CN" altLang="en-US">
                <a:sym typeface="+mn-ea"/>
              </a:rPr>
              <a:t>条件，使得只有在这些条件下才让这个</a:t>
            </a:r>
            <a:r>
              <a:rPr lang="en-US" altLang="zh-CN">
                <a:sym typeface="+mn-ea"/>
              </a:rPr>
              <a:t>flow</a:t>
            </a:r>
            <a:r>
              <a:rPr lang="zh-CN" altLang="en-US">
                <a:sym typeface="+mn-ea"/>
              </a:rPr>
              <a:t>工作。这种做法对</a:t>
            </a:r>
            <a:r>
              <a:rPr lang="en-US" altLang="zh-CN">
                <a:sym typeface="+mn-ea"/>
              </a:rPr>
              <a:t>power</a:t>
            </a:r>
            <a:r>
              <a:rPr lang="zh-CN" altLang="en-US">
                <a:sym typeface="+mn-ea"/>
              </a:rPr>
              <a:t>优化最明显。</a:t>
            </a:r>
            <a:endParaRPr lang="zh-CN" altLang="en-US">
              <a:sym typeface="+mn-ea"/>
            </a:endParaRPr>
          </a:p>
          <a:p>
            <a:endParaRPr lang="zh-CN" altLang="en-US"/>
          </a:p>
          <a:p>
            <a:r>
              <a:rPr lang="zh-CN" altLang="en-US">
                <a:sym typeface="+mn-ea"/>
              </a:rPr>
              <a:t>对于乘法器等运算单元，可以用某些条件做操作数隔离，但是最好这种条件是寄存器输出，避免</a:t>
            </a:r>
            <a:r>
              <a:rPr lang="en-US" altLang="zh-CN">
                <a:sym typeface="+mn-ea"/>
              </a:rPr>
              <a:t>glitch</a:t>
            </a:r>
            <a:r>
              <a:rPr lang="zh-CN" altLang="en-US">
                <a:sym typeface="+mn-ea"/>
              </a:rPr>
              <a:t>。</a:t>
            </a:r>
            <a:endParaRPr lang="zh-CN" altLang="en-US">
              <a:sym typeface="+mn-ea"/>
            </a:endParaRPr>
          </a:p>
          <a:p>
            <a:endParaRPr lang="zh-CN" altLang="en-US"/>
          </a:p>
          <a:p>
            <a:r>
              <a:rPr lang="zh-CN" altLang="en-US">
                <a:sym typeface="+mn-ea"/>
              </a:rPr>
              <a:t>对于上面提到的</a:t>
            </a:r>
            <a:r>
              <a:rPr lang="en-US" altLang="zh-CN">
                <a:sym typeface="+mn-ea"/>
              </a:rPr>
              <a:t>if(Q!=D)</a:t>
            </a:r>
            <a:r>
              <a:rPr lang="zh-CN" altLang="en-US">
                <a:sym typeface="+mn-ea"/>
              </a:rPr>
              <a:t>作为</a:t>
            </a:r>
            <a:r>
              <a:rPr lang="en-US" altLang="zh-CN">
                <a:sym typeface="+mn-ea"/>
              </a:rPr>
              <a:t>latch enable</a:t>
            </a:r>
            <a:r>
              <a:rPr lang="zh-CN" altLang="en-US">
                <a:sym typeface="+mn-ea"/>
              </a:rPr>
              <a:t>条件的方法，当多位寄存器位宽较大时，可以适当拆开做</a:t>
            </a:r>
            <a:r>
              <a:rPr lang="en-US" altLang="zh-CN">
                <a:sym typeface="+mn-ea"/>
              </a:rPr>
              <a:t>latch enable</a:t>
            </a:r>
            <a:r>
              <a:rPr lang="zh-CN" altLang="en-US">
                <a:sym typeface="+mn-ea"/>
              </a:rPr>
              <a:t>条件，这样</a:t>
            </a:r>
            <a:r>
              <a:rPr lang="en-US" altLang="zh-CN">
                <a:sym typeface="+mn-ea"/>
              </a:rPr>
              <a:t>clk gate</a:t>
            </a:r>
            <a:r>
              <a:rPr lang="zh-CN" altLang="en-US">
                <a:sym typeface="+mn-ea"/>
              </a:rPr>
              <a:t>的几率会大一些，</a:t>
            </a:r>
            <a:r>
              <a:rPr lang="en-US" altLang="zh-CN">
                <a:sym typeface="+mn-ea"/>
              </a:rPr>
              <a:t>power</a:t>
            </a:r>
            <a:r>
              <a:rPr lang="zh-CN" altLang="en-US">
                <a:sym typeface="+mn-ea"/>
              </a:rPr>
              <a:t>优化效果可能会更好。</a:t>
            </a:r>
            <a:endParaRPr lang="zh-CN" altLang="en-US"/>
          </a:p>
          <a:p>
            <a:endParaRPr lang="zh-CN" altLang="en-US"/>
          </a:p>
        </p:txBody>
      </p:sp>
      <p:sp>
        <p:nvSpPr>
          <p:cNvPr id="8" name="文本框 7"/>
          <p:cNvSpPr txBox="1"/>
          <p:nvPr/>
        </p:nvSpPr>
        <p:spPr>
          <a:xfrm>
            <a:off x="2701290" y="449580"/>
            <a:ext cx="3048000" cy="368300"/>
          </a:xfrm>
          <a:prstGeom prst="rect">
            <a:avLst/>
          </a:prstGeom>
          <a:noFill/>
        </p:spPr>
        <p:txBody>
          <a:bodyPr wrap="square" rtlCol="0">
            <a:spAutoFit/>
          </a:bodyPr>
          <a:p>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5" name="内容占位符 2"/>
          <p:cNvSpPr>
            <a:spLocks noGrp="1"/>
          </p:cNvSpPr>
          <p:nvPr/>
        </p:nvSpPr>
        <p:spPr>
          <a:xfrm>
            <a:off x="593090" y="683895"/>
            <a:ext cx="7979410" cy="3790315"/>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p>
        </p:txBody>
      </p:sp>
      <p:sp>
        <p:nvSpPr>
          <p:cNvPr id="7" name="文本框 6"/>
          <p:cNvSpPr txBox="1"/>
          <p:nvPr/>
        </p:nvSpPr>
        <p:spPr>
          <a:xfrm>
            <a:off x="593090" y="683895"/>
            <a:ext cx="7840345" cy="3789680"/>
          </a:xfrm>
          <a:prstGeom prst="rect">
            <a:avLst/>
          </a:prstGeom>
          <a:noFill/>
        </p:spPr>
        <p:txBody>
          <a:bodyPr wrap="square" rtlCol="0">
            <a:noAutofit/>
          </a:bodyPr>
          <a:p>
            <a:r>
              <a:rPr lang="en-US" altLang="zh-CN"/>
              <a:t>4.sram</a:t>
            </a:r>
            <a:endParaRPr lang="en-US" altLang="zh-CN"/>
          </a:p>
          <a:p>
            <a:r>
              <a:rPr lang="zh-CN" altLang="en-US"/>
              <a:t>将</a:t>
            </a:r>
            <a:r>
              <a:rPr lang="en-US" altLang="zh-CN"/>
              <a:t>sram body</a:t>
            </a:r>
            <a:r>
              <a:rPr lang="zh-CN" altLang="en-US"/>
              <a:t>的时钟根据</a:t>
            </a:r>
            <a:r>
              <a:rPr lang="en-US" altLang="zh-CN"/>
              <a:t>dft/bist</a:t>
            </a:r>
            <a:r>
              <a:rPr lang="zh-CN" altLang="en-US"/>
              <a:t>以及读写等条件做相应的</a:t>
            </a:r>
            <a:r>
              <a:rPr lang="en-US" altLang="zh-CN"/>
              <a:t>clk gate</a:t>
            </a:r>
            <a:r>
              <a:rPr lang="zh-CN" altLang="en-US"/>
              <a:t>，这对</a:t>
            </a:r>
            <a:r>
              <a:rPr lang="en-US" altLang="zh-CN"/>
              <a:t>bist</a:t>
            </a:r>
            <a:r>
              <a:rPr lang="zh-CN" altLang="en-US"/>
              <a:t>相关逻辑以及</a:t>
            </a:r>
            <a:r>
              <a:rPr lang="en-US" altLang="zh-CN"/>
              <a:t>sram</a:t>
            </a:r>
            <a:r>
              <a:rPr lang="zh-CN" altLang="en-US"/>
              <a:t>本身的</a:t>
            </a:r>
            <a:r>
              <a:rPr lang="en-US" altLang="zh-CN"/>
              <a:t>power</a:t>
            </a:r>
            <a:r>
              <a:rPr lang="zh-CN" altLang="en-US"/>
              <a:t>都有好处。</a:t>
            </a:r>
            <a:endParaRPr lang="zh-CN" altLang="en-US"/>
          </a:p>
          <a:p>
            <a:r>
              <a:rPr lang="zh-CN" altLang="en-US"/>
              <a:t>如果双端</a:t>
            </a:r>
            <a:r>
              <a:rPr lang="en-US" altLang="zh-CN"/>
              <a:t>SRAM</a:t>
            </a:r>
            <a:r>
              <a:rPr lang="zh-CN" altLang="en-US"/>
              <a:t>的读写</a:t>
            </a:r>
            <a:r>
              <a:rPr lang="en-US" altLang="zh-CN"/>
              <a:t>clock</a:t>
            </a:r>
            <a:r>
              <a:rPr lang="zh-CN" altLang="en-US"/>
              <a:t>是异步的，那么</a:t>
            </a:r>
            <a:r>
              <a:rPr lang="en-US" altLang="zh-CN"/>
              <a:t>bist_clk</a:t>
            </a:r>
            <a:r>
              <a:rPr lang="zh-CN" altLang="en-US"/>
              <a:t>和</a:t>
            </a:r>
            <a:r>
              <a:rPr lang="en-US" altLang="zh-CN"/>
              <a:t>bp_clk</a:t>
            </a:r>
            <a:r>
              <a:rPr lang="zh-CN" altLang="en-US"/>
              <a:t>需要选择频率较快的那一个</a:t>
            </a:r>
            <a:r>
              <a:rPr lang="en-US" altLang="zh-CN"/>
              <a:t>clock</a:t>
            </a:r>
            <a:r>
              <a:rPr lang="zh-CN" altLang="en-US"/>
              <a:t>。</a:t>
            </a:r>
            <a:endParaRPr lang="zh-CN" altLang="en-US"/>
          </a:p>
          <a:p>
            <a:endParaRPr lang="zh-CN" altLang="en-US"/>
          </a:p>
          <a:p>
            <a:endParaRPr lang="zh-CN" altLang="en-US"/>
          </a:p>
          <a:p>
            <a:endParaRPr lang="zh-CN" altLang="en-US"/>
          </a:p>
          <a:p>
            <a:endParaRPr lang="zh-CN" altLang="en-US"/>
          </a:p>
          <a:p>
            <a:r>
              <a:rPr lang="zh-CN" altLang="en-US"/>
              <a:t>将</a:t>
            </a:r>
            <a:r>
              <a:rPr lang="en-US" altLang="zh-CN"/>
              <a:t>sram</a:t>
            </a:r>
            <a:r>
              <a:rPr lang="zh-CN" altLang="en-US"/>
              <a:t>的地址改用格雷码，这样每次只会有一个</a:t>
            </a:r>
            <a:r>
              <a:rPr lang="en-US" altLang="zh-CN"/>
              <a:t>bit</a:t>
            </a:r>
            <a:r>
              <a:rPr lang="zh-CN" altLang="en-US"/>
              <a:t>变化，避免出现</a:t>
            </a:r>
            <a:r>
              <a:rPr lang="en-US" altLang="zh-CN"/>
              <a:t>glith</a:t>
            </a:r>
            <a:r>
              <a:rPr lang="zh-CN" altLang="en-US"/>
              <a:t>。</a:t>
            </a:r>
            <a:endParaRPr lang="zh-CN" altLang="en-US"/>
          </a:p>
          <a:p>
            <a:endParaRPr lang="zh-CN" altLang="en-US"/>
          </a:p>
          <a:p>
            <a:r>
              <a:rPr lang="zh-CN" altLang="en-US"/>
              <a:t>如果</a:t>
            </a:r>
            <a:r>
              <a:rPr lang="en-US" altLang="zh-CN"/>
              <a:t>sram</a:t>
            </a:r>
            <a:r>
              <a:rPr lang="zh-CN" altLang="en-US"/>
              <a:t>深度较</a:t>
            </a:r>
            <a:r>
              <a:rPr lang="zh-CN" altLang="en-US"/>
              <a:t>大，可以将</a:t>
            </a:r>
            <a:r>
              <a:rPr lang="en-US" altLang="zh-CN"/>
              <a:t>sram</a:t>
            </a:r>
            <a:r>
              <a:rPr lang="zh-CN" altLang="en-US"/>
              <a:t>拆成宽度不变，深度变短的多个</a:t>
            </a:r>
            <a:r>
              <a:rPr lang="en-US" altLang="zh-CN"/>
              <a:t>sram</a:t>
            </a:r>
            <a:r>
              <a:rPr lang="zh-CN" altLang="en-US"/>
              <a:t>。</a:t>
            </a:r>
            <a:endParaRPr lang="zh-CN" altLang="en-US"/>
          </a:p>
        </p:txBody>
      </p:sp>
      <p:pic>
        <p:nvPicPr>
          <p:cNvPr id="12" name="图片 2"/>
          <p:cNvPicPr>
            <a:picLocks noChangeAspect="1"/>
          </p:cNvPicPr>
          <p:nvPr/>
        </p:nvPicPr>
        <p:blipFill>
          <a:blip r:embed="rId2"/>
          <a:stretch>
            <a:fillRect/>
          </a:stretch>
        </p:blipFill>
        <p:spPr>
          <a:xfrm>
            <a:off x="1692275" y="2149793"/>
            <a:ext cx="5759450" cy="857885"/>
          </a:xfrm>
          <a:prstGeom prst="rect">
            <a:avLst/>
          </a:prstGeom>
          <a:noFill/>
          <a:ln>
            <a:noFill/>
          </a:ln>
        </p:spPr>
      </p:pic>
      <p:sp>
        <p:nvSpPr>
          <p:cNvPr id="3" name="Text 0"/>
          <p:cNvSpPr/>
          <p:nvPr/>
        </p:nvSpPr>
        <p:spPr>
          <a:xfrm>
            <a:off x="28448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总结</a:t>
            </a:r>
            <a:endParaRPr lang="zh-CN" altLang="en-US" sz="1730" b="1"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153352" y="1208867"/>
            <a:ext cx="1646234" cy="1442085"/>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7200" b="1"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04</a:t>
            </a:r>
            <a:endParaRPr lang="en-US" sz="1440" dirty="0"/>
          </a:p>
        </p:txBody>
      </p:sp>
      <p:sp>
        <p:nvSpPr>
          <p:cNvPr id="3" name="Text 1"/>
          <p:cNvSpPr/>
          <p:nvPr/>
        </p:nvSpPr>
        <p:spPr>
          <a:xfrm>
            <a:off x="3831779" y="2571750"/>
            <a:ext cx="3897443" cy="640080"/>
          </a:xfrm>
          <a:prstGeom prst="rect">
            <a:avLst/>
          </a:prstGeom>
          <a:noFill/>
        </p:spPr>
        <p:txBody>
          <a:bodyPr wrap="square" lIns="95250" tIns="95250" rIns="95250" bIns="95250" rtlCol="0" anchor="t">
            <a:spAutoFit/>
          </a:bodyPr>
          <a:lstStyle/>
          <a:p>
            <a:pPr marL="0" indent="457200" algn="r">
              <a:lnSpc>
                <a:spcPct val="113000"/>
              </a:lnSpc>
              <a:spcBef>
                <a:spcPts val="375"/>
              </a:spcBef>
              <a:buNone/>
            </a:pPr>
            <a:r>
              <a:rPr lang="en-US" altLang="zh-CN" sz="2590" dirty="0">
                <a:latin typeface="微软雅黑" panose="020B0503020204020204" pitchFamily="34" charset="-122"/>
                <a:ea typeface="微软雅黑" panose="020B0503020204020204" pitchFamily="34" charset="-122"/>
                <a:sym typeface="+mn-ea"/>
              </a:rPr>
              <a:t>UPF</a:t>
            </a:r>
            <a:r>
              <a:rPr lang="zh-CN" altLang="en-US" sz="2590" dirty="0">
                <a:latin typeface="微软雅黑" panose="020B0503020204020204" pitchFamily="34" charset="-122"/>
                <a:ea typeface="微软雅黑" panose="020B0503020204020204" pitchFamily="34" charset="-122"/>
                <a:sym typeface="+mn-ea"/>
              </a:rPr>
              <a:t>介绍</a:t>
            </a:r>
            <a:endParaRPr lang="zh-CN" altLang="en-US" sz="2590" b="1"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3" name="Text 0"/>
          <p:cNvSpPr/>
          <p:nvPr/>
        </p:nvSpPr>
        <p:spPr>
          <a:xfrm>
            <a:off x="556260" y="300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en-US" altLang="zh-CN" sz="1730" b="1" dirty="0">
              <a:latin typeface="微软雅黑" panose="020B0503020204020204" pitchFamily="34" charset="-122"/>
              <a:ea typeface="微软雅黑" panose="020B0503020204020204" pitchFamily="34" charset="-122"/>
              <a:sym typeface="+mn-ea"/>
            </a:endParaRPr>
          </a:p>
        </p:txBody>
      </p:sp>
      <p:sp>
        <p:nvSpPr>
          <p:cNvPr id="5" name="内容占位符 2"/>
          <p:cNvSpPr>
            <a:spLocks noGrp="1"/>
          </p:cNvSpPr>
          <p:nvPr/>
        </p:nvSpPr>
        <p:spPr>
          <a:xfrm>
            <a:off x="608330" y="794385"/>
            <a:ext cx="7957185" cy="377571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p>
        </p:txBody>
      </p:sp>
      <p:sp>
        <p:nvSpPr>
          <p:cNvPr id="6" name="Text 0"/>
          <p:cNvSpPr/>
          <p:nvPr/>
        </p:nvSpPr>
        <p:spPr>
          <a:xfrm>
            <a:off x="28448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en-US" altLang="zh-CN" sz="1730" b="1" dirty="0">
                <a:latin typeface="微软雅黑" panose="020B0503020204020204" pitchFamily="34" charset="-122"/>
                <a:ea typeface="微软雅黑" panose="020B0503020204020204" pitchFamily="34" charset="-122"/>
                <a:sym typeface="+mn-ea"/>
              </a:rPr>
              <a:t>UPF</a:t>
            </a:r>
            <a:r>
              <a:rPr lang="zh-CN" altLang="en-US" sz="1730" b="1" dirty="0">
                <a:latin typeface="微软雅黑" panose="020B0503020204020204" pitchFamily="34" charset="-122"/>
                <a:ea typeface="微软雅黑" panose="020B0503020204020204" pitchFamily="34" charset="-122"/>
                <a:sym typeface="+mn-ea"/>
              </a:rPr>
              <a:t>简介</a:t>
            </a:r>
            <a:endParaRPr lang="zh-CN" altLang="en-US" sz="1730" b="1" dirty="0">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684530" y="682625"/>
            <a:ext cx="7880985" cy="3891915"/>
          </a:xfrm>
          <a:prstGeom prst="rect">
            <a:avLst/>
          </a:prstGeom>
          <a:noFill/>
        </p:spPr>
        <p:txBody>
          <a:bodyPr wrap="square" rtlCol="0">
            <a:noAutofit/>
          </a:bodyPr>
          <a:p>
            <a:r>
              <a:rPr lang="en-US" altLang="zh-CN"/>
              <a:t>UPF</a:t>
            </a:r>
            <a:r>
              <a:rPr lang="zh-CN" altLang="en-US"/>
              <a:t>，</a:t>
            </a:r>
            <a:r>
              <a:rPr lang="en-US" altLang="zh-CN"/>
              <a:t> </a:t>
            </a:r>
            <a:r>
              <a:rPr lang="zh-CN" altLang="en-US"/>
              <a:t>统一电源格式</a:t>
            </a:r>
            <a:r>
              <a:rPr lang="en-US" altLang="zh-CN"/>
              <a:t>UPF(Unified Power Format)</a:t>
            </a:r>
            <a:r>
              <a:rPr lang="zh-CN" altLang="en-US"/>
              <a:t>是</a:t>
            </a:r>
            <a:r>
              <a:rPr lang="en-US" altLang="zh-CN"/>
              <a:t>EDA</a:t>
            </a:r>
            <a:r>
              <a:rPr lang="zh-CN" altLang="en-US"/>
              <a:t>工具</a:t>
            </a:r>
            <a:r>
              <a:rPr lang="zh-CN" altLang="en-US"/>
              <a:t>中通用的电源格式，是一组标准的类</a:t>
            </a:r>
            <a:r>
              <a:rPr lang="en-US" altLang="zh-CN"/>
              <a:t>Tcl </a:t>
            </a:r>
            <a:r>
              <a:rPr lang="zh-CN" altLang="en-US"/>
              <a:t>语言的集合，用来描述芯片设计中的低功耗意图（</a:t>
            </a:r>
            <a:r>
              <a:rPr lang="en-US" altLang="zh-CN"/>
              <a:t>Low-Power Design Intent</a:t>
            </a:r>
            <a:r>
              <a:rPr lang="zh-CN" altLang="en-US"/>
              <a:t>）。</a:t>
            </a:r>
            <a:endParaRPr lang="zh-CN" altLang="en-US"/>
          </a:p>
          <a:p>
            <a:r>
              <a:rPr lang="en-US" altLang="zh-CN"/>
              <a:t>UPF</a:t>
            </a:r>
            <a:r>
              <a:rPr lang="zh-CN" altLang="en-US"/>
              <a:t>的作用是基于工具命令语言</a:t>
            </a:r>
            <a:r>
              <a:rPr lang="en-US" altLang="zh-CN"/>
              <a:t>(tcl)</a:t>
            </a:r>
            <a:r>
              <a:rPr lang="zh-CN" altLang="en-US"/>
              <a:t>把功耗设计意图（</a:t>
            </a:r>
            <a:r>
              <a:rPr lang="en-US" altLang="zh-CN"/>
              <a:t>power intent</a:t>
            </a:r>
            <a:r>
              <a:rPr lang="zh-CN" altLang="en-US"/>
              <a:t>）传递给</a:t>
            </a:r>
            <a:r>
              <a:rPr lang="en-US" altLang="zh-CN"/>
              <a:t>EDA</a:t>
            </a:r>
            <a:r>
              <a:rPr lang="zh-CN" altLang="en-US"/>
              <a:t>工具，从而帮助实现物理设计。</a:t>
            </a:r>
            <a:endParaRPr lang="zh-CN" altLang="en-US"/>
          </a:p>
          <a:p>
            <a:endParaRPr lang="zh-CN" altLang="en-US"/>
          </a:p>
          <a:p>
            <a:endParaRPr lang="zh-CN" altLang="en-US">
              <a:highlight>
                <a:srgbClr val="FFFF00"/>
              </a:highlight>
            </a:endParaRPr>
          </a:p>
        </p:txBody>
      </p:sp>
      <p:sp>
        <p:nvSpPr>
          <p:cNvPr id="11" name="object 45"/>
          <p:cNvSpPr txBox="1"/>
          <p:nvPr/>
        </p:nvSpPr>
        <p:spPr>
          <a:xfrm>
            <a:off x="2657602" y="2902919"/>
            <a:ext cx="490220" cy="631825"/>
          </a:xfrm>
          <a:prstGeom prst="rect">
            <a:avLst/>
          </a:prstGeom>
        </p:spPr>
        <p:txBody>
          <a:bodyPr vert="horz" wrap="square" lIns="0" tIns="91440" rIns="0" bIns="0" rtlCol="0">
            <a:spAutoFit/>
          </a:bodyPr>
          <a:lstStyle/>
          <a:p>
            <a:pPr marL="81280">
              <a:lnSpc>
                <a:spcPct val="100000"/>
              </a:lnSpc>
              <a:spcBef>
                <a:spcPts val="720"/>
              </a:spcBef>
            </a:pPr>
            <a:r>
              <a:rPr sz="1600" spc="-25" dirty="0">
                <a:solidFill>
                  <a:srgbClr val="FEFEFE"/>
                </a:solidFill>
                <a:latin typeface="Calibri" panose="020F0502020204030204"/>
                <a:cs typeface="Calibri" panose="020F0502020204030204"/>
              </a:rPr>
              <a:t>UPF</a:t>
            </a:r>
            <a:endParaRPr sz="1600">
              <a:latin typeface="Calibri" panose="020F0502020204030204"/>
              <a:cs typeface="Calibri" panose="020F0502020204030204"/>
            </a:endParaRPr>
          </a:p>
          <a:p>
            <a:pPr marL="12700">
              <a:lnSpc>
                <a:spcPct val="100000"/>
              </a:lnSpc>
              <a:spcBef>
                <a:spcPts val="550"/>
              </a:spcBef>
            </a:pPr>
            <a:r>
              <a:rPr sz="1400" spc="-10" dirty="0">
                <a:solidFill>
                  <a:srgbClr val="FEFEFE"/>
                </a:solidFill>
                <a:latin typeface="Calibri" panose="020F0502020204030204"/>
                <a:cs typeface="Calibri" panose="020F0502020204030204"/>
              </a:rPr>
              <a:t>power</a:t>
            </a:r>
            <a:endParaRPr sz="1400">
              <a:latin typeface="Calibri" panose="020F0502020204030204"/>
              <a:cs typeface="Calibri" panose="020F0502020204030204"/>
            </a:endParaRPr>
          </a:p>
        </p:txBody>
      </p:sp>
      <p:sp>
        <p:nvSpPr>
          <p:cNvPr id="15" name="object 49"/>
          <p:cNvSpPr txBox="1"/>
          <p:nvPr/>
        </p:nvSpPr>
        <p:spPr>
          <a:xfrm>
            <a:off x="2133980" y="3795836"/>
            <a:ext cx="486409" cy="630555"/>
          </a:xfrm>
          <a:prstGeom prst="rect">
            <a:avLst/>
          </a:prstGeom>
        </p:spPr>
        <p:txBody>
          <a:bodyPr vert="horz" wrap="square" lIns="0" tIns="90170" rIns="0" bIns="0" rtlCol="0">
            <a:spAutoFit/>
          </a:bodyPr>
          <a:lstStyle/>
          <a:p>
            <a:pPr marL="79375">
              <a:lnSpc>
                <a:spcPct val="100000"/>
              </a:lnSpc>
              <a:spcBef>
                <a:spcPts val="710"/>
              </a:spcBef>
            </a:pPr>
            <a:r>
              <a:rPr sz="1600" spc="-25" dirty="0">
                <a:solidFill>
                  <a:srgbClr val="FEFEFE"/>
                </a:solidFill>
                <a:latin typeface="Calibri" panose="020F0502020204030204"/>
                <a:cs typeface="Calibri" panose="020F0502020204030204"/>
              </a:rPr>
              <a:t>SDC</a:t>
            </a:r>
            <a:endParaRPr sz="1600">
              <a:latin typeface="Calibri" panose="020F0502020204030204"/>
              <a:cs typeface="Calibri" panose="020F0502020204030204"/>
            </a:endParaRPr>
          </a:p>
          <a:p>
            <a:pPr marL="12700">
              <a:lnSpc>
                <a:spcPct val="100000"/>
              </a:lnSpc>
              <a:spcBef>
                <a:spcPts val="550"/>
              </a:spcBef>
            </a:pPr>
            <a:r>
              <a:rPr sz="1400" spc="-10" dirty="0">
                <a:solidFill>
                  <a:srgbClr val="FEFEFE"/>
                </a:solidFill>
                <a:latin typeface="Calibri" panose="020F0502020204030204"/>
                <a:cs typeface="Calibri" panose="020F0502020204030204"/>
              </a:rPr>
              <a:t>timing</a:t>
            </a:r>
            <a:endParaRPr sz="1400">
              <a:latin typeface="Calibri" panose="020F0502020204030204"/>
              <a:cs typeface="Calibri" panose="020F0502020204030204"/>
            </a:endParaRPr>
          </a:p>
        </p:txBody>
      </p:sp>
      <p:pic>
        <p:nvPicPr>
          <p:cNvPr id="20" name="图片 19"/>
          <p:cNvPicPr>
            <a:picLocks noChangeAspect="1"/>
          </p:cNvPicPr>
          <p:nvPr/>
        </p:nvPicPr>
        <p:blipFill>
          <a:blip r:embed="rId2"/>
          <a:stretch>
            <a:fillRect/>
          </a:stretch>
        </p:blipFill>
        <p:spPr>
          <a:xfrm>
            <a:off x="5897880" y="2309495"/>
            <a:ext cx="1640840" cy="2117090"/>
          </a:xfrm>
          <a:prstGeom prst="rect">
            <a:avLst/>
          </a:prstGeom>
        </p:spPr>
      </p:pic>
      <p:grpSp>
        <p:nvGrpSpPr>
          <p:cNvPr id="25" name="object 42"/>
          <p:cNvGrpSpPr/>
          <p:nvPr/>
        </p:nvGrpSpPr>
        <p:grpSpPr>
          <a:xfrm>
            <a:off x="2527299" y="2332735"/>
            <a:ext cx="1021080" cy="1525270"/>
            <a:chOff x="1986279" y="2781045"/>
            <a:chExt cx="1021080" cy="1525270"/>
          </a:xfrm>
        </p:grpSpPr>
        <p:sp>
          <p:nvSpPr>
            <p:cNvPr id="26" name="object 43"/>
            <p:cNvSpPr/>
            <p:nvPr/>
          </p:nvSpPr>
          <p:spPr>
            <a:xfrm>
              <a:off x="1992629" y="2787395"/>
              <a:ext cx="1008380" cy="1512570"/>
            </a:xfrm>
            <a:custGeom>
              <a:avLst/>
              <a:gdLst/>
              <a:ahLst/>
              <a:cxnLst/>
              <a:rect l="l" t="t" r="r" b="b"/>
              <a:pathLst>
                <a:path w="1008380" h="1512570">
                  <a:moveTo>
                    <a:pt x="0" y="0"/>
                  </a:moveTo>
                  <a:lnTo>
                    <a:pt x="0" y="1008126"/>
                  </a:lnTo>
                  <a:lnTo>
                    <a:pt x="873125" y="1512189"/>
                  </a:lnTo>
                  <a:lnTo>
                    <a:pt x="896192" y="1469895"/>
                  </a:lnTo>
                  <a:lnTo>
                    <a:pt x="917166" y="1426659"/>
                  </a:lnTo>
                  <a:lnTo>
                    <a:pt x="936024" y="1382560"/>
                  </a:lnTo>
                  <a:lnTo>
                    <a:pt x="952745" y="1337675"/>
                  </a:lnTo>
                  <a:lnTo>
                    <a:pt x="967307" y="1292084"/>
                  </a:lnTo>
                  <a:lnTo>
                    <a:pt x="979689" y="1245866"/>
                  </a:lnTo>
                  <a:lnTo>
                    <a:pt x="989868" y="1199100"/>
                  </a:lnTo>
                  <a:lnTo>
                    <a:pt x="997823" y="1151863"/>
                  </a:lnTo>
                  <a:lnTo>
                    <a:pt x="1003532" y="1104236"/>
                  </a:lnTo>
                  <a:lnTo>
                    <a:pt x="1006974" y="1056298"/>
                  </a:lnTo>
                  <a:lnTo>
                    <a:pt x="1008126" y="1008126"/>
                  </a:lnTo>
                  <a:lnTo>
                    <a:pt x="1006963" y="959281"/>
                  </a:lnTo>
                  <a:lnTo>
                    <a:pt x="1003511" y="911037"/>
                  </a:lnTo>
                  <a:lnTo>
                    <a:pt x="997821" y="863445"/>
                  </a:lnTo>
                  <a:lnTo>
                    <a:pt x="989947" y="816559"/>
                  </a:lnTo>
                  <a:lnTo>
                    <a:pt x="979942" y="770432"/>
                  </a:lnTo>
                  <a:lnTo>
                    <a:pt x="967858" y="725115"/>
                  </a:lnTo>
                  <a:lnTo>
                    <a:pt x="953749" y="680663"/>
                  </a:lnTo>
                  <a:lnTo>
                    <a:pt x="937666" y="637127"/>
                  </a:lnTo>
                  <a:lnTo>
                    <a:pt x="919663" y="594561"/>
                  </a:lnTo>
                  <a:lnTo>
                    <a:pt x="899793" y="553017"/>
                  </a:lnTo>
                  <a:lnTo>
                    <a:pt x="878108" y="512548"/>
                  </a:lnTo>
                  <a:lnTo>
                    <a:pt x="854662" y="473208"/>
                  </a:lnTo>
                  <a:lnTo>
                    <a:pt x="829506" y="435048"/>
                  </a:lnTo>
                  <a:lnTo>
                    <a:pt x="802694" y="398122"/>
                  </a:lnTo>
                  <a:lnTo>
                    <a:pt x="774279" y="362483"/>
                  </a:lnTo>
                  <a:lnTo>
                    <a:pt x="744314" y="328183"/>
                  </a:lnTo>
                  <a:lnTo>
                    <a:pt x="712851" y="295274"/>
                  </a:lnTo>
                  <a:lnTo>
                    <a:pt x="679942" y="263811"/>
                  </a:lnTo>
                  <a:lnTo>
                    <a:pt x="645642" y="233846"/>
                  </a:lnTo>
                  <a:lnTo>
                    <a:pt x="610003" y="205431"/>
                  </a:lnTo>
                  <a:lnTo>
                    <a:pt x="573077" y="178619"/>
                  </a:lnTo>
                  <a:lnTo>
                    <a:pt x="534917" y="153463"/>
                  </a:lnTo>
                  <a:lnTo>
                    <a:pt x="495577" y="130017"/>
                  </a:lnTo>
                  <a:lnTo>
                    <a:pt x="455108" y="108332"/>
                  </a:lnTo>
                  <a:lnTo>
                    <a:pt x="413564" y="88462"/>
                  </a:lnTo>
                  <a:lnTo>
                    <a:pt x="370998" y="70459"/>
                  </a:lnTo>
                  <a:lnTo>
                    <a:pt x="327462" y="54376"/>
                  </a:lnTo>
                  <a:lnTo>
                    <a:pt x="283010" y="40267"/>
                  </a:lnTo>
                  <a:lnTo>
                    <a:pt x="237693" y="28183"/>
                  </a:lnTo>
                  <a:lnTo>
                    <a:pt x="191566" y="18178"/>
                  </a:lnTo>
                  <a:lnTo>
                    <a:pt x="144680" y="10304"/>
                  </a:lnTo>
                  <a:lnTo>
                    <a:pt x="97088" y="4614"/>
                  </a:lnTo>
                  <a:lnTo>
                    <a:pt x="48844" y="1162"/>
                  </a:lnTo>
                  <a:lnTo>
                    <a:pt x="0" y="0"/>
                  </a:lnTo>
                  <a:close/>
                </a:path>
              </a:pathLst>
            </a:custGeom>
            <a:solidFill>
              <a:srgbClr val="68BD27"/>
            </a:solidFill>
          </p:spPr>
          <p:txBody>
            <a:bodyPr wrap="square" lIns="0" tIns="0" rIns="0" bIns="0" rtlCol="0"/>
            <a:lstStyle/>
            <a:p/>
          </p:txBody>
        </p:sp>
        <p:sp>
          <p:nvSpPr>
            <p:cNvPr id="27" name="object 44"/>
            <p:cNvSpPr/>
            <p:nvPr/>
          </p:nvSpPr>
          <p:spPr>
            <a:xfrm>
              <a:off x="1992629" y="2787395"/>
              <a:ext cx="1008380" cy="1512570"/>
            </a:xfrm>
            <a:custGeom>
              <a:avLst/>
              <a:gdLst/>
              <a:ahLst/>
              <a:cxnLst/>
              <a:rect l="l" t="t" r="r" b="b"/>
              <a:pathLst>
                <a:path w="1008380" h="1512570">
                  <a:moveTo>
                    <a:pt x="0" y="0"/>
                  </a:moveTo>
                  <a:lnTo>
                    <a:pt x="48844" y="1162"/>
                  </a:lnTo>
                  <a:lnTo>
                    <a:pt x="97088" y="4614"/>
                  </a:lnTo>
                  <a:lnTo>
                    <a:pt x="144680" y="10304"/>
                  </a:lnTo>
                  <a:lnTo>
                    <a:pt x="191566" y="18178"/>
                  </a:lnTo>
                  <a:lnTo>
                    <a:pt x="237693" y="28183"/>
                  </a:lnTo>
                  <a:lnTo>
                    <a:pt x="283010" y="40267"/>
                  </a:lnTo>
                  <a:lnTo>
                    <a:pt x="327462" y="54376"/>
                  </a:lnTo>
                  <a:lnTo>
                    <a:pt x="370998" y="70459"/>
                  </a:lnTo>
                  <a:lnTo>
                    <a:pt x="413564" y="88462"/>
                  </a:lnTo>
                  <a:lnTo>
                    <a:pt x="455108" y="108332"/>
                  </a:lnTo>
                  <a:lnTo>
                    <a:pt x="495577" y="130017"/>
                  </a:lnTo>
                  <a:lnTo>
                    <a:pt x="534917" y="153463"/>
                  </a:lnTo>
                  <a:lnTo>
                    <a:pt x="573077" y="178619"/>
                  </a:lnTo>
                  <a:lnTo>
                    <a:pt x="610003" y="205431"/>
                  </a:lnTo>
                  <a:lnTo>
                    <a:pt x="645642" y="233846"/>
                  </a:lnTo>
                  <a:lnTo>
                    <a:pt x="679942" y="263811"/>
                  </a:lnTo>
                  <a:lnTo>
                    <a:pt x="712851" y="295274"/>
                  </a:lnTo>
                  <a:lnTo>
                    <a:pt x="744314" y="328183"/>
                  </a:lnTo>
                  <a:lnTo>
                    <a:pt x="774279" y="362483"/>
                  </a:lnTo>
                  <a:lnTo>
                    <a:pt x="802694" y="398122"/>
                  </a:lnTo>
                  <a:lnTo>
                    <a:pt x="829506" y="435048"/>
                  </a:lnTo>
                  <a:lnTo>
                    <a:pt x="854662" y="473208"/>
                  </a:lnTo>
                  <a:lnTo>
                    <a:pt x="878108" y="512548"/>
                  </a:lnTo>
                  <a:lnTo>
                    <a:pt x="899793" y="553017"/>
                  </a:lnTo>
                  <a:lnTo>
                    <a:pt x="919663" y="594561"/>
                  </a:lnTo>
                  <a:lnTo>
                    <a:pt x="937666" y="637127"/>
                  </a:lnTo>
                  <a:lnTo>
                    <a:pt x="953749" y="680663"/>
                  </a:lnTo>
                  <a:lnTo>
                    <a:pt x="967858" y="725115"/>
                  </a:lnTo>
                  <a:lnTo>
                    <a:pt x="979942" y="770432"/>
                  </a:lnTo>
                  <a:lnTo>
                    <a:pt x="989947" y="816559"/>
                  </a:lnTo>
                  <a:lnTo>
                    <a:pt x="997821" y="863445"/>
                  </a:lnTo>
                  <a:lnTo>
                    <a:pt x="1003511" y="911037"/>
                  </a:lnTo>
                  <a:lnTo>
                    <a:pt x="1006963" y="959281"/>
                  </a:lnTo>
                  <a:lnTo>
                    <a:pt x="1008126" y="1008126"/>
                  </a:lnTo>
                  <a:lnTo>
                    <a:pt x="1006974" y="1056298"/>
                  </a:lnTo>
                  <a:lnTo>
                    <a:pt x="1003532" y="1104236"/>
                  </a:lnTo>
                  <a:lnTo>
                    <a:pt x="997823" y="1151863"/>
                  </a:lnTo>
                  <a:lnTo>
                    <a:pt x="989868" y="1199100"/>
                  </a:lnTo>
                  <a:lnTo>
                    <a:pt x="979689" y="1245866"/>
                  </a:lnTo>
                  <a:lnTo>
                    <a:pt x="967307" y="1292084"/>
                  </a:lnTo>
                  <a:lnTo>
                    <a:pt x="952745" y="1337675"/>
                  </a:lnTo>
                  <a:lnTo>
                    <a:pt x="936024" y="1382560"/>
                  </a:lnTo>
                  <a:lnTo>
                    <a:pt x="917166" y="1426659"/>
                  </a:lnTo>
                  <a:lnTo>
                    <a:pt x="896192" y="1469895"/>
                  </a:lnTo>
                  <a:lnTo>
                    <a:pt x="873125" y="1512189"/>
                  </a:lnTo>
                  <a:lnTo>
                    <a:pt x="0" y="1008126"/>
                  </a:lnTo>
                  <a:lnTo>
                    <a:pt x="0" y="0"/>
                  </a:lnTo>
                  <a:close/>
                </a:path>
              </a:pathLst>
            </a:custGeom>
            <a:ln w="12700">
              <a:solidFill>
                <a:srgbClr val="FEFEFE"/>
              </a:solidFill>
            </a:ln>
          </p:spPr>
          <p:txBody>
            <a:bodyPr wrap="square" lIns="0" tIns="0" rIns="0" bIns="0" rtlCol="0"/>
            <a:lstStyle/>
            <a:p/>
          </p:txBody>
        </p:sp>
      </p:grpSp>
      <p:sp>
        <p:nvSpPr>
          <p:cNvPr id="28" name="object 45"/>
          <p:cNvSpPr txBox="1"/>
          <p:nvPr/>
        </p:nvSpPr>
        <p:spPr>
          <a:xfrm>
            <a:off x="2718562" y="2670509"/>
            <a:ext cx="490220" cy="631825"/>
          </a:xfrm>
          <a:prstGeom prst="rect">
            <a:avLst/>
          </a:prstGeom>
        </p:spPr>
        <p:txBody>
          <a:bodyPr vert="horz" wrap="square" lIns="0" tIns="91440" rIns="0" bIns="0" rtlCol="0">
            <a:spAutoFit/>
          </a:bodyPr>
          <a:lstStyle/>
          <a:p>
            <a:pPr marL="81280">
              <a:lnSpc>
                <a:spcPct val="100000"/>
              </a:lnSpc>
              <a:spcBef>
                <a:spcPts val="720"/>
              </a:spcBef>
            </a:pPr>
            <a:r>
              <a:rPr sz="1600" spc="-25" dirty="0">
                <a:solidFill>
                  <a:srgbClr val="FEFEFE"/>
                </a:solidFill>
                <a:latin typeface="Calibri" panose="020F0502020204030204"/>
                <a:cs typeface="Calibri" panose="020F0502020204030204"/>
              </a:rPr>
              <a:t>UPF</a:t>
            </a:r>
            <a:endParaRPr sz="1600">
              <a:latin typeface="Calibri" panose="020F0502020204030204"/>
              <a:cs typeface="Calibri" panose="020F0502020204030204"/>
            </a:endParaRPr>
          </a:p>
          <a:p>
            <a:pPr marL="12700">
              <a:lnSpc>
                <a:spcPct val="100000"/>
              </a:lnSpc>
              <a:spcBef>
                <a:spcPts val="550"/>
              </a:spcBef>
            </a:pPr>
            <a:r>
              <a:rPr sz="1400" spc="-10" dirty="0">
                <a:solidFill>
                  <a:srgbClr val="FEFEFE"/>
                </a:solidFill>
                <a:latin typeface="Calibri" panose="020F0502020204030204"/>
                <a:cs typeface="Calibri" panose="020F0502020204030204"/>
              </a:rPr>
              <a:t>power</a:t>
            </a:r>
            <a:endParaRPr sz="1400">
              <a:latin typeface="Calibri" panose="020F0502020204030204"/>
              <a:cs typeface="Calibri" panose="020F0502020204030204"/>
            </a:endParaRPr>
          </a:p>
        </p:txBody>
      </p:sp>
      <p:grpSp>
        <p:nvGrpSpPr>
          <p:cNvPr id="29" name="object 46"/>
          <p:cNvGrpSpPr/>
          <p:nvPr/>
        </p:nvGrpSpPr>
        <p:grpSpPr>
          <a:xfrm>
            <a:off x="1618665" y="3397249"/>
            <a:ext cx="1637030" cy="951230"/>
            <a:chOff x="1077645" y="3845559"/>
            <a:chExt cx="1637030" cy="951230"/>
          </a:xfrm>
        </p:grpSpPr>
        <p:sp>
          <p:nvSpPr>
            <p:cNvPr id="30" name="object 47"/>
            <p:cNvSpPr/>
            <p:nvPr/>
          </p:nvSpPr>
          <p:spPr>
            <a:xfrm>
              <a:off x="1083995" y="3851909"/>
              <a:ext cx="1624330" cy="938530"/>
            </a:xfrm>
            <a:custGeom>
              <a:avLst/>
              <a:gdLst/>
              <a:ahLst/>
              <a:cxnLst/>
              <a:rect l="l" t="t" r="r" b="b"/>
              <a:pathLst>
                <a:path w="1624330" h="938529">
                  <a:moveTo>
                    <a:pt x="811860" y="0"/>
                  </a:moveTo>
                  <a:lnTo>
                    <a:pt x="0" y="468731"/>
                  </a:lnTo>
                  <a:lnTo>
                    <a:pt x="25770" y="510836"/>
                  </a:lnTo>
                  <a:lnTo>
                    <a:pt x="53642" y="551415"/>
                  </a:lnTo>
                  <a:lnTo>
                    <a:pt x="83540" y="590396"/>
                  </a:lnTo>
                  <a:lnTo>
                    <a:pt x="115394" y="627709"/>
                  </a:lnTo>
                  <a:lnTo>
                    <a:pt x="149129" y="663281"/>
                  </a:lnTo>
                  <a:lnTo>
                    <a:pt x="184674" y="697040"/>
                  </a:lnTo>
                  <a:lnTo>
                    <a:pt x="221954" y="728916"/>
                  </a:lnTo>
                  <a:lnTo>
                    <a:pt x="260898" y="758835"/>
                  </a:lnTo>
                  <a:lnTo>
                    <a:pt x="301432" y="786727"/>
                  </a:lnTo>
                  <a:lnTo>
                    <a:pt x="343484" y="812520"/>
                  </a:lnTo>
                  <a:lnTo>
                    <a:pt x="385877" y="835583"/>
                  </a:lnTo>
                  <a:lnTo>
                    <a:pt x="428920" y="856249"/>
                  </a:lnTo>
                  <a:lnTo>
                    <a:pt x="472533" y="874539"/>
                  </a:lnTo>
                  <a:lnTo>
                    <a:pt x="516636" y="890475"/>
                  </a:lnTo>
                  <a:lnTo>
                    <a:pt x="561148" y="904079"/>
                  </a:lnTo>
                  <a:lnTo>
                    <a:pt x="605988" y="915373"/>
                  </a:lnTo>
                  <a:lnTo>
                    <a:pt x="651077" y="924377"/>
                  </a:lnTo>
                  <a:lnTo>
                    <a:pt x="696333" y="931114"/>
                  </a:lnTo>
                  <a:lnTo>
                    <a:pt x="741677" y="935605"/>
                  </a:lnTo>
                  <a:lnTo>
                    <a:pt x="787028" y="937872"/>
                  </a:lnTo>
                  <a:lnTo>
                    <a:pt x="832306" y="937936"/>
                  </a:lnTo>
                  <a:lnTo>
                    <a:pt x="877430" y="935819"/>
                  </a:lnTo>
                  <a:lnTo>
                    <a:pt x="922320" y="931543"/>
                  </a:lnTo>
                  <a:lnTo>
                    <a:pt x="966895" y="925128"/>
                  </a:lnTo>
                  <a:lnTo>
                    <a:pt x="1011074" y="916598"/>
                  </a:lnTo>
                  <a:lnTo>
                    <a:pt x="1054779" y="905973"/>
                  </a:lnTo>
                  <a:lnTo>
                    <a:pt x="1097928" y="893275"/>
                  </a:lnTo>
                  <a:lnTo>
                    <a:pt x="1140440" y="878526"/>
                  </a:lnTo>
                  <a:lnTo>
                    <a:pt x="1182236" y="861746"/>
                  </a:lnTo>
                  <a:lnTo>
                    <a:pt x="1223234" y="842959"/>
                  </a:lnTo>
                  <a:lnTo>
                    <a:pt x="1263355" y="822185"/>
                  </a:lnTo>
                  <a:lnTo>
                    <a:pt x="1302518" y="799445"/>
                  </a:lnTo>
                  <a:lnTo>
                    <a:pt x="1340643" y="774763"/>
                  </a:lnTo>
                  <a:lnTo>
                    <a:pt x="1377649" y="748158"/>
                  </a:lnTo>
                  <a:lnTo>
                    <a:pt x="1413455" y="719654"/>
                  </a:lnTo>
                  <a:lnTo>
                    <a:pt x="1447983" y="689271"/>
                  </a:lnTo>
                  <a:lnTo>
                    <a:pt x="1481150" y="657031"/>
                  </a:lnTo>
                  <a:lnTo>
                    <a:pt x="1512876" y="622955"/>
                  </a:lnTo>
                  <a:lnTo>
                    <a:pt x="1543082" y="587066"/>
                  </a:lnTo>
                  <a:lnTo>
                    <a:pt x="1571687" y="549384"/>
                  </a:lnTo>
                  <a:lnTo>
                    <a:pt x="1598610" y="509932"/>
                  </a:lnTo>
                  <a:lnTo>
                    <a:pt x="1623771" y="468731"/>
                  </a:lnTo>
                  <a:lnTo>
                    <a:pt x="811860" y="0"/>
                  </a:lnTo>
                  <a:close/>
                </a:path>
              </a:pathLst>
            </a:custGeom>
            <a:solidFill>
              <a:srgbClr val="00A0DD"/>
            </a:solidFill>
          </p:spPr>
          <p:txBody>
            <a:bodyPr wrap="square" lIns="0" tIns="0" rIns="0" bIns="0" rtlCol="0"/>
            <a:lstStyle/>
            <a:p/>
          </p:txBody>
        </p:sp>
        <p:sp>
          <p:nvSpPr>
            <p:cNvPr id="31" name="object 48"/>
            <p:cNvSpPr/>
            <p:nvPr/>
          </p:nvSpPr>
          <p:spPr>
            <a:xfrm>
              <a:off x="1083995" y="3851909"/>
              <a:ext cx="1624330" cy="938530"/>
            </a:xfrm>
            <a:custGeom>
              <a:avLst/>
              <a:gdLst/>
              <a:ahLst/>
              <a:cxnLst/>
              <a:rect l="l" t="t" r="r" b="b"/>
              <a:pathLst>
                <a:path w="1624330" h="938529">
                  <a:moveTo>
                    <a:pt x="1623771" y="468731"/>
                  </a:moveTo>
                  <a:lnTo>
                    <a:pt x="1598610" y="509932"/>
                  </a:lnTo>
                  <a:lnTo>
                    <a:pt x="1571687" y="549384"/>
                  </a:lnTo>
                  <a:lnTo>
                    <a:pt x="1543082" y="587066"/>
                  </a:lnTo>
                  <a:lnTo>
                    <a:pt x="1512876" y="622955"/>
                  </a:lnTo>
                  <a:lnTo>
                    <a:pt x="1481150" y="657031"/>
                  </a:lnTo>
                  <a:lnTo>
                    <a:pt x="1447983" y="689271"/>
                  </a:lnTo>
                  <a:lnTo>
                    <a:pt x="1413455" y="719654"/>
                  </a:lnTo>
                  <a:lnTo>
                    <a:pt x="1377649" y="748158"/>
                  </a:lnTo>
                  <a:lnTo>
                    <a:pt x="1340643" y="774763"/>
                  </a:lnTo>
                  <a:lnTo>
                    <a:pt x="1302518" y="799445"/>
                  </a:lnTo>
                  <a:lnTo>
                    <a:pt x="1263355" y="822185"/>
                  </a:lnTo>
                  <a:lnTo>
                    <a:pt x="1223234" y="842959"/>
                  </a:lnTo>
                  <a:lnTo>
                    <a:pt x="1182236" y="861746"/>
                  </a:lnTo>
                  <a:lnTo>
                    <a:pt x="1140440" y="878526"/>
                  </a:lnTo>
                  <a:lnTo>
                    <a:pt x="1097928" y="893275"/>
                  </a:lnTo>
                  <a:lnTo>
                    <a:pt x="1054779" y="905973"/>
                  </a:lnTo>
                  <a:lnTo>
                    <a:pt x="1011074" y="916598"/>
                  </a:lnTo>
                  <a:lnTo>
                    <a:pt x="966895" y="925128"/>
                  </a:lnTo>
                  <a:lnTo>
                    <a:pt x="922320" y="931543"/>
                  </a:lnTo>
                  <a:lnTo>
                    <a:pt x="877430" y="935819"/>
                  </a:lnTo>
                  <a:lnTo>
                    <a:pt x="832306" y="937936"/>
                  </a:lnTo>
                  <a:lnTo>
                    <a:pt x="787028" y="937872"/>
                  </a:lnTo>
                  <a:lnTo>
                    <a:pt x="741677" y="935605"/>
                  </a:lnTo>
                  <a:lnTo>
                    <a:pt x="696333" y="931114"/>
                  </a:lnTo>
                  <a:lnTo>
                    <a:pt x="651077" y="924377"/>
                  </a:lnTo>
                  <a:lnTo>
                    <a:pt x="605988" y="915373"/>
                  </a:lnTo>
                  <a:lnTo>
                    <a:pt x="561148" y="904079"/>
                  </a:lnTo>
                  <a:lnTo>
                    <a:pt x="516636" y="890475"/>
                  </a:lnTo>
                  <a:lnTo>
                    <a:pt x="472533" y="874539"/>
                  </a:lnTo>
                  <a:lnTo>
                    <a:pt x="428920" y="856249"/>
                  </a:lnTo>
                  <a:lnTo>
                    <a:pt x="385877" y="835583"/>
                  </a:lnTo>
                  <a:lnTo>
                    <a:pt x="343484" y="812520"/>
                  </a:lnTo>
                  <a:lnTo>
                    <a:pt x="301432" y="786727"/>
                  </a:lnTo>
                  <a:lnTo>
                    <a:pt x="260898" y="758835"/>
                  </a:lnTo>
                  <a:lnTo>
                    <a:pt x="221954" y="728916"/>
                  </a:lnTo>
                  <a:lnTo>
                    <a:pt x="184674" y="697040"/>
                  </a:lnTo>
                  <a:lnTo>
                    <a:pt x="149129" y="663281"/>
                  </a:lnTo>
                  <a:lnTo>
                    <a:pt x="115394" y="627709"/>
                  </a:lnTo>
                  <a:lnTo>
                    <a:pt x="83540" y="590396"/>
                  </a:lnTo>
                  <a:lnTo>
                    <a:pt x="53642" y="551415"/>
                  </a:lnTo>
                  <a:lnTo>
                    <a:pt x="25770" y="510836"/>
                  </a:lnTo>
                  <a:lnTo>
                    <a:pt x="0" y="468731"/>
                  </a:lnTo>
                  <a:lnTo>
                    <a:pt x="811860" y="0"/>
                  </a:lnTo>
                  <a:lnTo>
                    <a:pt x="1623771" y="468731"/>
                  </a:lnTo>
                  <a:close/>
                </a:path>
              </a:pathLst>
            </a:custGeom>
            <a:ln w="12700">
              <a:solidFill>
                <a:srgbClr val="FEFEFE"/>
              </a:solidFill>
            </a:ln>
          </p:spPr>
          <p:txBody>
            <a:bodyPr wrap="square" lIns="0" tIns="0" rIns="0" bIns="0" rtlCol="0"/>
            <a:lstStyle/>
            <a:p/>
          </p:txBody>
        </p:sp>
      </p:grpSp>
      <p:sp>
        <p:nvSpPr>
          <p:cNvPr id="32" name="object 49"/>
          <p:cNvSpPr txBox="1"/>
          <p:nvPr/>
        </p:nvSpPr>
        <p:spPr>
          <a:xfrm>
            <a:off x="2194940" y="3563426"/>
            <a:ext cx="486409" cy="630555"/>
          </a:xfrm>
          <a:prstGeom prst="rect">
            <a:avLst/>
          </a:prstGeom>
        </p:spPr>
        <p:txBody>
          <a:bodyPr vert="horz" wrap="square" lIns="0" tIns="90170" rIns="0" bIns="0" rtlCol="0">
            <a:spAutoFit/>
          </a:bodyPr>
          <a:lstStyle/>
          <a:p>
            <a:pPr marL="79375">
              <a:lnSpc>
                <a:spcPct val="100000"/>
              </a:lnSpc>
              <a:spcBef>
                <a:spcPts val="710"/>
              </a:spcBef>
            </a:pPr>
            <a:r>
              <a:rPr sz="1600" spc="-25" dirty="0">
                <a:solidFill>
                  <a:srgbClr val="FEFEFE"/>
                </a:solidFill>
                <a:latin typeface="Calibri" panose="020F0502020204030204"/>
                <a:cs typeface="Calibri" panose="020F0502020204030204"/>
              </a:rPr>
              <a:t>SDC</a:t>
            </a:r>
            <a:endParaRPr sz="1600">
              <a:latin typeface="Calibri" panose="020F0502020204030204"/>
              <a:cs typeface="Calibri" panose="020F0502020204030204"/>
            </a:endParaRPr>
          </a:p>
          <a:p>
            <a:pPr marL="12700">
              <a:lnSpc>
                <a:spcPct val="100000"/>
              </a:lnSpc>
              <a:spcBef>
                <a:spcPts val="550"/>
              </a:spcBef>
            </a:pPr>
            <a:r>
              <a:rPr sz="1400" spc="-10" dirty="0">
                <a:solidFill>
                  <a:srgbClr val="FEFEFE"/>
                </a:solidFill>
                <a:latin typeface="Calibri" panose="020F0502020204030204"/>
                <a:cs typeface="Calibri" panose="020F0502020204030204"/>
              </a:rPr>
              <a:t>timing</a:t>
            </a:r>
            <a:endParaRPr sz="1400">
              <a:latin typeface="Calibri" panose="020F0502020204030204"/>
              <a:cs typeface="Calibri" panose="020F0502020204030204"/>
            </a:endParaRPr>
          </a:p>
        </p:txBody>
      </p:sp>
      <p:grpSp>
        <p:nvGrpSpPr>
          <p:cNvPr id="33" name="object 50"/>
          <p:cNvGrpSpPr/>
          <p:nvPr/>
        </p:nvGrpSpPr>
        <p:grpSpPr>
          <a:xfrm>
            <a:off x="1493345" y="2459228"/>
            <a:ext cx="949960" cy="1419860"/>
            <a:chOff x="952325" y="2907538"/>
            <a:chExt cx="949960" cy="1419860"/>
          </a:xfrm>
        </p:grpSpPr>
        <p:sp>
          <p:nvSpPr>
            <p:cNvPr id="34" name="object 51"/>
            <p:cNvSpPr/>
            <p:nvPr/>
          </p:nvSpPr>
          <p:spPr>
            <a:xfrm>
              <a:off x="958675" y="2913888"/>
              <a:ext cx="937260" cy="1407160"/>
            </a:xfrm>
            <a:custGeom>
              <a:avLst/>
              <a:gdLst/>
              <a:ahLst/>
              <a:cxnLst/>
              <a:rect l="l" t="t" r="r" b="b"/>
              <a:pathLst>
                <a:path w="937260" h="1407160">
                  <a:moveTo>
                    <a:pt x="937180" y="0"/>
                  </a:moveTo>
                  <a:lnTo>
                    <a:pt x="887948" y="1294"/>
                  </a:lnTo>
                  <a:lnTo>
                    <a:pt x="838994" y="5161"/>
                  </a:lnTo>
                  <a:lnTo>
                    <a:pt x="790413" y="11572"/>
                  </a:lnTo>
                  <a:lnTo>
                    <a:pt x="742301" y="20502"/>
                  </a:lnTo>
                  <a:lnTo>
                    <a:pt x="694753" y="31924"/>
                  </a:lnTo>
                  <a:lnTo>
                    <a:pt x="647864" y="45811"/>
                  </a:lnTo>
                  <a:lnTo>
                    <a:pt x="601729" y="62136"/>
                  </a:lnTo>
                  <a:lnTo>
                    <a:pt x="556444" y="80873"/>
                  </a:lnTo>
                  <a:lnTo>
                    <a:pt x="512104" y="101995"/>
                  </a:lnTo>
                  <a:lnTo>
                    <a:pt x="468804" y="125475"/>
                  </a:lnTo>
                  <a:lnTo>
                    <a:pt x="427638" y="150661"/>
                  </a:lnTo>
                  <a:lnTo>
                    <a:pt x="388219" y="177608"/>
                  </a:lnTo>
                  <a:lnTo>
                    <a:pt x="350570" y="206239"/>
                  </a:lnTo>
                  <a:lnTo>
                    <a:pt x="314711" y="236471"/>
                  </a:lnTo>
                  <a:lnTo>
                    <a:pt x="280664" y="268224"/>
                  </a:lnTo>
                  <a:lnTo>
                    <a:pt x="248451" y="301419"/>
                  </a:lnTo>
                  <a:lnTo>
                    <a:pt x="218094" y="335974"/>
                  </a:lnTo>
                  <a:lnTo>
                    <a:pt x="189613" y="371809"/>
                  </a:lnTo>
                  <a:lnTo>
                    <a:pt x="163032" y="408845"/>
                  </a:lnTo>
                  <a:lnTo>
                    <a:pt x="138370" y="446999"/>
                  </a:lnTo>
                  <a:lnTo>
                    <a:pt x="115650" y="486192"/>
                  </a:lnTo>
                  <a:lnTo>
                    <a:pt x="94894" y="526343"/>
                  </a:lnTo>
                  <a:lnTo>
                    <a:pt x="76122" y="567373"/>
                  </a:lnTo>
                  <a:lnTo>
                    <a:pt x="59357" y="609200"/>
                  </a:lnTo>
                  <a:lnTo>
                    <a:pt x="44621" y="651744"/>
                  </a:lnTo>
                  <a:lnTo>
                    <a:pt x="31933" y="694924"/>
                  </a:lnTo>
                  <a:lnTo>
                    <a:pt x="21318" y="738661"/>
                  </a:lnTo>
                  <a:lnTo>
                    <a:pt x="12795" y="782874"/>
                  </a:lnTo>
                  <a:lnTo>
                    <a:pt x="6386" y="827482"/>
                  </a:lnTo>
                  <a:lnTo>
                    <a:pt x="2114" y="872404"/>
                  </a:lnTo>
                  <a:lnTo>
                    <a:pt x="0" y="917561"/>
                  </a:lnTo>
                  <a:lnTo>
                    <a:pt x="64" y="962872"/>
                  </a:lnTo>
                  <a:lnTo>
                    <a:pt x="2330" y="1008257"/>
                  </a:lnTo>
                  <a:lnTo>
                    <a:pt x="6818" y="1053634"/>
                  </a:lnTo>
                  <a:lnTo>
                    <a:pt x="13550" y="1098925"/>
                  </a:lnTo>
                  <a:lnTo>
                    <a:pt x="22547" y="1144047"/>
                  </a:lnTo>
                  <a:lnTo>
                    <a:pt x="33832" y="1188921"/>
                  </a:lnTo>
                  <a:lnTo>
                    <a:pt x="47426" y="1233467"/>
                  </a:lnTo>
                  <a:lnTo>
                    <a:pt x="63350" y="1277603"/>
                  </a:lnTo>
                  <a:lnTo>
                    <a:pt x="81625" y="1321250"/>
                  </a:lnTo>
                  <a:lnTo>
                    <a:pt x="102275" y="1364327"/>
                  </a:lnTo>
                  <a:lnTo>
                    <a:pt x="125320" y="1406753"/>
                  </a:lnTo>
                  <a:lnTo>
                    <a:pt x="937180" y="938022"/>
                  </a:lnTo>
                  <a:lnTo>
                    <a:pt x="937180" y="0"/>
                  </a:lnTo>
                  <a:close/>
                </a:path>
              </a:pathLst>
            </a:custGeom>
            <a:solidFill>
              <a:srgbClr val="FE1D3B"/>
            </a:solidFill>
          </p:spPr>
          <p:txBody>
            <a:bodyPr wrap="square" lIns="0" tIns="0" rIns="0" bIns="0" rtlCol="0"/>
            <a:lstStyle/>
            <a:p/>
          </p:txBody>
        </p:sp>
        <p:sp>
          <p:nvSpPr>
            <p:cNvPr id="35" name="object 52"/>
            <p:cNvSpPr/>
            <p:nvPr/>
          </p:nvSpPr>
          <p:spPr>
            <a:xfrm>
              <a:off x="958675" y="2913888"/>
              <a:ext cx="937260" cy="1407160"/>
            </a:xfrm>
            <a:custGeom>
              <a:avLst/>
              <a:gdLst/>
              <a:ahLst/>
              <a:cxnLst/>
              <a:rect l="l" t="t" r="r" b="b"/>
              <a:pathLst>
                <a:path w="937260" h="1407160">
                  <a:moveTo>
                    <a:pt x="125320" y="1406753"/>
                  </a:moveTo>
                  <a:lnTo>
                    <a:pt x="102275" y="1364327"/>
                  </a:lnTo>
                  <a:lnTo>
                    <a:pt x="81625" y="1321250"/>
                  </a:lnTo>
                  <a:lnTo>
                    <a:pt x="63350" y="1277603"/>
                  </a:lnTo>
                  <a:lnTo>
                    <a:pt x="47426" y="1233467"/>
                  </a:lnTo>
                  <a:lnTo>
                    <a:pt x="33832" y="1188921"/>
                  </a:lnTo>
                  <a:lnTo>
                    <a:pt x="22547" y="1144047"/>
                  </a:lnTo>
                  <a:lnTo>
                    <a:pt x="13550" y="1098925"/>
                  </a:lnTo>
                  <a:lnTo>
                    <a:pt x="6818" y="1053634"/>
                  </a:lnTo>
                  <a:lnTo>
                    <a:pt x="2330" y="1008257"/>
                  </a:lnTo>
                  <a:lnTo>
                    <a:pt x="64" y="962872"/>
                  </a:lnTo>
                  <a:lnTo>
                    <a:pt x="0" y="917561"/>
                  </a:lnTo>
                  <a:lnTo>
                    <a:pt x="2114" y="872404"/>
                  </a:lnTo>
                  <a:lnTo>
                    <a:pt x="6386" y="827482"/>
                  </a:lnTo>
                  <a:lnTo>
                    <a:pt x="12795" y="782874"/>
                  </a:lnTo>
                  <a:lnTo>
                    <a:pt x="21318" y="738661"/>
                  </a:lnTo>
                  <a:lnTo>
                    <a:pt x="31933" y="694924"/>
                  </a:lnTo>
                  <a:lnTo>
                    <a:pt x="44621" y="651744"/>
                  </a:lnTo>
                  <a:lnTo>
                    <a:pt x="59357" y="609200"/>
                  </a:lnTo>
                  <a:lnTo>
                    <a:pt x="76122" y="567373"/>
                  </a:lnTo>
                  <a:lnTo>
                    <a:pt x="94894" y="526343"/>
                  </a:lnTo>
                  <a:lnTo>
                    <a:pt x="115650" y="486192"/>
                  </a:lnTo>
                  <a:lnTo>
                    <a:pt x="138370" y="446999"/>
                  </a:lnTo>
                  <a:lnTo>
                    <a:pt x="163032" y="408845"/>
                  </a:lnTo>
                  <a:lnTo>
                    <a:pt x="189613" y="371809"/>
                  </a:lnTo>
                  <a:lnTo>
                    <a:pt x="218094" y="335974"/>
                  </a:lnTo>
                  <a:lnTo>
                    <a:pt x="248451" y="301419"/>
                  </a:lnTo>
                  <a:lnTo>
                    <a:pt x="280664" y="268224"/>
                  </a:lnTo>
                  <a:lnTo>
                    <a:pt x="314711" y="236471"/>
                  </a:lnTo>
                  <a:lnTo>
                    <a:pt x="350570" y="206239"/>
                  </a:lnTo>
                  <a:lnTo>
                    <a:pt x="388219" y="177608"/>
                  </a:lnTo>
                  <a:lnTo>
                    <a:pt x="427638" y="150661"/>
                  </a:lnTo>
                  <a:lnTo>
                    <a:pt x="468804" y="125475"/>
                  </a:lnTo>
                  <a:lnTo>
                    <a:pt x="512104" y="101995"/>
                  </a:lnTo>
                  <a:lnTo>
                    <a:pt x="556444" y="80873"/>
                  </a:lnTo>
                  <a:lnTo>
                    <a:pt x="601729" y="62136"/>
                  </a:lnTo>
                  <a:lnTo>
                    <a:pt x="647864" y="45811"/>
                  </a:lnTo>
                  <a:lnTo>
                    <a:pt x="694753" y="31924"/>
                  </a:lnTo>
                  <a:lnTo>
                    <a:pt x="742301" y="20502"/>
                  </a:lnTo>
                  <a:lnTo>
                    <a:pt x="790413" y="11572"/>
                  </a:lnTo>
                  <a:lnTo>
                    <a:pt x="838994" y="5161"/>
                  </a:lnTo>
                  <a:lnTo>
                    <a:pt x="887948" y="1294"/>
                  </a:lnTo>
                  <a:lnTo>
                    <a:pt x="937180" y="0"/>
                  </a:lnTo>
                  <a:lnTo>
                    <a:pt x="937180" y="938022"/>
                  </a:lnTo>
                  <a:lnTo>
                    <a:pt x="125320" y="1406753"/>
                  </a:lnTo>
                  <a:close/>
                </a:path>
              </a:pathLst>
            </a:custGeom>
            <a:ln w="12700">
              <a:solidFill>
                <a:srgbClr val="FEFEFE"/>
              </a:solidFill>
            </a:ln>
          </p:spPr>
          <p:txBody>
            <a:bodyPr wrap="square" lIns="0" tIns="0" rIns="0" bIns="0" rtlCol="0"/>
            <a:lstStyle/>
            <a:p/>
          </p:txBody>
        </p:sp>
      </p:grpSp>
      <p:sp>
        <p:nvSpPr>
          <p:cNvPr id="36" name="object 53"/>
          <p:cNvSpPr txBox="1"/>
          <p:nvPr/>
        </p:nvSpPr>
        <p:spPr>
          <a:xfrm>
            <a:off x="1745386" y="2764021"/>
            <a:ext cx="544830" cy="624840"/>
          </a:xfrm>
          <a:prstGeom prst="rect">
            <a:avLst/>
          </a:prstGeom>
        </p:spPr>
        <p:txBody>
          <a:bodyPr vert="horz" wrap="square" lIns="0" tIns="111125" rIns="0" bIns="0" rtlCol="0">
            <a:spAutoFit/>
          </a:bodyPr>
          <a:lstStyle/>
          <a:p>
            <a:pPr marL="1270" algn="ctr">
              <a:lnSpc>
                <a:spcPct val="100000"/>
              </a:lnSpc>
              <a:spcBef>
                <a:spcPts val="875"/>
              </a:spcBef>
            </a:pPr>
            <a:r>
              <a:rPr sz="1600" spc="-25" dirty="0">
                <a:solidFill>
                  <a:srgbClr val="FEFEFE"/>
                </a:solidFill>
                <a:latin typeface="Calibri" panose="020F0502020204030204"/>
                <a:cs typeface="Calibri" panose="020F0502020204030204"/>
              </a:rPr>
              <a:t>RTL</a:t>
            </a:r>
            <a:endParaRPr sz="1600">
              <a:latin typeface="Calibri" panose="020F0502020204030204"/>
              <a:cs typeface="Calibri" panose="020F0502020204030204"/>
            </a:endParaRPr>
          </a:p>
          <a:p>
            <a:pPr algn="ctr">
              <a:lnSpc>
                <a:spcPct val="100000"/>
              </a:lnSpc>
              <a:spcBef>
                <a:spcPts val="580"/>
              </a:spcBef>
            </a:pPr>
            <a:r>
              <a:rPr sz="1200" spc="-10" dirty="0">
                <a:solidFill>
                  <a:srgbClr val="FEFEFE"/>
                </a:solidFill>
                <a:latin typeface="Calibri" panose="020F0502020204030204"/>
                <a:cs typeface="Calibri" panose="020F0502020204030204"/>
              </a:rPr>
              <a:t>function</a:t>
            </a:r>
            <a:endParaRPr sz="1200">
              <a:latin typeface="Calibri" panose="020F0502020204030204"/>
              <a:cs typeface="Calibri" panose="020F0502020204030204"/>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3" name="Text 0"/>
          <p:cNvSpPr/>
          <p:nvPr/>
        </p:nvSpPr>
        <p:spPr>
          <a:xfrm>
            <a:off x="556260" y="300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en-US" altLang="zh-CN" sz="1730" b="1" dirty="0">
              <a:latin typeface="微软雅黑" panose="020B0503020204020204" pitchFamily="34" charset="-122"/>
              <a:ea typeface="微软雅黑" panose="020B0503020204020204" pitchFamily="34" charset="-122"/>
              <a:sym typeface="+mn-ea"/>
            </a:endParaRPr>
          </a:p>
        </p:txBody>
      </p:sp>
      <p:sp>
        <p:nvSpPr>
          <p:cNvPr id="5" name="内容占位符 2"/>
          <p:cNvSpPr>
            <a:spLocks noGrp="1"/>
          </p:cNvSpPr>
          <p:nvPr/>
        </p:nvSpPr>
        <p:spPr>
          <a:xfrm>
            <a:off x="608330" y="794385"/>
            <a:ext cx="7957185" cy="377571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p>
        </p:txBody>
      </p:sp>
      <p:sp>
        <p:nvSpPr>
          <p:cNvPr id="6" name="Text 0"/>
          <p:cNvSpPr/>
          <p:nvPr/>
        </p:nvSpPr>
        <p:spPr>
          <a:xfrm>
            <a:off x="28448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低功耗设计</a:t>
            </a:r>
            <a:r>
              <a:rPr lang="zh-CN" altLang="en-US" sz="1730" b="1" dirty="0">
                <a:latin typeface="微软雅黑" panose="020B0503020204020204" pitchFamily="34" charset="-122"/>
                <a:ea typeface="微软雅黑" panose="020B0503020204020204" pitchFamily="34" charset="-122"/>
                <a:sym typeface="+mn-ea"/>
              </a:rPr>
              <a:t>技术</a:t>
            </a:r>
            <a:endParaRPr lang="zh-CN" altLang="en-US" sz="1730" b="1" dirty="0">
              <a:latin typeface="微软雅黑" panose="020B0503020204020204" pitchFamily="34" charset="-122"/>
              <a:ea typeface="微软雅黑" panose="020B0503020204020204" pitchFamily="34" charset="-122"/>
              <a:sym typeface="+mn-ea"/>
            </a:endParaRPr>
          </a:p>
        </p:txBody>
      </p:sp>
      <p:sp>
        <p:nvSpPr>
          <p:cNvPr id="115" name="object 3"/>
          <p:cNvSpPr txBox="1"/>
          <p:nvPr/>
        </p:nvSpPr>
        <p:spPr>
          <a:xfrm>
            <a:off x="435965" y="1695957"/>
            <a:ext cx="135255" cy="140970"/>
          </a:xfrm>
          <a:prstGeom prst="rect">
            <a:avLst/>
          </a:prstGeom>
        </p:spPr>
        <p:txBody>
          <a:bodyPr vert="horz" wrap="square" lIns="0" tIns="13335" rIns="0" bIns="0" rtlCol="0">
            <a:spAutoFit/>
          </a:bodyPr>
          <a:lstStyle/>
          <a:p>
            <a:pPr marL="12700">
              <a:lnSpc>
                <a:spcPct val="100000"/>
              </a:lnSpc>
              <a:spcBef>
                <a:spcPts val="105"/>
              </a:spcBef>
            </a:pPr>
            <a:r>
              <a:rPr sz="750" spc="-25" dirty="0">
                <a:latin typeface="Calibri" panose="020F0502020204030204"/>
                <a:cs typeface="Calibri" panose="020F0502020204030204"/>
              </a:rPr>
              <a:t>EN</a:t>
            </a:r>
            <a:endParaRPr sz="750">
              <a:latin typeface="Calibri" panose="020F0502020204030204"/>
              <a:cs typeface="Calibri" panose="020F0502020204030204"/>
            </a:endParaRPr>
          </a:p>
        </p:txBody>
      </p:sp>
      <p:sp>
        <p:nvSpPr>
          <p:cNvPr id="116" name="object 4"/>
          <p:cNvSpPr txBox="1"/>
          <p:nvPr/>
        </p:nvSpPr>
        <p:spPr>
          <a:xfrm>
            <a:off x="1258620" y="2057400"/>
            <a:ext cx="187960" cy="162560"/>
          </a:xfrm>
          <a:prstGeom prst="rect">
            <a:avLst/>
          </a:prstGeom>
        </p:spPr>
        <p:txBody>
          <a:bodyPr vert="horz" wrap="square" lIns="0" tIns="12700" rIns="0" bIns="0" rtlCol="0">
            <a:spAutoFit/>
          </a:bodyPr>
          <a:lstStyle/>
          <a:p>
            <a:pPr marL="12700">
              <a:lnSpc>
                <a:spcPct val="100000"/>
              </a:lnSpc>
              <a:spcBef>
                <a:spcPts val="100"/>
              </a:spcBef>
            </a:pPr>
            <a:r>
              <a:rPr sz="900" b="1" i="1" spc="-25" dirty="0">
                <a:latin typeface="Calibri" panose="020F0502020204030204"/>
                <a:cs typeface="Calibri" panose="020F0502020204030204"/>
              </a:rPr>
              <a:t>ICG</a:t>
            </a:r>
            <a:endParaRPr sz="900">
              <a:latin typeface="Calibri" panose="020F0502020204030204"/>
              <a:cs typeface="Calibri" panose="020F0502020204030204"/>
            </a:endParaRPr>
          </a:p>
        </p:txBody>
      </p:sp>
      <p:grpSp>
        <p:nvGrpSpPr>
          <p:cNvPr id="117" name="object 5"/>
          <p:cNvGrpSpPr/>
          <p:nvPr/>
        </p:nvGrpSpPr>
        <p:grpSpPr>
          <a:xfrm>
            <a:off x="610298" y="1621155"/>
            <a:ext cx="862330" cy="600075"/>
            <a:chOff x="473138" y="1851025"/>
            <a:chExt cx="862330" cy="600075"/>
          </a:xfrm>
        </p:grpSpPr>
        <p:sp>
          <p:nvSpPr>
            <p:cNvPr id="118" name="object 6"/>
            <p:cNvSpPr/>
            <p:nvPr/>
          </p:nvSpPr>
          <p:spPr>
            <a:xfrm>
              <a:off x="474726" y="1852421"/>
              <a:ext cx="858519" cy="597535"/>
            </a:xfrm>
            <a:custGeom>
              <a:avLst/>
              <a:gdLst/>
              <a:ahLst/>
              <a:cxnLst/>
              <a:rect l="l" t="t" r="r" b="b"/>
              <a:pathLst>
                <a:path w="858519" h="597535">
                  <a:moveTo>
                    <a:pt x="858012" y="3301"/>
                  </a:moveTo>
                  <a:lnTo>
                    <a:pt x="855726" y="3301"/>
                  </a:lnTo>
                  <a:lnTo>
                    <a:pt x="855726" y="5841"/>
                  </a:lnTo>
                  <a:lnTo>
                    <a:pt x="852551" y="5841"/>
                  </a:lnTo>
                  <a:lnTo>
                    <a:pt x="852551" y="14858"/>
                  </a:lnTo>
                  <a:lnTo>
                    <a:pt x="858012" y="14858"/>
                  </a:lnTo>
                  <a:lnTo>
                    <a:pt x="858012" y="3301"/>
                  </a:lnTo>
                  <a:close/>
                </a:path>
                <a:path w="858519" h="597535">
                  <a:moveTo>
                    <a:pt x="855726" y="0"/>
                  </a:moveTo>
                  <a:lnTo>
                    <a:pt x="833119" y="0"/>
                  </a:lnTo>
                  <a:lnTo>
                    <a:pt x="833119" y="5841"/>
                  </a:lnTo>
                  <a:lnTo>
                    <a:pt x="852551" y="5841"/>
                  </a:lnTo>
                  <a:lnTo>
                    <a:pt x="852551" y="3301"/>
                  </a:lnTo>
                  <a:lnTo>
                    <a:pt x="855726" y="3301"/>
                  </a:lnTo>
                  <a:lnTo>
                    <a:pt x="855726" y="0"/>
                  </a:lnTo>
                  <a:close/>
                </a:path>
                <a:path w="858519" h="597535">
                  <a:moveTo>
                    <a:pt x="816101" y="0"/>
                  </a:moveTo>
                  <a:lnTo>
                    <a:pt x="793508" y="0"/>
                  </a:lnTo>
                  <a:lnTo>
                    <a:pt x="793508" y="5841"/>
                  </a:lnTo>
                  <a:lnTo>
                    <a:pt x="816101" y="5841"/>
                  </a:lnTo>
                  <a:lnTo>
                    <a:pt x="816101" y="0"/>
                  </a:lnTo>
                  <a:close/>
                </a:path>
                <a:path w="858519" h="597535">
                  <a:moveTo>
                    <a:pt x="776401" y="0"/>
                  </a:moveTo>
                  <a:lnTo>
                    <a:pt x="753871" y="0"/>
                  </a:lnTo>
                  <a:lnTo>
                    <a:pt x="753871" y="5841"/>
                  </a:lnTo>
                  <a:lnTo>
                    <a:pt x="776401" y="5841"/>
                  </a:lnTo>
                  <a:lnTo>
                    <a:pt x="776401" y="0"/>
                  </a:lnTo>
                  <a:close/>
                </a:path>
                <a:path w="858519" h="597535">
                  <a:moveTo>
                    <a:pt x="736765" y="0"/>
                  </a:moveTo>
                  <a:lnTo>
                    <a:pt x="714235" y="0"/>
                  </a:lnTo>
                  <a:lnTo>
                    <a:pt x="714235" y="5841"/>
                  </a:lnTo>
                  <a:lnTo>
                    <a:pt x="736765" y="5841"/>
                  </a:lnTo>
                  <a:lnTo>
                    <a:pt x="736765" y="0"/>
                  </a:lnTo>
                  <a:close/>
                </a:path>
                <a:path w="858519" h="597535">
                  <a:moveTo>
                    <a:pt x="697128" y="0"/>
                  </a:moveTo>
                  <a:lnTo>
                    <a:pt x="674598" y="0"/>
                  </a:lnTo>
                  <a:lnTo>
                    <a:pt x="674598" y="5841"/>
                  </a:lnTo>
                  <a:lnTo>
                    <a:pt x="697128" y="5841"/>
                  </a:lnTo>
                  <a:lnTo>
                    <a:pt x="697128" y="0"/>
                  </a:lnTo>
                  <a:close/>
                </a:path>
                <a:path w="858519" h="597535">
                  <a:moveTo>
                    <a:pt x="657504" y="0"/>
                  </a:moveTo>
                  <a:lnTo>
                    <a:pt x="634961" y="0"/>
                  </a:lnTo>
                  <a:lnTo>
                    <a:pt x="634961" y="5841"/>
                  </a:lnTo>
                  <a:lnTo>
                    <a:pt x="657504" y="5841"/>
                  </a:lnTo>
                  <a:lnTo>
                    <a:pt x="657504" y="0"/>
                  </a:lnTo>
                  <a:close/>
                </a:path>
                <a:path w="858519" h="597535">
                  <a:moveTo>
                    <a:pt x="618642" y="0"/>
                  </a:moveTo>
                  <a:lnTo>
                    <a:pt x="596099" y="0"/>
                  </a:lnTo>
                  <a:lnTo>
                    <a:pt x="596099" y="5841"/>
                  </a:lnTo>
                  <a:lnTo>
                    <a:pt x="618642" y="5841"/>
                  </a:lnTo>
                  <a:lnTo>
                    <a:pt x="618642" y="0"/>
                  </a:lnTo>
                  <a:close/>
                </a:path>
                <a:path w="858519" h="597535">
                  <a:moveTo>
                    <a:pt x="579005" y="0"/>
                  </a:moveTo>
                  <a:lnTo>
                    <a:pt x="556463" y="0"/>
                  </a:lnTo>
                  <a:lnTo>
                    <a:pt x="556463" y="5841"/>
                  </a:lnTo>
                  <a:lnTo>
                    <a:pt x="579005" y="5841"/>
                  </a:lnTo>
                  <a:lnTo>
                    <a:pt x="579005" y="0"/>
                  </a:lnTo>
                  <a:close/>
                </a:path>
                <a:path w="858519" h="597535">
                  <a:moveTo>
                    <a:pt x="539368" y="0"/>
                  </a:moveTo>
                  <a:lnTo>
                    <a:pt x="516826" y="0"/>
                  </a:lnTo>
                  <a:lnTo>
                    <a:pt x="516826" y="5841"/>
                  </a:lnTo>
                  <a:lnTo>
                    <a:pt x="539368" y="5841"/>
                  </a:lnTo>
                  <a:lnTo>
                    <a:pt x="539368" y="0"/>
                  </a:lnTo>
                  <a:close/>
                </a:path>
                <a:path w="858519" h="597535">
                  <a:moveTo>
                    <a:pt x="499732" y="0"/>
                  </a:moveTo>
                  <a:lnTo>
                    <a:pt x="477189" y="0"/>
                  </a:lnTo>
                  <a:lnTo>
                    <a:pt x="477189" y="5841"/>
                  </a:lnTo>
                  <a:lnTo>
                    <a:pt x="499732" y="5841"/>
                  </a:lnTo>
                  <a:lnTo>
                    <a:pt x="499732" y="0"/>
                  </a:lnTo>
                  <a:close/>
                </a:path>
                <a:path w="858519" h="597535">
                  <a:moveTo>
                    <a:pt x="460095" y="0"/>
                  </a:moveTo>
                  <a:lnTo>
                    <a:pt x="437553" y="0"/>
                  </a:lnTo>
                  <a:lnTo>
                    <a:pt x="437553" y="5841"/>
                  </a:lnTo>
                  <a:lnTo>
                    <a:pt x="460095" y="5841"/>
                  </a:lnTo>
                  <a:lnTo>
                    <a:pt x="460095" y="0"/>
                  </a:lnTo>
                  <a:close/>
                </a:path>
                <a:path w="858519" h="597535">
                  <a:moveTo>
                    <a:pt x="421233" y="0"/>
                  </a:moveTo>
                  <a:lnTo>
                    <a:pt x="397916" y="0"/>
                  </a:lnTo>
                  <a:lnTo>
                    <a:pt x="397916" y="5841"/>
                  </a:lnTo>
                  <a:lnTo>
                    <a:pt x="421233" y="5841"/>
                  </a:lnTo>
                  <a:lnTo>
                    <a:pt x="421233" y="0"/>
                  </a:lnTo>
                  <a:close/>
                </a:path>
                <a:path w="858519" h="597535">
                  <a:moveTo>
                    <a:pt x="381596" y="0"/>
                  </a:moveTo>
                  <a:lnTo>
                    <a:pt x="359054" y="0"/>
                  </a:lnTo>
                  <a:lnTo>
                    <a:pt x="359054" y="5841"/>
                  </a:lnTo>
                  <a:lnTo>
                    <a:pt x="381596" y="5841"/>
                  </a:lnTo>
                  <a:lnTo>
                    <a:pt x="381596" y="0"/>
                  </a:lnTo>
                  <a:close/>
                </a:path>
                <a:path w="858519" h="597535">
                  <a:moveTo>
                    <a:pt x="341960" y="0"/>
                  </a:moveTo>
                  <a:lnTo>
                    <a:pt x="319417" y="0"/>
                  </a:lnTo>
                  <a:lnTo>
                    <a:pt x="319417" y="5841"/>
                  </a:lnTo>
                  <a:lnTo>
                    <a:pt x="341960" y="5841"/>
                  </a:lnTo>
                  <a:lnTo>
                    <a:pt x="341960" y="0"/>
                  </a:lnTo>
                  <a:close/>
                </a:path>
                <a:path w="858519" h="597535">
                  <a:moveTo>
                    <a:pt x="302323" y="0"/>
                  </a:moveTo>
                  <a:lnTo>
                    <a:pt x="279780" y="0"/>
                  </a:lnTo>
                  <a:lnTo>
                    <a:pt x="279780" y="5841"/>
                  </a:lnTo>
                  <a:lnTo>
                    <a:pt x="302323" y="5841"/>
                  </a:lnTo>
                  <a:lnTo>
                    <a:pt x="302323" y="0"/>
                  </a:lnTo>
                  <a:close/>
                </a:path>
                <a:path w="858519" h="597535">
                  <a:moveTo>
                    <a:pt x="262686" y="0"/>
                  </a:moveTo>
                  <a:lnTo>
                    <a:pt x="240144" y="0"/>
                  </a:lnTo>
                  <a:lnTo>
                    <a:pt x="240144" y="5841"/>
                  </a:lnTo>
                  <a:lnTo>
                    <a:pt x="262686" y="5841"/>
                  </a:lnTo>
                  <a:lnTo>
                    <a:pt x="262686" y="0"/>
                  </a:lnTo>
                  <a:close/>
                </a:path>
                <a:path w="858519" h="597535">
                  <a:moveTo>
                    <a:pt x="223050" y="0"/>
                  </a:moveTo>
                  <a:lnTo>
                    <a:pt x="200507" y="0"/>
                  </a:lnTo>
                  <a:lnTo>
                    <a:pt x="200507" y="5841"/>
                  </a:lnTo>
                  <a:lnTo>
                    <a:pt x="223050" y="5841"/>
                  </a:lnTo>
                  <a:lnTo>
                    <a:pt x="223050" y="0"/>
                  </a:lnTo>
                  <a:close/>
                </a:path>
                <a:path w="858519" h="597535">
                  <a:moveTo>
                    <a:pt x="184188" y="0"/>
                  </a:moveTo>
                  <a:lnTo>
                    <a:pt x="161658" y="0"/>
                  </a:lnTo>
                  <a:lnTo>
                    <a:pt x="161658" y="5841"/>
                  </a:lnTo>
                  <a:lnTo>
                    <a:pt x="184188" y="5841"/>
                  </a:lnTo>
                  <a:lnTo>
                    <a:pt x="184188" y="0"/>
                  </a:lnTo>
                  <a:close/>
                </a:path>
                <a:path w="858519" h="597535">
                  <a:moveTo>
                    <a:pt x="144551" y="0"/>
                  </a:moveTo>
                  <a:lnTo>
                    <a:pt x="122021" y="0"/>
                  </a:lnTo>
                  <a:lnTo>
                    <a:pt x="122021" y="5841"/>
                  </a:lnTo>
                  <a:lnTo>
                    <a:pt x="144551" y="5841"/>
                  </a:lnTo>
                  <a:lnTo>
                    <a:pt x="144551" y="0"/>
                  </a:lnTo>
                  <a:close/>
                </a:path>
                <a:path w="858519" h="597535">
                  <a:moveTo>
                    <a:pt x="104914" y="0"/>
                  </a:moveTo>
                  <a:lnTo>
                    <a:pt x="82384" y="0"/>
                  </a:lnTo>
                  <a:lnTo>
                    <a:pt x="82384" y="5841"/>
                  </a:lnTo>
                  <a:lnTo>
                    <a:pt x="104914" y="5841"/>
                  </a:lnTo>
                  <a:lnTo>
                    <a:pt x="104914" y="0"/>
                  </a:lnTo>
                  <a:close/>
                </a:path>
                <a:path w="858519" h="597535">
                  <a:moveTo>
                    <a:pt x="65278" y="0"/>
                  </a:moveTo>
                  <a:lnTo>
                    <a:pt x="42748" y="0"/>
                  </a:lnTo>
                  <a:lnTo>
                    <a:pt x="42748" y="5841"/>
                  </a:lnTo>
                  <a:lnTo>
                    <a:pt x="65278" y="5841"/>
                  </a:lnTo>
                  <a:lnTo>
                    <a:pt x="65278" y="0"/>
                  </a:lnTo>
                  <a:close/>
                </a:path>
                <a:path w="858519" h="597535">
                  <a:moveTo>
                    <a:pt x="25641" y="0"/>
                  </a:moveTo>
                  <a:lnTo>
                    <a:pt x="3111" y="0"/>
                  </a:lnTo>
                  <a:lnTo>
                    <a:pt x="3111" y="5841"/>
                  </a:lnTo>
                  <a:lnTo>
                    <a:pt x="25641" y="5841"/>
                  </a:lnTo>
                  <a:lnTo>
                    <a:pt x="25641" y="0"/>
                  </a:lnTo>
                  <a:close/>
                </a:path>
                <a:path w="858519" h="597535">
                  <a:moveTo>
                    <a:pt x="5435" y="20700"/>
                  </a:moveTo>
                  <a:lnTo>
                    <a:pt x="0" y="20700"/>
                  </a:lnTo>
                  <a:lnTo>
                    <a:pt x="0" y="44703"/>
                  </a:lnTo>
                  <a:lnTo>
                    <a:pt x="5435" y="44703"/>
                  </a:lnTo>
                  <a:lnTo>
                    <a:pt x="5435" y="20700"/>
                  </a:lnTo>
                  <a:close/>
                </a:path>
                <a:path w="858519" h="597535">
                  <a:moveTo>
                    <a:pt x="5435" y="62102"/>
                  </a:moveTo>
                  <a:lnTo>
                    <a:pt x="0" y="62102"/>
                  </a:lnTo>
                  <a:lnTo>
                    <a:pt x="0" y="86105"/>
                  </a:lnTo>
                  <a:lnTo>
                    <a:pt x="5435" y="86105"/>
                  </a:lnTo>
                  <a:lnTo>
                    <a:pt x="5435" y="62102"/>
                  </a:lnTo>
                  <a:close/>
                </a:path>
                <a:path w="858519" h="597535">
                  <a:moveTo>
                    <a:pt x="5435" y="104266"/>
                  </a:moveTo>
                  <a:lnTo>
                    <a:pt x="0" y="104266"/>
                  </a:lnTo>
                  <a:lnTo>
                    <a:pt x="0" y="128269"/>
                  </a:lnTo>
                  <a:lnTo>
                    <a:pt x="5435" y="128269"/>
                  </a:lnTo>
                  <a:lnTo>
                    <a:pt x="5435" y="104266"/>
                  </a:lnTo>
                  <a:close/>
                </a:path>
                <a:path w="858519" h="597535">
                  <a:moveTo>
                    <a:pt x="5435" y="146430"/>
                  </a:moveTo>
                  <a:lnTo>
                    <a:pt x="0" y="146430"/>
                  </a:lnTo>
                  <a:lnTo>
                    <a:pt x="0" y="170433"/>
                  </a:lnTo>
                  <a:lnTo>
                    <a:pt x="5435" y="170433"/>
                  </a:lnTo>
                  <a:lnTo>
                    <a:pt x="5435" y="146430"/>
                  </a:lnTo>
                  <a:close/>
                </a:path>
                <a:path w="858519" h="597535">
                  <a:moveTo>
                    <a:pt x="5435" y="188594"/>
                  </a:moveTo>
                  <a:lnTo>
                    <a:pt x="0" y="188594"/>
                  </a:lnTo>
                  <a:lnTo>
                    <a:pt x="0" y="212597"/>
                  </a:lnTo>
                  <a:lnTo>
                    <a:pt x="5435" y="212597"/>
                  </a:lnTo>
                  <a:lnTo>
                    <a:pt x="5435" y="188594"/>
                  </a:lnTo>
                  <a:close/>
                </a:path>
                <a:path w="858519" h="597535">
                  <a:moveTo>
                    <a:pt x="5435" y="230885"/>
                  </a:moveTo>
                  <a:lnTo>
                    <a:pt x="0" y="230885"/>
                  </a:lnTo>
                  <a:lnTo>
                    <a:pt x="0" y="254888"/>
                  </a:lnTo>
                  <a:lnTo>
                    <a:pt x="5435" y="254888"/>
                  </a:lnTo>
                  <a:lnTo>
                    <a:pt x="5435" y="230885"/>
                  </a:lnTo>
                  <a:close/>
                </a:path>
                <a:path w="858519" h="597535">
                  <a:moveTo>
                    <a:pt x="5435" y="273050"/>
                  </a:moveTo>
                  <a:lnTo>
                    <a:pt x="0" y="273050"/>
                  </a:lnTo>
                  <a:lnTo>
                    <a:pt x="0" y="297052"/>
                  </a:lnTo>
                  <a:lnTo>
                    <a:pt x="5435" y="297052"/>
                  </a:lnTo>
                  <a:lnTo>
                    <a:pt x="5435" y="273050"/>
                  </a:lnTo>
                  <a:close/>
                </a:path>
                <a:path w="858519" h="597535">
                  <a:moveTo>
                    <a:pt x="5435" y="314451"/>
                  </a:moveTo>
                  <a:lnTo>
                    <a:pt x="0" y="314451"/>
                  </a:lnTo>
                  <a:lnTo>
                    <a:pt x="0" y="339216"/>
                  </a:lnTo>
                  <a:lnTo>
                    <a:pt x="5435" y="339216"/>
                  </a:lnTo>
                  <a:lnTo>
                    <a:pt x="5435" y="314451"/>
                  </a:lnTo>
                  <a:close/>
                </a:path>
                <a:path w="858519" h="597535">
                  <a:moveTo>
                    <a:pt x="5435" y="356615"/>
                  </a:moveTo>
                  <a:lnTo>
                    <a:pt x="0" y="356615"/>
                  </a:lnTo>
                  <a:lnTo>
                    <a:pt x="0" y="380619"/>
                  </a:lnTo>
                  <a:lnTo>
                    <a:pt x="5435" y="380619"/>
                  </a:lnTo>
                  <a:lnTo>
                    <a:pt x="5435" y="356615"/>
                  </a:lnTo>
                  <a:close/>
                </a:path>
                <a:path w="858519" h="597535">
                  <a:moveTo>
                    <a:pt x="5435" y="398779"/>
                  </a:moveTo>
                  <a:lnTo>
                    <a:pt x="0" y="398779"/>
                  </a:lnTo>
                  <a:lnTo>
                    <a:pt x="0" y="422782"/>
                  </a:lnTo>
                  <a:lnTo>
                    <a:pt x="5435" y="422782"/>
                  </a:lnTo>
                  <a:lnTo>
                    <a:pt x="5435" y="398779"/>
                  </a:lnTo>
                  <a:close/>
                </a:path>
                <a:path w="858519" h="597535">
                  <a:moveTo>
                    <a:pt x="5435" y="441070"/>
                  </a:moveTo>
                  <a:lnTo>
                    <a:pt x="0" y="441070"/>
                  </a:lnTo>
                  <a:lnTo>
                    <a:pt x="0" y="465073"/>
                  </a:lnTo>
                  <a:lnTo>
                    <a:pt x="5435" y="465073"/>
                  </a:lnTo>
                  <a:lnTo>
                    <a:pt x="5435" y="441070"/>
                  </a:lnTo>
                  <a:close/>
                </a:path>
                <a:path w="858519" h="597535">
                  <a:moveTo>
                    <a:pt x="5435" y="483234"/>
                  </a:moveTo>
                  <a:lnTo>
                    <a:pt x="0" y="483234"/>
                  </a:lnTo>
                  <a:lnTo>
                    <a:pt x="0" y="507238"/>
                  </a:lnTo>
                  <a:lnTo>
                    <a:pt x="5435" y="507238"/>
                  </a:lnTo>
                  <a:lnTo>
                    <a:pt x="5435" y="483234"/>
                  </a:lnTo>
                  <a:close/>
                </a:path>
                <a:path w="858519" h="597535">
                  <a:moveTo>
                    <a:pt x="5435" y="525398"/>
                  </a:moveTo>
                  <a:lnTo>
                    <a:pt x="0" y="525398"/>
                  </a:lnTo>
                  <a:lnTo>
                    <a:pt x="0" y="549401"/>
                  </a:lnTo>
                  <a:lnTo>
                    <a:pt x="5435" y="549401"/>
                  </a:lnTo>
                  <a:lnTo>
                    <a:pt x="5435" y="525398"/>
                  </a:lnTo>
                  <a:close/>
                </a:path>
                <a:path w="858519" h="597535">
                  <a:moveTo>
                    <a:pt x="5435" y="567563"/>
                  </a:moveTo>
                  <a:lnTo>
                    <a:pt x="0" y="567563"/>
                  </a:lnTo>
                  <a:lnTo>
                    <a:pt x="0" y="591565"/>
                  </a:lnTo>
                  <a:lnTo>
                    <a:pt x="5435" y="591565"/>
                  </a:lnTo>
                  <a:lnTo>
                    <a:pt x="5435" y="567563"/>
                  </a:lnTo>
                  <a:close/>
                </a:path>
                <a:path w="858519" h="597535">
                  <a:moveTo>
                    <a:pt x="38861" y="591565"/>
                  </a:moveTo>
                  <a:lnTo>
                    <a:pt x="16319" y="591565"/>
                  </a:lnTo>
                  <a:lnTo>
                    <a:pt x="16319" y="597407"/>
                  </a:lnTo>
                  <a:lnTo>
                    <a:pt x="38861" y="597407"/>
                  </a:lnTo>
                  <a:lnTo>
                    <a:pt x="38861" y="591565"/>
                  </a:lnTo>
                  <a:close/>
                </a:path>
                <a:path w="858519" h="597535">
                  <a:moveTo>
                    <a:pt x="78498" y="591565"/>
                  </a:moveTo>
                  <a:lnTo>
                    <a:pt x="55956" y="591565"/>
                  </a:lnTo>
                  <a:lnTo>
                    <a:pt x="55956" y="597407"/>
                  </a:lnTo>
                  <a:lnTo>
                    <a:pt x="78498" y="597407"/>
                  </a:lnTo>
                  <a:lnTo>
                    <a:pt x="78498" y="591565"/>
                  </a:lnTo>
                  <a:close/>
                </a:path>
                <a:path w="858519" h="597535">
                  <a:moveTo>
                    <a:pt x="118135" y="591565"/>
                  </a:moveTo>
                  <a:lnTo>
                    <a:pt x="95592" y="591565"/>
                  </a:lnTo>
                  <a:lnTo>
                    <a:pt x="95592" y="597407"/>
                  </a:lnTo>
                  <a:lnTo>
                    <a:pt x="118135" y="597407"/>
                  </a:lnTo>
                  <a:lnTo>
                    <a:pt x="118135" y="591565"/>
                  </a:lnTo>
                  <a:close/>
                </a:path>
                <a:path w="858519" h="597535">
                  <a:moveTo>
                    <a:pt x="157772" y="591565"/>
                  </a:moveTo>
                  <a:lnTo>
                    <a:pt x="135229" y="591565"/>
                  </a:lnTo>
                  <a:lnTo>
                    <a:pt x="135229" y="597407"/>
                  </a:lnTo>
                  <a:lnTo>
                    <a:pt x="157772" y="597407"/>
                  </a:lnTo>
                  <a:lnTo>
                    <a:pt x="157772" y="591565"/>
                  </a:lnTo>
                  <a:close/>
                </a:path>
                <a:path w="858519" h="597535">
                  <a:moveTo>
                    <a:pt x="197408" y="591565"/>
                  </a:moveTo>
                  <a:lnTo>
                    <a:pt x="174866" y="591565"/>
                  </a:lnTo>
                  <a:lnTo>
                    <a:pt x="174866" y="597407"/>
                  </a:lnTo>
                  <a:lnTo>
                    <a:pt x="197408" y="597407"/>
                  </a:lnTo>
                  <a:lnTo>
                    <a:pt x="197408" y="591565"/>
                  </a:lnTo>
                  <a:close/>
                </a:path>
                <a:path w="858519" h="597535">
                  <a:moveTo>
                    <a:pt x="237045" y="591565"/>
                  </a:moveTo>
                  <a:lnTo>
                    <a:pt x="214503" y="591565"/>
                  </a:lnTo>
                  <a:lnTo>
                    <a:pt x="214503" y="597407"/>
                  </a:lnTo>
                  <a:lnTo>
                    <a:pt x="237045" y="597407"/>
                  </a:lnTo>
                  <a:lnTo>
                    <a:pt x="237045" y="591565"/>
                  </a:lnTo>
                  <a:close/>
                </a:path>
                <a:path w="858519" h="597535">
                  <a:moveTo>
                    <a:pt x="275894" y="591565"/>
                  </a:moveTo>
                  <a:lnTo>
                    <a:pt x="253364" y="591565"/>
                  </a:lnTo>
                  <a:lnTo>
                    <a:pt x="253364" y="597407"/>
                  </a:lnTo>
                  <a:lnTo>
                    <a:pt x="275894" y="597407"/>
                  </a:lnTo>
                  <a:lnTo>
                    <a:pt x="275894" y="591565"/>
                  </a:lnTo>
                  <a:close/>
                </a:path>
                <a:path w="858519" h="597535">
                  <a:moveTo>
                    <a:pt x="315531" y="591565"/>
                  </a:moveTo>
                  <a:lnTo>
                    <a:pt x="293001" y="591565"/>
                  </a:lnTo>
                  <a:lnTo>
                    <a:pt x="293001" y="597407"/>
                  </a:lnTo>
                  <a:lnTo>
                    <a:pt x="315531" y="597407"/>
                  </a:lnTo>
                  <a:lnTo>
                    <a:pt x="315531" y="591565"/>
                  </a:lnTo>
                  <a:close/>
                </a:path>
                <a:path w="858519" h="597535">
                  <a:moveTo>
                    <a:pt x="355168" y="591565"/>
                  </a:moveTo>
                  <a:lnTo>
                    <a:pt x="332638" y="591565"/>
                  </a:lnTo>
                  <a:lnTo>
                    <a:pt x="332638" y="597407"/>
                  </a:lnTo>
                  <a:lnTo>
                    <a:pt x="355168" y="597407"/>
                  </a:lnTo>
                  <a:lnTo>
                    <a:pt x="355168" y="591565"/>
                  </a:lnTo>
                  <a:close/>
                </a:path>
                <a:path w="858519" h="597535">
                  <a:moveTo>
                    <a:pt x="394804" y="591565"/>
                  </a:moveTo>
                  <a:lnTo>
                    <a:pt x="372275" y="591565"/>
                  </a:lnTo>
                  <a:lnTo>
                    <a:pt x="372275" y="597407"/>
                  </a:lnTo>
                  <a:lnTo>
                    <a:pt x="394804" y="597407"/>
                  </a:lnTo>
                  <a:lnTo>
                    <a:pt x="394804" y="591565"/>
                  </a:lnTo>
                  <a:close/>
                </a:path>
                <a:path w="858519" h="597535">
                  <a:moveTo>
                    <a:pt x="434441" y="591565"/>
                  </a:moveTo>
                  <a:lnTo>
                    <a:pt x="411911" y="591565"/>
                  </a:lnTo>
                  <a:lnTo>
                    <a:pt x="411911" y="597407"/>
                  </a:lnTo>
                  <a:lnTo>
                    <a:pt x="434441" y="597407"/>
                  </a:lnTo>
                  <a:lnTo>
                    <a:pt x="434441" y="591565"/>
                  </a:lnTo>
                  <a:close/>
                </a:path>
                <a:path w="858519" h="597535">
                  <a:moveTo>
                    <a:pt x="473303" y="591565"/>
                  </a:moveTo>
                  <a:lnTo>
                    <a:pt x="450761" y="591565"/>
                  </a:lnTo>
                  <a:lnTo>
                    <a:pt x="450761" y="597407"/>
                  </a:lnTo>
                  <a:lnTo>
                    <a:pt x="473303" y="597407"/>
                  </a:lnTo>
                  <a:lnTo>
                    <a:pt x="473303" y="591565"/>
                  </a:lnTo>
                  <a:close/>
                </a:path>
                <a:path w="858519" h="597535">
                  <a:moveTo>
                    <a:pt x="512940" y="591565"/>
                  </a:moveTo>
                  <a:lnTo>
                    <a:pt x="490397" y="591565"/>
                  </a:lnTo>
                  <a:lnTo>
                    <a:pt x="490397" y="597407"/>
                  </a:lnTo>
                  <a:lnTo>
                    <a:pt x="512940" y="597407"/>
                  </a:lnTo>
                  <a:lnTo>
                    <a:pt x="512940" y="591565"/>
                  </a:lnTo>
                  <a:close/>
                </a:path>
                <a:path w="858519" h="597535">
                  <a:moveTo>
                    <a:pt x="552577" y="591565"/>
                  </a:moveTo>
                  <a:lnTo>
                    <a:pt x="530034" y="591565"/>
                  </a:lnTo>
                  <a:lnTo>
                    <a:pt x="530034" y="597407"/>
                  </a:lnTo>
                  <a:lnTo>
                    <a:pt x="552577" y="597407"/>
                  </a:lnTo>
                  <a:lnTo>
                    <a:pt x="552577" y="591565"/>
                  </a:lnTo>
                  <a:close/>
                </a:path>
                <a:path w="858519" h="597535">
                  <a:moveTo>
                    <a:pt x="592213" y="591565"/>
                  </a:moveTo>
                  <a:lnTo>
                    <a:pt x="569671" y="591565"/>
                  </a:lnTo>
                  <a:lnTo>
                    <a:pt x="569671" y="597407"/>
                  </a:lnTo>
                  <a:lnTo>
                    <a:pt x="592213" y="597407"/>
                  </a:lnTo>
                  <a:lnTo>
                    <a:pt x="592213" y="591565"/>
                  </a:lnTo>
                  <a:close/>
                </a:path>
                <a:path w="858519" h="597535">
                  <a:moveTo>
                    <a:pt x="631850" y="591565"/>
                  </a:moveTo>
                  <a:lnTo>
                    <a:pt x="609307" y="591565"/>
                  </a:lnTo>
                  <a:lnTo>
                    <a:pt x="609307" y="597407"/>
                  </a:lnTo>
                  <a:lnTo>
                    <a:pt x="631850" y="597407"/>
                  </a:lnTo>
                  <a:lnTo>
                    <a:pt x="631850" y="591565"/>
                  </a:lnTo>
                  <a:close/>
                </a:path>
                <a:path w="858519" h="597535">
                  <a:moveTo>
                    <a:pt x="671487" y="591565"/>
                  </a:moveTo>
                  <a:lnTo>
                    <a:pt x="648944" y="591565"/>
                  </a:lnTo>
                  <a:lnTo>
                    <a:pt x="648944" y="597407"/>
                  </a:lnTo>
                  <a:lnTo>
                    <a:pt x="671487" y="597407"/>
                  </a:lnTo>
                  <a:lnTo>
                    <a:pt x="671487" y="591565"/>
                  </a:lnTo>
                  <a:close/>
                </a:path>
                <a:path w="858519" h="597535">
                  <a:moveTo>
                    <a:pt x="710349" y="591565"/>
                  </a:moveTo>
                  <a:lnTo>
                    <a:pt x="687806" y="591565"/>
                  </a:lnTo>
                  <a:lnTo>
                    <a:pt x="687806" y="597407"/>
                  </a:lnTo>
                  <a:lnTo>
                    <a:pt x="710349" y="597407"/>
                  </a:lnTo>
                  <a:lnTo>
                    <a:pt x="710349" y="591565"/>
                  </a:lnTo>
                  <a:close/>
                </a:path>
                <a:path w="858519" h="597535">
                  <a:moveTo>
                    <a:pt x="749985" y="591565"/>
                  </a:moveTo>
                  <a:lnTo>
                    <a:pt x="727443" y="591565"/>
                  </a:lnTo>
                  <a:lnTo>
                    <a:pt x="727443" y="597407"/>
                  </a:lnTo>
                  <a:lnTo>
                    <a:pt x="749985" y="597407"/>
                  </a:lnTo>
                  <a:lnTo>
                    <a:pt x="749985" y="591565"/>
                  </a:lnTo>
                  <a:close/>
                </a:path>
                <a:path w="858519" h="597535">
                  <a:moveTo>
                    <a:pt x="789622" y="591565"/>
                  </a:moveTo>
                  <a:lnTo>
                    <a:pt x="767080" y="591565"/>
                  </a:lnTo>
                  <a:lnTo>
                    <a:pt x="767080" y="597407"/>
                  </a:lnTo>
                  <a:lnTo>
                    <a:pt x="789622" y="597407"/>
                  </a:lnTo>
                  <a:lnTo>
                    <a:pt x="789622" y="591565"/>
                  </a:lnTo>
                  <a:close/>
                </a:path>
                <a:path w="858519" h="597535">
                  <a:moveTo>
                    <a:pt x="829310" y="591565"/>
                  </a:moveTo>
                  <a:lnTo>
                    <a:pt x="806704" y="591565"/>
                  </a:lnTo>
                  <a:lnTo>
                    <a:pt x="806704" y="597407"/>
                  </a:lnTo>
                  <a:lnTo>
                    <a:pt x="829310" y="597407"/>
                  </a:lnTo>
                  <a:lnTo>
                    <a:pt x="829310" y="591565"/>
                  </a:lnTo>
                  <a:close/>
                </a:path>
                <a:path w="858519" h="597535">
                  <a:moveTo>
                    <a:pt x="852551" y="591565"/>
                  </a:moveTo>
                  <a:lnTo>
                    <a:pt x="846327" y="591565"/>
                  </a:lnTo>
                  <a:lnTo>
                    <a:pt x="846327" y="597407"/>
                  </a:lnTo>
                  <a:lnTo>
                    <a:pt x="858012" y="597407"/>
                  </a:lnTo>
                  <a:lnTo>
                    <a:pt x="858012" y="594105"/>
                  </a:lnTo>
                  <a:lnTo>
                    <a:pt x="852551" y="594105"/>
                  </a:lnTo>
                  <a:lnTo>
                    <a:pt x="852551" y="591565"/>
                  </a:lnTo>
                  <a:close/>
                </a:path>
                <a:path w="858519" h="597535">
                  <a:moveTo>
                    <a:pt x="858012" y="580008"/>
                  </a:moveTo>
                  <a:lnTo>
                    <a:pt x="852551" y="580008"/>
                  </a:lnTo>
                  <a:lnTo>
                    <a:pt x="852551" y="591565"/>
                  </a:lnTo>
                  <a:lnTo>
                    <a:pt x="855726" y="591565"/>
                  </a:lnTo>
                  <a:lnTo>
                    <a:pt x="852551" y="594105"/>
                  </a:lnTo>
                  <a:lnTo>
                    <a:pt x="858012" y="594105"/>
                  </a:lnTo>
                  <a:lnTo>
                    <a:pt x="858012" y="580008"/>
                  </a:lnTo>
                  <a:close/>
                </a:path>
                <a:path w="858519" h="597535">
                  <a:moveTo>
                    <a:pt x="858012" y="537844"/>
                  </a:moveTo>
                  <a:lnTo>
                    <a:pt x="852551" y="537844"/>
                  </a:lnTo>
                  <a:lnTo>
                    <a:pt x="852551" y="561847"/>
                  </a:lnTo>
                  <a:lnTo>
                    <a:pt x="858012" y="561847"/>
                  </a:lnTo>
                  <a:lnTo>
                    <a:pt x="858012" y="537844"/>
                  </a:lnTo>
                  <a:close/>
                </a:path>
                <a:path w="858519" h="597535">
                  <a:moveTo>
                    <a:pt x="858012" y="496442"/>
                  </a:moveTo>
                  <a:lnTo>
                    <a:pt x="852551" y="496442"/>
                  </a:lnTo>
                  <a:lnTo>
                    <a:pt x="852551" y="520445"/>
                  </a:lnTo>
                  <a:lnTo>
                    <a:pt x="858012" y="520445"/>
                  </a:lnTo>
                  <a:lnTo>
                    <a:pt x="858012" y="496442"/>
                  </a:lnTo>
                  <a:close/>
                </a:path>
                <a:path w="858519" h="597535">
                  <a:moveTo>
                    <a:pt x="858012" y="454278"/>
                  </a:moveTo>
                  <a:lnTo>
                    <a:pt x="852551" y="454278"/>
                  </a:lnTo>
                  <a:lnTo>
                    <a:pt x="852551" y="478281"/>
                  </a:lnTo>
                  <a:lnTo>
                    <a:pt x="858012" y="478281"/>
                  </a:lnTo>
                  <a:lnTo>
                    <a:pt x="858012" y="454278"/>
                  </a:lnTo>
                  <a:close/>
                </a:path>
                <a:path w="858519" h="597535">
                  <a:moveTo>
                    <a:pt x="858012" y="412114"/>
                  </a:moveTo>
                  <a:lnTo>
                    <a:pt x="852551" y="412114"/>
                  </a:lnTo>
                  <a:lnTo>
                    <a:pt x="852551" y="436117"/>
                  </a:lnTo>
                  <a:lnTo>
                    <a:pt x="858012" y="436117"/>
                  </a:lnTo>
                  <a:lnTo>
                    <a:pt x="858012" y="412114"/>
                  </a:lnTo>
                  <a:close/>
                </a:path>
                <a:path w="858519" h="597535">
                  <a:moveTo>
                    <a:pt x="858012" y="369823"/>
                  </a:moveTo>
                  <a:lnTo>
                    <a:pt x="852551" y="369823"/>
                  </a:lnTo>
                  <a:lnTo>
                    <a:pt x="852551" y="393826"/>
                  </a:lnTo>
                  <a:lnTo>
                    <a:pt x="858012" y="393826"/>
                  </a:lnTo>
                  <a:lnTo>
                    <a:pt x="858012" y="369823"/>
                  </a:lnTo>
                  <a:close/>
                </a:path>
                <a:path w="858519" h="597535">
                  <a:moveTo>
                    <a:pt x="858012" y="327659"/>
                  </a:moveTo>
                  <a:lnTo>
                    <a:pt x="852551" y="327659"/>
                  </a:lnTo>
                  <a:lnTo>
                    <a:pt x="852551" y="351663"/>
                  </a:lnTo>
                  <a:lnTo>
                    <a:pt x="858012" y="351663"/>
                  </a:lnTo>
                  <a:lnTo>
                    <a:pt x="858012" y="327659"/>
                  </a:lnTo>
                  <a:close/>
                </a:path>
                <a:path w="858519" h="597535">
                  <a:moveTo>
                    <a:pt x="858012" y="285495"/>
                  </a:moveTo>
                  <a:lnTo>
                    <a:pt x="852551" y="285495"/>
                  </a:lnTo>
                  <a:lnTo>
                    <a:pt x="852551" y="309498"/>
                  </a:lnTo>
                  <a:lnTo>
                    <a:pt x="858012" y="309498"/>
                  </a:lnTo>
                  <a:lnTo>
                    <a:pt x="858012" y="285495"/>
                  </a:lnTo>
                  <a:close/>
                </a:path>
                <a:path w="858519" h="597535">
                  <a:moveTo>
                    <a:pt x="858012" y="243204"/>
                  </a:moveTo>
                  <a:lnTo>
                    <a:pt x="852551" y="243204"/>
                  </a:lnTo>
                  <a:lnTo>
                    <a:pt x="852551" y="268096"/>
                  </a:lnTo>
                  <a:lnTo>
                    <a:pt x="858012" y="268096"/>
                  </a:lnTo>
                  <a:lnTo>
                    <a:pt x="858012" y="243204"/>
                  </a:lnTo>
                  <a:close/>
                </a:path>
                <a:path w="858519" h="597535">
                  <a:moveTo>
                    <a:pt x="858012" y="201929"/>
                  </a:moveTo>
                  <a:lnTo>
                    <a:pt x="852551" y="201929"/>
                  </a:lnTo>
                  <a:lnTo>
                    <a:pt x="852551" y="225932"/>
                  </a:lnTo>
                  <a:lnTo>
                    <a:pt x="858012" y="225932"/>
                  </a:lnTo>
                  <a:lnTo>
                    <a:pt x="858012" y="201929"/>
                  </a:lnTo>
                  <a:close/>
                </a:path>
                <a:path w="858519" h="597535">
                  <a:moveTo>
                    <a:pt x="858012" y="159638"/>
                  </a:moveTo>
                  <a:lnTo>
                    <a:pt x="852551" y="159638"/>
                  </a:lnTo>
                  <a:lnTo>
                    <a:pt x="852551" y="183641"/>
                  </a:lnTo>
                  <a:lnTo>
                    <a:pt x="858012" y="183641"/>
                  </a:lnTo>
                  <a:lnTo>
                    <a:pt x="858012" y="159638"/>
                  </a:lnTo>
                  <a:close/>
                </a:path>
                <a:path w="858519" h="597535">
                  <a:moveTo>
                    <a:pt x="858012" y="117475"/>
                  </a:moveTo>
                  <a:lnTo>
                    <a:pt x="852551" y="117475"/>
                  </a:lnTo>
                  <a:lnTo>
                    <a:pt x="852551" y="141477"/>
                  </a:lnTo>
                  <a:lnTo>
                    <a:pt x="858012" y="141477"/>
                  </a:lnTo>
                  <a:lnTo>
                    <a:pt x="858012" y="117475"/>
                  </a:lnTo>
                  <a:close/>
                </a:path>
                <a:path w="858519" h="597535">
                  <a:moveTo>
                    <a:pt x="858012" y="75310"/>
                  </a:moveTo>
                  <a:lnTo>
                    <a:pt x="852551" y="75310"/>
                  </a:lnTo>
                  <a:lnTo>
                    <a:pt x="852551" y="99313"/>
                  </a:lnTo>
                  <a:lnTo>
                    <a:pt x="858012" y="99313"/>
                  </a:lnTo>
                  <a:lnTo>
                    <a:pt x="858012" y="75310"/>
                  </a:lnTo>
                  <a:close/>
                </a:path>
                <a:path w="858519" h="597535">
                  <a:moveTo>
                    <a:pt x="858012" y="33147"/>
                  </a:moveTo>
                  <a:lnTo>
                    <a:pt x="852551" y="33147"/>
                  </a:lnTo>
                  <a:lnTo>
                    <a:pt x="852551" y="57150"/>
                  </a:lnTo>
                  <a:lnTo>
                    <a:pt x="858012" y="57150"/>
                  </a:lnTo>
                  <a:lnTo>
                    <a:pt x="858012" y="33147"/>
                  </a:lnTo>
                  <a:close/>
                </a:path>
              </a:pathLst>
            </a:custGeom>
            <a:solidFill>
              <a:srgbClr val="000000"/>
            </a:solidFill>
          </p:spPr>
          <p:txBody>
            <a:bodyPr wrap="square" lIns="0" tIns="0" rIns="0" bIns="0" rtlCol="0"/>
            <a:lstStyle/>
            <a:p/>
          </p:txBody>
        </p:sp>
        <p:sp>
          <p:nvSpPr>
            <p:cNvPr id="119" name="object 7"/>
            <p:cNvSpPr/>
            <p:nvPr/>
          </p:nvSpPr>
          <p:spPr>
            <a:xfrm>
              <a:off x="476948" y="1855343"/>
              <a:ext cx="854710" cy="0"/>
            </a:xfrm>
            <a:custGeom>
              <a:avLst/>
              <a:gdLst/>
              <a:ahLst/>
              <a:cxnLst/>
              <a:rect l="l" t="t" r="r" b="b"/>
              <a:pathLst>
                <a:path w="854710">
                  <a:moveTo>
                    <a:pt x="0" y="0"/>
                  </a:moveTo>
                  <a:lnTo>
                    <a:pt x="854392" y="0"/>
                  </a:lnTo>
                </a:path>
              </a:pathLst>
            </a:custGeom>
            <a:ln w="7619">
              <a:solidFill>
                <a:srgbClr val="000000"/>
              </a:solidFill>
              <a:prstDash val="sysDash"/>
            </a:ln>
          </p:spPr>
          <p:txBody>
            <a:bodyPr wrap="square" lIns="0" tIns="0" rIns="0" bIns="0" rtlCol="0"/>
            <a:lstStyle/>
            <a:p/>
          </p:txBody>
        </p:sp>
        <p:sp>
          <p:nvSpPr>
            <p:cNvPr id="120" name="object 8"/>
            <p:cNvSpPr/>
            <p:nvPr/>
          </p:nvSpPr>
          <p:spPr>
            <a:xfrm>
              <a:off x="477443" y="1872233"/>
              <a:ext cx="0" cy="572770"/>
            </a:xfrm>
            <a:custGeom>
              <a:avLst/>
              <a:gdLst/>
              <a:ahLst/>
              <a:cxnLst/>
              <a:rect l="l" t="t" r="r" b="b"/>
              <a:pathLst>
                <a:path h="572769">
                  <a:moveTo>
                    <a:pt x="0" y="0"/>
                  </a:moveTo>
                  <a:lnTo>
                    <a:pt x="0" y="572642"/>
                  </a:lnTo>
                </a:path>
              </a:pathLst>
            </a:custGeom>
            <a:ln w="7213">
              <a:solidFill>
                <a:srgbClr val="000000"/>
              </a:solidFill>
              <a:prstDash val="sysDash"/>
            </a:ln>
          </p:spPr>
          <p:txBody>
            <a:bodyPr wrap="square" lIns="0" tIns="0" rIns="0" bIns="0" rtlCol="0"/>
            <a:lstStyle/>
            <a:p/>
          </p:txBody>
        </p:sp>
        <p:sp>
          <p:nvSpPr>
            <p:cNvPr id="121" name="object 9"/>
            <p:cNvSpPr/>
            <p:nvPr/>
          </p:nvSpPr>
          <p:spPr>
            <a:xfrm>
              <a:off x="490156" y="2446908"/>
              <a:ext cx="815340" cy="0"/>
            </a:xfrm>
            <a:custGeom>
              <a:avLst/>
              <a:gdLst/>
              <a:ahLst/>
              <a:cxnLst/>
              <a:rect l="l" t="t" r="r" b="b"/>
              <a:pathLst>
                <a:path w="815340">
                  <a:moveTo>
                    <a:pt x="0" y="0"/>
                  </a:moveTo>
                  <a:lnTo>
                    <a:pt x="814768" y="0"/>
                  </a:lnTo>
                </a:path>
              </a:pathLst>
            </a:custGeom>
            <a:ln w="7619">
              <a:solidFill>
                <a:srgbClr val="000000"/>
              </a:solidFill>
              <a:prstDash val="sysDash"/>
            </a:ln>
          </p:spPr>
          <p:txBody>
            <a:bodyPr wrap="square" lIns="0" tIns="0" rIns="0" bIns="0" rtlCol="0"/>
            <a:lstStyle/>
            <a:p/>
          </p:txBody>
        </p:sp>
        <p:sp>
          <p:nvSpPr>
            <p:cNvPr id="122" name="object 10"/>
            <p:cNvSpPr/>
            <p:nvPr/>
          </p:nvSpPr>
          <p:spPr>
            <a:xfrm>
              <a:off x="1321054" y="2432430"/>
              <a:ext cx="12065" cy="17780"/>
            </a:xfrm>
            <a:custGeom>
              <a:avLst/>
              <a:gdLst/>
              <a:ahLst/>
              <a:cxnLst/>
              <a:rect l="l" t="t" r="r" b="b"/>
              <a:pathLst>
                <a:path w="12065" h="17780">
                  <a:moveTo>
                    <a:pt x="0" y="11556"/>
                  </a:moveTo>
                  <a:lnTo>
                    <a:pt x="9398" y="11556"/>
                  </a:lnTo>
                  <a:lnTo>
                    <a:pt x="6223" y="14096"/>
                  </a:lnTo>
                  <a:lnTo>
                    <a:pt x="6223" y="0"/>
                  </a:lnTo>
                  <a:lnTo>
                    <a:pt x="11684" y="0"/>
                  </a:lnTo>
                  <a:lnTo>
                    <a:pt x="11684" y="17399"/>
                  </a:lnTo>
                  <a:lnTo>
                    <a:pt x="0" y="17399"/>
                  </a:lnTo>
                  <a:lnTo>
                    <a:pt x="0" y="11556"/>
                  </a:lnTo>
                  <a:close/>
                </a:path>
              </a:pathLst>
            </a:custGeom>
            <a:ln w="3175">
              <a:solidFill>
                <a:srgbClr val="000000"/>
              </a:solidFill>
            </a:ln>
          </p:spPr>
          <p:txBody>
            <a:bodyPr wrap="square" lIns="0" tIns="0" rIns="0" bIns="0" rtlCol="0"/>
            <a:lstStyle/>
            <a:p/>
          </p:txBody>
        </p:sp>
        <p:sp>
          <p:nvSpPr>
            <p:cNvPr id="123" name="object 11"/>
            <p:cNvSpPr/>
            <p:nvPr/>
          </p:nvSpPr>
          <p:spPr>
            <a:xfrm>
              <a:off x="1330007" y="1854835"/>
              <a:ext cx="0" cy="560705"/>
            </a:xfrm>
            <a:custGeom>
              <a:avLst/>
              <a:gdLst/>
              <a:ahLst/>
              <a:cxnLst/>
              <a:rect l="l" t="t" r="r" b="b"/>
              <a:pathLst>
                <a:path h="560705">
                  <a:moveTo>
                    <a:pt x="0" y="0"/>
                  </a:moveTo>
                  <a:lnTo>
                    <a:pt x="0" y="560323"/>
                  </a:lnTo>
                </a:path>
              </a:pathLst>
            </a:custGeom>
            <a:ln w="7238">
              <a:solidFill>
                <a:srgbClr val="000000"/>
              </a:solidFill>
              <a:prstDash val="sysDash"/>
            </a:ln>
          </p:spPr>
          <p:txBody>
            <a:bodyPr wrap="square" lIns="0" tIns="0" rIns="0" bIns="0" rtlCol="0"/>
            <a:lstStyle/>
            <a:p/>
          </p:txBody>
        </p:sp>
      </p:grpSp>
      <p:sp>
        <p:nvSpPr>
          <p:cNvPr id="124" name="object 12"/>
          <p:cNvSpPr txBox="1"/>
          <p:nvPr/>
        </p:nvSpPr>
        <p:spPr>
          <a:xfrm>
            <a:off x="436270" y="2058924"/>
            <a:ext cx="167005" cy="140970"/>
          </a:xfrm>
          <a:prstGeom prst="rect">
            <a:avLst/>
          </a:prstGeom>
        </p:spPr>
        <p:txBody>
          <a:bodyPr vert="horz" wrap="square" lIns="0" tIns="13335" rIns="0" bIns="0" rtlCol="0">
            <a:spAutoFit/>
          </a:bodyPr>
          <a:lstStyle/>
          <a:p>
            <a:pPr marL="12700">
              <a:lnSpc>
                <a:spcPct val="100000"/>
              </a:lnSpc>
              <a:spcBef>
                <a:spcPts val="105"/>
              </a:spcBef>
            </a:pPr>
            <a:r>
              <a:rPr sz="750" spc="-25" dirty="0">
                <a:latin typeface="Calibri" panose="020F0502020204030204"/>
                <a:cs typeface="Calibri" panose="020F0502020204030204"/>
              </a:rPr>
              <a:t>CLK</a:t>
            </a:r>
            <a:endParaRPr sz="750">
              <a:latin typeface="Calibri" panose="020F0502020204030204"/>
              <a:cs typeface="Calibri" panose="020F0502020204030204"/>
            </a:endParaRPr>
          </a:p>
        </p:txBody>
      </p:sp>
      <p:sp>
        <p:nvSpPr>
          <p:cNvPr id="125" name="object 13"/>
          <p:cNvSpPr txBox="1"/>
          <p:nvPr/>
        </p:nvSpPr>
        <p:spPr>
          <a:xfrm>
            <a:off x="946505" y="1281176"/>
            <a:ext cx="615950" cy="162560"/>
          </a:xfrm>
          <a:prstGeom prst="rect">
            <a:avLst/>
          </a:prstGeom>
        </p:spPr>
        <p:txBody>
          <a:bodyPr vert="horz" wrap="square" lIns="0" tIns="12700" rIns="0" bIns="0" rtlCol="0">
            <a:spAutoFit/>
          </a:bodyPr>
          <a:lstStyle/>
          <a:p>
            <a:pPr marL="12700">
              <a:lnSpc>
                <a:spcPct val="100000"/>
              </a:lnSpc>
              <a:spcBef>
                <a:spcPts val="100"/>
              </a:spcBef>
            </a:pPr>
            <a:r>
              <a:rPr sz="900" b="1" dirty="0">
                <a:solidFill>
                  <a:srgbClr val="34352F"/>
                </a:solidFill>
                <a:latin typeface="Calibri" panose="020F0502020204030204"/>
                <a:cs typeface="Calibri" panose="020F0502020204030204"/>
              </a:rPr>
              <a:t>Clock</a:t>
            </a:r>
            <a:r>
              <a:rPr sz="900" b="1" spc="-25" dirty="0">
                <a:solidFill>
                  <a:srgbClr val="34352F"/>
                </a:solidFill>
                <a:latin typeface="Calibri" panose="020F0502020204030204"/>
                <a:cs typeface="Calibri" panose="020F0502020204030204"/>
              </a:rPr>
              <a:t> </a:t>
            </a:r>
            <a:r>
              <a:rPr sz="900" b="1" spc="-10" dirty="0">
                <a:solidFill>
                  <a:srgbClr val="34352F"/>
                </a:solidFill>
                <a:latin typeface="Calibri" panose="020F0502020204030204"/>
                <a:cs typeface="Calibri" panose="020F0502020204030204"/>
              </a:rPr>
              <a:t>Gating</a:t>
            </a:r>
            <a:endParaRPr sz="900">
              <a:latin typeface="Calibri" panose="020F0502020204030204"/>
              <a:cs typeface="Calibri" panose="020F0502020204030204"/>
            </a:endParaRPr>
          </a:p>
        </p:txBody>
      </p:sp>
      <p:grpSp>
        <p:nvGrpSpPr>
          <p:cNvPr id="126" name="object 14"/>
          <p:cNvGrpSpPr/>
          <p:nvPr/>
        </p:nvGrpSpPr>
        <p:grpSpPr>
          <a:xfrm>
            <a:off x="527303" y="1467815"/>
            <a:ext cx="1303020" cy="1068705"/>
            <a:chOff x="390143" y="1697685"/>
            <a:chExt cx="1303020" cy="1068705"/>
          </a:xfrm>
        </p:grpSpPr>
        <p:pic>
          <p:nvPicPr>
            <p:cNvPr id="127" name="object 15"/>
            <p:cNvPicPr/>
            <p:nvPr/>
          </p:nvPicPr>
          <p:blipFill>
            <a:blip r:embed="rId2" cstate="print"/>
            <a:stretch>
              <a:fillRect/>
            </a:stretch>
          </p:blipFill>
          <p:spPr>
            <a:xfrm>
              <a:off x="390143" y="1697685"/>
              <a:ext cx="897610" cy="1068501"/>
            </a:xfrm>
            <a:prstGeom prst="rect">
              <a:avLst/>
            </a:prstGeom>
          </p:spPr>
        </p:pic>
        <p:pic>
          <p:nvPicPr>
            <p:cNvPr id="128" name="object 16"/>
            <p:cNvPicPr/>
            <p:nvPr/>
          </p:nvPicPr>
          <p:blipFill>
            <a:blip r:embed="rId3" cstate="print"/>
            <a:stretch>
              <a:fillRect/>
            </a:stretch>
          </p:blipFill>
          <p:spPr>
            <a:xfrm>
              <a:off x="585215" y="1892807"/>
              <a:ext cx="327659" cy="498348"/>
            </a:xfrm>
            <a:prstGeom prst="rect">
              <a:avLst/>
            </a:prstGeom>
          </p:spPr>
        </p:pic>
        <p:pic>
          <p:nvPicPr>
            <p:cNvPr id="129" name="object 17"/>
            <p:cNvPicPr/>
            <p:nvPr/>
          </p:nvPicPr>
          <p:blipFill>
            <a:blip r:embed="rId4" cstate="print"/>
            <a:stretch>
              <a:fillRect/>
            </a:stretch>
          </p:blipFill>
          <p:spPr>
            <a:xfrm>
              <a:off x="399287" y="2002510"/>
              <a:ext cx="632675" cy="661822"/>
            </a:xfrm>
            <a:prstGeom prst="rect">
              <a:avLst/>
            </a:prstGeom>
          </p:spPr>
        </p:pic>
        <p:pic>
          <p:nvPicPr>
            <p:cNvPr id="130" name="object 18"/>
            <p:cNvPicPr/>
            <p:nvPr/>
          </p:nvPicPr>
          <p:blipFill>
            <a:blip r:embed="rId5" cstate="print"/>
            <a:stretch>
              <a:fillRect/>
            </a:stretch>
          </p:blipFill>
          <p:spPr>
            <a:xfrm>
              <a:off x="789431" y="1783130"/>
              <a:ext cx="903579" cy="808050"/>
            </a:xfrm>
            <a:prstGeom prst="rect">
              <a:avLst/>
            </a:prstGeom>
          </p:spPr>
        </p:pic>
        <p:pic>
          <p:nvPicPr>
            <p:cNvPr id="131" name="object 19"/>
            <p:cNvPicPr/>
            <p:nvPr/>
          </p:nvPicPr>
          <p:blipFill>
            <a:blip r:embed="rId6" cstate="print"/>
            <a:stretch>
              <a:fillRect/>
            </a:stretch>
          </p:blipFill>
          <p:spPr>
            <a:xfrm>
              <a:off x="984503" y="1978151"/>
              <a:ext cx="333756" cy="237744"/>
            </a:xfrm>
            <a:prstGeom prst="rect">
              <a:avLst/>
            </a:prstGeom>
          </p:spPr>
        </p:pic>
        <p:sp>
          <p:nvSpPr>
            <p:cNvPr id="132" name="object 20"/>
            <p:cNvSpPr/>
            <p:nvPr/>
          </p:nvSpPr>
          <p:spPr>
            <a:xfrm>
              <a:off x="676655" y="1990343"/>
              <a:ext cx="210820" cy="154305"/>
            </a:xfrm>
            <a:custGeom>
              <a:avLst/>
              <a:gdLst/>
              <a:ahLst/>
              <a:cxnLst/>
              <a:rect l="l" t="t" r="r" b="b"/>
              <a:pathLst>
                <a:path w="210819" h="154305">
                  <a:moveTo>
                    <a:pt x="210312" y="0"/>
                  </a:moveTo>
                  <a:lnTo>
                    <a:pt x="0" y="0"/>
                  </a:lnTo>
                  <a:lnTo>
                    <a:pt x="0" y="153924"/>
                  </a:lnTo>
                  <a:lnTo>
                    <a:pt x="210312" y="153924"/>
                  </a:lnTo>
                  <a:lnTo>
                    <a:pt x="210312" y="0"/>
                  </a:lnTo>
                  <a:close/>
                </a:path>
              </a:pathLst>
            </a:custGeom>
            <a:solidFill>
              <a:srgbClr val="FEFEFE"/>
            </a:solidFill>
          </p:spPr>
          <p:txBody>
            <a:bodyPr wrap="square" lIns="0" tIns="0" rIns="0" bIns="0" rtlCol="0"/>
            <a:lstStyle/>
            <a:p/>
          </p:txBody>
        </p:sp>
        <p:sp>
          <p:nvSpPr>
            <p:cNvPr id="133" name="object 21"/>
            <p:cNvSpPr/>
            <p:nvPr/>
          </p:nvSpPr>
          <p:spPr>
            <a:xfrm>
              <a:off x="676655" y="1990343"/>
              <a:ext cx="210820" cy="295910"/>
            </a:xfrm>
            <a:custGeom>
              <a:avLst/>
              <a:gdLst/>
              <a:ahLst/>
              <a:cxnLst/>
              <a:rect l="l" t="t" r="r" b="b"/>
              <a:pathLst>
                <a:path w="210819" h="295910">
                  <a:moveTo>
                    <a:pt x="0" y="153924"/>
                  </a:moveTo>
                  <a:lnTo>
                    <a:pt x="210312" y="153924"/>
                  </a:lnTo>
                  <a:lnTo>
                    <a:pt x="210312" y="0"/>
                  </a:lnTo>
                  <a:lnTo>
                    <a:pt x="0" y="0"/>
                  </a:lnTo>
                  <a:lnTo>
                    <a:pt x="0" y="153924"/>
                  </a:lnTo>
                  <a:close/>
                </a:path>
                <a:path w="210819" h="295910">
                  <a:moveTo>
                    <a:pt x="86867" y="295656"/>
                  </a:moveTo>
                  <a:lnTo>
                    <a:pt x="205739" y="295656"/>
                  </a:lnTo>
                  <a:lnTo>
                    <a:pt x="205739" y="141731"/>
                  </a:lnTo>
                  <a:lnTo>
                    <a:pt x="86867" y="141731"/>
                  </a:lnTo>
                  <a:lnTo>
                    <a:pt x="86867" y="295656"/>
                  </a:lnTo>
                  <a:close/>
                </a:path>
              </a:pathLst>
            </a:custGeom>
            <a:ln w="12700">
              <a:solidFill>
                <a:srgbClr val="FEFEFE"/>
              </a:solidFill>
            </a:ln>
          </p:spPr>
          <p:txBody>
            <a:bodyPr wrap="square" lIns="0" tIns="0" rIns="0" bIns="0" rtlCol="0"/>
            <a:lstStyle/>
            <a:p/>
          </p:txBody>
        </p:sp>
      </p:grpSp>
      <p:sp>
        <p:nvSpPr>
          <p:cNvPr id="134" name="object 22"/>
          <p:cNvSpPr txBox="1"/>
          <p:nvPr/>
        </p:nvSpPr>
        <p:spPr>
          <a:xfrm>
            <a:off x="900683" y="1902206"/>
            <a:ext cx="119380" cy="154305"/>
          </a:xfrm>
          <a:prstGeom prst="rect">
            <a:avLst/>
          </a:prstGeom>
          <a:solidFill>
            <a:srgbClr val="FEFEFE"/>
          </a:solidFill>
        </p:spPr>
        <p:txBody>
          <a:bodyPr vert="horz" wrap="square" lIns="0" tIns="0" rIns="0" bIns="0" rtlCol="0">
            <a:spAutoFit/>
          </a:bodyPr>
          <a:lstStyle/>
          <a:p>
            <a:pPr marL="10795">
              <a:lnSpc>
                <a:spcPts val="640"/>
              </a:lnSpc>
            </a:pPr>
            <a:r>
              <a:rPr sz="900" spc="-25" dirty="0">
                <a:solidFill>
                  <a:srgbClr val="0000FE"/>
                </a:solidFill>
                <a:latin typeface="Calibri" panose="020F0502020204030204"/>
                <a:cs typeface="Calibri" panose="020F0502020204030204"/>
              </a:rPr>
              <a:t>LT</a:t>
            </a:r>
            <a:endParaRPr sz="900">
              <a:latin typeface="Calibri" panose="020F0502020204030204"/>
              <a:cs typeface="Calibri" panose="020F0502020204030204"/>
            </a:endParaRPr>
          </a:p>
        </p:txBody>
      </p:sp>
      <p:grpSp>
        <p:nvGrpSpPr>
          <p:cNvPr id="135" name="object 23"/>
          <p:cNvGrpSpPr/>
          <p:nvPr/>
        </p:nvGrpSpPr>
        <p:grpSpPr>
          <a:xfrm>
            <a:off x="434530" y="1176731"/>
            <a:ext cx="2033270" cy="1215390"/>
            <a:chOff x="297370" y="1406601"/>
            <a:chExt cx="2033270" cy="1215390"/>
          </a:xfrm>
        </p:grpSpPr>
        <p:sp>
          <p:nvSpPr>
            <p:cNvPr id="136" name="object 24"/>
            <p:cNvSpPr/>
            <p:nvPr/>
          </p:nvSpPr>
          <p:spPr>
            <a:xfrm>
              <a:off x="915162" y="2045969"/>
              <a:ext cx="124460" cy="0"/>
            </a:xfrm>
            <a:custGeom>
              <a:avLst/>
              <a:gdLst/>
              <a:ahLst/>
              <a:cxnLst/>
              <a:rect l="l" t="t" r="r" b="b"/>
              <a:pathLst>
                <a:path w="124459">
                  <a:moveTo>
                    <a:pt x="0" y="0"/>
                  </a:moveTo>
                  <a:lnTo>
                    <a:pt x="124409" y="0"/>
                  </a:lnTo>
                </a:path>
              </a:pathLst>
            </a:custGeom>
            <a:ln w="28575">
              <a:solidFill>
                <a:srgbClr val="9EA3A5"/>
              </a:solidFill>
            </a:ln>
          </p:spPr>
          <p:txBody>
            <a:bodyPr wrap="square" lIns="0" tIns="0" rIns="0" bIns="0" rtlCol="0"/>
            <a:lstStyle/>
            <a:p/>
          </p:txBody>
        </p:sp>
        <p:sp>
          <p:nvSpPr>
            <p:cNvPr id="137" name="object 25"/>
            <p:cNvSpPr/>
            <p:nvPr/>
          </p:nvSpPr>
          <p:spPr>
            <a:xfrm>
              <a:off x="311658" y="2146553"/>
              <a:ext cx="727075" cy="259715"/>
            </a:xfrm>
            <a:custGeom>
              <a:avLst/>
              <a:gdLst/>
              <a:ahLst/>
              <a:cxnLst/>
              <a:rect l="l" t="t" r="r" b="b"/>
              <a:pathLst>
                <a:path w="727075" h="259714">
                  <a:moveTo>
                    <a:pt x="0" y="259460"/>
                  </a:moveTo>
                  <a:lnTo>
                    <a:pt x="658075" y="259460"/>
                  </a:lnTo>
                  <a:lnTo>
                    <a:pt x="658075" y="0"/>
                  </a:lnTo>
                  <a:lnTo>
                    <a:pt x="726681" y="0"/>
                  </a:lnTo>
                </a:path>
              </a:pathLst>
            </a:custGeom>
            <a:ln w="28575">
              <a:solidFill>
                <a:srgbClr val="34352F"/>
              </a:solidFill>
            </a:ln>
          </p:spPr>
          <p:txBody>
            <a:bodyPr wrap="square" lIns="0" tIns="0" rIns="0" bIns="0" rtlCol="0"/>
            <a:lstStyle/>
            <a:p/>
          </p:txBody>
        </p:sp>
        <p:sp>
          <p:nvSpPr>
            <p:cNvPr id="138" name="object 26"/>
            <p:cNvSpPr/>
            <p:nvPr/>
          </p:nvSpPr>
          <p:spPr>
            <a:xfrm>
              <a:off x="311658" y="2041397"/>
              <a:ext cx="348615" cy="364490"/>
            </a:xfrm>
            <a:custGeom>
              <a:avLst/>
              <a:gdLst/>
              <a:ahLst/>
              <a:cxnLst/>
              <a:rect l="l" t="t" r="r" b="b"/>
              <a:pathLst>
                <a:path w="348615" h="364489">
                  <a:moveTo>
                    <a:pt x="251460" y="199644"/>
                  </a:moveTo>
                  <a:lnTo>
                    <a:pt x="292925" y="199644"/>
                  </a:lnTo>
                </a:path>
                <a:path w="348615" h="364489">
                  <a:moveTo>
                    <a:pt x="256032" y="198119"/>
                  </a:moveTo>
                  <a:lnTo>
                    <a:pt x="256032" y="364108"/>
                  </a:lnTo>
                </a:path>
                <a:path w="348615" h="364489">
                  <a:moveTo>
                    <a:pt x="0" y="0"/>
                  </a:moveTo>
                  <a:lnTo>
                    <a:pt x="348361" y="0"/>
                  </a:lnTo>
                </a:path>
              </a:pathLst>
            </a:custGeom>
            <a:ln w="28575">
              <a:solidFill>
                <a:srgbClr val="9EA3A5"/>
              </a:solidFill>
            </a:ln>
          </p:spPr>
          <p:txBody>
            <a:bodyPr wrap="square" lIns="0" tIns="0" rIns="0" bIns="0" rtlCol="0"/>
            <a:lstStyle/>
            <a:p/>
          </p:txBody>
        </p:sp>
        <p:pic>
          <p:nvPicPr>
            <p:cNvPr id="139" name="object 27"/>
            <p:cNvPicPr/>
            <p:nvPr/>
          </p:nvPicPr>
          <p:blipFill>
            <a:blip r:embed="rId2" cstate="print"/>
            <a:stretch>
              <a:fillRect/>
            </a:stretch>
          </p:blipFill>
          <p:spPr>
            <a:xfrm>
              <a:off x="1432560" y="1406601"/>
              <a:ext cx="897610" cy="1068501"/>
            </a:xfrm>
            <a:prstGeom prst="rect">
              <a:avLst/>
            </a:prstGeom>
          </p:spPr>
        </p:pic>
        <p:pic>
          <p:nvPicPr>
            <p:cNvPr id="140" name="object 28"/>
            <p:cNvPicPr/>
            <p:nvPr/>
          </p:nvPicPr>
          <p:blipFill>
            <a:blip r:embed="rId3" cstate="print"/>
            <a:stretch>
              <a:fillRect/>
            </a:stretch>
          </p:blipFill>
          <p:spPr>
            <a:xfrm>
              <a:off x="1627632" y="1601723"/>
              <a:ext cx="327660" cy="498348"/>
            </a:xfrm>
            <a:prstGeom prst="rect">
              <a:avLst/>
            </a:prstGeom>
          </p:spPr>
        </p:pic>
        <p:pic>
          <p:nvPicPr>
            <p:cNvPr id="141" name="object 29"/>
            <p:cNvPicPr/>
            <p:nvPr/>
          </p:nvPicPr>
          <p:blipFill>
            <a:blip r:embed="rId2" cstate="print"/>
            <a:stretch>
              <a:fillRect/>
            </a:stretch>
          </p:blipFill>
          <p:spPr>
            <a:xfrm>
              <a:off x="1353311" y="1479753"/>
              <a:ext cx="897610" cy="1068501"/>
            </a:xfrm>
            <a:prstGeom prst="rect">
              <a:avLst/>
            </a:prstGeom>
          </p:spPr>
        </p:pic>
        <p:pic>
          <p:nvPicPr>
            <p:cNvPr id="142" name="object 30"/>
            <p:cNvPicPr/>
            <p:nvPr/>
          </p:nvPicPr>
          <p:blipFill>
            <a:blip r:embed="rId3" cstate="print"/>
            <a:stretch>
              <a:fillRect/>
            </a:stretch>
          </p:blipFill>
          <p:spPr>
            <a:xfrm>
              <a:off x="1548383" y="1674875"/>
              <a:ext cx="327659" cy="498348"/>
            </a:xfrm>
            <a:prstGeom prst="rect">
              <a:avLst/>
            </a:prstGeom>
          </p:spPr>
        </p:pic>
        <p:pic>
          <p:nvPicPr>
            <p:cNvPr id="143" name="object 31"/>
            <p:cNvPicPr/>
            <p:nvPr/>
          </p:nvPicPr>
          <p:blipFill>
            <a:blip r:embed="rId7" cstate="print"/>
            <a:stretch>
              <a:fillRect/>
            </a:stretch>
          </p:blipFill>
          <p:spPr>
            <a:xfrm>
              <a:off x="1274063" y="1551406"/>
              <a:ext cx="897610" cy="1070000"/>
            </a:xfrm>
            <a:prstGeom prst="rect">
              <a:avLst/>
            </a:prstGeom>
          </p:spPr>
        </p:pic>
        <p:pic>
          <p:nvPicPr>
            <p:cNvPr id="144" name="object 32"/>
            <p:cNvPicPr/>
            <p:nvPr/>
          </p:nvPicPr>
          <p:blipFill>
            <a:blip r:embed="rId3" cstate="print"/>
            <a:stretch>
              <a:fillRect/>
            </a:stretch>
          </p:blipFill>
          <p:spPr>
            <a:xfrm>
              <a:off x="1469136" y="1746503"/>
              <a:ext cx="327660" cy="499872"/>
            </a:xfrm>
            <a:prstGeom prst="rect">
              <a:avLst/>
            </a:prstGeom>
          </p:spPr>
        </p:pic>
        <p:sp>
          <p:nvSpPr>
            <p:cNvPr id="145" name="object 33"/>
            <p:cNvSpPr/>
            <p:nvPr/>
          </p:nvSpPr>
          <p:spPr>
            <a:xfrm>
              <a:off x="1265682" y="1895093"/>
              <a:ext cx="269875" cy="201295"/>
            </a:xfrm>
            <a:custGeom>
              <a:avLst/>
              <a:gdLst/>
              <a:ahLst/>
              <a:cxnLst/>
              <a:rect l="l" t="t" r="r" b="b"/>
              <a:pathLst>
                <a:path w="269875" h="201294">
                  <a:moveTo>
                    <a:pt x="0" y="201168"/>
                  </a:moveTo>
                  <a:lnTo>
                    <a:pt x="269621" y="201168"/>
                  </a:lnTo>
                </a:path>
                <a:path w="269875" h="201294">
                  <a:moveTo>
                    <a:pt x="144780" y="0"/>
                  </a:moveTo>
                  <a:lnTo>
                    <a:pt x="269240" y="0"/>
                  </a:lnTo>
                </a:path>
              </a:pathLst>
            </a:custGeom>
            <a:ln w="28575">
              <a:solidFill>
                <a:srgbClr val="9EA3A5"/>
              </a:solidFill>
            </a:ln>
          </p:spPr>
          <p:txBody>
            <a:bodyPr wrap="square" lIns="0" tIns="0" rIns="0" bIns="0" rtlCol="0"/>
            <a:lstStyle/>
            <a:p/>
          </p:txBody>
        </p:sp>
      </p:grpSp>
      <p:sp>
        <p:nvSpPr>
          <p:cNvPr id="146" name="object 34"/>
          <p:cNvSpPr txBox="1"/>
          <p:nvPr/>
        </p:nvSpPr>
        <p:spPr>
          <a:xfrm>
            <a:off x="1773682" y="1707896"/>
            <a:ext cx="129539" cy="162560"/>
          </a:xfrm>
          <a:prstGeom prst="rect">
            <a:avLst/>
          </a:prstGeom>
        </p:spPr>
        <p:txBody>
          <a:bodyPr vert="horz" wrap="square" lIns="0" tIns="12700" rIns="0" bIns="0" rtlCol="0">
            <a:spAutoFit/>
          </a:bodyPr>
          <a:lstStyle/>
          <a:p>
            <a:pPr marL="12700">
              <a:lnSpc>
                <a:spcPct val="100000"/>
              </a:lnSpc>
              <a:spcBef>
                <a:spcPts val="100"/>
              </a:spcBef>
            </a:pPr>
            <a:r>
              <a:rPr sz="900" spc="-25" dirty="0">
                <a:solidFill>
                  <a:srgbClr val="0000FE"/>
                </a:solidFill>
                <a:latin typeface="Calibri" panose="020F0502020204030204"/>
                <a:cs typeface="Calibri" panose="020F0502020204030204"/>
              </a:rPr>
              <a:t>FF</a:t>
            </a:r>
            <a:endParaRPr sz="900">
              <a:latin typeface="Calibri" panose="020F0502020204030204"/>
              <a:cs typeface="Calibri" panose="020F0502020204030204"/>
            </a:endParaRPr>
          </a:p>
        </p:txBody>
      </p:sp>
      <p:pic>
        <p:nvPicPr>
          <p:cNvPr id="147" name="object 35"/>
          <p:cNvPicPr/>
          <p:nvPr/>
        </p:nvPicPr>
        <p:blipFill>
          <a:blip r:embed="rId8" cstate="print"/>
          <a:stretch>
            <a:fillRect/>
          </a:stretch>
        </p:blipFill>
        <p:spPr>
          <a:xfrm>
            <a:off x="2810282" y="1449605"/>
            <a:ext cx="1540723" cy="751304"/>
          </a:xfrm>
          <a:prstGeom prst="rect">
            <a:avLst/>
          </a:prstGeom>
        </p:spPr>
      </p:pic>
      <p:sp>
        <p:nvSpPr>
          <p:cNvPr id="148" name="object 36"/>
          <p:cNvSpPr txBox="1"/>
          <p:nvPr/>
        </p:nvSpPr>
        <p:spPr>
          <a:xfrm>
            <a:off x="3099308" y="1267078"/>
            <a:ext cx="880744" cy="162560"/>
          </a:xfrm>
          <a:prstGeom prst="rect">
            <a:avLst/>
          </a:prstGeom>
        </p:spPr>
        <p:txBody>
          <a:bodyPr vert="horz" wrap="square" lIns="0" tIns="12700" rIns="0" bIns="0" rtlCol="0">
            <a:spAutoFit/>
          </a:bodyPr>
          <a:lstStyle/>
          <a:p>
            <a:pPr marL="12700">
              <a:lnSpc>
                <a:spcPct val="100000"/>
              </a:lnSpc>
              <a:spcBef>
                <a:spcPts val="100"/>
              </a:spcBef>
            </a:pPr>
            <a:r>
              <a:rPr sz="900" b="1" dirty="0">
                <a:solidFill>
                  <a:srgbClr val="34352F"/>
                </a:solidFill>
                <a:latin typeface="Calibri" panose="020F0502020204030204"/>
                <a:cs typeface="Calibri" panose="020F0502020204030204"/>
              </a:rPr>
              <a:t>Operand</a:t>
            </a:r>
            <a:r>
              <a:rPr sz="900" b="1" spc="-35" dirty="0">
                <a:solidFill>
                  <a:srgbClr val="34352F"/>
                </a:solidFill>
                <a:latin typeface="Calibri" panose="020F0502020204030204"/>
                <a:cs typeface="Calibri" panose="020F0502020204030204"/>
              </a:rPr>
              <a:t> </a:t>
            </a:r>
            <a:r>
              <a:rPr sz="900" b="1" spc="-10" dirty="0">
                <a:solidFill>
                  <a:srgbClr val="34352F"/>
                </a:solidFill>
                <a:latin typeface="Calibri" panose="020F0502020204030204"/>
                <a:cs typeface="Calibri" panose="020F0502020204030204"/>
              </a:rPr>
              <a:t>Isolation</a:t>
            </a:r>
            <a:endParaRPr sz="900">
              <a:latin typeface="Calibri" panose="020F0502020204030204"/>
              <a:cs typeface="Calibri" panose="020F0502020204030204"/>
            </a:endParaRPr>
          </a:p>
        </p:txBody>
      </p:sp>
      <p:pic>
        <p:nvPicPr>
          <p:cNvPr id="149" name="object 37"/>
          <p:cNvPicPr/>
          <p:nvPr/>
        </p:nvPicPr>
        <p:blipFill>
          <a:blip r:embed="rId9" cstate="print"/>
          <a:stretch>
            <a:fillRect/>
          </a:stretch>
        </p:blipFill>
        <p:spPr>
          <a:xfrm>
            <a:off x="5800013" y="1595317"/>
            <a:ext cx="701330" cy="686208"/>
          </a:xfrm>
          <a:prstGeom prst="rect">
            <a:avLst/>
          </a:prstGeom>
        </p:spPr>
      </p:pic>
      <p:sp>
        <p:nvSpPr>
          <p:cNvPr id="150" name="object 38"/>
          <p:cNvSpPr txBox="1"/>
          <p:nvPr/>
        </p:nvSpPr>
        <p:spPr>
          <a:xfrm>
            <a:off x="5063998" y="2033092"/>
            <a:ext cx="85725" cy="163195"/>
          </a:xfrm>
          <a:prstGeom prst="rect">
            <a:avLst/>
          </a:prstGeom>
        </p:spPr>
        <p:txBody>
          <a:bodyPr vert="horz" wrap="square" lIns="0" tIns="12700" rIns="0" bIns="0" rtlCol="0">
            <a:spAutoFit/>
          </a:bodyPr>
          <a:lstStyle/>
          <a:p>
            <a:pPr marL="12700">
              <a:lnSpc>
                <a:spcPct val="100000"/>
              </a:lnSpc>
              <a:spcBef>
                <a:spcPts val="100"/>
              </a:spcBef>
            </a:pPr>
            <a:r>
              <a:rPr sz="900" spc="-50" dirty="0">
                <a:solidFill>
                  <a:srgbClr val="34352F"/>
                </a:solidFill>
                <a:latin typeface="Calibri" panose="020F0502020204030204"/>
                <a:cs typeface="Calibri" panose="020F0502020204030204"/>
              </a:rPr>
              <a:t>d</a:t>
            </a:r>
            <a:endParaRPr sz="900">
              <a:latin typeface="Calibri" panose="020F0502020204030204"/>
              <a:cs typeface="Calibri" panose="020F0502020204030204"/>
            </a:endParaRPr>
          </a:p>
        </p:txBody>
      </p:sp>
      <p:sp>
        <p:nvSpPr>
          <p:cNvPr id="151" name="object 39"/>
          <p:cNvSpPr txBox="1"/>
          <p:nvPr/>
        </p:nvSpPr>
        <p:spPr>
          <a:xfrm>
            <a:off x="5063998" y="1551812"/>
            <a:ext cx="80645" cy="162560"/>
          </a:xfrm>
          <a:prstGeom prst="rect">
            <a:avLst/>
          </a:prstGeom>
        </p:spPr>
        <p:txBody>
          <a:bodyPr vert="horz" wrap="square" lIns="0" tIns="12700" rIns="0" bIns="0" rtlCol="0">
            <a:spAutoFit/>
          </a:bodyPr>
          <a:lstStyle/>
          <a:p>
            <a:pPr marL="12700">
              <a:lnSpc>
                <a:spcPct val="100000"/>
              </a:lnSpc>
              <a:spcBef>
                <a:spcPts val="100"/>
              </a:spcBef>
            </a:pPr>
            <a:r>
              <a:rPr sz="900" spc="-50" dirty="0">
                <a:solidFill>
                  <a:srgbClr val="34352F"/>
                </a:solidFill>
                <a:latin typeface="Calibri" panose="020F0502020204030204"/>
                <a:cs typeface="Calibri" panose="020F0502020204030204"/>
              </a:rPr>
              <a:t>a</a:t>
            </a:r>
            <a:endParaRPr sz="900">
              <a:latin typeface="Calibri" panose="020F0502020204030204"/>
              <a:cs typeface="Calibri" panose="020F0502020204030204"/>
            </a:endParaRPr>
          </a:p>
        </p:txBody>
      </p:sp>
      <p:sp>
        <p:nvSpPr>
          <p:cNvPr id="152" name="object 40"/>
          <p:cNvSpPr txBox="1"/>
          <p:nvPr/>
        </p:nvSpPr>
        <p:spPr>
          <a:xfrm>
            <a:off x="5063998" y="1653921"/>
            <a:ext cx="85725" cy="287020"/>
          </a:xfrm>
          <a:prstGeom prst="rect">
            <a:avLst/>
          </a:prstGeom>
        </p:spPr>
        <p:txBody>
          <a:bodyPr vert="horz" wrap="square" lIns="0" tIns="27305" rIns="0" bIns="0" rtlCol="0">
            <a:spAutoFit/>
          </a:bodyPr>
          <a:lstStyle/>
          <a:p>
            <a:pPr marL="12700" marR="5080">
              <a:lnSpc>
                <a:spcPts val="980"/>
              </a:lnSpc>
              <a:spcBef>
                <a:spcPts val="215"/>
              </a:spcBef>
            </a:pPr>
            <a:r>
              <a:rPr sz="900" spc="-50" dirty="0">
                <a:solidFill>
                  <a:srgbClr val="34352F"/>
                </a:solidFill>
                <a:latin typeface="Calibri" panose="020F0502020204030204"/>
                <a:cs typeface="Calibri" panose="020F0502020204030204"/>
              </a:rPr>
              <a:t>b</a:t>
            </a:r>
            <a:r>
              <a:rPr sz="900" spc="500" dirty="0">
                <a:solidFill>
                  <a:srgbClr val="34352F"/>
                </a:solidFill>
                <a:latin typeface="Calibri" panose="020F0502020204030204"/>
                <a:cs typeface="Calibri" panose="020F0502020204030204"/>
              </a:rPr>
              <a:t> </a:t>
            </a:r>
            <a:r>
              <a:rPr sz="900" spc="-50" dirty="0">
                <a:solidFill>
                  <a:srgbClr val="34352F"/>
                </a:solidFill>
                <a:latin typeface="Calibri" panose="020F0502020204030204"/>
                <a:cs typeface="Calibri" panose="020F0502020204030204"/>
              </a:rPr>
              <a:t>c</a:t>
            </a:r>
            <a:endParaRPr sz="900">
              <a:latin typeface="Calibri" panose="020F0502020204030204"/>
              <a:cs typeface="Calibri" panose="020F0502020204030204"/>
            </a:endParaRPr>
          </a:p>
        </p:txBody>
      </p:sp>
      <p:grpSp>
        <p:nvGrpSpPr>
          <p:cNvPr id="153" name="object 41"/>
          <p:cNvGrpSpPr/>
          <p:nvPr/>
        </p:nvGrpSpPr>
        <p:grpSpPr>
          <a:xfrm>
            <a:off x="4965192" y="1356601"/>
            <a:ext cx="2514600" cy="1245235"/>
            <a:chOff x="4828032" y="1586471"/>
            <a:chExt cx="2514600" cy="1245235"/>
          </a:xfrm>
        </p:grpSpPr>
        <p:pic>
          <p:nvPicPr>
            <p:cNvPr id="154" name="object 42"/>
            <p:cNvPicPr/>
            <p:nvPr/>
          </p:nvPicPr>
          <p:blipFill>
            <a:blip r:embed="rId10" cstate="print"/>
            <a:stretch>
              <a:fillRect/>
            </a:stretch>
          </p:blipFill>
          <p:spPr>
            <a:xfrm>
              <a:off x="5074920" y="1601685"/>
              <a:ext cx="811034" cy="815505"/>
            </a:xfrm>
            <a:prstGeom prst="rect">
              <a:avLst/>
            </a:prstGeom>
          </p:spPr>
        </p:pic>
        <p:pic>
          <p:nvPicPr>
            <p:cNvPr id="155" name="object 43"/>
            <p:cNvPicPr/>
            <p:nvPr/>
          </p:nvPicPr>
          <p:blipFill>
            <a:blip r:embed="rId11" cstate="print"/>
            <a:stretch>
              <a:fillRect/>
            </a:stretch>
          </p:blipFill>
          <p:spPr>
            <a:xfrm>
              <a:off x="5269992" y="1796795"/>
              <a:ext cx="240791" cy="245363"/>
            </a:xfrm>
            <a:prstGeom prst="rect">
              <a:avLst/>
            </a:prstGeom>
          </p:spPr>
        </p:pic>
        <p:pic>
          <p:nvPicPr>
            <p:cNvPr id="156" name="object 44"/>
            <p:cNvPicPr/>
            <p:nvPr/>
          </p:nvPicPr>
          <p:blipFill>
            <a:blip r:embed="rId12" cstate="print"/>
            <a:stretch>
              <a:fillRect/>
            </a:stretch>
          </p:blipFill>
          <p:spPr>
            <a:xfrm>
              <a:off x="5318760" y="1767801"/>
              <a:ext cx="812520" cy="815505"/>
            </a:xfrm>
            <a:prstGeom prst="rect">
              <a:avLst/>
            </a:prstGeom>
          </p:spPr>
        </p:pic>
        <p:pic>
          <p:nvPicPr>
            <p:cNvPr id="157" name="object 45"/>
            <p:cNvPicPr/>
            <p:nvPr/>
          </p:nvPicPr>
          <p:blipFill>
            <a:blip r:embed="rId13" cstate="print"/>
            <a:stretch>
              <a:fillRect/>
            </a:stretch>
          </p:blipFill>
          <p:spPr>
            <a:xfrm>
              <a:off x="5513832" y="1962911"/>
              <a:ext cx="242315" cy="245363"/>
            </a:xfrm>
            <a:prstGeom prst="rect">
              <a:avLst/>
            </a:prstGeom>
          </p:spPr>
        </p:pic>
        <p:pic>
          <p:nvPicPr>
            <p:cNvPr id="158" name="object 46"/>
            <p:cNvPicPr/>
            <p:nvPr/>
          </p:nvPicPr>
          <p:blipFill>
            <a:blip r:embed="rId14" cstate="print"/>
            <a:stretch>
              <a:fillRect/>
            </a:stretch>
          </p:blipFill>
          <p:spPr>
            <a:xfrm>
              <a:off x="5074920" y="1932431"/>
              <a:ext cx="811034" cy="816990"/>
            </a:xfrm>
            <a:prstGeom prst="rect">
              <a:avLst/>
            </a:prstGeom>
          </p:spPr>
        </p:pic>
        <p:pic>
          <p:nvPicPr>
            <p:cNvPr id="159" name="object 47"/>
            <p:cNvPicPr/>
            <p:nvPr/>
          </p:nvPicPr>
          <p:blipFill>
            <a:blip r:embed="rId11" cstate="print"/>
            <a:stretch>
              <a:fillRect/>
            </a:stretch>
          </p:blipFill>
          <p:spPr>
            <a:xfrm>
              <a:off x="5269992" y="2127504"/>
              <a:ext cx="240791" cy="246887"/>
            </a:xfrm>
            <a:prstGeom prst="rect">
              <a:avLst/>
            </a:prstGeom>
          </p:spPr>
        </p:pic>
        <p:pic>
          <p:nvPicPr>
            <p:cNvPr id="160" name="object 48"/>
            <p:cNvPicPr/>
            <p:nvPr/>
          </p:nvPicPr>
          <p:blipFill>
            <a:blip r:embed="rId15" cstate="print"/>
            <a:stretch>
              <a:fillRect/>
            </a:stretch>
          </p:blipFill>
          <p:spPr>
            <a:xfrm>
              <a:off x="4828032" y="1982723"/>
              <a:ext cx="814019" cy="816990"/>
            </a:xfrm>
            <a:prstGeom prst="rect">
              <a:avLst/>
            </a:prstGeom>
          </p:spPr>
        </p:pic>
        <p:pic>
          <p:nvPicPr>
            <p:cNvPr id="161" name="object 49"/>
            <p:cNvPicPr/>
            <p:nvPr/>
          </p:nvPicPr>
          <p:blipFill>
            <a:blip r:embed="rId13" cstate="print"/>
            <a:stretch>
              <a:fillRect/>
            </a:stretch>
          </p:blipFill>
          <p:spPr>
            <a:xfrm>
              <a:off x="5023104" y="2177795"/>
              <a:ext cx="243839" cy="246887"/>
            </a:xfrm>
            <a:prstGeom prst="rect">
              <a:avLst/>
            </a:prstGeom>
          </p:spPr>
        </p:pic>
        <p:sp>
          <p:nvSpPr>
            <p:cNvPr id="162" name="object 50"/>
            <p:cNvSpPr/>
            <p:nvPr/>
          </p:nvSpPr>
          <p:spPr>
            <a:xfrm>
              <a:off x="5225034" y="2300477"/>
              <a:ext cx="89535" cy="635"/>
            </a:xfrm>
            <a:custGeom>
              <a:avLst/>
              <a:gdLst/>
              <a:ahLst/>
              <a:cxnLst/>
              <a:rect l="l" t="t" r="r" b="b"/>
              <a:pathLst>
                <a:path w="89535" h="635">
                  <a:moveTo>
                    <a:pt x="0" y="508"/>
                  </a:moveTo>
                  <a:lnTo>
                    <a:pt x="89407" y="0"/>
                  </a:lnTo>
                </a:path>
              </a:pathLst>
            </a:custGeom>
            <a:ln w="28574">
              <a:solidFill>
                <a:srgbClr val="FE0000"/>
              </a:solidFill>
            </a:ln>
          </p:spPr>
          <p:txBody>
            <a:bodyPr wrap="square" lIns="0" tIns="0" rIns="0" bIns="0" rtlCol="0"/>
            <a:lstStyle/>
            <a:p/>
          </p:txBody>
        </p:sp>
        <p:sp>
          <p:nvSpPr>
            <p:cNvPr id="163" name="object 51"/>
            <p:cNvSpPr/>
            <p:nvPr/>
          </p:nvSpPr>
          <p:spPr>
            <a:xfrm>
              <a:off x="4985766" y="2096261"/>
              <a:ext cx="328295" cy="104775"/>
            </a:xfrm>
            <a:custGeom>
              <a:avLst/>
              <a:gdLst/>
              <a:ahLst/>
              <a:cxnLst/>
              <a:rect l="l" t="t" r="r" b="b"/>
              <a:pathLst>
                <a:path w="328295" h="104775">
                  <a:moveTo>
                    <a:pt x="0" y="0"/>
                  </a:moveTo>
                  <a:lnTo>
                    <a:pt x="242062" y="0"/>
                  </a:lnTo>
                  <a:lnTo>
                    <a:pt x="242062" y="104267"/>
                  </a:lnTo>
                  <a:lnTo>
                    <a:pt x="328295" y="104267"/>
                  </a:lnTo>
                </a:path>
              </a:pathLst>
            </a:custGeom>
            <a:ln w="28575">
              <a:solidFill>
                <a:srgbClr val="9EA3A5"/>
              </a:solidFill>
            </a:ln>
          </p:spPr>
          <p:txBody>
            <a:bodyPr wrap="square" lIns="0" tIns="0" rIns="0" bIns="0" rtlCol="0"/>
            <a:lstStyle/>
            <a:p/>
          </p:txBody>
        </p:sp>
        <p:sp>
          <p:nvSpPr>
            <p:cNvPr id="164" name="object 52"/>
            <p:cNvSpPr/>
            <p:nvPr/>
          </p:nvSpPr>
          <p:spPr>
            <a:xfrm>
              <a:off x="4985766" y="1969769"/>
              <a:ext cx="328295" cy="0"/>
            </a:xfrm>
            <a:custGeom>
              <a:avLst/>
              <a:gdLst/>
              <a:ahLst/>
              <a:cxnLst/>
              <a:rect l="l" t="t" r="r" b="b"/>
              <a:pathLst>
                <a:path w="328295">
                  <a:moveTo>
                    <a:pt x="0" y="0"/>
                  </a:moveTo>
                  <a:lnTo>
                    <a:pt x="328295" y="0"/>
                  </a:lnTo>
                </a:path>
              </a:pathLst>
            </a:custGeom>
            <a:ln w="28575">
              <a:solidFill>
                <a:srgbClr val="FE0000"/>
              </a:solidFill>
            </a:ln>
          </p:spPr>
          <p:txBody>
            <a:bodyPr wrap="square" lIns="0" tIns="0" rIns="0" bIns="0" rtlCol="0"/>
            <a:lstStyle/>
            <a:p/>
          </p:txBody>
        </p:sp>
        <p:sp>
          <p:nvSpPr>
            <p:cNvPr id="165" name="object 53"/>
            <p:cNvSpPr/>
            <p:nvPr/>
          </p:nvSpPr>
          <p:spPr>
            <a:xfrm>
              <a:off x="4985766" y="1867661"/>
              <a:ext cx="328295" cy="0"/>
            </a:xfrm>
            <a:custGeom>
              <a:avLst/>
              <a:gdLst/>
              <a:ahLst/>
              <a:cxnLst/>
              <a:rect l="l" t="t" r="r" b="b"/>
              <a:pathLst>
                <a:path w="328295">
                  <a:moveTo>
                    <a:pt x="0" y="0"/>
                  </a:moveTo>
                  <a:lnTo>
                    <a:pt x="328295" y="0"/>
                  </a:lnTo>
                </a:path>
              </a:pathLst>
            </a:custGeom>
            <a:ln w="28575">
              <a:solidFill>
                <a:srgbClr val="9EA3A5"/>
              </a:solidFill>
            </a:ln>
          </p:spPr>
          <p:txBody>
            <a:bodyPr wrap="square" lIns="0" tIns="0" rIns="0" bIns="0" rtlCol="0"/>
            <a:lstStyle/>
            <a:p/>
          </p:txBody>
        </p:sp>
        <p:sp>
          <p:nvSpPr>
            <p:cNvPr id="166" name="object 54"/>
            <p:cNvSpPr/>
            <p:nvPr/>
          </p:nvSpPr>
          <p:spPr>
            <a:xfrm>
              <a:off x="5026914" y="1924049"/>
              <a:ext cx="548005" cy="326390"/>
            </a:xfrm>
            <a:custGeom>
              <a:avLst/>
              <a:gdLst/>
              <a:ahLst/>
              <a:cxnLst/>
              <a:rect l="l" t="t" r="r" b="b"/>
              <a:pathLst>
                <a:path w="548004" h="326389">
                  <a:moveTo>
                    <a:pt x="443484" y="322706"/>
                  </a:moveTo>
                  <a:lnTo>
                    <a:pt x="486537" y="322706"/>
                  </a:lnTo>
                  <a:lnTo>
                    <a:pt x="486537" y="216407"/>
                  </a:lnTo>
                  <a:lnTo>
                    <a:pt x="547877" y="216407"/>
                  </a:lnTo>
                </a:path>
                <a:path w="548004" h="326389">
                  <a:moveTo>
                    <a:pt x="443484" y="0"/>
                  </a:moveTo>
                  <a:lnTo>
                    <a:pt x="484632" y="0"/>
                  </a:lnTo>
                  <a:lnTo>
                    <a:pt x="484632" y="109855"/>
                  </a:lnTo>
                  <a:lnTo>
                    <a:pt x="547877" y="109855"/>
                  </a:lnTo>
                </a:path>
                <a:path w="548004" h="326389">
                  <a:moveTo>
                    <a:pt x="0" y="326136"/>
                  </a:moveTo>
                  <a:lnTo>
                    <a:pt x="56641" y="326136"/>
                  </a:lnTo>
                </a:path>
              </a:pathLst>
            </a:custGeom>
            <a:ln w="28575">
              <a:solidFill>
                <a:srgbClr val="FE0000"/>
              </a:solidFill>
            </a:ln>
          </p:spPr>
          <p:txBody>
            <a:bodyPr wrap="square" lIns="0" tIns="0" rIns="0" bIns="0" rtlCol="0"/>
            <a:lstStyle/>
            <a:p/>
          </p:txBody>
        </p:sp>
        <p:sp>
          <p:nvSpPr>
            <p:cNvPr id="167" name="object 55"/>
            <p:cNvSpPr/>
            <p:nvPr/>
          </p:nvSpPr>
          <p:spPr>
            <a:xfrm>
              <a:off x="4985766" y="2084069"/>
              <a:ext cx="782320" cy="268605"/>
            </a:xfrm>
            <a:custGeom>
              <a:avLst/>
              <a:gdLst/>
              <a:ahLst/>
              <a:cxnLst/>
              <a:rect l="l" t="t" r="r" b="b"/>
              <a:pathLst>
                <a:path w="782320" h="268605">
                  <a:moveTo>
                    <a:pt x="0" y="268224"/>
                  </a:moveTo>
                  <a:lnTo>
                    <a:pt x="98679" y="268224"/>
                  </a:lnTo>
                </a:path>
                <a:path w="782320" h="268605">
                  <a:moveTo>
                    <a:pt x="725424" y="0"/>
                  </a:moveTo>
                  <a:lnTo>
                    <a:pt x="782066" y="0"/>
                  </a:lnTo>
                </a:path>
              </a:pathLst>
            </a:custGeom>
            <a:ln w="28575">
              <a:solidFill>
                <a:srgbClr val="9EA3A5"/>
              </a:solidFill>
            </a:ln>
          </p:spPr>
          <p:txBody>
            <a:bodyPr wrap="square" lIns="0" tIns="0" rIns="0" bIns="0" rtlCol="0"/>
            <a:lstStyle/>
            <a:p/>
          </p:txBody>
        </p:sp>
        <p:sp>
          <p:nvSpPr>
            <p:cNvPr id="168" name="object 56"/>
            <p:cNvSpPr/>
            <p:nvPr/>
          </p:nvSpPr>
          <p:spPr>
            <a:xfrm>
              <a:off x="5031486" y="1975865"/>
              <a:ext cx="0" cy="280670"/>
            </a:xfrm>
            <a:custGeom>
              <a:avLst/>
              <a:gdLst/>
              <a:ahLst/>
              <a:cxnLst/>
              <a:rect l="l" t="t" r="r" b="b"/>
              <a:pathLst>
                <a:path h="280669">
                  <a:moveTo>
                    <a:pt x="0" y="0"/>
                  </a:moveTo>
                  <a:lnTo>
                    <a:pt x="0" y="280669"/>
                  </a:lnTo>
                </a:path>
              </a:pathLst>
            </a:custGeom>
            <a:ln w="28575">
              <a:solidFill>
                <a:srgbClr val="FE0000"/>
              </a:solidFill>
            </a:ln>
          </p:spPr>
          <p:txBody>
            <a:bodyPr wrap="square" lIns="0" tIns="0" rIns="0" bIns="0" rtlCol="0"/>
            <a:lstStyle/>
            <a:p/>
          </p:txBody>
        </p:sp>
        <p:pic>
          <p:nvPicPr>
            <p:cNvPr id="169" name="object 57"/>
            <p:cNvPicPr/>
            <p:nvPr/>
          </p:nvPicPr>
          <p:blipFill>
            <a:blip r:embed="rId16" cstate="print"/>
            <a:stretch>
              <a:fillRect/>
            </a:stretch>
          </p:blipFill>
          <p:spPr>
            <a:xfrm>
              <a:off x="6012180" y="1586471"/>
              <a:ext cx="827430" cy="839355"/>
            </a:xfrm>
            <a:prstGeom prst="rect">
              <a:avLst/>
            </a:prstGeom>
          </p:spPr>
        </p:pic>
        <p:pic>
          <p:nvPicPr>
            <p:cNvPr id="170" name="object 58"/>
            <p:cNvPicPr/>
            <p:nvPr/>
          </p:nvPicPr>
          <p:blipFill>
            <a:blip r:embed="rId13" cstate="print"/>
            <a:stretch>
              <a:fillRect/>
            </a:stretch>
          </p:blipFill>
          <p:spPr>
            <a:xfrm>
              <a:off x="6207252" y="1781555"/>
              <a:ext cx="257555" cy="269747"/>
            </a:xfrm>
            <a:prstGeom prst="rect">
              <a:avLst/>
            </a:prstGeom>
          </p:spPr>
        </p:pic>
        <p:pic>
          <p:nvPicPr>
            <p:cNvPr id="171" name="object 59"/>
            <p:cNvPicPr/>
            <p:nvPr/>
          </p:nvPicPr>
          <p:blipFill>
            <a:blip r:embed="rId17" cstate="print"/>
            <a:stretch>
              <a:fillRect/>
            </a:stretch>
          </p:blipFill>
          <p:spPr>
            <a:xfrm>
              <a:off x="6262116" y="1641335"/>
              <a:ext cx="825944" cy="839355"/>
            </a:xfrm>
            <a:prstGeom prst="rect">
              <a:avLst/>
            </a:prstGeom>
          </p:spPr>
        </p:pic>
        <p:pic>
          <p:nvPicPr>
            <p:cNvPr id="172" name="object 60"/>
            <p:cNvPicPr/>
            <p:nvPr/>
          </p:nvPicPr>
          <p:blipFill>
            <a:blip r:embed="rId11" cstate="print"/>
            <a:stretch>
              <a:fillRect/>
            </a:stretch>
          </p:blipFill>
          <p:spPr>
            <a:xfrm>
              <a:off x="6457188" y="1836419"/>
              <a:ext cx="256032" cy="269747"/>
            </a:xfrm>
            <a:prstGeom prst="rect">
              <a:avLst/>
            </a:prstGeom>
          </p:spPr>
        </p:pic>
        <p:pic>
          <p:nvPicPr>
            <p:cNvPr id="173" name="object 61"/>
            <p:cNvPicPr/>
            <p:nvPr/>
          </p:nvPicPr>
          <p:blipFill>
            <a:blip r:embed="rId17" cstate="print"/>
            <a:stretch>
              <a:fillRect/>
            </a:stretch>
          </p:blipFill>
          <p:spPr>
            <a:xfrm>
              <a:off x="6262116" y="1991855"/>
              <a:ext cx="825944" cy="839355"/>
            </a:xfrm>
            <a:prstGeom prst="rect">
              <a:avLst/>
            </a:prstGeom>
          </p:spPr>
        </p:pic>
        <p:pic>
          <p:nvPicPr>
            <p:cNvPr id="174" name="object 62"/>
            <p:cNvPicPr/>
            <p:nvPr/>
          </p:nvPicPr>
          <p:blipFill>
            <a:blip r:embed="rId11" cstate="print"/>
            <a:stretch>
              <a:fillRect/>
            </a:stretch>
          </p:blipFill>
          <p:spPr>
            <a:xfrm>
              <a:off x="6457188" y="2186939"/>
              <a:ext cx="256032" cy="269748"/>
            </a:xfrm>
            <a:prstGeom prst="rect">
              <a:avLst/>
            </a:prstGeom>
          </p:spPr>
        </p:pic>
        <p:pic>
          <p:nvPicPr>
            <p:cNvPr id="175" name="object 63"/>
            <p:cNvPicPr/>
            <p:nvPr/>
          </p:nvPicPr>
          <p:blipFill>
            <a:blip r:embed="rId16" cstate="print"/>
            <a:stretch>
              <a:fillRect/>
            </a:stretch>
          </p:blipFill>
          <p:spPr>
            <a:xfrm>
              <a:off x="6515100" y="1819643"/>
              <a:ext cx="827430" cy="839355"/>
            </a:xfrm>
            <a:prstGeom prst="rect">
              <a:avLst/>
            </a:prstGeom>
          </p:spPr>
        </p:pic>
        <p:pic>
          <p:nvPicPr>
            <p:cNvPr id="176" name="object 64"/>
            <p:cNvPicPr/>
            <p:nvPr/>
          </p:nvPicPr>
          <p:blipFill>
            <a:blip r:embed="rId13" cstate="print"/>
            <a:stretch>
              <a:fillRect/>
            </a:stretch>
          </p:blipFill>
          <p:spPr>
            <a:xfrm>
              <a:off x="6710172" y="2014727"/>
              <a:ext cx="257555" cy="269748"/>
            </a:xfrm>
            <a:prstGeom prst="rect">
              <a:avLst/>
            </a:prstGeom>
          </p:spPr>
        </p:pic>
        <p:sp>
          <p:nvSpPr>
            <p:cNvPr id="177" name="object 65"/>
            <p:cNvSpPr/>
            <p:nvPr/>
          </p:nvSpPr>
          <p:spPr>
            <a:xfrm>
              <a:off x="6165342" y="1855469"/>
              <a:ext cx="339090" cy="117475"/>
            </a:xfrm>
            <a:custGeom>
              <a:avLst/>
              <a:gdLst/>
              <a:ahLst/>
              <a:cxnLst/>
              <a:rect l="l" t="t" r="r" b="b"/>
              <a:pathLst>
                <a:path w="339090" h="117475">
                  <a:moveTo>
                    <a:pt x="0" y="0"/>
                  </a:moveTo>
                  <a:lnTo>
                    <a:pt x="105918" y="0"/>
                  </a:lnTo>
                </a:path>
                <a:path w="339090" h="117475">
                  <a:moveTo>
                    <a:pt x="0" y="117347"/>
                  </a:moveTo>
                  <a:lnTo>
                    <a:pt x="104648" y="117347"/>
                  </a:lnTo>
                </a:path>
                <a:path w="339090" h="117475">
                  <a:moveTo>
                    <a:pt x="249936" y="59435"/>
                  </a:moveTo>
                  <a:lnTo>
                    <a:pt x="338709" y="59435"/>
                  </a:lnTo>
                </a:path>
              </a:pathLst>
            </a:custGeom>
            <a:ln w="28575">
              <a:solidFill>
                <a:srgbClr val="9EA3A5"/>
              </a:solidFill>
            </a:ln>
          </p:spPr>
          <p:txBody>
            <a:bodyPr wrap="square" lIns="0" tIns="0" rIns="0" bIns="0" rtlCol="0"/>
            <a:lstStyle/>
            <a:p/>
          </p:txBody>
        </p:sp>
        <p:sp>
          <p:nvSpPr>
            <p:cNvPr id="178" name="object 66"/>
            <p:cNvSpPr/>
            <p:nvPr/>
          </p:nvSpPr>
          <p:spPr>
            <a:xfrm>
              <a:off x="6165342" y="2029205"/>
              <a:ext cx="338455" cy="118745"/>
            </a:xfrm>
            <a:custGeom>
              <a:avLst/>
              <a:gdLst/>
              <a:ahLst/>
              <a:cxnLst/>
              <a:rect l="l" t="t" r="r" b="b"/>
              <a:pathLst>
                <a:path w="338454" h="118744">
                  <a:moveTo>
                    <a:pt x="0" y="118618"/>
                  </a:moveTo>
                  <a:lnTo>
                    <a:pt x="272415" y="118618"/>
                  </a:lnTo>
                  <a:lnTo>
                    <a:pt x="272415" y="0"/>
                  </a:lnTo>
                  <a:lnTo>
                    <a:pt x="337947" y="0"/>
                  </a:lnTo>
                </a:path>
              </a:pathLst>
            </a:custGeom>
            <a:ln w="28575">
              <a:solidFill>
                <a:srgbClr val="FE0000"/>
              </a:solidFill>
            </a:ln>
          </p:spPr>
          <p:txBody>
            <a:bodyPr wrap="square" lIns="0" tIns="0" rIns="0" bIns="0" rtlCol="0"/>
            <a:lstStyle/>
            <a:p/>
          </p:txBody>
        </p:sp>
        <p:sp>
          <p:nvSpPr>
            <p:cNvPr id="179" name="object 67"/>
            <p:cNvSpPr/>
            <p:nvPr/>
          </p:nvSpPr>
          <p:spPr>
            <a:xfrm>
              <a:off x="6165342" y="2265425"/>
              <a:ext cx="338455" cy="116205"/>
            </a:xfrm>
            <a:custGeom>
              <a:avLst/>
              <a:gdLst/>
              <a:ahLst/>
              <a:cxnLst/>
              <a:rect l="l" t="t" r="r" b="b"/>
              <a:pathLst>
                <a:path w="338454" h="116205">
                  <a:moveTo>
                    <a:pt x="48768" y="0"/>
                  </a:moveTo>
                  <a:lnTo>
                    <a:pt x="337438" y="0"/>
                  </a:lnTo>
                </a:path>
                <a:path w="338454" h="116205">
                  <a:moveTo>
                    <a:pt x="0" y="115824"/>
                  </a:moveTo>
                  <a:lnTo>
                    <a:pt x="337947" y="115824"/>
                  </a:lnTo>
                </a:path>
              </a:pathLst>
            </a:custGeom>
            <a:ln w="28575">
              <a:solidFill>
                <a:srgbClr val="9EA3A5"/>
              </a:solidFill>
            </a:ln>
          </p:spPr>
          <p:txBody>
            <a:bodyPr wrap="square" lIns="0" tIns="0" rIns="0" bIns="0" rtlCol="0"/>
            <a:lstStyle/>
            <a:p/>
          </p:txBody>
        </p:sp>
        <p:sp>
          <p:nvSpPr>
            <p:cNvPr id="180" name="object 68"/>
            <p:cNvSpPr/>
            <p:nvPr/>
          </p:nvSpPr>
          <p:spPr>
            <a:xfrm>
              <a:off x="6669786" y="1971293"/>
              <a:ext cx="104775" cy="120650"/>
            </a:xfrm>
            <a:custGeom>
              <a:avLst/>
              <a:gdLst/>
              <a:ahLst/>
              <a:cxnLst/>
              <a:rect l="l" t="t" r="r" b="b"/>
              <a:pathLst>
                <a:path w="104775" h="120650">
                  <a:moveTo>
                    <a:pt x="0" y="0"/>
                  </a:moveTo>
                  <a:lnTo>
                    <a:pt x="41275" y="0"/>
                  </a:lnTo>
                  <a:lnTo>
                    <a:pt x="41275" y="120142"/>
                  </a:lnTo>
                  <a:lnTo>
                    <a:pt x="104648" y="120142"/>
                  </a:lnTo>
                </a:path>
              </a:pathLst>
            </a:custGeom>
            <a:ln w="28575">
              <a:solidFill>
                <a:srgbClr val="FE0000"/>
              </a:solidFill>
            </a:ln>
          </p:spPr>
          <p:txBody>
            <a:bodyPr wrap="square" lIns="0" tIns="0" rIns="0" bIns="0" rtlCol="0"/>
            <a:lstStyle/>
            <a:p/>
          </p:txBody>
        </p:sp>
        <p:sp>
          <p:nvSpPr>
            <p:cNvPr id="181" name="object 69"/>
            <p:cNvSpPr/>
            <p:nvPr/>
          </p:nvSpPr>
          <p:spPr>
            <a:xfrm>
              <a:off x="6669786" y="2209037"/>
              <a:ext cx="104775" cy="116839"/>
            </a:xfrm>
            <a:custGeom>
              <a:avLst/>
              <a:gdLst/>
              <a:ahLst/>
              <a:cxnLst/>
              <a:rect l="l" t="t" r="r" b="b"/>
              <a:pathLst>
                <a:path w="104775" h="116839">
                  <a:moveTo>
                    <a:pt x="0" y="116331"/>
                  </a:moveTo>
                  <a:lnTo>
                    <a:pt x="43180" y="116331"/>
                  </a:lnTo>
                  <a:lnTo>
                    <a:pt x="43180" y="0"/>
                  </a:lnTo>
                  <a:lnTo>
                    <a:pt x="104648" y="0"/>
                  </a:lnTo>
                </a:path>
              </a:pathLst>
            </a:custGeom>
            <a:ln w="28575">
              <a:solidFill>
                <a:srgbClr val="34352F"/>
              </a:solidFill>
            </a:ln>
          </p:spPr>
          <p:txBody>
            <a:bodyPr wrap="square" lIns="0" tIns="0" rIns="0" bIns="0" rtlCol="0"/>
            <a:lstStyle/>
            <a:p/>
          </p:txBody>
        </p:sp>
        <p:sp>
          <p:nvSpPr>
            <p:cNvPr id="182" name="object 70"/>
            <p:cNvSpPr/>
            <p:nvPr/>
          </p:nvSpPr>
          <p:spPr>
            <a:xfrm>
              <a:off x="6921246" y="2151125"/>
              <a:ext cx="60325" cy="0"/>
            </a:xfrm>
            <a:custGeom>
              <a:avLst/>
              <a:gdLst/>
              <a:ahLst/>
              <a:cxnLst/>
              <a:rect l="l" t="t" r="r" b="b"/>
              <a:pathLst>
                <a:path w="60325">
                  <a:moveTo>
                    <a:pt x="0" y="0"/>
                  </a:moveTo>
                  <a:lnTo>
                    <a:pt x="60325" y="0"/>
                  </a:lnTo>
                </a:path>
              </a:pathLst>
            </a:custGeom>
            <a:ln w="28575">
              <a:solidFill>
                <a:srgbClr val="9EA3A5"/>
              </a:solidFill>
            </a:ln>
          </p:spPr>
          <p:txBody>
            <a:bodyPr wrap="square" lIns="0" tIns="0" rIns="0" bIns="0" rtlCol="0"/>
            <a:lstStyle/>
            <a:p/>
          </p:txBody>
        </p:sp>
        <p:sp>
          <p:nvSpPr>
            <p:cNvPr id="183" name="object 71"/>
            <p:cNvSpPr/>
            <p:nvPr/>
          </p:nvSpPr>
          <p:spPr>
            <a:xfrm>
              <a:off x="6220206" y="1963673"/>
              <a:ext cx="0" cy="307340"/>
            </a:xfrm>
            <a:custGeom>
              <a:avLst/>
              <a:gdLst/>
              <a:ahLst/>
              <a:cxnLst/>
              <a:rect l="l" t="t" r="r" b="b"/>
              <a:pathLst>
                <a:path h="307339">
                  <a:moveTo>
                    <a:pt x="0" y="0"/>
                  </a:moveTo>
                  <a:lnTo>
                    <a:pt x="0" y="307213"/>
                  </a:lnTo>
                </a:path>
              </a:pathLst>
            </a:custGeom>
            <a:ln w="28575">
              <a:solidFill>
                <a:srgbClr val="9EA3A5"/>
              </a:solidFill>
            </a:ln>
          </p:spPr>
          <p:txBody>
            <a:bodyPr wrap="square" lIns="0" tIns="0" rIns="0" bIns="0" rtlCol="0"/>
            <a:lstStyle/>
            <a:p/>
          </p:txBody>
        </p:sp>
      </p:grpSp>
      <p:sp>
        <p:nvSpPr>
          <p:cNvPr id="184" name="object 72"/>
          <p:cNvSpPr txBox="1"/>
          <p:nvPr/>
        </p:nvSpPr>
        <p:spPr>
          <a:xfrm>
            <a:off x="6238113" y="1528064"/>
            <a:ext cx="87630" cy="461009"/>
          </a:xfrm>
          <a:prstGeom prst="rect">
            <a:avLst/>
          </a:prstGeom>
        </p:spPr>
        <p:txBody>
          <a:bodyPr vert="horz" wrap="square" lIns="0" tIns="29209" rIns="0" bIns="0" rtlCol="0">
            <a:spAutoFit/>
          </a:bodyPr>
          <a:lstStyle/>
          <a:p>
            <a:pPr marL="14605" marR="12065" indent="-2540">
              <a:lnSpc>
                <a:spcPts val="960"/>
              </a:lnSpc>
              <a:spcBef>
                <a:spcPts val="230"/>
              </a:spcBef>
            </a:pPr>
            <a:r>
              <a:rPr sz="900" spc="-50" dirty="0">
                <a:solidFill>
                  <a:srgbClr val="34352F"/>
                </a:solidFill>
                <a:latin typeface="Calibri" panose="020F0502020204030204"/>
                <a:cs typeface="Calibri" panose="020F0502020204030204"/>
              </a:rPr>
              <a:t>a</a:t>
            </a:r>
            <a:r>
              <a:rPr sz="900" spc="500" dirty="0">
                <a:solidFill>
                  <a:srgbClr val="34352F"/>
                </a:solidFill>
                <a:latin typeface="Calibri" panose="020F0502020204030204"/>
                <a:cs typeface="Calibri" panose="020F0502020204030204"/>
              </a:rPr>
              <a:t> </a:t>
            </a:r>
            <a:r>
              <a:rPr sz="900" spc="-50" dirty="0">
                <a:solidFill>
                  <a:srgbClr val="34352F"/>
                </a:solidFill>
                <a:latin typeface="Calibri" panose="020F0502020204030204"/>
                <a:cs typeface="Calibri" panose="020F0502020204030204"/>
              </a:rPr>
              <a:t>c</a:t>
            </a:r>
            <a:endParaRPr sz="900">
              <a:latin typeface="Calibri" panose="020F0502020204030204"/>
              <a:cs typeface="Calibri" panose="020F0502020204030204"/>
            </a:endParaRPr>
          </a:p>
          <a:p>
            <a:pPr marL="14605">
              <a:lnSpc>
                <a:spcPct val="100000"/>
              </a:lnSpc>
              <a:spcBef>
                <a:spcPts val="295"/>
              </a:spcBef>
            </a:pPr>
            <a:r>
              <a:rPr sz="900" spc="-50" dirty="0">
                <a:solidFill>
                  <a:srgbClr val="34352F"/>
                </a:solidFill>
                <a:latin typeface="Calibri" panose="020F0502020204030204"/>
                <a:cs typeface="Calibri" panose="020F0502020204030204"/>
              </a:rPr>
              <a:t>b</a:t>
            </a:r>
            <a:endParaRPr sz="900">
              <a:latin typeface="Calibri" panose="020F0502020204030204"/>
              <a:cs typeface="Calibri" panose="020F0502020204030204"/>
            </a:endParaRPr>
          </a:p>
        </p:txBody>
      </p:sp>
      <p:sp>
        <p:nvSpPr>
          <p:cNvPr id="185" name="object 73"/>
          <p:cNvSpPr txBox="1"/>
          <p:nvPr/>
        </p:nvSpPr>
        <p:spPr>
          <a:xfrm>
            <a:off x="6240271" y="2060524"/>
            <a:ext cx="85725" cy="163195"/>
          </a:xfrm>
          <a:prstGeom prst="rect">
            <a:avLst/>
          </a:prstGeom>
        </p:spPr>
        <p:txBody>
          <a:bodyPr vert="horz" wrap="square" lIns="0" tIns="12700" rIns="0" bIns="0" rtlCol="0">
            <a:spAutoFit/>
          </a:bodyPr>
          <a:lstStyle/>
          <a:p>
            <a:pPr marL="12700">
              <a:lnSpc>
                <a:spcPct val="100000"/>
              </a:lnSpc>
              <a:spcBef>
                <a:spcPts val="100"/>
              </a:spcBef>
            </a:pPr>
            <a:r>
              <a:rPr sz="900" spc="-50" dirty="0">
                <a:solidFill>
                  <a:srgbClr val="34352F"/>
                </a:solidFill>
                <a:latin typeface="Calibri" panose="020F0502020204030204"/>
                <a:cs typeface="Calibri" panose="020F0502020204030204"/>
              </a:rPr>
              <a:t>d</a:t>
            </a:r>
            <a:endParaRPr sz="900">
              <a:latin typeface="Calibri" panose="020F0502020204030204"/>
              <a:cs typeface="Calibri" panose="020F0502020204030204"/>
            </a:endParaRPr>
          </a:p>
        </p:txBody>
      </p:sp>
      <p:sp>
        <p:nvSpPr>
          <p:cNvPr id="186" name="object 74"/>
          <p:cNvSpPr txBox="1"/>
          <p:nvPr/>
        </p:nvSpPr>
        <p:spPr>
          <a:xfrm>
            <a:off x="5300599" y="1267078"/>
            <a:ext cx="1489075" cy="162560"/>
          </a:xfrm>
          <a:prstGeom prst="rect">
            <a:avLst/>
          </a:prstGeom>
        </p:spPr>
        <p:txBody>
          <a:bodyPr vert="horz" wrap="square" lIns="0" tIns="12700" rIns="0" bIns="0" rtlCol="0">
            <a:spAutoFit/>
          </a:bodyPr>
          <a:lstStyle/>
          <a:p>
            <a:pPr marL="12700">
              <a:lnSpc>
                <a:spcPct val="100000"/>
              </a:lnSpc>
              <a:spcBef>
                <a:spcPts val="100"/>
              </a:spcBef>
            </a:pPr>
            <a:r>
              <a:rPr sz="900" b="1" spc="-10" dirty="0">
                <a:solidFill>
                  <a:srgbClr val="34352F"/>
                </a:solidFill>
                <a:latin typeface="Calibri" panose="020F0502020204030204"/>
                <a:cs typeface="Calibri" panose="020F0502020204030204"/>
              </a:rPr>
              <a:t>Gate-</a:t>
            </a:r>
            <a:r>
              <a:rPr sz="900" b="1" dirty="0">
                <a:solidFill>
                  <a:srgbClr val="34352F"/>
                </a:solidFill>
                <a:latin typeface="Calibri" panose="020F0502020204030204"/>
                <a:cs typeface="Calibri" panose="020F0502020204030204"/>
              </a:rPr>
              <a:t>level</a:t>
            </a:r>
            <a:r>
              <a:rPr sz="900" b="1" spc="-35" dirty="0">
                <a:solidFill>
                  <a:srgbClr val="34352F"/>
                </a:solidFill>
                <a:latin typeface="Calibri" panose="020F0502020204030204"/>
                <a:cs typeface="Calibri" panose="020F0502020204030204"/>
              </a:rPr>
              <a:t> </a:t>
            </a:r>
            <a:r>
              <a:rPr sz="900" b="1" dirty="0">
                <a:solidFill>
                  <a:srgbClr val="34352F"/>
                </a:solidFill>
                <a:latin typeface="Calibri" panose="020F0502020204030204"/>
                <a:cs typeface="Calibri" panose="020F0502020204030204"/>
              </a:rPr>
              <a:t>Power</a:t>
            </a:r>
            <a:r>
              <a:rPr sz="900" b="1" spc="-20" dirty="0">
                <a:solidFill>
                  <a:srgbClr val="34352F"/>
                </a:solidFill>
                <a:latin typeface="Calibri" panose="020F0502020204030204"/>
                <a:cs typeface="Calibri" panose="020F0502020204030204"/>
              </a:rPr>
              <a:t> </a:t>
            </a:r>
            <a:r>
              <a:rPr sz="900" b="1" spc="-10" dirty="0">
                <a:solidFill>
                  <a:srgbClr val="34352F"/>
                </a:solidFill>
                <a:latin typeface="Calibri" panose="020F0502020204030204"/>
                <a:cs typeface="Calibri" panose="020F0502020204030204"/>
              </a:rPr>
              <a:t>Optimization</a:t>
            </a:r>
            <a:endParaRPr sz="900">
              <a:latin typeface="Calibri" panose="020F0502020204030204"/>
              <a:cs typeface="Calibri" panose="020F0502020204030204"/>
            </a:endParaRPr>
          </a:p>
        </p:txBody>
      </p:sp>
      <p:grpSp>
        <p:nvGrpSpPr>
          <p:cNvPr id="187" name="object 75"/>
          <p:cNvGrpSpPr/>
          <p:nvPr/>
        </p:nvGrpSpPr>
        <p:grpSpPr>
          <a:xfrm>
            <a:off x="7583218" y="1339106"/>
            <a:ext cx="971550" cy="1376045"/>
            <a:chOff x="7446058" y="1568976"/>
            <a:chExt cx="971550" cy="1376045"/>
          </a:xfrm>
        </p:grpSpPr>
        <p:pic>
          <p:nvPicPr>
            <p:cNvPr id="188" name="object 76"/>
            <p:cNvPicPr/>
            <p:nvPr/>
          </p:nvPicPr>
          <p:blipFill>
            <a:blip r:embed="rId18" cstate="print"/>
            <a:stretch>
              <a:fillRect/>
            </a:stretch>
          </p:blipFill>
          <p:spPr>
            <a:xfrm>
              <a:off x="7446058" y="1568976"/>
              <a:ext cx="545558" cy="1375763"/>
            </a:xfrm>
            <a:prstGeom prst="rect">
              <a:avLst/>
            </a:prstGeom>
          </p:spPr>
        </p:pic>
        <p:sp>
          <p:nvSpPr>
            <p:cNvPr id="189" name="object 77"/>
            <p:cNvSpPr/>
            <p:nvPr/>
          </p:nvSpPr>
          <p:spPr>
            <a:xfrm>
              <a:off x="7605522" y="1692402"/>
              <a:ext cx="48895" cy="914400"/>
            </a:xfrm>
            <a:custGeom>
              <a:avLst/>
              <a:gdLst/>
              <a:ahLst/>
              <a:cxnLst/>
              <a:rect l="l" t="t" r="r" b="b"/>
              <a:pathLst>
                <a:path w="48895" h="914400">
                  <a:moveTo>
                    <a:pt x="32495" y="72644"/>
                  </a:moveTo>
                  <a:lnTo>
                    <a:pt x="16239" y="72644"/>
                  </a:lnTo>
                  <a:lnTo>
                    <a:pt x="15112" y="914400"/>
                  </a:lnTo>
                  <a:lnTo>
                    <a:pt x="31369" y="914400"/>
                  </a:lnTo>
                  <a:lnTo>
                    <a:pt x="32495" y="72644"/>
                  </a:lnTo>
                  <a:close/>
                </a:path>
                <a:path w="48895" h="914400">
                  <a:moveTo>
                    <a:pt x="23875" y="0"/>
                  </a:moveTo>
                  <a:lnTo>
                    <a:pt x="0" y="72644"/>
                  </a:lnTo>
                  <a:lnTo>
                    <a:pt x="16239" y="72644"/>
                  </a:lnTo>
                  <a:lnTo>
                    <a:pt x="16255" y="60578"/>
                  </a:lnTo>
                  <a:lnTo>
                    <a:pt x="44633" y="60578"/>
                  </a:lnTo>
                  <a:lnTo>
                    <a:pt x="23875" y="0"/>
                  </a:lnTo>
                  <a:close/>
                </a:path>
                <a:path w="48895" h="914400">
                  <a:moveTo>
                    <a:pt x="44633" y="60578"/>
                  </a:moveTo>
                  <a:lnTo>
                    <a:pt x="32511" y="60578"/>
                  </a:lnTo>
                  <a:lnTo>
                    <a:pt x="32495" y="72644"/>
                  </a:lnTo>
                  <a:lnTo>
                    <a:pt x="48768" y="72644"/>
                  </a:lnTo>
                  <a:lnTo>
                    <a:pt x="44633" y="60578"/>
                  </a:lnTo>
                  <a:close/>
                </a:path>
              </a:pathLst>
            </a:custGeom>
            <a:solidFill>
              <a:srgbClr val="000000"/>
            </a:solidFill>
          </p:spPr>
          <p:txBody>
            <a:bodyPr wrap="square" lIns="0" tIns="0" rIns="0" bIns="0" rtlCol="0"/>
            <a:lstStyle/>
            <a:p/>
          </p:txBody>
        </p:sp>
        <p:sp>
          <p:nvSpPr>
            <p:cNvPr id="190" name="object 78"/>
            <p:cNvSpPr/>
            <p:nvPr/>
          </p:nvSpPr>
          <p:spPr>
            <a:xfrm>
              <a:off x="7605522" y="1692402"/>
              <a:ext cx="48895" cy="914400"/>
            </a:xfrm>
            <a:custGeom>
              <a:avLst/>
              <a:gdLst/>
              <a:ahLst/>
              <a:cxnLst/>
              <a:rect l="l" t="t" r="r" b="b"/>
              <a:pathLst>
                <a:path w="48895" h="914400">
                  <a:moveTo>
                    <a:pt x="15112" y="914400"/>
                  </a:moveTo>
                  <a:lnTo>
                    <a:pt x="16255" y="60578"/>
                  </a:lnTo>
                  <a:lnTo>
                    <a:pt x="32511" y="60578"/>
                  </a:lnTo>
                  <a:lnTo>
                    <a:pt x="31369" y="914400"/>
                  </a:lnTo>
                  <a:lnTo>
                    <a:pt x="15112" y="914400"/>
                  </a:lnTo>
                  <a:close/>
                </a:path>
                <a:path w="48895" h="914400">
                  <a:moveTo>
                    <a:pt x="0" y="72644"/>
                  </a:moveTo>
                  <a:lnTo>
                    <a:pt x="23875" y="0"/>
                  </a:lnTo>
                  <a:lnTo>
                    <a:pt x="48768" y="72644"/>
                  </a:lnTo>
                  <a:lnTo>
                    <a:pt x="0" y="72644"/>
                  </a:lnTo>
                  <a:close/>
                </a:path>
              </a:pathLst>
            </a:custGeom>
            <a:ln w="3175">
              <a:solidFill>
                <a:srgbClr val="000000"/>
              </a:solidFill>
            </a:ln>
          </p:spPr>
          <p:txBody>
            <a:bodyPr wrap="square" lIns="0" tIns="0" rIns="0" bIns="0" rtlCol="0"/>
            <a:lstStyle/>
            <a:p/>
          </p:txBody>
        </p:sp>
        <p:pic>
          <p:nvPicPr>
            <p:cNvPr id="191" name="object 79"/>
            <p:cNvPicPr/>
            <p:nvPr/>
          </p:nvPicPr>
          <p:blipFill>
            <a:blip r:embed="rId19" cstate="print"/>
            <a:stretch>
              <a:fillRect/>
            </a:stretch>
          </p:blipFill>
          <p:spPr>
            <a:xfrm>
              <a:off x="7674864" y="1819656"/>
              <a:ext cx="72390" cy="92202"/>
            </a:xfrm>
            <a:prstGeom prst="rect">
              <a:avLst/>
            </a:prstGeom>
          </p:spPr>
        </p:pic>
        <p:pic>
          <p:nvPicPr>
            <p:cNvPr id="192" name="object 80"/>
            <p:cNvPicPr/>
            <p:nvPr/>
          </p:nvPicPr>
          <p:blipFill>
            <a:blip r:embed="rId20" cstate="print"/>
            <a:stretch>
              <a:fillRect/>
            </a:stretch>
          </p:blipFill>
          <p:spPr>
            <a:xfrm>
              <a:off x="7484364" y="1627593"/>
              <a:ext cx="635634" cy="656374"/>
            </a:xfrm>
            <a:prstGeom prst="rect">
              <a:avLst/>
            </a:prstGeom>
          </p:spPr>
        </p:pic>
        <p:sp>
          <p:nvSpPr>
            <p:cNvPr id="193" name="object 81"/>
            <p:cNvSpPr/>
            <p:nvPr/>
          </p:nvSpPr>
          <p:spPr>
            <a:xfrm>
              <a:off x="7680198" y="1823466"/>
              <a:ext cx="66040" cy="86995"/>
            </a:xfrm>
            <a:custGeom>
              <a:avLst/>
              <a:gdLst/>
              <a:ahLst/>
              <a:cxnLst/>
              <a:rect l="l" t="t" r="r" b="b"/>
              <a:pathLst>
                <a:path w="66040" h="86994">
                  <a:moveTo>
                    <a:pt x="32766" y="0"/>
                  </a:moveTo>
                  <a:lnTo>
                    <a:pt x="0" y="42672"/>
                  </a:lnTo>
                  <a:lnTo>
                    <a:pt x="32766" y="86868"/>
                  </a:lnTo>
                  <a:lnTo>
                    <a:pt x="65531" y="42672"/>
                  </a:lnTo>
                  <a:lnTo>
                    <a:pt x="32766" y="0"/>
                  </a:lnTo>
                  <a:close/>
                </a:path>
              </a:pathLst>
            </a:custGeom>
            <a:ln w="3175">
              <a:solidFill>
                <a:srgbClr val="000000"/>
              </a:solidFill>
            </a:ln>
          </p:spPr>
          <p:txBody>
            <a:bodyPr wrap="square" lIns="0" tIns="0" rIns="0" bIns="0" rtlCol="0"/>
            <a:lstStyle/>
            <a:p/>
          </p:txBody>
        </p:sp>
        <p:pic>
          <p:nvPicPr>
            <p:cNvPr id="194" name="object 82"/>
            <p:cNvPicPr/>
            <p:nvPr/>
          </p:nvPicPr>
          <p:blipFill>
            <a:blip r:embed="rId21" cstate="print"/>
            <a:stretch>
              <a:fillRect/>
            </a:stretch>
          </p:blipFill>
          <p:spPr>
            <a:xfrm>
              <a:off x="8349869" y="2476373"/>
              <a:ext cx="67310" cy="88645"/>
            </a:xfrm>
            <a:prstGeom prst="rect">
              <a:avLst/>
            </a:prstGeom>
          </p:spPr>
        </p:pic>
      </p:grpSp>
      <p:sp>
        <p:nvSpPr>
          <p:cNvPr id="195" name="object 83"/>
          <p:cNvSpPr txBox="1"/>
          <p:nvPr/>
        </p:nvSpPr>
        <p:spPr>
          <a:xfrm>
            <a:off x="8232775" y="2367102"/>
            <a:ext cx="251460" cy="141605"/>
          </a:xfrm>
          <a:prstGeom prst="rect">
            <a:avLst/>
          </a:prstGeom>
        </p:spPr>
        <p:txBody>
          <a:bodyPr vert="horz" wrap="square" lIns="0" tIns="13335" rIns="0" bIns="0" rtlCol="0">
            <a:spAutoFit/>
          </a:bodyPr>
          <a:lstStyle/>
          <a:p>
            <a:pPr marL="12700">
              <a:lnSpc>
                <a:spcPct val="100000"/>
              </a:lnSpc>
              <a:spcBef>
                <a:spcPts val="105"/>
              </a:spcBef>
            </a:pPr>
            <a:r>
              <a:rPr sz="750" b="1" spc="-10" dirty="0">
                <a:latin typeface="Calibri" panose="020F0502020204030204"/>
                <a:cs typeface="Calibri" panose="020F0502020204030204"/>
              </a:rPr>
              <a:t>Delay</a:t>
            </a:r>
            <a:endParaRPr sz="750">
              <a:latin typeface="Calibri" panose="020F0502020204030204"/>
              <a:cs typeface="Calibri" panose="020F0502020204030204"/>
            </a:endParaRPr>
          </a:p>
        </p:txBody>
      </p:sp>
      <p:sp>
        <p:nvSpPr>
          <p:cNvPr id="196" name="object 84"/>
          <p:cNvSpPr txBox="1"/>
          <p:nvPr/>
        </p:nvSpPr>
        <p:spPr>
          <a:xfrm>
            <a:off x="7641716" y="1521162"/>
            <a:ext cx="121920" cy="670560"/>
          </a:xfrm>
          <a:prstGeom prst="rect">
            <a:avLst/>
          </a:prstGeom>
        </p:spPr>
        <p:txBody>
          <a:bodyPr vert="vert270" wrap="square" lIns="0" tIns="0" rIns="0" bIns="0" rtlCol="0">
            <a:spAutoFit/>
          </a:bodyPr>
          <a:lstStyle/>
          <a:p>
            <a:pPr marL="12700">
              <a:lnSpc>
                <a:spcPts val="815"/>
              </a:lnSpc>
            </a:pPr>
            <a:r>
              <a:rPr sz="750" b="1" dirty="0">
                <a:latin typeface="Calibri" panose="020F0502020204030204"/>
                <a:cs typeface="Calibri" panose="020F0502020204030204"/>
              </a:rPr>
              <a:t>Leakage</a:t>
            </a:r>
            <a:r>
              <a:rPr sz="750" b="1" spc="-30" dirty="0">
                <a:latin typeface="Calibri" panose="020F0502020204030204"/>
                <a:cs typeface="Calibri" panose="020F0502020204030204"/>
              </a:rPr>
              <a:t> </a:t>
            </a:r>
            <a:r>
              <a:rPr sz="750" b="1" spc="-10" dirty="0">
                <a:latin typeface="Calibri" panose="020F0502020204030204"/>
                <a:cs typeface="Calibri" panose="020F0502020204030204"/>
              </a:rPr>
              <a:t>Current</a:t>
            </a:r>
            <a:endParaRPr sz="750">
              <a:latin typeface="Calibri" panose="020F0502020204030204"/>
              <a:cs typeface="Calibri" panose="020F0502020204030204"/>
            </a:endParaRPr>
          </a:p>
        </p:txBody>
      </p:sp>
      <p:sp>
        <p:nvSpPr>
          <p:cNvPr id="197" name="object 85"/>
          <p:cNvSpPr/>
          <p:nvPr/>
        </p:nvSpPr>
        <p:spPr>
          <a:xfrm>
            <a:off x="7852410" y="1646935"/>
            <a:ext cx="673735" cy="647700"/>
          </a:xfrm>
          <a:custGeom>
            <a:avLst/>
            <a:gdLst/>
            <a:ahLst/>
            <a:cxnLst/>
            <a:rect l="l" t="t" r="r" b="b"/>
            <a:pathLst>
              <a:path w="673734" h="647700">
                <a:moveTo>
                  <a:pt x="673607" y="647700"/>
                </a:moveTo>
                <a:lnTo>
                  <a:pt x="624258" y="642866"/>
                </a:lnTo>
                <a:lnTo>
                  <a:pt x="575965" y="634984"/>
                </a:lnTo>
                <a:lnTo>
                  <a:pt x="528838" y="624159"/>
                </a:lnTo>
                <a:lnTo>
                  <a:pt x="482986" y="610495"/>
                </a:lnTo>
                <a:lnTo>
                  <a:pt x="438518" y="594101"/>
                </a:lnTo>
                <a:lnTo>
                  <a:pt x="395543" y="575080"/>
                </a:lnTo>
                <a:lnTo>
                  <a:pt x="354171" y="553539"/>
                </a:lnTo>
                <a:lnTo>
                  <a:pt x="314509" y="529584"/>
                </a:lnTo>
                <a:lnTo>
                  <a:pt x="276668" y="503321"/>
                </a:lnTo>
                <a:lnTo>
                  <a:pt x="240756" y="474855"/>
                </a:lnTo>
                <a:lnTo>
                  <a:pt x="206882" y="444293"/>
                </a:lnTo>
                <a:lnTo>
                  <a:pt x="175156" y="411740"/>
                </a:lnTo>
                <a:lnTo>
                  <a:pt x="145687" y="377302"/>
                </a:lnTo>
                <a:lnTo>
                  <a:pt x="118583" y="341085"/>
                </a:lnTo>
                <a:lnTo>
                  <a:pt x="93954" y="303194"/>
                </a:lnTo>
                <a:lnTo>
                  <a:pt x="71908" y="263736"/>
                </a:lnTo>
                <a:lnTo>
                  <a:pt x="52555" y="222817"/>
                </a:lnTo>
                <a:lnTo>
                  <a:pt x="36004" y="180541"/>
                </a:lnTo>
                <a:lnTo>
                  <a:pt x="22364" y="137016"/>
                </a:lnTo>
                <a:lnTo>
                  <a:pt x="11744" y="92347"/>
                </a:lnTo>
                <a:lnTo>
                  <a:pt x="4253" y="46639"/>
                </a:lnTo>
                <a:lnTo>
                  <a:pt x="0" y="0"/>
                </a:lnTo>
              </a:path>
            </a:pathLst>
          </a:custGeom>
          <a:ln w="19049">
            <a:solidFill>
              <a:srgbClr val="0065FE"/>
            </a:solidFill>
            <a:prstDash val="sysDash"/>
          </a:ln>
        </p:spPr>
        <p:txBody>
          <a:bodyPr wrap="square" lIns="0" tIns="0" rIns="0" bIns="0" rtlCol="0"/>
          <a:lstStyle/>
          <a:p/>
        </p:txBody>
      </p:sp>
      <p:sp>
        <p:nvSpPr>
          <p:cNvPr id="198" name="object 86"/>
          <p:cNvSpPr txBox="1"/>
          <p:nvPr/>
        </p:nvSpPr>
        <p:spPr>
          <a:xfrm>
            <a:off x="7881874" y="1565147"/>
            <a:ext cx="342900" cy="146685"/>
          </a:xfrm>
          <a:prstGeom prst="rect">
            <a:avLst/>
          </a:prstGeom>
        </p:spPr>
        <p:txBody>
          <a:bodyPr vert="horz" wrap="square" lIns="0" tIns="11430" rIns="0" bIns="0" rtlCol="0">
            <a:spAutoFit/>
          </a:bodyPr>
          <a:lstStyle/>
          <a:p>
            <a:pPr marL="12700">
              <a:lnSpc>
                <a:spcPct val="100000"/>
              </a:lnSpc>
              <a:spcBef>
                <a:spcPts val="90"/>
              </a:spcBef>
            </a:pPr>
            <a:r>
              <a:rPr sz="1200" b="1" baseline="3000" dirty="0">
                <a:latin typeface="Calibri" panose="020F0502020204030204"/>
                <a:cs typeface="Calibri" panose="020F0502020204030204"/>
              </a:rPr>
              <a:t>Low</a:t>
            </a:r>
            <a:r>
              <a:rPr sz="1200" b="1" spc="-44" baseline="3000" dirty="0">
                <a:latin typeface="Calibri" panose="020F0502020204030204"/>
                <a:cs typeface="Calibri" panose="020F0502020204030204"/>
              </a:rPr>
              <a:t> </a:t>
            </a:r>
            <a:r>
              <a:rPr sz="1200" b="1" spc="-15" baseline="3000" dirty="0">
                <a:latin typeface="Calibri" panose="020F0502020204030204"/>
                <a:cs typeface="Calibri" panose="020F0502020204030204"/>
              </a:rPr>
              <a:t>V</a:t>
            </a:r>
            <a:r>
              <a:rPr sz="1200" b="1" spc="-135" baseline="3000" dirty="0">
                <a:latin typeface="Calibri" panose="020F0502020204030204"/>
                <a:cs typeface="Calibri" panose="020F0502020204030204"/>
              </a:rPr>
              <a:t> </a:t>
            </a:r>
            <a:r>
              <a:rPr sz="350" b="1" spc="-25" dirty="0">
                <a:latin typeface="Calibri" panose="020F0502020204030204"/>
                <a:cs typeface="Calibri" panose="020F0502020204030204"/>
              </a:rPr>
              <a:t>TH</a:t>
            </a:r>
            <a:endParaRPr sz="350">
              <a:latin typeface="Calibri" panose="020F0502020204030204"/>
              <a:cs typeface="Calibri" panose="020F0502020204030204"/>
            </a:endParaRPr>
          </a:p>
        </p:txBody>
      </p:sp>
      <p:sp>
        <p:nvSpPr>
          <p:cNvPr id="199" name="object 87"/>
          <p:cNvSpPr txBox="1"/>
          <p:nvPr/>
        </p:nvSpPr>
        <p:spPr>
          <a:xfrm>
            <a:off x="8110219" y="1972360"/>
            <a:ext cx="798195" cy="384810"/>
          </a:xfrm>
          <a:prstGeom prst="rect">
            <a:avLst/>
          </a:prstGeom>
        </p:spPr>
        <p:txBody>
          <a:bodyPr vert="horz" wrap="square" lIns="0" tIns="70485" rIns="0" bIns="0" rtlCol="0">
            <a:spAutoFit/>
          </a:bodyPr>
          <a:lstStyle/>
          <a:p>
            <a:pPr marL="12700">
              <a:lnSpc>
                <a:spcPct val="100000"/>
              </a:lnSpc>
              <a:spcBef>
                <a:spcPts val="555"/>
              </a:spcBef>
            </a:pPr>
            <a:r>
              <a:rPr sz="800" b="1" spc="-10" dirty="0">
                <a:latin typeface="Calibri" panose="020F0502020204030204"/>
                <a:cs typeface="Calibri" panose="020F0502020204030204"/>
              </a:rPr>
              <a:t>Nominal</a:t>
            </a:r>
            <a:r>
              <a:rPr sz="800" b="1" spc="-30" dirty="0">
                <a:latin typeface="Calibri" panose="020F0502020204030204"/>
                <a:cs typeface="Calibri" panose="020F0502020204030204"/>
              </a:rPr>
              <a:t> </a:t>
            </a:r>
            <a:r>
              <a:rPr sz="800" b="1" dirty="0">
                <a:latin typeface="Calibri" panose="020F0502020204030204"/>
                <a:cs typeface="Calibri" panose="020F0502020204030204"/>
              </a:rPr>
              <a:t>V</a:t>
            </a:r>
            <a:r>
              <a:rPr sz="800" b="1" spc="-30" dirty="0">
                <a:latin typeface="Calibri" panose="020F0502020204030204"/>
                <a:cs typeface="Calibri" panose="020F0502020204030204"/>
              </a:rPr>
              <a:t> </a:t>
            </a:r>
            <a:r>
              <a:rPr sz="350" b="1" spc="-25" dirty="0">
                <a:latin typeface="Calibri" panose="020F0502020204030204"/>
                <a:cs typeface="Calibri" panose="020F0502020204030204"/>
              </a:rPr>
              <a:t>TH</a:t>
            </a:r>
            <a:endParaRPr sz="350">
              <a:latin typeface="Calibri" panose="020F0502020204030204"/>
              <a:cs typeface="Calibri" panose="020F0502020204030204"/>
            </a:endParaRPr>
          </a:p>
          <a:p>
            <a:pPr marL="454660">
              <a:lnSpc>
                <a:spcPct val="100000"/>
              </a:lnSpc>
              <a:spcBef>
                <a:spcPts val="455"/>
              </a:spcBef>
            </a:pPr>
            <a:r>
              <a:rPr sz="800" b="1" dirty="0">
                <a:latin typeface="Calibri" panose="020F0502020204030204"/>
                <a:cs typeface="Calibri" panose="020F0502020204030204"/>
              </a:rPr>
              <a:t>High</a:t>
            </a:r>
            <a:r>
              <a:rPr sz="800" b="1" spc="-35" dirty="0">
                <a:latin typeface="Calibri" panose="020F0502020204030204"/>
                <a:cs typeface="Calibri" panose="020F0502020204030204"/>
              </a:rPr>
              <a:t> </a:t>
            </a:r>
            <a:r>
              <a:rPr sz="800" b="1" spc="-25" dirty="0">
                <a:latin typeface="Calibri" panose="020F0502020204030204"/>
                <a:cs typeface="Calibri" panose="020F0502020204030204"/>
              </a:rPr>
              <a:t>V</a:t>
            </a:r>
            <a:r>
              <a:rPr sz="350" b="1" spc="-25" dirty="0">
                <a:latin typeface="Calibri" panose="020F0502020204030204"/>
                <a:cs typeface="Calibri" panose="020F0502020204030204"/>
              </a:rPr>
              <a:t>TH</a:t>
            </a:r>
            <a:endParaRPr sz="350">
              <a:latin typeface="Calibri" panose="020F0502020204030204"/>
              <a:cs typeface="Calibri" panose="020F0502020204030204"/>
            </a:endParaRPr>
          </a:p>
        </p:txBody>
      </p:sp>
      <p:grpSp>
        <p:nvGrpSpPr>
          <p:cNvPr id="200" name="object 88"/>
          <p:cNvGrpSpPr/>
          <p:nvPr/>
        </p:nvGrpSpPr>
        <p:grpSpPr>
          <a:xfrm>
            <a:off x="7562088" y="1879333"/>
            <a:ext cx="1396365" cy="894715"/>
            <a:chOff x="7424928" y="2109203"/>
            <a:chExt cx="1396365" cy="894715"/>
          </a:xfrm>
        </p:grpSpPr>
        <p:pic>
          <p:nvPicPr>
            <p:cNvPr id="201" name="object 89"/>
            <p:cNvPicPr/>
            <p:nvPr/>
          </p:nvPicPr>
          <p:blipFill>
            <a:blip r:embed="rId22" cstate="print"/>
            <a:stretch>
              <a:fillRect/>
            </a:stretch>
          </p:blipFill>
          <p:spPr>
            <a:xfrm>
              <a:off x="7717536" y="2109203"/>
              <a:ext cx="654557" cy="675906"/>
            </a:xfrm>
            <a:prstGeom prst="rect">
              <a:avLst/>
            </a:prstGeom>
          </p:spPr>
        </p:pic>
        <p:sp>
          <p:nvSpPr>
            <p:cNvPr id="202" name="object 90"/>
            <p:cNvSpPr/>
            <p:nvPr/>
          </p:nvSpPr>
          <p:spPr>
            <a:xfrm>
              <a:off x="7914894" y="2306573"/>
              <a:ext cx="66040" cy="86995"/>
            </a:xfrm>
            <a:custGeom>
              <a:avLst/>
              <a:gdLst/>
              <a:ahLst/>
              <a:cxnLst/>
              <a:rect l="l" t="t" r="r" b="b"/>
              <a:pathLst>
                <a:path w="66040" h="86994">
                  <a:moveTo>
                    <a:pt x="32130" y="0"/>
                  </a:moveTo>
                  <a:lnTo>
                    <a:pt x="0" y="42671"/>
                  </a:lnTo>
                  <a:lnTo>
                    <a:pt x="32130" y="86868"/>
                  </a:lnTo>
                  <a:lnTo>
                    <a:pt x="65531" y="42671"/>
                  </a:lnTo>
                  <a:lnTo>
                    <a:pt x="32130" y="0"/>
                  </a:lnTo>
                  <a:close/>
                </a:path>
              </a:pathLst>
            </a:custGeom>
            <a:ln w="3175">
              <a:solidFill>
                <a:srgbClr val="000000"/>
              </a:solidFill>
            </a:ln>
          </p:spPr>
          <p:txBody>
            <a:bodyPr wrap="square" lIns="0" tIns="0" rIns="0" bIns="0" rtlCol="0"/>
            <a:lstStyle/>
            <a:p/>
          </p:txBody>
        </p:sp>
        <p:pic>
          <p:nvPicPr>
            <p:cNvPr id="203" name="object 91"/>
            <p:cNvPicPr/>
            <p:nvPr/>
          </p:nvPicPr>
          <p:blipFill>
            <a:blip r:embed="rId23" cstate="print"/>
            <a:stretch>
              <a:fillRect/>
            </a:stretch>
          </p:blipFill>
          <p:spPr>
            <a:xfrm>
              <a:off x="8346948" y="2473451"/>
              <a:ext cx="72390" cy="93725"/>
            </a:xfrm>
            <a:prstGeom prst="rect">
              <a:avLst/>
            </a:prstGeom>
          </p:spPr>
        </p:pic>
        <p:pic>
          <p:nvPicPr>
            <p:cNvPr id="204" name="object 92"/>
            <p:cNvPicPr/>
            <p:nvPr/>
          </p:nvPicPr>
          <p:blipFill>
            <a:blip r:embed="rId24" cstate="print"/>
            <a:stretch>
              <a:fillRect/>
            </a:stretch>
          </p:blipFill>
          <p:spPr>
            <a:xfrm>
              <a:off x="8145780" y="2269223"/>
              <a:ext cx="671334" cy="697242"/>
            </a:xfrm>
            <a:prstGeom prst="rect">
              <a:avLst/>
            </a:prstGeom>
          </p:spPr>
        </p:pic>
        <p:pic>
          <p:nvPicPr>
            <p:cNvPr id="205" name="object 93"/>
            <p:cNvPicPr/>
            <p:nvPr/>
          </p:nvPicPr>
          <p:blipFill>
            <a:blip r:embed="rId25" cstate="print"/>
            <a:stretch>
              <a:fillRect/>
            </a:stretch>
          </p:blipFill>
          <p:spPr>
            <a:xfrm>
              <a:off x="7424928" y="2389695"/>
              <a:ext cx="1396110" cy="613854"/>
            </a:xfrm>
            <a:prstGeom prst="rect">
              <a:avLst/>
            </a:prstGeom>
          </p:spPr>
        </p:pic>
        <p:sp>
          <p:nvSpPr>
            <p:cNvPr id="206" name="object 94"/>
            <p:cNvSpPr/>
            <p:nvPr/>
          </p:nvSpPr>
          <p:spPr>
            <a:xfrm>
              <a:off x="7620762" y="2585465"/>
              <a:ext cx="826135" cy="44450"/>
            </a:xfrm>
            <a:custGeom>
              <a:avLst/>
              <a:gdLst/>
              <a:ahLst/>
              <a:cxnLst/>
              <a:rect l="l" t="t" r="r" b="b"/>
              <a:pathLst>
                <a:path w="826134" h="44450">
                  <a:moveTo>
                    <a:pt x="760349" y="0"/>
                  </a:moveTo>
                  <a:lnTo>
                    <a:pt x="760349" y="14731"/>
                  </a:lnTo>
                  <a:lnTo>
                    <a:pt x="771271" y="14731"/>
                  </a:lnTo>
                  <a:lnTo>
                    <a:pt x="771271" y="29463"/>
                  </a:lnTo>
                  <a:lnTo>
                    <a:pt x="760349" y="29463"/>
                  </a:lnTo>
                  <a:lnTo>
                    <a:pt x="760349" y="44195"/>
                  </a:lnTo>
                  <a:lnTo>
                    <a:pt x="826008" y="21589"/>
                  </a:lnTo>
                  <a:lnTo>
                    <a:pt x="760349" y="0"/>
                  </a:lnTo>
                  <a:close/>
                </a:path>
                <a:path w="826134" h="44450">
                  <a:moveTo>
                    <a:pt x="0" y="13715"/>
                  </a:moveTo>
                  <a:lnTo>
                    <a:pt x="0" y="28447"/>
                  </a:lnTo>
                  <a:lnTo>
                    <a:pt x="771270" y="29463"/>
                  </a:lnTo>
                  <a:lnTo>
                    <a:pt x="760349" y="29463"/>
                  </a:lnTo>
                  <a:lnTo>
                    <a:pt x="760349" y="14731"/>
                  </a:lnTo>
                  <a:lnTo>
                    <a:pt x="771270" y="14731"/>
                  </a:lnTo>
                  <a:lnTo>
                    <a:pt x="0" y="13715"/>
                  </a:lnTo>
                  <a:close/>
                </a:path>
              </a:pathLst>
            </a:custGeom>
            <a:solidFill>
              <a:srgbClr val="000000"/>
            </a:solidFill>
          </p:spPr>
          <p:txBody>
            <a:bodyPr wrap="square" lIns="0" tIns="0" rIns="0" bIns="0" rtlCol="0"/>
            <a:lstStyle/>
            <a:p/>
          </p:txBody>
        </p:sp>
        <p:sp>
          <p:nvSpPr>
            <p:cNvPr id="207" name="object 95"/>
            <p:cNvSpPr/>
            <p:nvPr/>
          </p:nvSpPr>
          <p:spPr>
            <a:xfrm>
              <a:off x="7620762" y="2585465"/>
              <a:ext cx="826135" cy="44450"/>
            </a:xfrm>
            <a:custGeom>
              <a:avLst/>
              <a:gdLst/>
              <a:ahLst/>
              <a:cxnLst/>
              <a:rect l="l" t="t" r="r" b="b"/>
              <a:pathLst>
                <a:path w="826134" h="44450">
                  <a:moveTo>
                    <a:pt x="0" y="13715"/>
                  </a:moveTo>
                  <a:lnTo>
                    <a:pt x="771271" y="14731"/>
                  </a:lnTo>
                  <a:lnTo>
                    <a:pt x="771271" y="29463"/>
                  </a:lnTo>
                  <a:lnTo>
                    <a:pt x="0" y="28447"/>
                  </a:lnTo>
                  <a:lnTo>
                    <a:pt x="0" y="13715"/>
                  </a:lnTo>
                  <a:close/>
                </a:path>
                <a:path w="826134" h="44450">
                  <a:moveTo>
                    <a:pt x="760349" y="0"/>
                  </a:moveTo>
                  <a:lnTo>
                    <a:pt x="826008" y="21589"/>
                  </a:lnTo>
                  <a:lnTo>
                    <a:pt x="760349" y="44195"/>
                  </a:lnTo>
                  <a:lnTo>
                    <a:pt x="760349" y="0"/>
                  </a:lnTo>
                  <a:close/>
                </a:path>
              </a:pathLst>
            </a:custGeom>
            <a:ln w="3175">
              <a:solidFill>
                <a:srgbClr val="000000"/>
              </a:solidFill>
            </a:ln>
          </p:spPr>
          <p:txBody>
            <a:bodyPr wrap="square" lIns="0" tIns="0" rIns="0" bIns="0" rtlCol="0"/>
            <a:lstStyle/>
            <a:p/>
          </p:txBody>
        </p:sp>
      </p:grpSp>
      <p:sp>
        <p:nvSpPr>
          <p:cNvPr id="208" name="object 96"/>
          <p:cNvSpPr txBox="1"/>
          <p:nvPr/>
        </p:nvSpPr>
        <p:spPr>
          <a:xfrm>
            <a:off x="7931023" y="1267078"/>
            <a:ext cx="790575" cy="162560"/>
          </a:xfrm>
          <a:prstGeom prst="rect">
            <a:avLst/>
          </a:prstGeom>
        </p:spPr>
        <p:txBody>
          <a:bodyPr vert="horz" wrap="square" lIns="0" tIns="12700" rIns="0" bIns="0" rtlCol="0">
            <a:spAutoFit/>
          </a:bodyPr>
          <a:lstStyle/>
          <a:p>
            <a:pPr marL="12700">
              <a:lnSpc>
                <a:spcPct val="100000"/>
              </a:lnSpc>
              <a:spcBef>
                <a:spcPts val="100"/>
              </a:spcBef>
            </a:pPr>
            <a:r>
              <a:rPr sz="900" b="1" spc="-10" dirty="0">
                <a:solidFill>
                  <a:srgbClr val="34352F"/>
                </a:solidFill>
                <a:latin typeface="Calibri" panose="020F0502020204030204"/>
                <a:cs typeface="Calibri" panose="020F0502020204030204"/>
              </a:rPr>
              <a:t>Multi-Threshold</a:t>
            </a:r>
            <a:endParaRPr sz="900">
              <a:latin typeface="Calibri" panose="020F0502020204030204"/>
              <a:cs typeface="Calibri" panose="020F0502020204030204"/>
            </a:endParaRPr>
          </a:p>
        </p:txBody>
      </p:sp>
      <p:sp>
        <p:nvSpPr>
          <p:cNvPr id="209" name="object 97"/>
          <p:cNvSpPr txBox="1"/>
          <p:nvPr/>
        </p:nvSpPr>
        <p:spPr>
          <a:xfrm>
            <a:off x="2713736" y="4205681"/>
            <a:ext cx="1479550" cy="373380"/>
          </a:xfrm>
          <a:prstGeom prst="rect">
            <a:avLst/>
          </a:prstGeom>
        </p:spPr>
        <p:txBody>
          <a:bodyPr vert="horz" wrap="square" lIns="0" tIns="33020" rIns="0" bIns="0" rtlCol="0">
            <a:spAutoFit/>
          </a:bodyPr>
          <a:lstStyle/>
          <a:p>
            <a:pPr marL="378460" marR="5080" indent="-365760">
              <a:lnSpc>
                <a:spcPts val="1300"/>
              </a:lnSpc>
              <a:spcBef>
                <a:spcPts val="260"/>
              </a:spcBef>
            </a:pPr>
            <a:r>
              <a:rPr sz="1200" dirty="0">
                <a:latin typeface="Calibri" panose="020F0502020204030204"/>
                <a:cs typeface="Calibri" panose="020F0502020204030204"/>
              </a:rPr>
              <a:t>MTCMOS</a:t>
            </a:r>
            <a:r>
              <a:rPr sz="1200" spc="-65" dirty="0">
                <a:latin typeface="Calibri" panose="020F0502020204030204"/>
                <a:cs typeface="Calibri" panose="020F0502020204030204"/>
              </a:rPr>
              <a:t> </a:t>
            </a:r>
            <a:r>
              <a:rPr sz="1200" dirty="0">
                <a:latin typeface="Calibri" panose="020F0502020204030204"/>
                <a:cs typeface="Calibri" panose="020F0502020204030204"/>
              </a:rPr>
              <a:t>Power</a:t>
            </a:r>
            <a:r>
              <a:rPr sz="1200" spc="-55" dirty="0">
                <a:latin typeface="Calibri" panose="020F0502020204030204"/>
                <a:cs typeface="Calibri" panose="020F0502020204030204"/>
              </a:rPr>
              <a:t> </a:t>
            </a:r>
            <a:r>
              <a:rPr sz="1200" spc="-10" dirty="0">
                <a:latin typeface="Calibri" panose="020F0502020204030204"/>
                <a:cs typeface="Calibri" panose="020F0502020204030204"/>
              </a:rPr>
              <a:t>Gating (Shutdown)</a:t>
            </a:r>
            <a:endParaRPr sz="1200">
              <a:latin typeface="Calibri" panose="020F0502020204030204"/>
              <a:cs typeface="Calibri" panose="020F0502020204030204"/>
            </a:endParaRPr>
          </a:p>
        </p:txBody>
      </p:sp>
      <p:grpSp>
        <p:nvGrpSpPr>
          <p:cNvPr id="210" name="object 98"/>
          <p:cNvGrpSpPr/>
          <p:nvPr/>
        </p:nvGrpSpPr>
        <p:grpSpPr>
          <a:xfrm>
            <a:off x="2653283" y="2751035"/>
            <a:ext cx="1778635" cy="1752600"/>
            <a:chOff x="2516123" y="2980905"/>
            <a:chExt cx="1778635" cy="1752600"/>
          </a:xfrm>
        </p:grpSpPr>
        <p:pic>
          <p:nvPicPr>
            <p:cNvPr id="211" name="object 99"/>
            <p:cNvPicPr/>
            <p:nvPr/>
          </p:nvPicPr>
          <p:blipFill>
            <a:blip r:embed="rId26" cstate="print"/>
            <a:stretch>
              <a:fillRect/>
            </a:stretch>
          </p:blipFill>
          <p:spPr>
            <a:xfrm>
              <a:off x="2516123" y="2980905"/>
              <a:ext cx="1778507" cy="1752473"/>
            </a:xfrm>
            <a:prstGeom prst="rect">
              <a:avLst/>
            </a:prstGeom>
          </p:spPr>
        </p:pic>
        <p:pic>
          <p:nvPicPr>
            <p:cNvPr id="212" name="object 100"/>
            <p:cNvPicPr/>
            <p:nvPr/>
          </p:nvPicPr>
          <p:blipFill>
            <a:blip r:embed="rId27" cstate="print"/>
            <a:stretch>
              <a:fillRect/>
            </a:stretch>
          </p:blipFill>
          <p:spPr>
            <a:xfrm>
              <a:off x="2711195" y="3176015"/>
              <a:ext cx="1208532" cy="1182624"/>
            </a:xfrm>
            <a:prstGeom prst="rect">
              <a:avLst/>
            </a:prstGeom>
          </p:spPr>
        </p:pic>
      </p:grpSp>
      <p:sp>
        <p:nvSpPr>
          <p:cNvPr id="213" name="object 101"/>
          <p:cNvSpPr txBox="1"/>
          <p:nvPr/>
        </p:nvSpPr>
        <p:spPr>
          <a:xfrm>
            <a:off x="530148" y="4211777"/>
            <a:ext cx="121031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alibri" panose="020F0502020204030204"/>
                <a:cs typeface="Calibri" panose="020F0502020204030204"/>
              </a:rPr>
              <a:t>Multi-</a:t>
            </a:r>
            <a:r>
              <a:rPr sz="1200" spc="-20" dirty="0">
                <a:latin typeface="Calibri" panose="020F0502020204030204"/>
                <a:cs typeface="Calibri" panose="020F0502020204030204"/>
              </a:rPr>
              <a:t>Voltage</a:t>
            </a:r>
            <a:r>
              <a:rPr sz="1200" dirty="0">
                <a:latin typeface="Calibri" panose="020F0502020204030204"/>
                <a:cs typeface="Calibri" panose="020F0502020204030204"/>
              </a:rPr>
              <a:t> </a:t>
            </a:r>
            <a:r>
              <a:rPr sz="1200" spc="-20" dirty="0">
                <a:latin typeface="Calibri" panose="020F0502020204030204"/>
                <a:cs typeface="Calibri" panose="020F0502020204030204"/>
              </a:rPr>
              <a:t>(MV)</a:t>
            </a:r>
            <a:endParaRPr sz="1200">
              <a:latin typeface="Calibri" panose="020F0502020204030204"/>
              <a:cs typeface="Calibri" panose="020F0502020204030204"/>
            </a:endParaRPr>
          </a:p>
        </p:txBody>
      </p:sp>
      <p:grpSp>
        <p:nvGrpSpPr>
          <p:cNvPr id="214" name="object 102"/>
          <p:cNvGrpSpPr/>
          <p:nvPr/>
        </p:nvGrpSpPr>
        <p:grpSpPr>
          <a:xfrm>
            <a:off x="382523" y="2751137"/>
            <a:ext cx="1766570" cy="1767839"/>
            <a:chOff x="245363" y="2981007"/>
            <a:chExt cx="1766570" cy="1767839"/>
          </a:xfrm>
        </p:grpSpPr>
        <p:pic>
          <p:nvPicPr>
            <p:cNvPr id="215" name="object 103"/>
            <p:cNvPicPr/>
            <p:nvPr/>
          </p:nvPicPr>
          <p:blipFill>
            <a:blip r:embed="rId28" cstate="print"/>
            <a:stretch>
              <a:fillRect/>
            </a:stretch>
          </p:blipFill>
          <p:spPr>
            <a:xfrm>
              <a:off x="245363" y="2981007"/>
              <a:ext cx="1766443" cy="1767839"/>
            </a:xfrm>
            <a:prstGeom prst="rect">
              <a:avLst/>
            </a:prstGeom>
          </p:spPr>
        </p:pic>
        <p:pic>
          <p:nvPicPr>
            <p:cNvPr id="216" name="object 104"/>
            <p:cNvPicPr/>
            <p:nvPr/>
          </p:nvPicPr>
          <p:blipFill>
            <a:blip r:embed="rId29" cstate="print"/>
            <a:stretch>
              <a:fillRect/>
            </a:stretch>
          </p:blipFill>
          <p:spPr>
            <a:xfrm>
              <a:off x="440435" y="3176016"/>
              <a:ext cx="1196339" cy="1197864"/>
            </a:xfrm>
            <a:prstGeom prst="rect">
              <a:avLst/>
            </a:prstGeom>
          </p:spPr>
        </p:pic>
      </p:grpSp>
      <p:sp>
        <p:nvSpPr>
          <p:cNvPr id="217" name="object 105"/>
          <p:cNvSpPr txBox="1"/>
          <p:nvPr/>
        </p:nvSpPr>
        <p:spPr>
          <a:xfrm>
            <a:off x="5094224" y="4220006"/>
            <a:ext cx="1199515" cy="574040"/>
          </a:xfrm>
          <a:prstGeom prst="rect">
            <a:avLst/>
          </a:prstGeom>
        </p:spPr>
        <p:txBody>
          <a:bodyPr vert="horz" wrap="square" lIns="0" tIns="12700" rIns="0" bIns="0" rtlCol="0">
            <a:spAutoFit/>
          </a:bodyPr>
          <a:lstStyle/>
          <a:p>
            <a:pPr marL="12065" marR="5080" algn="ctr">
              <a:lnSpc>
                <a:spcPct val="100000"/>
              </a:lnSpc>
              <a:spcBef>
                <a:spcPts val="100"/>
              </a:spcBef>
            </a:pPr>
            <a:r>
              <a:rPr sz="1200" dirty="0">
                <a:latin typeface="Calibri" panose="020F0502020204030204"/>
                <a:cs typeface="Calibri" panose="020F0502020204030204"/>
              </a:rPr>
              <a:t>Dynamic</a:t>
            </a:r>
            <a:r>
              <a:rPr sz="1200" spc="-30" dirty="0">
                <a:latin typeface="Calibri" panose="020F0502020204030204"/>
                <a:cs typeface="Calibri" panose="020F0502020204030204"/>
              </a:rPr>
              <a:t> </a:t>
            </a:r>
            <a:r>
              <a:rPr sz="1200" spc="-10" dirty="0">
                <a:latin typeface="Calibri" panose="020F0502020204030204"/>
                <a:cs typeface="Calibri" panose="020F0502020204030204"/>
              </a:rPr>
              <a:t>Voltage</a:t>
            </a:r>
            <a:r>
              <a:rPr sz="1200" spc="-40" dirty="0">
                <a:latin typeface="Calibri" panose="020F0502020204030204"/>
                <a:cs typeface="Calibri" panose="020F0502020204030204"/>
              </a:rPr>
              <a:t> </a:t>
            </a:r>
            <a:r>
              <a:rPr sz="1200" spc="-50" dirty="0">
                <a:latin typeface="Calibri" panose="020F0502020204030204"/>
                <a:cs typeface="Calibri" panose="020F0502020204030204"/>
              </a:rPr>
              <a:t>&amp; </a:t>
            </a:r>
            <a:r>
              <a:rPr sz="1200" dirty="0">
                <a:latin typeface="Calibri" panose="020F0502020204030204"/>
                <a:cs typeface="Calibri" panose="020F0502020204030204"/>
              </a:rPr>
              <a:t>Frequency</a:t>
            </a:r>
            <a:r>
              <a:rPr sz="1200" spc="-50" dirty="0">
                <a:latin typeface="Calibri" panose="020F0502020204030204"/>
                <a:cs typeface="Calibri" panose="020F0502020204030204"/>
              </a:rPr>
              <a:t> </a:t>
            </a:r>
            <a:r>
              <a:rPr sz="1200" spc="-10" dirty="0">
                <a:latin typeface="Calibri" panose="020F0502020204030204"/>
                <a:cs typeface="Calibri" panose="020F0502020204030204"/>
              </a:rPr>
              <a:t>Scaling (DVFS)</a:t>
            </a:r>
            <a:endParaRPr sz="1200">
              <a:latin typeface="Calibri" panose="020F0502020204030204"/>
              <a:cs typeface="Calibri" panose="020F0502020204030204"/>
            </a:endParaRPr>
          </a:p>
        </p:txBody>
      </p:sp>
      <p:grpSp>
        <p:nvGrpSpPr>
          <p:cNvPr id="218" name="object 106"/>
          <p:cNvGrpSpPr/>
          <p:nvPr/>
        </p:nvGrpSpPr>
        <p:grpSpPr>
          <a:xfrm>
            <a:off x="4876800" y="2751112"/>
            <a:ext cx="1727200" cy="1783080"/>
            <a:chOff x="4739640" y="2980982"/>
            <a:chExt cx="1727200" cy="1783080"/>
          </a:xfrm>
        </p:grpSpPr>
        <p:pic>
          <p:nvPicPr>
            <p:cNvPr id="219" name="object 107"/>
            <p:cNvPicPr/>
            <p:nvPr/>
          </p:nvPicPr>
          <p:blipFill>
            <a:blip r:embed="rId30" cstate="print"/>
            <a:stretch>
              <a:fillRect/>
            </a:stretch>
          </p:blipFill>
          <p:spPr>
            <a:xfrm>
              <a:off x="4739640" y="2980982"/>
              <a:ext cx="1726818" cy="1782952"/>
            </a:xfrm>
            <a:prstGeom prst="rect">
              <a:avLst/>
            </a:prstGeom>
          </p:spPr>
        </p:pic>
        <p:pic>
          <p:nvPicPr>
            <p:cNvPr id="220" name="object 108"/>
            <p:cNvPicPr/>
            <p:nvPr/>
          </p:nvPicPr>
          <p:blipFill>
            <a:blip r:embed="rId31" cstate="print"/>
            <a:stretch>
              <a:fillRect/>
            </a:stretch>
          </p:blipFill>
          <p:spPr>
            <a:xfrm>
              <a:off x="4934712" y="3176016"/>
              <a:ext cx="1156715" cy="1213103"/>
            </a:xfrm>
            <a:prstGeom prst="rect">
              <a:avLst/>
            </a:prstGeom>
          </p:spPr>
        </p:pic>
      </p:grpSp>
      <p:sp>
        <p:nvSpPr>
          <p:cNvPr id="221" name="object 110"/>
          <p:cNvSpPr txBox="1"/>
          <p:nvPr/>
        </p:nvSpPr>
        <p:spPr>
          <a:xfrm>
            <a:off x="435965" y="712038"/>
            <a:ext cx="1847214" cy="300355"/>
          </a:xfrm>
          <a:prstGeom prst="rect">
            <a:avLst/>
          </a:prstGeom>
        </p:spPr>
        <p:txBody>
          <a:bodyPr vert="horz" wrap="square" lIns="0" tIns="12700" rIns="0" bIns="0" rtlCol="0">
            <a:spAutoFit/>
          </a:bodyPr>
          <a:lstStyle/>
          <a:p>
            <a:pPr marL="269875" indent="-257175">
              <a:lnSpc>
                <a:spcPct val="100000"/>
              </a:lnSpc>
              <a:spcBef>
                <a:spcPts val="100"/>
              </a:spcBef>
              <a:buFont typeface="Wingdings" panose="05000000000000000000"/>
              <a:buChar char=""/>
              <a:tabLst>
                <a:tab pos="269875" algn="l"/>
              </a:tabLst>
            </a:pPr>
            <a:r>
              <a:rPr sz="1800" u="sng" dirty="0">
                <a:solidFill>
                  <a:srgbClr val="34352F"/>
                </a:solidFill>
                <a:uFill>
                  <a:solidFill>
                    <a:srgbClr val="34352F"/>
                  </a:solidFill>
                </a:uFill>
                <a:latin typeface="Calibri" panose="020F0502020204030204"/>
                <a:cs typeface="Calibri" panose="020F0502020204030204"/>
              </a:rPr>
              <a:t>Basic</a:t>
            </a:r>
            <a:r>
              <a:rPr sz="1800" u="sng" spc="-35" dirty="0">
                <a:solidFill>
                  <a:srgbClr val="34352F"/>
                </a:solidFill>
                <a:uFill>
                  <a:solidFill>
                    <a:srgbClr val="34352F"/>
                  </a:solidFill>
                </a:uFill>
                <a:latin typeface="Calibri" panose="020F0502020204030204"/>
                <a:cs typeface="Calibri" panose="020F0502020204030204"/>
              </a:rPr>
              <a:t> </a:t>
            </a:r>
            <a:r>
              <a:rPr sz="1800" u="sng" spc="-10" dirty="0">
                <a:solidFill>
                  <a:srgbClr val="34352F"/>
                </a:solidFill>
                <a:uFill>
                  <a:solidFill>
                    <a:srgbClr val="34352F"/>
                  </a:solidFill>
                </a:uFill>
                <a:latin typeface="Calibri" panose="020F0502020204030204"/>
                <a:cs typeface="Calibri" panose="020F0502020204030204"/>
              </a:rPr>
              <a:t>Techniques</a:t>
            </a:r>
            <a:endParaRPr sz="1800">
              <a:latin typeface="Calibri" panose="020F0502020204030204"/>
              <a:cs typeface="Calibri" panose="020F0502020204030204"/>
            </a:endParaRPr>
          </a:p>
        </p:txBody>
      </p:sp>
      <p:sp>
        <p:nvSpPr>
          <p:cNvPr id="222" name="object 111"/>
          <p:cNvSpPr txBox="1"/>
          <p:nvPr/>
        </p:nvSpPr>
        <p:spPr>
          <a:xfrm>
            <a:off x="435965" y="2454656"/>
            <a:ext cx="2290445" cy="299720"/>
          </a:xfrm>
          <a:prstGeom prst="rect">
            <a:avLst/>
          </a:prstGeom>
        </p:spPr>
        <p:txBody>
          <a:bodyPr vert="horz" wrap="square" lIns="0" tIns="12700" rIns="0" bIns="0" rtlCol="0">
            <a:spAutoFit/>
          </a:bodyPr>
          <a:lstStyle/>
          <a:p>
            <a:pPr marL="269875" indent="-257175">
              <a:lnSpc>
                <a:spcPct val="100000"/>
              </a:lnSpc>
              <a:spcBef>
                <a:spcPts val="100"/>
              </a:spcBef>
              <a:buFont typeface="Wingdings" panose="05000000000000000000"/>
              <a:buChar char=""/>
              <a:tabLst>
                <a:tab pos="269875" algn="l"/>
              </a:tabLst>
            </a:pPr>
            <a:r>
              <a:rPr sz="1800" u="sng" dirty="0">
                <a:solidFill>
                  <a:srgbClr val="34352F"/>
                </a:solidFill>
                <a:uFill>
                  <a:solidFill>
                    <a:srgbClr val="34352F"/>
                  </a:solidFill>
                </a:uFill>
                <a:latin typeface="Calibri" panose="020F0502020204030204"/>
                <a:cs typeface="Calibri" panose="020F0502020204030204"/>
              </a:rPr>
              <a:t>Advanced</a:t>
            </a:r>
            <a:r>
              <a:rPr sz="1800" u="sng" spc="-90" dirty="0">
                <a:solidFill>
                  <a:srgbClr val="34352F"/>
                </a:solidFill>
                <a:uFill>
                  <a:solidFill>
                    <a:srgbClr val="34352F"/>
                  </a:solidFill>
                </a:uFill>
                <a:latin typeface="Calibri" panose="020F0502020204030204"/>
                <a:cs typeface="Calibri" panose="020F0502020204030204"/>
              </a:rPr>
              <a:t> </a:t>
            </a:r>
            <a:r>
              <a:rPr sz="1800" u="sng" spc="-10" dirty="0">
                <a:solidFill>
                  <a:srgbClr val="34352F"/>
                </a:solidFill>
                <a:uFill>
                  <a:solidFill>
                    <a:srgbClr val="34352F"/>
                  </a:solidFill>
                </a:uFill>
                <a:latin typeface="Calibri" panose="020F0502020204030204"/>
                <a:cs typeface="Calibri" panose="020F0502020204030204"/>
              </a:rPr>
              <a:t>Techniques</a:t>
            </a:r>
            <a:endParaRPr sz="1800">
              <a:latin typeface="Calibri" panose="020F0502020204030204"/>
              <a:cs typeface="Calibri" panose="020F0502020204030204"/>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3" name="Text 0"/>
          <p:cNvSpPr/>
          <p:nvPr/>
        </p:nvSpPr>
        <p:spPr>
          <a:xfrm>
            <a:off x="556260" y="300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en-US" altLang="zh-CN" sz="1730" b="1" dirty="0">
              <a:latin typeface="微软雅黑" panose="020B0503020204020204" pitchFamily="34" charset="-122"/>
              <a:ea typeface="微软雅黑" panose="020B0503020204020204" pitchFamily="34" charset="-122"/>
              <a:sym typeface="+mn-ea"/>
            </a:endParaRPr>
          </a:p>
        </p:txBody>
      </p:sp>
      <p:sp>
        <p:nvSpPr>
          <p:cNvPr id="5" name="内容占位符 2"/>
          <p:cNvSpPr>
            <a:spLocks noGrp="1"/>
          </p:cNvSpPr>
          <p:nvPr/>
        </p:nvSpPr>
        <p:spPr>
          <a:xfrm>
            <a:off x="608330" y="794385"/>
            <a:ext cx="7957185" cy="377571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p>
        </p:txBody>
      </p:sp>
      <p:sp>
        <p:nvSpPr>
          <p:cNvPr id="6" name="Text 0"/>
          <p:cNvSpPr/>
          <p:nvPr/>
        </p:nvSpPr>
        <p:spPr>
          <a:xfrm>
            <a:off x="28448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en-US" altLang="zh-CN" sz="1730" b="1" dirty="0">
                <a:latin typeface="微软雅黑" panose="020B0503020204020204" pitchFamily="34" charset="-122"/>
                <a:ea typeface="微软雅黑" panose="020B0503020204020204" pitchFamily="34" charset="-122"/>
                <a:sym typeface="+mn-ea"/>
              </a:rPr>
              <a:t>Power Domain</a:t>
            </a:r>
            <a:r>
              <a:rPr lang="zh-CN" altLang="en-US" sz="1730" b="1" dirty="0">
                <a:latin typeface="微软雅黑" panose="020B0503020204020204" pitchFamily="34" charset="-122"/>
                <a:ea typeface="微软雅黑" panose="020B0503020204020204" pitchFamily="34" charset="-122"/>
                <a:sym typeface="+mn-ea"/>
              </a:rPr>
              <a:t>（电源域）</a:t>
            </a:r>
            <a:endParaRPr lang="zh-CN" altLang="en-US" sz="1730" b="1" dirty="0">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556260" y="681990"/>
            <a:ext cx="8008620" cy="3888740"/>
          </a:xfrm>
          <a:prstGeom prst="rect">
            <a:avLst/>
          </a:prstGeom>
          <a:noFill/>
        </p:spPr>
        <p:txBody>
          <a:bodyPr wrap="square" rtlCol="0">
            <a:noAutofit/>
          </a:bodyPr>
          <a:p>
            <a:r>
              <a:rPr lang="zh-CN" altLang="en-US"/>
              <a:t>工作在同一电压下的模块归为一个组，将其称之为</a:t>
            </a:r>
            <a:r>
              <a:rPr lang="en-US" altLang="zh-CN"/>
              <a:t> Power Domain</a:t>
            </a:r>
            <a:r>
              <a:rPr lang="zh-CN" altLang="en-US"/>
              <a:t>。每一个电源域可以简单理解为供电逻辑的划分，在该逻辑划分中既包含了设计的物理实体（</a:t>
            </a:r>
            <a:r>
              <a:rPr lang="en-US" altLang="zh-CN"/>
              <a:t>module</a:t>
            </a:r>
            <a:r>
              <a:rPr lang="zh-CN" altLang="en-US"/>
              <a:t>）同时也包含了电源线间的连接关系。</a:t>
            </a:r>
            <a:endParaRPr lang="zh-CN" altLang="en-US"/>
          </a:p>
          <a:p>
            <a:endParaRPr lang="zh-CN" altLang="en-US"/>
          </a:p>
          <a:p>
            <a:endParaRPr lang="en-US" altLang="zh-CN"/>
          </a:p>
        </p:txBody>
      </p:sp>
      <p:grpSp>
        <p:nvGrpSpPr>
          <p:cNvPr id="28" name="object 3"/>
          <p:cNvGrpSpPr/>
          <p:nvPr/>
        </p:nvGrpSpPr>
        <p:grpSpPr>
          <a:xfrm>
            <a:off x="2535136" y="2413634"/>
            <a:ext cx="3992245" cy="1301750"/>
            <a:chOff x="4978616" y="2735579"/>
            <a:chExt cx="3992245" cy="1301750"/>
          </a:xfrm>
        </p:grpSpPr>
        <p:sp>
          <p:nvSpPr>
            <p:cNvPr id="29" name="object 4"/>
            <p:cNvSpPr/>
            <p:nvPr/>
          </p:nvSpPr>
          <p:spPr>
            <a:xfrm>
              <a:off x="4978616" y="2789802"/>
              <a:ext cx="3992245" cy="1188085"/>
            </a:xfrm>
            <a:custGeom>
              <a:avLst/>
              <a:gdLst/>
              <a:ahLst/>
              <a:cxnLst/>
              <a:rect l="l" t="t" r="r" b="b"/>
              <a:pathLst>
                <a:path w="3992245" h="1188085">
                  <a:moveTo>
                    <a:pt x="2447343" y="0"/>
                  </a:moveTo>
                  <a:lnTo>
                    <a:pt x="2390776" y="998"/>
                  </a:lnTo>
                  <a:lnTo>
                    <a:pt x="2335426" y="5167"/>
                  </a:lnTo>
                  <a:lnTo>
                    <a:pt x="2282129" y="12392"/>
                  </a:lnTo>
                  <a:lnTo>
                    <a:pt x="2231723" y="22562"/>
                  </a:lnTo>
                  <a:lnTo>
                    <a:pt x="2185043" y="35564"/>
                  </a:lnTo>
                  <a:lnTo>
                    <a:pt x="2142925" y="51284"/>
                  </a:lnTo>
                  <a:lnTo>
                    <a:pt x="2106207" y="69611"/>
                  </a:lnTo>
                  <a:lnTo>
                    <a:pt x="2075725" y="90430"/>
                  </a:lnTo>
                  <a:lnTo>
                    <a:pt x="2049452" y="80647"/>
                  </a:lnTo>
                  <a:lnTo>
                    <a:pt x="1992143" y="63606"/>
                  </a:lnTo>
                  <a:lnTo>
                    <a:pt x="1909060" y="46641"/>
                  </a:lnTo>
                  <a:lnTo>
                    <a:pt x="1855548" y="39547"/>
                  </a:lnTo>
                  <a:lnTo>
                    <a:pt x="1801262" y="35049"/>
                  </a:lnTo>
                  <a:lnTo>
                    <a:pt x="1746701" y="33086"/>
                  </a:lnTo>
                  <a:lnTo>
                    <a:pt x="1692365" y="33593"/>
                  </a:lnTo>
                  <a:lnTo>
                    <a:pt x="1638752" y="36510"/>
                  </a:lnTo>
                  <a:lnTo>
                    <a:pt x="1586362" y="41773"/>
                  </a:lnTo>
                  <a:lnTo>
                    <a:pt x="1535695" y="49321"/>
                  </a:lnTo>
                  <a:lnTo>
                    <a:pt x="1487249" y="59090"/>
                  </a:lnTo>
                  <a:lnTo>
                    <a:pt x="1441524" y="71018"/>
                  </a:lnTo>
                  <a:lnTo>
                    <a:pt x="1399019" y="85043"/>
                  </a:lnTo>
                  <a:lnTo>
                    <a:pt x="1360233" y="101101"/>
                  </a:lnTo>
                  <a:lnTo>
                    <a:pt x="1325667" y="119132"/>
                  </a:lnTo>
                  <a:lnTo>
                    <a:pt x="1295818" y="139071"/>
                  </a:lnTo>
                  <a:lnTo>
                    <a:pt x="1249809" y="129163"/>
                  </a:lnTo>
                  <a:lnTo>
                    <a:pt x="1202162" y="120885"/>
                  </a:lnTo>
                  <a:lnTo>
                    <a:pt x="1153142" y="114258"/>
                  </a:lnTo>
                  <a:lnTo>
                    <a:pt x="1103016" y="109306"/>
                  </a:lnTo>
                  <a:lnTo>
                    <a:pt x="1052051" y="106050"/>
                  </a:lnTo>
                  <a:lnTo>
                    <a:pt x="1000513" y="104513"/>
                  </a:lnTo>
                  <a:lnTo>
                    <a:pt x="948669" y="104718"/>
                  </a:lnTo>
                  <a:lnTo>
                    <a:pt x="896784" y="106686"/>
                  </a:lnTo>
                  <a:lnTo>
                    <a:pt x="830001" y="111863"/>
                  </a:lnTo>
                  <a:lnTo>
                    <a:pt x="766266" y="119758"/>
                  </a:lnTo>
                  <a:lnTo>
                    <a:pt x="705905" y="130200"/>
                  </a:lnTo>
                  <a:lnTo>
                    <a:pt x="649244" y="143014"/>
                  </a:lnTo>
                  <a:lnTo>
                    <a:pt x="596608" y="158027"/>
                  </a:lnTo>
                  <a:lnTo>
                    <a:pt x="548323" y="175067"/>
                  </a:lnTo>
                  <a:lnTo>
                    <a:pt x="504714" y="193960"/>
                  </a:lnTo>
                  <a:lnTo>
                    <a:pt x="466106" y="214533"/>
                  </a:lnTo>
                  <a:lnTo>
                    <a:pt x="432827" y="236613"/>
                  </a:lnTo>
                  <a:lnTo>
                    <a:pt x="383552" y="284601"/>
                  </a:lnTo>
                  <a:lnTo>
                    <a:pt x="359494" y="336538"/>
                  </a:lnTo>
                  <a:lnTo>
                    <a:pt x="357735" y="363555"/>
                  </a:lnTo>
                  <a:lnTo>
                    <a:pt x="363257" y="391039"/>
                  </a:lnTo>
                  <a:lnTo>
                    <a:pt x="359955" y="394722"/>
                  </a:lnTo>
                  <a:lnTo>
                    <a:pt x="297707" y="399370"/>
                  </a:lnTo>
                  <a:lnTo>
                    <a:pt x="238736" y="407813"/>
                  </a:lnTo>
                  <a:lnTo>
                    <a:pt x="184013" y="419805"/>
                  </a:lnTo>
                  <a:lnTo>
                    <a:pt x="134507" y="435099"/>
                  </a:lnTo>
                  <a:lnTo>
                    <a:pt x="91188" y="453448"/>
                  </a:lnTo>
                  <a:lnTo>
                    <a:pt x="55028" y="474605"/>
                  </a:lnTo>
                  <a:lnTo>
                    <a:pt x="24185" y="501274"/>
                  </a:lnTo>
                  <a:lnTo>
                    <a:pt x="0" y="557024"/>
                  </a:lnTo>
                  <a:lnTo>
                    <a:pt x="5851" y="584843"/>
                  </a:lnTo>
                  <a:lnTo>
                    <a:pt x="51425" y="637212"/>
                  </a:lnTo>
                  <a:lnTo>
                    <a:pt x="90341" y="660500"/>
                  </a:lnTo>
                  <a:lnTo>
                    <a:pt x="139470" y="681015"/>
                  </a:lnTo>
                  <a:lnTo>
                    <a:pt x="198411" y="698125"/>
                  </a:lnTo>
                  <a:lnTo>
                    <a:pt x="145750" y="726556"/>
                  </a:lnTo>
                  <a:lnTo>
                    <a:pt x="109924" y="758498"/>
                  </a:lnTo>
                  <a:lnTo>
                    <a:pt x="91862" y="792798"/>
                  </a:lnTo>
                  <a:lnTo>
                    <a:pt x="92493" y="828300"/>
                  </a:lnTo>
                  <a:lnTo>
                    <a:pt x="127691" y="878367"/>
                  </a:lnTo>
                  <a:lnTo>
                    <a:pt x="197296" y="920009"/>
                  </a:lnTo>
                  <a:lnTo>
                    <a:pt x="242702" y="936933"/>
                  </a:lnTo>
                  <a:lnTo>
                    <a:pt x="293954" y="950867"/>
                  </a:lnTo>
                  <a:lnTo>
                    <a:pt x="350131" y="961514"/>
                  </a:lnTo>
                  <a:lnTo>
                    <a:pt x="410314" y="968582"/>
                  </a:lnTo>
                  <a:lnTo>
                    <a:pt x="473585" y="971773"/>
                  </a:lnTo>
                  <a:lnTo>
                    <a:pt x="539025" y="970794"/>
                  </a:lnTo>
                  <a:lnTo>
                    <a:pt x="543978" y="974350"/>
                  </a:lnTo>
                  <a:lnTo>
                    <a:pt x="578769" y="995880"/>
                  </a:lnTo>
                  <a:lnTo>
                    <a:pt x="614166" y="1014341"/>
                  </a:lnTo>
                  <a:lnTo>
                    <a:pt x="652584" y="1031358"/>
                  </a:lnTo>
                  <a:lnTo>
                    <a:pt x="693772" y="1046906"/>
                  </a:lnTo>
                  <a:lnTo>
                    <a:pt x="737479" y="1060960"/>
                  </a:lnTo>
                  <a:lnTo>
                    <a:pt x="783452" y="1073493"/>
                  </a:lnTo>
                  <a:lnTo>
                    <a:pt x="831441" y="1084480"/>
                  </a:lnTo>
                  <a:lnTo>
                    <a:pt x="881194" y="1093896"/>
                  </a:lnTo>
                  <a:lnTo>
                    <a:pt x="932459" y="1101716"/>
                  </a:lnTo>
                  <a:lnTo>
                    <a:pt x="984986" y="1107913"/>
                  </a:lnTo>
                  <a:lnTo>
                    <a:pt x="1038522" y="1112463"/>
                  </a:lnTo>
                  <a:lnTo>
                    <a:pt x="1092816" y="1115339"/>
                  </a:lnTo>
                  <a:lnTo>
                    <a:pt x="1147617" y="1116517"/>
                  </a:lnTo>
                  <a:lnTo>
                    <a:pt x="1202674" y="1115971"/>
                  </a:lnTo>
                  <a:lnTo>
                    <a:pt x="1257734" y="1113676"/>
                  </a:lnTo>
                  <a:lnTo>
                    <a:pt x="1312547" y="1109605"/>
                  </a:lnTo>
                  <a:lnTo>
                    <a:pt x="1366860" y="1103734"/>
                  </a:lnTo>
                  <a:lnTo>
                    <a:pt x="1420423" y="1096036"/>
                  </a:lnTo>
                  <a:lnTo>
                    <a:pt x="1472984" y="1086487"/>
                  </a:lnTo>
                  <a:lnTo>
                    <a:pt x="1524291" y="1075061"/>
                  </a:lnTo>
                  <a:lnTo>
                    <a:pt x="1560971" y="1095158"/>
                  </a:lnTo>
                  <a:lnTo>
                    <a:pt x="1602085" y="1113576"/>
                  </a:lnTo>
                  <a:lnTo>
                    <a:pt x="1647279" y="1130207"/>
                  </a:lnTo>
                  <a:lnTo>
                    <a:pt x="1696195" y="1144946"/>
                  </a:lnTo>
                  <a:lnTo>
                    <a:pt x="1748479" y="1157685"/>
                  </a:lnTo>
                  <a:lnTo>
                    <a:pt x="1803776" y="1168318"/>
                  </a:lnTo>
                  <a:lnTo>
                    <a:pt x="1861730" y="1176738"/>
                  </a:lnTo>
                  <a:lnTo>
                    <a:pt x="1919982" y="1182695"/>
                  </a:lnTo>
                  <a:lnTo>
                    <a:pt x="1978293" y="1186311"/>
                  </a:lnTo>
                  <a:lnTo>
                    <a:pt x="2036339" y="1187657"/>
                  </a:lnTo>
                  <a:lnTo>
                    <a:pt x="2093792" y="1186803"/>
                  </a:lnTo>
                  <a:lnTo>
                    <a:pt x="2150328" y="1183820"/>
                  </a:lnTo>
                  <a:lnTo>
                    <a:pt x="2205622" y="1178779"/>
                  </a:lnTo>
                  <a:lnTo>
                    <a:pt x="2259347" y="1171751"/>
                  </a:lnTo>
                  <a:lnTo>
                    <a:pt x="2311178" y="1162807"/>
                  </a:lnTo>
                  <a:lnTo>
                    <a:pt x="2360790" y="1152017"/>
                  </a:lnTo>
                  <a:lnTo>
                    <a:pt x="2407856" y="1139452"/>
                  </a:lnTo>
                  <a:lnTo>
                    <a:pt x="2452052" y="1125183"/>
                  </a:lnTo>
                  <a:lnTo>
                    <a:pt x="2493052" y="1109281"/>
                  </a:lnTo>
                  <a:lnTo>
                    <a:pt x="2530531" y="1091817"/>
                  </a:lnTo>
                  <a:lnTo>
                    <a:pt x="2564162" y="1072861"/>
                  </a:lnTo>
                  <a:lnTo>
                    <a:pt x="2618580" y="1030757"/>
                  </a:lnTo>
                  <a:lnTo>
                    <a:pt x="2638716" y="1007751"/>
                  </a:lnTo>
                  <a:lnTo>
                    <a:pt x="2681509" y="1017481"/>
                  </a:lnTo>
                  <a:lnTo>
                    <a:pt x="2726130" y="1025560"/>
                  </a:lnTo>
                  <a:lnTo>
                    <a:pt x="2772288" y="1031945"/>
                  </a:lnTo>
                  <a:lnTo>
                    <a:pt x="2819696" y="1036594"/>
                  </a:lnTo>
                  <a:lnTo>
                    <a:pt x="2868063" y="1039466"/>
                  </a:lnTo>
                  <a:lnTo>
                    <a:pt x="2917100" y="1040517"/>
                  </a:lnTo>
                  <a:lnTo>
                    <a:pt x="2984110" y="1039063"/>
                  </a:lnTo>
                  <a:lnTo>
                    <a:pt x="3048700" y="1034365"/>
                  </a:lnTo>
                  <a:lnTo>
                    <a:pt x="3110365" y="1026624"/>
                  </a:lnTo>
                  <a:lnTo>
                    <a:pt x="3168601" y="1016043"/>
                  </a:lnTo>
                  <a:lnTo>
                    <a:pt x="3222903" y="1002821"/>
                  </a:lnTo>
                  <a:lnTo>
                    <a:pt x="3272767" y="987160"/>
                  </a:lnTo>
                  <a:lnTo>
                    <a:pt x="3317690" y="969261"/>
                  </a:lnTo>
                  <a:lnTo>
                    <a:pt x="3357165" y="949326"/>
                  </a:lnTo>
                  <a:lnTo>
                    <a:pt x="3390691" y="927555"/>
                  </a:lnTo>
                  <a:lnTo>
                    <a:pt x="3437872" y="879312"/>
                  </a:lnTo>
                  <a:lnTo>
                    <a:pt x="3455199" y="826141"/>
                  </a:lnTo>
                  <a:lnTo>
                    <a:pt x="3507891" y="822127"/>
                  </a:lnTo>
                  <a:lnTo>
                    <a:pt x="3559358" y="816334"/>
                  </a:lnTo>
                  <a:lnTo>
                    <a:pt x="3609330" y="808806"/>
                  </a:lnTo>
                  <a:lnTo>
                    <a:pt x="3657534" y="799584"/>
                  </a:lnTo>
                  <a:lnTo>
                    <a:pt x="3703699" y="788712"/>
                  </a:lnTo>
                  <a:lnTo>
                    <a:pt x="3747553" y="776230"/>
                  </a:lnTo>
                  <a:lnTo>
                    <a:pt x="3802834" y="756883"/>
                  </a:lnTo>
                  <a:lnTo>
                    <a:pt x="3851218" y="735539"/>
                  </a:lnTo>
                  <a:lnTo>
                    <a:pt x="3892620" y="712467"/>
                  </a:lnTo>
                  <a:lnTo>
                    <a:pt x="3926952" y="687932"/>
                  </a:lnTo>
                  <a:lnTo>
                    <a:pt x="3974067" y="635545"/>
                  </a:lnTo>
                  <a:lnTo>
                    <a:pt x="3991877" y="580511"/>
                  </a:lnTo>
                  <a:lnTo>
                    <a:pt x="3989579" y="552669"/>
                  </a:lnTo>
                  <a:lnTo>
                    <a:pt x="3962145" y="497670"/>
                  </a:lnTo>
                  <a:lnTo>
                    <a:pt x="3903690" y="445362"/>
                  </a:lnTo>
                  <a:lnTo>
                    <a:pt x="3862615" y="420884"/>
                  </a:lnTo>
                  <a:lnTo>
                    <a:pt x="3869094" y="414457"/>
                  </a:lnTo>
                  <a:lnTo>
                    <a:pt x="3899171" y="365644"/>
                  </a:lnTo>
                  <a:lnTo>
                    <a:pt x="3902445" y="336781"/>
                  </a:lnTo>
                  <a:lnTo>
                    <a:pt x="3895576" y="308514"/>
                  </a:lnTo>
                  <a:lnTo>
                    <a:pt x="3853546" y="255284"/>
                  </a:lnTo>
                  <a:lnTo>
                    <a:pt x="3819451" y="231080"/>
                  </a:lnTo>
                  <a:lnTo>
                    <a:pt x="3777348" y="208990"/>
                  </a:lnTo>
                  <a:lnTo>
                    <a:pt x="3727771" y="189393"/>
                  </a:lnTo>
                  <a:lnTo>
                    <a:pt x="3671253" y="172670"/>
                  </a:lnTo>
                  <a:lnTo>
                    <a:pt x="3608327" y="159198"/>
                  </a:lnTo>
                  <a:lnTo>
                    <a:pt x="3539527" y="149358"/>
                  </a:lnTo>
                  <a:lnTo>
                    <a:pt x="3519287" y="119124"/>
                  </a:lnTo>
                  <a:lnTo>
                    <a:pt x="3486759" y="90938"/>
                  </a:lnTo>
                  <a:lnTo>
                    <a:pt x="3442801" y="65419"/>
                  </a:lnTo>
                  <a:lnTo>
                    <a:pt x="3388270" y="43186"/>
                  </a:lnTo>
                  <a:lnTo>
                    <a:pt x="3343120" y="29555"/>
                  </a:lnTo>
                  <a:lnTo>
                    <a:pt x="3295225" y="18541"/>
                  </a:lnTo>
                  <a:lnTo>
                    <a:pt x="3245178" y="10123"/>
                  </a:lnTo>
                  <a:lnTo>
                    <a:pt x="3193571" y="4282"/>
                  </a:lnTo>
                  <a:lnTo>
                    <a:pt x="3140995" y="997"/>
                  </a:lnTo>
                  <a:lnTo>
                    <a:pt x="3088042" y="247"/>
                  </a:lnTo>
                  <a:lnTo>
                    <a:pt x="3035306" y="2012"/>
                  </a:lnTo>
                  <a:lnTo>
                    <a:pt x="2983377" y="6271"/>
                  </a:lnTo>
                  <a:lnTo>
                    <a:pt x="2932848" y="13004"/>
                  </a:lnTo>
                  <a:lnTo>
                    <a:pt x="2884311" y="22191"/>
                  </a:lnTo>
                  <a:lnTo>
                    <a:pt x="2838358" y="33811"/>
                  </a:lnTo>
                  <a:lnTo>
                    <a:pt x="2795581" y="47844"/>
                  </a:lnTo>
                  <a:lnTo>
                    <a:pt x="2756572" y="64268"/>
                  </a:lnTo>
                  <a:lnTo>
                    <a:pt x="2726604" y="50066"/>
                  </a:lnTo>
                  <a:lnTo>
                    <a:pt x="2655952" y="26424"/>
                  </a:lnTo>
                  <a:lnTo>
                    <a:pt x="2615983" y="17151"/>
                  </a:lnTo>
                  <a:lnTo>
                    <a:pt x="2560783" y="7963"/>
                  </a:lnTo>
                  <a:lnTo>
                    <a:pt x="2504291" y="2284"/>
                  </a:lnTo>
                  <a:lnTo>
                    <a:pt x="2447343" y="0"/>
                  </a:lnTo>
                  <a:close/>
                </a:path>
              </a:pathLst>
            </a:custGeom>
            <a:solidFill>
              <a:srgbClr val="613CA4"/>
            </a:solidFill>
          </p:spPr>
          <p:txBody>
            <a:bodyPr wrap="square" lIns="0" tIns="0" rIns="0" bIns="0" rtlCol="0"/>
            <a:lstStyle/>
            <a:p/>
          </p:txBody>
        </p:sp>
        <p:pic>
          <p:nvPicPr>
            <p:cNvPr id="30" name="object 5"/>
            <p:cNvPicPr/>
            <p:nvPr/>
          </p:nvPicPr>
          <p:blipFill>
            <a:blip r:embed="rId2" cstate="print"/>
            <a:stretch>
              <a:fillRect/>
            </a:stretch>
          </p:blipFill>
          <p:spPr>
            <a:xfrm>
              <a:off x="5826251" y="3706113"/>
              <a:ext cx="351536" cy="226923"/>
            </a:xfrm>
            <a:prstGeom prst="rect">
              <a:avLst/>
            </a:prstGeom>
          </p:spPr>
        </p:pic>
        <p:sp>
          <p:nvSpPr>
            <p:cNvPr id="31" name="object 6"/>
            <p:cNvSpPr/>
            <p:nvPr/>
          </p:nvSpPr>
          <p:spPr>
            <a:xfrm>
              <a:off x="5422354" y="3010814"/>
              <a:ext cx="1148715" cy="704850"/>
            </a:xfrm>
            <a:custGeom>
              <a:avLst/>
              <a:gdLst/>
              <a:ahLst/>
              <a:cxnLst/>
              <a:rect l="l" t="t" r="r" b="b"/>
              <a:pathLst>
                <a:path w="1148715" h="704850">
                  <a:moveTo>
                    <a:pt x="1148118" y="337566"/>
                  </a:moveTo>
                  <a:lnTo>
                    <a:pt x="1138288" y="291858"/>
                  </a:lnTo>
                  <a:lnTo>
                    <a:pt x="1110894" y="249529"/>
                  </a:lnTo>
                  <a:lnTo>
                    <a:pt x="1113447" y="244449"/>
                  </a:lnTo>
                  <a:lnTo>
                    <a:pt x="1115593" y="239242"/>
                  </a:lnTo>
                  <a:lnTo>
                    <a:pt x="1117384" y="233908"/>
                  </a:lnTo>
                  <a:lnTo>
                    <a:pt x="1121130" y="186982"/>
                  </a:lnTo>
                  <a:lnTo>
                    <a:pt x="1103668" y="143967"/>
                  </a:lnTo>
                  <a:lnTo>
                    <a:pt x="1068197" y="109575"/>
                  </a:lnTo>
                  <a:lnTo>
                    <a:pt x="1017943" y="88493"/>
                  </a:lnTo>
                  <a:lnTo>
                    <a:pt x="1012101" y="70535"/>
                  </a:lnTo>
                  <a:lnTo>
                    <a:pt x="990079" y="38684"/>
                  </a:lnTo>
                  <a:lnTo>
                    <a:pt x="929513" y="4914"/>
                  </a:lnTo>
                  <a:lnTo>
                    <a:pt x="880351" y="393"/>
                  </a:lnTo>
                  <a:lnTo>
                    <a:pt x="832739" y="11544"/>
                  </a:lnTo>
                  <a:lnTo>
                    <a:pt x="792518" y="37947"/>
                  </a:lnTo>
                  <a:lnTo>
                    <a:pt x="783856" y="29591"/>
                  </a:lnTo>
                  <a:lnTo>
                    <a:pt x="774179" y="22072"/>
                  </a:lnTo>
                  <a:lnTo>
                    <a:pt x="763562" y="15519"/>
                  </a:lnTo>
                  <a:lnTo>
                    <a:pt x="752132" y="10007"/>
                  </a:lnTo>
                  <a:lnTo>
                    <a:pt x="707618" y="0"/>
                  </a:lnTo>
                  <a:lnTo>
                    <a:pt x="663524" y="4826"/>
                  </a:lnTo>
                  <a:lnTo>
                    <a:pt x="624840" y="23101"/>
                  </a:lnTo>
                  <a:lnTo>
                    <a:pt x="596557" y="53441"/>
                  </a:lnTo>
                  <a:lnTo>
                    <a:pt x="588987" y="47688"/>
                  </a:lnTo>
                  <a:lnTo>
                    <a:pt x="520725" y="21069"/>
                  </a:lnTo>
                  <a:lnTo>
                    <a:pt x="476923" y="20688"/>
                  </a:lnTo>
                  <a:lnTo>
                    <a:pt x="435432" y="31330"/>
                  </a:lnTo>
                  <a:lnTo>
                    <a:pt x="399402" y="52158"/>
                  </a:lnTo>
                  <a:lnTo>
                    <a:pt x="372021" y="82397"/>
                  </a:lnTo>
                  <a:lnTo>
                    <a:pt x="345097" y="71589"/>
                  </a:lnTo>
                  <a:lnTo>
                    <a:pt x="316560" y="64719"/>
                  </a:lnTo>
                  <a:lnTo>
                    <a:pt x="287058" y="61899"/>
                  </a:lnTo>
                  <a:lnTo>
                    <a:pt x="257213" y="63220"/>
                  </a:lnTo>
                  <a:lnTo>
                    <a:pt x="210820" y="73863"/>
                  </a:lnTo>
                  <a:lnTo>
                    <a:pt x="170802" y="93624"/>
                  </a:lnTo>
                  <a:lnTo>
                    <a:pt x="138620" y="120916"/>
                  </a:lnTo>
                  <a:lnTo>
                    <a:pt x="115735" y="154114"/>
                  </a:lnTo>
                  <a:lnTo>
                    <a:pt x="103593" y="191592"/>
                  </a:lnTo>
                  <a:lnTo>
                    <a:pt x="103670" y="231749"/>
                  </a:lnTo>
                  <a:lnTo>
                    <a:pt x="102654" y="233908"/>
                  </a:lnTo>
                  <a:lnTo>
                    <a:pt x="52006" y="248856"/>
                  </a:lnTo>
                  <a:lnTo>
                    <a:pt x="14897" y="281406"/>
                  </a:lnTo>
                  <a:lnTo>
                    <a:pt x="0" y="317779"/>
                  </a:lnTo>
                  <a:lnTo>
                    <a:pt x="2806" y="354850"/>
                  </a:lnTo>
                  <a:lnTo>
                    <a:pt x="21983" y="388353"/>
                  </a:lnTo>
                  <a:lnTo>
                    <a:pt x="56172" y="413994"/>
                  </a:lnTo>
                  <a:lnTo>
                    <a:pt x="41046" y="430809"/>
                  </a:lnTo>
                  <a:lnTo>
                    <a:pt x="30734" y="449732"/>
                  </a:lnTo>
                  <a:lnTo>
                    <a:pt x="25514" y="470065"/>
                  </a:lnTo>
                  <a:lnTo>
                    <a:pt x="25692" y="491096"/>
                  </a:lnTo>
                  <a:lnTo>
                    <a:pt x="40005" y="527519"/>
                  </a:lnTo>
                  <a:lnTo>
                    <a:pt x="68948" y="555574"/>
                  </a:lnTo>
                  <a:lnTo>
                    <a:pt x="108394" y="572528"/>
                  </a:lnTo>
                  <a:lnTo>
                    <a:pt x="154216" y="575665"/>
                  </a:lnTo>
                  <a:lnTo>
                    <a:pt x="155613" y="577697"/>
                  </a:lnTo>
                  <a:lnTo>
                    <a:pt x="185254" y="610171"/>
                  </a:lnTo>
                  <a:lnTo>
                    <a:pt x="220738" y="634530"/>
                  </a:lnTo>
                  <a:lnTo>
                    <a:pt x="261112" y="651433"/>
                  </a:lnTo>
                  <a:lnTo>
                    <a:pt x="304698" y="660539"/>
                  </a:lnTo>
                  <a:lnTo>
                    <a:pt x="349796" y="661492"/>
                  </a:lnTo>
                  <a:lnTo>
                    <a:pt x="394728" y="653935"/>
                  </a:lnTo>
                  <a:lnTo>
                    <a:pt x="437807" y="637514"/>
                  </a:lnTo>
                  <a:lnTo>
                    <a:pt x="457136" y="657682"/>
                  </a:lnTo>
                  <a:lnTo>
                    <a:pt x="480136" y="674687"/>
                  </a:lnTo>
                  <a:lnTo>
                    <a:pt x="506260" y="688187"/>
                  </a:lnTo>
                  <a:lnTo>
                    <a:pt x="534962" y="697839"/>
                  </a:lnTo>
                  <a:lnTo>
                    <a:pt x="582472" y="704265"/>
                  </a:lnTo>
                  <a:lnTo>
                    <a:pt x="628726" y="700138"/>
                  </a:lnTo>
                  <a:lnTo>
                    <a:pt x="671588" y="686447"/>
                  </a:lnTo>
                  <a:lnTo>
                    <a:pt x="708952" y="664133"/>
                  </a:lnTo>
                  <a:lnTo>
                    <a:pt x="738657" y="634174"/>
                  </a:lnTo>
                  <a:lnTo>
                    <a:pt x="758609" y="597509"/>
                  </a:lnTo>
                  <a:lnTo>
                    <a:pt x="777265" y="605840"/>
                  </a:lnTo>
                  <a:lnTo>
                    <a:pt x="797052" y="611911"/>
                  </a:lnTo>
                  <a:lnTo>
                    <a:pt x="817651" y="615683"/>
                  </a:lnTo>
                  <a:lnTo>
                    <a:pt x="838746" y="617067"/>
                  </a:lnTo>
                  <a:lnTo>
                    <a:pt x="887361" y="610831"/>
                  </a:lnTo>
                  <a:lnTo>
                    <a:pt x="929703" y="592912"/>
                  </a:lnTo>
                  <a:lnTo>
                    <a:pt x="963244" y="565378"/>
                  </a:lnTo>
                  <a:lnTo>
                    <a:pt x="985418" y="530313"/>
                  </a:lnTo>
                  <a:lnTo>
                    <a:pt x="993686" y="489813"/>
                  </a:lnTo>
                  <a:lnTo>
                    <a:pt x="1016279" y="485851"/>
                  </a:lnTo>
                  <a:lnTo>
                    <a:pt x="1058583" y="470979"/>
                  </a:lnTo>
                  <a:lnTo>
                    <a:pt x="1117295" y="425221"/>
                  </a:lnTo>
                  <a:lnTo>
                    <a:pt x="1140942" y="383171"/>
                  </a:lnTo>
                  <a:lnTo>
                    <a:pt x="1148118" y="337566"/>
                  </a:lnTo>
                  <a:close/>
                </a:path>
              </a:pathLst>
            </a:custGeom>
            <a:solidFill>
              <a:srgbClr val="DBB7FF"/>
            </a:solidFill>
          </p:spPr>
          <p:txBody>
            <a:bodyPr wrap="square" lIns="0" tIns="0" rIns="0" bIns="0" rtlCol="0"/>
            <a:lstStyle/>
            <a:p/>
          </p:txBody>
        </p:sp>
        <p:pic>
          <p:nvPicPr>
            <p:cNvPr id="32" name="object 7"/>
            <p:cNvPicPr/>
            <p:nvPr/>
          </p:nvPicPr>
          <p:blipFill>
            <a:blip r:embed="rId3" cstate="print"/>
            <a:stretch>
              <a:fillRect/>
            </a:stretch>
          </p:blipFill>
          <p:spPr>
            <a:xfrm>
              <a:off x="6126987" y="3227704"/>
              <a:ext cx="78232" cy="78231"/>
            </a:xfrm>
            <a:prstGeom prst="rect">
              <a:avLst/>
            </a:prstGeom>
          </p:spPr>
        </p:pic>
        <p:pic>
          <p:nvPicPr>
            <p:cNvPr id="33" name="object 8"/>
            <p:cNvPicPr/>
            <p:nvPr/>
          </p:nvPicPr>
          <p:blipFill>
            <a:blip r:embed="rId4" cstate="print"/>
            <a:stretch>
              <a:fillRect/>
            </a:stretch>
          </p:blipFill>
          <p:spPr>
            <a:xfrm>
              <a:off x="6253098" y="3128009"/>
              <a:ext cx="117348" cy="117347"/>
            </a:xfrm>
            <a:prstGeom prst="rect">
              <a:avLst/>
            </a:prstGeom>
          </p:spPr>
        </p:pic>
        <p:sp>
          <p:nvSpPr>
            <p:cNvPr id="34" name="object 9"/>
            <p:cNvSpPr/>
            <p:nvPr/>
          </p:nvSpPr>
          <p:spPr>
            <a:xfrm>
              <a:off x="7319772" y="2912046"/>
              <a:ext cx="1134745" cy="783590"/>
            </a:xfrm>
            <a:custGeom>
              <a:avLst/>
              <a:gdLst/>
              <a:ahLst/>
              <a:cxnLst/>
              <a:rect l="l" t="t" r="r" b="b"/>
              <a:pathLst>
                <a:path w="1134745" h="783589">
                  <a:moveTo>
                    <a:pt x="1134529" y="358406"/>
                  </a:moveTo>
                  <a:lnTo>
                    <a:pt x="1122857" y="316471"/>
                  </a:lnTo>
                  <a:lnTo>
                    <a:pt x="1099058" y="277558"/>
                  </a:lnTo>
                  <a:lnTo>
                    <a:pt x="1101598" y="271970"/>
                  </a:lnTo>
                  <a:lnTo>
                    <a:pt x="1103757" y="266128"/>
                  </a:lnTo>
                  <a:lnTo>
                    <a:pt x="1105535" y="260286"/>
                  </a:lnTo>
                  <a:lnTo>
                    <a:pt x="1110259" y="218325"/>
                  </a:lnTo>
                  <a:lnTo>
                    <a:pt x="1101166" y="178473"/>
                  </a:lnTo>
                  <a:lnTo>
                    <a:pt x="1079855" y="143421"/>
                  </a:lnTo>
                  <a:lnTo>
                    <a:pt x="1047965" y="115824"/>
                  </a:lnTo>
                  <a:lnTo>
                    <a:pt x="1007110" y="98361"/>
                  </a:lnTo>
                  <a:lnTo>
                    <a:pt x="1001280" y="78435"/>
                  </a:lnTo>
                  <a:lnTo>
                    <a:pt x="979462" y="43040"/>
                  </a:lnTo>
                  <a:lnTo>
                    <a:pt x="919568" y="5473"/>
                  </a:lnTo>
                  <a:lnTo>
                    <a:pt x="870953" y="444"/>
                  </a:lnTo>
                  <a:lnTo>
                    <a:pt x="823874" y="12852"/>
                  </a:lnTo>
                  <a:lnTo>
                    <a:pt x="784098" y="42227"/>
                  </a:lnTo>
                  <a:lnTo>
                    <a:pt x="775538" y="32893"/>
                  </a:lnTo>
                  <a:lnTo>
                    <a:pt x="765949" y="24536"/>
                  </a:lnTo>
                  <a:lnTo>
                    <a:pt x="755421" y="17246"/>
                  </a:lnTo>
                  <a:lnTo>
                    <a:pt x="744093" y="11112"/>
                  </a:lnTo>
                  <a:lnTo>
                    <a:pt x="700074" y="0"/>
                  </a:lnTo>
                  <a:lnTo>
                    <a:pt x="656463" y="5397"/>
                  </a:lnTo>
                  <a:lnTo>
                    <a:pt x="618172" y="25768"/>
                  </a:lnTo>
                  <a:lnTo>
                    <a:pt x="590169" y="59499"/>
                  </a:lnTo>
                  <a:lnTo>
                    <a:pt x="582688" y="53086"/>
                  </a:lnTo>
                  <a:lnTo>
                    <a:pt x="515137" y="23418"/>
                  </a:lnTo>
                  <a:lnTo>
                    <a:pt x="471792" y="22987"/>
                  </a:lnTo>
                  <a:lnTo>
                    <a:pt x="430758" y="34810"/>
                  </a:lnTo>
                  <a:lnTo>
                    <a:pt x="395135" y="58000"/>
                  </a:lnTo>
                  <a:lnTo>
                    <a:pt x="368046" y="91630"/>
                  </a:lnTo>
                  <a:lnTo>
                    <a:pt x="341350" y="79603"/>
                  </a:lnTo>
                  <a:lnTo>
                    <a:pt x="313118" y="71970"/>
                  </a:lnTo>
                  <a:lnTo>
                    <a:pt x="283921" y="68834"/>
                  </a:lnTo>
                  <a:lnTo>
                    <a:pt x="254381" y="70294"/>
                  </a:lnTo>
                  <a:lnTo>
                    <a:pt x="208521" y="82143"/>
                  </a:lnTo>
                  <a:lnTo>
                    <a:pt x="168935" y="104140"/>
                  </a:lnTo>
                  <a:lnTo>
                    <a:pt x="137083" y="134518"/>
                  </a:lnTo>
                  <a:lnTo>
                    <a:pt x="114427" y="171462"/>
                  </a:lnTo>
                  <a:lnTo>
                    <a:pt x="102412" y="213182"/>
                  </a:lnTo>
                  <a:lnTo>
                    <a:pt x="102489" y="257873"/>
                  </a:lnTo>
                  <a:lnTo>
                    <a:pt x="101600" y="260286"/>
                  </a:lnTo>
                  <a:lnTo>
                    <a:pt x="51498" y="276885"/>
                  </a:lnTo>
                  <a:lnTo>
                    <a:pt x="14732" y="312991"/>
                  </a:lnTo>
                  <a:lnTo>
                    <a:pt x="0" y="353517"/>
                  </a:lnTo>
                  <a:lnTo>
                    <a:pt x="2768" y="394779"/>
                  </a:lnTo>
                  <a:lnTo>
                    <a:pt x="21704" y="432054"/>
                  </a:lnTo>
                  <a:lnTo>
                    <a:pt x="55499" y="460565"/>
                  </a:lnTo>
                  <a:lnTo>
                    <a:pt x="40538" y="479272"/>
                  </a:lnTo>
                  <a:lnTo>
                    <a:pt x="30353" y="500354"/>
                  </a:lnTo>
                  <a:lnTo>
                    <a:pt x="25209" y="523011"/>
                  </a:lnTo>
                  <a:lnTo>
                    <a:pt x="25400" y="546417"/>
                  </a:lnTo>
                  <a:lnTo>
                    <a:pt x="39522" y="586892"/>
                  </a:lnTo>
                  <a:lnTo>
                    <a:pt x="68148" y="618083"/>
                  </a:lnTo>
                  <a:lnTo>
                    <a:pt x="107175" y="636930"/>
                  </a:lnTo>
                  <a:lnTo>
                    <a:pt x="152527" y="640397"/>
                  </a:lnTo>
                  <a:lnTo>
                    <a:pt x="154686" y="643826"/>
                  </a:lnTo>
                  <a:lnTo>
                    <a:pt x="183261" y="678815"/>
                  </a:lnTo>
                  <a:lnTo>
                    <a:pt x="218351" y="705904"/>
                  </a:lnTo>
                  <a:lnTo>
                    <a:pt x="258279" y="724700"/>
                  </a:lnTo>
                  <a:lnTo>
                    <a:pt x="301409" y="734822"/>
                  </a:lnTo>
                  <a:lnTo>
                    <a:pt x="346036" y="735876"/>
                  </a:lnTo>
                  <a:lnTo>
                    <a:pt x="390525" y="727481"/>
                  </a:lnTo>
                  <a:lnTo>
                    <a:pt x="433197" y="709231"/>
                  </a:lnTo>
                  <a:lnTo>
                    <a:pt x="452259" y="731697"/>
                  </a:lnTo>
                  <a:lnTo>
                    <a:pt x="475005" y="750620"/>
                  </a:lnTo>
                  <a:lnTo>
                    <a:pt x="500837" y="765619"/>
                  </a:lnTo>
                  <a:lnTo>
                    <a:pt x="529209" y="776287"/>
                  </a:lnTo>
                  <a:lnTo>
                    <a:pt x="576211" y="783475"/>
                  </a:lnTo>
                  <a:lnTo>
                    <a:pt x="621982" y="778941"/>
                  </a:lnTo>
                  <a:lnTo>
                    <a:pt x="664413" y="763739"/>
                  </a:lnTo>
                  <a:lnTo>
                    <a:pt x="701382" y="738936"/>
                  </a:lnTo>
                  <a:lnTo>
                    <a:pt x="730808" y="705599"/>
                  </a:lnTo>
                  <a:lnTo>
                    <a:pt x="750570" y="664781"/>
                  </a:lnTo>
                  <a:lnTo>
                    <a:pt x="769023" y="674039"/>
                  </a:lnTo>
                  <a:lnTo>
                    <a:pt x="788568" y="680783"/>
                  </a:lnTo>
                  <a:lnTo>
                    <a:pt x="808926" y="684974"/>
                  </a:lnTo>
                  <a:lnTo>
                    <a:pt x="829818" y="686498"/>
                  </a:lnTo>
                  <a:lnTo>
                    <a:pt x="877912" y="679538"/>
                  </a:lnTo>
                  <a:lnTo>
                    <a:pt x="919810" y="659587"/>
                  </a:lnTo>
                  <a:lnTo>
                    <a:pt x="952995" y="628967"/>
                  </a:lnTo>
                  <a:lnTo>
                    <a:pt x="974928" y="589965"/>
                  </a:lnTo>
                  <a:lnTo>
                    <a:pt x="983107" y="544893"/>
                  </a:lnTo>
                  <a:lnTo>
                    <a:pt x="1005433" y="540512"/>
                  </a:lnTo>
                  <a:lnTo>
                    <a:pt x="1047305" y="523963"/>
                  </a:lnTo>
                  <a:lnTo>
                    <a:pt x="1099947" y="480199"/>
                  </a:lnTo>
                  <a:lnTo>
                    <a:pt x="1122756" y="442506"/>
                  </a:lnTo>
                  <a:lnTo>
                    <a:pt x="1134389" y="401167"/>
                  </a:lnTo>
                  <a:lnTo>
                    <a:pt x="1134529" y="358406"/>
                  </a:lnTo>
                  <a:close/>
                </a:path>
              </a:pathLst>
            </a:custGeom>
            <a:solidFill>
              <a:srgbClr val="FF66CC"/>
            </a:solidFill>
          </p:spPr>
          <p:txBody>
            <a:bodyPr wrap="square" lIns="0" tIns="0" rIns="0" bIns="0" rtlCol="0"/>
            <a:lstStyle/>
            <a:p/>
          </p:txBody>
        </p:sp>
        <p:pic>
          <p:nvPicPr>
            <p:cNvPr id="35" name="object 10"/>
            <p:cNvPicPr/>
            <p:nvPr/>
          </p:nvPicPr>
          <p:blipFill>
            <a:blip r:embed="rId5" cstate="print"/>
            <a:stretch>
              <a:fillRect/>
            </a:stretch>
          </p:blipFill>
          <p:spPr>
            <a:xfrm>
              <a:off x="8159876" y="3268598"/>
              <a:ext cx="86995" cy="86994"/>
            </a:xfrm>
            <a:prstGeom prst="rect">
              <a:avLst/>
            </a:prstGeom>
          </p:spPr>
        </p:pic>
        <p:pic>
          <p:nvPicPr>
            <p:cNvPr id="36" name="object 11"/>
            <p:cNvPicPr/>
            <p:nvPr/>
          </p:nvPicPr>
          <p:blipFill>
            <a:blip r:embed="rId6" cstate="print"/>
            <a:stretch>
              <a:fillRect/>
            </a:stretch>
          </p:blipFill>
          <p:spPr>
            <a:xfrm>
              <a:off x="8285352" y="3251961"/>
              <a:ext cx="130555" cy="130556"/>
            </a:xfrm>
            <a:prstGeom prst="rect">
              <a:avLst/>
            </a:prstGeom>
          </p:spPr>
        </p:pic>
        <p:sp>
          <p:nvSpPr>
            <p:cNvPr id="37" name="object 12"/>
            <p:cNvSpPr/>
            <p:nvPr/>
          </p:nvSpPr>
          <p:spPr>
            <a:xfrm>
              <a:off x="5722619" y="2735579"/>
              <a:ext cx="2397760" cy="1301750"/>
            </a:xfrm>
            <a:custGeom>
              <a:avLst/>
              <a:gdLst/>
              <a:ahLst/>
              <a:cxnLst/>
              <a:rect l="l" t="t" r="r" b="b"/>
              <a:pathLst>
                <a:path w="2397759" h="1301750">
                  <a:moveTo>
                    <a:pt x="1298448" y="0"/>
                  </a:moveTo>
                  <a:lnTo>
                    <a:pt x="1298448" y="321563"/>
                  </a:lnTo>
                </a:path>
                <a:path w="2397759" h="1301750">
                  <a:moveTo>
                    <a:pt x="278891" y="0"/>
                  </a:moveTo>
                  <a:lnTo>
                    <a:pt x="278891" y="469392"/>
                  </a:lnTo>
                </a:path>
                <a:path w="2397759" h="1301750">
                  <a:moveTo>
                    <a:pt x="2196083" y="0"/>
                  </a:moveTo>
                  <a:lnTo>
                    <a:pt x="2196083" y="420624"/>
                  </a:lnTo>
                </a:path>
                <a:path w="2397759" h="1301750">
                  <a:moveTo>
                    <a:pt x="0" y="807719"/>
                  </a:moveTo>
                  <a:lnTo>
                    <a:pt x="0" y="1245108"/>
                  </a:lnTo>
                </a:path>
                <a:path w="2397759" h="1301750">
                  <a:moveTo>
                    <a:pt x="1309115" y="1152144"/>
                  </a:moveTo>
                  <a:lnTo>
                    <a:pt x="1309115" y="1301495"/>
                  </a:lnTo>
                </a:path>
                <a:path w="2397759" h="1301750">
                  <a:moveTo>
                    <a:pt x="2397252" y="757427"/>
                  </a:moveTo>
                  <a:lnTo>
                    <a:pt x="2397252" y="1252728"/>
                  </a:lnTo>
                </a:path>
              </a:pathLst>
            </a:custGeom>
            <a:ln w="57150">
              <a:solidFill>
                <a:srgbClr val="35362F"/>
              </a:solidFill>
            </a:ln>
          </p:spPr>
          <p:txBody>
            <a:bodyPr wrap="square" lIns="0" tIns="0" rIns="0" bIns="0" rtlCol="0"/>
            <a:lstStyle/>
            <a:p/>
          </p:txBody>
        </p:sp>
      </p:grpSp>
      <p:sp>
        <p:nvSpPr>
          <p:cNvPr id="38" name="object 13"/>
          <p:cNvSpPr txBox="1"/>
          <p:nvPr/>
        </p:nvSpPr>
        <p:spPr>
          <a:xfrm>
            <a:off x="4451858" y="2236927"/>
            <a:ext cx="344805" cy="233045"/>
          </a:xfrm>
          <a:prstGeom prst="rect">
            <a:avLst/>
          </a:prstGeom>
        </p:spPr>
        <p:txBody>
          <a:bodyPr vert="horz" wrap="square" lIns="0" tIns="13335" rIns="0" bIns="0" rtlCol="0">
            <a:spAutoFit/>
          </a:bodyPr>
          <a:lstStyle/>
          <a:p>
            <a:pPr marL="12700">
              <a:lnSpc>
                <a:spcPct val="100000"/>
              </a:lnSpc>
              <a:spcBef>
                <a:spcPts val="105"/>
              </a:spcBef>
            </a:pPr>
            <a:r>
              <a:rPr sz="1350" b="1" spc="-25" dirty="0">
                <a:solidFill>
                  <a:srgbClr val="35362F"/>
                </a:solidFill>
                <a:latin typeface="Calibri" panose="020F0502020204030204"/>
                <a:cs typeface="Calibri" panose="020F0502020204030204"/>
              </a:rPr>
              <a:t>VDD</a:t>
            </a:r>
            <a:endParaRPr sz="1350">
              <a:latin typeface="Calibri" panose="020F0502020204030204"/>
              <a:cs typeface="Calibri" panose="020F0502020204030204"/>
            </a:endParaRPr>
          </a:p>
        </p:txBody>
      </p:sp>
      <p:sp>
        <p:nvSpPr>
          <p:cNvPr id="39" name="object 14"/>
          <p:cNvSpPr txBox="1"/>
          <p:nvPr/>
        </p:nvSpPr>
        <p:spPr>
          <a:xfrm>
            <a:off x="3414903" y="2246706"/>
            <a:ext cx="431800" cy="233045"/>
          </a:xfrm>
          <a:prstGeom prst="rect">
            <a:avLst/>
          </a:prstGeom>
        </p:spPr>
        <p:txBody>
          <a:bodyPr vert="horz" wrap="square" lIns="0" tIns="13335" rIns="0" bIns="0" rtlCol="0">
            <a:spAutoFit/>
          </a:bodyPr>
          <a:lstStyle/>
          <a:p>
            <a:pPr marL="12700">
              <a:lnSpc>
                <a:spcPct val="100000"/>
              </a:lnSpc>
              <a:spcBef>
                <a:spcPts val="105"/>
              </a:spcBef>
            </a:pPr>
            <a:r>
              <a:rPr sz="1350" b="1" spc="-20" dirty="0">
                <a:solidFill>
                  <a:srgbClr val="35362F"/>
                </a:solidFill>
                <a:latin typeface="Calibri" panose="020F0502020204030204"/>
                <a:cs typeface="Calibri" panose="020F0502020204030204"/>
              </a:rPr>
              <a:t>VDD1</a:t>
            </a:r>
            <a:endParaRPr sz="1350">
              <a:latin typeface="Calibri" panose="020F0502020204030204"/>
              <a:cs typeface="Calibri" panose="020F0502020204030204"/>
            </a:endParaRPr>
          </a:p>
        </p:txBody>
      </p:sp>
      <p:sp>
        <p:nvSpPr>
          <p:cNvPr id="40" name="object 15"/>
          <p:cNvSpPr txBox="1"/>
          <p:nvPr/>
        </p:nvSpPr>
        <p:spPr>
          <a:xfrm>
            <a:off x="5322951" y="2246706"/>
            <a:ext cx="431800" cy="233045"/>
          </a:xfrm>
          <a:prstGeom prst="rect">
            <a:avLst/>
          </a:prstGeom>
        </p:spPr>
        <p:txBody>
          <a:bodyPr vert="horz" wrap="square" lIns="0" tIns="13335" rIns="0" bIns="0" rtlCol="0">
            <a:spAutoFit/>
          </a:bodyPr>
          <a:lstStyle/>
          <a:p>
            <a:pPr marL="12700">
              <a:lnSpc>
                <a:spcPct val="100000"/>
              </a:lnSpc>
              <a:spcBef>
                <a:spcPts val="105"/>
              </a:spcBef>
            </a:pPr>
            <a:r>
              <a:rPr sz="1350" b="1" spc="-20" dirty="0">
                <a:solidFill>
                  <a:srgbClr val="35362F"/>
                </a:solidFill>
                <a:latin typeface="Calibri" panose="020F0502020204030204"/>
                <a:cs typeface="Calibri" panose="020F0502020204030204"/>
              </a:rPr>
              <a:t>VDD2</a:t>
            </a:r>
            <a:endParaRPr sz="1350">
              <a:latin typeface="Calibri" panose="020F0502020204030204"/>
              <a:cs typeface="Calibri" panose="020F0502020204030204"/>
            </a:endParaRPr>
          </a:p>
        </p:txBody>
      </p:sp>
      <p:sp>
        <p:nvSpPr>
          <p:cNvPr id="41" name="object 16"/>
          <p:cNvSpPr txBox="1"/>
          <p:nvPr/>
        </p:nvSpPr>
        <p:spPr>
          <a:xfrm>
            <a:off x="3155823" y="3642690"/>
            <a:ext cx="375285" cy="232410"/>
          </a:xfrm>
          <a:prstGeom prst="rect">
            <a:avLst/>
          </a:prstGeom>
        </p:spPr>
        <p:txBody>
          <a:bodyPr vert="horz" wrap="square" lIns="0" tIns="13335" rIns="0" bIns="0" rtlCol="0">
            <a:spAutoFit/>
          </a:bodyPr>
          <a:lstStyle/>
          <a:p>
            <a:pPr marL="12700">
              <a:lnSpc>
                <a:spcPct val="100000"/>
              </a:lnSpc>
              <a:spcBef>
                <a:spcPts val="105"/>
              </a:spcBef>
            </a:pPr>
            <a:r>
              <a:rPr sz="1350" b="1" spc="-20" dirty="0">
                <a:solidFill>
                  <a:srgbClr val="35362F"/>
                </a:solidFill>
                <a:latin typeface="Calibri" panose="020F0502020204030204"/>
                <a:cs typeface="Calibri" panose="020F0502020204030204"/>
              </a:rPr>
              <a:t>VSS1</a:t>
            </a:r>
            <a:endParaRPr sz="1350">
              <a:latin typeface="Calibri" panose="020F0502020204030204"/>
              <a:cs typeface="Calibri" panose="020F0502020204030204"/>
            </a:endParaRPr>
          </a:p>
        </p:txBody>
      </p:sp>
      <p:sp>
        <p:nvSpPr>
          <p:cNvPr id="42" name="object 17"/>
          <p:cNvSpPr txBox="1"/>
          <p:nvPr/>
        </p:nvSpPr>
        <p:spPr>
          <a:xfrm>
            <a:off x="4465192" y="3700907"/>
            <a:ext cx="288290" cy="233045"/>
          </a:xfrm>
          <a:prstGeom prst="rect">
            <a:avLst/>
          </a:prstGeom>
        </p:spPr>
        <p:txBody>
          <a:bodyPr vert="horz" wrap="square" lIns="0" tIns="13335" rIns="0" bIns="0" rtlCol="0">
            <a:spAutoFit/>
          </a:bodyPr>
          <a:lstStyle/>
          <a:p>
            <a:pPr marL="12700">
              <a:lnSpc>
                <a:spcPct val="100000"/>
              </a:lnSpc>
              <a:spcBef>
                <a:spcPts val="105"/>
              </a:spcBef>
            </a:pPr>
            <a:r>
              <a:rPr sz="1350" b="1" spc="-25" dirty="0">
                <a:solidFill>
                  <a:srgbClr val="35362F"/>
                </a:solidFill>
                <a:latin typeface="Calibri" panose="020F0502020204030204"/>
                <a:cs typeface="Calibri" panose="020F0502020204030204"/>
              </a:rPr>
              <a:t>VSS</a:t>
            </a:r>
            <a:endParaRPr sz="1350">
              <a:latin typeface="Calibri" panose="020F0502020204030204"/>
              <a:cs typeface="Calibri" panose="020F0502020204030204"/>
            </a:endParaRPr>
          </a:p>
        </p:txBody>
      </p:sp>
      <p:sp>
        <p:nvSpPr>
          <p:cNvPr id="43" name="object 18"/>
          <p:cNvSpPr txBox="1"/>
          <p:nvPr/>
        </p:nvSpPr>
        <p:spPr>
          <a:xfrm>
            <a:off x="5524118" y="3642690"/>
            <a:ext cx="375285" cy="232410"/>
          </a:xfrm>
          <a:prstGeom prst="rect">
            <a:avLst/>
          </a:prstGeom>
        </p:spPr>
        <p:txBody>
          <a:bodyPr vert="horz" wrap="square" lIns="0" tIns="13335" rIns="0" bIns="0" rtlCol="0">
            <a:spAutoFit/>
          </a:bodyPr>
          <a:lstStyle/>
          <a:p>
            <a:pPr marL="12700">
              <a:lnSpc>
                <a:spcPct val="100000"/>
              </a:lnSpc>
              <a:spcBef>
                <a:spcPts val="105"/>
              </a:spcBef>
            </a:pPr>
            <a:r>
              <a:rPr sz="1350" b="1" spc="-20" dirty="0">
                <a:solidFill>
                  <a:srgbClr val="35362F"/>
                </a:solidFill>
                <a:latin typeface="Calibri" panose="020F0502020204030204"/>
                <a:cs typeface="Calibri" panose="020F0502020204030204"/>
              </a:rPr>
              <a:t>VSS2</a:t>
            </a:r>
            <a:endParaRPr sz="1350">
              <a:latin typeface="Calibri" panose="020F0502020204030204"/>
              <a:cs typeface="Calibri" panose="020F0502020204030204"/>
            </a:endParaRPr>
          </a:p>
        </p:txBody>
      </p:sp>
      <p:sp>
        <p:nvSpPr>
          <p:cNvPr id="44" name="object 19"/>
          <p:cNvSpPr txBox="1"/>
          <p:nvPr/>
        </p:nvSpPr>
        <p:spPr>
          <a:xfrm>
            <a:off x="4269231" y="2752725"/>
            <a:ext cx="421640" cy="492125"/>
          </a:xfrm>
          <a:prstGeom prst="rect">
            <a:avLst/>
          </a:prstGeom>
        </p:spPr>
        <p:txBody>
          <a:bodyPr vert="horz" wrap="square" lIns="0" tIns="24765" rIns="0" bIns="0" rtlCol="0">
            <a:spAutoFit/>
          </a:bodyPr>
          <a:lstStyle/>
          <a:p>
            <a:pPr marL="12700" marR="5080" indent="-635" algn="ctr">
              <a:lnSpc>
                <a:spcPct val="93000"/>
              </a:lnSpc>
              <a:spcBef>
                <a:spcPts val="195"/>
              </a:spcBef>
            </a:pPr>
            <a:r>
              <a:rPr sz="800" dirty="0">
                <a:solidFill>
                  <a:srgbClr val="FFFFFF"/>
                </a:solidFill>
                <a:latin typeface="Calibri" panose="020F0502020204030204"/>
                <a:cs typeface="Calibri" panose="020F0502020204030204"/>
              </a:rPr>
              <a:t>Top-</a:t>
            </a:r>
            <a:r>
              <a:rPr sz="800" spc="-10" dirty="0">
                <a:solidFill>
                  <a:srgbClr val="FFFFFF"/>
                </a:solidFill>
                <a:latin typeface="Calibri" panose="020F0502020204030204"/>
                <a:cs typeface="Calibri" panose="020F0502020204030204"/>
              </a:rPr>
              <a:t>level</a:t>
            </a:r>
            <a:r>
              <a:rPr sz="800" spc="500" dirty="0">
                <a:solidFill>
                  <a:srgbClr val="FFFFFF"/>
                </a:solidFill>
                <a:latin typeface="Calibri" panose="020F0502020204030204"/>
                <a:cs typeface="Calibri" panose="020F0502020204030204"/>
              </a:rPr>
              <a:t> </a:t>
            </a:r>
            <a:r>
              <a:rPr sz="800" spc="-10" dirty="0">
                <a:solidFill>
                  <a:srgbClr val="FFFFFF"/>
                </a:solidFill>
                <a:latin typeface="Calibri" panose="020F0502020204030204"/>
                <a:cs typeface="Calibri" panose="020F0502020204030204"/>
              </a:rPr>
              <a:t>Power</a:t>
            </a:r>
            <a:r>
              <a:rPr sz="800" spc="500" dirty="0">
                <a:solidFill>
                  <a:srgbClr val="FFFFFF"/>
                </a:solidFill>
                <a:latin typeface="Calibri" panose="020F0502020204030204"/>
                <a:cs typeface="Calibri" panose="020F0502020204030204"/>
              </a:rPr>
              <a:t> </a:t>
            </a:r>
            <a:r>
              <a:rPr sz="800" spc="-10" dirty="0">
                <a:solidFill>
                  <a:srgbClr val="FFFFFF"/>
                </a:solidFill>
                <a:latin typeface="Calibri" panose="020F0502020204030204"/>
                <a:cs typeface="Calibri" panose="020F0502020204030204"/>
              </a:rPr>
              <a:t>Domain</a:t>
            </a:r>
            <a:r>
              <a:rPr sz="800" spc="500" dirty="0">
                <a:solidFill>
                  <a:srgbClr val="FFFFFF"/>
                </a:solidFill>
                <a:latin typeface="Calibri" panose="020F0502020204030204"/>
                <a:cs typeface="Calibri" panose="020F0502020204030204"/>
              </a:rPr>
              <a:t> </a:t>
            </a:r>
            <a:r>
              <a:rPr sz="800" spc="-10" dirty="0">
                <a:solidFill>
                  <a:srgbClr val="FFFFFF"/>
                </a:solidFill>
                <a:latin typeface="Calibri" panose="020F0502020204030204"/>
                <a:cs typeface="Calibri" panose="020F0502020204030204"/>
              </a:rPr>
              <a:t>(PD_Top)</a:t>
            </a:r>
            <a:endParaRPr sz="800">
              <a:latin typeface="Calibri" panose="020F0502020204030204"/>
              <a:cs typeface="Calibri" panose="020F0502020204030204"/>
            </a:endParaRPr>
          </a:p>
        </p:txBody>
      </p:sp>
      <p:sp>
        <p:nvSpPr>
          <p:cNvPr id="45" name="object 20"/>
          <p:cNvSpPr txBox="1"/>
          <p:nvPr/>
        </p:nvSpPr>
        <p:spPr>
          <a:xfrm>
            <a:off x="3281045" y="2830068"/>
            <a:ext cx="472440" cy="300355"/>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FFFFFF"/>
                </a:solidFill>
                <a:latin typeface="Calibri" panose="020F0502020204030204"/>
                <a:cs typeface="Calibri" panose="020F0502020204030204"/>
              </a:rPr>
              <a:t>Power</a:t>
            </a:r>
            <a:endParaRPr sz="900">
              <a:latin typeface="Calibri" panose="020F0502020204030204"/>
              <a:cs typeface="Calibri" panose="020F0502020204030204"/>
            </a:endParaRPr>
          </a:p>
          <a:p>
            <a:pPr marL="12700">
              <a:lnSpc>
                <a:spcPct val="100000"/>
              </a:lnSpc>
            </a:pPr>
            <a:r>
              <a:rPr sz="900" dirty="0">
                <a:solidFill>
                  <a:srgbClr val="FFFFFF"/>
                </a:solidFill>
                <a:latin typeface="Calibri" panose="020F0502020204030204"/>
                <a:cs typeface="Calibri" panose="020F0502020204030204"/>
              </a:rPr>
              <a:t>Domain</a:t>
            </a:r>
            <a:r>
              <a:rPr sz="900" spc="-40" dirty="0">
                <a:solidFill>
                  <a:srgbClr val="FFFFFF"/>
                </a:solidFill>
                <a:latin typeface="Calibri" panose="020F0502020204030204"/>
                <a:cs typeface="Calibri" panose="020F0502020204030204"/>
              </a:rPr>
              <a:t> </a:t>
            </a:r>
            <a:r>
              <a:rPr sz="900" spc="-50" dirty="0">
                <a:solidFill>
                  <a:srgbClr val="FFFFFF"/>
                </a:solidFill>
                <a:latin typeface="Calibri" panose="020F0502020204030204"/>
                <a:cs typeface="Calibri" panose="020F0502020204030204"/>
              </a:rPr>
              <a:t>1</a:t>
            </a:r>
            <a:endParaRPr sz="900">
              <a:latin typeface="Calibri" panose="020F0502020204030204"/>
              <a:cs typeface="Calibri" panose="020F0502020204030204"/>
            </a:endParaRPr>
          </a:p>
        </p:txBody>
      </p:sp>
      <p:sp>
        <p:nvSpPr>
          <p:cNvPr id="46" name="object 21"/>
          <p:cNvSpPr txBox="1"/>
          <p:nvPr/>
        </p:nvSpPr>
        <p:spPr>
          <a:xfrm>
            <a:off x="3357245" y="3104769"/>
            <a:ext cx="282575"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FFFFFF"/>
                </a:solidFill>
                <a:latin typeface="Calibri" panose="020F0502020204030204"/>
                <a:cs typeface="Calibri" panose="020F0502020204030204"/>
              </a:rPr>
              <a:t>(PD1)</a:t>
            </a:r>
            <a:endParaRPr sz="900">
              <a:latin typeface="Calibri" panose="020F0502020204030204"/>
              <a:cs typeface="Calibri" panose="020F0502020204030204"/>
            </a:endParaRPr>
          </a:p>
        </p:txBody>
      </p:sp>
      <p:sp>
        <p:nvSpPr>
          <p:cNvPr id="47" name="object 22"/>
          <p:cNvSpPr txBox="1"/>
          <p:nvPr/>
        </p:nvSpPr>
        <p:spPr>
          <a:xfrm>
            <a:off x="5220842" y="2785237"/>
            <a:ext cx="436880" cy="403225"/>
          </a:xfrm>
          <a:prstGeom prst="rect">
            <a:avLst/>
          </a:prstGeom>
        </p:spPr>
        <p:txBody>
          <a:bodyPr vert="horz" wrap="square" lIns="0" tIns="11430" rIns="0" bIns="0" rtlCol="0">
            <a:spAutoFit/>
          </a:bodyPr>
          <a:lstStyle/>
          <a:p>
            <a:pPr marL="12700" marR="5080">
              <a:lnSpc>
                <a:spcPct val="104000"/>
              </a:lnSpc>
              <a:spcBef>
                <a:spcPts val="90"/>
              </a:spcBef>
            </a:pPr>
            <a:r>
              <a:rPr sz="800" spc="-10" dirty="0">
                <a:solidFill>
                  <a:srgbClr val="FFFFFF"/>
                </a:solidFill>
                <a:latin typeface="Calibri" panose="020F0502020204030204"/>
                <a:cs typeface="Calibri" panose="020F0502020204030204"/>
              </a:rPr>
              <a:t>Power</a:t>
            </a:r>
            <a:r>
              <a:rPr sz="800" spc="500" dirty="0">
                <a:solidFill>
                  <a:srgbClr val="FFFFFF"/>
                </a:solidFill>
                <a:latin typeface="Calibri" panose="020F0502020204030204"/>
                <a:cs typeface="Calibri" panose="020F0502020204030204"/>
              </a:rPr>
              <a:t> </a:t>
            </a:r>
            <a:r>
              <a:rPr sz="800" dirty="0">
                <a:solidFill>
                  <a:srgbClr val="FFFFFF"/>
                </a:solidFill>
                <a:latin typeface="Calibri" panose="020F0502020204030204"/>
                <a:cs typeface="Calibri" panose="020F0502020204030204"/>
              </a:rPr>
              <a:t>Domain</a:t>
            </a:r>
            <a:r>
              <a:rPr sz="800" spc="45" dirty="0">
                <a:solidFill>
                  <a:srgbClr val="FFFFFF"/>
                </a:solidFill>
                <a:latin typeface="Calibri" panose="020F0502020204030204"/>
                <a:cs typeface="Calibri" panose="020F0502020204030204"/>
              </a:rPr>
              <a:t> </a:t>
            </a:r>
            <a:r>
              <a:rPr sz="800" spc="-60" dirty="0">
                <a:solidFill>
                  <a:srgbClr val="FFFFFF"/>
                </a:solidFill>
                <a:latin typeface="Calibri" panose="020F0502020204030204"/>
                <a:cs typeface="Calibri" panose="020F0502020204030204"/>
              </a:rPr>
              <a:t>2</a:t>
            </a:r>
            <a:endParaRPr sz="800">
              <a:latin typeface="Calibri" panose="020F0502020204030204"/>
              <a:cs typeface="Calibri" panose="020F0502020204030204"/>
            </a:endParaRPr>
          </a:p>
          <a:p>
            <a:pPr marL="83820">
              <a:lnSpc>
                <a:spcPct val="100000"/>
              </a:lnSpc>
              <a:spcBef>
                <a:spcPts val="25"/>
              </a:spcBef>
            </a:pPr>
            <a:r>
              <a:rPr sz="800" spc="-10" dirty="0">
                <a:solidFill>
                  <a:srgbClr val="FFFFFF"/>
                </a:solidFill>
                <a:latin typeface="Calibri" panose="020F0502020204030204"/>
                <a:cs typeface="Calibri" panose="020F0502020204030204"/>
              </a:rPr>
              <a:t>(PD2)</a:t>
            </a:r>
            <a:endParaRPr sz="800">
              <a:latin typeface="Calibri" panose="020F0502020204030204"/>
              <a:cs typeface="Calibri" panose="020F05020202040302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3" name="Text 0"/>
          <p:cNvSpPr/>
          <p:nvPr/>
        </p:nvSpPr>
        <p:spPr>
          <a:xfrm>
            <a:off x="556260" y="300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en-US" altLang="zh-CN" sz="1730" b="1" dirty="0">
              <a:latin typeface="微软雅黑" panose="020B0503020204020204" pitchFamily="34" charset="-122"/>
              <a:ea typeface="微软雅黑" panose="020B0503020204020204" pitchFamily="34" charset="-122"/>
              <a:sym typeface="+mn-ea"/>
            </a:endParaRPr>
          </a:p>
        </p:txBody>
      </p:sp>
      <p:sp>
        <p:nvSpPr>
          <p:cNvPr id="5" name="内容占位符 2"/>
          <p:cNvSpPr>
            <a:spLocks noGrp="1"/>
          </p:cNvSpPr>
          <p:nvPr/>
        </p:nvSpPr>
        <p:spPr>
          <a:xfrm>
            <a:off x="608330" y="794385"/>
            <a:ext cx="7957185" cy="377571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p>
        </p:txBody>
      </p:sp>
      <p:sp>
        <p:nvSpPr>
          <p:cNvPr id="6" name="Text 0"/>
          <p:cNvSpPr/>
          <p:nvPr/>
        </p:nvSpPr>
        <p:spPr>
          <a:xfrm>
            <a:off x="28448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en-US" altLang="zh-CN" sz="1730" b="1" dirty="0">
                <a:latin typeface="微软雅黑" panose="020B0503020204020204" pitchFamily="34" charset="-122"/>
                <a:ea typeface="微软雅黑" panose="020B0503020204020204" pitchFamily="34" charset="-122"/>
                <a:sym typeface="+mn-ea"/>
              </a:rPr>
              <a:t>Power Supply Network</a:t>
            </a:r>
            <a:r>
              <a:rPr lang="zh-CN" altLang="en-US" sz="1730" b="1" dirty="0">
                <a:latin typeface="微软雅黑" panose="020B0503020204020204" pitchFamily="34" charset="-122"/>
                <a:ea typeface="微软雅黑" panose="020B0503020204020204" pitchFamily="34" charset="-122"/>
                <a:sym typeface="+mn-ea"/>
              </a:rPr>
              <a:t>（电源供应</a:t>
            </a:r>
            <a:r>
              <a:rPr lang="zh-CN" altLang="en-US" sz="1730" b="1" dirty="0">
                <a:latin typeface="微软雅黑" panose="020B0503020204020204" pitchFamily="34" charset="-122"/>
                <a:ea typeface="微软雅黑" panose="020B0503020204020204" pitchFamily="34" charset="-122"/>
                <a:sym typeface="+mn-ea"/>
              </a:rPr>
              <a:t>网络）</a:t>
            </a:r>
            <a:endParaRPr lang="zh-CN" altLang="en-US" sz="1730" b="1" dirty="0">
              <a:latin typeface="微软雅黑" panose="020B0503020204020204" pitchFamily="34" charset="-122"/>
              <a:ea typeface="微软雅黑" panose="020B0503020204020204" pitchFamily="34" charset="-122"/>
              <a:sym typeface="+mn-ea"/>
            </a:endParaRPr>
          </a:p>
        </p:txBody>
      </p:sp>
      <p:sp>
        <p:nvSpPr>
          <p:cNvPr id="44" name="文本框 43"/>
          <p:cNvSpPr txBox="1"/>
          <p:nvPr/>
        </p:nvSpPr>
        <p:spPr>
          <a:xfrm>
            <a:off x="556260" y="688340"/>
            <a:ext cx="8091170" cy="3688080"/>
          </a:xfrm>
          <a:prstGeom prst="rect">
            <a:avLst/>
          </a:prstGeom>
          <a:noFill/>
        </p:spPr>
        <p:txBody>
          <a:bodyPr wrap="square" rtlCol="0">
            <a:noAutofit/>
          </a:bodyPr>
          <a:p>
            <a:r>
              <a:rPr lang="en-US" altLang="zh-CN"/>
              <a:t>Supply Nets</a:t>
            </a:r>
            <a:r>
              <a:rPr lang="zh-CN" altLang="en-US"/>
              <a:t>：在给定的电源区域内承载电源电压或接地的导体，跨越多个电压域的</a:t>
            </a:r>
            <a:r>
              <a:rPr lang="en-US" altLang="zh-CN"/>
              <a:t> net </a:t>
            </a:r>
            <a:r>
              <a:rPr lang="zh-CN" altLang="en-US"/>
              <a:t>被定义为</a:t>
            </a:r>
            <a:r>
              <a:rPr lang="en-US" altLang="zh-CN"/>
              <a:t>“reused"</a:t>
            </a:r>
            <a:r>
              <a:rPr lang="zh-CN" altLang="en-US"/>
              <a:t>。可以类比</a:t>
            </a:r>
            <a:r>
              <a:rPr lang="en-US" altLang="zh-CN"/>
              <a:t> RTL </a:t>
            </a:r>
            <a:r>
              <a:rPr lang="zh-CN" altLang="en-US"/>
              <a:t>里面的</a:t>
            </a:r>
            <a:r>
              <a:rPr lang="en-US" altLang="zh-CN"/>
              <a:t> wire</a:t>
            </a:r>
            <a:r>
              <a:rPr lang="zh-CN" altLang="en-US"/>
              <a:t>，用来定义一根电源线，而且只在声明它的电源</a:t>
            </a:r>
            <a:r>
              <a:rPr lang="zh-CN" altLang="en-US"/>
              <a:t>域中有效。</a:t>
            </a:r>
            <a:endParaRPr lang="zh-CN" altLang="en-US"/>
          </a:p>
          <a:p>
            <a:endParaRPr lang="zh-CN" altLang="en-US"/>
          </a:p>
          <a:p>
            <a:r>
              <a:rPr lang="en-US" altLang="zh-CN"/>
              <a:t>Supply Ports</a:t>
            </a:r>
            <a:r>
              <a:rPr lang="zh-CN" altLang="en-US"/>
              <a:t>：设计层次结构的两个相邻层次之间、层次结构的父块和子块之间的电源连接点。可以类比</a:t>
            </a:r>
            <a:r>
              <a:rPr lang="en-US" altLang="zh-CN"/>
              <a:t> RTL </a:t>
            </a:r>
            <a:r>
              <a:rPr lang="zh-CN" altLang="en-US"/>
              <a:t>里面的</a:t>
            </a:r>
            <a:r>
              <a:rPr lang="en-US" altLang="zh-CN"/>
              <a:t>port</a:t>
            </a:r>
            <a:r>
              <a:rPr lang="zh-CN" altLang="en-US"/>
              <a:t>，在电路中它们对应的是电源</a:t>
            </a:r>
            <a:r>
              <a:rPr lang="en-US" altLang="zh-CN"/>
              <a:t>pin</a:t>
            </a:r>
            <a:r>
              <a:rPr lang="zh-CN" altLang="en-US"/>
              <a:t>。</a:t>
            </a:r>
            <a:endParaRPr lang="zh-CN" altLang="en-US"/>
          </a:p>
          <a:p>
            <a:endParaRPr lang="zh-CN" altLang="en-US"/>
          </a:p>
          <a:p>
            <a:r>
              <a:rPr lang="en-US" altLang="zh-CN"/>
              <a:t>Supply Set</a:t>
            </a:r>
            <a:r>
              <a:rPr lang="zh-CN" altLang="en-US"/>
              <a:t>：</a:t>
            </a:r>
            <a:r>
              <a:rPr lang="en-US" altLang="zh-CN"/>
              <a:t>supply nets</a:t>
            </a:r>
            <a:r>
              <a:rPr lang="zh-CN" altLang="en-US"/>
              <a:t>的抽象集合（即并非实际存在，方便在</a:t>
            </a:r>
            <a:r>
              <a:rPr lang="en-US" altLang="zh-CN"/>
              <a:t> upf </a:t>
            </a:r>
            <a:r>
              <a:rPr lang="zh-CN" altLang="en-US"/>
              <a:t>中使用），一般就是一根</a:t>
            </a:r>
            <a:r>
              <a:rPr lang="en-US" altLang="zh-CN"/>
              <a:t> vdd </a:t>
            </a:r>
            <a:r>
              <a:rPr lang="zh-CN" altLang="en-US"/>
              <a:t>一根</a:t>
            </a:r>
            <a:r>
              <a:rPr lang="en-US" altLang="zh-CN"/>
              <a:t> gnd </a:t>
            </a:r>
            <a:r>
              <a:rPr lang="zh-CN" altLang="en-US"/>
              <a:t>的</a:t>
            </a:r>
            <a:r>
              <a:rPr lang="en-US" altLang="zh-CN"/>
              <a:t> net </a:t>
            </a:r>
            <a:r>
              <a:rPr lang="zh-CN" altLang="en-US"/>
              <a:t>。</a:t>
            </a:r>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3" name="Text 0"/>
          <p:cNvSpPr/>
          <p:nvPr/>
        </p:nvSpPr>
        <p:spPr>
          <a:xfrm>
            <a:off x="556260" y="300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en-US" altLang="zh-CN" sz="1730" b="1" dirty="0">
              <a:latin typeface="微软雅黑" panose="020B0503020204020204" pitchFamily="34" charset="-122"/>
              <a:ea typeface="微软雅黑" panose="020B0503020204020204" pitchFamily="34" charset="-122"/>
              <a:sym typeface="+mn-ea"/>
            </a:endParaRPr>
          </a:p>
        </p:txBody>
      </p:sp>
      <p:sp>
        <p:nvSpPr>
          <p:cNvPr id="5" name="内容占位符 2"/>
          <p:cNvSpPr>
            <a:spLocks noGrp="1"/>
          </p:cNvSpPr>
          <p:nvPr/>
        </p:nvSpPr>
        <p:spPr>
          <a:xfrm>
            <a:off x="608330" y="794385"/>
            <a:ext cx="7957185" cy="377571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p>
        </p:txBody>
      </p:sp>
      <p:sp>
        <p:nvSpPr>
          <p:cNvPr id="6" name="Text 0"/>
          <p:cNvSpPr/>
          <p:nvPr/>
        </p:nvSpPr>
        <p:spPr>
          <a:xfrm>
            <a:off x="28448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en-US" altLang="zh-CN" sz="1730" b="1" dirty="0">
                <a:latin typeface="微软雅黑" panose="020B0503020204020204" pitchFamily="34" charset="-122"/>
                <a:ea typeface="微软雅黑" panose="020B0503020204020204" pitchFamily="34" charset="-122"/>
                <a:sym typeface="+mn-ea"/>
              </a:rPr>
              <a:t>Power Supply Network</a:t>
            </a:r>
            <a:r>
              <a:rPr lang="zh-CN" altLang="en-US" sz="1730" b="1" dirty="0">
                <a:latin typeface="微软雅黑" panose="020B0503020204020204" pitchFamily="34" charset="-122"/>
                <a:ea typeface="微软雅黑" panose="020B0503020204020204" pitchFamily="34" charset="-122"/>
                <a:sym typeface="+mn-ea"/>
              </a:rPr>
              <a:t>（电源供应</a:t>
            </a:r>
            <a:r>
              <a:rPr lang="zh-CN" altLang="en-US" sz="1730" b="1" dirty="0">
                <a:latin typeface="微软雅黑" panose="020B0503020204020204" pitchFamily="34" charset="-122"/>
                <a:ea typeface="微软雅黑" panose="020B0503020204020204" pitchFamily="34" charset="-122"/>
                <a:sym typeface="+mn-ea"/>
              </a:rPr>
              <a:t>网络）</a:t>
            </a:r>
            <a:endParaRPr lang="zh-CN" altLang="en-US" sz="1730" b="1" dirty="0">
              <a:latin typeface="微软雅黑" panose="020B0503020204020204" pitchFamily="34" charset="-122"/>
              <a:ea typeface="微软雅黑" panose="020B0503020204020204" pitchFamily="34" charset="-122"/>
              <a:sym typeface="+mn-ea"/>
            </a:endParaRPr>
          </a:p>
        </p:txBody>
      </p:sp>
      <p:grpSp>
        <p:nvGrpSpPr>
          <p:cNvPr id="15" name="object 3"/>
          <p:cNvGrpSpPr/>
          <p:nvPr/>
        </p:nvGrpSpPr>
        <p:grpSpPr>
          <a:xfrm>
            <a:off x="999728" y="1217231"/>
            <a:ext cx="2665730" cy="2465070"/>
            <a:chOff x="6173708" y="1383601"/>
            <a:chExt cx="2665730" cy="2465070"/>
          </a:xfrm>
        </p:grpSpPr>
        <p:pic>
          <p:nvPicPr>
            <p:cNvPr id="16" name="object 4"/>
            <p:cNvPicPr/>
            <p:nvPr/>
          </p:nvPicPr>
          <p:blipFill>
            <a:blip r:embed="rId2" cstate="print"/>
            <a:stretch>
              <a:fillRect/>
            </a:stretch>
          </p:blipFill>
          <p:spPr>
            <a:xfrm>
              <a:off x="6173708" y="1386784"/>
              <a:ext cx="2665507" cy="2461343"/>
            </a:xfrm>
            <a:prstGeom prst="rect">
              <a:avLst/>
            </a:prstGeom>
          </p:spPr>
        </p:pic>
        <p:sp>
          <p:nvSpPr>
            <p:cNvPr id="17" name="object 5"/>
            <p:cNvSpPr/>
            <p:nvPr/>
          </p:nvSpPr>
          <p:spPr>
            <a:xfrm>
              <a:off x="6222491" y="1388363"/>
              <a:ext cx="2573020" cy="2377440"/>
            </a:xfrm>
            <a:custGeom>
              <a:avLst/>
              <a:gdLst/>
              <a:ahLst/>
              <a:cxnLst/>
              <a:rect l="l" t="t" r="r" b="b"/>
              <a:pathLst>
                <a:path w="2573020" h="2377440">
                  <a:moveTo>
                    <a:pt x="2572512" y="0"/>
                  </a:moveTo>
                  <a:lnTo>
                    <a:pt x="0" y="0"/>
                  </a:lnTo>
                  <a:lnTo>
                    <a:pt x="0" y="2377440"/>
                  </a:lnTo>
                  <a:lnTo>
                    <a:pt x="2572512" y="2377440"/>
                  </a:lnTo>
                  <a:lnTo>
                    <a:pt x="2572512" y="0"/>
                  </a:lnTo>
                  <a:close/>
                </a:path>
              </a:pathLst>
            </a:custGeom>
            <a:solidFill>
              <a:srgbClr val="FFFF00"/>
            </a:solidFill>
          </p:spPr>
          <p:txBody>
            <a:bodyPr wrap="square" lIns="0" tIns="0" rIns="0" bIns="0" rtlCol="0"/>
            <a:lstStyle/>
            <a:p/>
          </p:txBody>
        </p:sp>
        <p:sp>
          <p:nvSpPr>
            <p:cNvPr id="18" name="object 6"/>
            <p:cNvSpPr/>
            <p:nvPr/>
          </p:nvSpPr>
          <p:spPr>
            <a:xfrm>
              <a:off x="6222491" y="1388363"/>
              <a:ext cx="2573020" cy="2377440"/>
            </a:xfrm>
            <a:custGeom>
              <a:avLst/>
              <a:gdLst/>
              <a:ahLst/>
              <a:cxnLst/>
              <a:rect l="l" t="t" r="r" b="b"/>
              <a:pathLst>
                <a:path w="2573020" h="2377440">
                  <a:moveTo>
                    <a:pt x="0" y="2377440"/>
                  </a:moveTo>
                  <a:lnTo>
                    <a:pt x="2572512" y="2377440"/>
                  </a:lnTo>
                  <a:lnTo>
                    <a:pt x="2572512" y="0"/>
                  </a:lnTo>
                  <a:lnTo>
                    <a:pt x="0" y="0"/>
                  </a:lnTo>
                  <a:lnTo>
                    <a:pt x="0" y="2377440"/>
                  </a:lnTo>
                  <a:close/>
                </a:path>
              </a:pathLst>
            </a:custGeom>
            <a:ln w="9525">
              <a:solidFill>
                <a:srgbClr val="959595"/>
              </a:solidFill>
            </a:ln>
          </p:spPr>
          <p:txBody>
            <a:bodyPr wrap="square" lIns="0" tIns="0" rIns="0" bIns="0" rtlCol="0"/>
            <a:lstStyle/>
            <a:p/>
          </p:txBody>
        </p:sp>
        <p:pic>
          <p:nvPicPr>
            <p:cNvPr id="19" name="object 7"/>
            <p:cNvPicPr/>
            <p:nvPr/>
          </p:nvPicPr>
          <p:blipFill>
            <a:blip r:embed="rId3" cstate="print"/>
            <a:stretch>
              <a:fillRect/>
            </a:stretch>
          </p:blipFill>
          <p:spPr>
            <a:xfrm>
              <a:off x="6444995" y="2095500"/>
              <a:ext cx="2231898" cy="1379982"/>
            </a:xfrm>
            <a:prstGeom prst="rect">
              <a:avLst/>
            </a:prstGeom>
          </p:spPr>
        </p:pic>
        <p:sp>
          <p:nvSpPr>
            <p:cNvPr id="20" name="object 8"/>
            <p:cNvSpPr/>
            <p:nvPr/>
          </p:nvSpPr>
          <p:spPr>
            <a:xfrm>
              <a:off x="6412991" y="2063495"/>
              <a:ext cx="2222500" cy="1370330"/>
            </a:xfrm>
            <a:custGeom>
              <a:avLst/>
              <a:gdLst/>
              <a:ahLst/>
              <a:cxnLst/>
              <a:rect l="l" t="t" r="r" b="b"/>
              <a:pathLst>
                <a:path w="2222500" h="1370329">
                  <a:moveTo>
                    <a:pt x="2221991" y="0"/>
                  </a:moveTo>
                  <a:lnTo>
                    <a:pt x="0" y="0"/>
                  </a:lnTo>
                  <a:lnTo>
                    <a:pt x="0" y="1370076"/>
                  </a:lnTo>
                  <a:lnTo>
                    <a:pt x="2221991" y="1370076"/>
                  </a:lnTo>
                  <a:lnTo>
                    <a:pt x="2221991" y="0"/>
                  </a:lnTo>
                  <a:close/>
                </a:path>
              </a:pathLst>
            </a:custGeom>
            <a:solidFill>
              <a:srgbClr val="CCFFFF"/>
            </a:solidFill>
          </p:spPr>
          <p:txBody>
            <a:bodyPr wrap="square" lIns="0" tIns="0" rIns="0" bIns="0" rtlCol="0"/>
            <a:lstStyle/>
            <a:p/>
          </p:txBody>
        </p:sp>
        <p:sp>
          <p:nvSpPr>
            <p:cNvPr id="21" name="object 9"/>
            <p:cNvSpPr/>
            <p:nvPr/>
          </p:nvSpPr>
          <p:spPr>
            <a:xfrm>
              <a:off x="6412991" y="2063495"/>
              <a:ext cx="2222500" cy="1370330"/>
            </a:xfrm>
            <a:custGeom>
              <a:avLst/>
              <a:gdLst/>
              <a:ahLst/>
              <a:cxnLst/>
              <a:rect l="l" t="t" r="r" b="b"/>
              <a:pathLst>
                <a:path w="2222500" h="1370329">
                  <a:moveTo>
                    <a:pt x="0" y="1370076"/>
                  </a:moveTo>
                  <a:lnTo>
                    <a:pt x="2221991" y="1370076"/>
                  </a:lnTo>
                  <a:lnTo>
                    <a:pt x="2221991" y="0"/>
                  </a:lnTo>
                  <a:lnTo>
                    <a:pt x="0" y="0"/>
                  </a:lnTo>
                  <a:lnTo>
                    <a:pt x="0" y="1370076"/>
                  </a:lnTo>
                  <a:close/>
                </a:path>
              </a:pathLst>
            </a:custGeom>
            <a:ln w="9525">
              <a:solidFill>
                <a:srgbClr val="69BD28"/>
              </a:solidFill>
            </a:ln>
          </p:spPr>
          <p:txBody>
            <a:bodyPr wrap="square" lIns="0" tIns="0" rIns="0" bIns="0" rtlCol="0"/>
            <a:lstStyle/>
            <a:p/>
          </p:txBody>
        </p:sp>
        <p:sp>
          <p:nvSpPr>
            <p:cNvPr id="22" name="object 10"/>
            <p:cNvSpPr/>
            <p:nvPr/>
          </p:nvSpPr>
          <p:spPr>
            <a:xfrm>
              <a:off x="6555485" y="1450085"/>
              <a:ext cx="1172210" cy="1529080"/>
            </a:xfrm>
            <a:custGeom>
              <a:avLst/>
              <a:gdLst/>
              <a:ahLst/>
              <a:cxnLst/>
              <a:rect l="l" t="t" r="r" b="b"/>
              <a:pathLst>
                <a:path w="1172209" h="1529080">
                  <a:moveTo>
                    <a:pt x="0" y="0"/>
                  </a:moveTo>
                  <a:lnTo>
                    <a:pt x="0" y="298703"/>
                  </a:lnTo>
                </a:path>
                <a:path w="1172209" h="1529080">
                  <a:moveTo>
                    <a:pt x="1159764" y="1130808"/>
                  </a:moveTo>
                  <a:lnTo>
                    <a:pt x="1171956" y="1528571"/>
                  </a:lnTo>
                </a:path>
              </a:pathLst>
            </a:custGeom>
            <a:ln w="28575">
              <a:solidFill>
                <a:srgbClr val="35362F"/>
              </a:solidFill>
            </a:ln>
          </p:spPr>
          <p:txBody>
            <a:bodyPr wrap="square" lIns="0" tIns="0" rIns="0" bIns="0" rtlCol="0"/>
            <a:lstStyle/>
            <a:p/>
          </p:txBody>
        </p:sp>
      </p:grpSp>
      <p:sp>
        <p:nvSpPr>
          <p:cNvPr id="23" name="object 11"/>
          <p:cNvSpPr txBox="1"/>
          <p:nvPr/>
        </p:nvSpPr>
        <p:spPr>
          <a:xfrm>
            <a:off x="2186686" y="2813177"/>
            <a:ext cx="511809" cy="208279"/>
          </a:xfrm>
          <a:prstGeom prst="rect">
            <a:avLst/>
          </a:prstGeom>
        </p:spPr>
        <p:txBody>
          <a:bodyPr vert="horz" wrap="square" lIns="0" tIns="12700" rIns="0" bIns="0" rtlCol="0">
            <a:spAutoFit/>
          </a:bodyPr>
          <a:lstStyle/>
          <a:p>
            <a:pPr>
              <a:lnSpc>
                <a:spcPct val="100000"/>
              </a:lnSpc>
              <a:spcBef>
                <a:spcPts val="100"/>
              </a:spcBef>
            </a:pPr>
            <a:r>
              <a:rPr sz="1200" i="1" spc="-10" dirty="0">
                <a:solidFill>
                  <a:srgbClr val="35362F"/>
                </a:solidFill>
                <a:latin typeface="Calibri" panose="020F0502020204030204"/>
                <a:cs typeface="Calibri" panose="020F0502020204030204"/>
              </a:rPr>
              <a:t>vnVDD2</a:t>
            </a:r>
            <a:endParaRPr sz="1200">
              <a:latin typeface="Calibri" panose="020F0502020204030204"/>
              <a:cs typeface="Calibri" panose="020F0502020204030204"/>
            </a:endParaRPr>
          </a:p>
        </p:txBody>
      </p:sp>
      <p:grpSp>
        <p:nvGrpSpPr>
          <p:cNvPr id="24" name="object 12"/>
          <p:cNvGrpSpPr/>
          <p:nvPr/>
        </p:nvGrpSpPr>
        <p:grpSpPr>
          <a:xfrm>
            <a:off x="1333309" y="1151699"/>
            <a:ext cx="1323340" cy="1375410"/>
            <a:chOff x="6507289" y="1318069"/>
            <a:chExt cx="1323340" cy="1375410"/>
          </a:xfrm>
        </p:grpSpPr>
        <p:pic>
          <p:nvPicPr>
            <p:cNvPr id="25" name="object 13"/>
            <p:cNvPicPr/>
            <p:nvPr/>
          </p:nvPicPr>
          <p:blipFill>
            <a:blip r:embed="rId4" cstate="print"/>
            <a:stretch>
              <a:fillRect/>
            </a:stretch>
          </p:blipFill>
          <p:spPr>
            <a:xfrm>
              <a:off x="7540752" y="2327148"/>
              <a:ext cx="284988" cy="286512"/>
            </a:xfrm>
            <a:prstGeom prst="rect">
              <a:avLst/>
            </a:prstGeom>
          </p:spPr>
        </p:pic>
        <p:sp>
          <p:nvSpPr>
            <p:cNvPr id="26" name="object 14"/>
            <p:cNvSpPr/>
            <p:nvPr/>
          </p:nvSpPr>
          <p:spPr>
            <a:xfrm>
              <a:off x="7540752" y="2327148"/>
              <a:ext cx="285115" cy="287020"/>
            </a:xfrm>
            <a:custGeom>
              <a:avLst/>
              <a:gdLst/>
              <a:ahLst/>
              <a:cxnLst/>
              <a:rect l="l" t="t" r="r" b="b"/>
              <a:pathLst>
                <a:path w="285115" h="287019">
                  <a:moveTo>
                    <a:pt x="0" y="143256"/>
                  </a:moveTo>
                  <a:lnTo>
                    <a:pt x="7260" y="97974"/>
                  </a:lnTo>
                  <a:lnTo>
                    <a:pt x="27480" y="58649"/>
                  </a:lnTo>
                  <a:lnTo>
                    <a:pt x="58320" y="27639"/>
                  </a:lnTo>
                  <a:lnTo>
                    <a:pt x="97438" y="7303"/>
                  </a:lnTo>
                  <a:lnTo>
                    <a:pt x="142494" y="0"/>
                  </a:lnTo>
                  <a:lnTo>
                    <a:pt x="187549" y="7303"/>
                  </a:lnTo>
                  <a:lnTo>
                    <a:pt x="226667" y="27639"/>
                  </a:lnTo>
                  <a:lnTo>
                    <a:pt x="257507" y="58649"/>
                  </a:lnTo>
                  <a:lnTo>
                    <a:pt x="277727" y="97974"/>
                  </a:lnTo>
                  <a:lnTo>
                    <a:pt x="284988" y="143256"/>
                  </a:lnTo>
                  <a:lnTo>
                    <a:pt x="277727" y="188537"/>
                  </a:lnTo>
                  <a:lnTo>
                    <a:pt x="257507" y="227862"/>
                  </a:lnTo>
                  <a:lnTo>
                    <a:pt x="226667" y="258872"/>
                  </a:lnTo>
                  <a:lnTo>
                    <a:pt x="187549" y="279208"/>
                  </a:lnTo>
                  <a:lnTo>
                    <a:pt x="142494" y="286512"/>
                  </a:lnTo>
                  <a:lnTo>
                    <a:pt x="97438" y="279208"/>
                  </a:lnTo>
                  <a:lnTo>
                    <a:pt x="58320" y="258872"/>
                  </a:lnTo>
                  <a:lnTo>
                    <a:pt x="27480" y="227862"/>
                  </a:lnTo>
                  <a:lnTo>
                    <a:pt x="7260" y="188537"/>
                  </a:lnTo>
                  <a:lnTo>
                    <a:pt x="0" y="143256"/>
                  </a:lnTo>
                  <a:close/>
                </a:path>
              </a:pathLst>
            </a:custGeom>
            <a:ln w="9525">
              <a:solidFill>
                <a:srgbClr val="008000"/>
              </a:solidFill>
            </a:ln>
          </p:spPr>
          <p:txBody>
            <a:bodyPr wrap="square" lIns="0" tIns="0" rIns="0" bIns="0" rtlCol="0"/>
            <a:lstStyle/>
            <a:p/>
          </p:txBody>
        </p:sp>
        <p:sp>
          <p:nvSpPr>
            <p:cNvPr id="27" name="object 15"/>
            <p:cNvSpPr/>
            <p:nvPr/>
          </p:nvSpPr>
          <p:spPr>
            <a:xfrm>
              <a:off x="7722108" y="2552700"/>
              <a:ext cx="0" cy="135890"/>
            </a:xfrm>
            <a:custGeom>
              <a:avLst/>
              <a:gdLst/>
              <a:ahLst/>
              <a:cxnLst/>
              <a:rect l="l" t="t" r="r" b="b"/>
              <a:pathLst>
                <a:path h="135889">
                  <a:moveTo>
                    <a:pt x="0" y="0"/>
                  </a:moveTo>
                  <a:lnTo>
                    <a:pt x="0" y="135636"/>
                  </a:lnTo>
                </a:path>
              </a:pathLst>
            </a:custGeom>
            <a:ln w="9525">
              <a:solidFill>
                <a:srgbClr val="35362F"/>
              </a:solidFill>
            </a:ln>
          </p:spPr>
          <p:txBody>
            <a:bodyPr wrap="square" lIns="0" tIns="0" rIns="0" bIns="0" rtlCol="0"/>
            <a:lstStyle/>
            <a:p/>
          </p:txBody>
        </p:sp>
        <p:sp>
          <p:nvSpPr>
            <p:cNvPr id="28" name="object 16"/>
            <p:cNvSpPr/>
            <p:nvPr/>
          </p:nvSpPr>
          <p:spPr>
            <a:xfrm>
              <a:off x="7642860" y="2385060"/>
              <a:ext cx="90170" cy="180340"/>
            </a:xfrm>
            <a:custGeom>
              <a:avLst/>
              <a:gdLst/>
              <a:ahLst/>
              <a:cxnLst/>
              <a:rect l="l" t="t" r="r" b="b"/>
              <a:pathLst>
                <a:path w="90170" h="180339">
                  <a:moveTo>
                    <a:pt x="0" y="0"/>
                  </a:moveTo>
                  <a:lnTo>
                    <a:pt x="89916" y="179831"/>
                  </a:lnTo>
                </a:path>
              </a:pathLst>
            </a:custGeom>
            <a:ln w="57150">
              <a:solidFill>
                <a:srgbClr val="35362F"/>
              </a:solidFill>
            </a:ln>
          </p:spPr>
          <p:txBody>
            <a:bodyPr wrap="square" lIns="0" tIns="0" rIns="0" bIns="0" rtlCol="0"/>
            <a:lstStyle/>
            <a:p/>
          </p:txBody>
        </p:sp>
        <p:sp>
          <p:nvSpPr>
            <p:cNvPr id="29" name="object 17"/>
            <p:cNvSpPr/>
            <p:nvPr/>
          </p:nvSpPr>
          <p:spPr>
            <a:xfrm>
              <a:off x="7716774" y="2137410"/>
              <a:ext cx="0" cy="170815"/>
            </a:xfrm>
            <a:custGeom>
              <a:avLst/>
              <a:gdLst/>
              <a:ahLst/>
              <a:cxnLst/>
              <a:rect l="l" t="t" r="r" b="b"/>
              <a:pathLst>
                <a:path h="170814">
                  <a:moveTo>
                    <a:pt x="0" y="0"/>
                  </a:moveTo>
                  <a:lnTo>
                    <a:pt x="0" y="170687"/>
                  </a:lnTo>
                </a:path>
              </a:pathLst>
            </a:custGeom>
            <a:ln w="38100">
              <a:solidFill>
                <a:srgbClr val="35362F"/>
              </a:solidFill>
            </a:ln>
          </p:spPr>
          <p:txBody>
            <a:bodyPr wrap="square" lIns="0" tIns="0" rIns="0" bIns="0" rtlCol="0"/>
            <a:lstStyle/>
            <a:p/>
          </p:txBody>
        </p:sp>
        <p:sp>
          <p:nvSpPr>
            <p:cNvPr id="30" name="object 18"/>
            <p:cNvSpPr/>
            <p:nvPr/>
          </p:nvSpPr>
          <p:spPr>
            <a:xfrm>
              <a:off x="7716012" y="2270760"/>
              <a:ext cx="0" cy="134620"/>
            </a:xfrm>
            <a:custGeom>
              <a:avLst/>
              <a:gdLst/>
              <a:ahLst/>
              <a:cxnLst/>
              <a:rect l="l" t="t" r="r" b="b"/>
              <a:pathLst>
                <a:path h="134619">
                  <a:moveTo>
                    <a:pt x="0" y="0"/>
                  </a:moveTo>
                  <a:lnTo>
                    <a:pt x="0" y="134112"/>
                  </a:lnTo>
                </a:path>
              </a:pathLst>
            </a:custGeom>
            <a:ln w="9525">
              <a:solidFill>
                <a:srgbClr val="35362F"/>
              </a:solidFill>
            </a:ln>
          </p:spPr>
          <p:txBody>
            <a:bodyPr wrap="square" lIns="0" tIns="0" rIns="0" bIns="0" rtlCol="0"/>
            <a:lstStyle/>
            <a:p/>
          </p:txBody>
        </p:sp>
        <p:pic>
          <p:nvPicPr>
            <p:cNvPr id="31" name="object 19"/>
            <p:cNvPicPr/>
            <p:nvPr/>
          </p:nvPicPr>
          <p:blipFill>
            <a:blip r:embed="rId5" cstate="print"/>
            <a:stretch>
              <a:fillRect/>
            </a:stretch>
          </p:blipFill>
          <p:spPr>
            <a:xfrm>
              <a:off x="6512052" y="1322832"/>
              <a:ext cx="114300" cy="114300"/>
            </a:xfrm>
            <a:prstGeom prst="rect">
              <a:avLst/>
            </a:prstGeom>
          </p:spPr>
        </p:pic>
        <p:sp>
          <p:nvSpPr>
            <p:cNvPr id="32" name="object 20"/>
            <p:cNvSpPr/>
            <p:nvPr/>
          </p:nvSpPr>
          <p:spPr>
            <a:xfrm>
              <a:off x="6512052" y="1322832"/>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5362F"/>
              </a:solidFill>
            </a:ln>
          </p:spPr>
          <p:txBody>
            <a:bodyPr wrap="square" lIns="0" tIns="0" rIns="0" bIns="0" rtlCol="0"/>
            <a:lstStyle/>
            <a:p/>
          </p:txBody>
        </p:sp>
      </p:grpSp>
      <p:sp>
        <p:nvSpPr>
          <p:cNvPr id="33" name="object 21"/>
          <p:cNvSpPr txBox="1"/>
          <p:nvPr/>
        </p:nvSpPr>
        <p:spPr>
          <a:xfrm>
            <a:off x="1427352" y="1331468"/>
            <a:ext cx="443230" cy="208279"/>
          </a:xfrm>
          <a:prstGeom prst="rect">
            <a:avLst/>
          </a:prstGeom>
        </p:spPr>
        <p:txBody>
          <a:bodyPr vert="horz" wrap="square" lIns="0" tIns="12700" rIns="0" bIns="0" rtlCol="0">
            <a:spAutoFit/>
          </a:bodyPr>
          <a:lstStyle/>
          <a:p>
            <a:pPr>
              <a:lnSpc>
                <a:spcPct val="100000"/>
              </a:lnSpc>
              <a:spcBef>
                <a:spcPts val="100"/>
              </a:spcBef>
            </a:pPr>
            <a:r>
              <a:rPr sz="1200" i="1" spc="-10" dirty="0">
                <a:solidFill>
                  <a:srgbClr val="35362F"/>
                </a:solidFill>
                <a:latin typeface="Calibri" panose="020F0502020204030204"/>
                <a:cs typeface="Calibri" panose="020F0502020204030204"/>
              </a:rPr>
              <a:t>nVDD1</a:t>
            </a:r>
            <a:endParaRPr sz="1200">
              <a:latin typeface="Calibri" panose="020F0502020204030204"/>
              <a:cs typeface="Calibri" panose="020F0502020204030204"/>
            </a:endParaRPr>
          </a:p>
        </p:txBody>
      </p:sp>
      <p:sp>
        <p:nvSpPr>
          <p:cNvPr id="34" name="object 22"/>
          <p:cNvSpPr txBox="1"/>
          <p:nvPr/>
        </p:nvSpPr>
        <p:spPr>
          <a:xfrm>
            <a:off x="2580766" y="1335151"/>
            <a:ext cx="443230" cy="208279"/>
          </a:xfrm>
          <a:prstGeom prst="rect">
            <a:avLst/>
          </a:prstGeom>
        </p:spPr>
        <p:txBody>
          <a:bodyPr vert="horz" wrap="square" lIns="0" tIns="12700" rIns="0" bIns="0" rtlCol="0">
            <a:spAutoFit/>
          </a:bodyPr>
          <a:lstStyle/>
          <a:p>
            <a:pPr>
              <a:lnSpc>
                <a:spcPct val="100000"/>
              </a:lnSpc>
              <a:spcBef>
                <a:spcPts val="100"/>
              </a:spcBef>
            </a:pPr>
            <a:r>
              <a:rPr sz="1200" i="1" spc="-10" dirty="0">
                <a:solidFill>
                  <a:srgbClr val="35362F"/>
                </a:solidFill>
                <a:latin typeface="Calibri" panose="020F0502020204030204"/>
                <a:cs typeface="Calibri" panose="020F0502020204030204"/>
              </a:rPr>
              <a:t>nVDD2</a:t>
            </a:r>
            <a:endParaRPr sz="1200">
              <a:latin typeface="Calibri" panose="020F0502020204030204"/>
              <a:cs typeface="Calibri" panose="020F0502020204030204"/>
            </a:endParaRPr>
          </a:p>
        </p:txBody>
      </p:sp>
      <p:grpSp>
        <p:nvGrpSpPr>
          <p:cNvPr id="35" name="object 23"/>
          <p:cNvGrpSpPr/>
          <p:nvPr/>
        </p:nvGrpSpPr>
        <p:grpSpPr>
          <a:xfrm>
            <a:off x="2473261" y="1156271"/>
            <a:ext cx="123825" cy="840105"/>
            <a:chOff x="7647241" y="1322641"/>
            <a:chExt cx="123825" cy="840105"/>
          </a:xfrm>
        </p:grpSpPr>
        <p:pic>
          <p:nvPicPr>
            <p:cNvPr id="36" name="object 24"/>
            <p:cNvPicPr/>
            <p:nvPr/>
          </p:nvPicPr>
          <p:blipFill>
            <a:blip r:embed="rId6" cstate="print"/>
            <a:stretch>
              <a:fillRect/>
            </a:stretch>
          </p:blipFill>
          <p:spPr>
            <a:xfrm>
              <a:off x="7652004" y="1327403"/>
              <a:ext cx="114300" cy="114300"/>
            </a:xfrm>
            <a:prstGeom prst="rect">
              <a:avLst/>
            </a:prstGeom>
          </p:spPr>
        </p:pic>
        <p:sp>
          <p:nvSpPr>
            <p:cNvPr id="37" name="object 25"/>
            <p:cNvSpPr/>
            <p:nvPr/>
          </p:nvSpPr>
          <p:spPr>
            <a:xfrm>
              <a:off x="7652004" y="1327403"/>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5362F"/>
              </a:solidFill>
            </a:ln>
          </p:spPr>
          <p:txBody>
            <a:bodyPr wrap="square" lIns="0" tIns="0" rIns="0" bIns="0" rtlCol="0"/>
            <a:lstStyle/>
            <a:p/>
          </p:txBody>
        </p:sp>
        <p:sp>
          <p:nvSpPr>
            <p:cNvPr id="38" name="object 26"/>
            <p:cNvSpPr/>
            <p:nvPr/>
          </p:nvSpPr>
          <p:spPr>
            <a:xfrm>
              <a:off x="7709154" y="1442465"/>
              <a:ext cx="6985" cy="706120"/>
            </a:xfrm>
            <a:custGeom>
              <a:avLst/>
              <a:gdLst/>
              <a:ahLst/>
              <a:cxnLst/>
              <a:rect l="l" t="t" r="r" b="b"/>
              <a:pathLst>
                <a:path w="6984" h="706119">
                  <a:moveTo>
                    <a:pt x="0" y="0"/>
                  </a:moveTo>
                  <a:lnTo>
                    <a:pt x="6603" y="705739"/>
                  </a:lnTo>
                </a:path>
              </a:pathLst>
            </a:custGeom>
            <a:ln w="28575">
              <a:solidFill>
                <a:srgbClr val="35362F"/>
              </a:solidFill>
            </a:ln>
          </p:spPr>
          <p:txBody>
            <a:bodyPr wrap="square" lIns="0" tIns="0" rIns="0" bIns="0" rtlCol="0"/>
            <a:lstStyle/>
            <a:p/>
          </p:txBody>
        </p:sp>
      </p:grpSp>
      <p:sp>
        <p:nvSpPr>
          <p:cNvPr id="39" name="object 27"/>
          <p:cNvSpPr txBox="1"/>
          <p:nvPr/>
        </p:nvSpPr>
        <p:spPr>
          <a:xfrm>
            <a:off x="1748027" y="3372738"/>
            <a:ext cx="255270" cy="162560"/>
          </a:xfrm>
          <a:prstGeom prst="rect">
            <a:avLst/>
          </a:prstGeom>
        </p:spPr>
        <p:txBody>
          <a:bodyPr vert="horz" wrap="square" lIns="0" tIns="12700" rIns="0" bIns="0" rtlCol="0">
            <a:spAutoFit/>
          </a:bodyPr>
          <a:lstStyle/>
          <a:p>
            <a:pPr>
              <a:lnSpc>
                <a:spcPct val="100000"/>
              </a:lnSpc>
              <a:spcBef>
                <a:spcPts val="100"/>
              </a:spcBef>
            </a:pPr>
            <a:r>
              <a:rPr sz="900" spc="-10" dirty="0">
                <a:solidFill>
                  <a:srgbClr val="35362F"/>
                </a:solidFill>
                <a:latin typeface="Calibri" panose="020F0502020204030204"/>
                <a:cs typeface="Calibri" panose="020F0502020204030204"/>
              </a:rPr>
              <a:t>sleep</a:t>
            </a:r>
            <a:endParaRPr sz="900">
              <a:latin typeface="Calibri" panose="020F0502020204030204"/>
              <a:cs typeface="Calibri" panose="020F0502020204030204"/>
            </a:endParaRPr>
          </a:p>
        </p:txBody>
      </p:sp>
      <p:grpSp>
        <p:nvGrpSpPr>
          <p:cNvPr id="40" name="object 28"/>
          <p:cNvGrpSpPr/>
          <p:nvPr/>
        </p:nvGrpSpPr>
        <p:grpSpPr>
          <a:xfrm>
            <a:off x="1590865" y="2276602"/>
            <a:ext cx="776605" cy="1224280"/>
            <a:chOff x="6764845" y="2442972"/>
            <a:chExt cx="776605" cy="1224280"/>
          </a:xfrm>
        </p:grpSpPr>
        <p:sp>
          <p:nvSpPr>
            <p:cNvPr id="41" name="object 29"/>
            <p:cNvSpPr/>
            <p:nvPr/>
          </p:nvSpPr>
          <p:spPr>
            <a:xfrm>
              <a:off x="6804405" y="2442972"/>
              <a:ext cx="737235" cy="1156335"/>
            </a:xfrm>
            <a:custGeom>
              <a:avLst/>
              <a:gdLst/>
              <a:ahLst/>
              <a:cxnLst/>
              <a:rect l="l" t="t" r="r" b="b"/>
              <a:pathLst>
                <a:path w="737234" h="1156335">
                  <a:moveTo>
                    <a:pt x="660653" y="31750"/>
                  </a:moveTo>
                  <a:lnTo>
                    <a:pt x="0" y="31750"/>
                  </a:lnTo>
                  <a:lnTo>
                    <a:pt x="0" y="1156208"/>
                  </a:lnTo>
                  <a:lnTo>
                    <a:pt x="12700" y="1156208"/>
                  </a:lnTo>
                  <a:lnTo>
                    <a:pt x="12700" y="44450"/>
                  </a:lnTo>
                  <a:lnTo>
                    <a:pt x="6350" y="44450"/>
                  </a:lnTo>
                  <a:lnTo>
                    <a:pt x="12700" y="38100"/>
                  </a:lnTo>
                  <a:lnTo>
                    <a:pt x="660653" y="38100"/>
                  </a:lnTo>
                  <a:lnTo>
                    <a:pt x="660653" y="31750"/>
                  </a:lnTo>
                  <a:close/>
                </a:path>
                <a:path w="737234" h="1156335">
                  <a:moveTo>
                    <a:pt x="660653" y="0"/>
                  </a:moveTo>
                  <a:lnTo>
                    <a:pt x="660653" y="76200"/>
                  </a:lnTo>
                  <a:lnTo>
                    <a:pt x="724153" y="44450"/>
                  </a:lnTo>
                  <a:lnTo>
                    <a:pt x="673353" y="44450"/>
                  </a:lnTo>
                  <a:lnTo>
                    <a:pt x="673353" y="31750"/>
                  </a:lnTo>
                  <a:lnTo>
                    <a:pt x="724153" y="31750"/>
                  </a:lnTo>
                  <a:lnTo>
                    <a:pt x="660653" y="0"/>
                  </a:lnTo>
                  <a:close/>
                </a:path>
                <a:path w="737234" h="1156335">
                  <a:moveTo>
                    <a:pt x="12700" y="38100"/>
                  </a:moveTo>
                  <a:lnTo>
                    <a:pt x="6350" y="44450"/>
                  </a:lnTo>
                  <a:lnTo>
                    <a:pt x="12700" y="44450"/>
                  </a:lnTo>
                  <a:lnTo>
                    <a:pt x="12700" y="38100"/>
                  </a:lnTo>
                  <a:close/>
                </a:path>
                <a:path w="737234" h="1156335">
                  <a:moveTo>
                    <a:pt x="660653" y="38100"/>
                  </a:moveTo>
                  <a:lnTo>
                    <a:pt x="12700" y="38100"/>
                  </a:lnTo>
                  <a:lnTo>
                    <a:pt x="12700" y="44450"/>
                  </a:lnTo>
                  <a:lnTo>
                    <a:pt x="660653" y="44450"/>
                  </a:lnTo>
                  <a:lnTo>
                    <a:pt x="660653" y="38100"/>
                  </a:lnTo>
                  <a:close/>
                </a:path>
                <a:path w="737234" h="1156335">
                  <a:moveTo>
                    <a:pt x="724153" y="31750"/>
                  </a:moveTo>
                  <a:lnTo>
                    <a:pt x="673353" y="31750"/>
                  </a:lnTo>
                  <a:lnTo>
                    <a:pt x="673353" y="44450"/>
                  </a:lnTo>
                  <a:lnTo>
                    <a:pt x="724153" y="44450"/>
                  </a:lnTo>
                  <a:lnTo>
                    <a:pt x="736853" y="38100"/>
                  </a:lnTo>
                  <a:lnTo>
                    <a:pt x="724153" y="31750"/>
                  </a:lnTo>
                  <a:close/>
                </a:path>
              </a:pathLst>
            </a:custGeom>
            <a:solidFill>
              <a:srgbClr val="35362F"/>
            </a:solidFill>
          </p:spPr>
          <p:txBody>
            <a:bodyPr wrap="square" lIns="0" tIns="0" rIns="0" bIns="0" rtlCol="0"/>
            <a:lstStyle/>
            <a:p/>
          </p:txBody>
        </p:sp>
        <p:sp>
          <p:nvSpPr>
            <p:cNvPr id="42" name="object 30"/>
            <p:cNvSpPr/>
            <p:nvPr/>
          </p:nvSpPr>
          <p:spPr>
            <a:xfrm>
              <a:off x="6769607" y="3581400"/>
              <a:ext cx="82550" cy="81280"/>
            </a:xfrm>
            <a:custGeom>
              <a:avLst/>
              <a:gdLst/>
              <a:ahLst/>
              <a:cxnLst/>
              <a:rect l="l" t="t" r="r" b="b"/>
              <a:pathLst>
                <a:path w="82550" h="81279">
                  <a:moveTo>
                    <a:pt x="82296" y="0"/>
                  </a:moveTo>
                  <a:lnTo>
                    <a:pt x="0" y="0"/>
                  </a:lnTo>
                  <a:lnTo>
                    <a:pt x="0" y="80772"/>
                  </a:lnTo>
                  <a:lnTo>
                    <a:pt x="82296" y="80772"/>
                  </a:lnTo>
                  <a:lnTo>
                    <a:pt x="82296" y="0"/>
                  </a:lnTo>
                  <a:close/>
                </a:path>
              </a:pathLst>
            </a:custGeom>
            <a:solidFill>
              <a:srgbClr val="FFFFFF"/>
            </a:solidFill>
          </p:spPr>
          <p:txBody>
            <a:bodyPr wrap="square" lIns="0" tIns="0" rIns="0" bIns="0" rtlCol="0"/>
            <a:lstStyle/>
            <a:p/>
          </p:txBody>
        </p:sp>
        <p:sp>
          <p:nvSpPr>
            <p:cNvPr id="43" name="object 31"/>
            <p:cNvSpPr/>
            <p:nvPr/>
          </p:nvSpPr>
          <p:spPr>
            <a:xfrm>
              <a:off x="6769607" y="3581400"/>
              <a:ext cx="82550" cy="81280"/>
            </a:xfrm>
            <a:custGeom>
              <a:avLst/>
              <a:gdLst/>
              <a:ahLst/>
              <a:cxnLst/>
              <a:rect l="l" t="t" r="r" b="b"/>
              <a:pathLst>
                <a:path w="82550" h="81279">
                  <a:moveTo>
                    <a:pt x="0" y="80772"/>
                  </a:moveTo>
                  <a:lnTo>
                    <a:pt x="82296" y="80772"/>
                  </a:lnTo>
                  <a:lnTo>
                    <a:pt x="82296" y="0"/>
                  </a:lnTo>
                  <a:lnTo>
                    <a:pt x="0" y="0"/>
                  </a:lnTo>
                  <a:lnTo>
                    <a:pt x="0" y="80772"/>
                  </a:lnTo>
                  <a:close/>
                </a:path>
              </a:pathLst>
            </a:custGeom>
            <a:ln w="9525">
              <a:solidFill>
                <a:srgbClr val="35362F"/>
              </a:solidFill>
            </a:ln>
          </p:spPr>
          <p:txBody>
            <a:bodyPr wrap="square" lIns="0" tIns="0" rIns="0" bIns="0" rtlCol="0"/>
            <a:lstStyle/>
            <a:p/>
          </p:txBody>
        </p:sp>
      </p:grpSp>
      <p:sp>
        <p:nvSpPr>
          <p:cNvPr id="45" name="object 32"/>
          <p:cNvSpPr txBox="1"/>
          <p:nvPr/>
        </p:nvSpPr>
        <p:spPr>
          <a:xfrm>
            <a:off x="1452752" y="992251"/>
            <a:ext cx="455930" cy="208279"/>
          </a:xfrm>
          <a:prstGeom prst="rect">
            <a:avLst/>
          </a:prstGeom>
        </p:spPr>
        <p:txBody>
          <a:bodyPr vert="horz" wrap="square" lIns="0" tIns="12700" rIns="0" bIns="0" rtlCol="0">
            <a:spAutoFit/>
          </a:bodyPr>
          <a:lstStyle/>
          <a:p>
            <a:pPr marL="12700">
              <a:lnSpc>
                <a:spcPct val="100000"/>
              </a:lnSpc>
              <a:spcBef>
                <a:spcPts val="100"/>
              </a:spcBef>
            </a:pPr>
            <a:r>
              <a:rPr sz="1200" i="1" spc="-10" dirty="0">
                <a:solidFill>
                  <a:srgbClr val="35362F"/>
                </a:solidFill>
                <a:latin typeface="Calibri" panose="020F0502020204030204"/>
                <a:cs typeface="Calibri" panose="020F0502020204030204"/>
              </a:rPr>
              <a:t>pVDD1</a:t>
            </a:r>
            <a:endParaRPr sz="1200">
              <a:latin typeface="Calibri" panose="020F0502020204030204"/>
              <a:cs typeface="Calibri" panose="020F0502020204030204"/>
            </a:endParaRPr>
          </a:p>
        </p:txBody>
      </p:sp>
      <p:sp>
        <p:nvSpPr>
          <p:cNvPr id="46" name="object 33"/>
          <p:cNvSpPr txBox="1"/>
          <p:nvPr/>
        </p:nvSpPr>
        <p:spPr>
          <a:xfrm>
            <a:off x="2606166" y="992251"/>
            <a:ext cx="455930" cy="208279"/>
          </a:xfrm>
          <a:prstGeom prst="rect">
            <a:avLst/>
          </a:prstGeom>
        </p:spPr>
        <p:txBody>
          <a:bodyPr vert="horz" wrap="square" lIns="0" tIns="12700" rIns="0" bIns="0" rtlCol="0">
            <a:spAutoFit/>
          </a:bodyPr>
          <a:lstStyle/>
          <a:p>
            <a:pPr marL="12700">
              <a:lnSpc>
                <a:spcPct val="100000"/>
              </a:lnSpc>
              <a:spcBef>
                <a:spcPts val="100"/>
              </a:spcBef>
            </a:pPr>
            <a:r>
              <a:rPr sz="1200" i="1" spc="-10" dirty="0">
                <a:solidFill>
                  <a:srgbClr val="35362F"/>
                </a:solidFill>
                <a:latin typeface="Calibri" panose="020F0502020204030204"/>
                <a:cs typeface="Calibri" panose="020F0502020204030204"/>
              </a:rPr>
              <a:t>pVDD2</a:t>
            </a:r>
            <a:endParaRPr sz="1200">
              <a:latin typeface="Calibri" panose="020F0502020204030204"/>
              <a:cs typeface="Calibri" panose="020F0502020204030204"/>
            </a:endParaRPr>
          </a:p>
        </p:txBody>
      </p:sp>
      <p:sp>
        <p:nvSpPr>
          <p:cNvPr id="47" name="object 34"/>
          <p:cNvSpPr txBox="1"/>
          <p:nvPr/>
        </p:nvSpPr>
        <p:spPr>
          <a:xfrm>
            <a:off x="2580766" y="1912469"/>
            <a:ext cx="870585" cy="493395"/>
          </a:xfrm>
          <a:prstGeom prst="rect">
            <a:avLst/>
          </a:prstGeom>
        </p:spPr>
        <p:txBody>
          <a:bodyPr vert="horz" wrap="square" lIns="0" tIns="78105" rIns="0" bIns="0" rtlCol="0">
            <a:spAutoFit/>
          </a:bodyPr>
          <a:lstStyle/>
          <a:p>
            <a:pPr marR="5080" algn="r">
              <a:lnSpc>
                <a:spcPct val="100000"/>
              </a:lnSpc>
              <a:spcBef>
                <a:spcPts val="615"/>
              </a:spcBef>
            </a:pPr>
            <a:r>
              <a:rPr sz="1200" i="1" spc="-10" dirty="0">
                <a:solidFill>
                  <a:srgbClr val="35362F"/>
                </a:solidFill>
                <a:latin typeface="Calibri" panose="020F0502020204030204"/>
                <a:cs typeface="Calibri" panose="020F0502020204030204"/>
              </a:rPr>
              <a:t>nVDD2(reuse)</a:t>
            </a:r>
            <a:endParaRPr sz="1200">
              <a:latin typeface="Calibri" panose="020F0502020204030204"/>
              <a:cs typeface="Calibri" panose="020F0502020204030204"/>
            </a:endParaRPr>
          </a:p>
          <a:p>
            <a:pPr marR="40640" algn="r">
              <a:lnSpc>
                <a:spcPct val="100000"/>
              </a:lnSpc>
              <a:spcBef>
                <a:spcPts val="465"/>
              </a:spcBef>
            </a:pPr>
            <a:r>
              <a:rPr sz="1050" i="1" dirty="0">
                <a:solidFill>
                  <a:srgbClr val="35362F"/>
                </a:solidFill>
                <a:latin typeface="Calibri" panose="020F0502020204030204"/>
                <a:cs typeface="Calibri" panose="020F0502020204030204"/>
              </a:rPr>
              <a:t>power</a:t>
            </a:r>
            <a:r>
              <a:rPr sz="1050" i="1" spc="-35" dirty="0">
                <a:solidFill>
                  <a:srgbClr val="35362F"/>
                </a:solidFill>
                <a:latin typeface="Calibri" panose="020F0502020204030204"/>
                <a:cs typeface="Calibri" panose="020F0502020204030204"/>
              </a:rPr>
              <a:t> </a:t>
            </a:r>
            <a:r>
              <a:rPr sz="1050" i="1" spc="-10" dirty="0">
                <a:solidFill>
                  <a:srgbClr val="35362F"/>
                </a:solidFill>
                <a:latin typeface="Calibri" panose="020F0502020204030204"/>
                <a:cs typeface="Calibri" panose="020F0502020204030204"/>
              </a:rPr>
              <a:t>switch</a:t>
            </a:r>
            <a:endParaRPr sz="1050">
              <a:latin typeface="Calibri" panose="020F0502020204030204"/>
              <a:cs typeface="Calibri" panose="020F0502020204030204"/>
            </a:endParaRPr>
          </a:p>
        </p:txBody>
      </p:sp>
      <p:grpSp>
        <p:nvGrpSpPr>
          <p:cNvPr id="48" name="object 35"/>
          <p:cNvGrpSpPr/>
          <p:nvPr/>
        </p:nvGrpSpPr>
        <p:grpSpPr>
          <a:xfrm>
            <a:off x="2486977" y="1814639"/>
            <a:ext cx="123825" cy="123825"/>
            <a:chOff x="7660957" y="1981009"/>
            <a:chExt cx="123825" cy="123825"/>
          </a:xfrm>
        </p:grpSpPr>
        <p:pic>
          <p:nvPicPr>
            <p:cNvPr id="49" name="object 36"/>
            <p:cNvPicPr/>
            <p:nvPr/>
          </p:nvPicPr>
          <p:blipFill>
            <a:blip r:embed="rId7" cstate="print"/>
            <a:stretch>
              <a:fillRect/>
            </a:stretch>
          </p:blipFill>
          <p:spPr>
            <a:xfrm>
              <a:off x="7665719" y="1985772"/>
              <a:ext cx="114300" cy="114300"/>
            </a:xfrm>
            <a:prstGeom prst="rect">
              <a:avLst/>
            </a:prstGeom>
          </p:spPr>
        </p:pic>
        <p:sp>
          <p:nvSpPr>
            <p:cNvPr id="50" name="object 37"/>
            <p:cNvSpPr/>
            <p:nvPr/>
          </p:nvSpPr>
          <p:spPr>
            <a:xfrm>
              <a:off x="7665719" y="1985772"/>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5362F"/>
              </a:solidFill>
            </a:ln>
          </p:spPr>
          <p:txBody>
            <a:bodyPr wrap="square" lIns="0" tIns="0" rIns="0" bIns="0" rtlCol="0"/>
            <a:lstStyle/>
            <a:p/>
          </p:txBody>
        </p:sp>
      </p:grpSp>
      <p:sp>
        <p:nvSpPr>
          <p:cNvPr id="51" name="object 38"/>
          <p:cNvSpPr txBox="1"/>
          <p:nvPr/>
        </p:nvSpPr>
        <p:spPr>
          <a:xfrm>
            <a:off x="2043938" y="2411984"/>
            <a:ext cx="165735" cy="162560"/>
          </a:xfrm>
          <a:prstGeom prst="rect">
            <a:avLst/>
          </a:prstGeom>
        </p:spPr>
        <p:txBody>
          <a:bodyPr vert="horz" wrap="square" lIns="0" tIns="12700" rIns="0" bIns="0" rtlCol="0">
            <a:spAutoFit/>
          </a:bodyPr>
          <a:lstStyle/>
          <a:p>
            <a:pPr>
              <a:lnSpc>
                <a:spcPct val="100000"/>
              </a:lnSpc>
              <a:spcBef>
                <a:spcPts val="100"/>
              </a:spcBef>
            </a:pPr>
            <a:r>
              <a:rPr sz="900" spc="-20" dirty="0">
                <a:solidFill>
                  <a:srgbClr val="35362F"/>
                </a:solidFill>
                <a:latin typeface="Calibri" panose="020F0502020204030204"/>
                <a:cs typeface="Calibri" panose="020F0502020204030204"/>
              </a:rPr>
              <a:t>ctrl</a:t>
            </a:r>
            <a:endParaRPr sz="900">
              <a:latin typeface="Calibri" panose="020F0502020204030204"/>
              <a:cs typeface="Calibri" panose="020F0502020204030204"/>
            </a:endParaRPr>
          </a:p>
        </p:txBody>
      </p:sp>
      <p:grpSp>
        <p:nvGrpSpPr>
          <p:cNvPr id="53" name="object 5"/>
          <p:cNvGrpSpPr/>
          <p:nvPr/>
        </p:nvGrpSpPr>
        <p:grpSpPr>
          <a:xfrm>
            <a:off x="6040881" y="2145918"/>
            <a:ext cx="913765" cy="372745"/>
            <a:chOff x="5911341" y="1900173"/>
            <a:chExt cx="913765" cy="372745"/>
          </a:xfrm>
        </p:grpSpPr>
        <p:sp>
          <p:nvSpPr>
            <p:cNvPr id="54" name="object 6"/>
            <p:cNvSpPr/>
            <p:nvPr/>
          </p:nvSpPr>
          <p:spPr>
            <a:xfrm>
              <a:off x="5917691" y="1906523"/>
              <a:ext cx="855980" cy="360045"/>
            </a:xfrm>
            <a:custGeom>
              <a:avLst/>
              <a:gdLst/>
              <a:ahLst/>
              <a:cxnLst/>
              <a:rect l="l" t="t" r="r" b="b"/>
              <a:pathLst>
                <a:path w="855979" h="360044">
                  <a:moveTo>
                    <a:pt x="855726" y="0"/>
                  </a:moveTo>
                  <a:lnTo>
                    <a:pt x="44958" y="0"/>
                  </a:lnTo>
                  <a:lnTo>
                    <a:pt x="27432" y="14132"/>
                  </a:lnTo>
                  <a:lnTo>
                    <a:pt x="13144" y="52673"/>
                  </a:lnTo>
                  <a:lnTo>
                    <a:pt x="3524" y="109835"/>
                  </a:lnTo>
                  <a:lnTo>
                    <a:pt x="0" y="179831"/>
                  </a:lnTo>
                  <a:lnTo>
                    <a:pt x="3524" y="249828"/>
                  </a:lnTo>
                  <a:lnTo>
                    <a:pt x="13144" y="306990"/>
                  </a:lnTo>
                  <a:lnTo>
                    <a:pt x="27432" y="345531"/>
                  </a:lnTo>
                  <a:lnTo>
                    <a:pt x="44958" y="359663"/>
                  </a:lnTo>
                  <a:lnTo>
                    <a:pt x="855726" y="359663"/>
                  </a:lnTo>
                  <a:lnTo>
                    <a:pt x="838200" y="345531"/>
                  </a:lnTo>
                  <a:lnTo>
                    <a:pt x="823912" y="306990"/>
                  </a:lnTo>
                  <a:lnTo>
                    <a:pt x="814292" y="249828"/>
                  </a:lnTo>
                  <a:lnTo>
                    <a:pt x="810767" y="179831"/>
                  </a:lnTo>
                  <a:lnTo>
                    <a:pt x="814292" y="109835"/>
                  </a:lnTo>
                  <a:lnTo>
                    <a:pt x="823912" y="52673"/>
                  </a:lnTo>
                  <a:lnTo>
                    <a:pt x="838200" y="14132"/>
                  </a:lnTo>
                  <a:lnTo>
                    <a:pt x="855726" y="0"/>
                  </a:lnTo>
                  <a:close/>
                </a:path>
              </a:pathLst>
            </a:custGeom>
            <a:solidFill>
              <a:srgbClr val="69BD28"/>
            </a:solidFill>
          </p:spPr>
          <p:txBody>
            <a:bodyPr wrap="square" lIns="0" tIns="0" rIns="0" bIns="0" rtlCol="0"/>
            <a:lstStyle/>
            <a:p/>
          </p:txBody>
        </p:sp>
        <p:sp>
          <p:nvSpPr>
            <p:cNvPr id="55" name="object 7"/>
            <p:cNvSpPr/>
            <p:nvPr/>
          </p:nvSpPr>
          <p:spPr>
            <a:xfrm>
              <a:off x="6728459" y="1906523"/>
              <a:ext cx="90170" cy="360045"/>
            </a:xfrm>
            <a:custGeom>
              <a:avLst/>
              <a:gdLst/>
              <a:ahLst/>
              <a:cxnLst/>
              <a:rect l="l" t="t" r="r" b="b"/>
              <a:pathLst>
                <a:path w="90170" h="360044">
                  <a:moveTo>
                    <a:pt x="44958" y="0"/>
                  </a:moveTo>
                  <a:lnTo>
                    <a:pt x="27432" y="14132"/>
                  </a:lnTo>
                  <a:lnTo>
                    <a:pt x="13144" y="52673"/>
                  </a:lnTo>
                  <a:lnTo>
                    <a:pt x="3524" y="109835"/>
                  </a:lnTo>
                  <a:lnTo>
                    <a:pt x="0" y="179831"/>
                  </a:lnTo>
                  <a:lnTo>
                    <a:pt x="3524" y="249828"/>
                  </a:lnTo>
                  <a:lnTo>
                    <a:pt x="13144" y="306990"/>
                  </a:lnTo>
                  <a:lnTo>
                    <a:pt x="27432" y="345531"/>
                  </a:lnTo>
                  <a:lnTo>
                    <a:pt x="44958" y="359663"/>
                  </a:lnTo>
                  <a:lnTo>
                    <a:pt x="62483" y="345531"/>
                  </a:lnTo>
                  <a:lnTo>
                    <a:pt x="76771" y="306990"/>
                  </a:lnTo>
                  <a:lnTo>
                    <a:pt x="86391" y="249828"/>
                  </a:lnTo>
                  <a:lnTo>
                    <a:pt x="89916" y="179831"/>
                  </a:lnTo>
                  <a:lnTo>
                    <a:pt x="86391" y="109835"/>
                  </a:lnTo>
                  <a:lnTo>
                    <a:pt x="76771" y="52673"/>
                  </a:lnTo>
                  <a:lnTo>
                    <a:pt x="62484" y="14132"/>
                  </a:lnTo>
                  <a:lnTo>
                    <a:pt x="44958" y="0"/>
                  </a:lnTo>
                  <a:close/>
                </a:path>
              </a:pathLst>
            </a:custGeom>
            <a:solidFill>
              <a:srgbClr val="A4D77D"/>
            </a:solidFill>
          </p:spPr>
          <p:txBody>
            <a:bodyPr wrap="square" lIns="0" tIns="0" rIns="0" bIns="0" rtlCol="0"/>
            <a:lstStyle/>
            <a:p/>
          </p:txBody>
        </p:sp>
        <p:sp>
          <p:nvSpPr>
            <p:cNvPr id="56" name="object 8"/>
            <p:cNvSpPr/>
            <p:nvPr/>
          </p:nvSpPr>
          <p:spPr>
            <a:xfrm>
              <a:off x="5917691" y="1906523"/>
              <a:ext cx="901065" cy="360045"/>
            </a:xfrm>
            <a:custGeom>
              <a:avLst/>
              <a:gdLst/>
              <a:ahLst/>
              <a:cxnLst/>
              <a:rect l="l" t="t" r="r" b="b"/>
              <a:pathLst>
                <a:path w="901065" h="360044">
                  <a:moveTo>
                    <a:pt x="855726" y="359663"/>
                  </a:moveTo>
                  <a:lnTo>
                    <a:pt x="823912" y="306990"/>
                  </a:lnTo>
                  <a:lnTo>
                    <a:pt x="814292" y="249828"/>
                  </a:lnTo>
                  <a:lnTo>
                    <a:pt x="810767" y="179831"/>
                  </a:lnTo>
                  <a:lnTo>
                    <a:pt x="814292" y="109835"/>
                  </a:lnTo>
                  <a:lnTo>
                    <a:pt x="823912" y="52673"/>
                  </a:lnTo>
                  <a:lnTo>
                    <a:pt x="838200" y="14132"/>
                  </a:lnTo>
                  <a:lnTo>
                    <a:pt x="855726" y="0"/>
                  </a:lnTo>
                  <a:lnTo>
                    <a:pt x="873252" y="14132"/>
                  </a:lnTo>
                  <a:lnTo>
                    <a:pt x="887539" y="52673"/>
                  </a:lnTo>
                  <a:lnTo>
                    <a:pt x="897159" y="109835"/>
                  </a:lnTo>
                  <a:lnTo>
                    <a:pt x="900684" y="179831"/>
                  </a:lnTo>
                  <a:lnTo>
                    <a:pt x="897159" y="249828"/>
                  </a:lnTo>
                  <a:lnTo>
                    <a:pt x="887539" y="306990"/>
                  </a:lnTo>
                  <a:lnTo>
                    <a:pt x="873251" y="345531"/>
                  </a:lnTo>
                  <a:lnTo>
                    <a:pt x="855726" y="359663"/>
                  </a:lnTo>
                  <a:lnTo>
                    <a:pt x="44958" y="359663"/>
                  </a:lnTo>
                  <a:lnTo>
                    <a:pt x="27432" y="345531"/>
                  </a:lnTo>
                  <a:lnTo>
                    <a:pt x="13144" y="306990"/>
                  </a:lnTo>
                  <a:lnTo>
                    <a:pt x="3524" y="249828"/>
                  </a:lnTo>
                  <a:lnTo>
                    <a:pt x="0" y="179831"/>
                  </a:lnTo>
                  <a:lnTo>
                    <a:pt x="3524" y="109835"/>
                  </a:lnTo>
                  <a:lnTo>
                    <a:pt x="13144" y="52673"/>
                  </a:lnTo>
                  <a:lnTo>
                    <a:pt x="27432" y="14132"/>
                  </a:lnTo>
                  <a:lnTo>
                    <a:pt x="44958" y="0"/>
                  </a:lnTo>
                  <a:lnTo>
                    <a:pt x="855726" y="0"/>
                  </a:lnTo>
                </a:path>
              </a:pathLst>
            </a:custGeom>
            <a:ln w="12700">
              <a:solidFill>
                <a:srgbClr val="4A8A1A"/>
              </a:solidFill>
            </a:ln>
          </p:spPr>
          <p:txBody>
            <a:bodyPr wrap="square" lIns="0" tIns="0" rIns="0" bIns="0" rtlCol="0"/>
            <a:lstStyle/>
            <a:p/>
          </p:txBody>
        </p:sp>
      </p:grpSp>
      <p:sp>
        <p:nvSpPr>
          <p:cNvPr id="57" name="object 9"/>
          <p:cNvSpPr txBox="1"/>
          <p:nvPr/>
        </p:nvSpPr>
        <p:spPr>
          <a:xfrm>
            <a:off x="6136893" y="2218512"/>
            <a:ext cx="740410" cy="208915"/>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35362F"/>
                </a:solidFill>
                <a:latin typeface="Calibri" panose="020F0502020204030204"/>
                <a:cs typeface="Calibri" panose="020F0502020204030204"/>
              </a:rPr>
              <a:t>PD.primary</a:t>
            </a:r>
            <a:endParaRPr sz="1200">
              <a:latin typeface="Calibri" panose="020F0502020204030204"/>
              <a:cs typeface="Calibri" panose="020F0502020204030204"/>
            </a:endParaRPr>
          </a:p>
        </p:txBody>
      </p:sp>
      <p:grpSp>
        <p:nvGrpSpPr>
          <p:cNvPr id="58" name="object 10"/>
          <p:cNvGrpSpPr/>
          <p:nvPr/>
        </p:nvGrpSpPr>
        <p:grpSpPr>
          <a:xfrm>
            <a:off x="5169407" y="2190115"/>
            <a:ext cx="2779395" cy="285750"/>
            <a:chOff x="5039867" y="1944370"/>
            <a:chExt cx="2779395" cy="285750"/>
          </a:xfrm>
        </p:grpSpPr>
        <p:sp>
          <p:nvSpPr>
            <p:cNvPr id="59" name="object 11"/>
            <p:cNvSpPr/>
            <p:nvPr/>
          </p:nvSpPr>
          <p:spPr>
            <a:xfrm>
              <a:off x="5039867" y="1950720"/>
              <a:ext cx="877569" cy="0"/>
            </a:xfrm>
            <a:custGeom>
              <a:avLst/>
              <a:gdLst/>
              <a:ahLst/>
              <a:cxnLst/>
              <a:rect l="l" t="t" r="r" b="b"/>
              <a:pathLst>
                <a:path w="877570">
                  <a:moveTo>
                    <a:pt x="0" y="0"/>
                  </a:moveTo>
                  <a:lnTo>
                    <a:pt x="877570" y="0"/>
                  </a:lnTo>
                </a:path>
              </a:pathLst>
            </a:custGeom>
            <a:ln w="12700">
              <a:solidFill>
                <a:srgbClr val="FF0000"/>
              </a:solidFill>
              <a:prstDash val="sysDash"/>
            </a:ln>
          </p:spPr>
          <p:txBody>
            <a:bodyPr wrap="square" lIns="0" tIns="0" rIns="0" bIns="0" rtlCol="0"/>
            <a:lstStyle/>
            <a:p/>
          </p:txBody>
        </p:sp>
        <p:sp>
          <p:nvSpPr>
            <p:cNvPr id="60" name="object 12"/>
            <p:cNvSpPr/>
            <p:nvPr/>
          </p:nvSpPr>
          <p:spPr>
            <a:xfrm>
              <a:off x="5061203" y="2223516"/>
              <a:ext cx="877569" cy="0"/>
            </a:xfrm>
            <a:custGeom>
              <a:avLst/>
              <a:gdLst/>
              <a:ahLst/>
              <a:cxnLst/>
              <a:rect l="l" t="t" r="r" b="b"/>
              <a:pathLst>
                <a:path w="877570">
                  <a:moveTo>
                    <a:pt x="0" y="0"/>
                  </a:moveTo>
                  <a:lnTo>
                    <a:pt x="877570" y="0"/>
                  </a:lnTo>
                </a:path>
              </a:pathLst>
            </a:custGeom>
            <a:ln w="12700">
              <a:solidFill>
                <a:srgbClr val="00AF50"/>
              </a:solidFill>
              <a:prstDash val="sysDash"/>
            </a:ln>
          </p:spPr>
          <p:txBody>
            <a:bodyPr wrap="square" lIns="0" tIns="0" rIns="0" bIns="0" rtlCol="0"/>
            <a:lstStyle/>
            <a:p/>
          </p:txBody>
        </p:sp>
        <p:sp>
          <p:nvSpPr>
            <p:cNvPr id="61" name="object 13"/>
            <p:cNvSpPr/>
            <p:nvPr/>
          </p:nvSpPr>
          <p:spPr>
            <a:xfrm>
              <a:off x="6810755" y="1950720"/>
              <a:ext cx="1008380" cy="0"/>
            </a:xfrm>
            <a:custGeom>
              <a:avLst/>
              <a:gdLst/>
              <a:ahLst/>
              <a:cxnLst/>
              <a:rect l="l" t="t" r="r" b="b"/>
              <a:pathLst>
                <a:path w="1008379">
                  <a:moveTo>
                    <a:pt x="0" y="0"/>
                  </a:moveTo>
                  <a:lnTo>
                    <a:pt x="1007999" y="0"/>
                  </a:lnTo>
                </a:path>
              </a:pathLst>
            </a:custGeom>
            <a:ln w="12700">
              <a:solidFill>
                <a:srgbClr val="FF0000"/>
              </a:solidFill>
            </a:ln>
          </p:spPr>
          <p:txBody>
            <a:bodyPr wrap="square" lIns="0" tIns="0" rIns="0" bIns="0" rtlCol="0"/>
            <a:lstStyle/>
            <a:p/>
          </p:txBody>
        </p:sp>
        <p:sp>
          <p:nvSpPr>
            <p:cNvPr id="62" name="object 14"/>
            <p:cNvSpPr/>
            <p:nvPr/>
          </p:nvSpPr>
          <p:spPr>
            <a:xfrm>
              <a:off x="6810755" y="2218944"/>
              <a:ext cx="1008380" cy="0"/>
            </a:xfrm>
            <a:custGeom>
              <a:avLst/>
              <a:gdLst/>
              <a:ahLst/>
              <a:cxnLst/>
              <a:rect l="l" t="t" r="r" b="b"/>
              <a:pathLst>
                <a:path w="1008379">
                  <a:moveTo>
                    <a:pt x="0" y="0"/>
                  </a:moveTo>
                  <a:lnTo>
                    <a:pt x="1007999" y="0"/>
                  </a:lnTo>
                </a:path>
              </a:pathLst>
            </a:custGeom>
            <a:ln w="12700">
              <a:solidFill>
                <a:srgbClr val="00AF50"/>
              </a:solidFill>
            </a:ln>
          </p:spPr>
          <p:txBody>
            <a:bodyPr wrap="square" lIns="0" tIns="0" rIns="0" bIns="0" rtlCol="0"/>
            <a:lstStyle/>
            <a:p/>
          </p:txBody>
        </p:sp>
      </p:grpSp>
      <p:sp>
        <p:nvSpPr>
          <p:cNvPr id="63" name="object 31"/>
          <p:cNvSpPr txBox="1"/>
          <p:nvPr/>
        </p:nvSpPr>
        <p:spPr>
          <a:xfrm>
            <a:off x="6173469" y="1726895"/>
            <a:ext cx="690245" cy="208915"/>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1717A2"/>
                </a:solidFill>
                <a:latin typeface="Calibri" panose="020F0502020204030204"/>
                <a:cs typeface="Calibri" panose="020F0502020204030204"/>
              </a:rPr>
              <a:t>Supply</a:t>
            </a:r>
            <a:r>
              <a:rPr sz="1200" b="1" spc="-25" dirty="0">
                <a:solidFill>
                  <a:srgbClr val="1717A2"/>
                </a:solidFill>
                <a:latin typeface="Calibri" panose="020F0502020204030204"/>
                <a:cs typeface="Calibri" panose="020F0502020204030204"/>
              </a:rPr>
              <a:t> Set</a:t>
            </a:r>
            <a:endParaRPr sz="1200">
              <a:latin typeface="Calibri" panose="020F0502020204030204"/>
              <a:cs typeface="Calibri" panose="020F0502020204030204"/>
            </a:endParaRPr>
          </a:p>
        </p:txBody>
      </p:sp>
      <p:sp>
        <p:nvSpPr>
          <p:cNvPr id="64" name="object 32"/>
          <p:cNvSpPr txBox="1"/>
          <p:nvPr/>
        </p:nvSpPr>
        <p:spPr>
          <a:xfrm>
            <a:off x="7088885" y="1732025"/>
            <a:ext cx="640715" cy="208279"/>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1717A2"/>
                </a:solidFill>
                <a:latin typeface="Calibri" panose="020F0502020204030204"/>
                <a:cs typeface="Calibri" panose="020F0502020204030204"/>
              </a:rPr>
              <a:t>Functions</a:t>
            </a:r>
            <a:endParaRPr sz="1200">
              <a:latin typeface="Calibri" panose="020F0502020204030204"/>
              <a:cs typeface="Calibri" panose="020F0502020204030204"/>
            </a:endParaRPr>
          </a:p>
        </p:txBody>
      </p:sp>
      <p:sp>
        <p:nvSpPr>
          <p:cNvPr id="65" name="object 33"/>
          <p:cNvSpPr txBox="1"/>
          <p:nvPr/>
        </p:nvSpPr>
        <p:spPr>
          <a:xfrm>
            <a:off x="5178932" y="1732915"/>
            <a:ext cx="777240" cy="208279"/>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1717A2"/>
                </a:solidFill>
                <a:latin typeface="Calibri" panose="020F0502020204030204"/>
                <a:cs typeface="Calibri" panose="020F0502020204030204"/>
              </a:rPr>
              <a:t>Supply</a:t>
            </a:r>
            <a:r>
              <a:rPr sz="1200" b="1" spc="-35" dirty="0">
                <a:solidFill>
                  <a:srgbClr val="1717A2"/>
                </a:solidFill>
                <a:latin typeface="Calibri" panose="020F0502020204030204"/>
                <a:cs typeface="Calibri" panose="020F0502020204030204"/>
              </a:rPr>
              <a:t> </a:t>
            </a:r>
            <a:r>
              <a:rPr sz="1200" b="1" spc="-20" dirty="0">
                <a:solidFill>
                  <a:srgbClr val="1717A2"/>
                </a:solidFill>
                <a:latin typeface="Calibri" panose="020F0502020204030204"/>
                <a:cs typeface="Calibri" panose="020F0502020204030204"/>
              </a:rPr>
              <a:t>Nets</a:t>
            </a:r>
            <a:endParaRPr sz="1200">
              <a:latin typeface="Calibri" panose="020F0502020204030204"/>
              <a:cs typeface="Calibri" panose="020F0502020204030204"/>
            </a:endParaRPr>
          </a:p>
        </p:txBody>
      </p:sp>
      <p:sp>
        <p:nvSpPr>
          <p:cNvPr id="66" name="object 34"/>
          <p:cNvSpPr txBox="1"/>
          <p:nvPr/>
        </p:nvSpPr>
        <p:spPr>
          <a:xfrm>
            <a:off x="7179309" y="2080768"/>
            <a:ext cx="422909" cy="208279"/>
          </a:xfrm>
          <a:prstGeom prst="rect">
            <a:avLst/>
          </a:prstGeom>
        </p:spPr>
        <p:txBody>
          <a:bodyPr vert="horz" wrap="square" lIns="0" tIns="12700" rIns="0" bIns="0" rtlCol="0">
            <a:spAutoFit/>
          </a:bodyPr>
          <a:lstStyle/>
          <a:p>
            <a:pPr marL="12700">
              <a:lnSpc>
                <a:spcPct val="100000"/>
              </a:lnSpc>
              <a:spcBef>
                <a:spcPts val="100"/>
              </a:spcBef>
            </a:pPr>
            <a:r>
              <a:rPr sz="1200" spc="-20" dirty="0">
                <a:solidFill>
                  <a:srgbClr val="35362F"/>
                </a:solidFill>
                <a:latin typeface="Calibri" panose="020F0502020204030204"/>
                <a:cs typeface="Calibri" panose="020F0502020204030204"/>
              </a:rPr>
              <a:t>power</a:t>
            </a:r>
            <a:endParaRPr sz="1200">
              <a:latin typeface="Calibri" panose="020F0502020204030204"/>
              <a:cs typeface="Calibri" panose="020F0502020204030204"/>
            </a:endParaRPr>
          </a:p>
        </p:txBody>
      </p:sp>
      <p:sp>
        <p:nvSpPr>
          <p:cNvPr id="67" name="object 35"/>
          <p:cNvSpPr txBox="1"/>
          <p:nvPr/>
        </p:nvSpPr>
        <p:spPr>
          <a:xfrm>
            <a:off x="7157084" y="2342896"/>
            <a:ext cx="469900" cy="208279"/>
          </a:xfrm>
          <a:prstGeom prst="rect">
            <a:avLst/>
          </a:prstGeom>
        </p:spPr>
        <p:txBody>
          <a:bodyPr vert="horz" wrap="square" lIns="0" tIns="12700" rIns="0" bIns="0" rtlCol="0">
            <a:spAutoFit/>
          </a:bodyPr>
          <a:lstStyle/>
          <a:p>
            <a:pPr marL="12700">
              <a:lnSpc>
                <a:spcPct val="100000"/>
              </a:lnSpc>
              <a:spcBef>
                <a:spcPts val="100"/>
              </a:spcBef>
            </a:pPr>
            <a:r>
              <a:rPr sz="1200" spc="-10" dirty="0">
                <a:solidFill>
                  <a:srgbClr val="35362F"/>
                </a:solidFill>
                <a:latin typeface="Calibri" panose="020F0502020204030204"/>
                <a:cs typeface="Calibri" panose="020F0502020204030204"/>
              </a:rPr>
              <a:t>ground</a:t>
            </a:r>
            <a:endParaRPr sz="1200">
              <a:latin typeface="Calibri" panose="020F0502020204030204"/>
              <a:cs typeface="Calibri" panose="020F0502020204030204"/>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3" name="Text 0"/>
          <p:cNvSpPr/>
          <p:nvPr/>
        </p:nvSpPr>
        <p:spPr>
          <a:xfrm>
            <a:off x="556260" y="300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en-US" altLang="zh-CN" sz="1730" b="1" dirty="0">
              <a:latin typeface="微软雅黑" panose="020B0503020204020204" pitchFamily="34" charset="-122"/>
              <a:ea typeface="微软雅黑" panose="020B0503020204020204" pitchFamily="34" charset="-122"/>
              <a:sym typeface="+mn-ea"/>
            </a:endParaRPr>
          </a:p>
        </p:txBody>
      </p:sp>
      <p:sp>
        <p:nvSpPr>
          <p:cNvPr id="5" name="内容占位符 2"/>
          <p:cNvSpPr>
            <a:spLocks noGrp="1"/>
          </p:cNvSpPr>
          <p:nvPr/>
        </p:nvSpPr>
        <p:spPr>
          <a:xfrm>
            <a:off x="608330" y="794385"/>
            <a:ext cx="7957185" cy="377571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p>
        </p:txBody>
      </p:sp>
      <p:sp>
        <p:nvSpPr>
          <p:cNvPr id="6" name="Text 0"/>
          <p:cNvSpPr/>
          <p:nvPr/>
        </p:nvSpPr>
        <p:spPr>
          <a:xfrm>
            <a:off x="28448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隔离</a:t>
            </a:r>
            <a:r>
              <a:rPr lang="zh-CN" altLang="en-US" sz="1730" b="1" dirty="0">
                <a:latin typeface="微软雅黑" panose="020B0503020204020204" pitchFamily="34" charset="-122"/>
                <a:ea typeface="微软雅黑" panose="020B0503020204020204" pitchFamily="34" charset="-122"/>
                <a:sym typeface="+mn-ea"/>
              </a:rPr>
              <a:t>单元（</a:t>
            </a:r>
            <a:r>
              <a:rPr lang="en-US" altLang="zh-CN" sz="1730" b="1" dirty="0">
                <a:latin typeface="微软雅黑" panose="020B0503020204020204" pitchFamily="34" charset="-122"/>
                <a:ea typeface="微软雅黑" panose="020B0503020204020204" pitchFamily="34" charset="-122"/>
                <a:sym typeface="+mn-ea"/>
              </a:rPr>
              <a:t>Isolation Cell</a:t>
            </a:r>
            <a:r>
              <a:rPr lang="zh-CN" altLang="en-US" sz="1730" b="1" dirty="0">
                <a:latin typeface="微软雅黑" panose="020B0503020204020204" pitchFamily="34" charset="-122"/>
                <a:ea typeface="微软雅黑" panose="020B0503020204020204" pitchFamily="34" charset="-122"/>
                <a:sym typeface="+mn-ea"/>
              </a:rPr>
              <a:t>）</a:t>
            </a:r>
            <a:endParaRPr lang="zh-CN" altLang="en-US" sz="1730" b="1" dirty="0">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429260" y="794385"/>
            <a:ext cx="8137525" cy="3896360"/>
          </a:xfrm>
          <a:prstGeom prst="rect">
            <a:avLst/>
          </a:prstGeom>
          <a:noFill/>
        </p:spPr>
        <p:txBody>
          <a:bodyPr wrap="square" rtlCol="0">
            <a:noAutofit/>
          </a:bodyPr>
          <a:p>
            <a:r>
              <a:rPr lang="zh-CN" altLang="en-US"/>
              <a:t>隔离</a:t>
            </a:r>
            <a:r>
              <a:rPr lang="zh-CN" altLang="en-US"/>
              <a:t>单元是一种可以在某个电源域关断时，可以保持输入或者输出为常数的单元。它主要用于不同的电源域之间，主要是将断电后电源域的输出信号钳位到高或者低电平，防止掉电后的</a:t>
            </a:r>
            <a:r>
              <a:rPr lang="en-US" altLang="zh-CN"/>
              <a:t>X</a:t>
            </a:r>
            <a:r>
              <a:rPr lang="zh-CN" altLang="en-US"/>
              <a:t>态传播。</a:t>
            </a:r>
            <a:endParaRPr lang="en-US" altLang="zh-CN"/>
          </a:p>
          <a:p>
            <a:r>
              <a:rPr lang="zh-CN" altLang="en-US"/>
              <a:t>为什么电源域关掉后需要把输出用</a:t>
            </a:r>
            <a:r>
              <a:rPr lang="en-US" altLang="zh-CN"/>
              <a:t>ISO</a:t>
            </a:r>
            <a:r>
              <a:rPr lang="zh-CN" altLang="en-US"/>
              <a:t>隔离成常数呢？主要有两个原因：</a:t>
            </a:r>
            <a:r>
              <a:rPr lang="en-US" altLang="en-US"/>
              <a:t>①</a:t>
            </a:r>
            <a:r>
              <a:rPr lang="en-US" altLang="zh-CN"/>
              <a:t> </a:t>
            </a:r>
            <a:r>
              <a:rPr lang="zh-CN" altLang="en-US"/>
              <a:t>防止虚假的信号传播到未关掉电源的域，造成逻辑错误；</a:t>
            </a:r>
            <a:r>
              <a:rPr lang="en-US" altLang="en-US"/>
              <a:t>②</a:t>
            </a:r>
            <a:r>
              <a:rPr lang="en-US" altLang="zh-CN"/>
              <a:t> </a:t>
            </a:r>
            <a:r>
              <a:rPr lang="zh-CN" altLang="en-US"/>
              <a:t>防止瞬态开路电流产生的静态功耗。</a:t>
            </a:r>
            <a:endParaRPr lang="zh-CN" altLang="en-US"/>
          </a:p>
          <a:p>
            <a:endParaRPr lang="en-US" altLang="zh-CN"/>
          </a:p>
        </p:txBody>
      </p:sp>
      <p:pic>
        <p:nvPicPr>
          <p:cNvPr id="8" name="图片 7"/>
          <p:cNvPicPr>
            <a:picLocks noChangeAspect="1"/>
          </p:cNvPicPr>
          <p:nvPr/>
        </p:nvPicPr>
        <p:blipFill>
          <a:blip r:embed="rId2"/>
          <a:stretch>
            <a:fillRect/>
          </a:stretch>
        </p:blipFill>
        <p:spPr>
          <a:xfrm>
            <a:off x="3071495" y="2495550"/>
            <a:ext cx="2623820" cy="207454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5" name="内容占位符 2"/>
          <p:cNvSpPr>
            <a:spLocks noGrp="1"/>
          </p:cNvSpPr>
          <p:nvPr/>
        </p:nvSpPr>
        <p:spPr>
          <a:xfrm>
            <a:off x="608330" y="794385"/>
            <a:ext cx="7957185" cy="377571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p>
        </p:txBody>
      </p:sp>
      <p:sp>
        <p:nvSpPr>
          <p:cNvPr id="6" name="Text 0"/>
          <p:cNvSpPr/>
          <p:nvPr/>
        </p:nvSpPr>
        <p:spPr>
          <a:xfrm>
            <a:off x="28448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电</a:t>
            </a:r>
            <a:r>
              <a:rPr lang="zh-CN" altLang="en-US" sz="1730" b="1" dirty="0">
                <a:latin typeface="微软雅黑" panose="020B0503020204020204" pitchFamily="34" charset="-122"/>
                <a:ea typeface="微软雅黑" panose="020B0503020204020204" pitchFamily="34" charset="-122"/>
                <a:sym typeface="+mn-ea"/>
              </a:rPr>
              <a:t>平转换</a:t>
            </a:r>
            <a:r>
              <a:rPr lang="zh-CN" altLang="en-US" sz="1730" b="1" dirty="0">
                <a:latin typeface="微软雅黑" panose="020B0503020204020204" pitchFamily="34" charset="-122"/>
                <a:ea typeface="微软雅黑" panose="020B0503020204020204" pitchFamily="34" charset="-122"/>
                <a:sym typeface="+mn-ea"/>
              </a:rPr>
              <a:t>单元（</a:t>
            </a:r>
            <a:r>
              <a:rPr lang="en-US" altLang="zh-CN" sz="1730" b="1" dirty="0">
                <a:latin typeface="微软雅黑" panose="020B0503020204020204" pitchFamily="34" charset="-122"/>
                <a:ea typeface="微软雅黑" panose="020B0503020204020204" pitchFamily="34" charset="-122"/>
                <a:sym typeface="+mn-ea"/>
              </a:rPr>
              <a:t>Level Shifter</a:t>
            </a:r>
            <a:r>
              <a:rPr lang="zh-CN" altLang="en-US" sz="1730" b="1" dirty="0">
                <a:latin typeface="微软雅黑" panose="020B0503020204020204" pitchFamily="34" charset="-122"/>
                <a:ea typeface="微软雅黑" panose="020B0503020204020204" pitchFamily="34" charset="-122"/>
                <a:sym typeface="+mn-ea"/>
              </a:rPr>
              <a:t>）</a:t>
            </a:r>
            <a:endParaRPr lang="zh-CN" altLang="en-US" sz="1730" b="1" dirty="0">
              <a:latin typeface="微软雅黑" panose="020B0503020204020204" pitchFamily="34" charset="-122"/>
              <a:ea typeface="微软雅黑" panose="020B0503020204020204" pitchFamily="34" charset="-122"/>
              <a:sym typeface="+mn-ea"/>
            </a:endParaRPr>
          </a:p>
        </p:txBody>
      </p:sp>
      <p:sp>
        <p:nvSpPr>
          <p:cNvPr id="17" name="文本框 16"/>
          <p:cNvSpPr txBox="1"/>
          <p:nvPr/>
        </p:nvSpPr>
        <p:spPr>
          <a:xfrm>
            <a:off x="608330" y="708660"/>
            <a:ext cx="7957185" cy="3870960"/>
          </a:xfrm>
          <a:prstGeom prst="rect">
            <a:avLst/>
          </a:prstGeom>
          <a:noFill/>
        </p:spPr>
        <p:txBody>
          <a:bodyPr wrap="square" rtlCol="0">
            <a:noAutofit/>
          </a:bodyPr>
          <a:p>
            <a:r>
              <a:rPr lang="en-US" altLang="zh-CN"/>
              <a:t>Level-shifter </a:t>
            </a:r>
            <a:r>
              <a:rPr lang="zh-CN" altLang="en-US"/>
              <a:t>用于实现不同电压域之间信号的电平转换，将信号从一个电压域切换到另一个电压域。</a:t>
            </a:r>
            <a:endParaRPr lang="zh-CN" altLang="en-US"/>
          </a:p>
          <a:p>
            <a:endParaRPr lang="en-US" altLang="zh-CN"/>
          </a:p>
          <a:p>
            <a:r>
              <a:rPr lang="zh-CN" altLang="en-US"/>
              <a:t>不同电压域的</a:t>
            </a:r>
            <a:r>
              <a:rPr lang="en-US" altLang="zh-CN"/>
              <a:t>VDD</a:t>
            </a:r>
            <a:r>
              <a:rPr lang="zh-CN" altLang="en-US"/>
              <a:t>是不一样的，两个</a:t>
            </a:r>
            <a:r>
              <a:rPr lang="en-US" altLang="zh-CN"/>
              <a:t> power domain </a:t>
            </a:r>
            <a:r>
              <a:rPr lang="zh-CN" altLang="en-US"/>
              <a:t>之间有信号传输的时候，如果不进行电压转换，器件就无法正常工作。例如，将</a:t>
            </a:r>
            <a:r>
              <a:rPr lang="en-US" altLang="zh-CN"/>
              <a:t>1.0V</a:t>
            </a:r>
            <a:r>
              <a:rPr lang="zh-CN" altLang="en-US"/>
              <a:t>的电压信号送到</a:t>
            </a:r>
            <a:r>
              <a:rPr lang="en-US" altLang="zh-CN"/>
              <a:t>1.8V</a:t>
            </a:r>
            <a:r>
              <a:rPr lang="zh-CN" altLang="en-US"/>
              <a:t>的电压域，有可能连</a:t>
            </a:r>
            <a:r>
              <a:rPr lang="en-US" altLang="zh-CN"/>
              <a:t>1.8V</a:t>
            </a:r>
            <a:r>
              <a:rPr lang="zh-CN" altLang="en-US"/>
              <a:t>区域</a:t>
            </a:r>
            <a:r>
              <a:rPr lang="en-US" altLang="zh-CN"/>
              <a:t>MOS</a:t>
            </a:r>
            <a:r>
              <a:rPr lang="zh-CN" altLang="en-US"/>
              <a:t>的</a:t>
            </a:r>
            <a:r>
              <a:rPr lang="en-US" altLang="zh-CN"/>
              <a:t>VTH</a:t>
            </a:r>
            <a:r>
              <a:rPr lang="zh-CN" altLang="en-US"/>
              <a:t>都达不到（通常</a:t>
            </a:r>
            <a:r>
              <a:rPr lang="en-US" altLang="zh-CN"/>
              <a:t>VDD</a:t>
            </a:r>
            <a:r>
              <a:rPr lang="zh-CN" altLang="en-US"/>
              <a:t>越高的工艺对应</a:t>
            </a:r>
            <a:r>
              <a:rPr lang="en-US" altLang="zh-CN"/>
              <a:t>MOS</a:t>
            </a:r>
            <a:r>
              <a:rPr lang="zh-CN" altLang="en-US"/>
              <a:t>的</a:t>
            </a:r>
            <a:r>
              <a:rPr lang="en-US" altLang="zh-CN"/>
              <a:t>VTH</a:t>
            </a:r>
            <a:r>
              <a:rPr lang="zh-CN" altLang="en-US"/>
              <a:t>也越高），器件自然无法工作。</a:t>
            </a:r>
            <a:endParaRPr lang="zh-CN" altLang="en-US"/>
          </a:p>
          <a:p>
            <a:endParaRPr lang="zh-CN" altLang="en-US"/>
          </a:p>
        </p:txBody>
      </p:sp>
      <p:grpSp>
        <p:nvGrpSpPr>
          <p:cNvPr id="18" name="object 3"/>
          <p:cNvGrpSpPr/>
          <p:nvPr/>
        </p:nvGrpSpPr>
        <p:grpSpPr>
          <a:xfrm>
            <a:off x="3538664" y="3541585"/>
            <a:ext cx="1668145" cy="922655"/>
            <a:chOff x="6392989" y="3709225"/>
            <a:chExt cx="1668145" cy="922655"/>
          </a:xfrm>
        </p:grpSpPr>
        <p:sp>
          <p:nvSpPr>
            <p:cNvPr id="19" name="object 4"/>
            <p:cNvSpPr/>
            <p:nvPr/>
          </p:nvSpPr>
          <p:spPr>
            <a:xfrm>
              <a:off x="6397752" y="4626863"/>
              <a:ext cx="1658620" cy="0"/>
            </a:xfrm>
            <a:custGeom>
              <a:avLst/>
              <a:gdLst/>
              <a:ahLst/>
              <a:cxnLst/>
              <a:rect l="l" t="t" r="r" b="b"/>
              <a:pathLst>
                <a:path w="1658620">
                  <a:moveTo>
                    <a:pt x="0" y="0"/>
                  </a:moveTo>
                  <a:lnTo>
                    <a:pt x="1658112" y="0"/>
                  </a:lnTo>
                </a:path>
              </a:pathLst>
            </a:custGeom>
            <a:ln w="9525">
              <a:solidFill>
                <a:srgbClr val="35362F"/>
              </a:solidFill>
            </a:ln>
          </p:spPr>
          <p:txBody>
            <a:bodyPr wrap="square" lIns="0" tIns="0" rIns="0" bIns="0" rtlCol="0"/>
            <a:lstStyle/>
            <a:p/>
          </p:txBody>
        </p:sp>
        <p:sp>
          <p:nvSpPr>
            <p:cNvPr id="20" name="object 5"/>
            <p:cNvSpPr/>
            <p:nvPr/>
          </p:nvSpPr>
          <p:spPr>
            <a:xfrm>
              <a:off x="6458712" y="3713988"/>
              <a:ext cx="495300" cy="518159"/>
            </a:xfrm>
            <a:custGeom>
              <a:avLst/>
              <a:gdLst/>
              <a:ahLst/>
              <a:cxnLst/>
              <a:rect l="l" t="t" r="r" b="b"/>
              <a:pathLst>
                <a:path w="495300" h="518160">
                  <a:moveTo>
                    <a:pt x="247649" y="0"/>
                  </a:moveTo>
                  <a:lnTo>
                    <a:pt x="0" y="0"/>
                  </a:lnTo>
                  <a:lnTo>
                    <a:pt x="0" y="518159"/>
                  </a:lnTo>
                  <a:lnTo>
                    <a:pt x="247649" y="518159"/>
                  </a:lnTo>
                  <a:lnTo>
                    <a:pt x="292166" y="513986"/>
                  </a:lnTo>
                  <a:lnTo>
                    <a:pt x="334065" y="501951"/>
                  </a:lnTo>
                  <a:lnTo>
                    <a:pt x="372646" y="482789"/>
                  </a:lnTo>
                  <a:lnTo>
                    <a:pt x="407210" y="457229"/>
                  </a:lnTo>
                  <a:lnTo>
                    <a:pt x="437057" y="426003"/>
                  </a:lnTo>
                  <a:lnTo>
                    <a:pt x="461489" y="389844"/>
                  </a:lnTo>
                  <a:lnTo>
                    <a:pt x="479807" y="349483"/>
                  </a:lnTo>
                  <a:lnTo>
                    <a:pt x="491310" y="305651"/>
                  </a:lnTo>
                  <a:lnTo>
                    <a:pt x="495299" y="259080"/>
                  </a:lnTo>
                  <a:lnTo>
                    <a:pt x="491310" y="212498"/>
                  </a:lnTo>
                  <a:lnTo>
                    <a:pt x="479807" y="168661"/>
                  </a:lnTo>
                  <a:lnTo>
                    <a:pt x="461489" y="128298"/>
                  </a:lnTo>
                  <a:lnTo>
                    <a:pt x="437057" y="92140"/>
                  </a:lnTo>
                  <a:lnTo>
                    <a:pt x="407210" y="60918"/>
                  </a:lnTo>
                  <a:lnTo>
                    <a:pt x="372646" y="35362"/>
                  </a:lnTo>
                  <a:lnTo>
                    <a:pt x="334065" y="16203"/>
                  </a:lnTo>
                  <a:lnTo>
                    <a:pt x="292166" y="4172"/>
                  </a:lnTo>
                  <a:lnTo>
                    <a:pt x="247649" y="0"/>
                  </a:lnTo>
                  <a:close/>
                </a:path>
              </a:pathLst>
            </a:custGeom>
            <a:solidFill>
              <a:srgbClr val="CDC700"/>
            </a:solidFill>
          </p:spPr>
          <p:txBody>
            <a:bodyPr wrap="square" lIns="0" tIns="0" rIns="0" bIns="0" rtlCol="0"/>
            <a:lstStyle/>
            <a:p/>
          </p:txBody>
        </p:sp>
        <p:sp>
          <p:nvSpPr>
            <p:cNvPr id="21" name="object 6"/>
            <p:cNvSpPr/>
            <p:nvPr/>
          </p:nvSpPr>
          <p:spPr>
            <a:xfrm>
              <a:off x="6458712" y="3713988"/>
              <a:ext cx="495300" cy="518159"/>
            </a:xfrm>
            <a:custGeom>
              <a:avLst/>
              <a:gdLst/>
              <a:ahLst/>
              <a:cxnLst/>
              <a:rect l="l" t="t" r="r" b="b"/>
              <a:pathLst>
                <a:path w="495300" h="518160">
                  <a:moveTo>
                    <a:pt x="0" y="0"/>
                  </a:moveTo>
                  <a:lnTo>
                    <a:pt x="247649" y="0"/>
                  </a:lnTo>
                  <a:lnTo>
                    <a:pt x="292166" y="4172"/>
                  </a:lnTo>
                  <a:lnTo>
                    <a:pt x="334065" y="16203"/>
                  </a:lnTo>
                  <a:lnTo>
                    <a:pt x="372646" y="35362"/>
                  </a:lnTo>
                  <a:lnTo>
                    <a:pt x="407210" y="60918"/>
                  </a:lnTo>
                  <a:lnTo>
                    <a:pt x="437057" y="92140"/>
                  </a:lnTo>
                  <a:lnTo>
                    <a:pt x="461489" y="128298"/>
                  </a:lnTo>
                  <a:lnTo>
                    <a:pt x="479807" y="168661"/>
                  </a:lnTo>
                  <a:lnTo>
                    <a:pt x="491310" y="212498"/>
                  </a:lnTo>
                  <a:lnTo>
                    <a:pt x="495299" y="259080"/>
                  </a:lnTo>
                  <a:lnTo>
                    <a:pt x="491310" y="305651"/>
                  </a:lnTo>
                  <a:lnTo>
                    <a:pt x="479807" y="349483"/>
                  </a:lnTo>
                  <a:lnTo>
                    <a:pt x="461489" y="389844"/>
                  </a:lnTo>
                  <a:lnTo>
                    <a:pt x="437057" y="426003"/>
                  </a:lnTo>
                  <a:lnTo>
                    <a:pt x="407210" y="457229"/>
                  </a:lnTo>
                  <a:lnTo>
                    <a:pt x="372646" y="482789"/>
                  </a:lnTo>
                  <a:lnTo>
                    <a:pt x="334065" y="501951"/>
                  </a:lnTo>
                  <a:lnTo>
                    <a:pt x="292166" y="513986"/>
                  </a:lnTo>
                  <a:lnTo>
                    <a:pt x="247649" y="518159"/>
                  </a:lnTo>
                  <a:lnTo>
                    <a:pt x="0" y="518159"/>
                  </a:lnTo>
                  <a:lnTo>
                    <a:pt x="0" y="0"/>
                  </a:lnTo>
                  <a:close/>
                </a:path>
              </a:pathLst>
            </a:custGeom>
            <a:ln w="9525">
              <a:solidFill>
                <a:srgbClr val="35362F"/>
              </a:solidFill>
            </a:ln>
          </p:spPr>
          <p:txBody>
            <a:bodyPr wrap="square" lIns="0" tIns="0" rIns="0" bIns="0" rtlCol="0"/>
            <a:lstStyle/>
            <a:p/>
          </p:txBody>
        </p:sp>
      </p:grpSp>
      <p:sp>
        <p:nvSpPr>
          <p:cNvPr id="22" name="object 7"/>
          <p:cNvSpPr txBox="1"/>
          <p:nvPr/>
        </p:nvSpPr>
        <p:spPr>
          <a:xfrm>
            <a:off x="3661156" y="3730853"/>
            <a:ext cx="310515" cy="140970"/>
          </a:xfrm>
          <a:prstGeom prst="rect">
            <a:avLst/>
          </a:prstGeom>
        </p:spPr>
        <p:txBody>
          <a:bodyPr vert="horz" wrap="square" lIns="0" tIns="13335" rIns="0" bIns="0" rtlCol="0">
            <a:spAutoFit/>
          </a:bodyPr>
          <a:lstStyle/>
          <a:p>
            <a:pPr marL="12700">
              <a:lnSpc>
                <a:spcPct val="100000"/>
              </a:lnSpc>
              <a:spcBef>
                <a:spcPts val="105"/>
              </a:spcBef>
            </a:pPr>
            <a:r>
              <a:rPr sz="750" b="1" spc="-10" dirty="0">
                <a:solidFill>
                  <a:srgbClr val="35362F"/>
                </a:solidFill>
                <a:latin typeface="Calibri" panose="020F0502020204030204"/>
                <a:cs typeface="Calibri" panose="020F0502020204030204"/>
              </a:rPr>
              <a:t>ANDX2</a:t>
            </a:r>
            <a:endParaRPr sz="750">
              <a:latin typeface="Calibri" panose="020F0502020204030204"/>
              <a:cs typeface="Calibri" panose="020F0502020204030204"/>
            </a:endParaRPr>
          </a:p>
        </p:txBody>
      </p:sp>
      <p:grpSp>
        <p:nvGrpSpPr>
          <p:cNvPr id="23" name="object 8"/>
          <p:cNvGrpSpPr/>
          <p:nvPr/>
        </p:nvGrpSpPr>
        <p:grpSpPr>
          <a:xfrm>
            <a:off x="3386264" y="3541585"/>
            <a:ext cx="2207260" cy="527685"/>
            <a:chOff x="6240589" y="3709225"/>
            <a:chExt cx="2207260" cy="527685"/>
          </a:xfrm>
        </p:grpSpPr>
        <p:sp>
          <p:nvSpPr>
            <p:cNvPr id="24" name="object 9"/>
            <p:cNvSpPr/>
            <p:nvPr/>
          </p:nvSpPr>
          <p:spPr>
            <a:xfrm>
              <a:off x="6245352" y="3973068"/>
              <a:ext cx="922019" cy="0"/>
            </a:xfrm>
            <a:custGeom>
              <a:avLst/>
              <a:gdLst/>
              <a:ahLst/>
              <a:cxnLst/>
              <a:rect l="l" t="t" r="r" b="b"/>
              <a:pathLst>
                <a:path w="922020">
                  <a:moveTo>
                    <a:pt x="0" y="0"/>
                  </a:moveTo>
                  <a:lnTo>
                    <a:pt x="213360" y="0"/>
                  </a:lnTo>
                </a:path>
                <a:path w="922020">
                  <a:moveTo>
                    <a:pt x="708659" y="0"/>
                  </a:moveTo>
                  <a:lnTo>
                    <a:pt x="922020" y="0"/>
                  </a:lnTo>
                </a:path>
              </a:pathLst>
            </a:custGeom>
            <a:ln w="9525">
              <a:solidFill>
                <a:srgbClr val="35362F"/>
              </a:solidFill>
            </a:ln>
          </p:spPr>
          <p:txBody>
            <a:bodyPr wrap="square" lIns="0" tIns="0" rIns="0" bIns="0" rtlCol="0"/>
            <a:lstStyle/>
            <a:p/>
          </p:txBody>
        </p:sp>
        <p:sp>
          <p:nvSpPr>
            <p:cNvPr id="25" name="object 10"/>
            <p:cNvSpPr/>
            <p:nvPr/>
          </p:nvSpPr>
          <p:spPr>
            <a:xfrm>
              <a:off x="7946136" y="3713988"/>
              <a:ext cx="497205" cy="518159"/>
            </a:xfrm>
            <a:custGeom>
              <a:avLst/>
              <a:gdLst/>
              <a:ahLst/>
              <a:cxnLst/>
              <a:rect l="l" t="t" r="r" b="b"/>
              <a:pathLst>
                <a:path w="497204" h="518160">
                  <a:moveTo>
                    <a:pt x="248412" y="0"/>
                  </a:moveTo>
                  <a:lnTo>
                    <a:pt x="0" y="0"/>
                  </a:lnTo>
                  <a:lnTo>
                    <a:pt x="0" y="518159"/>
                  </a:lnTo>
                  <a:lnTo>
                    <a:pt x="248412" y="518159"/>
                  </a:lnTo>
                  <a:lnTo>
                    <a:pt x="293055" y="513986"/>
                  </a:lnTo>
                  <a:lnTo>
                    <a:pt x="335077" y="501951"/>
                  </a:lnTo>
                  <a:lnTo>
                    <a:pt x="373775" y="482789"/>
                  </a:lnTo>
                  <a:lnTo>
                    <a:pt x="408446" y="457229"/>
                  </a:lnTo>
                  <a:lnTo>
                    <a:pt x="438389" y="426003"/>
                  </a:lnTo>
                  <a:lnTo>
                    <a:pt x="462900" y="389844"/>
                  </a:lnTo>
                  <a:lnTo>
                    <a:pt x="481278" y="349483"/>
                  </a:lnTo>
                  <a:lnTo>
                    <a:pt x="492820" y="305651"/>
                  </a:lnTo>
                  <a:lnTo>
                    <a:pt x="496824" y="259080"/>
                  </a:lnTo>
                  <a:lnTo>
                    <a:pt x="492820" y="212498"/>
                  </a:lnTo>
                  <a:lnTo>
                    <a:pt x="481278" y="168661"/>
                  </a:lnTo>
                  <a:lnTo>
                    <a:pt x="462900" y="128298"/>
                  </a:lnTo>
                  <a:lnTo>
                    <a:pt x="438389" y="92140"/>
                  </a:lnTo>
                  <a:lnTo>
                    <a:pt x="408446" y="60918"/>
                  </a:lnTo>
                  <a:lnTo>
                    <a:pt x="373775" y="35362"/>
                  </a:lnTo>
                  <a:lnTo>
                    <a:pt x="335077" y="16203"/>
                  </a:lnTo>
                  <a:lnTo>
                    <a:pt x="293055" y="4172"/>
                  </a:lnTo>
                  <a:lnTo>
                    <a:pt x="248412" y="0"/>
                  </a:lnTo>
                  <a:close/>
                </a:path>
              </a:pathLst>
            </a:custGeom>
            <a:solidFill>
              <a:srgbClr val="CDC700"/>
            </a:solidFill>
          </p:spPr>
          <p:txBody>
            <a:bodyPr wrap="square" lIns="0" tIns="0" rIns="0" bIns="0" rtlCol="0"/>
            <a:lstStyle/>
            <a:p/>
          </p:txBody>
        </p:sp>
        <p:sp>
          <p:nvSpPr>
            <p:cNvPr id="26" name="object 11"/>
            <p:cNvSpPr/>
            <p:nvPr/>
          </p:nvSpPr>
          <p:spPr>
            <a:xfrm>
              <a:off x="7946136" y="3713988"/>
              <a:ext cx="497205" cy="518159"/>
            </a:xfrm>
            <a:custGeom>
              <a:avLst/>
              <a:gdLst/>
              <a:ahLst/>
              <a:cxnLst/>
              <a:rect l="l" t="t" r="r" b="b"/>
              <a:pathLst>
                <a:path w="497204" h="518160">
                  <a:moveTo>
                    <a:pt x="0" y="0"/>
                  </a:moveTo>
                  <a:lnTo>
                    <a:pt x="248412" y="0"/>
                  </a:lnTo>
                  <a:lnTo>
                    <a:pt x="293055" y="4172"/>
                  </a:lnTo>
                  <a:lnTo>
                    <a:pt x="335077" y="16203"/>
                  </a:lnTo>
                  <a:lnTo>
                    <a:pt x="373775" y="35362"/>
                  </a:lnTo>
                  <a:lnTo>
                    <a:pt x="408446" y="60918"/>
                  </a:lnTo>
                  <a:lnTo>
                    <a:pt x="438389" y="92140"/>
                  </a:lnTo>
                  <a:lnTo>
                    <a:pt x="462900" y="128298"/>
                  </a:lnTo>
                  <a:lnTo>
                    <a:pt x="481278" y="168661"/>
                  </a:lnTo>
                  <a:lnTo>
                    <a:pt x="492820" y="212498"/>
                  </a:lnTo>
                  <a:lnTo>
                    <a:pt x="496824" y="259080"/>
                  </a:lnTo>
                  <a:lnTo>
                    <a:pt x="492820" y="305651"/>
                  </a:lnTo>
                  <a:lnTo>
                    <a:pt x="481278" y="349483"/>
                  </a:lnTo>
                  <a:lnTo>
                    <a:pt x="462900" y="389844"/>
                  </a:lnTo>
                  <a:lnTo>
                    <a:pt x="438389" y="426003"/>
                  </a:lnTo>
                  <a:lnTo>
                    <a:pt x="408446" y="457229"/>
                  </a:lnTo>
                  <a:lnTo>
                    <a:pt x="373775" y="482789"/>
                  </a:lnTo>
                  <a:lnTo>
                    <a:pt x="335077" y="501951"/>
                  </a:lnTo>
                  <a:lnTo>
                    <a:pt x="293055" y="513986"/>
                  </a:lnTo>
                  <a:lnTo>
                    <a:pt x="248412" y="518159"/>
                  </a:lnTo>
                  <a:lnTo>
                    <a:pt x="0" y="518159"/>
                  </a:lnTo>
                  <a:lnTo>
                    <a:pt x="0" y="0"/>
                  </a:lnTo>
                  <a:close/>
                </a:path>
              </a:pathLst>
            </a:custGeom>
            <a:ln w="9525">
              <a:solidFill>
                <a:srgbClr val="35362F"/>
              </a:solidFill>
            </a:ln>
          </p:spPr>
          <p:txBody>
            <a:bodyPr wrap="square" lIns="0" tIns="0" rIns="0" bIns="0" rtlCol="0"/>
            <a:lstStyle/>
            <a:p/>
          </p:txBody>
        </p:sp>
      </p:grpSp>
      <p:sp>
        <p:nvSpPr>
          <p:cNvPr id="27" name="object 12"/>
          <p:cNvSpPr txBox="1"/>
          <p:nvPr/>
        </p:nvSpPr>
        <p:spPr>
          <a:xfrm>
            <a:off x="5149850" y="3730853"/>
            <a:ext cx="310515" cy="140970"/>
          </a:xfrm>
          <a:prstGeom prst="rect">
            <a:avLst/>
          </a:prstGeom>
        </p:spPr>
        <p:txBody>
          <a:bodyPr vert="horz" wrap="square" lIns="0" tIns="13335" rIns="0" bIns="0" rtlCol="0">
            <a:spAutoFit/>
          </a:bodyPr>
          <a:lstStyle/>
          <a:p>
            <a:pPr marL="12700">
              <a:lnSpc>
                <a:spcPct val="100000"/>
              </a:lnSpc>
              <a:spcBef>
                <a:spcPts val="105"/>
              </a:spcBef>
            </a:pPr>
            <a:r>
              <a:rPr sz="750" b="1" spc="-10" dirty="0">
                <a:solidFill>
                  <a:srgbClr val="35362F"/>
                </a:solidFill>
                <a:latin typeface="Calibri" panose="020F0502020204030204"/>
                <a:cs typeface="Calibri" panose="020F0502020204030204"/>
              </a:rPr>
              <a:t>ANDX2</a:t>
            </a:r>
            <a:endParaRPr sz="750">
              <a:latin typeface="Calibri" panose="020F0502020204030204"/>
              <a:cs typeface="Calibri" panose="020F0502020204030204"/>
            </a:endParaRPr>
          </a:p>
        </p:txBody>
      </p:sp>
      <p:grpSp>
        <p:nvGrpSpPr>
          <p:cNvPr id="28" name="object 13"/>
          <p:cNvGrpSpPr/>
          <p:nvPr/>
        </p:nvGrpSpPr>
        <p:grpSpPr>
          <a:xfrm>
            <a:off x="3167253" y="3152965"/>
            <a:ext cx="2638425" cy="1304925"/>
            <a:chOff x="6021578" y="3320605"/>
            <a:chExt cx="2638425" cy="1304925"/>
          </a:xfrm>
        </p:grpSpPr>
        <p:sp>
          <p:nvSpPr>
            <p:cNvPr id="29" name="object 14"/>
            <p:cNvSpPr/>
            <p:nvPr/>
          </p:nvSpPr>
          <p:spPr>
            <a:xfrm>
              <a:off x="6670548" y="3325367"/>
              <a:ext cx="1984375" cy="1295400"/>
            </a:xfrm>
            <a:custGeom>
              <a:avLst/>
              <a:gdLst/>
              <a:ahLst/>
              <a:cxnLst/>
              <a:rect l="l" t="t" r="r" b="b"/>
              <a:pathLst>
                <a:path w="1984375" h="1295400">
                  <a:moveTo>
                    <a:pt x="1063752" y="647699"/>
                  </a:moveTo>
                  <a:lnTo>
                    <a:pt x="1275587" y="647699"/>
                  </a:lnTo>
                </a:path>
                <a:path w="1984375" h="1295400">
                  <a:moveTo>
                    <a:pt x="1772411" y="647699"/>
                  </a:moveTo>
                  <a:lnTo>
                    <a:pt x="1984248" y="647699"/>
                  </a:lnTo>
                </a:path>
                <a:path w="1984375" h="1295400">
                  <a:moveTo>
                    <a:pt x="0" y="388619"/>
                  </a:moveTo>
                  <a:lnTo>
                    <a:pt x="0" y="0"/>
                  </a:lnTo>
                </a:path>
                <a:path w="1984375" h="1295400">
                  <a:moveTo>
                    <a:pt x="0" y="1295399"/>
                  </a:moveTo>
                  <a:lnTo>
                    <a:pt x="0" y="906779"/>
                  </a:lnTo>
                </a:path>
                <a:path w="1984375" h="1295400">
                  <a:moveTo>
                    <a:pt x="1488948" y="1295399"/>
                  </a:moveTo>
                  <a:lnTo>
                    <a:pt x="1488948" y="906779"/>
                  </a:lnTo>
                </a:path>
                <a:path w="1984375" h="1295400">
                  <a:moveTo>
                    <a:pt x="1488948" y="388619"/>
                  </a:moveTo>
                  <a:lnTo>
                    <a:pt x="1488948" y="0"/>
                  </a:lnTo>
                </a:path>
                <a:path w="1984375" h="1295400">
                  <a:moveTo>
                    <a:pt x="496824" y="647699"/>
                  </a:moveTo>
                  <a:lnTo>
                    <a:pt x="1133855" y="647699"/>
                  </a:lnTo>
                </a:path>
              </a:pathLst>
            </a:custGeom>
            <a:ln w="9525">
              <a:solidFill>
                <a:srgbClr val="35362F"/>
              </a:solidFill>
            </a:ln>
          </p:spPr>
          <p:txBody>
            <a:bodyPr wrap="square" lIns="0" tIns="0" rIns="0" bIns="0" rtlCol="0"/>
            <a:lstStyle/>
            <a:p/>
          </p:txBody>
        </p:sp>
        <p:sp>
          <p:nvSpPr>
            <p:cNvPr id="30" name="object 15"/>
            <p:cNvSpPr/>
            <p:nvPr/>
          </p:nvSpPr>
          <p:spPr>
            <a:xfrm>
              <a:off x="6034278" y="3585209"/>
              <a:ext cx="1918970" cy="195580"/>
            </a:xfrm>
            <a:custGeom>
              <a:avLst/>
              <a:gdLst/>
              <a:ahLst/>
              <a:cxnLst/>
              <a:rect l="l" t="t" r="r" b="b"/>
              <a:pathLst>
                <a:path w="1918970" h="195579">
                  <a:moveTo>
                    <a:pt x="0" y="178307"/>
                  </a:moveTo>
                  <a:lnTo>
                    <a:pt x="141732" y="178307"/>
                  </a:lnTo>
                </a:path>
                <a:path w="1918970" h="195579">
                  <a:moveTo>
                    <a:pt x="141732" y="178307"/>
                  </a:moveTo>
                  <a:lnTo>
                    <a:pt x="182880" y="80771"/>
                  </a:lnTo>
                </a:path>
                <a:path w="1918970" h="195579">
                  <a:moveTo>
                    <a:pt x="185927" y="77723"/>
                  </a:moveTo>
                  <a:lnTo>
                    <a:pt x="327660" y="77723"/>
                  </a:lnTo>
                </a:path>
                <a:path w="1918970" h="195579">
                  <a:moveTo>
                    <a:pt x="1565148" y="195071"/>
                  </a:moveTo>
                  <a:lnTo>
                    <a:pt x="1706879" y="195071"/>
                  </a:lnTo>
                </a:path>
                <a:path w="1918970" h="195579">
                  <a:moveTo>
                    <a:pt x="1706879" y="195071"/>
                  </a:moveTo>
                  <a:lnTo>
                    <a:pt x="1776983" y="0"/>
                  </a:lnTo>
                </a:path>
                <a:path w="1918970" h="195579">
                  <a:moveTo>
                    <a:pt x="1776983" y="0"/>
                  </a:moveTo>
                  <a:lnTo>
                    <a:pt x="1918716" y="0"/>
                  </a:lnTo>
                </a:path>
              </a:pathLst>
            </a:custGeom>
            <a:ln w="25400">
              <a:solidFill>
                <a:srgbClr val="0000FF"/>
              </a:solidFill>
            </a:ln>
          </p:spPr>
          <p:txBody>
            <a:bodyPr wrap="square" lIns="0" tIns="0" rIns="0" bIns="0" rtlCol="0"/>
            <a:lstStyle/>
            <a:p/>
          </p:txBody>
        </p:sp>
        <p:pic>
          <p:nvPicPr>
            <p:cNvPr id="31" name="object 16"/>
            <p:cNvPicPr/>
            <p:nvPr/>
          </p:nvPicPr>
          <p:blipFill>
            <a:blip r:embed="rId2" cstate="print"/>
            <a:stretch>
              <a:fillRect/>
            </a:stretch>
          </p:blipFill>
          <p:spPr>
            <a:xfrm>
              <a:off x="7266432" y="3779519"/>
              <a:ext cx="342900" cy="388620"/>
            </a:xfrm>
            <a:prstGeom prst="rect">
              <a:avLst/>
            </a:prstGeom>
          </p:spPr>
        </p:pic>
        <p:sp>
          <p:nvSpPr>
            <p:cNvPr id="32" name="object 17"/>
            <p:cNvSpPr/>
            <p:nvPr/>
          </p:nvSpPr>
          <p:spPr>
            <a:xfrm>
              <a:off x="7266432" y="3779519"/>
              <a:ext cx="342900" cy="388620"/>
            </a:xfrm>
            <a:custGeom>
              <a:avLst/>
              <a:gdLst/>
              <a:ahLst/>
              <a:cxnLst/>
              <a:rect l="l" t="t" r="r" b="b"/>
              <a:pathLst>
                <a:path w="342900" h="388620">
                  <a:moveTo>
                    <a:pt x="0" y="0"/>
                  </a:moveTo>
                  <a:lnTo>
                    <a:pt x="342900" y="194309"/>
                  </a:lnTo>
                  <a:lnTo>
                    <a:pt x="0" y="388619"/>
                  </a:lnTo>
                  <a:lnTo>
                    <a:pt x="0" y="0"/>
                  </a:lnTo>
                  <a:close/>
                </a:path>
              </a:pathLst>
            </a:custGeom>
            <a:ln w="9525">
              <a:solidFill>
                <a:srgbClr val="800080"/>
              </a:solidFill>
            </a:ln>
          </p:spPr>
          <p:txBody>
            <a:bodyPr wrap="square" lIns="0" tIns="0" rIns="0" bIns="0" rtlCol="0"/>
            <a:lstStyle/>
            <a:p/>
          </p:txBody>
        </p:sp>
      </p:grpSp>
      <p:sp>
        <p:nvSpPr>
          <p:cNvPr id="33" name="object 18"/>
          <p:cNvSpPr txBox="1"/>
          <p:nvPr/>
        </p:nvSpPr>
        <p:spPr>
          <a:xfrm>
            <a:off x="3258184" y="4219143"/>
            <a:ext cx="251460" cy="208915"/>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35362F"/>
                </a:solidFill>
                <a:latin typeface="Calibri" panose="020F0502020204030204"/>
                <a:cs typeface="Calibri" panose="020F0502020204030204"/>
              </a:rPr>
              <a:t>VSS</a:t>
            </a:r>
            <a:endParaRPr sz="1200">
              <a:latin typeface="Calibri" panose="020F0502020204030204"/>
              <a:cs typeface="Calibri" panose="020F0502020204030204"/>
            </a:endParaRPr>
          </a:p>
        </p:txBody>
      </p:sp>
      <p:sp>
        <p:nvSpPr>
          <p:cNvPr id="34" name="object 19"/>
          <p:cNvSpPr txBox="1"/>
          <p:nvPr/>
        </p:nvSpPr>
        <p:spPr>
          <a:xfrm>
            <a:off x="3683761" y="2923108"/>
            <a:ext cx="1678939" cy="208915"/>
          </a:xfrm>
          <a:prstGeom prst="rect">
            <a:avLst/>
          </a:prstGeom>
        </p:spPr>
        <p:txBody>
          <a:bodyPr vert="horz" wrap="square" lIns="0" tIns="12700" rIns="0" bIns="0" rtlCol="0">
            <a:spAutoFit/>
          </a:bodyPr>
          <a:lstStyle/>
          <a:p>
            <a:pPr marL="12700">
              <a:lnSpc>
                <a:spcPct val="100000"/>
              </a:lnSpc>
              <a:spcBef>
                <a:spcPts val="100"/>
              </a:spcBef>
              <a:tabLst>
                <a:tab pos="1501140" algn="l"/>
              </a:tabLst>
            </a:pPr>
            <a:r>
              <a:rPr sz="1200" spc="-25" dirty="0">
                <a:solidFill>
                  <a:srgbClr val="35362F"/>
                </a:solidFill>
                <a:latin typeface="Calibri" panose="020F0502020204030204"/>
                <a:cs typeface="Calibri" panose="020F0502020204030204"/>
              </a:rPr>
              <a:t>1V</a:t>
            </a:r>
            <a:r>
              <a:rPr sz="1200" dirty="0">
                <a:solidFill>
                  <a:srgbClr val="35362F"/>
                </a:solidFill>
                <a:latin typeface="Calibri" panose="020F0502020204030204"/>
                <a:cs typeface="Calibri" panose="020F0502020204030204"/>
              </a:rPr>
              <a:t>	</a:t>
            </a:r>
            <a:r>
              <a:rPr sz="1200" spc="-25" dirty="0">
                <a:solidFill>
                  <a:srgbClr val="35362F"/>
                </a:solidFill>
                <a:latin typeface="Calibri" panose="020F0502020204030204"/>
                <a:cs typeface="Calibri" panose="020F0502020204030204"/>
              </a:rPr>
              <a:t>2V</a:t>
            </a:r>
            <a:endParaRPr sz="1200">
              <a:latin typeface="Calibri" panose="020F0502020204030204"/>
              <a:cs typeface="Calibri" panose="020F0502020204030204"/>
            </a:endParaRPr>
          </a:p>
        </p:txBody>
      </p:sp>
      <p:sp>
        <p:nvSpPr>
          <p:cNvPr id="35" name="object 20"/>
          <p:cNvSpPr txBox="1"/>
          <p:nvPr/>
        </p:nvSpPr>
        <p:spPr>
          <a:xfrm>
            <a:off x="4445761" y="3718051"/>
            <a:ext cx="128905" cy="162560"/>
          </a:xfrm>
          <a:prstGeom prst="rect">
            <a:avLst/>
          </a:prstGeom>
        </p:spPr>
        <p:txBody>
          <a:bodyPr vert="horz" wrap="square" lIns="0" tIns="12700" rIns="0" bIns="0" rtlCol="0">
            <a:spAutoFit/>
          </a:bodyPr>
          <a:lstStyle/>
          <a:p>
            <a:pPr marL="12700">
              <a:lnSpc>
                <a:spcPct val="100000"/>
              </a:lnSpc>
              <a:spcBef>
                <a:spcPts val="100"/>
              </a:spcBef>
            </a:pPr>
            <a:r>
              <a:rPr sz="900" b="1" spc="-25" dirty="0">
                <a:solidFill>
                  <a:srgbClr val="35362F"/>
                </a:solidFill>
                <a:latin typeface="Calibri" panose="020F0502020204030204"/>
                <a:cs typeface="Calibri" panose="020F0502020204030204"/>
              </a:rPr>
              <a:t>LS</a:t>
            </a:r>
            <a:endParaRPr sz="900">
              <a:latin typeface="Calibri" panose="020F0502020204030204"/>
              <a:cs typeface="Calibri" panose="020F0502020204030204"/>
            </a:endParaRPr>
          </a:p>
        </p:txBody>
      </p:sp>
      <p:sp>
        <p:nvSpPr>
          <p:cNvPr id="36" name="object 21"/>
          <p:cNvSpPr/>
          <p:nvPr/>
        </p:nvSpPr>
        <p:spPr>
          <a:xfrm>
            <a:off x="4239894" y="3805427"/>
            <a:ext cx="687705" cy="0"/>
          </a:xfrm>
          <a:custGeom>
            <a:avLst/>
            <a:gdLst/>
            <a:ahLst/>
            <a:cxnLst/>
            <a:rect l="l" t="t" r="r" b="b"/>
            <a:pathLst>
              <a:path w="687704">
                <a:moveTo>
                  <a:pt x="0" y="0"/>
                </a:moveTo>
                <a:lnTo>
                  <a:pt x="172211" y="0"/>
                </a:lnTo>
              </a:path>
              <a:path w="687704">
                <a:moveTo>
                  <a:pt x="515111" y="0"/>
                </a:moveTo>
                <a:lnTo>
                  <a:pt x="687324" y="0"/>
                </a:lnTo>
              </a:path>
            </a:pathLst>
          </a:custGeom>
          <a:ln w="9525">
            <a:solidFill>
              <a:srgbClr val="35362F"/>
            </a:solidFill>
          </a:ln>
        </p:spPr>
        <p:txBody>
          <a:bodyPr wrap="square" lIns="0" tIns="0" rIns="0" bIns="0" rtlCol="0"/>
          <a:lstStyle/>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3" name="Text 0"/>
          <p:cNvSpPr/>
          <p:nvPr/>
        </p:nvSpPr>
        <p:spPr>
          <a:xfrm>
            <a:off x="556260" y="300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en-US" altLang="zh-CN" sz="1730" b="1" dirty="0">
              <a:latin typeface="微软雅黑" panose="020B0503020204020204" pitchFamily="34" charset="-122"/>
              <a:ea typeface="微软雅黑" panose="020B0503020204020204" pitchFamily="34" charset="-122"/>
              <a:sym typeface="+mn-ea"/>
            </a:endParaRPr>
          </a:p>
        </p:txBody>
      </p:sp>
      <p:sp>
        <p:nvSpPr>
          <p:cNvPr id="5" name="内容占位符 2"/>
          <p:cNvSpPr>
            <a:spLocks noGrp="1"/>
          </p:cNvSpPr>
          <p:nvPr/>
        </p:nvSpPr>
        <p:spPr>
          <a:xfrm>
            <a:off x="608330" y="794385"/>
            <a:ext cx="7957185" cy="377571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p>
        </p:txBody>
      </p:sp>
      <p:sp>
        <p:nvSpPr>
          <p:cNvPr id="6" name="Text 0"/>
          <p:cNvSpPr/>
          <p:nvPr/>
        </p:nvSpPr>
        <p:spPr>
          <a:xfrm>
            <a:off x="28448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保持</a:t>
            </a:r>
            <a:r>
              <a:rPr lang="zh-CN" altLang="en-US" sz="1730" b="1" dirty="0">
                <a:latin typeface="微软雅黑" panose="020B0503020204020204" pitchFamily="34" charset="-122"/>
                <a:ea typeface="微软雅黑" panose="020B0503020204020204" pitchFamily="34" charset="-122"/>
                <a:sym typeface="+mn-ea"/>
              </a:rPr>
              <a:t>单元（</a:t>
            </a:r>
            <a:r>
              <a:rPr lang="en-US" altLang="zh-CN" sz="1730" b="1" dirty="0">
                <a:latin typeface="微软雅黑" panose="020B0503020204020204" pitchFamily="34" charset="-122"/>
                <a:ea typeface="微软雅黑" panose="020B0503020204020204" pitchFamily="34" charset="-122"/>
                <a:sym typeface="+mn-ea"/>
              </a:rPr>
              <a:t>Retention Register</a:t>
            </a:r>
            <a:r>
              <a:rPr lang="zh-CN" altLang="en-US" sz="1730" b="1" dirty="0">
                <a:latin typeface="微软雅黑" panose="020B0503020204020204" pitchFamily="34" charset="-122"/>
                <a:ea typeface="微软雅黑" panose="020B0503020204020204" pitchFamily="34" charset="-122"/>
                <a:sym typeface="+mn-ea"/>
              </a:rPr>
              <a:t>）</a:t>
            </a:r>
            <a:endParaRPr lang="zh-CN" altLang="en-US" sz="1730" b="1" dirty="0">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480695" y="702310"/>
            <a:ext cx="8084820" cy="3738880"/>
          </a:xfrm>
          <a:prstGeom prst="rect">
            <a:avLst/>
          </a:prstGeom>
          <a:noFill/>
        </p:spPr>
        <p:txBody>
          <a:bodyPr wrap="square" rtlCol="0">
            <a:noAutofit/>
          </a:bodyPr>
          <a:p>
            <a:r>
              <a:rPr lang="zh-CN" altLang="en-US"/>
              <a:t>电源关断模块有可能要求</a:t>
            </a:r>
            <a:r>
              <a:rPr lang="en-US" altLang="zh-CN"/>
              <a:t>register</a:t>
            </a:r>
            <a:r>
              <a:rPr lang="zh-CN" altLang="en-US"/>
              <a:t>对关断前的数据进行锁存或者在电源打开后要求对锁存的数据进行恢复，这就需要保持</a:t>
            </a:r>
            <a:r>
              <a:rPr lang="zh-CN" altLang="en-US"/>
              <a:t>单元。它可以在掉电的时候保持住一个数值，用于对后面电路的控制。</a:t>
            </a:r>
            <a:endParaRPr lang="zh-CN" altLang="en-US"/>
          </a:p>
          <a:p>
            <a:r>
              <a:rPr lang="zh-CN" altLang="en-US"/>
              <a:t>一个保持</a:t>
            </a:r>
            <a:r>
              <a:rPr lang="zh-CN" altLang="en-US"/>
              <a:t>单元是由一个普通的</a:t>
            </a:r>
            <a:r>
              <a:rPr lang="en-US" altLang="zh-CN"/>
              <a:t>flip-flop(</a:t>
            </a:r>
            <a:r>
              <a:rPr lang="zh-CN" altLang="en-US"/>
              <a:t>或者</a:t>
            </a:r>
            <a:r>
              <a:rPr lang="en-US" altLang="zh-CN"/>
              <a:t>latch) </a:t>
            </a:r>
            <a:r>
              <a:rPr lang="zh-CN" altLang="en-US"/>
              <a:t>加上一个额外的</a:t>
            </a:r>
            <a:r>
              <a:rPr lang="en-US" altLang="zh-CN"/>
              <a:t>save-latch</a:t>
            </a:r>
            <a:r>
              <a:rPr lang="zh-CN" altLang="en-US"/>
              <a:t>组成。</a:t>
            </a:r>
            <a:r>
              <a:rPr lang="en-US" altLang="zh-CN"/>
              <a:t>save-latch</a:t>
            </a:r>
            <a:r>
              <a:rPr lang="zh-CN" altLang="en-US"/>
              <a:t>可以在关电的时候保存状态，在重新上电的时候恢复普通</a:t>
            </a:r>
            <a:r>
              <a:rPr lang="en-US" altLang="zh-CN"/>
              <a:t>flip-flop</a:t>
            </a:r>
            <a:r>
              <a:rPr lang="zh-CN" altLang="en-US"/>
              <a:t>的状态。</a:t>
            </a:r>
            <a:endParaRPr lang="zh-CN" altLang="en-US"/>
          </a:p>
        </p:txBody>
      </p:sp>
      <p:pic>
        <p:nvPicPr>
          <p:cNvPr id="8" name="图片 7"/>
          <p:cNvPicPr>
            <a:picLocks noChangeAspect="1"/>
          </p:cNvPicPr>
          <p:nvPr/>
        </p:nvPicPr>
        <p:blipFill>
          <a:blip r:embed="rId2"/>
          <a:stretch>
            <a:fillRect/>
          </a:stretch>
        </p:blipFill>
        <p:spPr>
          <a:xfrm>
            <a:off x="2732405" y="2404110"/>
            <a:ext cx="3581400" cy="18288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5" name="内容占位符 2"/>
          <p:cNvSpPr>
            <a:spLocks noGrp="1"/>
          </p:cNvSpPr>
          <p:nvPr/>
        </p:nvSpPr>
        <p:spPr>
          <a:xfrm>
            <a:off x="608330" y="794385"/>
            <a:ext cx="7957185" cy="377571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p>
        </p:txBody>
      </p:sp>
      <p:sp>
        <p:nvSpPr>
          <p:cNvPr id="6" name="Text 0"/>
          <p:cNvSpPr/>
          <p:nvPr/>
        </p:nvSpPr>
        <p:spPr>
          <a:xfrm>
            <a:off x="28448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电源</a:t>
            </a:r>
            <a:r>
              <a:rPr lang="zh-CN" altLang="en-US" sz="1730" b="1" dirty="0">
                <a:latin typeface="微软雅黑" panose="020B0503020204020204" pitchFamily="34" charset="-122"/>
                <a:ea typeface="微软雅黑" panose="020B0503020204020204" pitchFamily="34" charset="-122"/>
                <a:sym typeface="+mn-ea"/>
              </a:rPr>
              <a:t>开关（</a:t>
            </a:r>
            <a:r>
              <a:rPr lang="en-US" altLang="zh-CN" sz="1730" b="1" dirty="0">
                <a:latin typeface="微软雅黑" panose="020B0503020204020204" pitchFamily="34" charset="-122"/>
                <a:ea typeface="微软雅黑" panose="020B0503020204020204" pitchFamily="34" charset="-122"/>
                <a:sym typeface="+mn-ea"/>
              </a:rPr>
              <a:t>Power Switch</a:t>
            </a:r>
            <a:r>
              <a:rPr lang="zh-CN" altLang="en-US" sz="1730" b="1" dirty="0">
                <a:latin typeface="微软雅黑" panose="020B0503020204020204" pitchFamily="34" charset="-122"/>
                <a:ea typeface="微软雅黑" panose="020B0503020204020204" pitchFamily="34" charset="-122"/>
                <a:sym typeface="+mn-ea"/>
              </a:rPr>
              <a:t>）</a:t>
            </a:r>
            <a:endParaRPr lang="zh-CN" altLang="en-US" sz="1730" b="1" dirty="0">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429260" y="746760"/>
            <a:ext cx="8152765" cy="3833495"/>
          </a:xfrm>
          <a:prstGeom prst="rect">
            <a:avLst/>
          </a:prstGeom>
          <a:noFill/>
        </p:spPr>
        <p:txBody>
          <a:bodyPr wrap="square" rtlCol="0">
            <a:noAutofit/>
          </a:bodyPr>
          <a:p>
            <a:r>
              <a:rPr lang="zh-CN" altLang="en-US"/>
              <a:t>电源</a:t>
            </a:r>
            <a:r>
              <a:rPr lang="zh-CN" altLang="en-US"/>
              <a:t>开关单元提供了关闭逻辑域的电源的能力。一个开关有一个输入供应网，一个输出供应网，以及至少一个用于控制开关的输入信号</a:t>
            </a:r>
            <a:r>
              <a:rPr lang="en-US" altLang="zh-CN"/>
              <a:t>,</a:t>
            </a:r>
            <a:r>
              <a:rPr lang="zh-CN" altLang="en-US"/>
              <a:t>可以通过多个信号控制，也可以输出多个信号。</a:t>
            </a:r>
            <a:endParaRPr lang="zh-CN" altLang="en-US"/>
          </a:p>
        </p:txBody>
      </p:sp>
      <p:pic>
        <p:nvPicPr>
          <p:cNvPr id="8" name="图片 7"/>
          <p:cNvPicPr>
            <a:picLocks noChangeAspect="1"/>
          </p:cNvPicPr>
          <p:nvPr/>
        </p:nvPicPr>
        <p:blipFill>
          <a:blip r:embed="rId2"/>
          <a:stretch>
            <a:fillRect/>
          </a:stretch>
        </p:blipFill>
        <p:spPr>
          <a:xfrm>
            <a:off x="937260" y="1925955"/>
            <a:ext cx="2971800" cy="2190750"/>
          </a:xfrm>
          <a:prstGeom prst="rect">
            <a:avLst/>
          </a:prstGeom>
        </p:spPr>
      </p:pic>
      <p:pic>
        <p:nvPicPr>
          <p:cNvPr id="9" name="图片 8"/>
          <p:cNvPicPr>
            <a:picLocks noChangeAspect="1"/>
          </p:cNvPicPr>
          <p:nvPr/>
        </p:nvPicPr>
        <p:blipFill>
          <a:blip r:embed="rId3"/>
          <a:stretch>
            <a:fillRect/>
          </a:stretch>
        </p:blipFill>
        <p:spPr>
          <a:xfrm>
            <a:off x="5075555" y="2571750"/>
            <a:ext cx="2619375" cy="89535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3" name="Text 0"/>
          <p:cNvSpPr/>
          <p:nvPr/>
        </p:nvSpPr>
        <p:spPr>
          <a:xfrm>
            <a:off x="556260" y="300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en-US" altLang="zh-CN" sz="1730" b="1" dirty="0">
              <a:latin typeface="微软雅黑" panose="020B0503020204020204" pitchFamily="34" charset="-122"/>
              <a:ea typeface="微软雅黑" panose="020B0503020204020204" pitchFamily="34" charset="-122"/>
              <a:sym typeface="+mn-ea"/>
            </a:endParaRPr>
          </a:p>
        </p:txBody>
      </p:sp>
      <p:sp>
        <p:nvSpPr>
          <p:cNvPr id="5" name="内容占位符 2"/>
          <p:cNvSpPr>
            <a:spLocks noGrp="1"/>
          </p:cNvSpPr>
          <p:nvPr/>
        </p:nvSpPr>
        <p:spPr>
          <a:xfrm>
            <a:off x="608330" y="794385"/>
            <a:ext cx="7957185" cy="377571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p>
        </p:txBody>
      </p:sp>
      <p:sp>
        <p:nvSpPr>
          <p:cNvPr id="6" name="Text 0"/>
          <p:cNvSpPr/>
          <p:nvPr/>
        </p:nvSpPr>
        <p:spPr>
          <a:xfrm>
            <a:off x="28448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常开逻辑（</a:t>
            </a:r>
            <a:r>
              <a:rPr lang="en-US" altLang="zh-CN" sz="1730" b="1" dirty="0">
                <a:latin typeface="微软雅黑" panose="020B0503020204020204" pitchFamily="34" charset="-122"/>
                <a:ea typeface="微软雅黑" panose="020B0503020204020204" pitchFamily="34" charset="-122"/>
                <a:sym typeface="+mn-ea"/>
              </a:rPr>
              <a:t>Always_On Logic</a:t>
            </a:r>
            <a:r>
              <a:rPr lang="zh-CN" altLang="en-US" sz="1730" b="1" dirty="0">
                <a:latin typeface="微软雅黑" panose="020B0503020204020204" pitchFamily="34" charset="-122"/>
                <a:ea typeface="微软雅黑" panose="020B0503020204020204" pitchFamily="34" charset="-122"/>
                <a:sym typeface="+mn-ea"/>
              </a:rPr>
              <a:t>）</a:t>
            </a:r>
            <a:endParaRPr lang="zh-CN" altLang="en-US" sz="1730" b="1" dirty="0">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556260" y="794385"/>
            <a:ext cx="7993380" cy="3794760"/>
          </a:xfrm>
          <a:prstGeom prst="rect">
            <a:avLst/>
          </a:prstGeom>
          <a:noFill/>
        </p:spPr>
        <p:txBody>
          <a:bodyPr wrap="square" rtlCol="0">
            <a:noAutofit/>
          </a:bodyPr>
          <a:p>
            <a:r>
              <a:rPr lang="zh-CN" altLang="en-US"/>
              <a:t>在电源关断模块还有可能需要有些信号线或逻辑长期工作，比如</a:t>
            </a:r>
            <a:r>
              <a:rPr lang="en-US" altLang="zh-CN"/>
              <a:t>Retention Register</a:t>
            </a:r>
            <a:r>
              <a:rPr lang="zh-CN" altLang="en-US"/>
              <a:t>的</a:t>
            </a:r>
            <a:r>
              <a:rPr lang="en-US" altLang="zh-CN"/>
              <a:t>save/restore</a:t>
            </a:r>
            <a:r>
              <a:rPr lang="zh-CN" altLang="en-US"/>
              <a:t>控制信号，</a:t>
            </a:r>
            <a:r>
              <a:rPr lang="en-US" altLang="zh-CN"/>
              <a:t>Isolation Cell</a:t>
            </a:r>
            <a:r>
              <a:rPr lang="zh-CN" altLang="en-US"/>
              <a:t>和</a:t>
            </a:r>
            <a:r>
              <a:rPr lang="en-US" altLang="zh-CN"/>
              <a:t>power switch</a:t>
            </a:r>
            <a:r>
              <a:rPr lang="zh-CN" altLang="en-US"/>
              <a:t>的控制信号</a:t>
            </a:r>
            <a:r>
              <a:rPr lang="zh-CN" altLang="en-US"/>
              <a:t>以及穿越路径。为了实现这种功能，这就需要另外的特殊单元叫</a:t>
            </a:r>
            <a:r>
              <a:rPr lang="en-US" altLang="zh-CN"/>
              <a:t>Always-On BUF</a:t>
            </a:r>
            <a:r>
              <a:rPr lang="zh-CN" altLang="en-US"/>
              <a:t>。</a:t>
            </a:r>
            <a:endParaRPr lang="zh-CN" altLang="en-US"/>
          </a:p>
        </p:txBody>
      </p:sp>
      <p:grpSp>
        <p:nvGrpSpPr>
          <p:cNvPr id="8" name="object 3"/>
          <p:cNvGrpSpPr/>
          <p:nvPr/>
        </p:nvGrpSpPr>
        <p:grpSpPr>
          <a:xfrm>
            <a:off x="883729" y="2221094"/>
            <a:ext cx="2901950" cy="1616075"/>
            <a:chOff x="6042469" y="973319"/>
            <a:chExt cx="2901950" cy="1616075"/>
          </a:xfrm>
        </p:grpSpPr>
        <p:sp>
          <p:nvSpPr>
            <p:cNvPr id="9" name="object 4"/>
            <p:cNvSpPr/>
            <p:nvPr/>
          </p:nvSpPr>
          <p:spPr>
            <a:xfrm>
              <a:off x="6444929" y="973319"/>
              <a:ext cx="2499360" cy="1616075"/>
            </a:xfrm>
            <a:custGeom>
              <a:avLst/>
              <a:gdLst/>
              <a:ahLst/>
              <a:cxnLst/>
              <a:rect l="l" t="t" r="r" b="b"/>
              <a:pathLst>
                <a:path w="2499359" h="1616075">
                  <a:moveTo>
                    <a:pt x="1940453" y="0"/>
                  </a:moveTo>
                  <a:lnTo>
                    <a:pt x="1892769" y="3446"/>
                  </a:lnTo>
                  <a:lnTo>
                    <a:pt x="1846312" y="13964"/>
                  </a:lnTo>
                  <a:lnTo>
                    <a:pt x="1802200" y="31472"/>
                  </a:lnTo>
                  <a:lnTo>
                    <a:pt x="1761553" y="55888"/>
                  </a:lnTo>
                  <a:lnTo>
                    <a:pt x="1725488" y="87130"/>
                  </a:lnTo>
                  <a:lnTo>
                    <a:pt x="1706735" y="67896"/>
                  </a:lnTo>
                  <a:lnTo>
                    <a:pt x="1662516" y="35713"/>
                  </a:lnTo>
                  <a:lnTo>
                    <a:pt x="1589722" y="7143"/>
                  </a:lnTo>
                  <a:lnTo>
                    <a:pt x="1540804" y="88"/>
                  </a:lnTo>
                  <a:lnTo>
                    <a:pt x="1492086" y="1557"/>
                  </a:lnTo>
                  <a:lnTo>
                    <a:pt x="1444929" y="11153"/>
                  </a:lnTo>
                  <a:lnTo>
                    <a:pt x="1400695" y="28475"/>
                  </a:lnTo>
                  <a:lnTo>
                    <a:pt x="1360746" y="53126"/>
                  </a:lnTo>
                  <a:lnTo>
                    <a:pt x="1326443" y="84706"/>
                  </a:lnTo>
                  <a:lnTo>
                    <a:pt x="1299149" y="122817"/>
                  </a:lnTo>
                  <a:lnTo>
                    <a:pt x="1282726" y="109538"/>
                  </a:lnTo>
                  <a:lnTo>
                    <a:pt x="1246928" y="86313"/>
                  </a:lnTo>
                  <a:lnTo>
                    <a:pt x="1181594" y="58905"/>
                  </a:lnTo>
                  <a:lnTo>
                    <a:pt x="1134227" y="48370"/>
                  </a:lnTo>
                  <a:lnTo>
                    <a:pt x="1086402" y="44624"/>
                  </a:lnTo>
                  <a:lnTo>
                    <a:pt x="1038977" y="47435"/>
                  </a:lnTo>
                  <a:lnTo>
                    <a:pt x="992809" y="56571"/>
                  </a:lnTo>
                  <a:lnTo>
                    <a:pt x="948756" y="71799"/>
                  </a:lnTo>
                  <a:lnTo>
                    <a:pt x="907674" y="92887"/>
                  </a:lnTo>
                  <a:lnTo>
                    <a:pt x="870422" y="119602"/>
                  </a:lnTo>
                  <a:lnTo>
                    <a:pt x="837856" y="151712"/>
                  </a:lnTo>
                  <a:lnTo>
                    <a:pt x="810834" y="188984"/>
                  </a:lnTo>
                  <a:lnTo>
                    <a:pt x="764237" y="168491"/>
                  </a:lnTo>
                  <a:lnTo>
                    <a:pt x="715275" y="153721"/>
                  </a:lnTo>
                  <a:lnTo>
                    <a:pt x="664630" y="144791"/>
                  </a:lnTo>
                  <a:lnTo>
                    <a:pt x="612986" y="141818"/>
                  </a:lnTo>
                  <a:lnTo>
                    <a:pt x="561025" y="144915"/>
                  </a:lnTo>
                  <a:lnTo>
                    <a:pt x="509024" y="154324"/>
                  </a:lnTo>
                  <a:lnTo>
                    <a:pt x="460091" y="169416"/>
                  </a:lnTo>
                  <a:lnTo>
                    <a:pt x="414625" y="189732"/>
                  </a:lnTo>
                  <a:lnTo>
                    <a:pt x="373022" y="214812"/>
                  </a:lnTo>
                  <a:lnTo>
                    <a:pt x="335679" y="244196"/>
                  </a:lnTo>
                  <a:lnTo>
                    <a:pt x="302992" y="277424"/>
                  </a:lnTo>
                  <a:lnTo>
                    <a:pt x="275359" y="314036"/>
                  </a:lnTo>
                  <a:lnTo>
                    <a:pt x="253177" y="353572"/>
                  </a:lnTo>
                  <a:lnTo>
                    <a:pt x="236841" y="395572"/>
                  </a:lnTo>
                  <a:lnTo>
                    <a:pt x="226750" y="439576"/>
                  </a:lnTo>
                  <a:lnTo>
                    <a:pt x="223300" y="485124"/>
                  </a:lnTo>
                  <a:lnTo>
                    <a:pt x="226888" y="531757"/>
                  </a:lnTo>
                  <a:lnTo>
                    <a:pt x="224856" y="536837"/>
                  </a:lnTo>
                  <a:lnTo>
                    <a:pt x="178304" y="545059"/>
                  </a:lnTo>
                  <a:lnTo>
                    <a:pt x="134897" y="560638"/>
                  </a:lnTo>
                  <a:lnTo>
                    <a:pt x="95678" y="582978"/>
                  </a:lnTo>
                  <a:lnTo>
                    <a:pt x="61690" y="611481"/>
                  </a:lnTo>
                  <a:lnTo>
                    <a:pt x="33975" y="645549"/>
                  </a:lnTo>
                  <a:lnTo>
                    <a:pt x="12793" y="686524"/>
                  </a:lnTo>
                  <a:lnTo>
                    <a:pt x="1588" y="729100"/>
                  </a:lnTo>
                  <a:lnTo>
                    <a:pt x="0" y="772056"/>
                  </a:lnTo>
                  <a:lnTo>
                    <a:pt x="7670" y="814174"/>
                  </a:lnTo>
                  <a:lnTo>
                    <a:pt x="24240" y="854231"/>
                  </a:lnTo>
                  <a:lnTo>
                    <a:pt x="49352" y="891009"/>
                  </a:lnTo>
                  <a:lnTo>
                    <a:pt x="82646" y="923285"/>
                  </a:lnTo>
                  <a:lnTo>
                    <a:pt x="123764" y="949841"/>
                  </a:lnTo>
                  <a:lnTo>
                    <a:pt x="90813" y="988432"/>
                  </a:lnTo>
                  <a:lnTo>
                    <a:pt x="68376" y="1031868"/>
                  </a:lnTo>
                  <a:lnTo>
                    <a:pt x="57059" y="1078518"/>
                  </a:lnTo>
                  <a:lnTo>
                    <a:pt x="57470" y="1126752"/>
                  </a:lnTo>
                  <a:lnTo>
                    <a:pt x="68444" y="1170533"/>
                  </a:lnTo>
                  <a:lnTo>
                    <a:pt x="88519" y="1210295"/>
                  </a:lnTo>
                  <a:lnTo>
                    <a:pt x="116569" y="1245258"/>
                  </a:lnTo>
                  <a:lnTo>
                    <a:pt x="151466" y="1274644"/>
                  </a:lnTo>
                  <a:lnTo>
                    <a:pt x="192084" y="1297672"/>
                  </a:lnTo>
                  <a:lnTo>
                    <a:pt x="237296" y="1313561"/>
                  </a:lnTo>
                  <a:lnTo>
                    <a:pt x="285976" y="1321534"/>
                  </a:lnTo>
                  <a:lnTo>
                    <a:pt x="336997" y="1320808"/>
                  </a:lnTo>
                  <a:lnTo>
                    <a:pt x="341696" y="1327920"/>
                  </a:lnTo>
                  <a:lnTo>
                    <a:pt x="368994" y="1363536"/>
                  </a:lnTo>
                  <a:lnTo>
                    <a:pt x="399842" y="1395703"/>
                  </a:lnTo>
                  <a:lnTo>
                    <a:pt x="433864" y="1424340"/>
                  </a:lnTo>
                  <a:lnTo>
                    <a:pt x="470689" y="1449363"/>
                  </a:lnTo>
                  <a:lnTo>
                    <a:pt x="509943" y="1470692"/>
                  </a:lnTo>
                  <a:lnTo>
                    <a:pt x="551252" y="1488243"/>
                  </a:lnTo>
                  <a:lnTo>
                    <a:pt x="594244" y="1501935"/>
                  </a:lnTo>
                  <a:lnTo>
                    <a:pt x="638545" y="1511685"/>
                  </a:lnTo>
                  <a:lnTo>
                    <a:pt x="683782" y="1517411"/>
                  </a:lnTo>
                  <a:lnTo>
                    <a:pt x="729582" y="1519032"/>
                  </a:lnTo>
                  <a:lnTo>
                    <a:pt x="775572" y="1516464"/>
                  </a:lnTo>
                  <a:lnTo>
                    <a:pt x="821378" y="1509626"/>
                  </a:lnTo>
                  <a:lnTo>
                    <a:pt x="866627" y="1498435"/>
                  </a:lnTo>
                  <a:lnTo>
                    <a:pt x="910947" y="1482810"/>
                  </a:lnTo>
                  <a:lnTo>
                    <a:pt x="953963" y="1462667"/>
                  </a:lnTo>
                  <a:lnTo>
                    <a:pt x="986900" y="1500289"/>
                  </a:lnTo>
                  <a:lnTo>
                    <a:pt x="1025105" y="1533332"/>
                  </a:lnTo>
                  <a:lnTo>
                    <a:pt x="1067961" y="1561395"/>
                  </a:lnTo>
                  <a:lnTo>
                    <a:pt x="1114852" y="1584075"/>
                  </a:lnTo>
                  <a:lnTo>
                    <a:pt x="1165164" y="1600970"/>
                  </a:lnTo>
                  <a:lnTo>
                    <a:pt x="1212889" y="1610921"/>
                  </a:lnTo>
                  <a:lnTo>
                    <a:pt x="1260568" y="1615478"/>
                  </a:lnTo>
                  <a:lnTo>
                    <a:pt x="1307746" y="1614854"/>
                  </a:lnTo>
                  <a:lnTo>
                    <a:pt x="1353968" y="1609266"/>
                  </a:lnTo>
                  <a:lnTo>
                    <a:pt x="1398776" y="1598928"/>
                  </a:lnTo>
                  <a:lnTo>
                    <a:pt x="1441717" y="1584054"/>
                  </a:lnTo>
                  <a:lnTo>
                    <a:pt x="1482333" y="1564859"/>
                  </a:lnTo>
                  <a:lnTo>
                    <a:pt x="1520169" y="1541558"/>
                  </a:lnTo>
                  <a:lnTo>
                    <a:pt x="1554770" y="1514365"/>
                  </a:lnTo>
                  <a:lnTo>
                    <a:pt x="1585679" y="1483496"/>
                  </a:lnTo>
                  <a:lnTo>
                    <a:pt x="1612441" y="1449164"/>
                  </a:lnTo>
                  <a:lnTo>
                    <a:pt x="1634600" y="1411585"/>
                  </a:lnTo>
                  <a:lnTo>
                    <a:pt x="1651701" y="1370973"/>
                  </a:lnTo>
                  <a:lnTo>
                    <a:pt x="1692341" y="1390049"/>
                  </a:lnTo>
                  <a:lnTo>
                    <a:pt x="1735362" y="1403946"/>
                  </a:lnTo>
                  <a:lnTo>
                    <a:pt x="1780145" y="1412532"/>
                  </a:lnTo>
                  <a:lnTo>
                    <a:pt x="1826072" y="1415677"/>
                  </a:lnTo>
                  <a:lnTo>
                    <a:pt x="1875477" y="1412827"/>
                  </a:lnTo>
                  <a:lnTo>
                    <a:pt x="1922692" y="1403886"/>
                  </a:lnTo>
                  <a:lnTo>
                    <a:pt x="1967195" y="1389305"/>
                  </a:lnTo>
                  <a:lnTo>
                    <a:pt x="2008464" y="1369536"/>
                  </a:lnTo>
                  <a:lnTo>
                    <a:pt x="2045979" y="1345031"/>
                  </a:lnTo>
                  <a:lnTo>
                    <a:pt x="2079217" y="1316241"/>
                  </a:lnTo>
                  <a:lnTo>
                    <a:pt x="2107656" y="1283618"/>
                  </a:lnTo>
                  <a:lnTo>
                    <a:pt x="2130776" y="1247614"/>
                  </a:lnTo>
                  <a:lnTo>
                    <a:pt x="2148055" y="1208680"/>
                  </a:lnTo>
                  <a:lnTo>
                    <a:pt x="2158971" y="1167269"/>
                  </a:lnTo>
                  <a:lnTo>
                    <a:pt x="2163003" y="1123831"/>
                  </a:lnTo>
                  <a:lnTo>
                    <a:pt x="2212225" y="1114771"/>
                  </a:lnTo>
                  <a:lnTo>
                    <a:pt x="2259507" y="1100305"/>
                  </a:lnTo>
                  <a:lnTo>
                    <a:pt x="2304288" y="1080647"/>
                  </a:lnTo>
                  <a:lnTo>
                    <a:pt x="2346010" y="1056013"/>
                  </a:lnTo>
                  <a:lnTo>
                    <a:pt x="2385985" y="1025000"/>
                  </a:lnTo>
                  <a:lnTo>
                    <a:pt x="2420065" y="990381"/>
                  </a:lnTo>
                  <a:lnTo>
                    <a:pt x="2448165" y="952733"/>
                  </a:lnTo>
                  <a:lnTo>
                    <a:pt x="2470202" y="912630"/>
                  </a:lnTo>
                  <a:lnTo>
                    <a:pt x="2486089" y="870650"/>
                  </a:lnTo>
                  <a:lnTo>
                    <a:pt x="2495743" y="827366"/>
                  </a:lnTo>
                  <a:lnTo>
                    <a:pt x="2499078" y="783354"/>
                  </a:lnTo>
                  <a:lnTo>
                    <a:pt x="2496011" y="739191"/>
                  </a:lnTo>
                  <a:lnTo>
                    <a:pt x="2486456" y="695450"/>
                  </a:lnTo>
                  <a:lnTo>
                    <a:pt x="2470329" y="652709"/>
                  </a:lnTo>
                  <a:lnTo>
                    <a:pt x="2447544" y="611542"/>
                  </a:lnTo>
                  <a:lnTo>
                    <a:pt x="2418019" y="572524"/>
                  </a:lnTo>
                  <a:lnTo>
                    <a:pt x="2422114" y="563787"/>
                  </a:lnTo>
                  <a:lnTo>
                    <a:pt x="2441387" y="493343"/>
                  </a:lnTo>
                  <a:lnTo>
                    <a:pt x="2442602" y="450261"/>
                  </a:lnTo>
                  <a:lnTo>
                    <a:pt x="2436205" y="408280"/>
                  </a:lnTo>
                  <a:lnTo>
                    <a:pt x="2422645" y="368086"/>
                  </a:lnTo>
                  <a:lnTo>
                    <a:pt x="2402366" y="330367"/>
                  </a:lnTo>
                  <a:lnTo>
                    <a:pt x="2375816" y="295811"/>
                  </a:lnTo>
                  <a:lnTo>
                    <a:pt x="2343442" y="265104"/>
                  </a:lnTo>
                  <a:lnTo>
                    <a:pt x="2305689" y="238934"/>
                  </a:lnTo>
                  <a:lnTo>
                    <a:pt x="2263004" y="217988"/>
                  </a:lnTo>
                  <a:lnTo>
                    <a:pt x="2215835" y="202954"/>
                  </a:lnTo>
                  <a:lnTo>
                    <a:pt x="2203139" y="161800"/>
                  </a:lnTo>
                  <a:lnTo>
                    <a:pt x="2182751" y="123468"/>
                  </a:lnTo>
                  <a:lnTo>
                    <a:pt x="2155220" y="88779"/>
                  </a:lnTo>
                  <a:lnTo>
                    <a:pt x="2121093" y="58555"/>
                  </a:lnTo>
                  <a:lnTo>
                    <a:pt x="2079684" y="32902"/>
                  </a:lnTo>
                  <a:lnTo>
                    <a:pt x="2035029" y="14646"/>
                  </a:lnTo>
                  <a:lnTo>
                    <a:pt x="1988246" y="3705"/>
                  </a:lnTo>
                  <a:lnTo>
                    <a:pt x="1940453" y="0"/>
                  </a:lnTo>
                  <a:close/>
                </a:path>
              </a:pathLst>
            </a:custGeom>
            <a:solidFill>
              <a:srgbClr val="CC99FF"/>
            </a:solidFill>
          </p:spPr>
          <p:txBody>
            <a:bodyPr wrap="square" lIns="0" tIns="0" rIns="0" bIns="0" rtlCol="0"/>
            <a:lstStyle/>
            <a:p/>
          </p:txBody>
        </p:sp>
        <p:pic>
          <p:nvPicPr>
            <p:cNvPr id="10" name="object 5"/>
            <p:cNvPicPr/>
            <p:nvPr/>
          </p:nvPicPr>
          <p:blipFill>
            <a:blip r:embed="rId2" cstate="print"/>
            <a:stretch>
              <a:fillRect/>
            </a:stretch>
          </p:blipFill>
          <p:spPr>
            <a:xfrm>
              <a:off x="7841488" y="2051050"/>
              <a:ext cx="205612" cy="253237"/>
            </a:xfrm>
            <a:prstGeom prst="rect">
              <a:avLst/>
            </a:prstGeom>
          </p:spPr>
        </p:pic>
        <p:sp>
          <p:nvSpPr>
            <p:cNvPr id="11" name="object 6"/>
            <p:cNvSpPr/>
            <p:nvPr/>
          </p:nvSpPr>
          <p:spPr>
            <a:xfrm>
              <a:off x="7939786" y="2275458"/>
              <a:ext cx="269240" cy="269240"/>
            </a:xfrm>
            <a:custGeom>
              <a:avLst/>
              <a:gdLst/>
              <a:ahLst/>
              <a:cxnLst/>
              <a:rect l="l" t="t" r="r" b="b"/>
              <a:pathLst>
                <a:path w="269240" h="269239">
                  <a:moveTo>
                    <a:pt x="134620" y="0"/>
                  </a:moveTo>
                  <a:lnTo>
                    <a:pt x="92041" y="6868"/>
                  </a:lnTo>
                  <a:lnTo>
                    <a:pt x="55083" y="25989"/>
                  </a:lnTo>
                  <a:lnTo>
                    <a:pt x="25952" y="55138"/>
                  </a:lnTo>
                  <a:lnTo>
                    <a:pt x="6855" y="92090"/>
                  </a:lnTo>
                  <a:lnTo>
                    <a:pt x="0" y="134620"/>
                  </a:lnTo>
                  <a:lnTo>
                    <a:pt x="6855" y="177198"/>
                  </a:lnTo>
                  <a:lnTo>
                    <a:pt x="25952" y="214156"/>
                  </a:lnTo>
                  <a:lnTo>
                    <a:pt x="55083" y="243287"/>
                  </a:lnTo>
                  <a:lnTo>
                    <a:pt x="92041" y="262384"/>
                  </a:lnTo>
                  <a:lnTo>
                    <a:pt x="134620" y="269240"/>
                  </a:lnTo>
                  <a:lnTo>
                    <a:pt x="177149" y="262384"/>
                  </a:lnTo>
                  <a:lnTo>
                    <a:pt x="214101" y="243287"/>
                  </a:lnTo>
                  <a:lnTo>
                    <a:pt x="243250" y="214156"/>
                  </a:lnTo>
                  <a:lnTo>
                    <a:pt x="262371" y="177198"/>
                  </a:lnTo>
                  <a:lnTo>
                    <a:pt x="269240" y="134620"/>
                  </a:lnTo>
                  <a:lnTo>
                    <a:pt x="262371" y="92090"/>
                  </a:lnTo>
                  <a:lnTo>
                    <a:pt x="243250" y="55138"/>
                  </a:lnTo>
                  <a:lnTo>
                    <a:pt x="214101" y="25989"/>
                  </a:lnTo>
                  <a:lnTo>
                    <a:pt x="177149" y="6868"/>
                  </a:lnTo>
                  <a:lnTo>
                    <a:pt x="134620" y="0"/>
                  </a:lnTo>
                  <a:close/>
                </a:path>
              </a:pathLst>
            </a:custGeom>
            <a:solidFill>
              <a:srgbClr val="CC99FF"/>
            </a:solidFill>
          </p:spPr>
          <p:txBody>
            <a:bodyPr wrap="square" lIns="0" tIns="0" rIns="0" bIns="0" rtlCol="0"/>
            <a:lstStyle/>
            <a:p/>
          </p:txBody>
        </p:sp>
        <p:sp>
          <p:nvSpPr>
            <p:cNvPr id="12" name="object 7"/>
            <p:cNvSpPr/>
            <p:nvPr/>
          </p:nvSpPr>
          <p:spPr>
            <a:xfrm>
              <a:off x="6047232" y="1775459"/>
              <a:ext cx="355600" cy="0"/>
            </a:xfrm>
            <a:custGeom>
              <a:avLst/>
              <a:gdLst/>
              <a:ahLst/>
              <a:cxnLst/>
              <a:rect l="l" t="t" r="r" b="b"/>
              <a:pathLst>
                <a:path w="355600">
                  <a:moveTo>
                    <a:pt x="0" y="0"/>
                  </a:moveTo>
                  <a:lnTo>
                    <a:pt x="355091" y="0"/>
                  </a:lnTo>
                </a:path>
              </a:pathLst>
            </a:custGeom>
            <a:ln w="9525">
              <a:solidFill>
                <a:srgbClr val="35362F"/>
              </a:solidFill>
            </a:ln>
          </p:spPr>
          <p:txBody>
            <a:bodyPr wrap="square" lIns="0" tIns="0" rIns="0" bIns="0" rtlCol="0"/>
            <a:lstStyle/>
            <a:p/>
          </p:txBody>
        </p:sp>
        <p:pic>
          <p:nvPicPr>
            <p:cNvPr id="13" name="object 8"/>
            <p:cNvPicPr/>
            <p:nvPr/>
          </p:nvPicPr>
          <p:blipFill>
            <a:blip r:embed="rId3" cstate="print"/>
            <a:stretch>
              <a:fillRect/>
            </a:stretch>
          </p:blipFill>
          <p:spPr>
            <a:xfrm>
              <a:off x="6402324" y="1734311"/>
              <a:ext cx="89915" cy="91439"/>
            </a:xfrm>
            <a:prstGeom prst="rect">
              <a:avLst/>
            </a:prstGeom>
          </p:spPr>
        </p:pic>
        <p:pic>
          <p:nvPicPr>
            <p:cNvPr id="14" name="object 9"/>
            <p:cNvPicPr/>
            <p:nvPr/>
          </p:nvPicPr>
          <p:blipFill>
            <a:blip r:embed="rId4" cstate="print"/>
            <a:stretch>
              <a:fillRect/>
            </a:stretch>
          </p:blipFill>
          <p:spPr>
            <a:xfrm>
              <a:off x="8197596" y="1171943"/>
              <a:ext cx="325386" cy="416826"/>
            </a:xfrm>
            <a:prstGeom prst="rect">
              <a:avLst/>
            </a:prstGeom>
          </p:spPr>
        </p:pic>
        <p:pic>
          <p:nvPicPr>
            <p:cNvPr id="15" name="object 10"/>
            <p:cNvPicPr/>
            <p:nvPr/>
          </p:nvPicPr>
          <p:blipFill>
            <a:blip r:embed="rId5" cstate="print"/>
            <a:stretch>
              <a:fillRect/>
            </a:stretch>
          </p:blipFill>
          <p:spPr>
            <a:xfrm>
              <a:off x="8157972" y="1223771"/>
              <a:ext cx="403110" cy="363474"/>
            </a:xfrm>
            <a:prstGeom prst="rect">
              <a:avLst/>
            </a:prstGeom>
          </p:spPr>
        </p:pic>
      </p:grpSp>
      <p:sp>
        <p:nvSpPr>
          <p:cNvPr id="16" name="object 11"/>
          <p:cNvSpPr/>
          <p:nvPr/>
        </p:nvSpPr>
        <p:spPr>
          <a:xfrm>
            <a:off x="1243583" y="2982086"/>
            <a:ext cx="90170" cy="91440"/>
          </a:xfrm>
          <a:custGeom>
            <a:avLst/>
            <a:gdLst/>
            <a:ahLst/>
            <a:cxnLst/>
            <a:rect l="l" t="t" r="r" b="b"/>
            <a:pathLst>
              <a:path w="90170" h="91439">
                <a:moveTo>
                  <a:pt x="0" y="91439"/>
                </a:moveTo>
                <a:lnTo>
                  <a:pt x="89915" y="91439"/>
                </a:lnTo>
                <a:lnTo>
                  <a:pt x="89915" y="0"/>
                </a:lnTo>
                <a:lnTo>
                  <a:pt x="0" y="0"/>
                </a:lnTo>
                <a:lnTo>
                  <a:pt x="0" y="91439"/>
                </a:lnTo>
                <a:close/>
              </a:path>
            </a:pathLst>
          </a:custGeom>
          <a:ln w="9525">
            <a:solidFill>
              <a:srgbClr val="35362F"/>
            </a:solidFill>
          </a:ln>
        </p:spPr>
        <p:txBody>
          <a:bodyPr wrap="square" lIns="0" tIns="0" rIns="0" bIns="0" rtlCol="0"/>
          <a:lstStyle/>
          <a:p/>
        </p:txBody>
      </p:sp>
      <p:sp>
        <p:nvSpPr>
          <p:cNvPr id="17" name="object 12"/>
          <p:cNvSpPr txBox="1"/>
          <p:nvPr/>
        </p:nvSpPr>
        <p:spPr>
          <a:xfrm>
            <a:off x="2968752" y="2361819"/>
            <a:ext cx="316230" cy="407034"/>
          </a:xfrm>
          <a:prstGeom prst="rect">
            <a:avLst/>
          </a:prstGeom>
          <a:solidFill>
            <a:srgbClr val="FFC904"/>
          </a:solidFill>
          <a:ln w="9525">
            <a:solidFill>
              <a:srgbClr val="35362F"/>
            </a:solidFill>
          </a:ln>
        </p:spPr>
        <p:txBody>
          <a:bodyPr vert="horz" wrap="square" lIns="0" tIns="89535" rIns="0" bIns="0" rtlCol="0">
            <a:spAutoFit/>
          </a:bodyPr>
          <a:lstStyle/>
          <a:p>
            <a:pPr marL="60960">
              <a:lnSpc>
                <a:spcPct val="100000"/>
              </a:lnSpc>
              <a:spcBef>
                <a:spcPts val="705"/>
              </a:spcBef>
            </a:pPr>
            <a:r>
              <a:rPr sz="1350" b="1" spc="-25" dirty="0">
                <a:solidFill>
                  <a:srgbClr val="FFFFFF"/>
                </a:solidFill>
                <a:latin typeface="Calibri" panose="020F0502020204030204"/>
                <a:cs typeface="Calibri" panose="020F0502020204030204"/>
              </a:rPr>
              <a:t>RR</a:t>
            </a:r>
            <a:endParaRPr sz="1350">
              <a:latin typeface="Calibri" panose="020F0502020204030204"/>
              <a:cs typeface="Calibri" panose="020F0502020204030204"/>
            </a:endParaRPr>
          </a:p>
        </p:txBody>
      </p:sp>
      <p:sp>
        <p:nvSpPr>
          <p:cNvPr id="18" name="object 13"/>
          <p:cNvSpPr txBox="1"/>
          <p:nvPr/>
        </p:nvSpPr>
        <p:spPr>
          <a:xfrm>
            <a:off x="867537" y="2819400"/>
            <a:ext cx="334010" cy="232410"/>
          </a:xfrm>
          <a:prstGeom prst="rect">
            <a:avLst/>
          </a:prstGeom>
        </p:spPr>
        <p:txBody>
          <a:bodyPr vert="horz" wrap="square" lIns="0" tIns="13335" rIns="0" bIns="0" rtlCol="0">
            <a:spAutoFit/>
          </a:bodyPr>
          <a:lstStyle/>
          <a:p>
            <a:pPr marL="12700">
              <a:lnSpc>
                <a:spcPct val="100000"/>
              </a:lnSpc>
              <a:spcBef>
                <a:spcPts val="105"/>
              </a:spcBef>
            </a:pPr>
            <a:r>
              <a:rPr sz="1350" spc="-20" dirty="0">
                <a:solidFill>
                  <a:srgbClr val="35362F"/>
                </a:solidFill>
                <a:latin typeface="Calibri" panose="020F0502020204030204"/>
                <a:cs typeface="Calibri" panose="020F0502020204030204"/>
              </a:rPr>
              <a:t>save</a:t>
            </a:r>
            <a:endParaRPr sz="1350">
              <a:latin typeface="Calibri" panose="020F0502020204030204"/>
              <a:cs typeface="Calibri" panose="020F0502020204030204"/>
            </a:endParaRPr>
          </a:p>
        </p:txBody>
      </p:sp>
      <p:sp>
        <p:nvSpPr>
          <p:cNvPr id="19" name="object 14"/>
          <p:cNvSpPr txBox="1"/>
          <p:nvPr/>
        </p:nvSpPr>
        <p:spPr>
          <a:xfrm>
            <a:off x="775207" y="3267202"/>
            <a:ext cx="559435" cy="232410"/>
          </a:xfrm>
          <a:prstGeom prst="rect">
            <a:avLst/>
          </a:prstGeom>
        </p:spPr>
        <p:txBody>
          <a:bodyPr vert="horz" wrap="square" lIns="0" tIns="13335" rIns="0" bIns="0" rtlCol="0">
            <a:spAutoFit/>
          </a:bodyPr>
          <a:lstStyle/>
          <a:p>
            <a:pPr marL="12700">
              <a:lnSpc>
                <a:spcPct val="100000"/>
              </a:lnSpc>
              <a:spcBef>
                <a:spcPts val="105"/>
              </a:spcBef>
            </a:pPr>
            <a:r>
              <a:rPr sz="1350" u="sng" spc="-40" dirty="0">
                <a:solidFill>
                  <a:srgbClr val="35362F"/>
                </a:solidFill>
                <a:uFill>
                  <a:solidFill>
                    <a:srgbClr val="35362F"/>
                  </a:solidFill>
                </a:uFill>
                <a:latin typeface="Calibri" panose="020F0502020204030204"/>
                <a:cs typeface="Calibri" panose="020F0502020204030204"/>
              </a:rPr>
              <a:t> </a:t>
            </a:r>
            <a:r>
              <a:rPr sz="1350" u="sng" spc="-10" dirty="0">
                <a:solidFill>
                  <a:srgbClr val="35362F"/>
                </a:solidFill>
                <a:uFill>
                  <a:solidFill>
                    <a:srgbClr val="35362F"/>
                  </a:solidFill>
                </a:uFill>
                <a:latin typeface="Calibri" panose="020F0502020204030204"/>
                <a:cs typeface="Calibri" panose="020F0502020204030204"/>
              </a:rPr>
              <a:t>restore</a:t>
            </a:r>
            <a:endParaRPr sz="1350">
              <a:latin typeface="Calibri" panose="020F0502020204030204"/>
              <a:cs typeface="Calibri" panose="020F0502020204030204"/>
            </a:endParaRPr>
          </a:p>
        </p:txBody>
      </p:sp>
      <p:sp>
        <p:nvSpPr>
          <p:cNvPr id="20" name="object 15"/>
          <p:cNvSpPr/>
          <p:nvPr/>
        </p:nvSpPr>
        <p:spPr>
          <a:xfrm>
            <a:off x="1334262" y="2792349"/>
            <a:ext cx="1950720" cy="676910"/>
          </a:xfrm>
          <a:custGeom>
            <a:avLst/>
            <a:gdLst/>
            <a:ahLst/>
            <a:cxnLst/>
            <a:rect l="l" t="t" r="r" b="b"/>
            <a:pathLst>
              <a:path w="1950720" h="676910">
                <a:moveTo>
                  <a:pt x="1726692" y="224027"/>
                </a:moveTo>
                <a:lnTo>
                  <a:pt x="1726692" y="0"/>
                </a:lnTo>
              </a:path>
              <a:path w="1950720" h="676910">
                <a:moveTo>
                  <a:pt x="99059" y="676656"/>
                </a:moveTo>
                <a:lnTo>
                  <a:pt x="1950720" y="675132"/>
                </a:lnTo>
              </a:path>
              <a:path w="1950720" h="676910">
                <a:moveTo>
                  <a:pt x="0" y="224027"/>
                </a:moveTo>
                <a:lnTo>
                  <a:pt x="1726692" y="224027"/>
                </a:lnTo>
              </a:path>
              <a:path w="1950720" h="676910">
                <a:moveTo>
                  <a:pt x="1950720" y="676656"/>
                </a:moveTo>
                <a:lnTo>
                  <a:pt x="1950720" y="6096"/>
                </a:lnTo>
              </a:path>
            </a:pathLst>
          </a:custGeom>
          <a:ln w="25400">
            <a:solidFill>
              <a:srgbClr val="35362F"/>
            </a:solidFill>
            <a:prstDash val="sysDash"/>
          </a:ln>
        </p:spPr>
        <p:txBody>
          <a:bodyPr wrap="square" lIns="0" tIns="0" rIns="0" bIns="0" rtlCol="0"/>
          <a:lstStyle/>
          <a:p/>
        </p:txBody>
      </p:sp>
      <p:sp>
        <p:nvSpPr>
          <p:cNvPr id="21" name="object 16"/>
          <p:cNvSpPr txBox="1"/>
          <p:nvPr/>
        </p:nvSpPr>
        <p:spPr>
          <a:xfrm>
            <a:off x="2508250" y="2863596"/>
            <a:ext cx="147955" cy="140970"/>
          </a:xfrm>
          <a:prstGeom prst="rect">
            <a:avLst/>
          </a:prstGeom>
        </p:spPr>
        <p:txBody>
          <a:bodyPr vert="horz" wrap="square" lIns="0" tIns="13335" rIns="0" bIns="0" rtlCol="0">
            <a:spAutoFit/>
          </a:bodyPr>
          <a:lstStyle/>
          <a:p>
            <a:pPr marL="12700">
              <a:lnSpc>
                <a:spcPct val="100000"/>
              </a:lnSpc>
              <a:spcBef>
                <a:spcPts val="105"/>
              </a:spcBef>
            </a:pPr>
            <a:r>
              <a:rPr sz="750" b="1" spc="-25" dirty="0">
                <a:solidFill>
                  <a:srgbClr val="35362F"/>
                </a:solidFill>
                <a:latin typeface="Calibri" panose="020F0502020204030204"/>
                <a:cs typeface="Calibri" panose="020F0502020204030204"/>
              </a:rPr>
              <a:t>AO</a:t>
            </a:r>
            <a:endParaRPr sz="750">
              <a:latin typeface="Calibri" panose="020F0502020204030204"/>
              <a:cs typeface="Calibri" panose="020F0502020204030204"/>
            </a:endParaRPr>
          </a:p>
        </p:txBody>
      </p:sp>
      <p:sp>
        <p:nvSpPr>
          <p:cNvPr id="22" name="object 17"/>
          <p:cNvSpPr txBox="1"/>
          <p:nvPr/>
        </p:nvSpPr>
        <p:spPr>
          <a:xfrm>
            <a:off x="3105150" y="3319348"/>
            <a:ext cx="147955" cy="141605"/>
          </a:xfrm>
          <a:prstGeom prst="rect">
            <a:avLst/>
          </a:prstGeom>
        </p:spPr>
        <p:txBody>
          <a:bodyPr vert="horz" wrap="square" lIns="0" tIns="13335" rIns="0" bIns="0" rtlCol="0">
            <a:spAutoFit/>
          </a:bodyPr>
          <a:lstStyle/>
          <a:p>
            <a:pPr marL="12700">
              <a:lnSpc>
                <a:spcPct val="100000"/>
              </a:lnSpc>
              <a:spcBef>
                <a:spcPts val="105"/>
              </a:spcBef>
            </a:pPr>
            <a:r>
              <a:rPr sz="750" b="1" spc="-25" dirty="0">
                <a:solidFill>
                  <a:srgbClr val="35362F"/>
                </a:solidFill>
                <a:latin typeface="Calibri" panose="020F0502020204030204"/>
                <a:cs typeface="Calibri" panose="020F0502020204030204"/>
              </a:rPr>
              <a:t>AO</a:t>
            </a:r>
            <a:endParaRPr sz="750">
              <a:latin typeface="Calibri" panose="020F0502020204030204"/>
              <a:cs typeface="Calibri" panose="020F0502020204030204"/>
            </a:endParaRPr>
          </a:p>
        </p:txBody>
      </p:sp>
      <p:sp>
        <p:nvSpPr>
          <p:cNvPr id="23" name="object 18"/>
          <p:cNvSpPr/>
          <p:nvPr/>
        </p:nvSpPr>
        <p:spPr>
          <a:xfrm>
            <a:off x="1344167" y="3430142"/>
            <a:ext cx="88900" cy="90170"/>
          </a:xfrm>
          <a:custGeom>
            <a:avLst/>
            <a:gdLst/>
            <a:ahLst/>
            <a:cxnLst/>
            <a:rect l="l" t="t" r="r" b="b"/>
            <a:pathLst>
              <a:path w="88900" h="90169">
                <a:moveTo>
                  <a:pt x="0" y="89916"/>
                </a:moveTo>
                <a:lnTo>
                  <a:pt x="88392" y="89916"/>
                </a:lnTo>
                <a:lnTo>
                  <a:pt x="88392" y="0"/>
                </a:lnTo>
                <a:lnTo>
                  <a:pt x="0" y="0"/>
                </a:lnTo>
                <a:lnTo>
                  <a:pt x="0" y="89916"/>
                </a:lnTo>
                <a:close/>
              </a:path>
            </a:pathLst>
          </a:custGeom>
          <a:ln w="9525">
            <a:solidFill>
              <a:srgbClr val="35362F"/>
            </a:solidFill>
          </a:ln>
        </p:spPr>
        <p:txBody>
          <a:bodyPr wrap="square" lIns="0" tIns="0" rIns="0" bIns="0" rtlCol="0"/>
          <a:lstStyle/>
          <a:p/>
        </p:txBody>
      </p:sp>
      <p:grpSp>
        <p:nvGrpSpPr>
          <p:cNvPr id="24" name="object 19"/>
          <p:cNvGrpSpPr/>
          <p:nvPr/>
        </p:nvGrpSpPr>
        <p:grpSpPr>
          <a:xfrm>
            <a:off x="1344167" y="2767012"/>
            <a:ext cx="1096645" cy="753110"/>
            <a:chOff x="6502907" y="1519237"/>
            <a:chExt cx="1096645" cy="753110"/>
          </a:xfrm>
        </p:grpSpPr>
        <p:pic>
          <p:nvPicPr>
            <p:cNvPr id="25" name="object 20"/>
            <p:cNvPicPr/>
            <p:nvPr/>
          </p:nvPicPr>
          <p:blipFill>
            <a:blip r:embed="rId6" cstate="print"/>
            <a:stretch>
              <a:fillRect/>
            </a:stretch>
          </p:blipFill>
          <p:spPr>
            <a:xfrm>
              <a:off x="6502907" y="2182368"/>
              <a:ext cx="88392" cy="89916"/>
            </a:xfrm>
            <a:prstGeom prst="rect">
              <a:avLst/>
            </a:prstGeom>
          </p:spPr>
        </p:pic>
        <p:sp>
          <p:nvSpPr>
            <p:cNvPr id="26" name="object 21"/>
            <p:cNvSpPr/>
            <p:nvPr/>
          </p:nvSpPr>
          <p:spPr>
            <a:xfrm>
              <a:off x="7210806" y="1779460"/>
              <a:ext cx="388620" cy="287020"/>
            </a:xfrm>
            <a:custGeom>
              <a:avLst/>
              <a:gdLst/>
              <a:ahLst/>
              <a:cxnLst/>
              <a:rect l="l" t="t" r="r" b="b"/>
              <a:pathLst>
                <a:path w="388620" h="287019">
                  <a:moveTo>
                    <a:pt x="388366" y="30289"/>
                  </a:moveTo>
                  <a:lnTo>
                    <a:pt x="342506" y="0"/>
                  </a:lnTo>
                  <a:lnTo>
                    <a:pt x="338188" y="2857"/>
                  </a:lnTo>
                  <a:lnTo>
                    <a:pt x="333857" y="5715"/>
                  </a:lnTo>
                  <a:lnTo>
                    <a:pt x="9525" y="219964"/>
                  </a:lnTo>
                  <a:lnTo>
                    <a:pt x="4826" y="223062"/>
                  </a:lnTo>
                  <a:lnTo>
                    <a:pt x="0" y="226250"/>
                  </a:lnTo>
                  <a:lnTo>
                    <a:pt x="0" y="286829"/>
                  </a:lnTo>
                  <a:lnTo>
                    <a:pt x="26911" y="269049"/>
                  </a:lnTo>
                  <a:lnTo>
                    <a:pt x="388366" y="30289"/>
                  </a:lnTo>
                  <a:close/>
                </a:path>
              </a:pathLst>
            </a:custGeom>
            <a:solidFill>
              <a:srgbClr val="4554C6"/>
            </a:solidFill>
          </p:spPr>
          <p:txBody>
            <a:bodyPr wrap="square" lIns="0" tIns="0" rIns="0" bIns="0" rtlCol="0"/>
            <a:lstStyle/>
            <a:p/>
          </p:txBody>
        </p:sp>
        <p:sp>
          <p:nvSpPr>
            <p:cNvPr id="27" name="object 22"/>
            <p:cNvSpPr/>
            <p:nvPr/>
          </p:nvSpPr>
          <p:spPr>
            <a:xfrm>
              <a:off x="7190231" y="1524000"/>
              <a:ext cx="375285" cy="495300"/>
            </a:xfrm>
            <a:custGeom>
              <a:avLst/>
              <a:gdLst/>
              <a:ahLst/>
              <a:cxnLst/>
              <a:rect l="l" t="t" r="r" b="b"/>
              <a:pathLst>
                <a:path w="375284" h="495300">
                  <a:moveTo>
                    <a:pt x="0" y="0"/>
                  </a:moveTo>
                  <a:lnTo>
                    <a:pt x="0" y="495300"/>
                  </a:lnTo>
                  <a:lnTo>
                    <a:pt x="374903" y="247650"/>
                  </a:lnTo>
                  <a:lnTo>
                    <a:pt x="0" y="0"/>
                  </a:lnTo>
                  <a:close/>
                </a:path>
              </a:pathLst>
            </a:custGeom>
            <a:solidFill>
              <a:srgbClr val="993366"/>
            </a:solidFill>
          </p:spPr>
          <p:txBody>
            <a:bodyPr wrap="square" lIns="0" tIns="0" rIns="0" bIns="0" rtlCol="0"/>
            <a:lstStyle/>
            <a:p/>
          </p:txBody>
        </p:sp>
        <p:sp>
          <p:nvSpPr>
            <p:cNvPr id="28" name="object 23"/>
            <p:cNvSpPr/>
            <p:nvPr/>
          </p:nvSpPr>
          <p:spPr>
            <a:xfrm>
              <a:off x="7190231" y="1524000"/>
              <a:ext cx="375285" cy="495300"/>
            </a:xfrm>
            <a:custGeom>
              <a:avLst/>
              <a:gdLst/>
              <a:ahLst/>
              <a:cxnLst/>
              <a:rect l="l" t="t" r="r" b="b"/>
              <a:pathLst>
                <a:path w="375284" h="495300">
                  <a:moveTo>
                    <a:pt x="0" y="0"/>
                  </a:moveTo>
                  <a:lnTo>
                    <a:pt x="0" y="495300"/>
                  </a:lnTo>
                  <a:lnTo>
                    <a:pt x="374903" y="247650"/>
                  </a:lnTo>
                  <a:lnTo>
                    <a:pt x="0" y="0"/>
                  </a:lnTo>
                  <a:close/>
                </a:path>
              </a:pathLst>
            </a:custGeom>
            <a:ln w="9525">
              <a:solidFill>
                <a:srgbClr val="FF99CC"/>
              </a:solidFill>
            </a:ln>
          </p:spPr>
          <p:txBody>
            <a:bodyPr wrap="square" lIns="0" tIns="0" rIns="0" bIns="0" rtlCol="0"/>
            <a:lstStyle/>
            <a:p/>
          </p:txBody>
        </p:sp>
      </p:grpSp>
      <p:sp>
        <p:nvSpPr>
          <p:cNvPr id="29" name="object 24"/>
          <p:cNvSpPr txBox="1"/>
          <p:nvPr/>
        </p:nvSpPr>
        <p:spPr>
          <a:xfrm>
            <a:off x="1770126" y="2449067"/>
            <a:ext cx="808990" cy="232410"/>
          </a:xfrm>
          <a:prstGeom prst="rect">
            <a:avLst/>
          </a:prstGeom>
        </p:spPr>
        <p:txBody>
          <a:bodyPr vert="horz" wrap="square" lIns="0" tIns="13335" rIns="0" bIns="0" rtlCol="0">
            <a:spAutoFit/>
          </a:bodyPr>
          <a:lstStyle/>
          <a:p>
            <a:pPr marL="12700">
              <a:lnSpc>
                <a:spcPct val="100000"/>
              </a:lnSpc>
              <a:spcBef>
                <a:spcPts val="105"/>
              </a:spcBef>
            </a:pPr>
            <a:r>
              <a:rPr sz="1350" b="1" dirty="0">
                <a:solidFill>
                  <a:srgbClr val="35362F"/>
                </a:solidFill>
                <a:latin typeface="Calibri" panose="020F0502020204030204"/>
                <a:cs typeface="Calibri" panose="020F0502020204030204"/>
              </a:rPr>
              <a:t>Shut</a:t>
            </a:r>
            <a:r>
              <a:rPr sz="1350" b="1" spc="-35" dirty="0">
                <a:solidFill>
                  <a:srgbClr val="35362F"/>
                </a:solidFill>
                <a:latin typeface="Calibri" panose="020F0502020204030204"/>
                <a:cs typeface="Calibri" panose="020F0502020204030204"/>
              </a:rPr>
              <a:t> </a:t>
            </a:r>
            <a:r>
              <a:rPr sz="1350" b="1" spc="-20" dirty="0">
                <a:solidFill>
                  <a:srgbClr val="35362F"/>
                </a:solidFill>
                <a:latin typeface="Calibri" panose="020F0502020204030204"/>
                <a:cs typeface="Calibri" panose="020F0502020204030204"/>
              </a:rPr>
              <a:t>Down</a:t>
            </a:r>
            <a:endParaRPr sz="1350">
              <a:latin typeface="Calibri" panose="020F0502020204030204"/>
              <a:cs typeface="Calibri" panose="020F0502020204030204"/>
            </a:endParaRPr>
          </a:p>
        </p:txBody>
      </p:sp>
      <p:sp>
        <p:nvSpPr>
          <p:cNvPr id="30" name="object 25"/>
          <p:cNvSpPr txBox="1"/>
          <p:nvPr/>
        </p:nvSpPr>
        <p:spPr>
          <a:xfrm>
            <a:off x="2064766" y="2918205"/>
            <a:ext cx="197485" cy="186690"/>
          </a:xfrm>
          <a:prstGeom prst="rect">
            <a:avLst/>
          </a:prstGeom>
        </p:spPr>
        <p:txBody>
          <a:bodyPr vert="horz" wrap="square" lIns="0" tIns="13335" rIns="0" bIns="0" rtlCol="0">
            <a:spAutoFit/>
          </a:bodyPr>
          <a:lstStyle/>
          <a:p>
            <a:pPr marL="12700">
              <a:lnSpc>
                <a:spcPct val="100000"/>
              </a:lnSpc>
              <a:spcBef>
                <a:spcPts val="105"/>
              </a:spcBef>
            </a:pPr>
            <a:r>
              <a:rPr sz="1050" b="1" spc="-25" dirty="0">
                <a:solidFill>
                  <a:srgbClr val="FFFFFF"/>
                </a:solidFill>
                <a:latin typeface="Calibri" panose="020F0502020204030204"/>
                <a:cs typeface="Calibri" panose="020F0502020204030204"/>
              </a:rPr>
              <a:t>AO</a:t>
            </a:r>
            <a:endParaRPr sz="1050">
              <a:latin typeface="Calibri" panose="020F0502020204030204"/>
              <a:cs typeface="Calibri" panose="020F0502020204030204"/>
            </a:endParaRPr>
          </a:p>
        </p:txBody>
      </p:sp>
      <p:grpSp>
        <p:nvGrpSpPr>
          <p:cNvPr id="31" name="object 26"/>
          <p:cNvGrpSpPr/>
          <p:nvPr/>
        </p:nvGrpSpPr>
        <p:grpSpPr>
          <a:xfrm>
            <a:off x="2587561" y="3192208"/>
            <a:ext cx="415290" cy="547370"/>
            <a:chOff x="7746301" y="1944433"/>
            <a:chExt cx="415290" cy="547370"/>
          </a:xfrm>
        </p:grpSpPr>
        <p:sp>
          <p:nvSpPr>
            <p:cNvPr id="32" name="object 27"/>
            <p:cNvSpPr/>
            <p:nvPr/>
          </p:nvSpPr>
          <p:spPr>
            <a:xfrm>
              <a:off x="7771638" y="2204707"/>
              <a:ext cx="389890" cy="287020"/>
            </a:xfrm>
            <a:custGeom>
              <a:avLst/>
              <a:gdLst/>
              <a:ahLst/>
              <a:cxnLst/>
              <a:rect l="l" t="t" r="r" b="b"/>
              <a:pathLst>
                <a:path w="389890" h="287019">
                  <a:moveTo>
                    <a:pt x="389890" y="30238"/>
                  </a:moveTo>
                  <a:lnTo>
                    <a:pt x="343916" y="0"/>
                  </a:lnTo>
                  <a:lnTo>
                    <a:pt x="339598" y="2844"/>
                  </a:lnTo>
                  <a:lnTo>
                    <a:pt x="335267" y="5689"/>
                  </a:lnTo>
                  <a:lnTo>
                    <a:pt x="9525" y="219989"/>
                  </a:lnTo>
                  <a:lnTo>
                    <a:pt x="4826" y="223088"/>
                  </a:lnTo>
                  <a:lnTo>
                    <a:pt x="0" y="226263"/>
                  </a:lnTo>
                  <a:lnTo>
                    <a:pt x="0" y="286778"/>
                  </a:lnTo>
                  <a:lnTo>
                    <a:pt x="27012" y="268998"/>
                  </a:lnTo>
                  <a:lnTo>
                    <a:pt x="389890" y="30238"/>
                  </a:lnTo>
                  <a:close/>
                </a:path>
              </a:pathLst>
            </a:custGeom>
            <a:solidFill>
              <a:srgbClr val="4554C6"/>
            </a:solidFill>
          </p:spPr>
          <p:txBody>
            <a:bodyPr wrap="square" lIns="0" tIns="0" rIns="0" bIns="0" rtlCol="0"/>
            <a:lstStyle/>
            <a:p/>
          </p:txBody>
        </p:sp>
        <p:sp>
          <p:nvSpPr>
            <p:cNvPr id="33" name="object 28"/>
            <p:cNvSpPr/>
            <p:nvPr/>
          </p:nvSpPr>
          <p:spPr>
            <a:xfrm>
              <a:off x="7751064" y="1949195"/>
              <a:ext cx="376555" cy="495300"/>
            </a:xfrm>
            <a:custGeom>
              <a:avLst/>
              <a:gdLst/>
              <a:ahLst/>
              <a:cxnLst/>
              <a:rect l="l" t="t" r="r" b="b"/>
              <a:pathLst>
                <a:path w="376554" h="495300">
                  <a:moveTo>
                    <a:pt x="0" y="0"/>
                  </a:moveTo>
                  <a:lnTo>
                    <a:pt x="0" y="495300"/>
                  </a:lnTo>
                  <a:lnTo>
                    <a:pt x="376427" y="247650"/>
                  </a:lnTo>
                  <a:lnTo>
                    <a:pt x="0" y="0"/>
                  </a:lnTo>
                  <a:close/>
                </a:path>
              </a:pathLst>
            </a:custGeom>
            <a:solidFill>
              <a:srgbClr val="993366"/>
            </a:solidFill>
          </p:spPr>
          <p:txBody>
            <a:bodyPr wrap="square" lIns="0" tIns="0" rIns="0" bIns="0" rtlCol="0"/>
            <a:lstStyle/>
            <a:p/>
          </p:txBody>
        </p:sp>
        <p:sp>
          <p:nvSpPr>
            <p:cNvPr id="34" name="object 29"/>
            <p:cNvSpPr/>
            <p:nvPr/>
          </p:nvSpPr>
          <p:spPr>
            <a:xfrm>
              <a:off x="7751064" y="1949195"/>
              <a:ext cx="376555" cy="495300"/>
            </a:xfrm>
            <a:custGeom>
              <a:avLst/>
              <a:gdLst/>
              <a:ahLst/>
              <a:cxnLst/>
              <a:rect l="l" t="t" r="r" b="b"/>
              <a:pathLst>
                <a:path w="376554" h="495300">
                  <a:moveTo>
                    <a:pt x="0" y="0"/>
                  </a:moveTo>
                  <a:lnTo>
                    <a:pt x="0" y="495300"/>
                  </a:lnTo>
                  <a:lnTo>
                    <a:pt x="376427" y="247650"/>
                  </a:lnTo>
                  <a:lnTo>
                    <a:pt x="0" y="0"/>
                  </a:lnTo>
                  <a:close/>
                </a:path>
              </a:pathLst>
            </a:custGeom>
            <a:ln w="9525">
              <a:solidFill>
                <a:srgbClr val="FF99CC"/>
              </a:solidFill>
            </a:ln>
          </p:spPr>
          <p:txBody>
            <a:bodyPr wrap="square" lIns="0" tIns="0" rIns="0" bIns="0" rtlCol="0"/>
            <a:lstStyle/>
            <a:p/>
          </p:txBody>
        </p:sp>
      </p:grpSp>
      <p:sp>
        <p:nvSpPr>
          <p:cNvPr id="35" name="object 30"/>
          <p:cNvSpPr txBox="1"/>
          <p:nvPr/>
        </p:nvSpPr>
        <p:spPr>
          <a:xfrm>
            <a:off x="2626867" y="3343402"/>
            <a:ext cx="197485" cy="186690"/>
          </a:xfrm>
          <a:prstGeom prst="rect">
            <a:avLst/>
          </a:prstGeom>
        </p:spPr>
        <p:txBody>
          <a:bodyPr vert="horz" wrap="square" lIns="0" tIns="13335" rIns="0" bIns="0" rtlCol="0">
            <a:spAutoFit/>
          </a:bodyPr>
          <a:lstStyle/>
          <a:p>
            <a:pPr marL="12700">
              <a:lnSpc>
                <a:spcPct val="100000"/>
              </a:lnSpc>
              <a:spcBef>
                <a:spcPts val="105"/>
              </a:spcBef>
            </a:pPr>
            <a:r>
              <a:rPr sz="1050" b="1" spc="-25" dirty="0">
                <a:solidFill>
                  <a:srgbClr val="FFFFFF"/>
                </a:solidFill>
                <a:latin typeface="Calibri" panose="020F0502020204030204"/>
                <a:cs typeface="Calibri" panose="020F0502020204030204"/>
              </a:rPr>
              <a:t>AO</a:t>
            </a:r>
            <a:endParaRPr sz="1050">
              <a:latin typeface="Calibri" panose="020F0502020204030204"/>
              <a:cs typeface="Calibri" panose="020F0502020204030204"/>
            </a:endParaRPr>
          </a:p>
        </p:txBody>
      </p:sp>
      <p:sp>
        <p:nvSpPr>
          <p:cNvPr id="36" name="object 31"/>
          <p:cNvSpPr txBox="1"/>
          <p:nvPr/>
        </p:nvSpPr>
        <p:spPr>
          <a:xfrm>
            <a:off x="1696339" y="2886202"/>
            <a:ext cx="147955" cy="140970"/>
          </a:xfrm>
          <a:prstGeom prst="rect">
            <a:avLst/>
          </a:prstGeom>
        </p:spPr>
        <p:txBody>
          <a:bodyPr vert="horz" wrap="square" lIns="0" tIns="13335" rIns="0" bIns="0" rtlCol="0">
            <a:spAutoFit/>
          </a:bodyPr>
          <a:lstStyle/>
          <a:p>
            <a:pPr marL="12700">
              <a:lnSpc>
                <a:spcPct val="100000"/>
              </a:lnSpc>
              <a:spcBef>
                <a:spcPts val="105"/>
              </a:spcBef>
            </a:pPr>
            <a:r>
              <a:rPr sz="750" b="1" spc="-25" dirty="0">
                <a:solidFill>
                  <a:srgbClr val="35362F"/>
                </a:solidFill>
                <a:latin typeface="Calibri" panose="020F0502020204030204"/>
                <a:cs typeface="Calibri" panose="020F0502020204030204"/>
              </a:rPr>
              <a:t>AO</a:t>
            </a:r>
            <a:endParaRPr sz="750">
              <a:latin typeface="Calibri" panose="020F0502020204030204"/>
              <a:cs typeface="Calibri" panose="020F0502020204030204"/>
            </a:endParaRPr>
          </a:p>
        </p:txBody>
      </p:sp>
      <p:sp>
        <p:nvSpPr>
          <p:cNvPr id="37" name="object 32"/>
          <p:cNvSpPr txBox="1"/>
          <p:nvPr/>
        </p:nvSpPr>
        <p:spPr>
          <a:xfrm>
            <a:off x="2110486" y="3364992"/>
            <a:ext cx="147955" cy="140970"/>
          </a:xfrm>
          <a:prstGeom prst="rect">
            <a:avLst/>
          </a:prstGeom>
        </p:spPr>
        <p:txBody>
          <a:bodyPr vert="horz" wrap="square" lIns="0" tIns="13335" rIns="0" bIns="0" rtlCol="0">
            <a:spAutoFit/>
          </a:bodyPr>
          <a:lstStyle/>
          <a:p>
            <a:pPr marL="12700">
              <a:lnSpc>
                <a:spcPct val="100000"/>
              </a:lnSpc>
              <a:spcBef>
                <a:spcPts val="105"/>
              </a:spcBef>
            </a:pPr>
            <a:r>
              <a:rPr sz="750" b="1" spc="-25" dirty="0">
                <a:solidFill>
                  <a:srgbClr val="35362F"/>
                </a:solidFill>
                <a:latin typeface="Calibri" panose="020F0502020204030204"/>
                <a:cs typeface="Calibri" panose="020F0502020204030204"/>
              </a:rPr>
              <a:t>AO</a:t>
            </a:r>
            <a:endParaRPr sz="750">
              <a:latin typeface="Calibri" panose="020F0502020204030204"/>
              <a:cs typeface="Calibri" panose="020F0502020204030204"/>
            </a:endParaRPr>
          </a:p>
        </p:txBody>
      </p:sp>
      <p:grpSp>
        <p:nvGrpSpPr>
          <p:cNvPr id="38" name="object 33"/>
          <p:cNvGrpSpPr/>
          <p:nvPr/>
        </p:nvGrpSpPr>
        <p:grpSpPr>
          <a:xfrm>
            <a:off x="4841554" y="2145824"/>
            <a:ext cx="3512820" cy="1834514"/>
            <a:chOff x="5432104" y="3079909"/>
            <a:chExt cx="3512820" cy="1834514"/>
          </a:xfrm>
        </p:grpSpPr>
        <p:sp>
          <p:nvSpPr>
            <p:cNvPr id="39" name="object 34"/>
            <p:cNvSpPr/>
            <p:nvPr/>
          </p:nvSpPr>
          <p:spPr>
            <a:xfrm>
              <a:off x="5432104" y="3079909"/>
              <a:ext cx="3512820" cy="1834514"/>
            </a:xfrm>
            <a:custGeom>
              <a:avLst/>
              <a:gdLst/>
              <a:ahLst/>
              <a:cxnLst/>
              <a:rect l="l" t="t" r="r" b="b"/>
              <a:pathLst>
                <a:path w="3512820" h="1834514">
                  <a:moveTo>
                    <a:pt x="2153140" y="0"/>
                  </a:moveTo>
                  <a:lnTo>
                    <a:pt x="2103352" y="1542"/>
                  </a:lnTo>
                  <a:lnTo>
                    <a:pt x="2054634" y="7982"/>
                  </a:lnTo>
                  <a:lnTo>
                    <a:pt x="2007724" y="19145"/>
                  </a:lnTo>
                  <a:lnTo>
                    <a:pt x="1963358" y="34856"/>
                  </a:lnTo>
                  <a:lnTo>
                    <a:pt x="1922273" y="54938"/>
                  </a:lnTo>
                  <a:lnTo>
                    <a:pt x="1885206" y="79218"/>
                  </a:lnTo>
                  <a:lnTo>
                    <a:pt x="1852893" y="107519"/>
                  </a:lnTo>
                  <a:lnTo>
                    <a:pt x="1826072" y="139667"/>
                  </a:lnTo>
                  <a:lnTo>
                    <a:pt x="1803015" y="124576"/>
                  </a:lnTo>
                  <a:lnTo>
                    <a:pt x="1752616" y="98251"/>
                  </a:lnTo>
                  <a:lnTo>
                    <a:pt x="1675934" y="71067"/>
                  </a:lnTo>
                  <a:lnTo>
                    <a:pt x="1625117" y="59791"/>
                  </a:lnTo>
                  <a:lnTo>
                    <a:pt x="1573586" y="53140"/>
                  </a:lnTo>
                  <a:lnTo>
                    <a:pt x="1521889" y="50995"/>
                  </a:lnTo>
                  <a:lnTo>
                    <a:pt x="1470576" y="53237"/>
                  </a:lnTo>
                  <a:lnTo>
                    <a:pt x="1420195" y="59746"/>
                  </a:lnTo>
                  <a:lnTo>
                    <a:pt x="1371296" y="70401"/>
                  </a:lnTo>
                  <a:lnTo>
                    <a:pt x="1324428" y="85084"/>
                  </a:lnTo>
                  <a:lnTo>
                    <a:pt x="1280139" y="103675"/>
                  </a:lnTo>
                  <a:lnTo>
                    <a:pt x="1238980" y="126054"/>
                  </a:lnTo>
                  <a:lnTo>
                    <a:pt x="1201498" y="152102"/>
                  </a:lnTo>
                  <a:lnTo>
                    <a:pt x="1168243" y="181698"/>
                  </a:lnTo>
                  <a:lnTo>
                    <a:pt x="1139764" y="214724"/>
                  </a:lnTo>
                  <a:lnTo>
                    <a:pt x="1093387" y="197464"/>
                  </a:lnTo>
                  <a:lnTo>
                    <a:pt x="1045169" y="183491"/>
                  </a:lnTo>
                  <a:lnTo>
                    <a:pt x="995459" y="172860"/>
                  </a:lnTo>
                  <a:lnTo>
                    <a:pt x="944610" y="165623"/>
                  </a:lnTo>
                  <a:lnTo>
                    <a:pt x="892973" y="161834"/>
                  </a:lnTo>
                  <a:lnTo>
                    <a:pt x="840898" y="161546"/>
                  </a:lnTo>
                  <a:lnTo>
                    <a:pt x="788736" y="164813"/>
                  </a:lnTo>
                  <a:lnTo>
                    <a:pt x="733538" y="172191"/>
                  </a:lnTo>
                  <a:lnTo>
                    <a:pt x="680686" y="183272"/>
                  </a:lnTo>
                  <a:lnTo>
                    <a:pt x="630416" y="197835"/>
                  </a:lnTo>
                  <a:lnTo>
                    <a:pt x="582964" y="215661"/>
                  </a:lnTo>
                  <a:lnTo>
                    <a:pt x="538566" y="236528"/>
                  </a:lnTo>
                  <a:lnTo>
                    <a:pt x="497458" y="260218"/>
                  </a:lnTo>
                  <a:lnTo>
                    <a:pt x="459876" y="286509"/>
                  </a:lnTo>
                  <a:lnTo>
                    <a:pt x="426056" y="315181"/>
                  </a:lnTo>
                  <a:lnTo>
                    <a:pt x="396233" y="346014"/>
                  </a:lnTo>
                  <a:lnTo>
                    <a:pt x="370643" y="378788"/>
                  </a:lnTo>
                  <a:lnTo>
                    <a:pt x="349523" y="413283"/>
                  </a:lnTo>
                  <a:lnTo>
                    <a:pt x="333108" y="449277"/>
                  </a:lnTo>
                  <a:lnTo>
                    <a:pt x="321634" y="486552"/>
                  </a:lnTo>
                  <a:lnTo>
                    <a:pt x="315336" y="524886"/>
                  </a:lnTo>
                  <a:lnTo>
                    <a:pt x="314452" y="564059"/>
                  </a:lnTo>
                  <a:lnTo>
                    <a:pt x="319217" y="603852"/>
                  </a:lnTo>
                  <a:lnTo>
                    <a:pt x="316296" y="609567"/>
                  </a:lnTo>
                  <a:lnTo>
                    <a:pt x="261511" y="616762"/>
                  </a:lnTo>
                  <a:lnTo>
                    <a:pt x="209611" y="629831"/>
                  </a:lnTo>
                  <a:lnTo>
                    <a:pt x="161451" y="648381"/>
                  </a:lnTo>
                  <a:lnTo>
                    <a:pt x="117884" y="672023"/>
                  </a:lnTo>
                  <a:lnTo>
                    <a:pt x="79764" y="700363"/>
                  </a:lnTo>
                  <a:lnTo>
                    <a:pt x="47945" y="733011"/>
                  </a:lnTo>
                  <a:lnTo>
                    <a:pt x="23019" y="769999"/>
                  </a:lnTo>
                  <a:lnTo>
                    <a:pt x="7123" y="808334"/>
                  </a:lnTo>
                  <a:lnTo>
                    <a:pt x="0" y="847306"/>
                  </a:lnTo>
                  <a:lnTo>
                    <a:pt x="1390" y="886204"/>
                  </a:lnTo>
                  <a:lnTo>
                    <a:pt x="11036" y="924318"/>
                  </a:lnTo>
                  <a:lnTo>
                    <a:pt x="28679" y="960936"/>
                  </a:lnTo>
                  <a:lnTo>
                    <a:pt x="54060" y="995349"/>
                  </a:lnTo>
                  <a:lnTo>
                    <a:pt x="86923" y="1026846"/>
                  </a:lnTo>
                  <a:lnTo>
                    <a:pt x="127007" y="1054716"/>
                  </a:lnTo>
                  <a:lnTo>
                    <a:pt x="174056" y="1078248"/>
                  </a:lnTo>
                  <a:lnTo>
                    <a:pt x="135894" y="1112819"/>
                  </a:lnTo>
                  <a:lnTo>
                    <a:pt x="107053" y="1151134"/>
                  </a:lnTo>
                  <a:lnTo>
                    <a:pt x="87983" y="1192254"/>
                  </a:lnTo>
                  <a:lnTo>
                    <a:pt x="79137" y="1235239"/>
                  </a:lnTo>
                  <a:lnTo>
                    <a:pt x="80965" y="1279149"/>
                  </a:lnTo>
                  <a:lnTo>
                    <a:pt x="107755" y="1349954"/>
                  </a:lnTo>
                  <a:lnTo>
                    <a:pt x="131028" y="1381589"/>
                  </a:lnTo>
                  <a:lnTo>
                    <a:pt x="160076" y="1410259"/>
                  </a:lnTo>
                  <a:lnTo>
                    <a:pt x="194288" y="1435623"/>
                  </a:lnTo>
                  <a:lnTo>
                    <a:pt x="233055" y="1457341"/>
                  </a:lnTo>
                  <a:lnTo>
                    <a:pt x="275769" y="1475071"/>
                  </a:lnTo>
                  <a:lnTo>
                    <a:pt x="321820" y="1488475"/>
                  </a:lnTo>
                  <a:lnTo>
                    <a:pt x="370598" y="1497210"/>
                  </a:lnTo>
                  <a:lnTo>
                    <a:pt x="421496" y="1500938"/>
                  </a:lnTo>
                  <a:lnTo>
                    <a:pt x="473903" y="1499316"/>
                  </a:lnTo>
                  <a:lnTo>
                    <a:pt x="478221" y="1504701"/>
                  </a:lnTo>
                  <a:lnTo>
                    <a:pt x="508786" y="1538056"/>
                  </a:lnTo>
                  <a:lnTo>
                    <a:pt x="539945" y="1566555"/>
                  </a:lnTo>
                  <a:lnTo>
                    <a:pt x="573762" y="1592826"/>
                  </a:lnTo>
                  <a:lnTo>
                    <a:pt x="610016" y="1616829"/>
                  </a:lnTo>
                  <a:lnTo>
                    <a:pt x="648486" y="1638524"/>
                  </a:lnTo>
                  <a:lnTo>
                    <a:pt x="688950" y="1657873"/>
                  </a:lnTo>
                  <a:lnTo>
                    <a:pt x="731187" y="1674837"/>
                  </a:lnTo>
                  <a:lnTo>
                    <a:pt x="774974" y="1689375"/>
                  </a:lnTo>
                  <a:lnTo>
                    <a:pt x="820092" y="1701448"/>
                  </a:lnTo>
                  <a:lnTo>
                    <a:pt x="866317" y="1711017"/>
                  </a:lnTo>
                  <a:lnTo>
                    <a:pt x="913429" y="1718044"/>
                  </a:lnTo>
                  <a:lnTo>
                    <a:pt x="961207" y="1722487"/>
                  </a:lnTo>
                  <a:lnTo>
                    <a:pt x="1009429" y="1724309"/>
                  </a:lnTo>
                  <a:lnTo>
                    <a:pt x="1057872" y="1723469"/>
                  </a:lnTo>
                  <a:lnTo>
                    <a:pt x="1106317" y="1719929"/>
                  </a:lnTo>
                  <a:lnTo>
                    <a:pt x="1154542" y="1713648"/>
                  </a:lnTo>
                  <a:lnTo>
                    <a:pt x="1202324" y="1704589"/>
                  </a:lnTo>
                  <a:lnTo>
                    <a:pt x="1249443" y="1692710"/>
                  </a:lnTo>
                  <a:lnTo>
                    <a:pt x="1295677" y="1677974"/>
                  </a:lnTo>
                  <a:lnTo>
                    <a:pt x="1340805" y="1660340"/>
                  </a:lnTo>
                  <a:lnTo>
                    <a:pt x="1373115" y="1691350"/>
                  </a:lnTo>
                  <a:lnTo>
                    <a:pt x="1409315" y="1719774"/>
                  </a:lnTo>
                  <a:lnTo>
                    <a:pt x="1449097" y="1745445"/>
                  </a:lnTo>
                  <a:lnTo>
                    <a:pt x="1492150" y="1768197"/>
                  </a:lnTo>
                  <a:lnTo>
                    <a:pt x="1538168" y="1787865"/>
                  </a:lnTo>
                  <a:lnTo>
                    <a:pt x="1586840" y="1804284"/>
                  </a:lnTo>
                  <a:lnTo>
                    <a:pt x="1637858" y="1817286"/>
                  </a:lnTo>
                  <a:lnTo>
                    <a:pt x="1689123" y="1826489"/>
                  </a:lnTo>
                  <a:lnTo>
                    <a:pt x="1740438" y="1832075"/>
                  </a:lnTo>
                  <a:lnTo>
                    <a:pt x="1791518" y="1834155"/>
                  </a:lnTo>
                  <a:lnTo>
                    <a:pt x="1842077" y="1832837"/>
                  </a:lnTo>
                  <a:lnTo>
                    <a:pt x="1891827" y="1828232"/>
                  </a:lnTo>
                  <a:lnTo>
                    <a:pt x="1940482" y="1820448"/>
                  </a:lnTo>
                  <a:lnTo>
                    <a:pt x="1987756" y="1809595"/>
                  </a:lnTo>
                  <a:lnTo>
                    <a:pt x="2033362" y="1795782"/>
                  </a:lnTo>
                  <a:lnTo>
                    <a:pt x="2077014" y="1779119"/>
                  </a:lnTo>
                  <a:lnTo>
                    <a:pt x="2118425" y="1759715"/>
                  </a:lnTo>
                  <a:lnTo>
                    <a:pt x="2157308" y="1737679"/>
                  </a:lnTo>
                  <a:lnTo>
                    <a:pt x="2193379" y="1713121"/>
                  </a:lnTo>
                  <a:lnTo>
                    <a:pt x="2226349" y="1686151"/>
                  </a:lnTo>
                  <a:lnTo>
                    <a:pt x="2255932" y="1656876"/>
                  </a:lnTo>
                  <a:lnTo>
                    <a:pt x="2281843" y="1625408"/>
                  </a:lnTo>
                  <a:lnTo>
                    <a:pt x="2303794" y="1591855"/>
                  </a:lnTo>
                  <a:lnTo>
                    <a:pt x="2321499" y="1556327"/>
                  </a:lnTo>
                  <a:lnTo>
                    <a:pt x="2366899" y="1574075"/>
                  </a:lnTo>
                  <a:lnTo>
                    <a:pt x="2414554" y="1588107"/>
                  </a:lnTo>
                  <a:lnTo>
                    <a:pt x="2464008" y="1598329"/>
                  </a:lnTo>
                  <a:lnTo>
                    <a:pt x="2514803" y="1604649"/>
                  </a:lnTo>
                  <a:lnTo>
                    <a:pt x="2566482" y="1606974"/>
                  </a:lnTo>
                  <a:lnTo>
                    <a:pt x="2621296" y="1605039"/>
                  </a:lnTo>
                  <a:lnTo>
                    <a:pt x="2674305" y="1598769"/>
                  </a:lnTo>
                  <a:lnTo>
                    <a:pt x="2725152" y="1588411"/>
                  </a:lnTo>
                  <a:lnTo>
                    <a:pt x="2773482" y="1574215"/>
                  </a:lnTo>
                  <a:lnTo>
                    <a:pt x="2818938" y="1556429"/>
                  </a:lnTo>
                  <a:lnTo>
                    <a:pt x="2861166" y="1535301"/>
                  </a:lnTo>
                  <a:lnTo>
                    <a:pt x="2899809" y="1511080"/>
                  </a:lnTo>
                  <a:lnTo>
                    <a:pt x="2934512" y="1484014"/>
                  </a:lnTo>
                  <a:lnTo>
                    <a:pt x="2964919" y="1454352"/>
                  </a:lnTo>
                  <a:lnTo>
                    <a:pt x="2990675" y="1422342"/>
                  </a:lnTo>
                  <a:lnTo>
                    <a:pt x="3011423" y="1388233"/>
                  </a:lnTo>
                  <a:lnTo>
                    <a:pt x="3026808" y="1352274"/>
                  </a:lnTo>
                  <a:lnTo>
                    <a:pt x="3036474" y="1314712"/>
                  </a:lnTo>
                  <a:lnTo>
                    <a:pt x="3040065" y="1275796"/>
                  </a:lnTo>
                  <a:lnTo>
                    <a:pt x="3095561" y="1268061"/>
                  </a:lnTo>
                  <a:lnTo>
                    <a:pt x="3149454" y="1256367"/>
                  </a:lnTo>
                  <a:lnTo>
                    <a:pt x="3201329" y="1240837"/>
                  </a:lnTo>
                  <a:lnTo>
                    <a:pt x="3250771" y="1221593"/>
                  </a:lnTo>
                  <a:lnTo>
                    <a:pt x="3297367" y="1198758"/>
                  </a:lnTo>
                  <a:lnTo>
                    <a:pt x="3342933" y="1170967"/>
                  </a:lnTo>
                  <a:lnTo>
                    <a:pt x="3383221" y="1140470"/>
                  </a:lnTo>
                  <a:lnTo>
                    <a:pt x="3418170" y="1107602"/>
                  </a:lnTo>
                  <a:lnTo>
                    <a:pt x="3447719" y="1072698"/>
                  </a:lnTo>
                  <a:lnTo>
                    <a:pt x="3471804" y="1036092"/>
                  </a:lnTo>
                  <a:lnTo>
                    <a:pt x="3490364" y="998120"/>
                  </a:lnTo>
                  <a:lnTo>
                    <a:pt x="3503338" y="959115"/>
                  </a:lnTo>
                  <a:lnTo>
                    <a:pt x="3510663" y="919413"/>
                  </a:lnTo>
                  <a:lnTo>
                    <a:pt x="3512278" y="879348"/>
                  </a:lnTo>
                  <a:lnTo>
                    <a:pt x="3508121" y="839255"/>
                  </a:lnTo>
                  <a:lnTo>
                    <a:pt x="3498130" y="799468"/>
                  </a:lnTo>
                  <a:lnTo>
                    <a:pt x="3482242" y="760323"/>
                  </a:lnTo>
                  <a:lnTo>
                    <a:pt x="3460397" y="722153"/>
                  </a:lnTo>
                  <a:lnTo>
                    <a:pt x="3432532" y="685294"/>
                  </a:lnTo>
                  <a:lnTo>
                    <a:pt x="3398586" y="650080"/>
                  </a:lnTo>
                  <a:lnTo>
                    <a:pt x="3404253" y="640124"/>
                  </a:lnTo>
                  <a:lnTo>
                    <a:pt x="3430026" y="568418"/>
                  </a:lnTo>
                  <a:lnTo>
                    <a:pt x="3433720" y="527503"/>
                  </a:lnTo>
                  <a:lnTo>
                    <a:pt x="3429844" y="487274"/>
                  </a:lnTo>
                  <a:lnTo>
                    <a:pt x="3418760" y="448183"/>
                  </a:lnTo>
                  <a:lnTo>
                    <a:pt x="3400833" y="410681"/>
                  </a:lnTo>
                  <a:lnTo>
                    <a:pt x="3376424" y="375220"/>
                  </a:lnTo>
                  <a:lnTo>
                    <a:pt x="3345899" y="342252"/>
                  </a:lnTo>
                  <a:lnTo>
                    <a:pt x="3309620" y="312227"/>
                  </a:lnTo>
                  <a:lnTo>
                    <a:pt x="3267951" y="285598"/>
                  </a:lnTo>
                  <a:lnTo>
                    <a:pt x="3221254" y="262816"/>
                  </a:lnTo>
                  <a:lnTo>
                    <a:pt x="3169894" y="244332"/>
                  </a:lnTo>
                  <a:lnTo>
                    <a:pt x="3114233" y="230599"/>
                  </a:lnTo>
                  <a:lnTo>
                    <a:pt x="3096401" y="183962"/>
                  </a:lnTo>
                  <a:lnTo>
                    <a:pt x="3067783" y="140493"/>
                  </a:lnTo>
                  <a:lnTo>
                    <a:pt x="3029115" y="101119"/>
                  </a:lnTo>
                  <a:lnTo>
                    <a:pt x="2981137" y="66769"/>
                  </a:lnTo>
                  <a:lnTo>
                    <a:pt x="2937967" y="44162"/>
                  </a:lnTo>
                  <a:lnTo>
                    <a:pt x="2892018" y="26288"/>
                  </a:lnTo>
                  <a:lnTo>
                    <a:pt x="2843953" y="13110"/>
                  </a:lnTo>
                  <a:lnTo>
                    <a:pt x="2794433" y="4586"/>
                  </a:lnTo>
                  <a:lnTo>
                    <a:pt x="2744119" y="679"/>
                  </a:lnTo>
                  <a:lnTo>
                    <a:pt x="2693672" y="1348"/>
                  </a:lnTo>
                  <a:lnTo>
                    <a:pt x="2643755" y="6555"/>
                  </a:lnTo>
                  <a:lnTo>
                    <a:pt x="2595029" y="16261"/>
                  </a:lnTo>
                  <a:lnTo>
                    <a:pt x="2548154" y="30425"/>
                  </a:lnTo>
                  <a:lnTo>
                    <a:pt x="2503793" y="49010"/>
                  </a:lnTo>
                  <a:lnTo>
                    <a:pt x="2462607" y="71975"/>
                  </a:lnTo>
                  <a:lnTo>
                    <a:pt x="2425258" y="99281"/>
                  </a:lnTo>
                  <a:lnTo>
                    <a:pt x="2398876" y="77427"/>
                  </a:lnTo>
                  <a:lnTo>
                    <a:pt x="2336729" y="40863"/>
                  </a:lnTo>
                  <a:lnTo>
                    <a:pt x="2252981" y="12308"/>
                  </a:lnTo>
                  <a:lnTo>
                    <a:pt x="2203262" y="3530"/>
                  </a:lnTo>
                  <a:lnTo>
                    <a:pt x="2153140" y="0"/>
                  </a:lnTo>
                  <a:close/>
                </a:path>
              </a:pathLst>
            </a:custGeom>
            <a:solidFill>
              <a:srgbClr val="8766C5"/>
            </a:solidFill>
          </p:spPr>
          <p:txBody>
            <a:bodyPr wrap="square" lIns="0" tIns="0" rIns="0" bIns="0" rtlCol="0"/>
            <a:lstStyle/>
            <a:p/>
          </p:txBody>
        </p:sp>
        <p:pic>
          <p:nvPicPr>
            <p:cNvPr id="40" name="object 35"/>
            <p:cNvPicPr/>
            <p:nvPr/>
          </p:nvPicPr>
          <p:blipFill>
            <a:blip r:embed="rId7" cstate="print"/>
            <a:stretch>
              <a:fillRect/>
            </a:stretch>
          </p:blipFill>
          <p:spPr>
            <a:xfrm>
              <a:off x="6651243" y="4426610"/>
              <a:ext cx="223900" cy="247853"/>
            </a:xfrm>
            <a:prstGeom prst="rect">
              <a:avLst/>
            </a:prstGeom>
          </p:spPr>
        </p:pic>
        <p:sp>
          <p:nvSpPr>
            <p:cNvPr id="41" name="object 36"/>
            <p:cNvSpPr/>
            <p:nvPr/>
          </p:nvSpPr>
          <p:spPr>
            <a:xfrm>
              <a:off x="6468109" y="4596447"/>
              <a:ext cx="306070" cy="306070"/>
            </a:xfrm>
            <a:custGeom>
              <a:avLst/>
              <a:gdLst/>
              <a:ahLst/>
              <a:cxnLst/>
              <a:rect l="l" t="t" r="r" b="b"/>
              <a:pathLst>
                <a:path w="306070" h="306070">
                  <a:moveTo>
                    <a:pt x="152781" y="0"/>
                  </a:moveTo>
                  <a:lnTo>
                    <a:pt x="104509" y="7788"/>
                  </a:lnTo>
                  <a:lnTo>
                    <a:pt x="62572" y="29477"/>
                  </a:lnTo>
                  <a:lnTo>
                    <a:pt x="29492" y="62550"/>
                  </a:lnTo>
                  <a:lnTo>
                    <a:pt x="7793" y="104490"/>
                  </a:lnTo>
                  <a:lnTo>
                    <a:pt x="0" y="152780"/>
                  </a:lnTo>
                  <a:lnTo>
                    <a:pt x="7793" y="201071"/>
                  </a:lnTo>
                  <a:lnTo>
                    <a:pt x="29492" y="243011"/>
                  </a:lnTo>
                  <a:lnTo>
                    <a:pt x="62572" y="276084"/>
                  </a:lnTo>
                  <a:lnTo>
                    <a:pt x="104509" y="297773"/>
                  </a:lnTo>
                  <a:lnTo>
                    <a:pt x="152781" y="305561"/>
                  </a:lnTo>
                  <a:lnTo>
                    <a:pt x="201052" y="297773"/>
                  </a:lnTo>
                  <a:lnTo>
                    <a:pt x="242989" y="276084"/>
                  </a:lnTo>
                  <a:lnTo>
                    <a:pt x="276069" y="243011"/>
                  </a:lnTo>
                  <a:lnTo>
                    <a:pt x="297768" y="201071"/>
                  </a:lnTo>
                  <a:lnTo>
                    <a:pt x="305562" y="152780"/>
                  </a:lnTo>
                  <a:lnTo>
                    <a:pt x="297768" y="104490"/>
                  </a:lnTo>
                  <a:lnTo>
                    <a:pt x="276069" y="62550"/>
                  </a:lnTo>
                  <a:lnTo>
                    <a:pt x="242989" y="29477"/>
                  </a:lnTo>
                  <a:lnTo>
                    <a:pt x="201052" y="7788"/>
                  </a:lnTo>
                  <a:lnTo>
                    <a:pt x="152781" y="0"/>
                  </a:lnTo>
                  <a:close/>
                </a:path>
              </a:pathLst>
            </a:custGeom>
            <a:solidFill>
              <a:srgbClr val="8766C5"/>
            </a:solidFill>
          </p:spPr>
          <p:txBody>
            <a:bodyPr wrap="square" lIns="0" tIns="0" rIns="0" bIns="0" rtlCol="0"/>
            <a:lstStyle/>
            <a:p/>
          </p:txBody>
        </p:sp>
        <p:sp>
          <p:nvSpPr>
            <p:cNvPr id="42" name="object 37"/>
            <p:cNvSpPr/>
            <p:nvPr/>
          </p:nvSpPr>
          <p:spPr>
            <a:xfrm>
              <a:off x="6271222" y="3448189"/>
              <a:ext cx="1831339" cy="1120140"/>
            </a:xfrm>
            <a:custGeom>
              <a:avLst/>
              <a:gdLst/>
              <a:ahLst/>
              <a:cxnLst/>
              <a:rect l="l" t="t" r="r" b="b"/>
              <a:pathLst>
                <a:path w="1831340" h="1120139">
                  <a:moveTo>
                    <a:pt x="1830895" y="553313"/>
                  </a:moveTo>
                  <a:lnTo>
                    <a:pt x="1828952" y="512483"/>
                  </a:lnTo>
                  <a:lnTo>
                    <a:pt x="1818551" y="472160"/>
                  </a:lnTo>
                  <a:lnTo>
                    <a:pt x="1799551" y="433311"/>
                  </a:lnTo>
                  <a:lnTo>
                    <a:pt x="1771815" y="396862"/>
                  </a:lnTo>
                  <a:lnTo>
                    <a:pt x="1774812" y="390817"/>
                  </a:lnTo>
                  <a:lnTo>
                    <a:pt x="1777542" y="384670"/>
                  </a:lnTo>
                  <a:lnTo>
                    <a:pt x="1780006" y="378434"/>
                  </a:lnTo>
                  <a:lnTo>
                    <a:pt x="1782229" y="372097"/>
                  </a:lnTo>
                  <a:lnTo>
                    <a:pt x="1790077" y="329082"/>
                  </a:lnTo>
                  <a:lnTo>
                    <a:pt x="1786166" y="287070"/>
                  </a:lnTo>
                  <a:lnTo>
                    <a:pt x="1771472" y="247446"/>
                  </a:lnTo>
                  <a:lnTo>
                    <a:pt x="1746923" y="211594"/>
                  </a:lnTo>
                  <a:lnTo>
                    <a:pt x="1713471" y="180911"/>
                  </a:lnTo>
                  <a:lnTo>
                    <a:pt x="1672094" y="156768"/>
                  </a:lnTo>
                  <a:lnTo>
                    <a:pt x="1623733" y="140576"/>
                  </a:lnTo>
                  <a:lnTo>
                    <a:pt x="1614411" y="112102"/>
                  </a:lnTo>
                  <a:lnTo>
                    <a:pt x="1579295" y="61480"/>
                  </a:lnTo>
                  <a:lnTo>
                    <a:pt x="1514779" y="18592"/>
                  </a:lnTo>
                  <a:lnTo>
                    <a:pt x="1471764" y="5130"/>
                  </a:lnTo>
                  <a:lnTo>
                    <a:pt x="1426946" y="0"/>
                  </a:lnTo>
                  <a:lnTo>
                    <a:pt x="1382052" y="3073"/>
                  </a:lnTo>
                  <a:lnTo>
                    <a:pt x="1338846" y="14262"/>
                  </a:lnTo>
                  <a:lnTo>
                    <a:pt x="1299070" y="33426"/>
                  </a:lnTo>
                  <a:lnTo>
                    <a:pt x="1264450" y="60452"/>
                  </a:lnTo>
                  <a:lnTo>
                    <a:pt x="1250708" y="47028"/>
                  </a:lnTo>
                  <a:lnTo>
                    <a:pt x="1218361" y="24638"/>
                  </a:lnTo>
                  <a:lnTo>
                    <a:pt x="1153147" y="2514"/>
                  </a:lnTo>
                  <a:lnTo>
                    <a:pt x="1105331" y="0"/>
                  </a:lnTo>
                  <a:lnTo>
                    <a:pt x="1058964" y="7658"/>
                  </a:lnTo>
                  <a:lnTo>
                    <a:pt x="1016393" y="24828"/>
                  </a:lnTo>
                  <a:lnTo>
                    <a:pt x="980008" y="50863"/>
                  </a:lnTo>
                  <a:lnTo>
                    <a:pt x="952157" y="85077"/>
                  </a:lnTo>
                  <a:lnTo>
                    <a:pt x="940130" y="75844"/>
                  </a:lnTo>
                  <a:lnTo>
                    <a:pt x="899706" y="52946"/>
                  </a:lnTo>
                  <a:lnTo>
                    <a:pt x="851192" y="37045"/>
                  </a:lnTo>
                  <a:lnTo>
                    <a:pt x="801255" y="30949"/>
                  </a:lnTo>
                  <a:lnTo>
                    <a:pt x="751738" y="34163"/>
                  </a:lnTo>
                  <a:lnTo>
                    <a:pt x="704469" y="46240"/>
                  </a:lnTo>
                  <a:lnTo>
                    <a:pt x="661263" y="66713"/>
                  </a:lnTo>
                  <a:lnTo>
                    <a:pt x="623963" y="95097"/>
                  </a:lnTo>
                  <a:lnTo>
                    <a:pt x="594398" y="130924"/>
                  </a:lnTo>
                  <a:lnTo>
                    <a:pt x="551459" y="113792"/>
                  </a:lnTo>
                  <a:lnTo>
                    <a:pt x="505980" y="102882"/>
                  </a:lnTo>
                  <a:lnTo>
                    <a:pt x="458965" y="98374"/>
                  </a:lnTo>
                  <a:lnTo>
                    <a:pt x="411391" y="100444"/>
                  </a:lnTo>
                  <a:lnTo>
                    <a:pt x="361086" y="110007"/>
                  </a:lnTo>
                  <a:lnTo>
                    <a:pt x="314934" y="126390"/>
                  </a:lnTo>
                  <a:lnTo>
                    <a:pt x="273659" y="148856"/>
                  </a:lnTo>
                  <a:lnTo>
                    <a:pt x="237921" y="176631"/>
                  </a:lnTo>
                  <a:lnTo>
                    <a:pt x="208419" y="208965"/>
                  </a:lnTo>
                  <a:lnTo>
                    <a:pt x="185851" y="245084"/>
                  </a:lnTo>
                  <a:lnTo>
                    <a:pt x="170903" y="284264"/>
                  </a:lnTo>
                  <a:lnTo>
                    <a:pt x="164274" y="325704"/>
                  </a:lnTo>
                  <a:lnTo>
                    <a:pt x="166662" y="368668"/>
                  </a:lnTo>
                  <a:lnTo>
                    <a:pt x="165138" y="372097"/>
                  </a:lnTo>
                  <a:lnTo>
                    <a:pt x="122847" y="380085"/>
                  </a:lnTo>
                  <a:lnTo>
                    <a:pt x="84455" y="395871"/>
                  </a:lnTo>
                  <a:lnTo>
                    <a:pt x="51435" y="418642"/>
                  </a:lnTo>
                  <a:lnTo>
                    <a:pt x="25311" y="447573"/>
                  </a:lnTo>
                  <a:lnTo>
                    <a:pt x="6223" y="485724"/>
                  </a:lnTo>
                  <a:lnTo>
                    <a:pt x="0" y="525360"/>
                  </a:lnTo>
                  <a:lnTo>
                    <a:pt x="6007" y="564451"/>
                  </a:lnTo>
                  <a:lnTo>
                    <a:pt x="23596" y="601027"/>
                  </a:lnTo>
                  <a:lnTo>
                    <a:pt x="52171" y="633044"/>
                  </a:lnTo>
                  <a:lnTo>
                    <a:pt x="91097" y="658495"/>
                  </a:lnTo>
                  <a:lnTo>
                    <a:pt x="66903" y="685292"/>
                  </a:lnTo>
                  <a:lnTo>
                    <a:pt x="50431" y="715416"/>
                  </a:lnTo>
                  <a:lnTo>
                    <a:pt x="42138" y="747776"/>
                  </a:lnTo>
                  <a:lnTo>
                    <a:pt x="42456" y="781240"/>
                  </a:lnTo>
                  <a:lnTo>
                    <a:pt x="54737" y="821131"/>
                  </a:lnTo>
                  <a:lnTo>
                    <a:pt x="78371" y="855726"/>
                  </a:lnTo>
                  <a:lnTo>
                    <a:pt x="111391" y="883780"/>
                  </a:lnTo>
                  <a:lnTo>
                    <a:pt x="151853" y="903986"/>
                  </a:lnTo>
                  <a:lnTo>
                    <a:pt x="197815" y="915073"/>
                  </a:lnTo>
                  <a:lnTo>
                    <a:pt x="247307" y="915758"/>
                  </a:lnTo>
                  <a:lnTo>
                    <a:pt x="250723" y="920686"/>
                  </a:lnTo>
                  <a:lnTo>
                    <a:pt x="278638" y="953782"/>
                  </a:lnTo>
                  <a:lnTo>
                    <a:pt x="311200" y="982395"/>
                  </a:lnTo>
                  <a:lnTo>
                    <a:pt x="347726" y="1006373"/>
                  </a:lnTo>
                  <a:lnTo>
                    <a:pt x="387515" y="1025575"/>
                  </a:lnTo>
                  <a:lnTo>
                    <a:pt x="429869" y="1039850"/>
                  </a:lnTo>
                  <a:lnTo>
                    <a:pt x="474116" y="1049070"/>
                  </a:lnTo>
                  <a:lnTo>
                    <a:pt x="519531" y="1053084"/>
                  </a:lnTo>
                  <a:lnTo>
                    <a:pt x="565442" y="1051737"/>
                  </a:lnTo>
                  <a:lnTo>
                    <a:pt x="611149" y="1044892"/>
                  </a:lnTo>
                  <a:lnTo>
                    <a:pt x="655955" y="1032408"/>
                  </a:lnTo>
                  <a:lnTo>
                    <a:pt x="699173" y="1014133"/>
                  </a:lnTo>
                  <a:lnTo>
                    <a:pt x="729996" y="1046264"/>
                  </a:lnTo>
                  <a:lnTo>
                    <a:pt x="766673" y="1073327"/>
                  </a:lnTo>
                  <a:lnTo>
                    <a:pt x="808291" y="1094752"/>
                  </a:lnTo>
                  <a:lnTo>
                    <a:pt x="853986" y="1110030"/>
                  </a:lnTo>
                  <a:lnTo>
                    <a:pt x="904494" y="1118793"/>
                  </a:lnTo>
                  <a:lnTo>
                    <a:pt x="954633" y="1119886"/>
                  </a:lnTo>
                  <a:lnTo>
                    <a:pt x="1003388" y="1113764"/>
                  </a:lnTo>
                  <a:lnTo>
                    <a:pt x="1049743" y="1100861"/>
                  </a:lnTo>
                  <a:lnTo>
                    <a:pt x="1092695" y="1081646"/>
                  </a:lnTo>
                  <a:lnTo>
                    <a:pt x="1131252" y="1056563"/>
                  </a:lnTo>
                  <a:lnTo>
                    <a:pt x="1164399" y="1026058"/>
                  </a:lnTo>
                  <a:lnTo>
                    <a:pt x="1191145" y="990574"/>
                  </a:lnTo>
                  <a:lnTo>
                    <a:pt x="1210475" y="950582"/>
                  </a:lnTo>
                  <a:lnTo>
                    <a:pt x="1240193" y="963790"/>
                  </a:lnTo>
                  <a:lnTo>
                    <a:pt x="1271714" y="973429"/>
                  </a:lnTo>
                  <a:lnTo>
                    <a:pt x="1304518" y="979373"/>
                  </a:lnTo>
                  <a:lnTo>
                    <a:pt x="1338110" y="981532"/>
                  </a:lnTo>
                  <a:lnTo>
                    <a:pt x="1387500" y="977722"/>
                  </a:lnTo>
                  <a:lnTo>
                    <a:pt x="1433601" y="966139"/>
                  </a:lnTo>
                  <a:lnTo>
                    <a:pt x="1475397" y="947610"/>
                  </a:lnTo>
                  <a:lnTo>
                    <a:pt x="1511884" y="922947"/>
                  </a:lnTo>
                  <a:lnTo>
                    <a:pt x="1542097" y="892962"/>
                  </a:lnTo>
                  <a:lnTo>
                    <a:pt x="1565008" y="858469"/>
                  </a:lnTo>
                  <a:lnTo>
                    <a:pt x="1579638" y="820280"/>
                  </a:lnTo>
                  <a:lnTo>
                    <a:pt x="1584998" y="779195"/>
                  </a:lnTo>
                  <a:lnTo>
                    <a:pt x="1621015" y="772909"/>
                  </a:lnTo>
                  <a:lnTo>
                    <a:pt x="1688503" y="749236"/>
                  </a:lnTo>
                  <a:lnTo>
                    <a:pt x="1757172" y="702906"/>
                  </a:lnTo>
                  <a:lnTo>
                    <a:pt x="1787537" y="669455"/>
                  </a:lnTo>
                  <a:lnTo>
                    <a:pt x="1810042" y="632752"/>
                  </a:lnTo>
                  <a:lnTo>
                    <a:pt x="1824545" y="593712"/>
                  </a:lnTo>
                  <a:lnTo>
                    <a:pt x="1830895" y="553313"/>
                  </a:lnTo>
                  <a:close/>
                </a:path>
              </a:pathLst>
            </a:custGeom>
            <a:solidFill>
              <a:srgbClr val="CC99FF"/>
            </a:solidFill>
          </p:spPr>
          <p:txBody>
            <a:bodyPr wrap="square" lIns="0" tIns="0" rIns="0" bIns="0" rtlCol="0"/>
            <a:lstStyle/>
            <a:p/>
          </p:txBody>
        </p:sp>
        <p:pic>
          <p:nvPicPr>
            <p:cNvPr id="43" name="object 38"/>
            <p:cNvPicPr/>
            <p:nvPr/>
          </p:nvPicPr>
          <p:blipFill>
            <a:blip r:embed="rId8" cstate="print"/>
            <a:stretch>
              <a:fillRect/>
            </a:stretch>
          </p:blipFill>
          <p:spPr>
            <a:xfrm>
              <a:off x="7326375" y="4150042"/>
              <a:ext cx="309752" cy="314794"/>
            </a:xfrm>
            <a:prstGeom prst="rect">
              <a:avLst/>
            </a:prstGeom>
          </p:spPr>
        </p:pic>
        <p:pic>
          <p:nvPicPr>
            <p:cNvPr id="44" name="object 39"/>
            <p:cNvPicPr/>
            <p:nvPr/>
          </p:nvPicPr>
          <p:blipFill>
            <a:blip r:embed="rId9" cstate="print"/>
            <a:stretch>
              <a:fillRect/>
            </a:stretch>
          </p:blipFill>
          <p:spPr>
            <a:xfrm>
              <a:off x="7929371" y="3787140"/>
              <a:ext cx="228600" cy="228600"/>
            </a:xfrm>
            <a:prstGeom prst="rect">
              <a:avLst/>
            </a:prstGeom>
          </p:spPr>
        </p:pic>
        <p:sp>
          <p:nvSpPr>
            <p:cNvPr id="45" name="object 40"/>
            <p:cNvSpPr/>
            <p:nvPr/>
          </p:nvSpPr>
          <p:spPr>
            <a:xfrm>
              <a:off x="6444233" y="3902202"/>
              <a:ext cx="1485900" cy="0"/>
            </a:xfrm>
            <a:custGeom>
              <a:avLst/>
              <a:gdLst/>
              <a:ahLst/>
              <a:cxnLst/>
              <a:rect l="l" t="t" r="r" b="b"/>
              <a:pathLst>
                <a:path w="1485900">
                  <a:moveTo>
                    <a:pt x="0" y="0"/>
                  </a:moveTo>
                  <a:lnTo>
                    <a:pt x="1485899" y="0"/>
                  </a:lnTo>
                </a:path>
              </a:pathLst>
            </a:custGeom>
            <a:ln w="25400">
              <a:solidFill>
                <a:srgbClr val="35362F"/>
              </a:solidFill>
              <a:prstDash val="sysDash"/>
            </a:ln>
          </p:spPr>
          <p:txBody>
            <a:bodyPr wrap="square" lIns="0" tIns="0" rIns="0" bIns="0" rtlCol="0"/>
            <a:lstStyle/>
            <a:p/>
          </p:txBody>
        </p:sp>
        <p:sp>
          <p:nvSpPr>
            <p:cNvPr id="46" name="object 41"/>
            <p:cNvSpPr/>
            <p:nvPr/>
          </p:nvSpPr>
          <p:spPr>
            <a:xfrm>
              <a:off x="8330183" y="3730752"/>
              <a:ext cx="285115" cy="342900"/>
            </a:xfrm>
            <a:custGeom>
              <a:avLst/>
              <a:gdLst/>
              <a:ahLst/>
              <a:cxnLst/>
              <a:rect l="l" t="t" r="r" b="b"/>
              <a:pathLst>
                <a:path w="285115" h="342900">
                  <a:moveTo>
                    <a:pt x="142494" y="0"/>
                  </a:moveTo>
                  <a:lnTo>
                    <a:pt x="0" y="0"/>
                  </a:lnTo>
                  <a:lnTo>
                    <a:pt x="0" y="342900"/>
                  </a:lnTo>
                  <a:lnTo>
                    <a:pt x="142494" y="342900"/>
                  </a:lnTo>
                  <a:lnTo>
                    <a:pt x="187549" y="334159"/>
                  </a:lnTo>
                  <a:lnTo>
                    <a:pt x="226667" y="309820"/>
                  </a:lnTo>
                  <a:lnTo>
                    <a:pt x="257507" y="272706"/>
                  </a:lnTo>
                  <a:lnTo>
                    <a:pt x="277727" y="225642"/>
                  </a:lnTo>
                  <a:lnTo>
                    <a:pt x="284988" y="171450"/>
                  </a:lnTo>
                  <a:lnTo>
                    <a:pt x="277727" y="117238"/>
                  </a:lnTo>
                  <a:lnTo>
                    <a:pt x="257507" y="70171"/>
                  </a:lnTo>
                  <a:lnTo>
                    <a:pt x="226667" y="33064"/>
                  </a:lnTo>
                  <a:lnTo>
                    <a:pt x="187549" y="8735"/>
                  </a:lnTo>
                  <a:lnTo>
                    <a:pt x="142494" y="0"/>
                  </a:lnTo>
                  <a:close/>
                </a:path>
              </a:pathLst>
            </a:custGeom>
            <a:solidFill>
              <a:srgbClr val="CDC700"/>
            </a:solidFill>
          </p:spPr>
          <p:txBody>
            <a:bodyPr wrap="square" lIns="0" tIns="0" rIns="0" bIns="0" rtlCol="0"/>
            <a:lstStyle/>
            <a:p/>
          </p:txBody>
        </p:sp>
        <p:sp>
          <p:nvSpPr>
            <p:cNvPr id="47" name="object 42"/>
            <p:cNvSpPr/>
            <p:nvPr/>
          </p:nvSpPr>
          <p:spPr>
            <a:xfrm>
              <a:off x="8330183" y="3730752"/>
              <a:ext cx="285115" cy="342900"/>
            </a:xfrm>
            <a:custGeom>
              <a:avLst/>
              <a:gdLst/>
              <a:ahLst/>
              <a:cxnLst/>
              <a:rect l="l" t="t" r="r" b="b"/>
              <a:pathLst>
                <a:path w="285115" h="342900">
                  <a:moveTo>
                    <a:pt x="0" y="0"/>
                  </a:moveTo>
                  <a:lnTo>
                    <a:pt x="142494" y="0"/>
                  </a:lnTo>
                  <a:lnTo>
                    <a:pt x="187549" y="8735"/>
                  </a:lnTo>
                  <a:lnTo>
                    <a:pt x="226667" y="33064"/>
                  </a:lnTo>
                  <a:lnTo>
                    <a:pt x="257507" y="70171"/>
                  </a:lnTo>
                  <a:lnTo>
                    <a:pt x="277727" y="117238"/>
                  </a:lnTo>
                  <a:lnTo>
                    <a:pt x="284988" y="171450"/>
                  </a:lnTo>
                  <a:lnTo>
                    <a:pt x="277727" y="225642"/>
                  </a:lnTo>
                  <a:lnTo>
                    <a:pt x="257507" y="272706"/>
                  </a:lnTo>
                  <a:lnTo>
                    <a:pt x="226667" y="309820"/>
                  </a:lnTo>
                  <a:lnTo>
                    <a:pt x="187549" y="334159"/>
                  </a:lnTo>
                  <a:lnTo>
                    <a:pt x="142494" y="342900"/>
                  </a:lnTo>
                  <a:lnTo>
                    <a:pt x="0" y="342900"/>
                  </a:lnTo>
                  <a:lnTo>
                    <a:pt x="0" y="0"/>
                  </a:lnTo>
                  <a:close/>
                </a:path>
              </a:pathLst>
            </a:custGeom>
            <a:ln w="9525">
              <a:solidFill>
                <a:srgbClr val="35362F"/>
              </a:solidFill>
            </a:ln>
          </p:spPr>
          <p:txBody>
            <a:bodyPr wrap="square" lIns="0" tIns="0" rIns="0" bIns="0" rtlCol="0"/>
            <a:lstStyle/>
            <a:p/>
          </p:txBody>
        </p:sp>
      </p:grpSp>
      <p:sp>
        <p:nvSpPr>
          <p:cNvPr id="48" name="object 43"/>
          <p:cNvSpPr/>
          <p:nvPr/>
        </p:nvSpPr>
        <p:spPr>
          <a:xfrm>
            <a:off x="7338821" y="2853055"/>
            <a:ext cx="228600" cy="228600"/>
          </a:xfrm>
          <a:custGeom>
            <a:avLst/>
            <a:gdLst/>
            <a:ahLst/>
            <a:cxnLst/>
            <a:rect l="l" t="t" r="r" b="b"/>
            <a:pathLst>
              <a:path w="228600" h="228600">
                <a:moveTo>
                  <a:pt x="0" y="228600"/>
                </a:moveTo>
                <a:lnTo>
                  <a:pt x="228600" y="228600"/>
                </a:lnTo>
                <a:lnTo>
                  <a:pt x="228600" y="0"/>
                </a:lnTo>
                <a:lnTo>
                  <a:pt x="0" y="0"/>
                </a:lnTo>
                <a:lnTo>
                  <a:pt x="0" y="228600"/>
                </a:lnTo>
                <a:close/>
              </a:path>
            </a:pathLst>
          </a:custGeom>
          <a:ln w="9525">
            <a:solidFill>
              <a:srgbClr val="35362F"/>
            </a:solidFill>
          </a:ln>
        </p:spPr>
        <p:txBody>
          <a:bodyPr wrap="square" lIns="0" tIns="0" rIns="0" bIns="0" rtlCol="0"/>
          <a:lstStyle/>
          <a:p/>
        </p:txBody>
      </p:sp>
      <p:sp>
        <p:nvSpPr>
          <p:cNvPr id="49" name="object 44"/>
          <p:cNvSpPr txBox="1"/>
          <p:nvPr/>
        </p:nvSpPr>
        <p:spPr>
          <a:xfrm>
            <a:off x="7763509" y="2892780"/>
            <a:ext cx="200025" cy="140970"/>
          </a:xfrm>
          <a:prstGeom prst="rect">
            <a:avLst/>
          </a:prstGeom>
        </p:spPr>
        <p:txBody>
          <a:bodyPr vert="horz" wrap="square" lIns="0" tIns="13335" rIns="0" bIns="0" rtlCol="0">
            <a:spAutoFit/>
          </a:bodyPr>
          <a:lstStyle/>
          <a:p>
            <a:pPr marL="12700">
              <a:lnSpc>
                <a:spcPct val="100000"/>
              </a:lnSpc>
              <a:spcBef>
                <a:spcPts val="105"/>
              </a:spcBef>
            </a:pPr>
            <a:r>
              <a:rPr sz="750" b="1" spc="-20" dirty="0">
                <a:solidFill>
                  <a:srgbClr val="35362F"/>
                </a:solidFill>
                <a:latin typeface="Calibri" panose="020F0502020204030204"/>
                <a:cs typeface="Calibri" panose="020F0502020204030204"/>
              </a:rPr>
              <a:t>gate</a:t>
            </a:r>
            <a:endParaRPr sz="750">
              <a:latin typeface="Calibri" panose="020F0502020204030204"/>
              <a:cs typeface="Calibri" panose="020F0502020204030204"/>
            </a:endParaRPr>
          </a:p>
        </p:txBody>
      </p:sp>
      <p:grpSp>
        <p:nvGrpSpPr>
          <p:cNvPr id="50" name="object 45"/>
          <p:cNvGrpSpPr/>
          <p:nvPr/>
        </p:nvGrpSpPr>
        <p:grpSpPr>
          <a:xfrm>
            <a:off x="6444043" y="2708084"/>
            <a:ext cx="1757680" cy="547370"/>
            <a:chOff x="7034593" y="3642169"/>
            <a:chExt cx="1757680" cy="547370"/>
          </a:xfrm>
        </p:grpSpPr>
        <p:sp>
          <p:nvSpPr>
            <p:cNvPr id="51" name="object 46"/>
            <p:cNvSpPr/>
            <p:nvPr/>
          </p:nvSpPr>
          <p:spPr>
            <a:xfrm>
              <a:off x="8157972" y="3901440"/>
              <a:ext cx="629920" cy="0"/>
            </a:xfrm>
            <a:custGeom>
              <a:avLst/>
              <a:gdLst/>
              <a:ahLst/>
              <a:cxnLst/>
              <a:rect l="l" t="t" r="r" b="b"/>
              <a:pathLst>
                <a:path w="629920">
                  <a:moveTo>
                    <a:pt x="0" y="0"/>
                  </a:moveTo>
                  <a:lnTo>
                    <a:pt x="172211" y="0"/>
                  </a:lnTo>
                </a:path>
                <a:path w="629920">
                  <a:moveTo>
                    <a:pt x="457200" y="0"/>
                  </a:moveTo>
                  <a:lnTo>
                    <a:pt x="629411" y="0"/>
                  </a:lnTo>
                </a:path>
              </a:pathLst>
            </a:custGeom>
            <a:ln w="9525">
              <a:solidFill>
                <a:srgbClr val="35362F"/>
              </a:solidFill>
            </a:ln>
          </p:spPr>
          <p:txBody>
            <a:bodyPr wrap="square" lIns="0" tIns="0" rIns="0" bIns="0" rtlCol="0"/>
            <a:lstStyle/>
            <a:p/>
          </p:txBody>
        </p:sp>
        <p:sp>
          <p:nvSpPr>
            <p:cNvPr id="52" name="object 47"/>
            <p:cNvSpPr/>
            <p:nvPr/>
          </p:nvSpPr>
          <p:spPr>
            <a:xfrm>
              <a:off x="7059930" y="3902443"/>
              <a:ext cx="389890" cy="287020"/>
            </a:xfrm>
            <a:custGeom>
              <a:avLst/>
              <a:gdLst/>
              <a:ahLst/>
              <a:cxnLst/>
              <a:rect l="l" t="t" r="r" b="b"/>
              <a:pathLst>
                <a:path w="389890" h="287020">
                  <a:moveTo>
                    <a:pt x="389890" y="30238"/>
                  </a:moveTo>
                  <a:lnTo>
                    <a:pt x="343916" y="0"/>
                  </a:lnTo>
                  <a:lnTo>
                    <a:pt x="339598" y="2844"/>
                  </a:lnTo>
                  <a:lnTo>
                    <a:pt x="335267" y="5689"/>
                  </a:lnTo>
                  <a:lnTo>
                    <a:pt x="9525" y="219989"/>
                  </a:lnTo>
                  <a:lnTo>
                    <a:pt x="4826" y="223088"/>
                  </a:lnTo>
                  <a:lnTo>
                    <a:pt x="0" y="226263"/>
                  </a:lnTo>
                  <a:lnTo>
                    <a:pt x="0" y="286727"/>
                  </a:lnTo>
                  <a:lnTo>
                    <a:pt x="26860" y="269049"/>
                  </a:lnTo>
                  <a:lnTo>
                    <a:pt x="389890" y="30238"/>
                  </a:lnTo>
                  <a:close/>
                </a:path>
              </a:pathLst>
            </a:custGeom>
            <a:solidFill>
              <a:srgbClr val="4554C6"/>
            </a:solidFill>
          </p:spPr>
          <p:txBody>
            <a:bodyPr wrap="square" lIns="0" tIns="0" rIns="0" bIns="0" rtlCol="0"/>
            <a:lstStyle/>
            <a:p/>
          </p:txBody>
        </p:sp>
        <p:sp>
          <p:nvSpPr>
            <p:cNvPr id="53" name="object 48"/>
            <p:cNvSpPr/>
            <p:nvPr/>
          </p:nvSpPr>
          <p:spPr>
            <a:xfrm>
              <a:off x="7039356" y="3646932"/>
              <a:ext cx="376555" cy="495300"/>
            </a:xfrm>
            <a:custGeom>
              <a:avLst/>
              <a:gdLst/>
              <a:ahLst/>
              <a:cxnLst/>
              <a:rect l="l" t="t" r="r" b="b"/>
              <a:pathLst>
                <a:path w="376554" h="495300">
                  <a:moveTo>
                    <a:pt x="0" y="0"/>
                  </a:moveTo>
                  <a:lnTo>
                    <a:pt x="0" y="495300"/>
                  </a:lnTo>
                  <a:lnTo>
                    <a:pt x="376427" y="247650"/>
                  </a:lnTo>
                  <a:lnTo>
                    <a:pt x="0" y="0"/>
                  </a:lnTo>
                  <a:close/>
                </a:path>
              </a:pathLst>
            </a:custGeom>
            <a:solidFill>
              <a:srgbClr val="993366"/>
            </a:solidFill>
          </p:spPr>
          <p:txBody>
            <a:bodyPr wrap="square" lIns="0" tIns="0" rIns="0" bIns="0" rtlCol="0"/>
            <a:lstStyle/>
            <a:p/>
          </p:txBody>
        </p:sp>
        <p:sp>
          <p:nvSpPr>
            <p:cNvPr id="54" name="object 49"/>
            <p:cNvSpPr/>
            <p:nvPr/>
          </p:nvSpPr>
          <p:spPr>
            <a:xfrm>
              <a:off x="7039356" y="3646932"/>
              <a:ext cx="376555" cy="495300"/>
            </a:xfrm>
            <a:custGeom>
              <a:avLst/>
              <a:gdLst/>
              <a:ahLst/>
              <a:cxnLst/>
              <a:rect l="l" t="t" r="r" b="b"/>
              <a:pathLst>
                <a:path w="376554" h="495300">
                  <a:moveTo>
                    <a:pt x="0" y="0"/>
                  </a:moveTo>
                  <a:lnTo>
                    <a:pt x="0" y="495300"/>
                  </a:lnTo>
                  <a:lnTo>
                    <a:pt x="376427" y="247650"/>
                  </a:lnTo>
                  <a:lnTo>
                    <a:pt x="0" y="0"/>
                  </a:lnTo>
                  <a:close/>
                </a:path>
              </a:pathLst>
            </a:custGeom>
            <a:ln w="9525">
              <a:solidFill>
                <a:srgbClr val="FF99CC"/>
              </a:solidFill>
            </a:ln>
          </p:spPr>
          <p:txBody>
            <a:bodyPr wrap="square" lIns="0" tIns="0" rIns="0" bIns="0" rtlCol="0"/>
            <a:lstStyle/>
            <a:p/>
          </p:txBody>
        </p:sp>
      </p:grpSp>
      <p:sp>
        <p:nvSpPr>
          <p:cNvPr id="55" name="object 50"/>
          <p:cNvSpPr txBox="1"/>
          <p:nvPr/>
        </p:nvSpPr>
        <p:spPr>
          <a:xfrm>
            <a:off x="6483095" y="2859557"/>
            <a:ext cx="196850" cy="186690"/>
          </a:xfrm>
          <a:prstGeom prst="rect">
            <a:avLst/>
          </a:prstGeom>
        </p:spPr>
        <p:txBody>
          <a:bodyPr vert="horz" wrap="square" lIns="0" tIns="13335" rIns="0" bIns="0" rtlCol="0">
            <a:spAutoFit/>
          </a:bodyPr>
          <a:lstStyle/>
          <a:p>
            <a:pPr marL="12700">
              <a:lnSpc>
                <a:spcPct val="100000"/>
              </a:lnSpc>
              <a:spcBef>
                <a:spcPts val="105"/>
              </a:spcBef>
            </a:pPr>
            <a:r>
              <a:rPr sz="1050" b="1" spc="-25" dirty="0">
                <a:solidFill>
                  <a:srgbClr val="FFFFFF"/>
                </a:solidFill>
                <a:latin typeface="Calibri" panose="020F0502020204030204"/>
                <a:cs typeface="Calibri" panose="020F0502020204030204"/>
              </a:rPr>
              <a:t>AO</a:t>
            </a:r>
            <a:endParaRPr sz="1050">
              <a:latin typeface="Calibri" panose="020F0502020204030204"/>
              <a:cs typeface="Calibri" panose="020F0502020204030204"/>
            </a:endParaRPr>
          </a:p>
        </p:txBody>
      </p:sp>
      <p:sp>
        <p:nvSpPr>
          <p:cNvPr id="56" name="object 51"/>
          <p:cNvSpPr txBox="1"/>
          <p:nvPr/>
        </p:nvSpPr>
        <p:spPr>
          <a:xfrm>
            <a:off x="6066663" y="3239643"/>
            <a:ext cx="808990" cy="604520"/>
          </a:xfrm>
          <a:prstGeom prst="rect">
            <a:avLst/>
          </a:prstGeom>
        </p:spPr>
        <p:txBody>
          <a:bodyPr vert="horz" wrap="square" lIns="0" tIns="13335" rIns="0" bIns="0" rtlCol="0">
            <a:spAutoFit/>
          </a:bodyPr>
          <a:lstStyle/>
          <a:p>
            <a:pPr marL="12700">
              <a:lnSpc>
                <a:spcPct val="100000"/>
              </a:lnSpc>
              <a:spcBef>
                <a:spcPts val="105"/>
              </a:spcBef>
            </a:pPr>
            <a:r>
              <a:rPr sz="1350" b="1" dirty="0">
                <a:solidFill>
                  <a:srgbClr val="35362F"/>
                </a:solidFill>
                <a:latin typeface="Calibri" panose="020F0502020204030204"/>
                <a:cs typeface="Calibri" panose="020F0502020204030204"/>
              </a:rPr>
              <a:t>Shut</a:t>
            </a:r>
            <a:r>
              <a:rPr sz="1350" b="1" spc="-35" dirty="0">
                <a:solidFill>
                  <a:srgbClr val="35362F"/>
                </a:solidFill>
                <a:latin typeface="Calibri" panose="020F0502020204030204"/>
                <a:cs typeface="Calibri" panose="020F0502020204030204"/>
              </a:rPr>
              <a:t> </a:t>
            </a:r>
            <a:r>
              <a:rPr sz="1350" b="1" spc="-20" dirty="0">
                <a:solidFill>
                  <a:srgbClr val="35362F"/>
                </a:solidFill>
                <a:latin typeface="Calibri" panose="020F0502020204030204"/>
                <a:cs typeface="Calibri" panose="020F0502020204030204"/>
              </a:rPr>
              <a:t>Down</a:t>
            </a:r>
            <a:endParaRPr sz="1350">
              <a:latin typeface="Calibri" panose="020F0502020204030204"/>
              <a:cs typeface="Calibri" panose="020F0502020204030204"/>
            </a:endParaRPr>
          </a:p>
          <a:p>
            <a:pPr marL="12700">
              <a:lnSpc>
                <a:spcPct val="100000"/>
              </a:lnSpc>
              <a:spcBef>
                <a:spcPts val="1310"/>
              </a:spcBef>
            </a:pPr>
            <a:r>
              <a:rPr sz="1350" b="1" spc="-10" dirty="0">
                <a:solidFill>
                  <a:srgbClr val="FFFFFF"/>
                </a:solidFill>
                <a:latin typeface="Calibri" panose="020F0502020204030204"/>
                <a:cs typeface="Calibri" panose="020F0502020204030204"/>
              </a:rPr>
              <a:t>Always</a:t>
            </a:r>
            <a:r>
              <a:rPr sz="1350" b="1" spc="-40" dirty="0">
                <a:solidFill>
                  <a:srgbClr val="FFFFFF"/>
                </a:solidFill>
                <a:latin typeface="Calibri" panose="020F0502020204030204"/>
                <a:cs typeface="Calibri" panose="020F0502020204030204"/>
              </a:rPr>
              <a:t> </a:t>
            </a:r>
            <a:r>
              <a:rPr sz="1350" b="1" spc="-25" dirty="0">
                <a:solidFill>
                  <a:srgbClr val="FFFFFF"/>
                </a:solidFill>
                <a:latin typeface="Calibri" panose="020F0502020204030204"/>
                <a:cs typeface="Calibri" panose="020F0502020204030204"/>
              </a:rPr>
              <a:t>On</a:t>
            </a:r>
            <a:endParaRPr sz="1350">
              <a:latin typeface="Calibri" panose="020F0502020204030204"/>
              <a:cs typeface="Calibri" panose="020F0502020204030204"/>
            </a:endParaRPr>
          </a:p>
        </p:txBody>
      </p:sp>
      <p:grpSp>
        <p:nvGrpSpPr>
          <p:cNvPr id="57" name="object 52"/>
          <p:cNvGrpSpPr/>
          <p:nvPr/>
        </p:nvGrpSpPr>
        <p:grpSpPr>
          <a:xfrm>
            <a:off x="5220271" y="2791904"/>
            <a:ext cx="294640" cy="352425"/>
            <a:chOff x="5810821" y="3725989"/>
            <a:chExt cx="294640" cy="352425"/>
          </a:xfrm>
        </p:grpSpPr>
        <p:sp>
          <p:nvSpPr>
            <p:cNvPr id="58" name="object 53"/>
            <p:cNvSpPr/>
            <p:nvPr/>
          </p:nvSpPr>
          <p:spPr>
            <a:xfrm>
              <a:off x="5815584" y="3730752"/>
              <a:ext cx="285115" cy="342900"/>
            </a:xfrm>
            <a:custGeom>
              <a:avLst/>
              <a:gdLst/>
              <a:ahLst/>
              <a:cxnLst/>
              <a:rect l="l" t="t" r="r" b="b"/>
              <a:pathLst>
                <a:path w="285114" h="342900">
                  <a:moveTo>
                    <a:pt x="142493" y="0"/>
                  </a:moveTo>
                  <a:lnTo>
                    <a:pt x="0" y="0"/>
                  </a:lnTo>
                  <a:lnTo>
                    <a:pt x="0" y="342900"/>
                  </a:lnTo>
                  <a:lnTo>
                    <a:pt x="142493" y="342900"/>
                  </a:lnTo>
                  <a:lnTo>
                    <a:pt x="187549" y="334159"/>
                  </a:lnTo>
                  <a:lnTo>
                    <a:pt x="226667" y="309820"/>
                  </a:lnTo>
                  <a:lnTo>
                    <a:pt x="257507" y="272706"/>
                  </a:lnTo>
                  <a:lnTo>
                    <a:pt x="277727" y="225642"/>
                  </a:lnTo>
                  <a:lnTo>
                    <a:pt x="284988" y="171450"/>
                  </a:lnTo>
                  <a:lnTo>
                    <a:pt x="277727" y="117238"/>
                  </a:lnTo>
                  <a:lnTo>
                    <a:pt x="257507" y="70171"/>
                  </a:lnTo>
                  <a:lnTo>
                    <a:pt x="226667" y="33064"/>
                  </a:lnTo>
                  <a:lnTo>
                    <a:pt x="187549" y="8735"/>
                  </a:lnTo>
                  <a:lnTo>
                    <a:pt x="142493" y="0"/>
                  </a:lnTo>
                  <a:close/>
                </a:path>
              </a:pathLst>
            </a:custGeom>
            <a:solidFill>
              <a:srgbClr val="CDC700"/>
            </a:solidFill>
          </p:spPr>
          <p:txBody>
            <a:bodyPr wrap="square" lIns="0" tIns="0" rIns="0" bIns="0" rtlCol="0"/>
            <a:lstStyle/>
            <a:p/>
          </p:txBody>
        </p:sp>
        <p:sp>
          <p:nvSpPr>
            <p:cNvPr id="59" name="object 54"/>
            <p:cNvSpPr/>
            <p:nvPr/>
          </p:nvSpPr>
          <p:spPr>
            <a:xfrm>
              <a:off x="5815584" y="3730752"/>
              <a:ext cx="285115" cy="342900"/>
            </a:xfrm>
            <a:custGeom>
              <a:avLst/>
              <a:gdLst/>
              <a:ahLst/>
              <a:cxnLst/>
              <a:rect l="l" t="t" r="r" b="b"/>
              <a:pathLst>
                <a:path w="285114" h="342900">
                  <a:moveTo>
                    <a:pt x="0" y="0"/>
                  </a:moveTo>
                  <a:lnTo>
                    <a:pt x="142493" y="0"/>
                  </a:lnTo>
                  <a:lnTo>
                    <a:pt x="187549" y="8735"/>
                  </a:lnTo>
                  <a:lnTo>
                    <a:pt x="226667" y="33064"/>
                  </a:lnTo>
                  <a:lnTo>
                    <a:pt x="257507" y="70171"/>
                  </a:lnTo>
                  <a:lnTo>
                    <a:pt x="277727" y="117238"/>
                  </a:lnTo>
                  <a:lnTo>
                    <a:pt x="284988" y="171450"/>
                  </a:lnTo>
                  <a:lnTo>
                    <a:pt x="277727" y="225642"/>
                  </a:lnTo>
                  <a:lnTo>
                    <a:pt x="257507" y="272706"/>
                  </a:lnTo>
                  <a:lnTo>
                    <a:pt x="226667" y="309820"/>
                  </a:lnTo>
                  <a:lnTo>
                    <a:pt x="187549" y="334159"/>
                  </a:lnTo>
                  <a:lnTo>
                    <a:pt x="142493" y="342900"/>
                  </a:lnTo>
                  <a:lnTo>
                    <a:pt x="0" y="342900"/>
                  </a:lnTo>
                  <a:lnTo>
                    <a:pt x="0" y="0"/>
                  </a:lnTo>
                  <a:close/>
                </a:path>
              </a:pathLst>
            </a:custGeom>
            <a:ln w="9525">
              <a:solidFill>
                <a:srgbClr val="35362F"/>
              </a:solidFill>
            </a:ln>
          </p:spPr>
          <p:txBody>
            <a:bodyPr wrap="square" lIns="0" tIns="0" rIns="0" bIns="0" rtlCol="0"/>
            <a:lstStyle/>
            <a:p/>
          </p:txBody>
        </p:sp>
      </p:grpSp>
      <p:sp>
        <p:nvSpPr>
          <p:cNvPr id="60" name="object 55"/>
          <p:cNvSpPr txBox="1"/>
          <p:nvPr/>
        </p:nvSpPr>
        <p:spPr>
          <a:xfrm>
            <a:off x="5248655" y="2892780"/>
            <a:ext cx="200025" cy="140970"/>
          </a:xfrm>
          <a:prstGeom prst="rect">
            <a:avLst/>
          </a:prstGeom>
        </p:spPr>
        <p:txBody>
          <a:bodyPr vert="horz" wrap="square" lIns="0" tIns="13335" rIns="0" bIns="0" rtlCol="0">
            <a:spAutoFit/>
          </a:bodyPr>
          <a:lstStyle/>
          <a:p>
            <a:pPr marL="12700">
              <a:lnSpc>
                <a:spcPct val="100000"/>
              </a:lnSpc>
              <a:spcBef>
                <a:spcPts val="105"/>
              </a:spcBef>
            </a:pPr>
            <a:r>
              <a:rPr sz="750" b="1" spc="-20" dirty="0">
                <a:solidFill>
                  <a:srgbClr val="35362F"/>
                </a:solidFill>
                <a:latin typeface="Calibri" panose="020F0502020204030204"/>
                <a:cs typeface="Calibri" panose="020F0502020204030204"/>
              </a:rPr>
              <a:t>gate</a:t>
            </a:r>
            <a:endParaRPr sz="750">
              <a:latin typeface="Calibri" panose="020F0502020204030204"/>
              <a:cs typeface="Calibri" panose="020F0502020204030204"/>
            </a:endParaRPr>
          </a:p>
        </p:txBody>
      </p:sp>
      <p:grpSp>
        <p:nvGrpSpPr>
          <p:cNvPr id="61" name="object 56"/>
          <p:cNvGrpSpPr/>
          <p:nvPr/>
        </p:nvGrpSpPr>
        <p:grpSpPr>
          <a:xfrm>
            <a:off x="5052821" y="2853055"/>
            <a:ext cx="800100" cy="228600"/>
            <a:chOff x="5643371" y="3787140"/>
            <a:chExt cx="800100" cy="228600"/>
          </a:xfrm>
        </p:grpSpPr>
        <p:sp>
          <p:nvSpPr>
            <p:cNvPr id="62" name="object 57"/>
            <p:cNvSpPr/>
            <p:nvPr/>
          </p:nvSpPr>
          <p:spPr>
            <a:xfrm>
              <a:off x="5643371" y="3901440"/>
              <a:ext cx="571500" cy="0"/>
            </a:xfrm>
            <a:custGeom>
              <a:avLst/>
              <a:gdLst/>
              <a:ahLst/>
              <a:cxnLst/>
              <a:rect l="l" t="t" r="r" b="b"/>
              <a:pathLst>
                <a:path w="571500">
                  <a:moveTo>
                    <a:pt x="0" y="0"/>
                  </a:moveTo>
                  <a:lnTo>
                    <a:pt x="172212" y="0"/>
                  </a:lnTo>
                </a:path>
                <a:path w="571500">
                  <a:moveTo>
                    <a:pt x="457200" y="0"/>
                  </a:moveTo>
                  <a:lnTo>
                    <a:pt x="571500" y="0"/>
                  </a:lnTo>
                </a:path>
              </a:pathLst>
            </a:custGeom>
            <a:ln w="9525">
              <a:solidFill>
                <a:srgbClr val="35362F"/>
              </a:solidFill>
            </a:ln>
          </p:spPr>
          <p:txBody>
            <a:bodyPr wrap="square" lIns="0" tIns="0" rIns="0" bIns="0" rtlCol="0"/>
            <a:lstStyle/>
            <a:p/>
          </p:txBody>
        </p:sp>
        <p:pic>
          <p:nvPicPr>
            <p:cNvPr id="63" name="object 58"/>
            <p:cNvPicPr/>
            <p:nvPr/>
          </p:nvPicPr>
          <p:blipFill>
            <a:blip r:embed="rId9" cstate="print"/>
            <a:stretch>
              <a:fillRect/>
            </a:stretch>
          </p:blipFill>
          <p:spPr>
            <a:xfrm>
              <a:off x="6214871" y="3787140"/>
              <a:ext cx="228600" cy="228600"/>
            </a:xfrm>
            <a:prstGeom prst="rect">
              <a:avLst/>
            </a:prstGeom>
          </p:spPr>
        </p:pic>
      </p:grpSp>
      <p:sp>
        <p:nvSpPr>
          <p:cNvPr id="64" name="object 59"/>
          <p:cNvSpPr/>
          <p:nvPr/>
        </p:nvSpPr>
        <p:spPr>
          <a:xfrm>
            <a:off x="5624321" y="2853055"/>
            <a:ext cx="228600" cy="228600"/>
          </a:xfrm>
          <a:custGeom>
            <a:avLst/>
            <a:gdLst/>
            <a:ahLst/>
            <a:cxnLst/>
            <a:rect l="l" t="t" r="r" b="b"/>
            <a:pathLst>
              <a:path w="228600" h="228600">
                <a:moveTo>
                  <a:pt x="0" y="228600"/>
                </a:moveTo>
                <a:lnTo>
                  <a:pt x="228600" y="228600"/>
                </a:lnTo>
                <a:lnTo>
                  <a:pt x="228600" y="0"/>
                </a:lnTo>
                <a:lnTo>
                  <a:pt x="0" y="0"/>
                </a:lnTo>
                <a:lnTo>
                  <a:pt x="0" y="228600"/>
                </a:lnTo>
                <a:close/>
              </a:path>
            </a:pathLst>
          </a:custGeom>
          <a:ln w="9525">
            <a:solidFill>
              <a:srgbClr val="35362F"/>
            </a:solidFill>
          </a:ln>
        </p:spPr>
        <p:txBody>
          <a:bodyPr wrap="square" lIns="0" tIns="0" rIns="0" bIns="0" rtlCol="0"/>
          <a:lstStyle/>
          <a:p/>
        </p:txBody>
      </p:sp>
      <p:sp>
        <p:nvSpPr>
          <p:cNvPr id="65" name="object 60"/>
          <p:cNvSpPr txBox="1"/>
          <p:nvPr/>
        </p:nvSpPr>
        <p:spPr>
          <a:xfrm>
            <a:off x="7005193" y="2824225"/>
            <a:ext cx="147955" cy="140970"/>
          </a:xfrm>
          <a:prstGeom prst="rect">
            <a:avLst/>
          </a:prstGeom>
        </p:spPr>
        <p:txBody>
          <a:bodyPr vert="horz" wrap="square" lIns="0" tIns="13335" rIns="0" bIns="0" rtlCol="0">
            <a:spAutoFit/>
          </a:bodyPr>
          <a:lstStyle/>
          <a:p>
            <a:pPr marL="12700">
              <a:lnSpc>
                <a:spcPct val="100000"/>
              </a:lnSpc>
              <a:spcBef>
                <a:spcPts val="105"/>
              </a:spcBef>
            </a:pPr>
            <a:r>
              <a:rPr sz="750" b="1" spc="-25" dirty="0">
                <a:solidFill>
                  <a:srgbClr val="35362F"/>
                </a:solidFill>
                <a:latin typeface="Calibri" panose="020F0502020204030204"/>
                <a:cs typeface="Calibri" panose="020F0502020204030204"/>
              </a:rPr>
              <a:t>AO</a:t>
            </a:r>
            <a:endParaRPr sz="750">
              <a:latin typeface="Calibri" panose="020F0502020204030204"/>
              <a:cs typeface="Calibri" panose="020F0502020204030204"/>
            </a:endParaRPr>
          </a:p>
        </p:txBody>
      </p:sp>
      <p:sp>
        <p:nvSpPr>
          <p:cNvPr id="66" name="object 61"/>
          <p:cNvSpPr txBox="1"/>
          <p:nvPr/>
        </p:nvSpPr>
        <p:spPr>
          <a:xfrm>
            <a:off x="6066663" y="2824225"/>
            <a:ext cx="147955" cy="140970"/>
          </a:xfrm>
          <a:prstGeom prst="rect">
            <a:avLst/>
          </a:prstGeom>
        </p:spPr>
        <p:txBody>
          <a:bodyPr vert="horz" wrap="square" lIns="0" tIns="13335" rIns="0" bIns="0" rtlCol="0">
            <a:spAutoFit/>
          </a:bodyPr>
          <a:lstStyle/>
          <a:p>
            <a:pPr marL="12700">
              <a:lnSpc>
                <a:spcPct val="100000"/>
              </a:lnSpc>
              <a:spcBef>
                <a:spcPts val="105"/>
              </a:spcBef>
            </a:pPr>
            <a:r>
              <a:rPr sz="750" b="1" spc="-25" dirty="0">
                <a:solidFill>
                  <a:srgbClr val="35362F"/>
                </a:solidFill>
                <a:latin typeface="Calibri" panose="020F0502020204030204"/>
                <a:cs typeface="Calibri" panose="020F0502020204030204"/>
              </a:rPr>
              <a:t>AO</a:t>
            </a:r>
            <a:endParaRPr sz="750">
              <a:latin typeface="Calibri" panose="020F0502020204030204"/>
              <a:cs typeface="Calibri" panose="020F0502020204030204"/>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3" name="Text 0"/>
          <p:cNvSpPr/>
          <p:nvPr/>
        </p:nvSpPr>
        <p:spPr>
          <a:xfrm>
            <a:off x="556260" y="300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en-US" altLang="zh-CN" sz="1730" b="1" dirty="0">
              <a:latin typeface="微软雅黑" panose="020B0503020204020204" pitchFamily="34" charset="-122"/>
              <a:ea typeface="微软雅黑" panose="020B0503020204020204" pitchFamily="34" charset="-122"/>
              <a:sym typeface="+mn-ea"/>
            </a:endParaRPr>
          </a:p>
        </p:txBody>
      </p:sp>
      <p:sp>
        <p:nvSpPr>
          <p:cNvPr id="5" name="内容占位符 2"/>
          <p:cNvSpPr>
            <a:spLocks noGrp="1"/>
          </p:cNvSpPr>
          <p:nvPr/>
        </p:nvSpPr>
        <p:spPr>
          <a:xfrm>
            <a:off x="608330" y="794385"/>
            <a:ext cx="7957185" cy="377571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p>
        </p:txBody>
      </p:sp>
      <p:sp>
        <p:nvSpPr>
          <p:cNvPr id="6" name="Text 0"/>
          <p:cNvSpPr/>
          <p:nvPr/>
        </p:nvSpPr>
        <p:spPr>
          <a:xfrm>
            <a:off x="28448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电源</a:t>
            </a:r>
            <a:r>
              <a:rPr lang="zh-CN" altLang="en-US" sz="1730" b="1" dirty="0">
                <a:latin typeface="微软雅黑" panose="020B0503020204020204" pitchFamily="34" charset="-122"/>
                <a:ea typeface="微软雅黑" panose="020B0503020204020204" pitchFamily="34" charset="-122"/>
                <a:sym typeface="+mn-ea"/>
              </a:rPr>
              <a:t>状态（</a:t>
            </a:r>
            <a:r>
              <a:rPr lang="en-US" altLang="zh-CN" sz="1730" b="1" dirty="0">
                <a:latin typeface="微软雅黑" panose="020B0503020204020204" pitchFamily="34" charset="-122"/>
                <a:ea typeface="微软雅黑" panose="020B0503020204020204" pitchFamily="34" charset="-122"/>
                <a:sym typeface="+mn-ea"/>
              </a:rPr>
              <a:t>Power States</a:t>
            </a:r>
            <a:r>
              <a:rPr lang="zh-CN" altLang="en-US" sz="1730" b="1" dirty="0">
                <a:latin typeface="微软雅黑" panose="020B0503020204020204" pitchFamily="34" charset="-122"/>
                <a:ea typeface="微软雅黑" panose="020B0503020204020204" pitchFamily="34" charset="-122"/>
                <a:sym typeface="+mn-ea"/>
              </a:rPr>
              <a:t>）</a:t>
            </a:r>
            <a:endParaRPr lang="zh-CN" altLang="en-US" sz="1730" b="1" dirty="0">
              <a:latin typeface="微软雅黑" panose="020B0503020204020204" pitchFamily="34" charset="-122"/>
              <a:ea typeface="微软雅黑" panose="020B0503020204020204" pitchFamily="34" charset="-122"/>
              <a:sym typeface="+mn-ea"/>
            </a:endParaRPr>
          </a:p>
        </p:txBody>
      </p:sp>
      <p:sp>
        <p:nvSpPr>
          <p:cNvPr id="7" name="文本框 6"/>
          <p:cNvSpPr txBox="1"/>
          <p:nvPr/>
        </p:nvSpPr>
        <p:spPr>
          <a:xfrm>
            <a:off x="472440" y="746760"/>
            <a:ext cx="8093075" cy="3833495"/>
          </a:xfrm>
          <a:prstGeom prst="rect">
            <a:avLst/>
          </a:prstGeom>
          <a:noFill/>
        </p:spPr>
        <p:txBody>
          <a:bodyPr wrap="square" rtlCol="0">
            <a:noAutofit/>
          </a:bodyPr>
          <a:p>
            <a:r>
              <a:rPr lang="en-US" altLang="zh-CN"/>
              <a:t>Power States </a:t>
            </a:r>
            <a:r>
              <a:rPr lang="zh-CN" altLang="en-US"/>
              <a:t>指的是</a:t>
            </a:r>
            <a:r>
              <a:rPr lang="en-US" altLang="zh-CN"/>
              <a:t> Chip </a:t>
            </a:r>
            <a:r>
              <a:rPr lang="zh-CN" altLang="en-US"/>
              <a:t>的一种供电模式，是特定条件下</a:t>
            </a:r>
            <a:r>
              <a:rPr lang="en-US" altLang="zh-CN"/>
              <a:t> supply net </a:t>
            </a:r>
            <a:r>
              <a:rPr lang="zh-CN" altLang="en-US"/>
              <a:t>的供电组合。它的核心作用，就是定义整个芯片中不同电源域所有合法的、允许存在的</a:t>
            </a:r>
            <a:r>
              <a:rPr lang="zh-CN" altLang="en-US"/>
              <a:t>电源状态组合</a:t>
            </a:r>
            <a:endParaRPr lang="zh-CN" altLang="en-US"/>
          </a:p>
        </p:txBody>
      </p:sp>
      <p:sp>
        <p:nvSpPr>
          <p:cNvPr id="8" name="object 4"/>
          <p:cNvSpPr/>
          <p:nvPr/>
        </p:nvSpPr>
        <p:spPr>
          <a:xfrm>
            <a:off x="6900671" y="2046732"/>
            <a:ext cx="1026160" cy="1026160"/>
          </a:xfrm>
          <a:custGeom>
            <a:avLst/>
            <a:gdLst/>
            <a:ahLst/>
            <a:cxnLst/>
            <a:rect l="l" t="t" r="r" b="b"/>
            <a:pathLst>
              <a:path w="1026159" h="1026160">
                <a:moveTo>
                  <a:pt x="512825" y="0"/>
                </a:moveTo>
                <a:lnTo>
                  <a:pt x="466150" y="2095"/>
                </a:lnTo>
                <a:lnTo>
                  <a:pt x="420649" y="8262"/>
                </a:lnTo>
                <a:lnTo>
                  <a:pt x="376502" y="18319"/>
                </a:lnTo>
                <a:lnTo>
                  <a:pt x="333890" y="32085"/>
                </a:lnTo>
                <a:lnTo>
                  <a:pt x="292996" y="49379"/>
                </a:lnTo>
                <a:lnTo>
                  <a:pt x="254000" y="70019"/>
                </a:lnTo>
                <a:lnTo>
                  <a:pt x="217082" y="93825"/>
                </a:lnTo>
                <a:lnTo>
                  <a:pt x="182425" y="120615"/>
                </a:lnTo>
                <a:lnTo>
                  <a:pt x="150209" y="150209"/>
                </a:lnTo>
                <a:lnTo>
                  <a:pt x="120615" y="182425"/>
                </a:lnTo>
                <a:lnTo>
                  <a:pt x="93825" y="217082"/>
                </a:lnTo>
                <a:lnTo>
                  <a:pt x="70019" y="254000"/>
                </a:lnTo>
                <a:lnTo>
                  <a:pt x="49379" y="292996"/>
                </a:lnTo>
                <a:lnTo>
                  <a:pt x="32085" y="333890"/>
                </a:lnTo>
                <a:lnTo>
                  <a:pt x="18319" y="376502"/>
                </a:lnTo>
                <a:lnTo>
                  <a:pt x="8262" y="420649"/>
                </a:lnTo>
                <a:lnTo>
                  <a:pt x="2095" y="466150"/>
                </a:lnTo>
                <a:lnTo>
                  <a:pt x="0" y="512825"/>
                </a:lnTo>
                <a:lnTo>
                  <a:pt x="2095" y="559501"/>
                </a:lnTo>
                <a:lnTo>
                  <a:pt x="8262" y="605002"/>
                </a:lnTo>
                <a:lnTo>
                  <a:pt x="18319" y="649149"/>
                </a:lnTo>
                <a:lnTo>
                  <a:pt x="32085" y="691761"/>
                </a:lnTo>
                <a:lnTo>
                  <a:pt x="49379" y="732655"/>
                </a:lnTo>
                <a:lnTo>
                  <a:pt x="70019" y="771652"/>
                </a:lnTo>
                <a:lnTo>
                  <a:pt x="93825" y="808569"/>
                </a:lnTo>
                <a:lnTo>
                  <a:pt x="120615" y="843226"/>
                </a:lnTo>
                <a:lnTo>
                  <a:pt x="150209" y="875442"/>
                </a:lnTo>
                <a:lnTo>
                  <a:pt x="182425" y="905036"/>
                </a:lnTo>
                <a:lnTo>
                  <a:pt x="217082" y="931826"/>
                </a:lnTo>
                <a:lnTo>
                  <a:pt x="254000" y="955632"/>
                </a:lnTo>
                <a:lnTo>
                  <a:pt x="292996" y="976272"/>
                </a:lnTo>
                <a:lnTo>
                  <a:pt x="333890" y="993566"/>
                </a:lnTo>
                <a:lnTo>
                  <a:pt x="376502" y="1007332"/>
                </a:lnTo>
                <a:lnTo>
                  <a:pt x="420649" y="1017389"/>
                </a:lnTo>
                <a:lnTo>
                  <a:pt x="466150" y="1023556"/>
                </a:lnTo>
                <a:lnTo>
                  <a:pt x="512825" y="1025651"/>
                </a:lnTo>
                <a:lnTo>
                  <a:pt x="559501" y="1023556"/>
                </a:lnTo>
                <a:lnTo>
                  <a:pt x="605002" y="1017389"/>
                </a:lnTo>
                <a:lnTo>
                  <a:pt x="649149" y="1007332"/>
                </a:lnTo>
                <a:lnTo>
                  <a:pt x="691761" y="993566"/>
                </a:lnTo>
                <a:lnTo>
                  <a:pt x="732655" y="976272"/>
                </a:lnTo>
                <a:lnTo>
                  <a:pt x="771651" y="955632"/>
                </a:lnTo>
                <a:lnTo>
                  <a:pt x="808569" y="931826"/>
                </a:lnTo>
                <a:lnTo>
                  <a:pt x="843226" y="905036"/>
                </a:lnTo>
                <a:lnTo>
                  <a:pt x="875442" y="875442"/>
                </a:lnTo>
                <a:lnTo>
                  <a:pt x="905036" y="843226"/>
                </a:lnTo>
                <a:lnTo>
                  <a:pt x="931826" y="808569"/>
                </a:lnTo>
                <a:lnTo>
                  <a:pt x="955632" y="771651"/>
                </a:lnTo>
                <a:lnTo>
                  <a:pt x="976272" y="732655"/>
                </a:lnTo>
                <a:lnTo>
                  <a:pt x="993566" y="691761"/>
                </a:lnTo>
                <a:lnTo>
                  <a:pt x="1007332" y="649149"/>
                </a:lnTo>
                <a:lnTo>
                  <a:pt x="1017389" y="605002"/>
                </a:lnTo>
                <a:lnTo>
                  <a:pt x="1023556" y="559501"/>
                </a:lnTo>
                <a:lnTo>
                  <a:pt x="1025651" y="512825"/>
                </a:lnTo>
                <a:lnTo>
                  <a:pt x="1023556" y="466150"/>
                </a:lnTo>
                <a:lnTo>
                  <a:pt x="1017389" y="420649"/>
                </a:lnTo>
                <a:lnTo>
                  <a:pt x="1007332" y="376502"/>
                </a:lnTo>
                <a:lnTo>
                  <a:pt x="993566" y="333890"/>
                </a:lnTo>
                <a:lnTo>
                  <a:pt x="976272" y="292996"/>
                </a:lnTo>
                <a:lnTo>
                  <a:pt x="955632" y="253999"/>
                </a:lnTo>
                <a:lnTo>
                  <a:pt x="931826" y="217082"/>
                </a:lnTo>
                <a:lnTo>
                  <a:pt x="905036" y="182425"/>
                </a:lnTo>
                <a:lnTo>
                  <a:pt x="875442" y="150209"/>
                </a:lnTo>
                <a:lnTo>
                  <a:pt x="843226" y="120615"/>
                </a:lnTo>
                <a:lnTo>
                  <a:pt x="808569" y="93825"/>
                </a:lnTo>
                <a:lnTo>
                  <a:pt x="771651" y="70019"/>
                </a:lnTo>
                <a:lnTo>
                  <a:pt x="732655" y="49379"/>
                </a:lnTo>
                <a:lnTo>
                  <a:pt x="691761" y="32085"/>
                </a:lnTo>
                <a:lnTo>
                  <a:pt x="649149" y="18319"/>
                </a:lnTo>
                <a:lnTo>
                  <a:pt x="605002" y="8262"/>
                </a:lnTo>
                <a:lnTo>
                  <a:pt x="559501" y="2095"/>
                </a:lnTo>
                <a:lnTo>
                  <a:pt x="512825" y="0"/>
                </a:lnTo>
                <a:close/>
              </a:path>
            </a:pathLst>
          </a:custGeom>
          <a:solidFill>
            <a:srgbClr val="FF0000"/>
          </a:solidFill>
        </p:spPr>
        <p:txBody>
          <a:bodyPr wrap="square" lIns="0" tIns="0" rIns="0" bIns="0" rtlCol="0"/>
          <a:lstStyle/>
          <a:p/>
        </p:txBody>
      </p:sp>
      <p:sp>
        <p:nvSpPr>
          <p:cNvPr id="9" name="object 5"/>
          <p:cNvSpPr txBox="1"/>
          <p:nvPr/>
        </p:nvSpPr>
        <p:spPr>
          <a:xfrm>
            <a:off x="7067550" y="2178253"/>
            <a:ext cx="693420" cy="716280"/>
          </a:xfrm>
          <a:prstGeom prst="rect">
            <a:avLst/>
          </a:prstGeom>
        </p:spPr>
        <p:txBody>
          <a:bodyPr vert="horz" wrap="square" lIns="0" tIns="33019" rIns="0" bIns="0" rtlCol="0">
            <a:spAutoFit/>
          </a:bodyPr>
          <a:lstStyle/>
          <a:p>
            <a:pPr marL="12700" marR="5080" indent="635" algn="ctr">
              <a:lnSpc>
                <a:spcPct val="92000"/>
              </a:lnSpc>
              <a:spcBef>
                <a:spcPts val="260"/>
              </a:spcBef>
            </a:pPr>
            <a:r>
              <a:rPr sz="1600" spc="-20" dirty="0">
                <a:solidFill>
                  <a:srgbClr val="FFFFFF"/>
                </a:solidFill>
                <a:latin typeface="Calibri" panose="020F0502020204030204"/>
                <a:cs typeface="Calibri" panose="020F0502020204030204"/>
              </a:rPr>
              <a:t>High </a:t>
            </a:r>
            <a:r>
              <a:rPr sz="1600" spc="-30" dirty="0">
                <a:solidFill>
                  <a:srgbClr val="FFFFFF"/>
                </a:solidFill>
                <a:latin typeface="Calibri" panose="020F0502020204030204"/>
                <a:cs typeface="Calibri" panose="020F0502020204030204"/>
              </a:rPr>
              <a:t>Perform </a:t>
            </a:r>
            <a:r>
              <a:rPr sz="1600" spc="-20" dirty="0">
                <a:solidFill>
                  <a:srgbClr val="FFFFFF"/>
                </a:solidFill>
                <a:latin typeface="Calibri" panose="020F0502020204030204"/>
                <a:cs typeface="Calibri" panose="020F0502020204030204"/>
              </a:rPr>
              <a:t>ance</a:t>
            </a:r>
            <a:endParaRPr sz="1600">
              <a:latin typeface="Calibri" panose="020F0502020204030204"/>
              <a:cs typeface="Calibri" panose="020F0502020204030204"/>
            </a:endParaRPr>
          </a:p>
        </p:txBody>
      </p:sp>
      <p:grpSp>
        <p:nvGrpSpPr>
          <p:cNvPr id="10" name="object 6"/>
          <p:cNvGrpSpPr/>
          <p:nvPr/>
        </p:nvGrpSpPr>
        <p:grpSpPr>
          <a:xfrm>
            <a:off x="7636764" y="3048889"/>
            <a:ext cx="1059180" cy="1355725"/>
            <a:chOff x="7636764" y="3277489"/>
            <a:chExt cx="1059180" cy="1355725"/>
          </a:xfrm>
        </p:grpSpPr>
        <p:sp>
          <p:nvSpPr>
            <p:cNvPr id="11" name="object 7"/>
            <p:cNvSpPr/>
            <p:nvPr/>
          </p:nvSpPr>
          <p:spPr>
            <a:xfrm>
              <a:off x="7636764" y="3277489"/>
              <a:ext cx="307975" cy="287655"/>
            </a:xfrm>
            <a:custGeom>
              <a:avLst/>
              <a:gdLst/>
              <a:ahLst/>
              <a:cxnLst/>
              <a:rect l="l" t="t" r="r" b="b"/>
              <a:pathLst>
                <a:path w="307975" h="287654">
                  <a:moveTo>
                    <a:pt x="179958" y="0"/>
                  </a:moveTo>
                  <a:lnTo>
                    <a:pt x="0" y="103886"/>
                  </a:lnTo>
                  <a:lnTo>
                    <a:pt x="68071" y="221615"/>
                  </a:lnTo>
                  <a:lnTo>
                    <a:pt x="8127" y="256159"/>
                  </a:lnTo>
                  <a:lnTo>
                    <a:pt x="225932" y="287401"/>
                  </a:lnTo>
                  <a:lnTo>
                    <a:pt x="307847" y="83058"/>
                  </a:lnTo>
                  <a:lnTo>
                    <a:pt x="247903" y="117729"/>
                  </a:lnTo>
                  <a:lnTo>
                    <a:pt x="179958" y="0"/>
                  </a:lnTo>
                  <a:close/>
                </a:path>
              </a:pathLst>
            </a:custGeom>
            <a:solidFill>
              <a:srgbClr val="FFE0AA"/>
            </a:solidFill>
          </p:spPr>
          <p:txBody>
            <a:bodyPr wrap="square" lIns="0" tIns="0" rIns="0" bIns="0" rtlCol="0"/>
            <a:lstStyle/>
            <a:p/>
          </p:txBody>
        </p:sp>
        <p:sp>
          <p:nvSpPr>
            <p:cNvPr id="12" name="object 8"/>
            <p:cNvSpPr/>
            <p:nvPr/>
          </p:nvSpPr>
          <p:spPr>
            <a:xfrm>
              <a:off x="7670292" y="3607308"/>
              <a:ext cx="1026160" cy="1026160"/>
            </a:xfrm>
            <a:custGeom>
              <a:avLst/>
              <a:gdLst/>
              <a:ahLst/>
              <a:cxnLst/>
              <a:rect l="l" t="t" r="r" b="b"/>
              <a:pathLst>
                <a:path w="1026159" h="1026160">
                  <a:moveTo>
                    <a:pt x="512825" y="0"/>
                  </a:moveTo>
                  <a:lnTo>
                    <a:pt x="466150" y="2095"/>
                  </a:lnTo>
                  <a:lnTo>
                    <a:pt x="420649" y="8262"/>
                  </a:lnTo>
                  <a:lnTo>
                    <a:pt x="376502" y="18319"/>
                  </a:lnTo>
                  <a:lnTo>
                    <a:pt x="333890" y="32085"/>
                  </a:lnTo>
                  <a:lnTo>
                    <a:pt x="292996" y="49379"/>
                  </a:lnTo>
                  <a:lnTo>
                    <a:pt x="254000" y="70019"/>
                  </a:lnTo>
                  <a:lnTo>
                    <a:pt x="217082" y="93825"/>
                  </a:lnTo>
                  <a:lnTo>
                    <a:pt x="182425" y="120615"/>
                  </a:lnTo>
                  <a:lnTo>
                    <a:pt x="150209" y="150209"/>
                  </a:lnTo>
                  <a:lnTo>
                    <a:pt x="120615" y="182425"/>
                  </a:lnTo>
                  <a:lnTo>
                    <a:pt x="93825" y="217082"/>
                  </a:lnTo>
                  <a:lnTo>
                    <a:pt x="70019" y="254000"/>
                  </a:lnTo>
                  <a:lnTo>
                    <a:pt x="49379" y="292996"/>
                  </a:lnTo>
                  <a:lnTo>
                    <a:pt x="32085" y="333890"/>
                  </a:lnTo>
                  <a:lnTo>
                    <a:pt x="18319" y="376502"/>
                  </a:lnTo>
                  <a:lnTo>
                    <a:pt x="8262" y="420649"/>
                  </a:lnTo>
                  <a:lnTo>
                    <a:pt x="2095" y="466150"/>
                  </a:lnTo>
                  <a:lnTo>
                    <a:pt x="0" y="512825"/>
                  </a:lnTo>
                  <a:lnTo>
                    <a:pt x="2095" y="559503"/>
                  </a:lnTo>
                  <a:lnTo>
                    <a:pt x="8262" y="605006"/>
                  </a:lnTo>
                  <a:lnTo>
                    <a:pt x="18319" y="649154"/>
                  </a:lnTo>
                  <a:lnTo>
                    <a:pt x="32085" y="691766"/>
                  </a:lnTo>
                  <a:lnTo>
                    <a:pt x="49379" y="732661"/>
                  </a:lnTo>
                  <a:lnTo>
                    <a:pt x="70019" y="771657"/>
                  </a:lnTo>
                  <a:lnTo>
                    <a:pt x="93825" y="808574"/>
                  </a:lnTo>
                  <a:lnTo>
                    <a:pt x="120615" y="843231"/>
                  </a:lnTo>
                  <a:lnTo>
                    <a:pt x="150209" y="875447"/>
                  </a:lnTo>
                  <a:lnTo>
                    <a:pt x="182425" y="905040"/>
                  </a:lnTo>
                  <a:lnTo>
                    <a:pt x="217082" y="931830"/>
                  </a:lnTo>
                  <a:lnTo>
                    <a:pt x="253999" y="955635"/>
                  </a:lnTo>
                  <a:lnTo>
                    <a:pt x="292996" y="976275"/>
                  </a:lnTo>
                  <a:lnTo>
                    <a:pt x="333890" y="993567"/>
                  </a:lnTo>
                  <a:lnTo>
                    <a:pt x="376502" y="1007333"/>
                  </a:lnTo>
                  <a:lnTo>
                    <a:pt x="420649" y="1017389"/>
                  </a:lnTo>
                  <a:lnTo>
                    <a:pt x="466150" y="1023556"/>
                  </a:lnTo>
                  <a:lnTo>
                    <a:pt x="512825" y="1025651"/>
                  </a:lnTo>
                  <a:lnTo>
                    <a:pt x="559501" y="1023556"/>
                  </a:lnTo>
                  <a:lnTo>
                    <a:pt x="605002" y="1017389"/>
                  </a:lnTo>
                  <a:lnTo>
                    <a:pt x="649149" y="1007333"/>
                  </a:lnTo>
                  <a:lnTo>
                    <a:pt x="691761" y="993567"/>
                  </a:lnTo>
                  <a:lnTo>
                    <a:pt x="732655" y="976275"/>
                  </a:lnTo>
                  <a:lnTo>
                    <a:pt x="771651" y="955635"/>
                  </a:lnTo>
                  <a:lnTo>
                    <a:pt x="808569" y="931830"/>
                  </a:lnTo>
                  <a:lnTo>
                    <a:pt x="843226" y="905040"/>
                  </a:lnTo>
                  <a:lnTo>
                    <a:pt x="875442" y="875447"/>
                  </a:lnTo>
                  <a:lnTo>
                    <a:pt x="905036" y="843231"/>
                  </a:lnTo>
                  <a:lnTo>
                    <a:pt x="931826" y="808574"/>
                  </a:lnTo>
                  <a:lnTo>
                    <a:pt x="955632" y="771657"/>
                  </a:lnTo>
                  <a:lnTo>
                    <a:pt x="976272" y="732661"/>
                  </a:lnTo>
                  <a:lnTo>
                    <a:pt x="993566" y="691766"/>
                  </a:lnTo>
                  <a:lnTo>
                    <a:pt x="1007332" y="649154"/>
                  </a:lnTo>
                  <a:lnTo>
                    <a:pt x="1017389" y="605006"/>
                  </a:lnTo>
                  <a:lnTo>
                    <a:pt x="1023556" y="559503"/>
                  </a:lnTo>
                  <a:lnTo>
                    <a:pt x="1025651" y="512825"/>
                  </a:lnTo>
                  <a:lnTo>
                    <a:pt x="1023556" y="466150"/>
                  </a:lnTo>
                  <a:lnTo>
                    <a:pt x="1017389" y="420649"/>
                  </a:lnTo>
                  <a:lnTo>
                    <a:pt x="1007332" y="376502"/>
                  </a:lnTo>
                  <a:lnTo>
                    <a:pt x="993566" y="333890"/>
                  </a:lnTo>
                  <a:lnTo>
                    <a:pt x="976272" y="292996"/>
                  </a:lnTo>
                  <a:lnTo>
                    <a:pt x="955632" y="253999"/>
                  </a:lnTo>
                  <a:lnTo>
                    <a:pt x="931826" y="217082"/>
                  </a:lnTo>
                  <a:lnTo>
                    <a:pt x="905036" y="182425"/>
                  </a:lnTo>
                  <a:lnTo>
                    <a:pt x="875442" y="150209"/>
                  </a:lnTo>
                  <a:lnTo>
                    <a:pt x="843226" y="120615"/>
                  </a:lnTo>
                  <a:lnTo>
                    <a:pt x="808569" y="93825"/>
                  </a:lnTo>
                  <a:lnTo>
                    <a:pt x="771651" y="70019"/>
                  </a:lnTo>
                  <a:lnTo>
                    <a:pt x="732655" y="49379"/>
                  </a:lnTo>
                  <a:lnTo>
                    <a:pt x="691761" y="32085"/>
                  </a:lnTo>
                  <a:lnTo>
                    <a:pt x="649149" y="18319"/>
                  </a:lnTo>
                  <a:lnTo>
                    <a:pt x="605002" y="8262"/>
                  </a:lnTo>
                  <a:lnTo>
                    <a:pt x="559501" y="2095"/>
                  </a:lnTo>
                  <a:lnTo>
                    <a:pt x="512825" y="0"/>
                  </a:lnTo>
                  <a:close/>
                </a:path>
              </a:pathLst>
            </a:custGeom>
            <a:solidFill>
              <a:srgbClr val="FFC904"/>
            </a:solidFill>
          </p:spPr>
          <p:txBody>
            <a:bodyPr wrap="square" lIns="0" tIns="0" rIns="0" bIns="0" rtlCol="0"/>
            <a:lstStyle/>
            <a:p/>
          </p:txBody>
        </p:sp>
      </p:grpSp>
      <p:sp>
        <p:nvSpPr>
          <p:cNvPr id="13" name="object 9"/>
          <p:cNvSpPr txBox="1"/>
          <p:nvPr/>
        </p:nvSpPr>
        <p:spPr>
          <a:xfrm>
            <a:off x="7907273" y="3623259"/>
            <a:ext cx="553720" cy="491490"/>
          </a:xfrm>
          <a:prstGeom prst="rect">
            <a:avLst/>
          </a:prstGeom>
        </p:spPr>
        <p:txBody>
          <a:bodyPr vert="horz" wrap="square" lIns="0" tIns="12065" rIns="0" bIns="0" rtlCol="0">
            <a:spAutoFit/>
          </a:bodyPr>
          <a:lstStyle/>
          <a:p>
            <a:pPr marL="17145">
              <a:lnSpc>
                <a:spcPts val="1835"/>
              </a:lnSpc>
              <a:spcBef>
                <a:spcPts val="95"/>
              </a:spcBef>
            </a:pPr>
            <a:r>
              <a:rPr sz="1600" spc="-10" dirty="0">
                <a:solidFill>
                  <a:srgbClr val="FFFFFF"/>
                </a:solidFill>
                <a:latin typeface="Calibri" panose="020F0502020204030204"/>
                <a:cs typeface="Calibri" panose="020F0502020204030204"/>
              </a:rPr>
              <a:t>Power</a:t>
            </a:r>
            <a:endParaRPr sz="1600">
              <a:latin typeface="Calibri" panose="020F0502020204030204"/>
              <a:cs typeface="Calibri" panose="020F0502020204030204"/>
            </a:endParaRPr>
          </a:p>
          <a:p>
            <a:pPr marL="12700">
              <a:lnSpc>
                <a:spcPts val="1835"/>
              </a:lnSpc>
            </a:pPr>
            <a:r>
              <a:rPr sz="1600" spc="-10" dirty="0">
                <a:solidFill>
                  <a:srgbClr val="FFFFFF"/>
                </a:solidFill>
                <a:latin typeface="Calibri" panose="020F0502020204030204"/>
                <a:cs typeface="Calibri" panose="020F0502020204030204"/>
              </a:rPr>
              <a:t>Saving</a:t>
            </a:r>
            <a:endParaRPr sz="1600">
              <a:latin typeface="Calibri" panose="020F0502020204030204"/>
              <a:cs typeface="Calibri" panose="020F0502020204030204"/>
            </a:endParaRPr>
          </a:p>
        </p:txBody>
      </p:sp>
      <p:grpSp>
        <p:nvGrpSpPr>
          <p:cNvPr id="14" name="object 10"/>
          <p:cNvGrpSpPr/>
          <p:nvPr/>
        </p:nvGrpSpPr>
        <p:grpSpPr>
          <a:xfrm>
            <a:off x="6131052" y="3378708"/>
            <a:ext cx="1426845" cy="1026160"/>
            <a:chOff x="6131052" y="3607308"/>
            <a:chExt cx="1426845" cy="1026160"/>
          </a:xfrm>
        </p:grpSpPr>
        <p:sp>
          <p:nvSpPr>
            <p:cNvPr id="15" name="object 11"/>
            <p:cNvSpPr/>
            <p:nvPr/>
          </p:nvSpPr>
          <p:spPr>
            <a:xfrm>
              <a:off x="7286244" y="3947160"/>
              <a:ext cx="271780" cy="346075"/>
            </a:xfrm>
            <a:custGeom>
              <a:avLst/>
              <a:gdLst/>
              <a:ahLst/>
              <a:cxnLst/>
              <a:rect l="l" t="t" r="r" b="b"/>
              <a:pathLst>
                <a:path w="271779" h="346075">
                  <a:moveTo>
                    <a:pt x="135635" y="0"/>
                  </a:moveTo>
                  <a:lnTo>
                    <a:pt x="0" y="172973"/>
                  </a:lnTo>
                  <a:lnTo>
                    <a:pt x="135635" y="345947"/>
                  </a:lnTo>
                  <a:lnTo>
                    <a:pt x="135635" y="276758"/>
                  </a:lnTo>
                  <a:lnTo>
                    <a:pt x="271272" y="276758"/>
                  </a:lnTo>
                  <a:lnTo>
                    <a:pt x="271272" y="69189"/>
                  </a:lnTo>
                  <a:lnTo>
                    <a:pt x="135635" y="69189"/>
                  </a:lnTo>
                  <a:lnTo>
                    <a:pt x="135635" y="0"/>
                  </a:lnTo>
                  <a:close/>
                </a:path>
              </a:pathLst>
            </a:custGeom>
            <a:solidFill>
              <a:srgbClr val="FFE0AA"/>
            </a:solidFill>
          </p:spPr>
          <p:txBody>
            <a:bodyPr wrap="square" lIns="0" tIns="0" rIns="0" bIns="0" rtlCol="0"/>
            <a:lstStyle/>
            <a:p/>
          </p:txBody>
        </p:sp>
        <p:sp>
          <p:nvSpPr>
            <p:cNvPr id="16" name="object 12"/>
            <p:cNvSpPr/>
            <p:nvPr/>
          </p:nvSpPr>
          <p:spPr>
            <a:xfrm>
              <a:off x="6131052" y="3607308"/>
              <a:ext cx="1026160" cy="1026160"/>
            </a:xfrm>
            <a:custGeom>
              <a:avLst/>
              <a:gdLst/>
              <a:ahLst/>
              <a:cxnLst/>
              <a:rect l="l" t="t" r="r" b="b"/>
              <a:pathLst>
                <a:path w="1026159" h="1026160">
                  <a:moveTo>
                    <a:pt x="512825" y="0"/>
                  </a:moveTo>
                  <a:lnTo>
                    <a:pt x="466150" y="2095"/>
                  </a:lnTo>
                  <a:lnTo>
                    <a:pt x="420649" y="8262"/>
                  </a:lnTo>
                  <a:lnTo>
                    <a:pt x="376502" y="18319"/>
                  </a:lnTo>
                  <a:lnTo>
                    <a:pt x="333890" y="32085"/>
                  </a:lnTo>
                  <a:lnTo>
                    <a:pt x="292996" y="49379"/>
                  </a:lnTo>
                  <a:lnTo>
                    <a:pt x="254000" y="70019"/>
                  </a:lnTo>
                  <a:lnTo>
                    <a:pt x="217082" y="93825"/>
                  </a:lnTo>
                  <a:lnTo>
                    <a:pt x="182425" y="120615"/>
                  </a:lnTo>
                  <a:lnTo>
                    <a:pt x="150209" y="150209"/>
                  </a:lnTo>
                  <a:lnTo>
                    <a:pt x="120615" y="182425"/>
                  </a:lnTo>
                  <a:lnTo>
                    <a:pt x="93825" y="217082"/>
                  </a:lnTo>
                  <a:lnTo>
                    <a:pt x="70019" y="254000"/>
                  </a:lnTo>
                  <a:lnTo>
                    <a:pt x="49379" y="292996"/>
                  </a:lnTo>
                  <a:lnTo>
                    <a:pt x="32085" y="333890"/>
                  </a:lnTo>
                  <a:lnTo>
                    <a:pt x="18319" y="376502"/>
                  </a:lnTo>
                  <a:lnTo>
                    <a:pt x="8262" y="420649"/>
                  </a:lnTo>
                  <a:lnTo>
                    <a:pt x="2095" y="466150"/>
                  </a:lnTo>
                  <a:lnTo>
                    <a:pt x="0" y="512825"/>
                  </a:lnTo>
                  <a:lnTo>
                    <a:pt x="2095" y="559503"/>
                  </a:lnTo>
                  <a:lnTo>
                    <a:pt x="8262" y="605006"/>
                  </a:lnTo>
                  <a:lnTo>
                    <a:pt x="18319" y="649154"/>
                  </a:lnTo>
                  <a:lnTo>
                    <a:pt x="32085" y="691766"/>
                  </a:lnTo>
                  <a:lnTo>
                    <a:pt x="49379" y="732661"/>
                  </a:lnTo>
                  <a:lnTo>
                    <a:pt x="70019" y="771657"/>
                  </a:lnTo>
                  <a:lnTo>
                    <a:pt x="93825" y="808574"/>
                  </a:lnTo>
                  <a:lnTo>
                    <a:pt x="120615" y="843231"/>
                  </a:lnTo>
                  <a:lnTo>
                    <a:pt x="150209" y="875447"/>
                  </a:lnTo>
                  <a:lnTo>
                    <a:pt x="182425" y="905040"/>
                  </a:lnTo>
                  <a:lnTo>
                    <a:pt x="217082" y="931830"/>
                  </a:lnTo>
                  <a:lnTo>
                    <a:pt x="253999" y="955635"/>
                  </a:lnTo>
                  <a:lnTo>
                    <a:pt x="292996" y="976275"/>
                  </a:lnTo>
                  <a:lnTo>
                    <a:pt x="333890" y="993567"/>
                  </a:lnTo>
                  <a:lnTo>
                    <a:pt x="376502" y="1007333"/>
                  </a:lnTo>
                  <a:lnTo>
                    <a:pt x="420649" y="1017389"/>
                  </a:lnTo>
                  <a:lnTo>
                    <a:pt x="466150" y="1023556"/>
                  </a:lnTo>
                  <a:lnTo>
                    <a:pt x="512825" y="1025651"/>
                  </a:lnTo>
                  <a:lnTo>
                    <a:pt x="559501" y="1023556"/>
                  </a:lnTo>
                  <a:lnTo>
                    <a:pt x="605002" y="1017389"/>
                  </a:lnTo>
                  <a:lnTo>
                    <a:pt x="649149" y="1007333"/>
                  </a:lnTo>
                  <a:lnTo>
                    <a:pt x="691761" y="993567"/>
                  </a:lnTo>
                  <a:lnTo>
                    <a:pt x="732655" y="976275"/>
                  </a:lnTo>
                  <a:lnTo>
                    <a:pt x="771651" y="955635"/>
                  </a:lnTo>
                  <a:lnTo>
                    <a:pt x="808569" y="931830"/>
                  </a:lnTo>
                  <a:lnTo>
                    <a:pt x="843226" y="905040"/>
                  </a:lnTo>
                  <a:lnTo>
                    <a:pt x="875442" y="875447"/>
                  </a:lnTo>
                  <a:lnTo>
                    <a:pt x="905036" y="843231"/>
                  </a:lnTo>
                  <a:lnTo>
                    <a:pt x="931826" y="808574"/>
                  </a:lnTo>
                  <a:lnTo>
                    <a:pt x="955632" y="771657"/>
                  </a:lnTo>
                  <a:lnTo>
                    <a:pt x="976272" y="732661"/>
                  </a:lnTo>
                  <a:lnTo>
                    <a:pt x="993566" y="691766"/>
                  </a:lnTo>
                  <a:lnTo>
                    <a:pt x="1007332" y="649154"/>
                  </a:lnTo>
                  <a:lnTo>
                    <a:pt x="1017389" y="605006"/>
                  </a:lnTo>
                  <a:lnTo>
                    <a:pt x="1023556" y="559503"/>
                  </a:lnTo>
                  <a:lnTo>
                    <a:pt x="1025651" y="512825"/>
                  </a:lnTo>
                  <a:lnTo>
                    <a:pt x="1023556" y="466150"/>
                  </a:lnTo>
                  <a:lnTo>
                    <a:pt x="1017389" y="420649"/>
                  </a:lnTo>
                  <a:lnTo>
                    <a:pt x="1007332" y="376502"/>
                  </a:lnTo>
                  <a:lnTo>
                    <a:pt x="993566" y="333890"/>
                  </a:lnTo>
                  <a:lnTo>
                    <a:pt x="976272" y="292996"/>
                  </a:lnTo>
                  <a:lnTo>
                    <a:pt x="955632" y="253999"/>
                  </a:lnTo>
                  <a:lnTo>
                    <a:pt x="931826" y="217082"/>
                  </a:lnTo>
                  <a:lnTo>
                    <a:pt x="905036" y="182425"/>
                  </a:lnTo>
                  <a:lnTo>
                    <a:pt x="875442" y="150209"/>
                  </a:lnTo>
                  <a:lnTo>
                    <a:pt x="843226" y="120615"/>
                  </a:lnTo>
                  <a:lnTo>
                    <a:pt x="808569" y="93825"/>
                  </a:lnTo>
                  <a:lnTo>
                    <a:pt x="771652" y="70019"/>
                  </a:lnTo>
                  <a:lnTo>
                    <a:pt x="732655" y="49379"/>
                  </a:lnTo>
                  <a:lnTo>
                    <a:pt x="691761" y="32085"/>
                  </a:lnTo>
                  <a:lnTo>
                    <a:pt x="649149" y="18319"/>
                  </a:lnTo>
                  <a:lnTo>
                    <a:pt x="605002" y="8262"/>
                  </a:lnTo>
                  <a:lnTo>
                    <a:pt x="559501" y="2095"/>
                  </a:lnTo>
                  <a:lnTo>
                    <a:pt x="512825" y="0"/>
                  </a:lnTo>
                  <a:close/>
                </a:path>
              </a:pathLst>
            </a:custGeom>
            <a:solidFill>
              <a:srgbClr val="00AF50"/>
            </a:solidFill>
          </p:spPr>
          <p:txBody>
            <a:bodyPr wrap="square" lIns="0" tIns="0" rIns="0" bIns="0" rtlCol="0"/>
            <a:lstStyle/>
            <a:p/>
          </p:txBody>
        </p:sp>
      </p:grpSp>
      <p:sp>
        <p:nvSpPr>
          <p:cNvPr id="17" name="object 13"/>
          <p:cNvSpPr txBox="1"/>
          <p:nvPr/>
        </p:nvSpPr>
        <p:spPr>
          <a:xfrm>
            <a:off x="6308852" y="3734511"/>
            <a:ext cx="67373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FFFFFF"/>
                </a:solidFill>
                <a:latin typeface="Calibri" panose="020F0502020204030204"/>
                <a:cs typeface="Calibri" panose="020F0502020204030204"/>
              </a:rPr>
              <a:t>Inactive</a:t>
            </a:r>
            <a:endParaRPr sz="1600">
              <a:latin typeface="Calibri" panose="020F0502020204030204"/>
              <a:cs typeface="Calibri" panose="020F0502020204030204"/>
            </a:endParaRPr>
          </a:p>
        </p:txBody>
      </p:sp>
      <p:sp>
        <p:nvSpPr>
          <p:cNvPr id="18" name="object 14"/>
          <p:cNvSpPr/>
          <p:nvPr/>
        </p:nvSpPr>
        <p:spPr>
          <a:xfrm>
            <a:off x="6867397" y="3114166"/>
            <a:ext cx="307975" cy="287655"/>
          </a:xfrm>
          <a:custGeom>
            <a:avLst/>
            <a:gdLst/>
            <a:ahLst/>
            <a:cxnLst/>
            <a:rect l="l" t="t" r="r" b="b"/>
            <a:pathLst>
              <a:path w="307975" h="287654">
                <a:moveTo>
                  <a:pt x="225932" y="0"/>
                </a:moveTo>
                <a:lnTo>
                  <a:pt x="8000" y="31114"/>
                </a:lnTo>
                <a:lnTo>
                  <a:pt x="67945" y="65785"/>
                </a:lnTo>
                <a:lnTo>
                  <a:pt x="0" y="183514"/>
                </a:lnTo>
                <a:lnTo>
                  <a:pt x="179831" y="287400"/>
                </a:lnTo>
                <a:lnTo>
                  <a:pt x="247903" y="169671"/>
                </a:lnTo>
                <a:lnTo>
                  <a:pt x="307848" y="204215"/>
                </a:lnTo>
                <a:lnTo>
                  <a:pt x="225932" y="0"/>
                </a:lnTo>
                <a:close/>
              </a:path>
            </a:pathLst>
          </a:custGeom>
          <a:solidFill>
            <a:srgbClr val="FFE0AA"/>
          </a:solidFill>
        </p:spPr>
        <p:txBody>
          <a:bodyPr wrap="square" lIns="0" tIns="0" rIns="0" bIns="0" rtlCol="0"/>
          <a:lstStyle/>
          <a:p/>
        </p:txBody>
      </p:sp>
      <p:graphicFrame>
        <p:nvGraphicFramePr>
          <p:cNvPr id="19" name="object 15"/>
          <p:cNvGraphicFramePr>
            <a:graphicFrameLocks noGrp="1"/>
          </p:cNvGraphicFramePr>
          <p:nvPr/>
        </p:nvGraphicFramePr>
        <p:xfrm>
          <a:off x="588441" y="1938591"/>
          <a:ext cx="4308475" cy="1098550"/>
        </p:xfrm>
        <a:graphic>
          <a:graphicData uri="http://schemas.openxmlformats.org/drawingml/2006/table">
            <a:tbl>
              <a:tblPr firstRow="1" bandRow="1">
                <a:tableStyleId>{2D5ABB26-0587-4C30-8999-92F81FD0307C}</a:tableStyleId>
              </a:tblPr>
              <a:tblGrid>
                <a:gridCol w="2158365"/>
                <a:gridCol w="873125"/>
                <a:gridCol w="1172844"/>
              </a:tblGrid>
              <a:tr h="274320">
                <a:tc>
                  <a:txBody>
                    <a:bodyPr/>
                    <a:lstStyle/>
                    <a:p>
                      <a:pPr>
                        <a:lnSpc>
                          <a:spcPct val="100000"/>
                        </a:lnSpc>
                      </a:pPr>
                      <a:endParaRPr sz="1700">
                        <a:latin typeface="Times New Roman" panose="02020603050405020304"/>
                        <a:cs typeface="Times New Roman" panose="02020603050405020304"/>
                      </a:endParaRPr>
                    </a:p>
                  </a:txBody>
                  <a:tcPr marL="0" marR="0" marT="0" marB="0">
                    <a:lnL w="28575">
                      <a:solidFill>
                        <a:srgbClr val="35362F"/>
                      </a:solidFill>
                      <a:prstDash val="solid"/>
                    </a:lnL>
                    <a:lnR w="12700">
                      <a:solidFill>
                        <a:srgbClr val="35362F"/>
                      </a:solidFill>
                      <a:prstDash val="solid"/>
                    </a:lnR>
                    <a:lnT w="28575">
                      <a:solidFill>
                        <a:srgbClr val="35362F"/>
                      </a:solidFill>
                      <a:prstDash val="solid"/>
                    </a:lnT>
                    <a:lnB w="12700">
                      <a:solidFill>
                        <a:srgbClr val="35362F"/>
                      </a:solidFill>
                      <a:prstDash val="solid"/>
                    </a:lnB>
                  </a:tcPr>
                </a:tc>
                <a:tc>
                  <a:txBody>
                    <a:bodyPr/>
                    <a:lstStyle/>
                    <a:p>
                      <a:pPr marL="635" algn="ctr">
                        <a:lnSpc>
                          <a:spcPct val="100000"/>
                        </a:lnSpc>
                        <a:spcBef>
                          <a:spcPts val="200"/>
                        </a:spcBef>
                      </a:pPr>
                      <a:r>
                        <a:rPr sz="1400" b="1" u="sng" spc="-20" dirty="0">
                          <a:solidFill>
                            <a:srgbClr val="35362F"/>
                          </a:solidFill>
                          <a:uFill>
                            <a:solidFill>
                              <a:srgbClr val="35362F"/>
                            </a:solidFill>
                          </a:uFill>
                          <a:latin typeface="Arial" panose="020B0604020202020204"/>
                          <a:cs typeface="Arial" panose="020B0604020202020204"/>
                        </a:rPr>
                        <a:t>CORE</a:t>
                      </a:r>
                      <a:endParaRPr sz="1400">
                        <a:latin typeface="Arial" panose="020B0604020202020204"/>
                        <a:cs typeface="Arial" panose="020B0604020202020204"/>
                      </a:endParaRPr>
                    </a:p>
                  </a:txBody>
                  <a:tcPr marL="0" marR="0" marT="25400" marB="0">
                    <a:lnL w="12700">
                      <a:solidFill>
                        <a:srgbClr val="35362F"/>
                      </a:solidFill>
                      <a:prstDash val="solid"/>
                    </a:lnL>
                    <a:lnR w="12700">
                      <a:solidFill>
                        <a:srgbClr val="35362F"/>
                      </a:solidFill>
                      <a:prstDash val="solid"/>
                    </a:lnR>
                    <a:lnT w="28575">
                      <a:solidFill>
                        <a:srgbClr val="35362F"/>
                      </a:solidFill>
                      <a:prstDash val="solid"/>
                    </a:lnT>
                    <a:lnB w="12700">
                      <a:solidFill>
                        <a:srgbClr val="35362F"/>
                      </a:solidFill>
                      <a:prstDash val="solid"/>
                    </a:lnB>
                  </a:tcPr>
                </a:tc>
                <a:tc>
                  <a:txBody>
                    <a:bodyPr/>
                    <a:lstStyle/>
                    <a:p>
                      <a:pPr algn="ctr">
                        <a:lnSpc>
                          <a:spcPct val="100000"/>
                        </a:lnSpc>
                        <a:spcBef>
                          <a:spcPts val="200"/>
                        </a:spcBef>
                      </a:pPr>
                      <a:r>
                        <a:rPr sz="1400" b="1" u="sng" spc="-10" dirty="0">
                          <a:solidFill>
                            <a:srgbClr val="35362F"/>
                          </a:solidFill>
                          <a:uFill>
                            <a:solidFill>
                              <a:srgbClr val="35362F"/>
                            </a:solidFill>
                          </a:uFill>
                          <a:latin typeface="Arial" panose="020B0604020202020204"/>
                          <a:cs typeface="Arial" panose="020B0604020202020204"/>
                        </a:rPr>
                        <a:t>Domain1</a:t>
                      </a:r>
                      <a:endParaRPr sz="1400">
                        <a:latin typeface="Arial" panose="020B0604020202020204"/>
                        <a:cs typeface="Arial" panose="020B0604020202020204"/>
                      </a:endParaRPr>
                    </a:p>
                  </a:txBody>
                  <a:tcPr marL="0" marR="0" marT="25400" marB="0">
                    <a:lnL w="12700">
                      <a:solidFill>
                        <a:srgbClr val="35362F"/>
                      </a:solidFill>
                      <a:prstDash val="solid"/>
                    </a:lnL>
                    <a:lnR w="12700">
                      <a:solidFill>
                        <a:srgbClr val="35362F"/>
                      </a:solidFill>
                      <a:prstDash val="solid"/>
                    </a:lnR>
                    <a:lnT w="28575">
                      <a:solidFill>
                        <a:srgbClr val="35362F"/>
                      </a:solidFill>
                      <a:prstDash val="solid"/>
                    </a:lnT>
                    <a:lnB w="12700">
                      <a:solidFill>
                        <a:srgbClr val="35362F"/>
                      </a:solidFill>
                      <a:prstDash val="solid"/>
                    </a:lnB>
                  </a:tcPr>
                </a:tc>
              </a:tr>
              <a:tr h="274955">
                <a:tc>
                  <a:txBody>
                    <a:bodyPr/>
                    <a:lstStyle/>
                    <a:p>
                      <a:pPr marL="61595">
                        <a:lnSpc>
                          <a:spcPct val="100000"/>
                        </a:lnSpc>
                        <a:spcBef>
                          <a:spcPts val="200"/>
                        </a:spcBef>
                      </a:pPr>
                      <a:r>
                        <a:rPr sz="1400" b="1" spc="-10" dirty="0">
                          <a:solidFill>
                            <a:srgbClr val="FFFFFF"/>
                          </a:solidFill>
                          <a:latin typeface="Arial" panose="020B0604020202020204"/>
                          <a:cs typeface="Arial" panose="020B0604020202020204"/>
                        </a:rPr>
                        <a:t>Inactive</a:t>
                      </a:r>
                      <a:endParaRPr sz="1400">
                        <a:latin typeface="Arial" panose="020B0604020202020204"/>
                        <a:cs typeface="Arial" panose="020B0604020202020204"/>
                      </a:endParaRPr>
                    </a:p>
                  </a:txBody>
                  <a:tcPr marL="0" marR="0" marT="25400" marB="0">
                    <a:lnL w="28575">
                      <a:solidFill>
                        <a:srgbClr val="35362F"/>
                      </a:solidFill>
                      <a:prstDash val="solid"/>
                    </a:lnL>
                    <a:lnR w="12700">
                      <a:solidFill>
                        <a:srgbClr val="35362F"/>
                      </a:solidFill>
                      <a:prstDash val="solid"/>
                    </a:lnR>
                    <a:lnT w="12700">
                      <a:solidFill>
                        <a:srgbClr val="35362F"/>
                      </a:solidFill>
                      <a:prstDash val="solid"/>
                    </a:lnT>
                    <a:lnB w="12700">
                      <a:solidFill>
                        <a:srgbClr val="35362F"/>
                      </a:solidFill>
                      <a:prstDash val="solid"/>
                    </a:lnB>
                    <a:solidFill>
                      <a:srgbClr val="00AF50"/>
                    </a:solidFill>
                  </a:tcPr>
                </a:tc>
                <a:tc>
                  <a:txBody>
                    <a:bodyPr/>
                    <a:lstStyle/>
                    <a:p>
                      <a:pPr marL="635" algn="ctr">
                        <a:lnSpc>
                          <a:spcPct val="100000"/>
                        </a:lnSpc>
                        <a:spcBef>
                          <a:spcPts val="200"/>
                        </a:spcBef>
                      </a:pPr>
                      <a:r>
                        <a:rPr sz="1400" b="1" spc="-25" dirty="0">
                          <a:solidFill>
                            <a:srgbClr val="FFFFFF"/>
                          </a:solidFill>
                          <a:latin typeface="Arial" panose="020B0604020202020204"/>
                          <a:cs typeface="Arial" panose="020B0604020202020204"/>
                        </a:rPr>
                        <a:t>OFF</a:t>
                      </a:r>
                      <a:endParaRPr sz="1400">
                        <a:latin typeface="Arial" panose="020B0604020202020204"/>
                        <a:cs typeface="Arial" panose="020B0604020202020204"/>
                      </a:endParaRPr>
                    </a:p>
                  </a:txBody>
                  <a:tcPr marL="0" marR="0" marT="25400" marB="0">
                    <a:lnL w="12700">
                      <a:solidFill>
                        <a:srgbClr val="35362F"/>
                      </a:solidFill>
                      <a:prstDash val="solid"/>
                    </a:lnL>
                    <a:lnR w="12700">
                      <a:solidFill>
                        <a:srgbClr val="35362F"/>
                      </a:solidFill>
                      <a:prstDash val="solid"/>
                    </a:lnR>
                    <a:lnT w="12700">
                      <a:solidFill>
                        <a:srgbClr val="35362F"/>
                      </a:solidFill>
                      <a:prstDash val="solid"/>
                    </a:lnT>
                    <a:lnB w="12700">
                      <a:solidFill>
                        <a:srgbClr val="35362F"/>
                      </a:solidFill>
                      <a:prstDash val="solid"/>
                    </a:lnB>
                    <a:solidFill>
                      <a:srgbClr val="00AF50"/>
                    </a:solidFill>
                  </a:tcPr>
                </a:tc>
                <a:tc>
                  <a:txBody>
                    <a:bodyPr/>
                    <a:lstStyle/>
                    <a:p>
                      <a:pPr marL="1270" algn="ctr">
                        <a:lnSpc>
                          <a:spcPct val="100000"/>
                        </a:lnSpc>
                        <a:spcBef>
                          <a:spcPts val="200"/>
                        </a:spcBef>
                      </a:pPr>
                      <a:r>
                        <a:rPr sz="1400" b="1" spc="-25" dirty="0">
                          <a:solidFill>
                            <a:srgbClr val="FFFFFF"/>
                          </a:solidFill>
                          <a:latin typeface="Arial" panose="020B0604020202020204"/>
                          <a:cs typeface="Arial" panose="020B0604020202020204"/>
                        </a:rPr>
                        <a:t>OFF</a:t>
                      </a:r>
                      <a:endParaRPr sz="1400">
                        <a:latin typeface="Arial" panose="020B0604020202020204"/>
                        <a:cs typeface="Arial" panose="020B0604020202020204"/>
                      </a:endParaRPr>
                    </a:p>
                  </a:txBody>
                  <a:tcPr marL="0" marR="0" marT="25400" marB="0">
                    <a:lnL w="12700">
                      <a:solidFill>
                        <a:srgbClr val="35362F"/>
                      </a:solidFill>
                      <a:prstDash val="solid"/>
                    </a:lnL>
                    <a:lnR w="12700">
                      <a:solidFill>
                        <a:srgbClr val="35362F"/>
                      </a:solidFill>
                      <a:prstDash val="solid"/>
                    </a:lnR>
                    <a:lnT w="12700">
                      <a:solidFill>
                        <a:srgbClr val="35362F"/>
                      </a:solidFill>
                      <a:prstDash val="solid"/>
                    </a:lnT>
                    <a:lnB w="12700">
                      <a:solidFill>
                        <a:srgbClr val="35362F"/>
                      </a:solidFill>
                      <a:prstDash val="solid"/>
                    </a:lnB>
                    <a:solidFill>
                      <a:srgbClr val="00AF50"/>
                    </a:solidFill>
                  </a:tcPr>
                </a:tc>
              </a:tr>
              <a:tr h="274320">
                <a:tc>
                  <a:txBody>
                    <a:bodyPr/>
                    <a:lstStyle/>
                    <a:p>
                      <a:pPr marL="61595">
                        <a:lnSpc>
                          <a:spcPct val="100000"/>
                        </a:lnSpc>
                        <a:spcBef>
                          <a:spcPts val="205"/>
                        </a:spcBef>
                      </a:pPr>
                      <a:r>
                        <a:rPr sz="1400" b="1" dirty="0">
                          <a:solidFill>
                            <a:srgbClr val="FFFFFF"/>
                          </a:solidFill>
                          <a:latin typeface="Arial" panose="020B0604020202020204"/>
                          <a:cs typeface="Arial" panose="020B0604020202020204"/>
                        </a:rPr>
                        <a:t>Power</a:t>
                      </a:r>
                      <a:r>
                        <a:rPr sz="1400" b="1" spc="-45" dirty="0">
                          <a:solidFill>
                            <a:srgbClr val="FFFFFF"/>
                          </a:solidFill>
                          <a:latin typeface="Arial" panose="020B0604020202020204"/>
                          <a:cs typeface="Arial" panose="020B0604020202020204"/>
                        </a:rPr>
                        <a:t> </a:t>
                      </a:r>
                      <a:r>
                        <a:rPr sz="1400" b="1" spc="-10" dirty="0">
                          <a:solidFill>
                            <a:srgbClr val="FFFFFF"/>
                          </a:solidFill>
                          <a:latin typeface="Arial" panose="020B0604020202020204"/>
                          <a:cs typeface="Arial" panose="020B0604020202020204"/>
                        </a:rPr>
                        <a:t>Saving</a:t>
                      </a:r>
                      <a:endParaRPr sz="1400">
                        <a:latin typeface="Arial" panose="020B0604020202020204"/>
                        <a:cs typeface="Arial" panose="020B0604020202020204"/>
                      </a:endParaRPr>
                    </a:p>
                  </a:txBody>
                  <a:tcPr marL="0" marR="0" marT="26034" marB="0">
                    <a:lnL w="28575">
                      <a:solidFill>
                        <a:srgbClr val="35362F"/>
                      </a:solidFill>
                      <a:prstDash val="solid"/>
                    </a:lnL>
                    <a:lnR w="12700">
                      <a:solidFill>
                        <a:srgbClr val="35362F"/>
                      </a:solidFill>
                      <a:prstDash val="solid"/>
                    </a:lnR>
                    <a:lnT w="12700">
                      <a:solidFill>
                        <a:srgbClr val="35362F"/>
                      </a:solidFill>
                      <a:prstDash val="solid"/>
                    </a:lnT>
                    <a:lnB w="12700">
                      <a:solidFill>
                        <a:srgbClr val="35362F"/>
                      </a:solidFill>
                      <a:prstDash val="solid"/>
                    </a:lnB>
                    <a:solidFill>
                      <a:srgbClr val="FFC904"/>
                    </a:solidFill>
                  </a:tcPr>
                </a:tc>
                <a:tc>
                  <a:txBody>
                    <a:bodyPr/>
                    <a:lstStyle/>
                    <a:p>
                      <a:pPr marL="635" algn="ctr">
                        <a:lnSpc>
                          <a:spcPct val="100000"/>
                        </a:lnSpc>
                        <a:spcBef>
                          <a:spcPts val="205"/>
                        </a:spcBef>
                      </a:pPr>
                      <a:r>
                        <a:rPr sz="1400" b="1" spc="-25" dirty="0">
                          <a:solidFill>
                            <a:srgbClr val="FFFFFF"/>
                          </a:solidFill>
                          <a:latin typeface="Arial" panose="020B0604020202020204"/>
                          <a:cs typeface="Arial" panose="020B0604020202020204"/>
                        </a:rPr>
                        <a:t>ON</a:t>
                      </a:r>
                      <a:endParaRPr sz="1400">
                        <a:latin typeface="Arial" panose="020B0604020202020204"/>
                        <a:cs typeface="Arial" panose="020B0604020202020204"/>
                      </a:endParaRPr>
                    </a:p>
                  </a:txBody>
                  <a:tcPr marL="0" marR="0" marT="26034" marB="0">
                    <a:lnL w="12700">
                      <a:solidFill>
                        <a:srgbClr val="35362F"/>
                      </a:solidFill>
                      <a:prstDash val="solid"/>
                    </a:lnL>
                    <a:lnR w="12700">
                      <a:solidFill>
                        <a:srgbClr val="35362F"/>
                      </a:solidFill>
                      <a:prstDash val="solid"/>
                    </a:lnR>
                    <a:lnT w="12700">
                      <a:solidFill>
                        <a:srgbClr val="35362F"/>
                      </a:solidFill>
                      <a:prstDash val="solid"/>
                    </a:lnT>
                    <a:lnB w="12700">
                      <a:solidFill>
                        <a:srgbClr val="35362F"/>
                      </a:solidFill>
                      <a:prstDash val="solid"/>
                    </a:lnB>
                    <a:solidFill>
                      <a:srgbClr val="FFC904"/>
                    </a:solidFill>
                  </a:tcPr>
                </a:tc>
                <a:tc>
                  <a:txBody>
                    <a:bodyPr/>
                    <a:lstStyle/>
                    <a:p>
                      <a:pPr marL="1270" algn="ctr">
                        <a:lnSpc>
                          <a:spcPct val="100000"/>
                        </a:lnSpc>
                        <a:spcBef>
                          <a:spcPts val="205"/>
                        </a:spcBef>
                      </a:pPr>
                      <a:r>
                        <a:rPr sz="1400" b="1" spc="-25" dirty="0">
                          <a:solidFill>
                            <a:srgbClr val="FFFFFF"/>
                          </a:solidFill>
                          <a:latin typeface="Arial" panose="020B0604020202020204"/>
                          <a:cs typeface="Arial" panose="020B0604020202020204"/>
                        </a:rPr>
                        <a:t>OFF</a:t>
                      </a:r>
                      <a:endParaRPr sz="1400">
                        <a:latin typeface="Arial" panose="020B0604020202020204"/>
                        <a:cs typeface="Arial" panose="020B0604020202020204"/>
                      </a:endParaRPr>
                    </a:p>
                  </a:txBody>
                  <a:tcPr marL="0" marR="0" marT="26034" marB="0">
                    <a:lnL w="12700">
                      <a:solidFill>
                        <a:srgbClr val="35362F"/>
                      </a:solidFill>
                      <a:prstDash val="solid"/>
                    </a:lnL>
                    <a:lnR w="12700">
                      <a:solidFill>
                        <a:srgbClr val="35362F"/>
                      </a:solidFill>
                      <a:prstDash val="solid"/>
                    </a:lnR>
                    <a:lnT w="12700">
                      <a:solidFill>
                        <a:srgbClr val="35362F"/>
                      </a:solidFill>
                      <a:prstDash val="solid"/>
                    </a:lnT>
                    <a:lnB w="12700">
                      <a:solidFill>
                        <a:srgbClr val="35362F"/>
                      </a:solidFill>
                      <a:prstDash val="solid"/>
                    </a:lnB>
                    <a:solidFill>
                      <a:srgbClr val="FFC904"/>
                    </a:solidFill>
                  </a:tcPr>
                </a:tc>
              </a:tr>
              <a:tr h="274955">
                <a:tc>
                  <a:txBody>
                    <a:bodyPr/>
                    <a:lstStyle/>
                    <a:p>
                      <a:pPr marL="61595">
                        <a:lnSpc>
                          <a:spcPct val="100000"/>
                        </a:lnSpc>
                        <a:spcBef>
                          <a:spcPts val="205"/>
                        </a:spcBef>
                      </a:pPr>
                      <a:r>
                        <a:rPr sz="1400" b="1" dirty="0">
                          <a:solidFill>
                            <a:srgbClr val="FFFFFF"/>
                          </a:solidFill>
                          <a:latin typeface="Arial" panose="020B0604020202020204"/>
                          <a:cs typeface="Arial" panose="020B0604020202020204"/>
                        </a:rPr>
                        <a:t>High</a:t>
                      </a:r>
                      <a:r>
                        <a:rPr sz="1400" b="1" spc="-30" dirty="0">
                          <a:solidFill>
                            <a:srgbClr val="FFFFFF"/>
                          </a:solidFill>
                          <a:latin typeface="Arial" panose="020B0604020202020204"/>
                          <a:cs typeface="Arial" panose="020B0604020202020204"/>
                        </a:rPr>
                        <a:t> </a:t>
                      </a:r>
                      <a:r>
                        <a:rPr sz="1400" b="1" spc="-10" dirty="0">
                          <a:solidFill>
                            <a:srgbClr val="FFFFFF"/>
                          </a:solidFill>
                          <a:latin typeface="Arial" panose="020B0604020202020204"/>
                          <a:cs typeface="Arial" panose="020B0604020202020204"/>
                        </a:rPr>
                        <a:t>Performance</a:t>
                      </a:r>
                      <a:endParaRPr sz="1400">
                        <a:latin typeface="Arial" panose="020B0604020202020204"/>
                        <a:cs typeface="Arial" panose="020B0604020202020204"/>
                      </a:endParaRPr>
                    </a:p>
                  </a:txBody>
                  <a:tcPr marL="0" marR="0" marT="26034" marB="0">
                    <a:lnL w="28575">
                      <a:solidFill>
                        <a:srgbClr val="35362F"/>
                      </a:solidFill>
                      <a:prstDash val="solid"/>
                    </a:lnL>
                    <a:lnR w="12700">
                      <a:solidFill>
                        <a:srgbClr val="35362F"/>
                      </a:solidFill>
                      <a:prstDash val="solid"/>
                    </a:lnR>
                    <a:lnT w="12700">
                      <a:solidFill>
                        <a:srgbClr val="35362F"/>
                      </a:solidFill>
                      <a:prstDash val="solid"/>
                    </a:lnT>
                    <a:lnB w="12700">
                      <a:solidFill>
                        <a:srgbClr val="35362F"/>
                      </a:solidFill>
                      <a:prstDash val="solid"/>
                    </a:lnB>
                    <a:solidFill>
                      <a:srgbClr val="FF0000"/>
                    </a:solidFill>
                  </a:tcPr>
                </a:tc>
                <a:tc>
                  <a:txBody>
                    <a:bodyPr/>
                    <a:lstStyle/>
                    <a:p>
                      <a:pPr marL="635" algn="ctr">
                        <a:lnSpc>
                          <a:spcPct val="100000"/>
                        </a:lnSpc>
                        <a:spcBef>
                          <a:spcPts val="205"/>
                        </a:spcBef>
                      </a:pPr>
                      <a:r>
                        <a:rPr sz="1400" b="1" spc="-25" dirty="0">
                          <a:solidFill>
                            <a:srgbClr val="FFFFFF"/>
                          </a:solidFill>
                          <a:latin typeface="Arial" panose="020B0604020202020204"/>
                          <a:cs typeface="Arial" panose="020B0604020202020204"/>
                        </a:rPr>
                        <a:t>ON</a:t>
                      </a:r>
                      <a:endParaRPr sz="1400">
                        <a:latin typeface="Arial" panose="020B0604020202020204"/>
                        <a:cs typeface="Arial" panose="020B0604020202020204"/>
                      </a:endParaRPr>
                    </a:p>
                  </a:txBody>
                  <a:tcPr marL="0" marR="0" marT="26034" marB="0">
                    <a:lnL w="12700">
                      <a:solidFill>
                        <a:srgbClr val="35362F"/>
                      </a:solidFill>
                      <a:prstDash val="solid"/>
                    </a:lnL>
                    <a:lnR w="12700">
                      <a:solidFill>
                        <a:srgbClr val="35362F"/>
                      </a:solidFill>
                      <a:prstDash val="solid"/>
                    </a:lnR>
                    <a:lnT w="12700">
                      <a:solidFill>
                        <a:srgbClr val="35362F"/>
                      </a:solidFill>
                      <a:prstDash val="solid"/>
                    </a:lnT>
                    <a:lnB w="12700">
                      <a:solidFill>
                        <a:srgbClr val="35362F"/>
                      </a:solidFill>
                      <a:prstDash val="solid"/>
                    </a:lnB>
                    <a:solidFill>
                      <a:srgbClr val="FF0000"/>
                    </a:solidFill>
                  </a:tcPr>
                </a:tc>
                <a:tc>
                  <a:txBody>
                    <a:bodyPr/>
                    <a:lstStyle/>
                    <a:p>
                      <a:pPr marL="635" algn="ctr">
                        <a:lnSpc>
                          <a:spcPct val="100000"/>
                        </a:lnSpc>
                        <a:spcBef>
                          <a:spcPts val="205"/>
                        </a:spcBef>
                      </a:pPr>
                      <a:r>
                        <a:rPr sz="1400" b="1" spc="-25" dirty="0">
                          <a:solidFill>
                            <a:srgbClr val="FFFFFF"/>
                          </a:solidFill>
                          <a:latin typeface="Arial" panose="020B0604020202020204"/>
                          <a:cs typeface="Arial" panose="020B0604020202020204"/>
                        </a:rPr>
                        <a:t>ON</a:t>
                      </a:r>
                      <a:endParaRPr sz="1400">
                        <a:latin typeface="Arial" panose="020B0604020202020204"/>
                        <a:cs typeface="Arial" panose="020B0604020202020204"/>
                      </a:endParaRPr>
                    </a:p>
                  </a:txBody>
                  <a:tcPr marL="0" marR="0" marT="26034" marB="0">
                    <a:lnL w="12700">
                      <a:solidFill>
                        <a:srgbClr val="35362F"/>
                      </a:solidFill>
                      <a:prstDash val="solid"/>
                    </a:lnL>
                    <a:lnR w="12700">
                      <a:solidFill>
                        <a:srgbClr val="35362F"/>
                      </a:solidFill>
                      <a:prstDash val="solid"/>
                    </a:lnR>
                    <a:lnT w="12700">
                      <a:solidFill>
                        <a:srgbClr val="35362F"/>
                      </a:solidFill>
                      <a:prstDash val="solid"/>
                    </a:lnT>
                    <a:lnB w="12700">
                      <a:solidFill>
                        <a:srgbClr val="35362F"/>
                      </a:solidFill>
                      <a:prstDash val="solid"/>
                    </a:lnB>
                    <a:solidFill>
                      <a:srgbClr val="FF0000"/>
                    </a:solidFill>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153352" y="1208867"/>
            <a:ext cx="1646234" cy="1442085"/>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7200" b="1"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05</a:t>
            </a:r>
            <a:endParaRPr lang="en-US" sz="1440" dirty="0"/>
          </a:p>
        </p:txBody>
      </p:sp>
      <p:sp>
        <p:nvSpPr>
          <p:cNvPr id="3" name="Text 1"/>
          <p:cNvSpPr/>
          <p:nvPr/>
        </p:nvSpPr>
        <p:spPr>
          <a:xfrm>
            <a:off x="3831779" y="2571750"/>
            <a:ext cx="3897443" cy="640080"/>
          </a:xfrm>
          <a:prstGeom prst="rect">
            <a:avLst/>
          </a:prstGeom>
          <a:noFill/>
        </p:spPr>
        <p:txBody>
          <a:bodyPr wrap="square" lIns="95250" tIns="95250" rIns="95250" bIns="95250" rtlCol="0" anchor="t">
            <a:spAutoFit/>
          </a:bodyPr>
          <a:lstStyle/>
          <a:p>
            <a:pPr marL="0" indent="457200" algn="r">
              <a:lnSpc>
                <a:spcPct val="113000"/>
              </a:lnSpc>
              <a:spcBef>
                <a:spcPts val="375"/>
              </a:spcBef>
              <a:buNone/>
            </a:pPr>
            <a:r>
              <a:rPr lang="en-US" altLang="zh-CN" sz="2590" dirty="0">
                <a:latin typeface="微软雅黑" panose="020B0503020204020204" pitchFamily="34" charset="-122"/>
                <a:ea typeface="微软雅黑" panose="020B0503020204020204" pitchFamily="34" charset="-122"/>
                <a:sym typeface="+mn-ea"/>
              </a:rPr>
              <a:t>UPF</a:t>
            </a:r>
            <a:r>
              <a:rPr lang="zh-CN" altLang="en-US" sz="2590" dirty="0">
                <a:latin typeface="微软雅黑" panose="020B0503020204020204" pitchFamily="34" charset="-122"/>
                <a:ea typeface="微软雅黑" panose="020B0503020204020204" pitchFamily="34" charset="-122"/>
                <a:sym typeface="+mn-ea"/>
              </a:rPr>
              <a:t>实例</a:t>
            </a:r>
            <a:endParaRPr lang="zh-CN" altLang="en-US" sz="2590"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3" name="object 3"/>
          <p:cNvSpPr txBox="1"/>
          <p:nvPr/>
        </p:nvSpPr>
        <p:spPr>
          <a:xfrm>
            <a:off x="390245" y="666749"/>
            <a:ext cx="3675379" cy="1217930"/>
          </a:xfrm>
          <a:prstGeom prst="rect">
            <a:avLst/>
          </a:prstGeom>
        </p:spPr>
        <p:txBody>
          <a:bodyPr vert="horz" wrap="square" lIns="0" tIns="12700" rIns="0" bIns="0" rtlCol="0">
            <a:spAutoFit/>
          </a:bodyPr>
          <a:lstStyle/>
          <a:p>
            <a:pPr marL="370840" indent="-358140">
              <a:lnSpc>
                <a:spcPct val="100000"/>
              </a:lnSpc>
              <a:spcBef>
                <a:spcPts val="100"/>
              </a:spcBef>
              <a:buFont typeface="Wingdings" panose="05000000000000000000"/>
              <a:buChar char=""/>
              <a:tabLst>
                <a:tab pos="370840" algn="l"/>
              </a:tabLst>
            </a:pPr>
            <a:r>
              <a:rPr sz="1800" b="1" dirty="0">
                <a:solidFill>
                  <a:srgbClr val="00A0DE"/>
                </a:solidFill>
                <a:latin typeface="Calibri" panose="020F0502020204030204"/>
                <a:cs typeface="Calibri" panose="020F0502020204030204"/>
              </a:rPr>
              <a:t>Define</a:t>
            </a:r>
            <a:r>
              <a:rPr sz="1800" b="1" spc="-55" dirty="0">
                <a:solidFill>
                  <a:srgbClr val="00A0DE"/>
                </a:solidFill>
                <a:latin typeface="Calibri" panose="020F0502020204030204"/>
                <a:cs typeface="Calibri" panose="020F0502020204030204"/>
              </a:rPr>
              <a:t> </a:t>
            </a:r>
            <a:r>
              <a:rPr sz="1800" b="1" dirty="0">
                <a:solidFill>
                  <a:srgbClr val="00A0DE"/>
                </a:solidFill>
                <a:latin typeface="Calibri" panose="020F0502020204030204"/>
                <a:cs typeface="Calibri" panose="020F0502020204030204"/>
              </a:rPr>
              <a:t>power</a:t>
            </a:r>
            <a:r>
              <a:rPr sz="1800" b="1" spc="-60" dirty="0">
                <a:solidFill>
                  <a:srgbClr val="00A0DE"/>
                </a:solidFill>
                <a:latin typeface="Calibri" panose="020F0502020204030204"/>
                <a:cs typeface="Calibri" panose="020F0502020204030204"/>
              </a:rPr>
              <a:t> </a:t>
            </a:r>
            <a:r>
              <a:rPr sz="1800" b="1" dirty="0">
                <a:solidFill>
                  <a:srgbClr val="00A0DE"/>
                </a:solidFill>
                <a:latin typeface="Calibri" panose="020F0502020204030204"/>
                <a:cs typeface="Calibri" panose="020F0502020204030204"/>
              </a:rPr>
              <a:t>network</a:t>
            </a:r>
            <a:r>
              <a:rPr sz="1800" b="1" spc="-65" dirty="0">
                <a:solidFill>
                  <a:srgbClr val="00A0DE"/>
                </a:solidFill>
                <a:latin typeface="Calibri" panose="020F0502020204030204"/>
                <a:cs typeface="Calibri" panose="020F0502020204030204"/>
              </a:rPr>
              <a:t> </a:t>
            </a:r>
            <a:r>
              <a:rPr sz="1800" b="1" spc="-10" dirty="0">
                <a:solidFill>
                  <a:srgbClr val="00A0DE"/>
                </a:solidFill>
                <a:latin typeface="Calibri" panose="020F0502020204030204"/>
                <a:cs typeface="Calibri" panose="020F0502020204030204"/>
              </a:rPr>
              <a:t>distribution</a:t>
            </a:r>
            <a:endParaRPr sz="1800">
              <a:latin typeface="Calibri" panose="020F0502020204030204"/>
              <a:cs typeface="Calibri" panose="020F0502020204030204"/>
            </a:endParaRPr>
          </a:p>
          <a:p>
            <a:pPr marL="570230" lvl="1" indent="-214630">
              <a:lnSpc>
                <a:spcPct val="100000"/>
              </a:lnSpc>
              <a:spcBef>
                <a:spcPts val="25"/>
              </a:spcBef>
              <a:buChar char="—"/>
              <a:tabLst>
                <a:tab pos="570230" algn="l"/>
              </a:tabLst>
            </a:pPr>
            <a:r>
              <a:rPr sz="1500" dirty="0">
                <a:solidFill>
                  <a:srgbClr val="35362F"/>
                </a:solidFill>
                <a:latin typeface="Calibri" panose="020F0502020204030204"/>
                <a:cs typeface="Calibri" panose="020F0502020204030204"/>
              </a:rPr>
              <a:t>Power</a:t>
            </a:r>
            <a:r>
              <a:rPr sz="1500" spc="-75" dirty="0">
                <a:solidFill>
                  <a:srgbClr val="35362F"/>
                </a:solidFill>
                <a:latin typeface="Calibri" panose="020F0502020204030204"/>
                <a:cs typeface="Calibri" panose="020F0502020204030204"/>
              </a:rPr>
              <a:t> </a:t>
            </a:r>
            <a:r>
              <a:rPr sz="1500" spc="-10" dirty="0">
                <a:solidFill>
                  <a:srgbClr val="35362F"/>
                </a:solidFill>
                <a:latin typeface="Calibri" panose="020F0502020204030204"/>
                <a:cs typeface="Calibri" panose="020F0502020204030204"/>
              </a:rPr>
              <a:t>domains</a:t>
            </a:r>
            <a:endParaRPr sz="1500">
              <a:latin typeface="Calibri" panose="020F0502020204030204"/>
              <a:cs typeface="Calibri" panose="020F0502020204030204"/>
            </a:endParaRPr>
          </a:p>
          <a:p>
            <a:pPr marL="569595" lvl="1" indent="-213995">
              <a:lnSpc>
                <a:spcPct val="100000"/>
              </a:lnSpc>
              <a:buChar char="—"/>
              <a:tabLst>
                <a:tab pos="569595" algn="l"/>
              </a:tabLst>
            </a:pPr>
            <a:r>
              <a:rPr sz="1500" dirty="0">
                <a:solidFill>
                  <a:srgbClr val="35362F"/>
                </a:solidFill>
                <a:latin typeface="Calibri" panose="020F0502020204030204"/>
                <a:cs typeface="Calibri" panose="020F0502020204030204"/>
              </a:rPr>
              <a:t>Supply</a:t>
            </a:r>
            <a:r>
              <a:rPr sz="1500" spc="-40" dirty="0">
                <a:solidFill>
                  <a:srgbClr val="35362F"/>
                </a:solidFill>
                <a:latin typeface="Calibri" panose="020F0502020204030204"/>
                <a:cs typeface="Calibri" panose="020F0502020204030204"/>
              </a:rPr>
              <a:t> </a:t>
            </a:r>
            <a:r>
              <a:rPr sz="1500" spc="-10" dirty="0">
                <a:solidFill>
                  <a:srgbClr val="35362F"/>
                </a:solidFill>
                <a:latin typeface="Calibri" panose="020F0502020204030204"/>
                <a:cs typeface="Calibri" panose="020F0502020204030204"/>
              </a:rPr>
              <a:t>ports</a:t>
            </a:r>
            <a:endParaRPr sz="1500">
              <a:latin typeface="Calibri" panose="020F0502020204030204"/>
              <a:cs typeface="Calibri" panose="020F0502020204030204"/>
            </a:endParaRPr>
          </a:p>
          <a:p>
            <a:pPr marL="570230" lvl="1" indent="-214630">
              <a:lnSpc>
                <a:spcPct val="100000"/>
              </a:lnSpc>
              <a:buChar char="—"/>
              <a:tabLst>
                <a:tab pos="570230" algn="l"/>
              </a:tabLst>
            </a:pPr>
            <a:r>
              <a:rPr sz="1500" dirty="0">
                <a:solidFill>
                  <a:srgbClr val="35362F"/>
                </a:solidFill>
                <a:latin typeface="Calibri" panose="020F0502020204030204"/>
                <a:cs typeface="Calibri" panose="020F0502020204030204"/>
              </a:rPr>
              <a:t>Supply</a:t>
            </a:r>
            <a:r>
              <a:rPr sz="1500" spc="-35" dirty="0">
                <a:solidFill>
                  <a:srgbClr val="35362F"/>
                </a:solidFill>
                <a:latin typeface="Calibri" panose="020F0502020204030204"/>
                <a:cs typeface="Calibri" panose="020F0502020204030204"/>
              </a:rPr>
              <a:t> </a:t>
            </a:r>
            <a:r>
              <a:rPr sz="1500" spc="-20" dirty="0">
                <a:solidFill>
                  <a:srgbClr val="35362F"/>
                </a:solidFill>
                <a:latin typeface="Calibri" panose="020F0502020204030204"/>
                <a:cs typeface="Calibri" panose="020F0502020204030204"/>
              </a:rPr>
              <a:t>nets</a:t>
            </a:r>
            <a:endParaRPr sz="1500">
              <a:latin typeface="Calibri" panose="020F0502020204030204"/>
              <a:cs typeface="Calibri" panose="020F0502020204030204"/>
            </a:endParaRPr>
          </a:p>
          <a:p>
            <a:pPr marL="570230" lvl="1" indent="-214630">
              <a:lnSpc>
                <a:spcPct val="100000"/>
              </a:lnSpc>
              <a:buChar char="—"/>
              <a:tabLst>
                <a:tab pos="570230" algn="l"/>
              </a:tabLst>
            </a:pPr>
            <a:r>
              <a:rPr sz="1500" dirty="0">
                <a:solidFill>
                  <a:srgbClr val="35362F"/>
                </a:solidFill>
                <a:latin typeface="Calibri" panose="020F0502020204030204"/>
                <a:cs typeface="Calibri" panose="020F0502020204030204"/>
              </a:rPr>
              <a:t>Supply</a:t>
            </a:r>
            <a:r>
              <a:rPr sz="1500" spc="-35" dirty="0">
                <a:solidFill>
                  <a:srgbClr val="35362F"/>
                </a:solidFill>
                <a:latin typeface="Calibri" panose="020F0502020204030204"/>
                <a:cs typeface="Calibri" panose="020F0502020204030204"/>
              </a:rPr>
              <a:t> </a:t>
            </a:r>
            <a:r>
              <a:rPr sz="1500" spc="-20" dirty="0">
                <a:solidFill>
                  <a:srgbClr val="35362F"/>
                </a:solidFill>
                <a:latin typeface="Calibri" panose="020F0502020204030204"/>
                <a:cs typeface="Calibri" panose="020F0502020204030204"/>
              </a:rPr>
              <a:t>sets</a:t>
            </a:r>
            <a:endParaRPr sz="1500">
              <a:latin typeface="Calibri" panose="020F0502020204030204"/>
              <a:cs typeface="Calibri" panose="020F0502020204030204"/>
            </a:endParaRPr>
          </a:p>
        </p:txBody>
      </p:sp>
      <p:sp>
        <p:nvSpPr>
          <p:cNvPr id="4" name="object 4"/>
          <p:cNvSpPr txBox="1"/>
          <p:nvPr/>
        </p:nvSpPr>
        <p:spPr>
          <a:xfrm>
            <a:off x="390245" y="2084019"/>
            <a:ext cx="3232150" cy="1217930"/>
          </a:xfrm>
          <a:prstGeom prst="rect">
            <a:avLst/>
          </a:prstGeom>
        </p:spPr>
        <p:txBody>
          <a:bodyPr vert="horz" wrap="square" lIns="0" tIns="12700" rIns="0" bIns="0" rtlCol="0">
            <a:spAutoFit/>
          </a:bodyPr>
          <a:lstStyle/>
          <a:p>
            <a:pPr marL="370840" indent="-358140">
              <a:lnSpc>
                <a:spcPct val="100000"/>
              </a:lnSpc>
              <a:spcBef>
                <a:spcPts val="100"/>
              </a:spcBef>
              <a:buFont typeface="Wingdings" panose="05000000000000000000"/>
              <a:buChar char=""/>
              <a:tabLst>
                <a:tab pos="370840" algn="l"/>
              </a:tabLst>
            </a:pPr>
            <a:r>
              <a:rPr sz="1800" b="1" dirty="0">
                <a:solidFill>
                  <a:srgbClr val="FD9B1E"/>
                </a:solidFill>
                <a:latin typeface="Calibri" panose="020F0502020204030204"/>
                <a:cs typeface="Calibri" panose="020F0502020204030204"/>
              </a:rPr>
              <a:t>Define</a:t>
            </a:r>
            <a:r>
              <a:rPr sz="1800" b="1" spc="-40" dirty="0">
                <a:solidFill>
                  <a:srgbClr val="FD9B1E"/>
                </a:solidFill>
                <a:latin typeface="Calibri" panose="020F0502020204030204"/>
                <a:cs typeface="Calibri" panose="020F0502020204030204"/>
              </a:rPr>
              <a:t> </a:t>
            </a:r>
            <a:r>
              <a:rPr sz="1800" b="1" spc="-10" dirty="0">
                <a:solidFill>
                  <a:srgbClr val="FD9B1E"/>
                </a:solidFill>
                <a:latin typeface="Calibri" panose="020F0502020204030204"/>
                <a:cs typeface="Calibri" panose="020F0502020204030204"/>
              </a:rPr>
              <a:t>strategy</a:t>
            </a:r>
            <a:r>
              <a:rPr sz="1800" b="1" spc="-50" dirty="0">
                <a:solidFill>
                  <a:srgbClr val="FD9B1E"/>
                </a:solidFill>
                <a:latin typeface="Calibri" panose="020F0502020204030204"/>
                <a:cs typeface="Calibri" panose="020F0502020204030204"/>
              </a:rPr>
              <a:t> </a:t>
            </a:r>
            <a:r>
              <a:rPr sz="1800" b="1" dirty="0">
                <a:solidFill>
                  <a:srgbClr val="FD9B1E"/>
                </a:solidFill>
                <a:latin typeface="Calibri" panose="020F0502020204030204"/>
                <a:cs typeface="Calibri" panose="020F0502020204030204"/>
              </a:rPr>
              <a:t>of</a:t>
            </a:r>
            <a:r>
              <a:rPr sz="1800" b="1" spc="-15" dirty="0">
                <a:solidFill>
                  <a:srgbClr val="FD9B1E"/>
                </a:solidFill>
                <a:latin typeface="Calibri" panose="020F0502020204030204"/>
                <a:cs typeface="Calibri" panose="020F0502020204030204"/>
              </a:rPr>
              <a:t> </a:t>
            </a:r>
            <a:r>
              <a:rPr sz="1800" b="1" dirty="0">
                <a:solidFill>
                  <a:srgbClr val="FD9B1E"/>
                </a:solidFill>
                <a:latin typeface="Calibri" panose="020F0502020204030204"/>
                <a:cs typeface="Calibri" panose="020F0502020204030204"/>
              </a:rPr>
              <a:t>special</a:t>
            </a:r>
            <a:r>
              <a:rPr sz="1800" b="1" spc="-65" dirty="0">
                <a:solidFill>
                  <a:srgbClr val="FD9B1E"/>
                </a:solidFill>
                <a:latin typeface="Calibri" panose="020F0502020204030204"/>
                <a:cs typeface="Calibri" panose="020F0502020204030204"/>
              </a:rPr>
              <a:t> </a:t>
            </a:r>
            <a:r>
              <a:rPr sz="1800" b="1" spc="-10" dirty="0">
                <a:solidFill>
                  <a:srgbClr val="FD9B1E"/>
                </a:solidFill>
                <a:latin typeface="Calibri" panose="020F0502020204030204"/>
                <a:cs typeface="Calibri" panose="020F0502020204030204"/>
              </a:rPr>
              <a:t>cells</a:t>
            </a:r>
            <a:endParaRPr sz="1800">
              <a:latin typeface="Calibri" panose="020F0502020204030204"/>
              <a:cs typeface="Calibri" panose="020F0502020204030204"/>
            </a:endParaRPr>
          </a:p>
          <a:p>
            <a:pPr marL="569595" lvl="1" indent="-213995">
              <a:lnSpc>
                <a:spcPct val="100000"/>
              </a:lnSpc>
              <a:spcBef>
                <a:spcPts val="25"/>
              </a:spcBef>
              <a:buChar char="—"/>
              <a:tabLst>
                <a:tab pos="569595" algn="l"/>
              </a:tabLst>
            </a:pPr>
            <a:r>
              <a:rPr sz="1500" dirty="0">
                <a:solidFill>
                  <a:srgbClr val="35362F"/>
                </a:solidFill>
                <a:latin typeface="Calibri" panose="020F0502020204030204"/>
                <a:cs typeface="Calibri" panose="020F0502020204030204"/>
              </a:rPr>
              <a:t>Isolation</a:t>
            </a:r>
            <a:r>
              <a:rPr sz="1500" spc="-60" dirty="0">
                <a:solidFill>
                  <a:srgbClr val="35362F"/>
                </a:solidFill>
                <a:latin typeface="Calibri" panose="020F0502020204030204"/>
                <a:cs typeface="Calibri" panose="020F0502020204030204"/>
              </a:rPr>
              <a:t> </a:t>
            </a:r>
            <a:r>
              <a:rPr sz="1500" spc="-10" dirty="0">
                <a:solidFill>
                  <a:srgbClr val="35362F"/>
                </a:solidFill>
                <a:latin typeface="Calibri" panose="020F0502020204030204"/>
                <a:cs typeface="Calibri" panose="020F0502020204030204"/>
              </a:rPr>
              <a:t>cells</a:t>
            </a:r>
            <a:endParaRPr sz="1500">
              <a:latin typeface="Calibri" panose="020F0502020204030204"/>
              <a:cs typeface="Calibri" panose="020F0502020204030204"/>
            </a:endParaRPr>
          </a:p>
          <a:p>
            <a:pPr marL="570230" lvl="1" indent="-214630">
              <a:lnSpc>
                <a:spcPct val="100000"/>
              </a:lnSpc>
              <a:buChar char="—"/>
              <a:tabLst>
                <a:tab pos="570230" algn="l"/>
              </a:tabLst>
            </a:pPr>
            <a:r>
              <a:rPr sz="1500" dirty="0">
                <a:solidFill>
                  <a:srgbClr val="35362F"/>
                </a:solidFill>
                <a:latin typeface="Calibri" panose="020F0502020204030204"/>
                <a:cs typeface="Calibri" panose="020F0502020204030204"/>
              </a:rPr>
              <a:t>Level</a:t>
            </a:r>
            <a:r>
              <a:rPr sz="1500" spc="-50" dirty="0">
                <a:solidFill>
                  <a:srgbClr val="35362F"/>
                </a:solidFill>
                <a:latin typeface="Calibri" panose="020F0502020204030204"/>
                <a:cs typeface="Calibri" panose="020F0502020204030204"/>
              </a:rPr>
              <a:t> </a:t>
            </a:r>
            <a:r>
              <a:rPr sz="1500" spc="-10" dirty="0">
                <a:solidFill>
                  <a:srgbClr val="35362F"/>
                </a:solidFill>
                <a:latin typeface="Calibri" panose="020F0502020204030204"/>
                <a:cs typeface="Calibri" panose="020F0502020204030204"/>
              </a:rPr>
              <a:t>shifters</a:t>
            </a:r>
            <a:endParaRPr sz="1500">
              <a:latin typeface="Calibri" panose="020F0502020204030204"/>
              <a:cs typeface="Calibri" panose="020F0502020204030204"/>
            </a:endParaRPr>
          </a:p>
          <a:p>
            <a:pPr marL="570230" lvl="1" indent="-214630">
              <a:lnSpc>
                <a:spcPct val="100000"/>
              </a:lnSpc>
              <a:buChar char="—"/>
              <a:tabLst>
                <a:tab pos="570230" algn="l"/>
              </a:tabLst>
            </a:pPr>
            <a:r>
              <a:rPr sz="1500" dirty="0">
                <a:solidFill>
                  <a:srgbClr val="35362F"/>
                </a:solidFill>
                <a:latin typeface="Calibri" panose="020F0502020204030204"/>
                <a:cs typeface="Calibri" panose="020F0502020204030204"/>
              </a:rPr>
              <a:t>Power</a:t>
            </a:r>
            <a:r>
              <a:rPr sz="1500" spc="-75" dirty="0">
                <a:solidFill>
                  <a:srgbClr val="35362F"/>
                </a:solidFill>
                <a:latin typeface="Calibri" panose="020F0502020204030204"/>
                <a:cs typeface="Calibri" panose="020F0502020204030204"/>
              </a:rPr>
              <a:t> </a:t>
            </a:r>
            <a:r>
              <a:rPr sz="1500" spc="-10" dirty="0">
                <a:solidFill>
                  <a:srgbClr val="35362F"/>
                </a:solidFill>
                <a:latin typeface="Calibri" panose="020F0502020204030204"/>
                <a:cs typeface="Calibri" panose="020F0502020204030204"/>
              </a:rPr>
              <a:t>switches</a:t>
            </a:r>
            <a:endParaRPr sz="1500">
              <a:latin typeface="Calibri" panose="020F0502020204030204"/>
              <a:cs typeface="Calibri" panose="020F0502020204030204"/>
            </a:endParaRPr>
          </a:p>
          <a:p>
            <a:pPr marL="570230" lvl="1" indent="-214630">
              <a:lnSpc>
                <a:spcPct val="100000"/>
              </a:lnSpc>
              <a:buChar char="—"/>
              <a:tabLst>
                <a:tab pos="570230" algn="l"/>
              </a:tabLst>
            </a:pPr>
            <a:r>
              <a:rPr sz="1500" spc="-10" dirty="0">
                <a:solidFill>
                  <a:srgbClr val="35362F"/>
                </a:solidFill>
                <a:latin typeface="Calibri" panose="020F0502020204030204"/>
                <a:cs typeface="Calibri" panose="020F0502020204030204"/>
              </a:rPr>
              <a:t>Retention</a:t>
            </a:r>
            <a:r>
              <a:rPr sz="1500" spc="-40" dirty="0">
                <a:solidFill>
                  <a:srgbClr val="35362F"/>
                </a:solidFill>
                <a:latin typeface="Calibri" panose="020F0502020204030204"/>
                <a:cs typeface="Calibri" panose="020F0502020204030204"/>
              </a:rPr>
              <a:t> </a:t>
            </a:r>
            <a:r>
              <a:rPr sz="1500" spc="-10" dirty="0">
                <a:solidFill>
                  <a:srgbClr val="35362F"/>
                </a:solidFill>
                <a:latin typeface="Calibri" panose="020F0502020204030204"/>
                <a:cs typeface="Calibri" panose="020F0502020204030204"/>
              </a:rPr>
              <a:t>register</a:t>
            </a:r>
            <a:endParaRPr sz="1500">
              <a:latin typeface="Calibri" panose="020F0502020204030204"/>
              <a:cs typeface="Calibri" panose="020F0502020204030204"/>
            </a:endParaRPr>
          </a:p>
        </p:txBody>
      </p:sp>
      <p:sp>
        <p:nvSpPr>
          <p:cNvPr id="5" name="object 5"/>
          <p:cNvSpPr txBox="1"/>
          <p:nvPr/>
        </p:nvSpPr>
        <p:spPr>
          <a:xfrm>
            <a:off x="390245" y="3502253"/>
            <a:ext cx="4262755" cy="531495"/>
          </a:xfrm>
          <a:prstGeom prst="rect">
            <a:avLst/>
          </a:prstGeom>
        </p:spPr>
        <p:txBody>
          <a:bodyPr vert="horz" wrap="square" lIns="0" tIns="12700" rIns="0" bIns="0" rtlCol="0">
            <a:spAutoFit/>
          </a:bodyPr>
          <a:lstStyle/>
          <a:p>
            <a:pPr marL="370840" indent="-358140">
              <a:lnSpc>
                <a:spcPct val="100000"/>
              </a:lnSpc>
              <a:spcBef>
                <a:spcPts val="100"/>
              </a:spcBef>
              <a:buFont typeface="Wingdings" panose="05000000000000000000"/>
              <a:buChar char=""/>
              <a:tabLst>
                <a:tab pos="370840" algn="l"/>
              </a:tabLst>
            </a:pPr>
            <a:r>
              <a:rPr sz="1800" b="1" dirty="0">
                <a:solidFill>
                  <a:srgbClr val="FF0000"/>
                </a:solidFill>
                <a:latin typeface="Calibri" panose="020F0502020204030204"/>
                <a:cs typeface="Calibri" panose="020F0502020204030204"/>
              </a:rPr>
              <a:t>Define</a:t>
            </a:r>
            <a:r>
              <a:rPr sz="1800" b="1" spc="-55" dirty="0">
                <a:solidFill>
                  <a:srgbClr val="FF0000"/>
                </a:solidFill>
                <a:latin typeface="Calibri" panose="020F0502020204030204"/>
                <a:cs typeface="Calibri" panose="020F0502020204030204"/>
              </a:rPr>
              <a:t> </a:t>
            </a:r>
            <a:r>
              <a:rPr sz="1800" b="1" dirty="0">
                <a:solidFill>
                  <a:srgbClr val="FF0000"/>
                </a:solidFill>
                <a:latin typeface="Calibri" panose="020F0502020204030204"/>
                <a:cs typeface="Calibri" panose="020F0502020204030204"/>
              </a:rPr>
              <a:t>legal</a:t>
            </a:r>
            <a:r>
              <a:rPr sz="1800" b="1" spc="-60" dirty="0">
                <a:solidFill>
                  <a:srgbClr val="FF0000"/>
                </a:solidFill>
                <a:latin typeface="Calibri" panose="020F0502020204030204"/>
                <a:cs typeface="Calibri" panose="020F0502020204030204"/>
              </a:rPr>
              <a:t> </a:t>
            </a:r>
            <a:r>
              <a:rPr sz="1800" b="1" dirty="0">
                <a:solidFill>
                  <a:srgbClr val="FF0000"/>
                </a:solidFill>
                <a:latin typeface="Calibri" panose="020F0502020204030204"/>
                <a:cs typeface="Calibri" panose="020F0502020204030204"/>
              </a:rPr>
              <a:t>combinations</a:t>
            </a:r>
            <a:r>
              <a:rPr sz="1800" b="1" spc="-70" dirty="0">
                <a:solidFill>
                  <a:srgbClr val="FF0000"/>
                </a:solidFill>
                <a:latin typeface="Calibri" panose="020F0502020204030204"/>
                <a:cs typeface="Calibri" panose="020F0502020204030204"/>
              </a:rPr>
              <a:t> </a:t>
            </a:r>
            <a:r>
              <a:rPr sz="1800" b="1" dirty="0">
                <a:solidFill>
                  <a:srgbClr val="FF0000"/>
                </a:solidFill>
                <a:latin typeface="Calibri" panose="020F0502020204030204"/>
                <a:cs typeface="Calibri" panose="020F0502020204030204"/>
              </a:rPr>
              <a:t>of</a:t>
            </a:r>
            <a:r>
              <a:rPr sz="1800" b="1" spc="-30" dirty="0">
                <a:solidFill>
                  <a:srgbClr val="FF0000"/>
                </a:solidFill>
                <a:latin typeface="Calibri" panose="020F0502020204030204"/>
                <a:cs typeface="Calibri" panose="020F0502020204030204"/>
              </a:rPr>
              <a:t> </a:t>
            </a:r>
            <a:r>
              <a:rPr sz="1800" b="1" dirty="0">
                <a:solidFill>
                  <a:srgbClr val="FF0000"/>
                </a:solidFill>
                <a:latin typeface="Calibri" panose="020F0502020204030204"/>
                <a:cs typeface="Calibri" panose="020F0502020204030204"/>
              </a:rPr>
              <a:t>power</a:t>
            </a:r>
            <a:r>
              <a:rPr sz="1800" b="1" spc="-65" dirty="0">
                <a:solidFill>
                  <a:srgbClr val="FF0000"/>
                </a:solidFill>
                <a:latin typeface="Calibri" panose="020F0502020204030204"/>
                <a:cs typeface="Calibri" panose="020F0502020204030204"/>
              </a:rPr>
              <a:t> </a:t>
            </a:r>
            <a:r>
              <a:rPr sz="1800" b="1" spc="-10" dirty="0">
                <a:solidFill>
                  <a:srgbClr val="FF0000"/>
                </a:solidFill>
                <a:latin typeface="Calibri" panose="020F0502020204030204"/>
                <a:cs typeface="Calibri" panose="020F0502020204030204"/>
              </a:rPr>
              <a:t>state</a:t>
            </a:r>
            <a:endParaRPr sz="1800">
              <a:latin typeface="Calibri" panose="020F0502020204030204"/>
              <a:cs typeface="Calibri" panose="020F0502020204030204"/>
            </a:endParaRPr>
          </a:p>
          <a:p>
            <a:pPr marL="355600">
              <a:lnSpc>
                <a:spcPct val="100000"/>
              </a:lnSpc>
              <a:spcBef>
                <a:spcPts val="25"/>
              </a:spcBef>
            </a:pPr>
            <a:r>
              <a:rPr sz="1500" dirty="0">
                <a:solidFill>
                  <a:srgbClr val="35362F"/>
                </a:solidFill>
                <a:latin typeface="Calibri" panose="020F0502020204030204"/>
                <a:cs typeface="Calibri" panose="020F0502020204030204"/>
              </a:rPr>
              <a:t>—</a:t>
            </a:r>
            <a:r>
              <a:rPr sz="1500" spc="-40" dirty="0">
                <a:solidFill>
                  <a:srgbClr val="35362F"/>
                </a:solidFill>
                <a:latin typeface="Calibri" panose="020F0502020204030204"/>
                <a:cs typeface="Calibri" panose="020F0502020204030204"/>
              </a:rPr>
              <a:t> </a:t>
            </a:r>
            <a:r>
              <a:rPr sz="1500" dirty="0">
                <a:solidFill>
                  <a:srgbClr val="35362F"/>
                </a:solidFill>
                <a:latin typeface="Calibri" panose="020F0502020204030204"/>
                <a:cs typeface="Calibri" panose="020F0502020204030204"/>
              </a:rPr>
              <a:t>Power</a:t>
            </a:r>
            <a:r>
              <a:rPr sz="1500" spc="-50" dirty="0">
                <a:solidFill>
                  <a:srgbClr val="35362F"/>
                </a:solidFill>
                <a:latin typeface="Calibri" panose="020F0502020204030204"/>
                <a:cs typeface="Calibri" panose="020F0502020204030204"/>
              </a:rPr>
              <a:t> </a:t>
            </a:r>
            <a:r>
              <a:rPr sz="1500" spc="-10" dirty="0">
                <a:solidFill>
                  <a:srgbClr val="35362F"/>
                </a:solidFill>
                <a:latin typeface="Calibri" panose="020F0502020204030204"/>
                <a:cs typeface="Calibri" panose="020F0502020204030204"/>
              </a:rPr>
              <a:t>state</a:t>
            </a:r>
            <a:r>
              <a:rPr sz="1500" spc="-55" dirty="0">
                <a:solidFill>
                  <a:srgbClr val="35362F"/>
                </a:solidFill>
                <a:latin typeface="Calibri" panose="020F0502020204030204"/>
                <a:cs typeface="Calibri" panose="020F0502020204030204"/>
              </a:rPr>
              <a:t> </a:t>
            </a:r>
            <a:r>
              <a:rPr sz="1500" spc="-20" dirty="0">
                <a:solidFill>
                  <a:srgbClr val="35362F"/>
                </a:solidFill>
                <a:latin typeface="Calibri" panose="020F0502020204030204"/>
                <a:cs typeface="Calibri" panose="020F0502020204030204"/>
              </a:rPr>
              <a:t>table</a:t>
            </a:r>
            <a:endParaRPr sz="1500">
              <a:latin typeface="Calibri" panose="020F0502020204030204"/>
              <a:cs typeface="Calibri" panose="020F0502020204030204"/>
            </a:endParaRPr>
          </a:p>
        </p:txBody>
      </p:sp>
      <p:sp>
        <p:nvSpPr>
          <p:cNvPr id="6" name="object 6"/>
          <p:cNvSpPr txBox="1"/>
          <p:nvPr/>
        </p:nvSpPr>
        <p:spPr>
          <a:xfrm>
            <a:off x="5052059" y="749807"/>
            <a:ext cx="4006850" cy="1160145"/>
          </a:xfrm>
          <a:prstGeom prst="rect">
            <a:avLst/>
          </a:prstGeom>
          <a:ln w="12700">
            <a:solidFill>
              <a:srgbClr val="00A0DE"/>
            </a:solidFill>
          </a:ln>
        </p:spPr>
        <p:txBody>
          <a:bodyPr vert="horz" wrap="square" lIns="0" tIns="0" rIns="0" bIns="0" rtlCol="0">
            <a:spAutoFit/>
          </a:bodyPr>
          <a:lstStyle/>
          <a:p>
            <a:pPr marL="91440">
              <a:lnSpc>
                <a:spcPts val="1770"/>
              </a:lnSpc>
            </a:pPr>
            <a:r>
              <a:rPr sz="1500" spc="-10" dirty="0">
                <a:solidFill>
                  <a:srgbClr val="35362F"/>
                </a:solidFill>
                <a:latin typeface="Calibri" panose="020F0502020204030204"/>
                <a:cs typeface="Calibri" panose="020F0502020204030204"/>
              </a:rPr>
              <a:t>create_power_domain</a:t>
            </a:r>
            <a:endParaRPr sz="1500">
              <a:latin typeface="Calibri" panose="020F0502020204030204"/>
              <a:cs typeface="Calibri" panose="020F0502020204030204"/>
            </a:endParaRPr>
          </a:p>
          <a:p>
            <a:pPr marL="91440" marR="2334260">
              <a:lnSpc>
                <a:spcPct val="100000"/>
              </a:lnSpc>
            </a:pPr>
            <a:r>
              <a:rPr sz="1500" spc="-10" dirty="0">
                <a:solidFill>
                  <a:srgbClr val="35362F"/>
                </a:solidFill>
                <a:latin typeface="Calibri" panose="020F0502020204030204"/>
                <a:cs typeface="Calibri" panose="020F0502020204030204"/>
              </a:rPr>
              <a:t>create_supply_port create_supply_net connect_supply_net create_supply_set</a:t>
            </a:r>
            <a:endParaRPr sz="1500">
              <a:latin typeface="Calibri" panose="020F0502020204030204"/>
              <a:cs typeface="Calibri" panose="020F0502020204030204"/>
            </a:endParaRPr>
          </a:p>
        </p:txBody>
      </p:sp>
      <p:sp>
        <p:nvSpPr>
          <p:cNvPr id="7" name="object 7"/>
          <p:cNvSpPr txBox="1"/>
          <p:nvPr/>
        </p:nvSpPr>
        <p:spPr>
          <a:xfrm>
            <a:off x="5052059" y="3581399"/>
            <a:ext cx="4006850" cy="646430"/>
          </a:xfrm>
          <a:prstGeom prst="rect">
            <a:avLst/>
          </a:prstGeom>
          <a:ln w="12700">
            <a:solidFill>
              <a:srgbClr val="FF0000"/>
            </a:solidFill>
          </a:ln>
        </p:spPr>
        <p:txBody>
          <a:bodyPr vert="horz" wrap="square" lIns="0" tIns="198120" rIns="0" bIns="0" rtlCol="0">
            <a:spAutoFit/>
          </a:bodyPr>
          <a:lstStyle/>
          <a:p>
            <a:pPr marL="91440">
              <a:lnSpc>
                <a:spcPct val="100000"/>
              </a:lnSpc>
              <a:spcBef>
                <a:spcPts val="1560"/>
              </a:spcBef>
            </a:pPr>
            <a:r>
              <a:rPr sz="1500" spc="-10" dirty="0">
                <a:solidFill>
                  <a:srgbClr val="35362F"/>
                </a:solidFill>
                <a:latin typeface="Calibri" panose="020F0502020204030204"/>
                <a:cs typeface="Calibri" panose="020F0502020204030204"/>
              </a:rPr>
              <a:t>add_power_state</a:t>
            </a:r>
            <a:endParaRPr sz="1500">
              <a:latin typeface="Calibri" panose="020F0502020204030204"/>
              <a:cs typeface="Calibri" panose="020F0502020204030204"/>
            </a:endParaRPr>
          </a:p>
        </p:txBody>
      </p:sp>
      <p:sp>
        <p:nvSpPr>
          <p:cNvPr id="8" name="object 8"/>
          <p:cNvSpPr txBox="1"/>
          <p:nvPr/>
        </p:nvSpPr>
        <p:spPr>
          <a:xfrm>
            <a:off x="5052059" y="2182367"/>
            <a:ext cx="4006850" cy="1012190"/>
          </a:xfrm>
          <a:prstGeom prst="rect">
            <a:avLst/>
          </a:prstGeom>
          <a:ln w="12700">
            <a:solidFill>
              <a:srgbClr val="FD9B1E"/>
            </a:solidFill>
          </a:ln>
        </p:spPr>
        <p:txBody>
          <a:bodyPr vert="horz" wrap="square" lIns="0" tIns="37465" rIns="0" bIns="0" rtlCol="0">
            <a:spAutoFit/>
          </a:bodyPr>
          <a:lstStyle/>
          <a:p>
            <a:pPr marL="91440" marR="2240915">
              <a:lnSpc>
                <a:spcPct val="100000"/>
              </a:lnSpc>
              <a:spcBef>
                <a:spcPts val="295"/>
              </a:spcBef>
            </a:pPr>
            <a:r>
              <a:rPr sz="1500" spc="-10" dirty="0">
                <a:solidFill>
                  <a:srgbClr val="35362F"/>
                </a:solidFill>
                <a:latin typeface="Calibri" panose="020F0502020204030204"/>
                <a:cs typeface="Calibri" panose="020F0502020204030204"/>
              </a:rPr>
              <a:t>set_isolation set_level_shifter create_power_switch set_retention</a:t>
            </a:r>
            <a:endParaRPr sz="1500">
              <a:latin typeface="Calibri" panose="020F0502020204030204"/>
              <a:cs typeface="Calibri" panose="020F0502020204030204"/>
            </a:endParaRPr>
          </a:p>
        </p:txBody>
      </p:sp>
      <p:sp>
        <p:nvSpPr>
          <p:cNvPr id="10" name="Text 0"/>
          <p:cNvSpPr/>
          <p:nvPr/>
        </p:nvSpPr>
        <p:spPr>
          <a:xfrm>
            <a:off x="28448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基础</a:t>
            </a:r>
            <a:r>
              <a:rPr lang="zh-CN" altLang="en-US" sz="1730" b="1" dirty="0">
                <a:latin typeface="微软雅黑" panose="020B0503020204020204" pitchFamily="34" charset="-122"/>
                <a:ea typeface="微软雅黑" panose="020B0503020204020204" pitchFamily="34" charset="-122"/>
                <a:sym typeface="+mn-ea"/>
              </a:rPr>
              <a:t>命令</a:t>
            </a:r>
            <a:endParaRPr lang="zh-CN" altLang="en-US" sz="1730" b="1"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grpSp>
        <p:nvGrpSpPr>
          <p:cNvPr id="2" name="object 2"/>
          <p:cNvGrpSpPr/>
          <p:nvPr/>
        </p:nvGrpSpPr>
        <p:grpSpPr>
          <a:xfrm>
            <a:off x="301561" y="821118"/>
            <a:ext cx="3754754" cy="3631565"/>
            <a:chOff x="354901" y="1197673"/>
            <a:chExt cx="3754754" cy="3631565"/>
          </a:xfrm>
        </p:grpSpPr>
        <p:pic>
          <p:nvPicPr>
            <p:cNvPr id="3" name="object 3"/>
            <p:cNvPicPr/>
            <p:nvPr/>
          </p:nvPicPr>
          <p:blipFill>
            <a:blip r:embed="rId2" cstate="print"/>
            <a:stretch>
              <a:fillRect/>
            </a:stretch>
          </p:blipFill>
          <p:spPr>
            <a:xfrm>
              <a:off x="429767" y="1272540"/>
              <a:ext cx="3679698" cy="3556254"/>
            </a:xfrm>
            <a:prstGeom prst="rect">
              <a:avLst/>
            </a:prstGeom>
          </p:spPr>
        </p:pic>
        <p:sp>
          <p:nvSpPr>
            <p:cNvPr id="4" name="object 4"/>
            <p:cNvSpPr/>
            <p:nvPr/>
          </p:nvSpPr>
          <p:spPr>
            <a:xfrm>
              <a:off x="359663" y="1202436"/>
              <a:ext cx="3670300" cy="3546475"/>
            </a:xfrm>
            <a:custGeom>
              <a:avLst/>
              <a:gdLst/>
              <a:ahLst/>
              <a:cxnLst/>
              <a:rect l="l" t="t" r="r" b="b"/>
              <a:pathLst>
                <a:path w="3670300" h="3546475">
                  <a:moveTo>
                    <a:pt x="3669791" y="0"/>
                  </a:moveTo>
                  <a:lnTo>
                    <a:pt x="0" y="0"/>
                  </a:lnTo>
                  <a:lnTo>
                    <a:pt x="0" y="3546348"/>
                  </a:lnTo>
                  <a:lnTo>
                    <a:pt x="3669791" y="3546348"/>
                  </a:lnTo>
                  <a:lnTo>
                    <a:pt x="3669791" y="0"/>
                  </a:lnTo>
                  <a:close/>
                </a:path>
              </a:pathLst>
            </a:custGeom>
            <a:solidFill>
              <a:srgbClr val="FFFFFF"/>
            </a:solidFill>
          </p:spPr>
          <p:txBody>
            <a:bodyPr wrap="square" lIns="0" tIns="0" rIns="0" bIns="0" rtlCol="0"/>
            <a:lstStyle/>
            <a:p/>
          </p:txBody>
        </p:sp>
        <p:sp>
          <p:nvSpPr>
            <p:cNvPr id="5" name="object 5"/>
            <p:cNvSpPr/>
            <p:nvPr/>
          </p:nvSpPr>
          <p:spPr>
            <a:xfrm>
              <a:off x="359663" y="1202436"/>
              <a:ext cx="3670300" cy="3546475"/>
            </a:xfrm>
            <a:custGeom>
              <a:avLst/>
              <a:gdLst/>
              <a:ahLst/>
              <a:cxnLst/>
              <a:rect l="l" t="t" r="r" b="b"/>
              <a:pathLst>
                <a:path w="3670300" h="3546475">
                  <a:moveTo>
                    <a:pt x="0" y="3546348"/>
                  </a:moveTo>
                  <a:lnTo>
                    <a:pt x="3669791" y="3546348"/>
                  </a:lnTo>
                  <a:lnTo>
                    <a:pt x="3669791" y="0"/>
                  </a:lnTo>
                  <a:lnTo>
                    <a:pt x="0" y="0"/>
                  </a:lnTo>
                  <a:lnTo>
                    <a:pt x="0" y="3546348"/>
                  </a:lnTo>
                  <a:close/>
                </a:path>
              </a:pathLst>
            </a:custGeom>
            <a:ln w="9524">
              <a:solidFill>
                <a:srgbClr val="959595"/>
              </a:solidFill>
            </a:ln>
          </p:spPr>
          <p:txBody>
            <a:bodyPr wrap="square" lIns="0" tIns="0" rIns="0" bIns="0" rtlCol="0"/>
            <a:lstStyle/>
            <a:p/>
          </p:txBody>
        </p:sp>
        <p:pic>
          <p:nvPicPr>
            <p:cNvPr id="6" name="object 6"/>
            <p:cNvPicPr/>
            <p:nvPr/>
          </p:nvPicPr>
          <p:blipFill>
            <a:blip r:embed="rId3" cstate="print"/>
            <a:stretch>
              <a:fillRect/>
            </a:stretch>
          </p:blipFill>
          <p:spPr>
            <a:xfrm>
              <a:off x="915923" y="1869948"/>
              <a:ext cx="2646426" cy="2282190"/>
            </a:xfrm>
            <a:prstGeom prst="rect">
              <a:avLst/>
            </a:prstGeom>
          </p:spPr>
        </p:pic>
        <p:sp>
          <p:nvSpPr>
            <p:cNvPr id="7" name="object 7"/>
            <p:cNvSpPr/>
            <p:nvPr/>
          </p:nvSpPr>
          <p:spPr>
            <a:xfrm>
              <a:off x="883919" y="1837944"/>
              <a:ext cx="2636520" cy="2272665"/>
            </a:xfrm>
            <a:custGeom>
              <a:avLst/>
              <a:gdLst/>
              <a:ahLst/>
              <a:cxnLst/>
              <a:rect l="l" t="t" r="r" b="b"/>
              <a:pathLst>
                <a:path w="2636520" h="2272665">
                  <a:moveTo>
                    <a:pt x="2636520" y="0"/>
                  </a:moveTo>
                  <a:lnTo>
                    <a:pt x="0" y="0"/>
                  </a:lnTo>
                  <a:lnTo>
                    <a:pt x="0" y="2272283"/>
                  </a:lnTo>
                  <a:lnTo>
                    <a:pt x="2636520" y="2272283"/>
                  </a:lnTo>
                  <a:lnTo>
                    <a:pt x="2636520" y="0"/>
                  </a:lnTo>
                  <a:close/>
                </a:path>
              </a:pathLst>
            </a:custGeom>
            <a:solidFill>
              <a:srgbClr val="CCFFFF"/>
            </a:solidFill>
          </p:spPr>
          <p:txBody>
            <a:bodyPr wrap="square" lIns="0" tIns="0" rIns="0" bIns="0" rtlCol="0"/>
            <a:lstStyle/>
            <a:p/>
          </p:txBody>
        </p:sp>
        <p:sp>
          <p:nvSpPr>
            <p:cNvPr id="8" name="object 8"/>
            <p:cNvSpPr/>
            <p:nvPr/>
          </p:nvSpPr>
          <p:spPr>
            <a:xfrm>
              <a:off x="883919" y="1837944"/>
              <a:ext cx="2636520" cy="2272665"/>
            </a:xfrm>
            <a:custGeom>
              <a:avLst/>
              <a:gdLst/>
              <a:ahLst/>
              <a:cxnLst/>
              <a:rect l="l" t="t" r="r" b="b"/>
              <a:pathLst>
                <a:path w="2636520" h="2272665">
                  <a:moveTo>
                    <a:pt x="0" y="2272283"/>
                  </a:moveTo>
                  <a:lnTo>
                    <a:pt x="2636520" y="2272283"/>
                  </a:lnTo>
                  <a:lnTo>
                    <a:pt x="2636520" y="0"/>
                  </a:lnTo>
                  <a:lnTo>
                    <a:pt x="0" y="0"/>
                  </a:lnTo>
                  <a:lnTo>
                    <a:pt x="0" y="2272283"/>
                  </a:lnTo>
                  <a:close/>
                </a:path>
              </a:pathLst>
            </a:custGeom>
            <a:ln w="9525">
              <a:solidFill>
                <a:srgbClr val="69BD28"/>
              </a:solidFill>
            </a:ln>
          </p:spPr>
          <p:txBody>
            <a:bodyPr wrap="square" lIns="0" tIns="0" rIns="0" bIns="0" rtlCol="0"/>
            <a:lstStyle/>
            <a:p/>
          </p:txBody>
        </p:sp>
      </p:grpSp>
      <p:sp>
        <p:nvSpPr>
          <p:cNvPr id="9" name="object 9"/>
          <p:cNvSpPr txBox="1"/>
          <p:nvPr/>
        </p:nvSpPr>
        <p:spPr>
          <a:xfrm>
            <a:off x="871016" y="1502664"/>
            <a:ext cx="792480" cy="432434"/>
          </a:xfrm>
          <a:prstGeom prst="rect">
            <a:avLst/>
          </a:prstGeom>
          <a:solidFill>
            <a:srgbClr val="2CB6B3"/>
          </a:solidFill>
        </p:spPr>
        <p:txBody>
          <a:bodyPr vert="horz" wrap="square" lIns="0" tIns="0" rIns="0" bIns="0" rtlCol="0">
            <a:spAutoFit/>
          </a:bodyPr>
          <a:lstStyle/>
          <a:p>
            <a:pPr algn="ctr">
              <a:lnSpc>
                <a:spcPts val="1060"/>
              </a:lnSpc>
            </a:pPr>
            <a:r>
              <a:rPr sz="900" b="1" spc="-10" dirty="0">
                <a:solidFill>
                  <a:srgbClr val="FFFFFF"/>
                </a:solidFill>
                <a:latin typeface="Arial" panose="020B0604020202020204"/>
                <a:cs typeface="Arial" panose="020B0604020202020204"/>
              </a:rPr>
              <a:t>u_dhm_core</a:t>
            </a:r>
            <a:endParaRPr sz="900">
              <a:latin typeface="Arial" panose="020B0604020202020204"/>
              <a:cs typeface="Arial" panose="020B0604020202020204"/>
            </a:endParaRPr>
          </a:p>
          <a:p>
            <a:pPr algn="ctr">
              <a:lnSpc>
                <a:spcPct val="100000"/>
              </a:lnSpc>
              <a:spcBef>
                <a:spcPts val="155"/>
              </a:spcBef>
            </a:pPr>
            <a:r>
              <a:rPr sz="900" b="1" dirty="0">
                <a:solidFill>
                  <a:srgbClr val="FFFFFF"/>
                </a:solidFill>
                <a:latin typeface="Arial" panose="020B0604020202020204"/>
                <a:cs typeface="Arial" panose="020B0604020202020204"/>
              </a:rPr>
              <a:t>(1.08V</a:t>
            </a:r>
            <a:r>
              <a:rPr sz="900" b="1" spc="-15" dirty="0">
                <a:solidFill>
                  <a:srgbClr val="FFFFFF"/>
                </a:solidFill>
                <a:latin typeface="Arial" panose="020B0604020202020204"/>
                <a:cs typeface="Arial" panose="020B0604020202020204"/>
              </a:rPr>
              <a:t> </a:t>
            </a:r>
            <a:r>
              <a:rPr sz="900" b="1" dirty="0">
                <a:solidFill>
                  <a:srgbClr val="FFFFFF"/>
                </a:solidFill>
                <a:latin typeface="Arial" panose="020B0604020202020204"/>
                <a:cs typeface="Arial" panose="020B0604020202020204"/>
              </a:rPr>
              <a:t>/</a:t>
            </a:r>
            <a:r>
              <a:rPr sz="900" b="1" spc="-10" dirty="0">
                <a:solidFill>
                  <a:srgbClr val="FFFFFF"/>
                </a:solidFill>
                <a:latin typeface="Arial" panose="020B0604020202020204"/>
                <a:cs typeface="Arial" panose="020B0604020202020204"/>
              </a:rPr>
              <a:t> </a:t>
            </a:r>
            <a:r>
              <a:rPr sz="900" b="1" dirty="0">
                <a:solidFill>
                  <a:srgbClr val="FFFFFF"/>
                </a:solidFill>
                <a:latin typeface="Arial" panose="020B0604020202020204"/>
                <a:cs typeface="Arial" panose="020B0604020202020204"/>
              </a:rPr>
              <a:t>0.7V</a:t>
            </a:r>
            <a:r>
              <a:rPr sz="900" b="1" spc="-15" dirty="0">
                <a:solidFill>
                  <a:srgbClr val="FFFFFF"/>
                </a:solidFill>
                <a:latin typeface="Arial" panose="020B0604020202020204"/>
                <a:cs typeface="Arial" panose="020B0604020202020204"/>
              </a:rPr>
              <a:t> </a:t>
            </a:r>
            <a:r>
              <a:rPr sz="900" b="1" spc="-50" dirty="0">
                <a:solidFill>
                  <a:srgbClr val="FFFFFF"/>
                </a:solidFill>
                <a:latin typeface="Arial" panose="020B0604020202020204"/>
                <a:cs typeface="Arial" panose="020B0604020202020204"/>
              </a:rPr>
              <a:t>/</a:t>
            </a:r>
            <a:endParaRPr sz="900">
              <a:latin typeface="Arial" panose="020B0604020202020204"/>
              <a:cs typeface="Arial" panose="020B0604020202020204"/>
            </a:endParaRPr>
          </a:p>
          <a:p>
            <a:pPr marL="635" algn="ctr">
              <a:lnSpc>
                <a:spcPct val="100000"/>
              </a:lnSpc>
            </a:pPr>
            <a:r>
              <a:rPr sz="900" b="1" spc="-20" dirty="0">
                <a:solidFill>
                  <a:srgbClr val="FFFFFF"/>
                </a:solidFill>
                <a:latin typeface="Arial" panose="020B0604020202020204"/>
                <a:cs typeface="Arial" panose="020B0604020202020204"/>
              </a:rPr>
              <a:t>OFF)</a:t>
            </a:r>
            <a:endParaRPr sz="900">
              <a:latin typeface="Arial" panose="020B0604020202020204"/>
              <a:cs typeface="Arial" panose="020B0604020202020204"/>
            </a:endParaRPr>
          </a:p>
        </p:txBody>
      </p:sp>
      <p:sp>
        <p:nvSpPr>
          <p:cNvPr id="10" name="object 10"/>
          <p:cNvSpPr txBox="1"/>
          <p:nvPr/>
        </p:nvSpPr>
        <p:spPr>
          <a:xfrm>
            <a:off x="353809" y="858773"/>
            <a:ext cx="688975" cy="295275"/>
          </a:xfrm>
          <a:prstGeom prst="rect">
            <a:avLst/>
          </a:prstGeom>
          <a:solidFill>
            <a:srgbClr val="D37700"/>
          </a:solidFill>
        </p:spPr>
        <p:txBody>
          <a:bodyPr vert="horz" wrap="square" lIns="0" tIns="0" rIns="0" bIns="0" rtlCol="0">
            <a:spAutoFit/>
          </a:bodyPr>
          <a:lstStyle/>
          <a:p>
            <a:pPr marL="100965">
              <a:lnSpc>
                <a:spcPts val="1060"/>
              </a:lnSpc>
            </a:pPr>
            <a:r>
              <a:rPr sz="900" b="1" spc="-10" dirty="0">
                <a:solidFill>
                  <a:srgbClr val="FFFFFF"/>
                </a:solidFill>
                <a:latin typeface="Arial" panose="020B0604020202020204"/>
                <a:cs typeface="Arial" panose="020B0604020202020204"/>
              </a:rPr>
              <a:t>dhm_top</a:t>
            </a:r>
            <a:endParaRPr sz="900">
              <a:latin typeface="Arial" panose="020B0604020202020204"/>
              <a:cs typeface="Arial" panose="020B0604020202020204"/>
            </a:endParaRPr>
          </a:p>
          <a:p>
            <a:pPr marL="155575">
              <a:lnSpc>
                <a:spcPct val="100000"/>
              </a:lnSpc>
              <a:spcBef>
                <a:spcPts val="155"/>
              </a:spcBef>
            </a:pPr>
            <a:r>
              <a:rPr sz="900" b="1" spc="-10" dirty="0">
                <a:solidFill>
                  <a:srgbClr val="FFFFFF"/>
                </a:solidFill>
                <a:latin typeface="Arial" panose="020B0604020202020204"/>
                <a:cs typeface="Arial" panose="020B0604020202020204"/>
              </a:rPr>
              <a:t>(1.08V)</a:t>
            </a:r>
            <a:endParaRPr sz="900">
              <a:latin typeface="Arial" panose="020B0604020202020204"/>
              <a:cs typeface="Arial" panose="020B0604020202020204"/>
            </a:endParaRPr>
          </a:p>
        </p:txBody>
      </p:sp>
      <p:sp>
        <p:nvSpPr>
          <p:cNvPr id="11" name="object 11"/>
          <p:cNvSpPr txBox="1"/>
          <p:nvPr/>
        </p:nvSpPr>
        <p:spPr>
          <a:xfrm>
            <a:off x="2578735" y="2727578"/>
            <a:ext cx="521334" cy="208279"/>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35362F"/>
                </a:solidFill>
                <a:latin typeface="Calibri" panose="020F0502020204030204"/>
                <a:cs typeface="Calibri" panose="020F0502020204030204"/>
              </a:rPr>
              <a:t>VDDLS1</a:t>
            </a:r>
            <a:endParaRPr sz="1200">
              <a:latin typeface="Calibri" panose="020F0502020204030204"/>
              <a:cs typeface="Calibri" panose="020F0502020204030204"/>
            </a:endParaRPr>
          </a:p>
        </p:txBody>
      </p:sp>
      <p:sp>
        <p:nvSpPr>
          <p:cNvPr id="12" name="object 12"/>
          <p:cNvSpPr txBox="1"/>
          <p:nvPr/>
        </p:nvSpPr>
        <p:spPr>
          <a:xfrm>
            <a:off x="2041652" y="1738249"/>
            <a:ext cx="275590" cy="162560"/>
          </a:xfrm>
          <a:prstGeom prst="rect">
            <a:avLst/>
          </a:prstGeom>
        </p:spPr>
        <p:txBody>
          <a:bodyPr vert="horz" wrap="square" lIns="0" tIns="12700" rIns="0" bIns="0" rtlCol="0">
            <a:spAutoFit/>
          </a:bodyPr>
          <a:lstStyle/>
          <a:p>
            <a:pPr marL="12700">
              <a:lnSpc>
                <a:spcPct val="100000"/>
              </a:lnSpc>
              <a:spcBef>
                <a:spcPts val="100"/>
              </a:spcBef>
            </a:pPr>
            <a:r>
              <a:rPr sz="900" b="1" spc="-10" dirty="0">
                <a:solidFill>
                  <a:srgbClr val="35362F"/>
                </a:solidFill>
                <a:latin typeface="Calibri" panose="020F0502020204030204"/>
                <a:cs typeface="Calibri" panose="020F0502020204030204"/>
              </a:rPr>
              <a:t>sleep</a:t>
            </a:r>
            <a:endParaRPr sz="900">
              <a:latin typeface="Calibri" panose="020F0502020204030204"/>
              <a:cs typeface="Calibri" panose="020F0502020204030204"/>
            </a:endParaRPr>
          </a:p>
        </p:txBody>
      </p:sp>
      <p:grpSp>
        <p:nvGrpSpPr>
          <p:cNvPr id="13" name="object 13"/>
          <p:cNvGrpSpPr/>
          <p:nvPr/>
        </p:nvGrpSpPr>
        <p:grpSpPr>
          <a:xfrm>
            <a:off x="2023485" y="1558924"/>
            <a:ext cx="680720" cy="576580"/>
            <a:chOff x="2076825" y="1935479"/>
            <a:chExt cx="680720" cy="576580"/>
          </a:xfrm>
        </p:grpSpPr>
        <p:pic>
          <p:nvPicPr>
            <p:cNvPr id="14" name="object 14"/>
            <p:cNvPicPr/>
            <p:nvPr/>
          </p:nvPicPr>
          <p:blipFill>
            <a:blip r:embed="rId4" cstate="print"/>
            <a:stretch>
              <a:fillRect/>
            </a:stretch>
          </p:blipFill>
          <p:spPr>
            <a:xfrm>
              <a:off x="2465831" y="2145791"/>
              <a:ext cx="286512" cy="286512"/>
            </a:xfrm>
            <a:prstGeom prst="rect">
              <a:avLst/>
            </a:prstGeom>
          </p:spPr>
        </p:pic>
        <p:sp>
          <p:nvSpPr>
            <p:cNvPr id="15" name="object 15"/>
            <p:cNvSpPr/>
            <p:nvPr/>
          </p:nvSpPr>
          <p:spPr>
            <a:xfrm>
              <a:off x="2465831" y="2145791"/>
              <a:ext cx="287020" cy="287020"/>
            </a:xfrm>
            <a:custGeom>
              <a:avLst/>
              <a:gdLst/>
              <a:ahLst/>
              <a:cxnLst/>
              <a:rect l="l" t="t" r="r" b="b"/>
              <a:pathLst>
                <a:path w="287019" h="287019">
                  <a:moveTo>
                    <a:pt x="0" y="143256"/>
                  </a:moveTo>
                  <a:lnTo>
                    <a:pt x="7303" y="97974"/>
                  </a:lnTo>
                  <a:lnTo>
                    <a:pt x="27639" y="58649"/>
                  </a:lnTo>
                  <a:lnTo>
                    <a:pt x="58649" y="27639"/>
                  </a:lnTo>
                  <a:lnTo>
                    <a:pt x="97974" y="7303"/>
                  </a:lnTo>
                  <a:lnTo>
                    <a:pt x="143256" y="0"/>
                  </a:lnTo>
                  <a:lnTo>
                    <a:pt x="188537" y="7303"/>
                  </a:lnTo>
                  <a:lnTo>
                    <a:pt x="227862" y="27639"/>
                  </a:lnTo>
                  <a:lnTo>
                    <a:pt x="258872" y="58649"/>
                  </a:lnTo>
                  <a:lnTo>
                    <a:pt x="279208" y="97974"/>
                  </a:lnTo>
                  <a:lnTo>
                    <a:pt x="286512" y="143256"/>
                  </a:lnTo>
                  <a:lnTo>
                    <a:pt x="279208" y="188537"/>
                  </a:lnTo>
                  <a:lnTo>
                    <a:pt x="258872" y="227862"/>
                  </a:lnTo>
                  <a:lnTo>
                    <a:pt x="227862" y="258872"/>
                  </a:lnTo>
                  <a:lnTo>
                    <a:pt x="188537" y="279208"/>
                  </a:lnTo>
                  <a:lnTo>
                    <a:pt x="143256" y="286512"/>
                  </a:lnTo>
                  <a:lnTo>
                    <a:pt x="97974" y="279208"/>
                  </a:lnTo>
                  <a:lnTo>
                    <a:pt x="58649" y="258872"/>
                  </a:lnTo>
                  <a:lnTo>
                    <a:pt x="27639" y="227862"/>
                  </a:lnTo>
                  <a:lnTo>
                    <a:pt x="7303" y="188537"/>
                  </a:lnTo>
                  <a:lnTo>
                    <a:pt x="0" y="143256"/>
                  </a:lnTo>
                  <a:close/>
                </a:path>
              </a:pathLst>
            </a:custGeom>
            <a:ln w="9525">
              <a:solidFill>
                <a:srgbClr val="008000"/>
              </a:solidFill>
            </a:ln>
          </p:spPr>
          <p:txBody>
            <a:bodyPr wrap="square" lIns="0" tIns="0" rIns="0" bIns="0" rtlCol="0"/>
            <a:lstStyle/>
            <a:p/>
          </p:txBody>
        </p:sp>
        <p:sp>
          <p:nvSpPr>
            <p:cNvPr id="16" name="object 16"/>
            <p:cNvSpPr/>
            <p:nvPr/>
          </p:nvSpPr>
          <p:spPr>
            <a:xfrm>
              <a:off x="2647187" y="2371343"/>
              <a:ext cx="0" cy="135890"/>
            </a:xfrm>
            <a:custGeom>
              <a:avLst/>
              <a:gdLst/>
              <a:ahLst/>
              <a:cxnLst/>
              <a:rect l="l" t="t" r="r" b="b"/>
              <a:pathLst>
                <a:path h="135889">
                  <a:moveTo>
                    <a:pt x="0" y="0"/>
                  </a:moveTo>
                  <a:lnTo>
                    <a:pt x="0" y="135636"/>
                  </a:lnTo>
                </a:path>
              </a:pathLst>
            </a:custGeom>
            <a:ln w="9525">
              <a:solidFill>
                <a:srgbClr val="35362F"/>
              </a:solidFill>
            </a:ln>
          </p:spPr>
          <p:txBody>
            <a:bodyPr wrap="square" lIns="0" tIns="0" rIns="0" bIns="0" rtlCol="0"/>
            <a:lstStyle/>
            <a:p/>
          </p:txBody>
        </p:sp>
        <p:sp>
          <p:nvSpPr>
            <p:cNvPr id="17" name="object 17"/>
            <p:cNvSpPr/>
            <p:nvPr/>
          </p:nvSpPr>
          <p:spPr>
            <a:xfrm>
              <a:off x="2567939" y="2203703"/>
              <a:ext cx="91440" cy="180340"/>
            </a:xfrm>
            <a:custGeom>
              <a:avLst/>
              <a:gdLst/>
              <a:ahLst/>
              <a:cxnLst/>
              <a:rect l="l" t="t" r="r" b="b"/>
              <a:pathLst>
                <a:path w="91439" h="180339">
                  <a:moveTo>
                    <a:pt x="0" y="0"/>
                  </a:moveTo>
                  <a:lnTo>
                    <a:pt x="91440" y="179831"/>
                  </a:lnTo>
                </a:path>
              </a:pathLst>
            </a:custGeom>
            <a:ln w="57150">
              <a:solidFill>
                <a:srgbClr val="35362F"/>
              </a:solidFill>
            </a:ln>
          </p:spPr>
          <p:txBody>
            <a:bodyPr wrap="square" lIns="0" tIns="0" rIns="0" bIns="0" rtlCol="0"/>
            <a:lstStyle/>
            <a:p/>
          </p:txBody>
        </p:sp>
        <p:sp>
          <p:nvSpPr>
            <p:cNvPr id="18" name="object 18"/>
            <p:cNvSpPr/>
            <p:nvPr/>
          </p:nvSpPr>
          <p:spPr>
            <a:xfrm>
              <a:off x="2076825" y="2221737"/>
              <a:ext cx="479425" cy="76200"/>
            </a:xfrm>
            <a:custGeom>
              <a:avLst/>
              <a:gdLst/>
              <a:ahLst/>
              <a:cxnLst/>
              <a:rect l="l" t="t" r="r" b="b"/>
              <a:pathLst>
                <a:path w="479425" h="76200">
                  <a:moveTo>
                    <a:pt x="10038" y="30480"/>
                  </a:moveTo>
                  <a:lnTo>
                    <a:pt x="3053" y="30480"/>
                  </a:lnTo>
                  <a:lnTo>
                    <a:pt x="0" y="33400"/>
                  </a:lnTo>
                  <a:lnTo>
                    <a:pt x="132" y="33400"/>
                  </a:lnTo>
                  <a:lnTo>
                    <a:pt x="254" y="40386"/>
                  </a:lnTo>
                  <a:lnTo>
                    <a:pt x="2926" y="43180"/>
                  </a:lnTo>
                  <a:lnTo>
                    <a:pt x="10038" y="43180"/>
                  </a:lnTo>
                  <a:lnTo>
                    <a:pt x="12832" y="40386"/>
                  </a:lnTo>
                  <a:lnTo>
                    <a:pt x="12832" y="33400"/>
                  </a:lnTo>
                  <a:lnTo>
                    <a:pt x="10038" y="30480"/>
                  </a:lnTo>
                  <a:close/>
                </a:path>
                <a:path w="479425" h="76200">
                  <a:moveTo>
                    <a:pt x="35438" y="30606"/>
                  </a:moveTo>
                  <a:lnTo>
                    <a:pt x="28453" y="30606"/>
                  </a:lnTo>
                  <a:lnTo>
                    <a:pt x="25532" y="33400"/>
                  </a:lnTo>
                  <a:lnTo>
                    <a:pt x="25532" y="40386"/>
                  </a:lnTo>
                  <a:lnTo>
                    <a:pt x="28326" y="43306"/>
                  </a:lnTo>
                  <a:lnTo>
                    <a:pt x="35438" y="43306"/>
                  </a:lnTo>
                  <a:lnTo>
                    <a:pt x="38232" y="40386"/>
                  </a:lnTo>
                  <a:lnTo>
                    <a:pt x="38232" y="33400"/>
                  </a:lnTo>
                  <a:lnTo>
                    <a:pt x="35438" y="30606"/>
                  </a:lnTo>
                  <a:close/>
                </a:path>
                <a:path w="479425" h="76200">
                  <a:moveTo>
                    <a:pt x="60838" y="30606"/>
                  </a:moveTo>
                  <a:lnTo>
                    <a:pt x="53853" y="30606"/>
                  </a:lnTo>
                  <a:lnTo>
                    <a:pt x="50932" y="33528"/>
                  </a:lnTo>
                  <a:lnTo>
                    <a:pt x="50932" y="40512"/>
                  </a:lnTo>
                  <a:lnTo>
                    <a:pt x="53726" y="43306"/>
                  </a:lnTo>
                  <a:lnTo>
                    <a:pt x="60838" y="43306"/>
                  </a:lnTo>
                  <a:lnTo>
                    <a:pt x="63632" y="40512"/>
                  </a:lnTo>
                  <a:lnTo>
                    <a:pt x="63632" y="33528"/>
                  </a:lnTo>
                  <a:lnTo>
                    <a:pt x="60838" y="30606"/>
                  </a:lnTo>
                  <a:close/>
                </a:path>
                <a:path w="479425" h="76200">
                  <a:moveTo>
                    <a:pt x="86238" y="30734"/>
                  </a:moveTo>
                  <a:lnTo>
                    <a:pt x="79253" y="30734"/>
                  </a:lnTo>
                  <a:lnTo>
                    <a:pt x="76332" y="33528"/>
                  </a:lnTo>
                  <a:lnTo>
                    <a:pt x="76459" y="40639"/>
                  </a:lnTo>
                  <a:lnTo>
                    <a:pt x="79253" y="43434"/>
                  </a:lnTo>
                  <a:lnTo>
                    <a:pt x="86238" y="43434"/>
                  </a:lnTo>
                  <a:lnTo>
                    <a:pt x="89032" y="40639"/>
                  </a:lnTo>
                  <a:lnTo>
                    <a:pt x="89032" y="33528"/>
                  </a:lnTo>
                  <a:lnTo>
                    <a:pt x="86238" y="30734"/>
                  </a:lnTo>
                  <a:close/>
                </a:path>
                <a:path w="479425" h="76200">
                  <a:moveTo>
                    <a:pt x="111638" y="30861"/>
                  </a:moveTo>
                  <a:lnTo>
                    <a:pt x="104526" y="30861"/>
                  </a:lnTo>
                  <a:lnTo>
                    <a:pt x="101732" y="33655"/>
                  </a:lnTo>
                  <a:lnTo>
                    <a:pt x="101732" y="40639"/>
                  </a:lnTo>
                  <a:lnTo>
                    <a:pt x="104786" y="43561"/>
                  </a:lnTo>
                  <a:lnTo>
                    <a:pt x="111638" y="43561"/>
                  </a:lnTo>
                  <a:lnTo>
                    <a:pt x="114432" y="40639"/>
                  </a:lnTo>
                  <a:lnTo>
                    <a:pt x="114432" y="37211"/>
                  </a:lnTo>
                  <a:lnTo>
                    <a:pt x="114559" y="33655"/>
                  </a:lnTo>
                  <a:lnTo>
                    <a:pt x="111638" y="30861"/>
                  </a:lnTo>
                  <a:close/>
                </a:path>
                <a:path w="479425" h="76200">
                  <a:moveTo>
                    <a:pt x="137038" y="30861"/>
                  </a:moveTo>
                  <a:lnTo>
                    <a:pt x="130053" y="30861"/>
                  </a:lnTo>
                  <a:lnTo>
                    <a:pt x="127255" y="33781"/>
                  </a:lnTo>
                  <a:lnTo>
                    <a:pt x="127132" y="40767"/>
                  </a:lnTo>
                  <a:lnTo>
                    <a:pt x="130053" y="43561"/>
                  </a:lnTo>
                  <a:lnTo>
                    <a:pt x="137038" y="43561"/>
                  </a:lnTo>
                  <a:lnTo>
                    <a:pt x="139832" y="40767"/>
                  </a:lnTo>
                  <a:lnTo>
                    <a:pt x="139959" y="37211"/>
                  </a:lnTo>
                  <a:lnTo>
                    <a:pt x="139959" y="33781"/>
                  </a:lnTo>
                  <a:lnTo>
                    <a:pt x="137038" y="30861"/>
                  </a:lnTo>
                  <a:close/>
                </a:path>
                <a:path w="479425" h="76200">
                  <a:moveTo>
                    <a:pt x="162438" y="30987"/>
                  </a:moveTo>
                  <a:lnTo>
                    <a:pt x="155453" y="30987"/>
                  </a:lnTo>
                  <a:lnTo>
                    <a:pt x="152659" y="33781"/>
                  </a:lnTo>
                  <a:lnTo>
                    <a:pt x="152659" y="37337"/>
                  </a:lnTo>
                  <a:lnTo>
                    <a:pt x="152528" y="40893"/>
                  </a:lnTo>
                  <a:lnTo>
                    <a:pt x="152659" y="40893"/>
                  </a:lnTo>
                  <a:lnTo>
                    <a:pt x="155453" y="43687"/>
                  </a:lnTo>
                  <a:lnTo>
                    <a:pt x="162438" y="43687"/>
                  </a:lnTo>
                  <a:lnTo>
                    <a:pt x="165359" y="40893"/>
                  </a:lnTo>
                  <a:lnTo>
                    <a:pt x="165359" y="33781"/>
                  </a:lnTo>
                  <a:lnTo>
                    <a:pt x="162438" y="30987"/>
                  </a:lnTo>
                  <a:close/>
                </a:path>
                <a:path w="479425" h="76200">
                  <a:moveTo>
                    <a:pt x="187965" y="31114"/>
                  </a:moveTo>
                  <a:lnTo>
                    <a:pt x="180732" y="31114"/>
                  </a:lnTo>
                  <a:lnTo>
                    <a:pt x="178059" y="33909"/>
                  </a:lnTo>
                  <a:lnTo>
                    <a:pt x="178059" y="40893"/>
                  </a:lnTo>
                  <a:lnTo>
                    <a:pt x="180980" y="43814"/>
                  </a:lnTo>
                  <a:lnTo>
                    <a:pt x="187838" y="43814"/>
                  </a:lnTo>
                  <a:lnTo>
                    <a:pt x="190759" y="40893"/>
                  </a:lnTo>
                  <a:lnTo>
                    <a:pt x="190759" y="33909"/>
                  </a:lnTo>
                  <a:lnTo>
                    <a:pt x="187965" y="31114"/>
                  </a:lnTo>
                  <a:close/>
                </a:path>
                <a:path w="479425" h="76200">
                  <a:moveTo>
                    <a:pt x="213365" y="31114"/>
                  </a:moveTo>
                  <a:lnTo>
                    <a:pt x="206253" y="31114"/>
                  </a:lnTo>
                  <a:lnTo>
                    <a:pt x="203459" y="34036"/>
                  </a:lnTo>
                  <a:lnTo>
                    <a:pt x="203459" y="41020"/>
                  </a:lnTo>
                  <a:lnTo>
                    <a:pt x="206253" y="43814"/>
                  </a:lnTo>
                  <a:lnTo>
                    <a:pt x="213238" y="43814"/>
                  </a:lnTo>
                  <a:lnTo>
                    <a:pt x="216159" y="41020"/>
                  </a:lnTo>
                  <a:lnTo>
                    <a:pt x="216159" y="34036"/>
                  </a:lnTo>
                  <a:lnTo>
                    <a:pt x="213365" y="31114"/>
                  </a:lnTo>
                  <a:close/>
                </a:path>
                <a:path w="479425" h="76200">
                  <a:moveTo>
                    <a:pt x="238765" y="31242"/>
                  </a:moveTo>
                  <a:lnTo>
                    <a:pt x="231653" y="31242"/>
                  </a:lnTo>
                  <a:lnTo>
                    <a:pt x="228859" y="34036"/>
                  </a:lnTo>
                  <a:lnTo>
                    <a:pt x="228981" y="41148"/>
                  </a:lnTo>
                  <a:lnTo>
                    <a:pt x="231653" y="43942"/>
                  </a:lnTo>
                  <a:lnTo>
                    <a:pt x="238638" y="43942"/>
                  </a:lnTo>
                  <a:lnTo>
                    <a:pt x="241559" y="41148"/>
                  </a:lnTo>
                  <a:lnTo>
                    <a:pt x="241559" y="34036"/>
                  </a:lnTo>
                  <a:lnTo>
                    <a:pt x="238765" y="31242"/>
                  </a:lnTo>
                  <a:close/>
                </a:path>
                <a:path w="479425" h="76200">
                  <a:moveTo>
                    <a:pt x="264165" y="31368"/>
                  </a:moveTo>
                  <a:lnTo>
                    <a:pt x="257053" y="31368"/>
                  </a:lnTo>
                  <a:lnTo>
                    <a:pt x="254259" y="34162"/>
                  </a:lnTo>
                  <a:lnTo>
                    <a:pt x="254259" y="41148"/>
                  </a:lnTo>
                  <a:lnTo>
                    <a:pt x="257180" y="44068"/>
                  </a:lnTo>
                  <a:lnTo>
                    <a:pt x="264165" y="44068"/>
                  </a:lnTo>
                  <a:lnTo>
                    <a:pt x="266959" y="41148"/>
                  </a:lnTo>
                  <a:lnTo>
                    <a:pt x="266959" y="34162"/>
                  </a:lnTo>
                  <a:lnTo>
                    <a:pt x="264165" y="31368"/>
                  </a:lnTo>
                  <a:close/>
                </a:path>
                <a:path w="479425" h="76200">
                  <a:moveTo>
                    <a:pt x="289565" y="31368"/>
                  </a:moveTo>
                  <a:lnTo>
                    <a:pt x="282580" y="31368"/>
                  </a:lnTo>
                  <a:lnTo>
                    <a:pt x="279527" y="34289"/>
                  </a:lnTo>
                  <a:lnTo>
                    <a:pt x="279659" y="34289"/>
                  </a:lnTo>
                  <a:lnTo>
                    <a:pt x="279659" y="41275"/>
                  </a:lnTo>
                  <a:lnTo>
                    <a:pt x="282453" y="44068"/>
                  </a:lnTo>
                  <a:lnTo>
                    <a:pt x="289565" y="44068"/>
                  </a:lnTo>
                  <a:lnTo>
                    <a:pt x="292359" y="41275"/>
                  </a:lnTo>
                  <a:lnTo>
                    <a:pt x="292359" y="34289"/>
                  </a:lnTo>
                  <a:lnTo>
                    <a:pt x="289565" y="31368"/>
                  </a:lnTo>
                  <a:close/>
                </a:path>
                <a:path w="479425" h="76200">
                  <a:moveTo>
                    <a:pt x="314965" y="31495"/>
                  </a:moveTo>
                  <a:lnTo>
                    <a:pt x="307980" y="31495"/>
                  </a:lnTo>
                  <a:lnTo>
                    <a:pt x="305059" y="34289"/>
                  </a:lnTo>
                  <a:lnTo>
                    <a:pt x="305181" y="41401"/>
                  </a:lnTo>
                  <a:lnTo>
                    <a:pt x="307853" y="44195"/>
                  </a:lnTo>
                  <a:lnTo>
                    <a:pt x="314965" y="44195"/>
                  </a:lnTo>
                  <a:lnTo>
                    <a:pt x="317759" y="41401"/>
                  </a:lnTo>
                  <a:lnTo>
                    <a:pt x="317759" y="34289"/>
                  </a:lnTo>
                  <a:lnTo>
                    <a:pt x="314965" y="31495"/>
                  </a:lnTo>
                  <a:close/>
                </a:path>
                <a:path w="479425" h="76200">
                  <a:moveTo>
                    <a:pt x="340365" y="31495"/>
                  </a:moveTo>
                  <a:lnTo>
                    <a:pt x="333380" y="31495"/>
                  </a:lnTo>
                  <a:lnTo>
                    <a:pt x="330459" y="34417"/>
                  </a:lnTo>
                  <a:lnTo>
                    <a:pt x="330459" y="41401"/>
                  </a:lnTo>
                  <a:lnTo>
                    <a:pt x="333380" y="44195"/>
                  </a:lnTo>
                  <a:lnTo>
                    <a:pt x="340365" y="44195"/>
                  </a:lnTo>
                  <a:lnTo>
                    <a:pt x="343159" y="41401"/>
                  </a:lnTo>
                  <a:lnTo>
                    <a:pt x="343159" y="34417"/>
                  </a:lnTo>
                  <a:lnTo>
                    <a:pt x="340365" y="31495"/>
                  </a:lnTo>
                  <a:close/>
                </a:path>
                <a:path w="479425" h="76200">
                  <a:moveTo>
                    <a:pt x="365765" y="31623"/>
                  </a:moveTo>
                  <a:lnTo>
                    <a:pt x="358780" y="31623"/>
                  </a:lnTo>
                  <a:lnTo>
                    <a:pt x="355727" y="34543"/>
                  </a:lnTo>
                  <a:lnTo>
                    <a:pt x="355859" y="34543"/>
                  </a:lnTo>
                  <a:lnTo>
                    <a:pt x="355859" y="41401"/>
                  </a:lnTo>
                  <a:lnTo>
                    <a:pt x="358780" y="44323"/>
                  </a:lnTo>
                  <a:lnTo>
                    <a:pt x="365765" y="44323"/>
                  </a:lnTo>
                  <a:lnTo>
                    <a:pt x="368559" y="41529"/>
                  </a:lnTo>
                  <a:lnTo>
                    <a:pt x="368686" y="34543"/>
                  </a:lnTo>
                  <a:lnTo>
                    <a:pt x="365765" y="31623"/>
                  </a:lnTo>
                  <a:close/>
                </a:path>
                <a:path w="479425" h="76200">
                  <a:moveTo>
                    <a:pt x="391165" y="31750"/>
                  </a:moveTo>
                  <a:lnTo>
                    <a:pt x="384180" y="31750"/>
                  </a:lnTo>
                  <a:lnTo>
                    <a:pt x="381386" y="34543"/>
                  </a:lnTo>
                  <a:lnTo>
                    <a:pt x="381259" y="41529"/>
                  </a:lnTo>
                  <a:lnTo>
                    <a:pt x="384180" y="44450"/>
                  </a:lnTo>
                  <a:lnTo>
                    <a:pt x="391165" y="44450"/>
                  </a:lnTo>
                  <a:lnTo>
                    <a:pt x="393959" y="41529"/>
                  </a:lnTo>
                  <a:lnTo>
                    <a:pt x="394086" y="34543"/>
                  </a:lnTo>
                  <a:lnTo>
                    <a:pt x="391165" y="31750"/>
                  </a:lnTo>
                  <a:close/>
                </a:path>
                <a:path w="479425" h="76200">
                  <a:moveTo>
                    <a:pt x="402849" y="0"/>
                  </a:moveTo>
                  <a:lnTo>
                    <a:pt x="402743" y="31750"/>
                  </a:lnTo>
                  <a:lnTo>
                    <a:pt x="402721" y="38354"/>
                  </a:lnTo>
                  <a:lnTo>
                    <a:pt x="402595" y="76200"/>
                  </a:lnTo>
                  <a:lnTo>
                    <a:pt x="466628" y="44450"/>
                  </a:lnTo>
                  <a:lnTo>
                    <a:pt x="409580" y="44450"/>
                  </a:lnTo>
                  <a:lnTo>
                    <a:pt x="406659" y="41656"/>
                  </a:lnTo>
                  <a:lnTo>
                    <a:pt x="406786" y="34670"/>
                  </a:lnTo>
                  <a:lnTo>
                    <a:pt x="409580" y="31750"/>
                  </a:lnTo>
                  <a:lnTo>
                    <a:pt x="465824" y="31750"/>
                  </a:lnTo>
                  <a:lnTo>
                    <a:pt x="402849" y="0"/>
                  </a:lnTo>
                  <a:close/>
                </a:path>
                <a:path w="479425" h="76200">
                  <a:moveTo>
                    <a:pt x="416565" y="31750"/>
                  </a:moveTo>
                  <a:lnTo>
                    <a:pt x="409580" y="31750"/>
                  </a:lnTo>
                  <a:lnTo>
                    <a:pt x="406786" y="34670"/>
                  </a:lnTo>
                  <a:lnTo>
                    <a:pt x="406659" y="41656"/>
                  </a:lnTo>
                  <a:lnTo>
                    <a:pt x="409580" y="44450"/>
                  </a:lnTo>
                  <a:lnTo>
                    <a:pt x="416565" y="44450"/>
                  </a:lnTo>
                  <a:lnTo>
                    <a:pt x="419486" y="41656"/>
                  </a:lnTo>
                  <a:lnTo>
                    <a:pt x="419486" y="34670"/>
                  </a:lnTo>
                  <a:lnTo>
                    <a:pt x="416565" y="31750"/>
                  </a:lnTo>
                  <a:close/>
                </a:path>
                <a:path w="479425" h="76200">
                  <a:moveTo>
                    <a:pt x="465824" y="31750"/>
                  </a:moveTo>
                  <a:lnTo>
                    <a:pt x="416565" y="31750"/>
                  </a:lnTo>
                  <a:lnTo>
                    <a:pt x="419486" y="34670"/>
                  </a:lnTo>
                  <a:lnTo>
                    <a:pt x="419486" y="41656"/>
                  </a:lnTo>
                  <a:lnTo>
                    <a:pt x="416565" y="44450"/>
                  </a:lnTo>
                  <a:lnTo>
                    <a:pt x="466628" y="44450"/>
                  </a:lnTo>
                  <a:lnTo>
                    <a:pt x="478922" y="38354"/>
                  </a:lnTo>
                  <a:lnTo>
                    <a:pt x="465824" y="31750"/>
                  </a:lnTo>
                  <a:close/>
                </a:path>
              </a:pathLst>
            </a:custGeom>
            <a:solidFill>
              <a:srgbClr val="35362F"/>
            </a:solidFill>
          </p:spPr>
          <p:txBody>
            <a:bodyPr wrap="square" lIns="0" tIns="0" rIns="0" bIns="0" rtlCol="0"/>
            <a:lstStyle/>
            <a:p/>
          </p:txBody>
        </p:sp>
        <p:sp>
          <p:nvSpPr>
            <p:cNvPr id="19" name="object 19"/>
            <p:cNvSpPr/>
            <p:nvPr/>
          </p:nvSpPr>
          <p:spPr>
            <a:xfrm>
              <a:off x="2641853" y="1954529"/>
              <a:ext cx="0" cy="172720"/>
            </a:xfrm>
            <a:custGeom>
              <a:avLst/>
              <a:gdLst/>
              <a:ahLst/>
              <a:cxnLst/>
              <a:rect l="l" t="t" r="r" b="b"/>
              <a:pathLst>
                <a:path h="172719">
                  <a:moveTo>
                    <a:pt x="0" y="0"/>
                  </a:moveTo>
                  <a:lnTo>
                    <a:pt x="0" y="172212"/>
                  </a:lnTo>
                </a:path>
              </a:pathLst>
            </a:custGeom>
            <a:ln w="38100">
              <a:solidFill>
                <a:srgbClr val="35362F"/>
              </a:solidFill>
            </a:ln>
          </p:spPr>
          <p:txBody>
            <a:bodyPr wrap="square" lIns="0" tIns="0" rIns="0" bIns="0" rtlCol="0"/>
            <a:lstStyle/>
            <a:p/>
          </p:txBody>
        </p:sp>
        <p:sp>
          <p:nvSpPr>
            <p:cNvPr id="20" name="object 20"/>
            <p:cNvSpPr/>
            <p:nvPr/>
          </p:nvSpPr>
          <p:spPr>
            <a:xfrm>
              <a:off x="2641091" y="2089403"/>
              <a:ext cx="0" cy="134620"/>
            </a:xfrm>
            <a:custGeom>
              <a:avLst/>
              <a:gdLst/>
              <a:ahLst/>
              <a:cxnLst/>
              <a:rect l="l" t="t" r="r" b="b"/>
              <a:pathLst>
                <a:path h="134619">
                  <a:moveTo>
                    <a:pt x="0" y="0"/>
                  </a:moveTo>
                  <a:lnTo>
                    <a:pt x="0" y="134112"/>
                  </a:lnTo>
                </a:path>
              </a:pathLst>
            </a:custGeom>
            <a:ln w="9525">
              <a:solidFill>
                <a:srgbClr val="35362F"/>
              </a:solidFill>
            </a:ln>
          </p:spPr>
          <p:txBody>
            <a:bodyPr wrap="square" lIns="0" tIns="0" rIns="0" bIns="0" rtlCol="0"/>
            <a:lstStyle/>
            <a:p/>
          </p:txBody>
        </p:sp>
      </p:grpSp>
      <p:sp>
        <p:nvSpPr>
          <p:cNvPr id="21" name="object 21"/>
          <p:cNvSpPr txBox="1"/>
          <p:nvPr/>
        </p:nvSpPr>
        <p:spPr>
          <a:xfrm>
            <a:off x="1747392" y="3769436"/>
            <a:ext cx="255270" cy="162560"/>
          </a:xfrm>
          <a:prstGeom prst="rect">
            <a:avLst/>
          </a:prstGeom>
        </p:spPr>
        <p:txBody>
          <a:bodyPr vert="horz" wrap="square" lIns="0" tIns="12700" rIns="0" bIns="0" rtlCol="0">
            <a:spAutoFit/>
          </a:bodyPr>
          <a:lstStyle/>
          <a:p>
            <a:pPr>
              <a:lnSpc>
                <a:spcPct val="100000"/>
              </a:lnSpc>
              <a:spcBef>
                <a:spcPts val="100"/>
              </a:spcBef>
            </a:pPr>
            <a:r>
              <a:rPr sz="900" spc="-10" dirty="0">
                <a:solidFill>
                  <a:srgbClr val="35362F"/>
                </a:solidFill>
                <a:latin typeface="Calibri" panose="020F0502020204030204"/>
                <a:cs typeface="Calibri" panose="020F0502020204030204"/>
              </a:rPr>
              <a:t>sleep</a:t>
            </a:r>
            <a:endParaRPr sz="900">
              <a:latin typeface="Calibri" panose="020F0502020204030204"/>
              <a:cs typeface="Calibri" panose="020F0502020204030204"/>
            </a:endParaRPr>
          </a:p>
        </p:txBody>
      </p:sp>
      <p:grpSp>
        <p:nvGrpSpPr>
          <p:cNvPr id="22" name="object 22"/>
          <p:cNvGrpSpPr/>
          <p:nvPr/>
        </p:nvGrpSpPr>
        <p:grpSpPr>
          <a:xfrm>
            <a:off x="1636585" y="1882012"/>
            <a:ext cx="2252980" cy="2066925"/>
            <a:chOff x="1689925" y="2258567"/>
            <a:chExt cx="2252980" cy="2066925"/>
          </a:xfrm>
        </p:grpSpPr>
        <p:sp>
          <p:nvSpPr>
            <p:cNvPr id="23" name="object 23"/>
            <p:cNvSpPr/>
            <p:nvPr/>
          </p:nvSpPr>
          <p:spPr>
            <a:xfrm>
              <a:off x="1729486" y="2258567"/>
              <a:ext cx="393065" cy="2018030"/>
            </a:xfrm>
            <a:custGeom>
              <a:avLst/>
              <a:gdLst/>
              <a:ahLst/>
              <a:cxnLst/>
              <a:rect l="l" t="t" r="r" b="b"/>
              <a:pathLst>
                <a:path w="393064" h="2018029">
                  <a:moveTo>
                    <a:pt x="348361" y="375919"/>
                  </a:moveTo>
                  <a:lnTo>
                    <a:pt x="0" y="375919"/>
                  </a:lnTo>
                  <a:lnTo>
                    <a:pt x="0" y="2017902"/>
                  </a:lnTo>
                  <a:lnTo>
                    <a:pt x="12700" y="2017903"/>
                  </a:lnTo>
                  <a:lnTo>
                    <a:pt x="12700" y="388619"/>
                  </a:lnTo>
                  <a:lnTo>
                    <a:pt x="6350" y="388619"/>
                  </a:lnTo>
                  <a:lnTo>
                    <a:pt x="12700" y="382269"/>
                  </a:lnTo>
                  <a:lnTo>
                    <a:pt x="348361" y="382269"/>
                  </a:lnTo>
                  <a:lnTo>
                    <a:pt x="348361" y="375919"/>
                  </a:lnTo>
                  <a:close/>
                </a:path>
                <a:path w="393064" h="2018029">
                  <a:moveTo>
                    <a:pt x="12700" y="382269"/>
                  </a:moveTo>
                  <a:lnTo>
                    <a:pt x="6350" y="388619"/>
                  </a:lnTo>
                  <a:lnTo>
                    <a:pt x="12700" y="388619"/>
                  </a:lnTo>
                  <a:lnTo>
                    <a:pt x="12700" y="382269"/>
                  </a:lnTo>
                  <a:close/>
                </a:path>
                <a:path w="393064" h="2018029">
                  <a:moveTo>
                    <a:pt x="361061" y="375919"/>
                  </a:moveTo>
                  <a:lnTo>
                    <a:pt x="354711" y="375919"/>
                  </a:lnTo>
                  <a:lnTo>
                    <a:pt x="348361" y="382269"/>
                  </a:lnTo>
                  <a:lnTo>
                    <a:pt x="12700" y="382269"/>
                  </a:lnTo>
                  <a:lnTo>
                    <a:pt x="12700" y="388619"/>
                  </a:lnTo>
                  <a:lnTo>
                    <a:pt x="361061" y="388619"/>
                  </a:lnTo>
                  <a:lnTo>
                    <a:pt x="361061" y="375919"/>
                  </a:lnTo>
                  <a:close/>
                </a:path>
                <a:path w="393064" h="2018029">
                  <a:moveTo>
                    <a:pt x="361061" y="63500"/>
                  </a:moveTo>
                  <a:lnTo>
                    <a:pt x="348361" y="63500"/>
                  </a:lnTo>
                  <a:lnTo>
                    <a:pt x="348361" y="382269"/>
                  </a:lnTo>
                  <a:lnTo>
                    <a:pt x="354711" y="375919"/>
                  </a:lnTo>
                  <a:lnTo>
                    <a:pt x="361061" y="375919"/>
                  </a:lnTo>
                  <a:lnTo>
                    <a:pt x="361061" y="63500"/>
                  </a:lnTo>
                  <a:close/>
                </a:path>
                <a:path w="393064" h="2018029">
                  <a:moveTo>
                    <a:pt x="354711" y="0"/>
                  </a:moveTo>
                  <a:lnTo>
                    <a:pt x="316611" y="76200"/>
                  </a:lnTo>
                  <a:lnTo>
                    <a:pt x="348361" y="76200"/>
                  </a:lnTo>
                  <a:lnTo>
                    <a:pt x="348361" y="63500"/>
                  </a:lnTo>
                  <a:lnTo>
                    <a:pt x="386461" y="63500"/>
                  </a:lnTo>
                  <a:lnTo>
                    <a:pt x="354711" y="0"/>
                  </a:lnTo>
                  <a:close/>
                </a:path>
                <a:path w="393064" h="2018029">
                  <a:moveTo>
                    <a:pt x="386461" y="63500"/>
                  </a:moveTo>
                  <a:lnTo>
                    <a:pt x="361061" y="63500"/>
                  </a:lnTo>
                  <a:lnTo>
                    <a:pt x="361061" y="76200"/>
                  </a:lnTo>
                  <a:lnTo>
                    <a:pt x="392811" y="76200"/>
                  </a:lnTo>
                  <a:lnTo>
                    <a:pt x="386461" y="63500"/>
                  </a:lnTo>
                  <a:close/>
                </a:path>
              </a:pathLst>
            </a:custGeom>
            <a:solidFill>
              <a:srgbClr val="35362F"/>
            </a:solidFill>
          </p:spPr>
          <p:txBody>
            <a:bodyPr wrap="square" lIns="0" tIns="0" rIns="0" bIns="0" rtlCol="0"/>
            <a:lstStyle/>
            <a:p/>
          </p:txBody>
        </p:sp>
        <p:sp>
          <p:nvSpPr>
            <p:cNvPr id="24" name="object 24"/>
            <p:cNvSpPr/>
            <p:nvPr/>
          </p:nvSpPr>
          <p:spPr>
            <a:xfrm>
              <a:off x="1694688" y="4262627"/>
              <a:ext cx="91440" cy="58419"/>
            </a:xfrm>
            <a:custGeom>
              <a:avLst/>
              <a:gdLst/>
              <a:ahLst/>
              <a:cxnLst/>
              <a:rect l="l" t="t" r="r" b="b"/>
              <a:pathLst>
                <a:path w="91439" h="58420">
                  <a:moveTo>
                    <a:pt x="91439" y="0"/>
                  </a:moveTo>
                  <a:lnTo>
                    <a:pt x="0" y="0"/>
                  </a:lnTo>
                  <a:lnTo>
                    <a:pt x="0" y="57912"/>
                  </a:lnTo>
                  <a:lnTo>
                    <a:pt x="91439" y="57912"/>
                  </a:lnTo>
                  <a:lnTo>
                    <a:pt x="91439" y="0"/>
                  </a:lnTo>
                  <a:close/>
                </a:path>
              </a:pathLst>
            </a:custGeom>
            <a:solidFill>
              <a:srgbClr val="FFFFFF"/>
            </a:solidFill>
          </p:spPr>
          <p:txBody>
            <a:bodyPr wrap="square" lIns="0" tIns="0" rIns="0" bIns="0" rtlCol="0"/>
            <a:lstStyle/>
            <a:p/>
          </p:txBody>
        </p:sp>
        <p:sp>
          <p:nvSpPr>
            <p:cNvPr id="25" name="object 25"/>
            <p:cNvSpPr/>
            <p:nvPr/>
          </p:nvSpPr>
          <p:spPr>
            <a:xfrm>
              <a:off x="1694688" y="4262627"/>
              <a:ext cx="91440" cy="58419"/>
            </a:xfrm>
            <a:custGeom>
              <a:avLst/>
              <a:gdLst/>
              <a:ahLst/>
              <a:cxnLst/>
              <a:rect l="l" t="t" r="r" b="b"/>
              <a:pathLst>
                <a:path w="91439" h="58420">
                  <a:moveTo>
                    <a:pt x="0" y="57912"/>
                  </a:moveTo>
                  <a:lnTo>
                    <a:pt x="91439" y="57912"/>
                  </a:lnTo>
                  <a:lnTo>
                    <a:pt x="91439" y="0"/>
                  </a:lnTo>
                  <a:lnTo>
                    <a:pt x="0" y="0"/>
                  </a:lnTo>
                  <a:lnTo>
                    <a:pt x="0" y="57912"/>
                  </a:lnTo>
                  <a:close/>
                </a:path>
              </a:pathLst>
            </a:custGeom>
            <a:ln w="9525">
              <a:solidFill>
                <a:srgbClr val="35362F"/>
              </a:solidFill>
            </a:ln>
          </p:spPr>
          <p:txBody>
            <a:bodyPr wrap="square" lIns="0" tIns="0" rIns="0" bIns="0" rtlCol="0"/>
            <a:lstStyle/>
            <a:p/>
          </p:txBody>
        </p:sp>
        <p:sp>
          <p:nvSpPr>
            <p:cNvPr id="26" name="object 26"/>
            <p:cNvSpPr/>
            <p:nvPr/>
          </p:nvSpPr>
          <p:spPr>
            <a:xfrm>
              <a:off x="3523488" y="3753611"/>
              <a:ext cx="417830" cy="238125"/>
            </a:xfrm>
            <a:custGeom>
              <a:avLst/>
              <a:gdLst/>
              <a:ahLst/>
              <a:cxnLst/>
              <a:rect l="l" t="t" r="r" b="b"/>
              <a:pathLst>
                <a:path w="417829" h="238125">
                  <a:moveTo>
                    <a:pt x="208787" y="0"/>
                  </a:moveTo>
                  <a:lnTo>
                    <a:pt x="0" y="0"/>
                  </a:lnTo>
                  <a:lnTo>
                    <a:pt x="0" y="237744"/>
                  </a:lnTo>
                  <a:lnTo>
                    <a:pt x="208787" y="237744"/>
                  </a:lnTo>
                  <a:lnTo>
                    <a:pt x="264294" y="233497"/>
                  </a:lnTo>
                  <a:lnTo>
                    <a:pt x="314169" y="221513"/>
                  </a:lnTo>
                  <a:lnTo>
                    <a:pt x="356425" y="202925"/>
                  </a:lnTo>
                  <a:lnTo>
                    <a:pt x="389071" y="178866"/>
                  </a:lnTo>
                  <a:lnTo>
                    <a:pt x="417575" y="118872"/>
                  </a:lnTo>
                  <a:lnTo>
                    <a:pt x="410118" y="87268"/>
                  </a:lnTo>
                  <a:lnTo>
                    <a:pt x="356425" y="34813"/>
                  </a:lnTo>
                  <a:lnTo>
                    <a:pt x="314169" y="16227"/>
                  </a:lnTo>
                  <a:lnTo>
                    <a:pt x="264294" y="4245"/>
                  </a:lnTo>
                  <a:lnTo>
                    <a:pt x="208787" y="0"/>
                  </a:lnTo>
                  <a:close/>
                </a:path>
              </a:pathLst>
            </a:custGeom>
            <a:solidFill>
              <a:srgbClr val="0C0C52"/>
            </a:solidFill>
          </p:spPr>
          <p:txBody>
            <a:bodyPr wrap="square" lIns="0" tIns="0" rIns="0" bIns="0" rtlCol="0"/>
            <a:lstStyle/>
            <a:p/>
          </p:txBody>
        </p:sp>
        <p:sp>
          <p:nvSpPr>
            <p:cNvPr id="27" name="object 27"/>
            <p:cNvSpPr/>
            <p:nvPr/>
          </p:nvSpPr>
          <p:spPr>
            <a:xfrm>
              <a:off x="3523488" y="3753611"/>
              <a:ext cx="417830" cy="238125"/>
            </a:xfrm>
            <a:custGeom>
              <a:avLst/>
              <a:gdLst/>
              <a:ahLst/>
              <a:cxnLst/>
              <a:rect l="l" t="t" r="r" b="b"/>
              <a:pathLst>
                <a:path w="417829" h="238125">
                  <a:moveTo>
                    <a:pt x="0" y="0"/>
                  </a:moveTo>
                  <a:lnTo>
                    <a:pt x="208787" y="0"/>
                  </a:lnTo>
                  <a:lnTo>
                    <a:pt x="264294" y="4245"/>
                  </a:lnTo>
                  <a:lnTo>
                    <a:pt x="314169" y="16227"/>
                  </a:lnTo>
                  <a:lnTo>
                    <a:pt x="356425" y="34813"/>
                  </a:lnTo>
                  <a:lnTo>
                    <a:pt x="389071" y="58871"/>
                  </a:lnTo>
                  <a:lnTo>
                    <a:pt x="417575" y="118872"/>
                  </a:lnTo>
                  <a:lnTo>
                    <a:pt x="410118" y="150471"/>
                  </a:lnTo>
                  <a:lnTo>
                    <a:pt x="356425" y="202925"/>
                  </a:lnTo>
                  <a:lnTo>
                    <a:pt x="314169" y="221513"/>
                  </a:lnTo>
                  <a:lnTo>
                    <a:pt x="264294" y="233497"/>
                  </a:lnTo>
                  <a:lnTo>
                    <a:pt x="208787" y="237744"/>
                  </a:lnTo>
                  <a:lnTo>
                    <a:pt x="0" y="237744"/>
                  </a:lnTo>
                  <a:lnTo>
                    <a:pt x="0" y="0"/>
                  </a:lnTo>
                  <a:close/>
                </a:path>
              </a:pathLst>
            </a:custGeom>
            <a:ln w="3175">
              <a:solidFill>
                <a:srgbClr val="35362F"/>
              </a:solidFill>
            </a:ln>
          </p:spPr>
          <p:txBody>
            <a:bodyPr wrap="square" lIns="0" tIns="0" rIns="0" bIns="0" rtlCol="0"/>
            <a:lstStyle/>
            <a:p/>
          </p:txBody>
        </p:sp>
      </p:grpSp>
      <p:sp>
        <p:nvSpPr>
          <p:cNvPr id="28" name="object 28"/>
          <p:cNvSpPr txBox="1"/>
          <p:nvPr/>
        </p:nvSpPr>
        <p:spPr>
          <a:xfrm>
            <a:off x="402031" y="4141597"/>
            <a:ext cx="318770" cy="162560"/>
          </a:xfrm>
          <a:prstGeom prst="rect">
            <a:avLst/>
          </a:prstGeom>
        </p:spPr>
        <p:txBody>
          <a:bodyPr vert="horz" wrap="square" lIns="0" tIns="12700" rIns="0" bIns="0" rtlCol="0">
            <a:spAutoFit/>
          </a:bodyPr>
          <a:lstStyle/>
          <a:p>
            <a:pPr>
              <a:lnSpc>
                <a:spcPct val="100000"/>
              </a:lnSpc>
              <a:spcBef>
                <a:spcPts val="100"/>
              </a:spcBef>
            </a:pPr>
            <a:r>
              <a:rPr sz="900" spc="-10" dirty="0">
                <a:solidFill>
                  <a:srgbClr val="35362F"/>
                </a:solidFill>
                <a:latin typeface="Calibri" panose="020F0502020204030204"/>
                <a:cs typeface="Calibri" panose="020F0502020204030204"/>
              </a:rPr>
              <a:t>pd_iso</a:t>
            </a:r>
            <a:endParaRPr sz="900">
              <a:latin typeface="Calibri" panose="020F0502020204030204"/>
              <a:cs typeface="Calibri" panose="020F0502020204030204"/>
            </a:endParaRPr>
          </a:p>
        </p:txBody>
      </p:sp>
      <p:grpSp>
        <p:nvGrpSpPr>
          <p:cNvPr id="29" name="object 29"/>
          <p:cNvGrpSpPr/>
          <p:nvPr/>
        </p:nvGrpSpPr>
        <p:grpSpPr>
          <a:xfrm>
            <a:off x="252793" y="2718053"/>
            <a:ext cx="3417570" cy="1598295"/>
            <a:chOff x="306133" y="3094608"/>
            <a:chExt cx="3417570" cy="1598295"/>
          </a:xfrm>
        </p:grpSpPr>
        <p:sp>
          <p:nvSpPr>
            <p:cNvPr id="30" name="object 30"/>
            <p:cNvSpPr/>
            <p:nvPr/>
          </p:nvSpPr>
          <p:spPr>
            <a:xfrm>
              <a:off x="403859" y="3997451"/>
              <a:ext cx="3319779" cy="668655"/>
            </a:xfrm>
            <a:custGeom>
              <a:avLst/>
              <a:gdLst/>
              <a:ahLst/>
              <a:cxnLst/>
              <a:rect l="l" t="t" r="r" b="b"/>
              <a:pathLst>
                <a:path w="3319779" h="668654">
                  <a:moveTo>
                    <a:pt x="3275076" y="655701"/>
                  </a:moveTo>
                  <a:lnTo>
                    <a:pt x="0" y="655701"/>
                  </a:lnTo>
                  <a:lnTo>
                    <a:pt x="0" y="668401"/>
                  </a:lnTo>
                  <a:lnTo>
                    <a:pt x="3287776" y="668401"/>
                  </a:lnTo>
                  <a:lnTo>
                    <a:pt x="3287776" y="662051"/>
                  </a:lnTo>
                  <a:lnTo>
                    <a:pt x="3275076" y="662051"/>
                  </a:lnTo>
                  <a:lnTo>
                    <a:pt x="3275076" y="655701"/>
                  </a:lnTo>
                  <a:close/>
                </a:path>
                <a:path w="3319779" h="668654">
                  <a:moveTo>
                    <a:pt x="3287776" y="63500"/>
                  </a:moveTo>
                  <a:lnTo>
                    <a:pt x="3275076" y="63500"/>
                  </a:lnTo>
                  <a:lnTo>
                    <a:pt x="3275076" y="662051"/>
                  </a:lnTo>
                  <a:lnTo>
                    <a:pt x="3281426" y="655701"/>
                  </a:lnTo>
                  <a:lnTo>
                    <a:pt x="3287776" y="655701"/>
                  </a:lnTo>
                  <a:lnTo>
                    <a:pt x="3287776" y="63500"/>
                  </a:lnTo>
                  <a:close/>
                </a:path>
                <a:path w="3319779" h="668654">
                  <a:moveTo>
                    <a:pt x="3287776" y="655701"/>
                  </a:moveTo>
                  <a:lnTo>
                    <a:pt x="3281426" y="655701"/>
                  </a:lnTo>
                  <a:lnTo>
                    <a:pt x="3275076" y="662051"/>
                  </a:lnTo>
                  <a:lnTo>
                    <a:pt x="3287776" y="662051"/>
                  </a:lnTo>
                  <a:lnTo>
                    <a:pt x="3287776" y="655701"/>
                  </a:lnTo>
                  <a:close/>
                </a:path>
                <a:path w="3319779" h="668654">
                  <a:moveTo>
                    <a:pt x="3281426" y="0"/>
                  </a:moveTo>
                  <a:lnTo>
                    <a:pt x="3243326" y="76200"/>
                  </a:lnTo>
                  <a:lnTo>
                    <a:pt x="3275076" y="76200"/>
                  </a:lnTo>
                  <a:lnTo>
                    <a:pt x="3275076" y="63500"/>
                  </a:lnTo>
                  <a:lnTo>
                    <a:pt x="3313176" y="63500"/>
                  </a:lnTo>
                  <a:lnTo>
                    <a:pt x="3281426" y="0"/>
                  </a:lnTo>
                  <a:close/>
                </a:path>
                <a:path w="3319779" h="668654">
                  <a:moveTo>
                    <a:pt x="3313176" y="63500"/>
                  </a:moveTo>
                  <a:lnTo>
                    <a:pt x="3287776" y="63500"/>
                  </a:lnTo>
                  <a:lnTo>
                    <a:pt x="3287776" y="76200"/>
                  </a:lnTo>
                  <a:lnTo>
                    <a:pt x="3319526" y="76200"/>
                  </a:lnTo>
                  <a:lnTo>
                    <a:pt x="3313176" y="63500"/>
                  </a:lnTo>
                  <a:close/>
                </a:path>
              </a:pathLst>
            </a:custGeom>
            <a:solidFill>
              <a:srgbClr val="35362F"/>
            </a:solidFill>
          </p:spPr>
          <p:txBody>
            <a:bodyPr wrap="square" lIns="0" tIns="0" rIns="0" bIns="0" rtlCol="0"/>
            <a:lstStyle/>
            <a:p/>
          </p:txBody>
        </p:sp>
        <p:sp>
          <p:nvSpPr>
            <p:cNvPr id="31" name="object 31"/>
            <p:cNvSpPr/>
            <p:nvPr/>
          </p:nvSpPr>
          <p:spPr>
            <a:xfrm>
              <a:off x="310895" y="4629911"/>
              <a:ext cx="93345" cy="58419"/>
            </a:xfrm>
            <a:custGeom>
              <a:avLst/>
              <a:gdLst/>
              <a:ahLst/>
              <a:cxnLst/>
              <a:rect l="l" t="t" r="r" b="b"/>
              <a:pathLst>
                <a:path w="93345" h="58420">
                  <a:moveTo>
                    <a:pt x="92964" y="0"/>
                  </a:moveTo>
                  <a:lnTo>
                    <a:pt x="0" y="0"/>
                  </a:lnTo>
                  <a:lnTo>
                    <a:pt x="0" y="57911"/>
                  </a:lnTo>
                  <a:lnTo>
                    <a:pt x="92964" y="57911"/>
                  </a:lnTo>
                  <a:lnTo>
                    <a:pt x="92964" y="0"/>
                  </a:lnTo>
                  <a:close/>
                </a:path>
              </a:pathLst>
            </a:custGeom>
            <a:solidFill>
              <a:srgbClr val="FFFFFF"/>
            </a:solidFill>
          </p:spPr>
          <p:txBody>
            <a:bodyPr wrap="square" lIns="0" tIns="0" rIns="0" bIns="0" rtlCol="0"/>
            <a:lstStyle/>
            <a:p/>
          </p:txBody>
        </p:sp>
        <p:sp>
          <p:nvSpPr>
            <p:cNvPr id="32" name="object 32"/>
            <p:cNvSpPr/>
            <p:nvPr/>
          </p:nvSpPr>
          <p:spPr>
            <a:xfrm>
              <a:off x="310895" y="4629911"/>
              <a:ext cx="93345" cy="58419"/>
            </a:xfrm>
            <a:custGeom>
              <a:avLst/>
              <a:gdLst/>
              <a:ahLst/>
              <a:cxnLst/>
              <a:rect l="l" t="t" r="r" b="b"/>
              <a:pathLst>
                <a:path w="93345" h="58420">
                  <a:moveTo>
                    <a:pt x="0" y="57911"/>
                  </a:moveTo>
                  <a:lnTo>
                    <a:pt x="92964" y="57911"/>
                  </a:lnTo>
                  <a:lnTo>
                    <a:pt x="92964" y="0"/>
                  </a:lnTo>
                  <a:lnTo>
                    <a:pt x="0" y="0"/>
                  </a:lnTo>
                  <a:lnTo>
                    <a:pt x="0" y="57911"/>
                  </a:lnTo>
                  <a:close/>
                </a:path>
              </a:pathLst>
            </a:custGeom>
            <a:ln w="9524">
              <a:solidFill>
                <a:srgbClr val="35362F"/>
              </a:solidFill>
            </a:ln>
          </p:spPr>
          <p:txBody>
            <a:bodyPr wrap="square" lIns="0" tIns="0" rIns="0" bIns="0" rtlCol="0"/>
            <a:lstStyle/>
            <a:p/>
          </p:txBody>
        </p:sp>
        <p:sp>
          <p:nvSpPr>
            <p:cNvPr id="33" name="object 33"/>
            <p:cNvSpPr/>
            <p:nvPr/>
          </p:nvSpPr>
          <p:spPr>
            <a:xfrm>
              <a:off x="2465069" y="3115246"/>
              <a:ext cx="0" cy="283845"/>
            </a:xfrm>
            <a:custGeom>
              <a:avLst/>
              <a:gdLst/>
              <a:ahLst/>
              <a:cxnLst/>
              <a:rect l="l" t="t" r="r" b="b"/>
              <a:pathLst>
                <a:path h="283845">
                  <a:moveTo>
                    <a:pt x="0" y="0"/>
                  </a:moveTo>
                  <a:lnTo>
                    <a:pt x="0" y="283273"/>
                  </a:lnTo>
                </a:path>
              </a:pathLst>
            </a:custGeom>
            <a:ln w="40767">
              <a:solidFill>
                <a:srgbClr val="35362F"/>
              </a:solidFill>
            </a:ln>
          </p:spPr>
          <p:txBody>
            <a:bodyPr wrap="square" lIns="0" tIns="0" rIns="0" bIns="0" rtlCol="0"/>
            <a:lstStyle/>
            <a:p/>
          </p:txBody>
        </p:sp>
      </p:grpSp>
      <p:sp>
        <p:nvSpPr>
          <p:cNvPr id="34" name="object 34"/>
          <p:cNvSpPr txBox="1"/>
          <p:nvPr/>
        </p:nvSpPr>
        <p:spPr>
          <a:xfrm>
            <a:off x="1902967" y="2653918"/>
            <a:ext cx="372745" cy="208279"/>
          </a:xfrm>
          <a:prstGeom prst="rect">
            <a:avLst/>
          </a:prstGeom>
        </p:spPr>
        <p:txBody>
          <a:bodyPr vert="horz" wrap="square" lIns="0" tIns="12700" rIns="0" bIns="0" rtlCol="0">
            <a:spAutoFit/>
          </a:bodyPr>
          <a:lstStyle/>
          <a:p>
            <a:pPr marL="12700">
              <a:lnSpc>
                <a:spcPct val="100000"/>
              </a:lnSpc>
              <a:spcBef>
                <a:spcPts val="100"/>
              </a:spcBef>
            </a:pPr>
            <a:r>
              <a:rPr sz="1200" b="1" spc="-20" dirty="0">
                <a:solidFill>
                  <a:srgbClr val="35362F"/>
                </a:solidFill>
                <a:latin typeface="Calibri" panose="020F0502020204030204"/>
                <a:cs typeface="Calibri" panose="020F0502020204030204"/>
              </a:rPr>
              <a:t>VDDL</a:t>
            </a:r>
            <a:endParaRPr sz="1200">
              <a:latin typeface="Calibri" panose="020F0502020204030204"/>
              <a:cs typeface="Calibri" panose="020F0502020204030204"/>
            </a:endParaRPr>
          </a:p>
        </p:txBody>
      </p:sp>
      <p:sp>
        <p:nvSpPr>
          <p:cNvPr id="35" name="object 35"/>
          <p:cNvSpPr txBox="1"/>
          <p:nvPr/>
        </p:nvSpPr>
        <p:spPr>
          <a:xfrm>
            <a:off x="376224" y="2838830"/>
            <a:ext cx="361950" cy="276860"/>
          </a:xfrm>
          <a:prstGeom prst="rect">
            <a:avLst/>
          </a:prstGeom>
        </p:spPr>
        <p:txBody>
          <a:bodyPr vert="horz" wrap="square" lIns="0" tIns="12700" rIns="0" bIns="0" rtlCol="0">
            <a:spAutoFit/>
          </a:bodyPr>
          <a:lstStyle/>
          <a:p>
            <a:pPr marL="17145">
              <a:lnSpc>
                <a:spcPts val="990"/>
              </a:lnSpc>
              <a:spcBef>
                <a:spcPts val="100"/>
              </a:spcBef>
            </a:pPr>
            <a:r>
              <a:rPr sz="900" spc="-20" dirty="0">
                <a:solidFill>
                  <a:srgbClr val="35362F"/>
                </a:solidFill>
                <a:latin typeface="Calibri" panose="020F0502020204030204"/>
                <a:cs typeface="Calibri" panose="020F0502020204030204"/>
              </a:rPr>
              <a:t>save</a:t>
            </a:r>
            <a:endParaRPr sz="900">
              <a:latin typeface="Calibri" panose="020F0502020204030204"/>
              <a:cs typeface="Calibri" panose="020F0502020204030204"/>
            </a:endParaRPr>
          </a:p>
          <a:p>
            <a:pPr marL="12700">
              <a:lnSpc>
                <a:spcPts val="990"/>
              </a:lnSpc>
            </a:pPr>
            <a:r>
              <a:rPr sz="900" spc="-10" dirty="0">
                <a:solidFill>
                  <a:srgbClr val="35362F"/>
                </a:solidFill>
                <a:latin typeface="Calibri" panose="020F0502020204030204"/>
                <a:cs typeface="Calibri" panose="020F0502020204030204"/>
              </a:rPr>
              <a:t>restore</a:t>
            </a:r>
            <a:endParaRPr sz="900">
              <a:latin typeface="Calibri" panose="020F0502020204030204"/>
              <a:cs typeface="Calibri" panose="020F0502020204030204"/>
            </a:endParaRPr>
          </a:p>
        </p:txBody>
      </p:sp>
      <p:grpSp>
        <p:nvGrpSpPr>
          <p:cNvPr id="36" name="object 36"/>
          <p:cNvGrpSpPr/>
          <p:nvPr/>
        </p:nvGrpSpPr>
        <p:grpSpPr>
          <a:xfrm>
            <a:off x="252793" y="2939478"/>
            <a:ext cx="2397760" cy="481965"/>
            <a:chOff x="306133" y="3316033"/>
            <a:chExt cx="2397760" cy="481965"/>
          </a:xfrm>
        </p:grpSpPr>
        <p:sp>
          <p:nvSpPr>
            <p:cNvPr id="37" name="object 37"/>
            <p:cNvSpPr/>
            <p:nvPr/>
          </p:nvSpPr>
          <p:spPr>
            <a:xfrm>
              <a:off x="359664" y="3346450"/>
              <a:ext cx="2058035" cy="362585"/>
            </a:xfrm>
            <a:custGeom>
              <a:avLst/>
              <a:gdLst/>
              <a:ahLst/>
              <a:cxnLst/>
              <a:rect l="l" t="t" r="r" b="b"/>
              <a:pathLst>
                <a:path w="2058035" h="362585">
                  <a:moveTo>
                    <a:pt x="2057400" y="324231"/>
                  </a:moveTo>
                  <a:lnTo>
                    <a:pt x="2044700" y="317881"/>
                  </a:lnTo>
                  <a:lnTo>
                    <a:pt x="1981200" y="286131"/>
                  </a:lnTo>
                  <a:lnTo>
                    <a:pt x="1981200" y="317881"/>
                  </a:lnTo>
                  <a:lnTo>
                    <a:pt x="1035050" y="317881"/>
                  </a:lnTo>
                  <a:lnTo>
                    <a:pt x="1035050" y="122428"/>
                  </a:lnTo>
                  <a:lnTo>
                    <a:pt x="1035050" y="116078"/>
                  </a:lnTo>
                  <a:lnTo>
                    <a:pt x="1035050" y="109728"/>
                  </a:lnTo>
                  <a:lnTo>
                    <a:pt x="0" y="109728"/>
                  </a:lnTo>
                  <a:lnTo>
                    <a:pt x="0" y="122428"/>
                  </a:lnTo>
                  <a:lnTo>
                    <a:pt x="1022350" y="122428"/>
                  </a:lnTo>
                  <a:lnTo>
                    <a:pt x="1022350" y="330581"/>
                  </a:lnTo>
                  <a:lnTo>
                    <a:pt x="1981200" y="330581"/>
                  </a:lnTo>
                  <a:lnTo>
                    <a:pt x="1981200" y="362331"/>
                  </a:lnTo>
                  <a:lnTo>
                    <a:pt x="2044700" y="330581"/>
                  </a:lnTo>
                  <a:lnTo>
                    <a:pt x="2057400" y="324231"/>
                  </a:lnTo>
                  <a:close/>
                </a:path>
                <a:path w="2058035" h="362585">
                  <a:moveTo>
                    <a:pt x="2057908" y="224028"/>
                  </a:moveTo>
                  <a:lnTo>
                    <a:pt x="2045208" y="217678"/>
                  </a:lnTo>
                  <a:lnTo>
                    <a:pt x="1981708" y="185928"/>
                  </a:lnTo>
                  <a:lnTo>
                    <a:pt x="1981708" y="217678"/>
                  </a:lnTo>
                  <a:lnTo>
                    <a:pt x="1121029" y="217678"/>
                  </a:lnTo>
                  <a:lnTo>
                    <a:pt x="1121029" y="12700"/>
                  </a:lnTo>
                  <a:lnTo>
                    <a:pt x="1121029" y="6350"/>
                  </a:lnTo>
                  <a:lnTo>
                    <a:pt x="1121029" y="0"/>
                  </a:lnTo>
                  <a:lnTo>
                    <a:pt x="0" y="0"/>
                  </a:lnTo>
                  <a:lnTo>
                    <a:pt x="0" y="12700"/>
                  </a:lnTo>
                  <a:lnTo>
                    <a:pt x="1108329" y="12700"/>
                  </a:lnTo>
                  <a:lnTo>
                    <a:pt x="1108329" y="230378"/>
                  </a:lnTo>
                  <a:lnTo>
                    <a:pt x="1981708" y="230378"/>
                  </a:lnTo>
                  <a:lnTo>
                    <a:pt x="1981708" y="262128"/>
                  </a:lnTo>
                  <a:lnTo>
                    <a:pt x="2045208" y="230378"/>
                  </a:lnTo>
                  <a:lnTo>
                    <a:pt x="2057908" y="224028"/>
                  </a:lnTo>
                  <a:close/>
                </a:path>
              </a:pathLst>
            </a:custGeom>
            <a:solidFill>
              <a:srgbClr val="35362F"/>
            </a:solidFill>
          </p:spPr>
          <p:txBody>
            <a:bodyPr wrap="square" lIns="0" tIns="0" rIns="0" bIns="0" rtlCol="0"/>
            <a:lstStyle/>
            <a:p/>
          </p:txBody>
        </p:sp>
        <p:sp>
          <p:nvSpPr>
            <p:cNvPr id="38" name="object 38"/>
            <p:cNvSpPr/>
            <p:nvPr/>
          </p:nvSpPr>
          <p:spPr>
            <a:xfrm>
              <a:off x="313943" y="3320796"/>
              <a:ext cx="91440" cy="56515"/>
            </a:xfrm>
            <a:custGeom>
              <a:avLst/>
              <a:gdLst/>
              <a:ahLst/>
              <a:cxnLst/>
              <a:rect l="l" t="t" r="r" b="b"/>
              <a:pathLst>
                <a:path w="91439" h="56514">
                  <a:moveTo>
                    <a:pt x="91439" y="0"/>
                  </a:moveTo>
                  <a:lnTo>
                    <a:pt x="0" y="0"/>
                  </a:lnTo>
                  <a:lnTo>
                    <a:pt x="0" y="56387"/>
                  </a:lnTo>
                  <a:lnTo>
                    <a:pt x="91439" y="56387"/>
                  </a:lnTo>
                  <a:lnTo>
                    <a:pt x="91439" y="0"/>
                  </a:lnTo>
                  <a:close/>
                </a:path>
              </a:pathLst>
            </a:custGeom>
            <a:solidFill>
              <a:srgbClr val="FFFFFF"/>
            </a:solidFill>
          </p:spPr>
          <p:txBody>
            <a:bodyPr wrap="square" lIns="0" tIns="0" rIns="0" bIns="0" rtlCol="0"/>
            <a:lstStyle/>
            <a:p/>
          </p:txBody>
        </p:sp>
        <p:sp>
          <p:nvSpPr>
            <p:cNvPr id="39" name="object 39"/>
            <p:cNvSpPr/>
            <p:nvPr/>
          </p:nvSpPr>
          <p:spPr>
            <a:xfrm>
              <a:off x="313943" y="3320796"/>
              <a:ext cx="91440" cy="56515"/>
            </a:xfrm>
            <a:custGeom>
              <a:avLst/>
              <a:gdLst/>
              <a:ahLst/>
              <a:cxnLst/>
              <a:rect l="l" t="t" r="r" b="b"/>
              <a:pathLst>
                <a:path w="91439" h="56514">
                  <a:moveTo>
                    <a:pt x="0" y="56387"/>
                  </a:moveTo>
                  <a:lnTo>
                    <a:pt x="91439" y="56387"/>
                  </a:lnTo>
                  <a:lnTo>
                    <a:pt x="91439" y="0"/>
                  </a:lnTo>
                  <a:lnTo>
                    <a:pt x="0" y="0"/>
                  </a:lnTo>
                  <a:lnTo>
                    <a:pt x="0" y="56387"/>
                  </a:lnTo>
                  <a:close/>
                </a:path>
              </a:pathLst>
            </a:custGeom>
            <a:ln w="9525">
              <a:solidFill>
                <a:srgbClr val="35362F"/>
              </a:solidFill>
            </a:ln>
          </p:spPr>
          <p:txBody>
            <a:bodyPr wrap="square" lIns="0" tIns="0" rIns="0" bIns="0" rtlCol="0"/>
            <a:lstStyle/>
            <a:p/>
          </p:txBody>
        </p:sp>
        <p:sp>
          <p:nvSpPr>
            <p:cNvPr id="40" name="object 40"/>
            <p:cNvSpPr/>
            <p:nvPr/>
          </p:nvSpPr>
          <p:spPr>
            <a:xfrm>
              <a:off x="310895" y="3430524"/>
              <a:ext cx="93345" cy="56515"/>
            </a:xfrm>
            <a:custGeom>
              <a:avLst/>
              <a:gdLst/>
              <a:ahLst/>
              <a:cxnLst/>
              <a:rect l="l" t="t" r="r" b="b"/>
              <a:pathLst>
                <a:path w="93345" h="56514">
                  <a:moveTo>
                    <a:pt x="92964" y="0"/>
                  </a:moveTo>
                  <a:lnTo>
                    <a:pt x="0" y="0"/>
                  </a:lnTo>
                  <a:lnTo>
                    <a:pt x="0" y="56387"/>
                  </a:lnTo>
                  <a:lnTo>
                    <a:pt x="92964" y="56387"/>
                  </a:lnTo>
                  <a:lnTo>
                    <a:pt x="92964" y="0"/>
                  </a:lnTo>
                  <a:close/>
                </a:path>
              </a:pathLst>
            </a:custGeom>
            <a:solidFill>
              <a:srgbClr val="FFFFFF"/>
            </a:solidFill>
          </p:spPr>
          <p:txBody>
            <a:bodyPr wrap="square" lIns="0" tIns="0" rIns="0" bIns="0" rtlCol="0"/>
            <a:lstStyle/>
            <a:p/>
          </p:txBody>
        </p:sp>
        <p:sp>
          <p:nvSpPr>
            <p:cNvPr id="41" name="object 41"/>
            <p:cNvSpPr/>
            <p:nvPr/>
          </p:nvSpPr>
          <p:spPr>
            <a:xfrm>
              <a:off x="310895" y="3430524"/>
              <a:ext cx="93345" cy="56515"/>
            </a:xfrm>
            <a:custGeom>
              <a:avLst/>
              <a:gdLst/>
              <a:ahLst/>
              <a:cxnLst/>
              <a:rect l="l" t="t" r="r" b="b"/>
              <a:pathLst>
                <a:path w="93345" h="56514">
                  <a:moveTo>
                    <a:pt x="0" y="56387"/>
                  </a:moveTo>
                  <a:lnTo>
                    <a:pt x="92964" y="56387"/>
                  </a:lnTo>
                  <a:lnTo>
                    <a:pt x="92964" y="0"/>
                  </a:lnTo>
                  <a:lnTo>
                    <a:pt x="0" y="0"/>
                  </a:lnTo>
                  <a:lnTo>
                    <a:pt x="0" y="56387"/>
                  </a:lnTo>
                  <a:close/>
                </a:path>
              </a:pathLst>
            </a:custGeom>
            <a:ln w="9525">
              <a:solidFill>
                <a:srgbClr val="35362F"/>
              </a:solidFill>
            </a:ln>
          </p:spPr>
          <p:txBody>
            <a:bodyPr wrap="square" lIns="0" tIns="0" rIns="0" bIns="0" rtlCol="0"/>
            <a:lstStyle/>
            <a:p/>
          </p:txBody>
        </p:sp>
        <p:pic>
          <p:nvPicPr>
            <p:cNvPr id="42" name="object 42"/>
            <p:cNvPicPr/>
            <p:nvPr/>
          </p:nvPicPr>
          <p:blipFill>
            <a:blip r:embed="rId5" cstate="print"/>
            <a:stretch>
              <a:fillRect/>
            </a:stretch>
          </p:blipFill>
          <p:spPr>
            <a:xfrm>
              <a:off x="2418588" y="3398520"/>
              <a:ext cx="228600" cy="342900"/>
            </a:xfrm>
            <a:prstGeom prst="rect">
              <a:avLst/>
            </a:prstGeom>
          </p:spPr>
        </p:pic>
        <p:pic>
          <p:nvPicPr>
            <p:cNvPr id="43" name="object 43"/>
            <p:cNvPicPr/>
            <p:nvPr/>
          </p:nvPicPr>
          <p:blipFill>
            <a:blip r:embed="rId6" cstate="print"/>
            <a:stretch>
              <a:fillRect/>
            </a:stretch>
          </p:blipFill>
          <p:spPr>
            <a:xfrm>
              <a:off x="2474975" y="3454908"/>
              <a:ext cx="228600" cy="342899"/>
            </a:xfrm>
            <a:prstGeom prst="rect">
              <a:avLst/>
            </a:prstGeom>
          </p:spPr>
        </p:pic>
      </p:grpSp>
      <p:sp>
        <p:nvSpPr>
          <p:cNvPr id="44" name="object 44"/>
          <p:cNvSpPr txBox="1"/>
          <p:nvPr/>
        </p:nvSpPr>
        <p:spPr>
          <a:xfrm>
            <a:off x="2411730" y="3078353"/>
            <a:ext cx="194945" cy="287020"/>
          </a:xfrm>
          <a:prstGeom prst="rect">
            <a:avLst/>
          </a:prstGeom>
          <a:ln w="9525">
            <a:solidFill>
              <a:srgbClr val="00A0DE"/>
            </a:solidFill>
          </a:ln>
        </p:spPr>
        <p:txBody>
          <a:bodyPr vert="horz" wrap="square" lIns="0" tIns="96520" rIns="0" bIns="0" rtlCol="0">
            <a:spAutoFit/>
          </a:bodyPr>
          <a:lstStyle/>
          <a:p>
            <a:pPr marL="61595">
              <a:lnSpc>
                <a:spcPct val="100000"/>
              </a:lnSpc>
              <a:spcBef>
                <a:spcPts val="760"/>
              </a:spcBef>
            </a:pPr>
            <a:r>
              <a:rPr sz="900" b="1" spc="-25" dirty="0">
                <a:solidFill>
                  <a:srgbClr val="35362F"/>
                </a:solidFill>
                <a:latin typeface="Calibri" panose="020F0502020204030204"/>
                <a:cs typeface="Calibri" panose="020F0502020204030204"/>
              </a:rPr>
              <a:t>RR</a:t>
            </a:r>
            <a:endParaRPr sz="900">
              <a:latin typeface="Calibri" panose="020F0502020204030204"/>
              <a:cs typeface="Calibri" panose="020F0502020204030204"/>
            </a:endParaRPr>
          </a:p>
        </p:txBody>
      </p:sp>
      <p:grpSp>
        <p:nvGrpSpPr>
          <p:cNvPr id="45" name="object 45"/>
          <p:cNvGrpSpPr/>
          <p:nvPr/>
        </p:nvGrpSpPr>
        <p:grpSpPr>
          <a:xfrm>
            <a:off x="830516" y="3367849"/>
            <a:ext cx="454659" cy="254635"/>
            <a:chOff x="883856" y="3744404"/>
            <a:chExt cx="454659" cy="254635"/>
          </a:xfrm>
        </p:grpSpPr>
        <p:sp>
          <p:nvSpPr>
            <p:cNvPr id="46" name="object 46"/>
            <p:cNvSpPr/>
            <p:nvPr/>
          </p:nvSpPr>
          <p:spPr>
            <a:xfrm>
              <a:off x="885444" y="3745991"/>
              <a:ext cx="451484" cy="251460"/>
            </a:xfrm>
            <a:custGeom>
              <a:avLst/>
              <a:gdLst/>
              <a:ahLst/>
              <a:cxnLst/>
              <a:rect l="l" t="t" r="r" b="b"/>
              <a:pathLst>
                <a:path w="451484" h="251460">
                  <a:moveTo>
                    <a:pt x="325374" y="0"/>
                  </a:moveTo>
                  <a:lnTo>
                    <a:pt x="0" y="0"/>
                  </a:lnTo>
                  <a:lnTo>
                    <a:pt x="0" y="251460"/>
                  </a:lnTo>
                  <a:lnTo>
                    <a:pt x="325374" y="251460"/>
                  </a:lnTo>
                  <a:lnTo>
                    <a:pt x="451103" y="125730"/>
                  </a:lnTo>
                  <a:lnTo>
                    <a:pt x="325374" y="0"/>
                  </a:lnTo>
                  <a:close/>
                </a:path>
              </a:pathLst>
            </a:custGeom>
            <a:solidFill>
              <a:srgbClr val="6F2F9F"/>
            </a:solidFill>
          </p:spPr>
          <p:txBody>
            <a:bodyPr wrap="square" lIns="0" tIns="0" rIns="0" bIns="0" rtlCol="0"/>
            <a:lstStyle/>
            <a:p/>
          </p:txBody>
        </p:sp>
        <p:sp>
          <p:nvSpPr>
            <p:cNvPr id="47" name="object 47"/>
            <p:cNvSpPr/>
            <p:nvPr/>
          </p:nvSpPr>
          <p:spPr>
            <a:xfrm>
              <a:off x="885444" y="3745991"/>
              <a:ext cx="451484" cy="251460"/>
            </a:xfrm>
            <a:custGeom>
              <a:avLst/>
              <a:gdLst/>
              <a:ahLst/>
              <a:cxnLst/>
              <a:rect l="l" t="t" r="r" b="b"/>
              <a:pathLst>
                <a:path w="451484" h="251460">
                  <a:moveTo>
                    <a:pt x="0" y="0"/>
                  </a:moveTo>
                  <a:lnTo>
                    <a:pt x="325374" y="0"/>
                  </a:lnTo>
                  <a:lnTo>
                    <a:pt x="451103" y="125730"/>
                  </a:lnTo>
                  <a:lnTo>
                    <a:pt x="325374" y="251460"/>
                  </a:lnTo>
                  <a:lnTo>
                    <a:pt x="0" y="251460"/>
                  </a:lnTo>
                  <a:lnTo>
                    <a:pt x="0" y="0"/>
                  </a:lnTo>
                  <a:close/>
                </a:path>
              </a:pathLst>
            </a:custGeom>
            <a:ln w="3175">
              <a:solidFill>
                <a:srgbClr val="35362F"/>
              </a:solidFill>
            </a:ln>
          </p:spPr>
          <p:txBody>
            <a:bodyPr wrap="square" lIns="0" tIns="0" rIns="0" bIns="0" rtlCol="0"/>
            <a:lstStyle/>
            <a:p/>
          </p:txBody>
        </p:sp>
      </p:grpSp>
      <p:sp>
        <p:nvSpPr>
          <p:cNvPr id="48" name="object 48"/>
          <p:cNvSpPr txBox="1"/>
          <p:nvPr/>
        </p:nvSpPr>
        <p:spPr>
          <a:xfrm>
            <a:off x="875487" y="3416172"/>
            <a:ext cx="302895" cy="146685"/>
          </a:xfrm>
          <a:prstGeom prst="rect">
            <a:avLst/>
          </a:prstGeom>
        </p:spPr>
        <p:txBody>
          <a:bodyPr vert="horz" wrap="square" lIns="0" tIns="11430" rIns="0" bIns="0" rtlCol="0">
            <a:spAutoFit/>
          </a:bodyPr>
          <a:lstStyle/>
          <a:p>
            <a:pPr marL="12700">
              <a:lnSpc>
                <a:spcPct val="100000"/>
              </a:lnSpc>
              <a:spcBef>
                <a:spcPts val="90"/>
              </a:spcBef>
            </a:pPr>
            <a:r>
              <a:rPr sz="800" spc="-10" dirty="0">
                <a:solidFill>
                  <a:srgbClr val="FFFFFF"/>
                </a:solidFill>
                <a:latin typeface="Calibri" panose="020F0502020204030204"/>
                <a:cs typeface="Calibri" panose="020F0502020204030204"/>
              </a:rPr>
              <a:t>LVL-</a:t>
            </a:r>
            <a:r>
              <a:rPr sz="800" spc="-25" dirty="0">
                <a:solidFill>
                  <a:srgbClr val="FFFFFF"/>
                </a:solidFill>
                <a:latin typeface="Calibri" panose="020F0502020204030204"/>
                <a:cs typeface="Calibri" panose="020F0502020204030204"/>
              </a:rPr>
              <a:t>HL</a:t>
            </a:r>
            <a:endParaRPr sz="800">
              <a:latin typeface="Calibri" panose="020F0502020204030204"/>
              <a:cs typeface="Calibri" panose="020F0502020204030204"/>
            </a:endParaRPr>
          </a:p>
        </p:txBody>
      </p:sp>
      <p:grpSp>
        <p:nvGrpSpPr>
          <p:cNvPr id="49" name="object 49"/>
          <p:cNvGrpSpPr/>
          <p:nvPr/>
        </p:nvGrpSpPr>
        <p:grpSpPr>
          <a:xfrm>
            <a:off x="269494" y="776858"/>
            <a:ext cx="3760470" cy="3632200"/>
            <a:chOff x="322834" y="1153413"/>
            <a:chExt cx="3760470" cy="3632200"/>
          </a:xfrm>
        </p:grpSpPr>
        <p:sp>
          <p:nvSpPr>
            <p:cNvPr id="50" name="object 50"/>
            <p:cNvSpPr/>
            <p:nvPr/>
          </p:nvSpPr>
          <p:spPr>
            <a:xfrm>
              <a:off x="2590038" y="2785109"/>
              <a:ext cx="62230" cy="671830"/>
            </a:xfrm>
            <a:custGeom>
              <a:avLst/>
              <a:gdLst/>
              <a:ahLst/>
              <a:cxnLst/>
              <a:rect l="l" t="t" r="r" b="b"/>
              <a:pathLst>
                <a:path w="62230" h="671829">
                  <a:moveTo>
                    <a:pt x="61975" y="0"/>
                  </a:moveTo>
                  <a:lnTo>
                    <a:pt x="61975" y="162432"/>
                  </a:lnTo>
                  <a:lnTo>
                    <a:pt x="0" y="162432"/>
                  </a:lnTo>
                  <a:lnTo>
                    <a:pt x="0" y="671576"/>
                  </a:lnTo>
                </a:path>
              </a:pathLst>
            </a:custGeom>
            <a:ln w="28575">
              <a:solidFill>
                <a:srgbClr val="35362F"/>
              </a:solidFill>
            </a:ln>
          </p:spPr>
          <p:txBody>
            <a:bodyPr wrap="square" lIns="0" tIns="0" rIns="0" bIns="0" rtlCol="0"/>
            <a:lstStyle/>
            <a:p/>
          </p:txBody>
        </p:sp>
        <p:sp>
          <p:nvSpPr>
            <p:cNvPr id="51" name="object 51"/>
            <p:cNvSpPr/>
            <p:nvPr/>
          </p:nvSpPr>
          <p:spPr>
            <a:xfrm>
              <a:off x="858011" y="1812036"/>
              <a:ext cx="2710180" cy="2345690"/>
            </a:xfrm>
            <a:custGeom>
              <a:avLst/>
              <a:gdLst/>
              <a:ahLst/>
              <a:cxnLst/>
              <a:rect l="l" t="t" r="r" b="b"/>
              <a:pathLst>
                <a:path w="2710179" h="2345690">
                  <a:moveTo>
                    <a:pt x="0" y="2345436"/>
                  </a:moveTo>
                  <a:lnTo>
                    <a:pt x="2709672" y="2345436"/>
                  </a:lnTo>
                  <a:lnTo>
                    <a:pt x="2709672" y="0"/>
                  </a:lnTo>
                  <a:lnTo>
                    <a:pt x="0" y="0"/>
                  </a:lnTo>
                  <a:lnTo>
                    <a:pt x="0" y="2345436"/>
                  </a:lnTo>
                  <a:close/>
                </a:path>
              </a:pathLst>
            </a:custGeom>
            <a:ln w="12700">
              <a:solidFill>
                <a:srgbClr val="FF6600"/>
              </a:solidFill>
              <a:prstDash val="sysDash"/>
            </a:ln>
          </p:spPr>
          <p:txBody>
            <a:bodyPr wrap="square" lIns="0" tIns="0" rIns="0" bIns="0" rtlCol="0"/>
            <a:lstStyle/>
            <a:p/>
          </p:txBody>
        </p:sp>
        <p:sp>
          <p:nvSpPr>
            <p:cNvPr id="52" name="object 52"/>
            <p:cNvSpPr/>
            <p:nvPr/>
          </p:nvSpPr>
          <p:spPr>
            <a:xfrm>
              <a:off x="329184" y="1159763"/>
              <a:ext cx="3747770" cy="3619500"/>
            </a:xfrm>
            <a:custGeom>
              <a:avLst/>
              <a:gdLst/>
              <a:ahLst/>
              <a:cxnLst/>
              <a:rect l="l" t="t" r="r" b="b"/>
              <a:pathLst>
                <a:path w="3747770" h="3619500">
                  <a:moveTo>
                    <a:pt x="0" y="3619500"/>
                  </a:moveTo>
                  <a:lnTo>
                    <a:pt x="3747516" y="3619500"/>
                  </a:lnTo>
                  <a:lnTo>
                    <a:pt x="3747516" y="0"/>
                  </a:lnTo>
                  <a:lnTo>
                    <a:pt x="0" y="0"/>
                  </a:lnTo>
                  <a:lnTo>
                    <a:pt x="0" y="3619500"/>
                  </a:lnTo>
                  <a:close/>
                </a:path>
              </a:pathLst>
            </a:custGeom>
            <a:ln w="12700">
              <a:solidFill>
                <a:srgbClr val="6F2F9F"/>
              </a:solidFill>
              <a:prstDash val="sysDash"/>
            </a:ln>
          </p:spPr>
          <p:txBody>
            <a:bodyPr wrap="square" lIns="0" tIns="0" rIns="0" bIns="0" rtlCol="0"/>
            <a:lstStyle/>
            <a:p/>
          </p:txBody>
        </p:sp>
      </p:grpSp>
      <p:sp>
        <p:nvSpPr>
          <p:cNvPr id="53" name="object 53"/>
          <p:cNvSpPr txBox="1"/>
          <p:nvPr/>
        </p:nvSpPr>
        <p:spPr>
          <a:xfrm>
            <a:off x="282346" y="556895"/>
            <a:ext cx="337185" cy="254000"/>
          </a:xfrm>
          <a:prstGeom prst="rect">
            <a:avLst/>
          </a:prstGeom>
        </p:spPr>
        <p:txBody>
          <a:bodyPr vert="horz" wrap="square" lIns="0" tIns="12700" rIns="0" bIns="0" rtlCol="0">
            <a:spAutoFit/>
          </a:bodyPr>
          <a:lstStyle/>
          <a:p>
            <a:pPr marL="12700">
              <a:lnSpc>
                <a:spcPct val="100000"/>
              </a:lnSpc>
              <a:spcBef>
                <a:spcPts val="100"/>
              </a:spcBef>
            </a:pPr>
            <a:r>
              <a:rPr sz="1500" i="1" spc="-25" dirty="0">
                <a:solidFill>
                  <a:srgbClr val="6F2F9F"/>
                </a:solidFill>
                <a:latin typeface="Calibri" panose="020F0502020204030204"/>
                <a:cs typeface="Calibri" panose="020F0502020204030204"/>
              </a:rPr>
              <a:t>TOP</a:t>
            </a:r>
            <a:endParaRPr sz="1500">
              <a:latin typeface="Calibri" panose="020F0502020204030204"/>
              <a:cs typeface="Calibri" panose="020F0502020204030204"/>
            </a:endParaRPr>
          </a:p>
        </p:txBody>
      </p:sp>
      <p:sp>
        <p:nvSpPr>
          <p:cNvPr id="54" name="object 54"/>
          <p:cNvSpPr txBox="1"/>
          <p:nvPr/>
        </p:nvSpPr>
        <p:spPr>
          <a:xfrm>
            <a:off x="1540256" y="870839"/>
            <a:ext cx="307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35362F"/>
                </a:solidFill>
                <a:latin typeface="Calibri" panose="020F0502020204030204"/>
                <a:cs typeface="Calibri" panose="020F0502020204030204"/>
              </a:rPr>
              <a:t>VDD</a:t>
            </a:r>
            <a:endParaRPr sz="1200">
              <a:latin typeface="Calibri" panose="020F0502020204030204"/>
              <a:cs typeface="Calibri" panose="020F0502020204030204"/>
            </a:endParaRPr>
          </a:p>
        </p:txBody>
      </p:sp>
      <p:grpSp>
        <p:nvGrpSpPr>
          <p:cNvPr id="55" name="object 55"/>
          <p:cNvGrpSpPr/>
          <p:nvPr/>
        </p:nvGrpSpPr>
        <p:grpSpPr>
          <a:xfrm>
            <a:off x="1363789" y="749490"/>
            <a:ext cx="123825" cy="123825"/>
            <a:chOff x="1417129" y="1126045"/>
            <a:chExt cx="123825" cy="123825"/>
          </a:xfrm>
        </p:grpSpPr>
        <p:pic>
          <p:nvPicPr>
            <p:cNvPr id="56" name="object 56"/>
            <p:cNvPicPr/>
            <p:nvPr/>
          </p:nvPicPr>
          <p:blipFill>
            <a:blip r:embed="rId7" cstate="print"/>
            <a:stretch>
              <a:fillRect/>
            </a:stretch>
          </p:blipFill>
          <p:spPr>
            <a:xfrm>
              <a:off x="1421891" y="1130808"/>
              <a:ext cx="114300" cy="114300"/>
            </a:xfrm>
            <a:prstGeom prst="rect">
              <a:avLst/>
            </a:prstGeom>
          </p:spPr>
        </p:pic>
        <p:sp>
          <p:nvSpPr>
            <p:cNvPr id="57" name="object 57"/>
            <p:cNvSpPr/>
            <p:nvPr/>
          </p:nvSpPr>
          <p:spPr>
            <a:xfrm>
              <a:off x="1421891" y="1130808"/>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5362F"/>
              </a:solidFill>
            </a:ln>
          </p:spPr>
          <p:txBody>
            <a:bodyPr wrap="square" lIns="0" tIns="0" rIns="0" bIns="0" rtlCol="0"/>
            <a:lstStyle/>
            <a:p/>
          </p:txBody>
        </p:sp>
      </p:grpSp>
      <p:sp>
        <p:nvSpPr>
          <p:cNvPr id="58" name="object 58"/>
          <p:cNvSpPr txBox="1"/>
          <p:nvPr/>
        </p:nvSpPr>
        <p:spPr>
          <a:xfrm>
            <a:off x="2611437" y="874395"/>
            <a:ext cx="728980" cy="208279"/>
          </a:xfrm>
          <a:prstGeom prst="rect">
            <a:avLst/>
          </a:prstGeom>
        </p:spPr>
        <p:txBody>
          <a:bodyPr vert="horz" wrap="square" lIns="0" tIns="12700" rIns="0" bIns="0" rtlCol="0">
            <a:spAutoFit/>
          </a:bodyPr>
          <a:lstStyle/>
          <a:p>
            <a:pPr marL="90170">
              <a:lnSpc>
                <a:spcPct val="100000"/>
              </a:lnSpc>
              <a:spcBef>
                <a:spcPts val="100"/>
              </a:spcBef>
            </a:pPr>
            <a:r>
              <a:rPr sz="1200" b="1" spc="-20" dirty="0">
                <a:solidFill>
                  <a:srgbClr val="35362F"/>
                </a:solidFill>
                <a:latin typeface="Calibri" panose="020F0502020204030204"/>
                <a:cs typeface="Calibri" panose="020F0502020204030204"/>
              </a:rPr>
              <a:t>VDDL</a:t>
            </a:r>
            <a:endParaRPr sz="1200">
              <a:latin typeface="Calibri" panose="020F0502020204030204"/>
              <a:cs typeface="Calibri" panose="020F0502020204030204"/>
            </a:endParaRPr>
          </a:p>
        </p:txBody>
      </p:sp>
      <p:grpSp>
        <p:nvGrpSpPr>
          <p:cNvPr id="59" name="object 59"/>
          <p:cNvGrpSpPr/>
          <p:nvPr/>
        </p:nvGrpSpPr>
        <p:grpSpPr>
          <a:xfrm>
            <a:off x="2518981" y="752538"/>
            <a:ext cx="123825" cy="123825"/>
            <a:chOff x="2572321" y="1129093"/>
            <a:chExt cx="123825" cy="123825"/>
          </a:xfrm>
        </p:grpSpPr>
        <p:pic>
          <p:nvPicPr>
            <p:cNvPr id="60" name="object 60"/>
            <p:cNvPicPr/>
            <p:nvPr/>
          </p:nvPicPr>
          <p:blipFill>
            <a:blip r:embed="rId8" cstate="print"/>
            <a:stretch>
              <a:fillRect/>
            </a:stretch>
          </p:blipFill>
          <p:spPr>
            <a:xfrm>
              <a:off x="2577083" y="1133855"/>
              <a:ext cx="114300" cy="114300"/>
            </a:xfrm>
            <a:prstGeom prst="rect">
              <a:avLst/>
            </a:prstGeom>
          </p:spPr>
        </p:pic>
        <p:sp>
          <p:nvSpPr>
            <p:cNvPr id="61" name="object 61"/>
            <p:cNvSpPr/>
            <p:nvPr/>
          </p:nvSpPr>
          <p:spPr>
            <a:xfrm>
              <a:off x="2577083" y="1133855"/>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5362F"/>
              </a:solidFill>
            </a:ln>
          </p:spPr>
          <p:txBody>
            <a:bodyPr wrap="square" lIns="0" tIns="0" rIns="0" bIns="0" rtlCol="0"/>
            <a:lstStyle/>
            <a:p/>
          </p:txBody>
        </p:sp>
      </p:grpSp>
      <p:sp>
        <p:nvSpPr>
          <p:cNvPr id="62" name="object 62"/>
          <p:cNvSpPr txBox="1"/>
          <p:nvPr/>
        </p:nvSpPr>
        <p:spPr>
          <a:xfrm>
            <a:off x="3384105" y="790295"/>
            <a:ext cx="610235" cy="648335"/>
          </a:xfrm>
          <a:prstGeom prst="rect">
            <a:avLst/>
          </a:prstGeom>
        </p:spPr>
        <p:txBody>
          <a:bodyPr vert="horz" wrap="square" lIns="0" tIns="106680" rIns="0" bIns="0" rtlCol="0">
            <a:spAutoFit/>
          </a:bodyPr>
          <a:lstStyle/>
          <a:p>
            <a:pPr marL="63500">
              <a:lnSpc>
                <a:spcPct val="100000"/>
              </a:lnSpc>
              <a:spcBef>
                <a:spcPts val="840"/>
              </a:spcBef>
            </a:pPr>
            <a:r>
              <a:rPr sz="1200" b="1" spc="-25" dirty="0">
                <a:solidFill>
                  <a:srgbClr val="35362F"/>
                </a:solidFill>
                <a:latin typeface="Calibri" panose="020F0502020204030204"/>
                <a:cs typeface="Calibri" panose="020F0502020204030204"/>
              </a:rPr>
              <a:t>VSS</a:t>
            </a:r>
            <a:endParaRPr sz="1200">
              <a:latin typeface="Calibri" panose="020F0502020204030204"/>
              <a:cs typeface="Calibri" panose="020F0502020204030204"/>
            </a:endParaRPr>
          </a:p>
          <a:p>
            <a:pPr marL="40005">
              <a:lnSpc>
                <a:spcPct val="100000"/>
              </a:lnSpc>
              <a:spcBef>
                <a:spcPts val="920"/>
              </a:spcBef>
            </a:pPr>
            <a:r>
              <a:rPr sz="1500" i="1" spc="-25" dirty="0">
                <a:solidFill>
                  <a:srgbClr val="FF6600"/>
                </a:solidFill>
                <a:latin typeface="Calibri" panose="020F0502020204030204"/>
                <a:cs typeface="Calibri" panose="020F0502020204030204"/>
              </a:rPr>
              <a:t>pd1</a:t>
            </a:r>
            <a:endParaRPr sz="1500">
              <a:latin typeface="Calibri" panose="020F0502020204030204"/>
              <a:cs typeface="Calibri" panose="020F0502020204030204"/>
            </a:endParaRPr>
          </a:p>
        </p:txBody>
      </p:sp>
      <p:grpSp>
        <p:nvGrpSpPr>
          <p:cNvPr id="63" name="object 63"/>
          <p:cNvGrpSpPr/>
          <p:nvPr/>
        </p:nvGrpSpPr>
        <p:grpSpPr>
          <a:xfrm>
            <a:off x="1412938" y="764730"/>
            <a:ext cx="2013585" cy="1658620"/>
            <a:chOff x="1466278" y="1141285"/>
            <a:chExt cx="2013585" cy="1658620"/>
          </a:xfrm>
        </p:grpSpPr>
        <p:pic>
          <p:nvPicPr>
            <p:cNvPr id="64" name="object 64"/>
            <p:cNvPicPr/>
            <p:nvPr/>
          </p:nvPicPr>
          <p:blipFill>
            <a:blip r:embed="rId9" cstate="print"/>
            <a:stretch>
              <a:fillRect/>
            </a:stretch>
          </p:blipFill>
          <p:spPr>
            <a:xfrm>
              <a:off x="3360420" y="1146047"/>
              <a:ext cx="114300" cy="114300"/>
            </a:xfrm>
            <a:prstGeom prst="rect">
              <a:avLst/>
            </a:prstGeom>
          </p:spPr>
        </p:pic>
        <p:sp>
          <p:nvSpPr>
            <p:cNvPr id="65" name="object 65"/>
            <p:cNvSpPr/>
            <p:nvPr/>
          </p:nvSpPr>
          <p:spPr>
            <a:xfrm>
              <a:off x="3360420" y="1146047"/>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5362F"/>
              </a:solidFill>
            </a:ln>
          </p:spPr>
          <p:txBody>
            <a:bodyPr wrap="square" lIns="0" tIns="0" rIns="0" bIns="0" rtlCol="0"/>
            <a:lstStyle/>
            <a:p/>
          </p:txBody>
        </p:sp>
        <p:sp>
          <p:nvSpPr>
            <p:cNvPr id="66" name="object 66"/>
            <p:cNvSpPr/>
            <p:nvPr/>
          </p:nvSpPr>
          <p:spPr>
            <a:xfrm>
              <a:off x="1480566" y="1427225"/>
              <a:ext cx="1172210" cy="1358265"/>
            </a:xfrm>
            <a:custGeom>
              <a:avLst/>
              <a:gdLst/>
              <a:ahLst/>
              <a:cxnLst/>
              <a:rect l="l" t="t" r="r" b="b"/>
              <a:pathLst>
                <a:path w="1172210" h="1358264">
                  <a:moveTo>
                    <a:pt x="0" y="0"/>
                  </a:moveTo>
                  <a:lnTo>
                    <a:pt x="0" y="298703"/>
                  </a:lnTo>
                </a:path>
                <a:path w="1172210" h="1358264">
                  <a:moveTo>
                    <a:pt x="1164336" y="7620"/>
                  </a:moveTo>
                  <a:lnTo>
                    <a:pt x="1164336" y="306324"/>
                  </a:lnTo>
                </a:path>
                <a:path w="1172210" h="1358264">
                  <a:moveTo>
                    <a:pt x="1159764" y="960119"/>
                  </a:moveTo>
                  <a:lnTo>
                    <a:pt x="1171956" y="1357884"/>
                  </a:lnTo>
                </a:path>
              </a:pathLst>
            </a:custGeom>
            <a:ln w="28575">
              <a:solidFill>
                <a:srgbClr val="35362F"/>
              </a:solidFill>
            </a:ln>
          </p:spPr>
          <p:txBody>
            <a:bodyPr wrap="square" lIns="0" tIns="0" rIns="0" bIns="0" rtlCol="0"/>
            <a:lstStyle/>
            <a:p/>
          </p:txBody>
        </p:sp>
        <p:sp>
          <p:nvSpPr>
            <p:cNvPr id="67" name="object 67"/>
            <p:cNvSpPr/>
            <p:nvPr/>
          </p:nvSpPr>
          <p:spPr>
            <a:xfrm>
              <a:off x="2641854" y="1425701"/>
              <a:ext cx="775970" cy="528955"/>
            </a:xfrm>
            <a:custGeom>
              <a:avLst/>
              <a:gdLst/>
              <a:ahLst/>
              <a:cxnLst/>
              <a:rect l="l" t="t" r="r" b="b"/>
              <a:pathLst>
                <a:path w="775970" h="528955">
                  <a:moveTo>
                    <a:pt x="4825" y="0"/>
                  </a:moveTo>
                  <a:lnTo>
                    <a:pt x="0" y="528574"/>
                  </a:lnTo>
                </a:path>
                <a:path w="775970" h="528955">
                  <a:moveTo>
                    <a:pt x="775969" y="0"/>
                  </a:moveTo>
                  <a:lnTo>
                    <a:pt x="771144" y="528574"/>
                  </a:lnTo>
                </a:path>
              </a:pathLst>
            </a:custGeom>
            <a:ln w="28575">
              <a:solidFill>
                <a:srgbClr val="35362F"/>
              </a:solidFill>
            </a:ln>
          </p:spPr>
          <p:txBody>
            <a:bodyPr wrap="square" lIns="0" tIns="0" rIns="0" bIns="0" rtlCol="0"/>
            <a:lstStyle/>
            <a:p/>
          </p:txBody>
        </p:sp>
        <p:sp>
          <p:nvSpPr>
            <p:cNvPr id="68" name="object 68"/>
            <p:cNvSpPr/>
            <p:nvPr/>
          </p:nvSpPr>
          <p:spPr>
            <a:xfrm>
              <a:off x="3416045" y="1434845"/>
              <a:ext cx="0" cy="299085"/>
            </a:xfrm>
            <a:custGeom>
              <a:avLst/>
              <a:gdLst/>
              <a:ahLst/>
              <a:cxnLst/>
              <a:rect l="l" t="t" r="r" b="b"/>
              <a:pathLst>
                <a:path h="299085">
                  <a:moveTo>
                    <a:pt x="0" y="0"/>
                  </a:moveTo>
                  <a:lnTo>
                    <a:pt x="0" y="298703"/>
                  </a:lnTo>
                </a:path>
              </a:pathLst>
            </a:custGeom>
            <a:ln w="28575">
              <a:solidFill>
                <a:srgbClr val="35362F"/>
              </a:solidFill>
            </a:ln>
          </p:spPr>
          <p:txBody>
            <a:bodyPr wrap="square" lIns="0" tIns="0" rIns="0" bIns="0" rtlCol="0"/>
            <a:lstStyle/>
            <a:p/>
          </p:txBody>
        </p:sp>
      </p:grpSp>
      <p:sp>
        <p:nvSpPr>
          <p:cNvPr id="69" name="object 69"/>
          <p:cNvSpPr txBox="1"/>
          <p:nvPr/>
        </p:nvSpPr>
        <p:spPr>
          <a:xfrm>
            <a:off x="2676270" y="2123821"/>
            <a:ext cx="521334" cy="208279"/>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35362F"/>
                </a:solidFill>
                <a:latin typeface="Calibri" panose="020F0502020204030204"/>
                <a:cs typeface="Calibri" panose="020F0502020204030204"/>
              </a:rPr>
              <a:t>VDDLS1</a:t>
            </a:r>
            <a:endParaRPr sz="1200">
              <a:latin typeface="Calibri" panose="020F0502020204030204"/>
              <a:cs typeface="Calibri" panose="020F0502020204030204"/>
            </a:endParaRPr>
          </a:p>
        </p:txBody>
      </p:sp>
      <p:sp>
        <p:nvSpPr>
          <p:cNvPr id="70" name="object 70"/>
          <p:cNvSpPr txBox="1"/>
          <p:nvPr/>
        </p:nvSpPr>
        <p:spPr>
          <a:xfrm>
            <a:off x="2604896" y="1450797"/>
            <a:ext cx="575945" cy="544830"/>
          </a:xfrm>
          <a:prstGeom prst="rect">
            <a:avLst/>
          </a:prstGeom>
        </p:spPr>
        <p:txBody>
          <a:bodyPr vert="horz" wrap="square" lIns="0" tIns="24765" rIns="0" bIns="0" rtlCol="0">
            <a:spAutoFit/>
          </a:bodyPr>
          <a:lstStyle/>
          <a:p>
            <a:pPr marL="12700" marR="100330">
              <a:lnSpc>
                <a:spcPct val="90000"/>
              </a:lnSpc>
              <a:spcBef>
                <a:spcPts val="195"/>
              </a:spcBef>
            </a:pPr>
            <a:r>
              <a:rPr sz="750" b="1" i="1" dirty="0">
                <a:solidFill>
                  <a:srgbClr val="35362F"/>
                </a:solidFill>
                <a:latin typeface="Calibri" panose="020F0502020204030204"/>
                <a:cs typeface="Calibri" panose="020F0502020204030204"/>
              </a:rPr>
              <a:t>Supply</a:t>
            </a:r>
            <a:r>
              <a:rPr sz="750" b="1" i="1" spc="-15" dirty="0">
                <a:solidFill>
                  <a:srgbClr val="35362F"/>
                </a:solidFill>
                <a:latin typeface="Calibri" panose="020F0502020204030204"/>
                <a:cs typeface="Calibri" panose="020F0502020204030204"/>
              </a:rPr>
              <a:t> </a:t>
            </a:r>
            <a:r>
              <a:rPr sz="750" b="1" i="1" spc="-20" dirty="0">
                <a:solidFill>
                  <a:srgbClr val="35362F"/>
                </a:solidFill>
                <a:latin typeface="Calibri" panose="020F0502020204030204"/>
                <a:cs typeface="Calibri" panose="020F0502020204030204"/>
              </a:rPr>
              <a:t>port</a:t>
            </a:r>
            <a:r>
              <a:rPr sz="750" b="1" i="1" spc="500" dirty="0">
                <a:solidFill>
                  <a:srgbClr val="35362F"/>
                </a:solidFill>
                <a:latin typeface="Calibri" panose="020F0502020204030204"/>
                <a:cs typeface="Calibri" panose="020F0502020204030204"/>
              </a:rPr>
              <a:t> </a:t>
            </a:r>
            <a:r>
              <a:rPr sz="750" b="1" i="1" spc="-10" dirty="0">
                <a:solidFill>
                  <a:srgbClr val="35362F"/>
                </a:solidFill>
                <a:latin typeface="Calibri" panose="020F0502020204030204"/>
                <a:cs typeface="Calibri" panose="020F0502020204030204"/>
              </a:rPr>
              <a:t>implicitly</a:t>
            </a:r>
            <a:r>
              <a:rPr sz="750" b="1" i="1" spc="500" dirty="0">
                <a:solidFill>
                  <a:srgbClr val="35362F"/>
                </a:solidFill>
                <a:latin typeface="Calibri" panose="020F0502020204030204"/>
                <a:cs typeface="Calibri" panose="020F0502020204030204"/>
              </a:rPr>
              <a:t> </a:t>
            </a:r>
            <a:r>
              <a:rPr sz="750" b="1" i="1" spc="-10" dirty="0">
                <a:solidFill>
                  <a:srgbClr val="35362F"/>
                </a:solidFill>
                <a:latin typeface="Calibri" panose="020F0502020204030204"/>
                <a:cs typeface="Calibri" panose="020F0502020204030204"/>
              </a:rPr>
              <a:t>generated</a:t>
            </a:r>
            <a:endParaRPr sz="750">
              <a:latin typeface="Calibri" panose="020F0502020204030204"/>
              <a:cs typeface="Calibri" panose="020F0502020204030204"/>
            </a:endParaRPr>
          </a:p>
          <a:p>
            <a:pPr marL="123825">
              <a:lnSpc>
                <a:spcPct val="100000"/>
              </a:lnSpc>
              <a:spcBef>
                <a:spcPts val="115"/>
              </a:spcBef>
            </a:pPr>
            <a:r>
              <a:rPr sz="1200" spc="-10" dirty="0">
                <a:solidFill>
                  <a:srgbClr val="35362F"/>
                </a:solidFill>
                <a:latin typeface="Calibri" panose="020F0502020204030204"/>
                <a:cs typeface="Calibri" panose="020F0502020204030204"/>
              </a:rPr>
              <a:t>pd1_sx</a:t>
            </a:r>
            <a:endParaRPr sz="1200">
              <a:latin typeface="Calibri" panose="020F0502020204030204"/>
              <a:cs typeface="Calibri" panose="020F0502020204030204"/>
            </a:endParaRPr>
          </a:p>
        </p:txBody>
      </p:sp>
      <p:grpSp>
        <p:nvGrpSpPr>
          <p:cNvPr id="71" name="object 71"/>
          <p:cNvGrpSpPr/>
          <p:nvPr/>
        </p:nvGrpSpPr>
        <p:grpSpPr>
          <a:xfrm>
            <a:off x="1403794" y="795591"/>
            <a:ext cx="2517775" cy="2827020"/>
            <a:chOff x="1457134" y="1172146"/>
            <a:chExt cx="2517775" cy="2827020"/>
          </a:xfrm>
        </p:grpSpPr>
        <p:sp>
          <p:nvSpPr>
            <p:cNvPr id="72" name="object 72"/>
            <p:cNvSpPr/>
            <p:nvPr/>
          </p:nvSpPr>
          <p:spPr>
            <a:xfrm>
              <a:off x="1471422" y="1186433"/>
              <a:ext cx="1943100" cy="262255"/>
            </a:xfrm>
            <a:custGeom>
              <a:avLst/>
              <a:gdLst/>
              <a:ahLst/>
              <a:cxnLst/>
              <a:rect l="l" t="t" r="r" b="b"/>
              <a:pathLst>
                <a:path w="1943100" h="262255">
                  <a:moveTo>
                    <a:pt x="0" y="0"/>
                  </a:moveTo>
                  <a:lnTo>
                    <a:pt x="12191" y="234695"/>
                  </a:lnTo>
                </a:path>
                <a:path w="1943100" h="262255">
                  <a:moveTo>
                    <a:pt x="1162811" y="4571"/>
                  </a:moveTo>
                  <a:lnTo>
                    <a:pt x="1175004" y="239267"/>
                  </a:lnTo>
                </a:path>
                <a:path w="1943100" h="262255">
                  <a:moveTo>
                    <a:pt x="1930907" y="27431"/>
                  </a:moveTo>
                  <a:lnTo>
                    <a:pt x="1943100" y="262127"/>
                  </a:lnTo>
                </a:path>
              </a:pathLst>
            </a:custGeom>
            <a:ln w="28575">
              <a:solidFill>
                <a:srgbClr val="35362F"/>
              </a:solidFill>
            </a:ln>
          </p:spPr>
          <p:txBody>
            <a:bodyPr wrap="square" lIns="0" tIns="0" rIns="0" bIns="0" rtlCol="0"/>
            <a:lstStyle/>
            <a:p/>
          </p:txBody>
        </p:sp>
        <p:sp>
          <p:nvSpPr>
            <p:cNvPr id="73" name="object 73"/>
            <p:cNvSpPr/>
            <p:nvPr/>
          </p:nvSpPr>
          <p:spPr>
            <a:xfrm>
              <a:off x="3520439" y="3745991"/>
              <a:ext cx="452755" cy="251460"/>
            </a:xfrm>
            <a:custGeom>
              <a:avLst/>
              <a:gdLst/>
              <a:ahLst/>
              <a:cxnLst/>
              <a:rect l="l" t="t" r="r" b="b"/>
              <a:pathLst>
                <a:path w="452754" h="251460">
                  <a:moveTo>
                    <a:pt x="326898" y="0"/>
                  </a:moveTo>
                  <a:lnTo>
                    <a:pt x="0" y="0"/>
                  </a:lnTo>
                  <a:lnTo>
                    <a:pt x="0" y="251460"/>
                  </a:lnTo>
                  <a:lnTo>
                    <a:pt x="326898" y="251460"/>
                  </a:lnTo>
                  <a:lnTo>
                    <a:pt x="452627" y="125730"/>
                  </a:lnTo>
                  <a:lnTo>
                    <a:pt x="326898" y="0"/>
                  </a:lnTo>
                  <a:close/>
                </a:path>
              </a:pathLst>
            </a:custGeom>
            <a:solidFill>
              <a:srgbClr val="006FC0"/>
            </a:solidFill>
          </p:spPr>
          <p:txBody>
            <a:bodyPr wrap="square" lIns="0" tIns="0" rIns="0" bIns="0" rtlCol="0"/>
            <a:lstStyle/>
            <a:p/>
          </p:txBody>
        </p:sp>
        <p:sp>
          <p:nvSpPr>
            <p:cNvPr id="74" name="object 74"/>
            <p:cNvSpPr/>
            <p:nvPr/>
          </p:nvSpPr>
          <p:spPr>
            <a:xfrm>
              <a:off x="3520439" y="3745991"/>
              <a:ext cx="452755" cy="251460"/>
            </a:xfrm>
            <a:custGeom>
              <a:avLst/>
              <a:gdLst/>
              <a:ahLst/>
              <a:cxnLst/>
              <a:rect l="l" t="t" r="r" b="b"/>
              <a:pathLst>
                <a:path w="452754" h="251460">
                  <a:moveTo>
                    <a:pt x="0" y="0"/>
                  </a:moveTo>
                  <a:lnTo>
                    <a:pt x="326898" y="0"/>
                  </a:lnTo>
                  <a:lnTo>
                    <a:pt x="452627" y="125730"/>
                  </a:lnTo>
                  <a:lnTo>
                    <a:pt x="326898" y="251460"/>
                  </a:lnTo>
                  <a:lnTo>
                    <a:pt x="0" y="251460"/>
                  </a:lnTo>
                  <a:lnTo>
                    <a:pt x="0" y="0"/>
                  </a:lnTo>
                  <a:close/>
                </a:path>
              </a:pathLst>
            </a:custGeom>
            <a:ln w="3175">
              <a:solidFill>
                <a:srgbClr val="35362F"/>
              </a:solidFill>
            </a:ln>
          </p:spPr>
          <p:txBody>
            <a:bodyPr wrap="square" lIns="0" tIns="0" rIns="0" bIns="0" rtlCol="0"/>
            <a:lstStyle/>
            <a:p/>
          </p:txBody>
        </p:sp>
      </p:grpSp>
      <p:sp>
        <p:nvSpPr>
          <p:cNvPr id="76" name="object 76"/>
          <p:cNvSpPr txBox="1"/>
          <p:nvPr/>
        </p:nvSpPr>
        <p:spPr>
          <a:xfrm>
            <a:off x="4309363" y="933526"/>
            <a:ext cx="4626610" cy="2886710"/>
          </a:xfrm>
          <a:prstGeom prst="rect">
            <a:avLst/>
          </a:prstGeom>
        </p:spPr>
        <p:txBody>
          <a:bodyPr vert="horz" wrap="square" lIns="0" tIns="12700" rIns="0" bIns="0" rtlCol="0">
            <a:spAutoFit/>
          </a:bodyPr>
          <a:lstStyle/>
          <a:p>
            <a:pPr marL="299085" indent="-286385">
              <a:lnSpc>
                <a:spcPct val="100000"/>
              </a:lnSpc>
              <a:spcBef>
                <a:spcPts val="100"/>
              </a:spcBef>
              <a:buFont typeface="Wingdings" panose="05000000000000000000"/>
              <a:buChar char=""/>
              <a:tabLst>
                <a:tab pos="299085" algn="l"/>
              </a:tabLst>
            </a:pPr>
            <a:r>
              <a:rPr sz="1800" b="1" dirty="0">
                <a:solidFill>
                  <a:srgbClr val="35362F"/>
                </a:solidFill>
                <a:latin typeface="Calibri" panose="020F0502020204030204"/>
                <a:cs typeface="Calibri" panose="020F0502020204030204"/>
              </a:rPr>
              <a:t>Two</a:t>
            </a:r>
            <a:r>
              <a:rPr sz="1800" b="1" spc="-45" dirty="0">
                <a:solidFill>
                  <a:srgbClr val="35362F"/>
                </a:solidFill>
                <a:latin typeface="Calibri" panose="020F0502020204030204"/>
                <a:cs typeface="Calibri" panose="020F0502020204030204"/>
              </a:rPr>
              <a:t> </a:t>
            </a:r>
            <a:r>
              <a:rPr sz="1800" b="1" dirty="0">
                <a:solidFill>
                  <a:srgbClr val="35362F"/>
                </a:solidFill>
                <a:latin typeface="Calibri" panose="020F0502020204030204"/>
                <a:cs typeface="Calibri" panose="020F0502020204030204"/>
              </a:rPr>
              <a:t>power</a:t>
            </a:r>
            <a:r>
              <a:rPr sz="1800" b="1" spc="-55" dirty="0">
                <a:solidFill>
                  <a:srgbClr val="35362F"/>
                </a:solidFill>
                <a:latin typeface="Calibri" panose="020F0502020204030204"/>
                <a:cs typeface="Calibri" panose="020F0502020204030204"/>
              </a:rPr>
              <a:t> </a:t>
            </a:r>
            <a:r>
              <a:rPr sz="1800" b="1" dirty="0">
                <a:solidFill>
                  <a:srgbClr val="35362F"/>
                </a:solidFill>
                <a:latin typeface="Calibri" panose="020F0502020204030204"/>
                <a:cs typeface="Calibri" panose="020F0502020204030204"/>
              </a:rPr>
              <a:t>domains</a:t>
            </a:r>
            <a:r>
              <a:rPr sz="1800" b="1" spc="-50" dirty="0">
                <a:solidFill>
                  <a:srgbClr val="35362F"/>
                </a:solidFill>
                <a:latin typeface="Calibri" panose="020F0502020204030204"/>
                <a:cs typeface="Calibri" panose="020F0502020204030204"/>
              </a:rPr>
              <a:t> </a:t>
            </a:r>
            <a:r>
              <a:rPr sz="1800" b="1" dirty="0">
                <a:solidFill>
                  <a:srgbClr val="35362F"/>
                </a:solidFill>
                <a:latin typeface="Calibri" panose="020F0502020204030204"/>
                <a:cs typeface="Calibri" panose="020F0502020204030204"/>
              </a:rPr>
              <a:t>in</a:t>
            </a:r>
            <a:r>
              <a:rPr sz="1800" b="1" spc="-30" dirty="0">
                <a:solidFill>
                  <a:srgbClr val="35362F"/>
                </a:solidFill>
                <a:latin typeface="Calibri" panose="020F0502020204030204"/>
                <a:cs typeface="Calibri" panose="020F0502020204030204"/>
              </a:rPr>
              <a:t> </a:t>
            </a:r>
            <a:r>
              <a:rPr sz="1800" b="1" dirty="0">
                <a:solidFill>
                  <a:srgbClr val="35362F"/>
                </a:solidFill>
                <a:latin typeface="Calibri" panose="020F0502020204030204"/>
                <a:cs typeface="Calibri" panose="020F0502020204030204"/>
              </a:rPr>
              <a:t>the</a:t>
            </a:r>
            <a:r>
              <a:rPr sz="1800" b="1" spc="-25" dirty="0">
                <a:solidFill>
                  <a:srgbClr val="35362F"/>
                </a:solidFill>
                <a:latin typeface="Calibri" panose="020F0502020204030204"/>
                <a:cs typeface="Calibri" panose="020F0502020204030204"/>
              </a:rPr>
              <a:t> </a:t>
            </a:r>
            <a:r>
              <a:rPr sz="1800" b="1" spc="-10" dirty="0">
                <a:solidFill>
                  <a:srgbClr val="35362F"/>
                </a:solidFill>
                <a:latin typeface="Calibri" panose="020F0502020204030204"/>
                <a:cs typeface="Calibri" panose="020F0502020204030204"/>
              </a:rPr>
              <a:t>design</a:t>
            </a:r>
            <a:endParaRPr sz="1800">
              <a:latin typeface="Calibri" panose="020F0502020204030204"/>
              <a:cs typeface="Calibri" panose="020F0502020204030204"/>
            </a:endParaRPr>
          </a:p>
          <a:p>
            <a:pPr marL="457835" lvl="1" indent="-178435">
              <a:lnSpc>
                <a:spcPct val="100000"/>
              </a:lnSpc>
              <a:spcBef>
                <a:spcPts val="20"/>
              </a:spcBef>
              <a:buFont typeface="Arial" panose="020B0604020202020204"/>
              <a:buChar char="•"/>
              <a:tabLst>
                <a:tab pos="457200" algn="l"/>
              </a:tabLst>
            </a:pPr>
            <a:r>
              <a:rPr sz="1650" dirty="0">
                <a:solidFill>
                  <a:srgbClr val="35362F"/>
                </a:solidFill>
                <a:latin typeface="Calibri" panose="020F0502020204030204"/>
                <a:cs typeface="Calibri" panose="020F0502020204030204"/>
              </a:rPr>
              <a:t>TOP:</a:t>
            </a:r>
            <a:r>
              <a:rPr sz="1650" spc="-80" dirty="0">
                <a:solidFill>
                  <a:srgbClr val="35362F"/>
                </a:solidFill>
                <a:latin typeface="Calibri" panose="020F0502020204030204"/>
                <a:cs typeface="Calibri" panose="020F0502020204030204"/>
              </a:rPr>
              <a:t> </a:t>
            </a:r>
            <a:r>
              <a:rPr sz="1650" spc="-10" dirty="0">
                <a:solidFill>
                  <a:srgbClr val="35362F"/>
                </a:solidFill>
                <a:latin typeface="Calibri" panose="020F0502020204030204"/>
                <a:cs typeface="Calibri" panose="020F0502020204030204"/>
              </a:rPr>
              <a:t>dhm_top</a:t>
            </a:r>
            <a:endParaRPr sz="1650">
              <a:latin typeface="Calibri" panose="020F0502020204030204"/>
              <a:cs typeface="Calibri" panose="020F0502020204030204"/>
            </a:endParaRPr>
          </a:p>
          <a:p>
            <a:pPr marL="457835" lvl="1" indent="-178435">
              <a:lnSpc>
                <a:spcPts val="1970"/>
              </a:lnSpc>
              <a:buFont typeface="Arial" panose="020B0604020202020204"/>
              <a:buChar char="•"/>
              <a:tabLst>
                <a:tab pos="457200" algn="l"/>
              </a:tabLst>
            </a:pPr>
            <a:r>
              <a:rPr sz="1650" dirty="0">
                <a:solidFill>
                  <a:srgbClr val="35362F"/>
                </a:solidFill>
                <a:latin typeface="Calibri" panose="020F0502020204030204"/>
                <a:cs typeface="Calibri" panose="020F0502020204030204"/>
              </a:rPr>
              <a:t>pd1:</a:t>
            </a:r>
            <a:r>
              <a:rPr sz="1650" spc="-35" dirty="0">
                <a:solidFill>
                  <a:srgbClr val="35362F"/>
                </a:solidFill>
                <a:latin typeface="Calibri" panose="020F0502020204030204"/>
                <a:cs typeface="Calibri" panose="020F0502020204030204"/>
              </a:rPr>
              <a:t> </a:t>
            </a:r>
            <a:r>
              <a:rPr sz="1650" spc="-10" dirty="0">
                <a:solidFill>
                  <a:srgbClr val="35362F"/>
                </a:solidFill>
                <a:latin typeface="Calibri" panose="020F0502020204030204"/>
                <a:cs typeface="Calibri" panose="020F0502020204030204"/>
              </a:rPr>
              <a:t>u_dhm_core</a:t>
            </a:r>
            <a:endParaRPr sz="1650">
              <a:latin typeface="Calibri" panose="020F0502020204030204"/>
              <a:cs typeface="Calibri" panose="020F0502020204030204"/>
            </a:endParaRPr>
          </a:p>
          <a:p>
            <a:pPr marL="298450" indent="-285750">
              <a:lnSpc>
                <a:spcPts val="2150"/>
              </a:lnSpc>
              <a:buFont typeface="Wingdings" panose="05000000000000000000"/>
              <a:buChar char=""/>
              <a:tabLst>
                <a:tab pos="298450" algn="l"/>
              </a:tabLst>
            </a:pPr>
            <a:r>
              <a:rPr sz="1800" b="1" dirty="0">
                <a:solidFill>
                  <a:srgbClr val="35362F"/>
                </a:solidFill>
                <a:latin typeface="Calibri" panose="020F0502020204030204"/>
                <a:cs typeface="Calibri" panose="020F0502020204030204"/>
              </a:rPr>
              <a:t>Implements</a:t>
            </a:r>
            <a:r>
              <a:rPr sz="1800" b="1" spc="-55" dirty="0">
                <a:solidFill>
                  <a:srgbClr val="35362F"/>
                </a:solidFill>
                <a:latin typeface="Calibri" panose="020F0502020204030204"/>
                <a:cs typeface="Calibri" panose="020F0502020204030204"/>
              </a:rPr>
              <a:t> </a:t>
            </a:r>
            <a:r>
              <a:rPr sz="1800" b="1" dirty="0">
                <a:solidFill>
                  <a:srgbClr val="35362F"/>
                </a:solidFill>
                <a:latin typeface="Calibri" panose="020F0502020204030204"/>
                <a:cs typeface="Calibri" panose="020F0502020204030204"/>
              </a:rPr>
              <a:t>dynamic</a:t>
            </a:r>
            <a:r>
              <a:rPr sz="1800" b="1" spc="-60" dirty="0">
                <a:solidFill>
                  <a:srgbClr val="35362F"/>
                </a:solidFill>
                <a:latin typeface="Calibri" panose="020F0502020204030204"/>
                <a:cs typeface="Calibri" panose="020F0502020204030204"/>
              </a:rPr>
              <a:t> </a:t>
            </a:r>
            <a:r>
              <a:rPr sz="1800" b="1" dirty="0">
                <a:solidFill>
                  <a:srgbClr val="35362F"/>
                </a:solidFill>
                <a:latin typeface="Calibri" panose="020F0502020204030204"/>
                <a:cs typeface="Calibri" panose="020F0502020204030204"/>
              </a:rPr>
              <a:t>voltage</a:t>
            </a:r>
            <a:r>
              <a:rPr sz="1800" b="1" spc="-60" dirty="0">
                <a:solidFill>
                  <a:srgbClr val="35362F"/>
                </a:solidFill>
                <a:latin typeface="Calibri" panose="020F0502020204030204"/>
                <a:cs typeface="Calibri" panose="020F0502020204030204"/>
              </a:rPr>
              <a:t> </a:t>
            </a:r>
            <a:r>
              <a:rPr sz="1800" b="1" dirty="0">
                <a:solidFill>
                  <a:srgbClr val="35362F"/>
                </a:solidFill>
                <a:latin typeface="Calibri" panose="020F0502020204030204"/>
                <a:cs typeface="Calibri" panose="020F0502020204030204"/>
              </a:rPr>
              <a:t>and</a:t>
            </a:r>
            <a:r>
              <a:rPr sz="1800" b="1" spc="-30" dirty="0">
                <a:solidFill>
                  <a:srgbClr val="35362F"/>
                </a:solidFill>
                <a:latin typeface="Calibri" panose="020F0502020204030204"/>
                <a:cs typeface="Calibri" panose="020F0502020204030204"/>
              </a:rPr>
              <a:t> </a:t>
            </a:r>
            <a:r>
              <a:rPr sz="1800" b="1" spc="-10" dirty="0">
                <a:solidFill>
                  <a:srgbClr val="35362F"/>
                </a:solidFill>
                <a:latin typeface="Calibri" panose="020F0502020204030204"/>
                <a:cs typeface="Calibri" panose="020F0502020204030204"/>
              </a:rPr>
              <a:t>frequency</a:t>
            </a:r>
            <a:endParaRPr sz="1800">
              <a:latin typeface="Calibri" panose="020F0502020204030204"/>
              <a:cs typeface="Calibri" panose="020F0502020204030204"/>
            </a:endParaRPr>
          </a:p>
          <a:p>
            <a:pPr marL="299085">
              <a:lnSpc>
                <a:spcPct val="100000"/>
              </a:lnSpc>
            </a:pPr>
            <a:r>
              <a:rPr sz="1800" b="1" dirty="0">
                <a:solidFill>
                  <a:srgbClr val="35362F"/>
                </a:solidFill>
                <a:latin typeface="Calibri" panose="020F0502020204030204"/>
                <a:cs typeface="Calibri" panose="020F0502020204030204"/>
              </a:rPr>
              <a:t>scaling</a:t>
            </a:r>
            <a:r>
              <a:rPr sz="1800" b="1" spc="-70" dirty="0">
                <a:solidFill>
                  <a:srgbClr val="35362F"/>
                </a:solidFill>
                <a:latin typeface="Calibri" panose="020F0502020204030204"/>
                <a:cs typeface="Calibri" panose="020F0502020204030204"/>
              </a:rPr>
              <a:t> </a:t>
            </a:r>
            <a:r>
              <a:rPr sz="1800" b="1" spc="-10" dirty="0">
                <a:solidFill>
                  <a:srgbClr val="35362F"/>
                </a:solidFill>
                <a:latin typeface="Calibri" panose="020F0502020204030204"/>
                <a:cs typeface="Calibri" panose="020F0502020204030204"/>
              </a:rPr>
              <a:t>(DVFS)</a:t>
            </a:r>
            <a:endParaRPr sz="1800">
              <a:latin typeface="Calibri" panose="020F0502020204030204"/>
              <a:cs typeface="Calibri" panose="020F0502020204030204"/>
            </a:endParaRPr>
          </a:p>
          <a:p>
            <a:pPr marL="457200" marR="255905" lvl="1" indent="-178435">
              <a:lnSpc>
                <a:spcPct val="100000"/>
              </a:lnSpc>
              <a:spcBef>
                <a:spcPts val="20"/>
              </a:spcBef>
              <a:buFont typeface="Arial" panose="020B0604020202020204"/>
              <a:buChar char="•"/>
              <a:tabLst>
                <a:tab pos="457200" algn="l"/>
              </a:tabLst>
            </a:pPr>
            <a:r>
              <a:rPr sz="1650" dirty="0">
                <a:solidFill>
                  <a:srgbClr val="35362F"/>
                </a:solidFill>
                <a:latin typeface="Calibri" panose="020F0502020204030204"/>
                <a:cs typeface="Calibri" panose="020F0502020204030204"/>
              </a:rPr>
              <a:t>dhm_top</a:t>
            </a:r>
            <a:r>
              <a:rPr sz="1650" spc="-50" dirty="0">
                <a:solidFill>
                  <a:srgbClr val="35362F"/>
                </a:solidFill>
                <a:latin typeface="Calibri" panose="020F0502020204030204"/>
                <a:cs typeface="Calibri" panose="020F0502020204030204"/>
              </a:rPr>
              <a:t> </a:t>
            </a:r>
            <a:r>
              <a:rPr sz="1650" dirty="0">
                <a:solidFill>
                  <a:srgbClr val="35362F"/>
                </a:solidFill>
                <a:latin typeface="Calibri" panose="020F0502020204030204"/>
                <a:cs typeface="Calibri" panose="020F0502020204030204"/>
              </a:rPr>
              <a:t>has</a:t>
            </a:r>
            <a:r>
              <a:rPr sz="1650" spc="-30" dirty="0">
                <a:solidFill>
                  <a:srgbClr val="35362F"/>
                </a:solidFill>
                <a:latin typeface="Calibri" panose="020F0502020204030204"/>
                <a:cs typeface="Calibri" panose="020F0502020204030204"/>
              </a:rPr>
              <a:t> </a:t>
            </a:r>
            <a:r>
              <a:rPr sz="1650" dirty="0">
                <a:solidFill>
                  <a:srgbClr val="35362F"/>
                </a:solidFill>
                <a:latin typeface="Calibri" panose="020F0502020204030204"/>
                <a:cs typeface="Calibri" panose="020F0502020204030204"/>
              </a:rPr>
              <a:t>only</a:t>
            </a:r>
            <a:r>
              <a:rPr sz="1650" spc="-30" dirty="0">
                <a:solidFill>
                  <a:srgbClr val="35362F"/>
                </a:solidFill>
                <a:latin typeface="Calibri" panose="020F0502020204030204"/>
                <a:cs typeface="Calibri" panose="020F0502020204030204"/>
              </a:rPr>
              <a:t> </a:t>
            </a:r>
            <a:r>
              <a:rPr sz="1650" dirty="0">
                <a:solidFill>
                  <a:srgbClr val="35362F"/>
                </a:solidFill>
                <a:latin typeface="Calibri" panose="020F0502020204030204"/>
                <a:cs typeface="Calibri" panose="020F0502020204030204"/>
              </a:rPr>
              <a:t>one</a:t>
            </a:r>
            <a:r>
              <a:rPr sz="1650" spc="-25" dirty="0">
                <a:solidFill>
                  <a:srgbClr val="35362F"/>
                </a:solidFill>
                <a:latin typeface="Calibri" panose="020F0502020204030204"/>
                <a:cs typeface="Calibri" panose="020F0502020204030204"/>
              </a:rPr>
              <a:t> </a:t>
            </a:r>
            <a:r>
              <a:rPr sz="1650" dirty="0">
                <a:solidFill>
                  <a:srgbClr val="35362F"/>
                </a:solidFill>
                <a:latin typeface="Calibri" panose="020F0502020204030204"/>
                <a:cs typeface="Calibri" panose="020F0502020204030204"/>
              </a:rPr>
              <a:t>working</a:t>
            </a:r>
            <a:r>
              <a:rPr sz="1650" spc="-50" dirty="0">
                <a:solidFill>
                  <a:srgbClr val="35362F"/>
                </a:solidFill>
                <a:latin typeface="Calibri" panose="020F0502020204030204"/>
                <a:cs typeface="Calibri" panose="020F0502020204030204"/>
              </a:rPr>
              <a:t> </a:t>
            </a:r>
            <a:r>
              <a:rPr sz="1650" dirty="0">
                <a:solidFill>
                  <a:srgbClr val="35362F"/>
                </a:solidFill>
                <a:latin typeface="Calibri" panose="020F0502020204030204"/>
                <a:cs typeface="Calibri" panose="020F0502020204030204"/>
              </a:rPr>
              <a:t>supply</a:t>
            </a:r>
            <a:r>
              <a:rPr sz="1650" spc="-50" dirty="0">
                <a:solidFill>
                  <a:srgbClr val="35362F"/>
                </a:solidFill>
                <a:latin typeface="Calibri" panose="020F0502020204030204"/>
                <a:cs typeface="Calibri" panose="020F0502020204030204"/>
              </a:rPr>
              <a:t> </a:t>
            </a:r>
            <a:r>
              <a:rPr sz="1650" spc="-10" dirty="0">
                <a:solidFill>
                  <a:srgbClr val="35362F"/>
                </a:solidFill>
                <a:latin typeface="Calibri" panose="020F0502020204030204"/>
                <a:cs typeface="Calibri" panose="020F0502020204030204"/>
              </a:rPr>
              <a:t>voltage </a:t>
            </a:r>
            <a:r>
              <a:rPr sz="1650" dirty="0">
                <a:solidFill>
                  <a:srgbClr val="35362F"/>
                </a:solidFill>
                <a:latin typeface="Calibri" panose="020F0502020204030204"/>
                <a:cs typeface="Calibri" panose="020F0502020204030204"/>
              </a:rPr>
              <a:t>and</a:t>
            </a:r>
            <a:r>
              <a:rPr sz="1650" spc="-40" dirty="0">
                <a:solidFill>
                  <a:srgbClr val="35362F"/>
                </a:solidFill>
                <a:latin typeface="Calibri" panose="020F0502020204030204"/>
                <a:cs typeface="Calibri" panose="020F0502020204030204"/>
              </a:rPr>
              <a:t> </a:t>
            </a:r>
            <a:r>
              <a:rPr sz="1650" dirty="0">
                <a:solidFill>
                  <a:srgbClr val="35362F"/>
                </a:solidFill>
                <a:latin typeface="Calibri" panose="020F0502020204030204"/>
                <a:cs typeface="Calibri" panose="020F0502020204030204"/>
              </a:rPr>
              <a:t>is</a:t>
            </a:r>
            <a:r>
              <a:rPr sz="1650" spc="-25" dirty="0">
                <a:solidFill>
                  <a:srgbClr val="35362F"/>
                </a:solidFill>
                <a:latin typeface="Calibri" panose="020F0502020204030204"/>
                <a:cs typeface="Calibri" panose="020F0502020204030204"/>
              </a:rPr>
              <a:t> </a:t>
            </a:r>
            <a:r>
              <a:rPr sz="1650" spc="-10" dirty="0">
                <a:solidFill>
                  <a:srgbClr val="35362F"/>
                </a:solidFill>
                <a:latin typeface="Calibri" panose="020F0502020204030204"/>
                <a:cs typeface="Calibri" panose="020F0502020204030204"/>
              </a:rPr>
              <a:t>always</a:t>
            </a:r>
            <a:r>
              <a:rPr sz="1650" spc="-30" dirty="0">
                <a:solidFill>
                  <a:srgbClr val="35362F"/>
                </a:solidFill>
                <a:latin typeface="Calibri" panose="020F0502020204030204"/>
                <a:cs typeface="Calibri" panose="020F0502020204030204"/>
              </a:rPr>
              <a:t> </a:t>
            </a:r>
            <a:r>
              <a:rPr sz="1650" spc="-25" dirty="0">
                <a:solidFill>
                  <a:srgbClr val="35362F"/>
                </a:solidFill>
                <a:latin typeface="Calibri" panose="020F0502020204030204"/>
                <a:cs typeface="Calibri" panose="020F0502020204030204"/>
              </a:rPr>
              <a:t>on</a:t>
            </a:r>
            <a:endParaRPr sz="1650">
              <a:latin typeface="Calibri" panose="020F0502020204030204"/>
              <a:cs typeface="Calibri" panose="020F0502020204030204"/>
            </a:endParaRPr>
          </a:p>
          <a:p>
            <a:pPr marL="457835" lvl="1" indent="-178435">
              <a:lnSpc>
                <a:spcPts val="1970"/>
              </a:lnSpc>
              <a:buFont typeface="Arial" panose="020B0604020202020204"/>
              <a:buChar char="•"/>
              <a:tabLst>
                <a:tab pos="457200" algn="l"/>
              </a:tabLst>
            </a:pPr>
            <a:r>
              <a:rPr sz="1650" spc="-10" dirty="0">
                <a:solidFill>
                  <a:srgbClr val="35362F"/>
                </a:solidFill>
                <a:latin typeface="Calibri" panose="020F0502020204030204"/>
                <a:cs typeface="Calibri" panose="020F0502020204030204"/>
              </a:rPr>
              <a:t>u_dhm_core</a:t>
            </a:r>
            <a:r>
              <a:rPr sz="1650" spc="-20" dirty="0">
                <a:solidFill>
                  <a:srgbClr val="35362F"/>
                </a:solidFill>
                <a:latin typeface="Calibri" panose="020F0502020204030204"/>
                <a:cs typeface="Calibri" panose="020F0502020204030204"/>
              </a:rPr>
              <a:t> </a:t>
            </a:r>
            <a:r>
              <a:rPr sz="1650" dirty="0">
                <a:solidFill>
                  <a:srgbClr val="35362F"/>
                </a:solidFill>
                <a:latin typeface="Calibri" panose="020F0502020204030204"/>
                <a:cs typeface="Calibri" panose="020F0502020204030204"/>
              </a:rPr>
              <a:t>has</a:t>
            </a:r>
            <a:r>
              <a:rPr sz="1650" spc="-10" dirty="0">
                <a:solidFill>
                  <a:srgbClr val="35362F"/>
                </a:solidFill>
                <a:latin typeface="Calibri" panose="020F0502020204030204"/>
                <a:cs typeface="Calibri" panose="020F0502020204030204"/>
              </a:rPr>
              <a:t> </a:t>
            </a:r>
            <a:r>
              <a:rPr sz="1650" dirty="0">
                <a:solidFill>
                  <a:srgbClr val="35362F"/>
                </a:solidFill>
                <a:latin typeface="Calibri" panose="020F0502020204030204"/>
                <a:cs typeface="Calibri" panose="020F0502020204030204"/>
              </a:rPr>
              <a:t>multiple</a:t>
            </a:r>
            <a:r>
              <a:rPr sz="1650" spc="-35" dirty="0">
                <a:solidFill>
                  <a:srgbClr val="35362F"/>
                </a:solidFill>
                <a:latin typeface="Calibri" panose="020F0502020204030204"/>
                <a:cs typeface="Calibri" panose="020F0502020204030204"/>
              </a:rPr>
              <a:t> </a:t>
            </a:r>
            <a:r>
              <a:rPr sz="1650" spc="-10" dirty="0">
                <a:solidFill>
                  <a:srgbClr val="35362F"/>
                </a:solidFill>
                <a:latin typeface="Calibri" panose="020F0502020204030204"/>
                <a:cs typeface="Calibri" panose="020F0502020204030204"/>
              </a:rPr>
              <a:t>operation</a:t>
            </a:r>
            <a:r>
              <a:rPr sz="1650" spc="-35" dirty="0">
                <a:solidFill>
                  <a:srgbClr val="35362F"/>
                </a:solidFill>
                <a:latin typeface="Calibri" panose="020F0502020204030204"/>
                <a:cs typeface="Calibri" panose="020F0502020204030204"/>
              </a:rPr>
              <a:t> </a:t>
            </a:r>
            <a:r>
              <a:rPr sz="1650" spc="-10" dirty="0">
                <a:solidFill>
                  <a:srgbClr val="35362F"/>
                </a:solidFill>
                <a:latin typeface="Calibri" panose="020F0502020204030204"/>
                <a:cs typeface="Calibri" panose="020F0502020204030204"/>
              </a:rPr>
              <a:t>states</a:t>
            </a:r>
            <a:endParaRPr sz="1650">
              <a:latin typeface="Calibri" panose="020F0502020204030204"/>
              <a:cs typeface="Calibri" panose="020F0502020204030204"/>
            </a:endParaRPr>
          </a:p>
          <a:p>
            <a:pPr marL="299085" indent="-286385">
              <a:lnSpc>
                <a:spcPts val="2150"/>
              </a:lnSpc>
              <a:buFont typeface="Wingdings" panose="05000000000000000000"/>
              <a:buChar char=""/>
              <a:tabLst>
                <a:tab pos="299085" algn="l"/>
              </a:tabLst>
            </a:pPr>
            <a:r>
              <a:rPr sz="1800" b="1" dirty="0">
                <a:solidFill>
                  <a:srgbClr val="35362F"/>
                </a:solidFill>
                <a:latin typeface="Calibri" panose="020F0502020204030204"/>
                <a:cs typeface="Calibri" panose="020F0502020204030204"/>
              </a:rPr>
              <a:t>Implements</a:t>
            </a:r>
            <a:r>
              <a:rPr sz="1800" b="1" spc="-80" dirty="0">
                <a:solidFill>
                  <a:srgbClr val="35362F"/>
                </a:solidFill>
                <a:latin typeface="Calibri" panose="020F0502020204030204"/>
                <a:cs typeface="Calibri" panose="020F0502020204030204"/>
              </a:rPr>
              <a:t> </a:t>
            </a:r>
            <a:r>
              <a:rPr sz="1800" b="1" dirty="0">
                <a:solidFill>
                  <a:srgbClr val="35362F"/>
                </a:solidFill>
                <a:latin typeface="Calibri" panose="020F0502020204030204"/>
                <a:cs typeface="Calibri" panose="020F0502020204030204"/>
              </a:rPr>
              <a:t>power</a:t>
            </a:r>
            <a:r>
              <a:rPr sz="1800" b="1" spc="-80" dirty="0">
                <a:solidFill>
                  <a:srgbClr val="35362F"/>
                </a:solidFill>
                <a:latin typeface="Calibri" panose="020F0502020204030204"/>
                <a:cs typeface="Calibri" panose="020F0502020204030204"/>
              </a:rPr>
              <a:t> </a:t>
            </a:r>
            <a:r>
              <a:rPr sz="1800" b="1" spc="-10" dirty="0">
                <a:solidFill>
                  <a:srgbClr val="35362F"/>
                </a:solidFill>
                <a:latin typeface="Calibri" panose="020F0502020204030204"/>
                <a:cs typeface="Calibri" panose="020F0502020204030204"/>
              </a:rPr>
              <a:t>gating</a:t>
            </a:r>
            <a:endParaRPr sz="1800">
              <a:latin typeface="Calibri" panose="020F0502020204030204"/>
              <a:cs typeface="Calibri" panose="020F0502020204030204"/>
            </a:endParaRPr>
          </a:p>
          <a:p>
            <a:pPr marL="457835" lvl="1" indent="-178435">
              <a:lnSpc>
                <a:spcPct val="100000"/>
              </a:lnSpc>
              <a:spcBef>
                <a:spcPts val="25"/>
              </a:spcBef>
              <a:buFont typeface="Arial" panose="020B0604020202020204"/>
              <a:buChar char="•"/>
              <a:tabLst>
                <a:tab pos="457200" algn="l"/>
              </a:tabLst>
            </a:pPr>
            <a:r>
              <a:rPr sz="1650" spc="-10" dirty="0">
                <a:solidFill>
                  <a:srgbClr val="35362F"/>
                </a:solidFill>
                <a:latin typeface="Calibri" panose="020F0502020204030204"/>
                <a:cs typeface="Calibri" panose="020F0502020204030204"/>
              </a:rPr>
              <a:t>u_dhm_core</a:t>
            </a:r>
            <a:r>
              <a:rPr sz="1650" spc="-40" dirty="0">
                <a:solidFill>
                  <a:srgbClr val="35362F"/>
                </a:solidFill>
                <a:latin typeface="Calibri" panose="020F0502020204030204"/>
                <a:cs typeface="Calibri" panose="020F0502020204030204"/>
              </a:rPr>
              <a:t> </a:t>
            </a:r>
            <a:r>
              <a:rPr sz="1650" dirty="0">
                <a:solidFill>
                  <a:srgbClr val="35362F"/>
                </a:solidFill>
                <a:latin typeface="Calibri" panose="020F0502020204030204"/>
                <a:cs typeface="Calibri" panose="020F0502020204030204"/>
              </a:rPr>
              <a:t>can</a:t>
            </a:r>
            <a:r>
              <a:rPr sz="1650" spc="-30" dirty="0">
                <a:solidFill>
                  <a:srgbClr val="35362F"/>
                </a:solidFill>
                <a:latin typeface="Calibri" panose="020F0502020204030204"/>
                <a:cs typeface="Calibri" panose="020F0502020204030204"/>
              </a:rPr>
              <a:t> </a:t>
            </a:r>
            <a:r>
              <a:rPr sz="1650" dirty="0">
                <a:solidFill>
                  <a:srgbClr val="35362F"/>
                </a:solidFill>
                <a:latin typeface="Calibri" panose="020F0502020204030204"/>
                <a:cs typeface="Calibri" panose="020F0502020204030204"/>
              </a:rPr>
              <a:t>be</a:t>
            </a:r>
            <a:r>
              <a:rPr sz="1650" spc="-25" dirty="0">
                <a:solidFill>
                  <a:srgbClr val="35362F"/>
                </a:solidFill>
                <a:latin typeface="Calibri" panose="020F0502020204030204"/>
                <a:cs typeface="Calibri" panose="020F0502020204030204"/>
              </a:rPr>
              <a:t> </a:t>
            </a:r>
            <a:r>
              <a:rPr sz="1650" dirty="0">
                <a:solidFill>
                  <a:srgbClr val="35362F"/>
                </a:solidFill>
                <a:latin typeface="Calibri" panose="020F0502020204030204"/>
                <a:cs typeface="Calibri" panose="020F0502020204030204"/>
              </a:rPr>
              <a:t>shut</a:t>
            </a:r>
            <a:r>
              <a:rPr sz="1650" spc="-45" dirty="0">
                <a:solidFill>
                  <a:srgbClr val="35362F"/>
                </a:solidFill>
                <a:latin typeface="Calibri" panose="020F0502020204030204"/>
                <a:cs typeface="Calibri" panose="020F0502020204030204"/>
              </a:rPr>
              <a:t> </a:t>
            </a:r>
            <a:r>
              <a:rPr sz="1650" dirty="0">
                <a:solidFill>
                  <a:srgbClr val="35362F"/>
                </a:solidFill>
                <a:latin typeface="Calibri" panose="020F0502020204030204"/>
                <a:cs typeface="Calibri" panose="020F0502020204030204"/>
              </a:rPr>
              <a:t>down</a:t>
            </a:r>
            <a:r>
              <a:rPr sz="1650" spc="-45" dirty="0">
                <a:solidFill>
                  <a:srgbClr val="35362F"/>
                </a:solidFill>
                <a:latin typeface="Calibri" panose="020F0502020204030204"/>
                <a:cs typeface="Calibri" panose="020F0502020204030204"/>
              </a:rPr>
              <a:t> </a:t>
            </a:r>
            <a:r>
              <a:rPr sz="1650" dirty="0">
                <a:solidFill>
                  <a:srgbClr val="35362F"/>
                </a:solidFill>
                <a:latin typeface="Calibri" panose="020F0502020204030204"/>
                <a:cs typeface="Calibri" panose="020F0502020204030204"/>
              </a:rPr>
              <a:t>when</a:t>
            </a:r>
            <a:r>
              <a:rPr sz="1650" spc="-20" dirty="0">
                <a:solidFill>
                  <a:srgbClr val="35362F"/>
                </a:solidFill>
                <a:latin typeface="Calibri" panose="020F0502020204030204"/>
                <a:cs typeface="Calibri" panose="020F0502020204030204"/>
              </a:rPr>
              <a:t> </a:t>
            </a:r>
            <a:r>
              <a:rPr sz="1650" dirty="0">
                <a:solidFill>
                  <a:srgbClr val="35362F"/>
                </a:solidFill>
                <a:latin typeface="Calibri" panose="020F0502020204030204"/>
                <a:cs typeface="Calibri" panose="020F0502020204030204"/>
              </a:rPr>
              <a:t>it’s</a:t>
            </a:r>
            <a:r>
              <a:rPr sz="1650" spc="-45" dirty="0">
                <a:solidFill>
                  <a:srgbClr val="35362F"/>
                </a:solidFill>
                <a:latin typeface="Calibri" panose="020F0502020204030204"/>
                <a:cs typeface="Calibri" panose="020F0502020204030204"/>
              </a:rPr>
              <a:t> </a:t>
            </a:r>
            <a:r>
              <a:rPr sz="1650" spc="-10" dirty="0">
                <a:solidFill>
                  <a:srgbClr val="35362F"/>
                </a:solidFill>
                <a:latin typeface="Calibri" panose="020F0502020204030204"/>
                <a:cs typeface="Calibri" panose="020F0502020204030204"/>
              </a:rPr>
              <a:t>inactive</a:t>
            </a:r>
            <a:endParaRPr sz="1650">
              <a:latin typeface="Calibri" panose="020F0502020204030204"/>
              <a:cs typeface="Calibri" panose="020F0502020204030204"/>
            </a:endParaRPr>
          </a:p>
          <a:p>
            <a:pPr marL="457835" lvl="1" indent="-178435">
              <a:lnSpc>
                <a:spcPct val="100000"/>
              </a:lnSpc>
              <a:buFont typeface="Arial" panose="020B0604020202020204"/>
              <a:buChar char="•"/>
              <a:tabLst>
                <a:tab pos="457200" algn="l"/>
              </a:tabLst>
            </a:pPr>
            <a:r>
              <a:rPr sz="1650" dirty="0">
                <a:solidFill>
                  <a:srgbClr val="35362F"/>
                </a:solidFill>
                <a:latin typeface="Calibri" panose="020F0502020204030204"/>
                <a:cs typeface="Calibri" panose="020F0502020204030204"/>
              </a:rPr>
              <a:t>State</a:t>
            </a:r>
            <a:r>
              <a:rPr sz="1650" spc="-35" dirty="0">
                <a:solidFill>
                  <a:srgbClr val="35362F"/>
                </a:solidFill>
                <a:latin typeface="Calibri" panose="020F0502020204030204"/>
                <a:cs typeface="Calibri" panose="020F0502020204030204"/>
              </a:rPr>
              <a:t> </a:t>
            </a:r>
            <a:r>
              <a:rPr sz="1650" spc="-10" dirty="0">
                <a:solidFill>
                  <a:srgbClr val="35362F"/>
                </a:solidFill>
                <a:latin typeface="Calibri" panose="020F0502020204030204"/>
                <a:cs typeface="Calibri" panose="020F0502020204030204"/>
              </a:rPr>
              <a:t>retention</a:t>
            </a:r>
            <a:r>
              <a:rPr sz="1650" spc="-60" dirty="0">
                <a:solidFill>
                  <a:srgbClr val="35362F"/>
                </a:solidFill>
                <a:latin typeface="Calibri" panose="020F0502020204030204"/>
                <a:cs typeface="Calibri" panose="020F0502020204030204"/>
              </a:rPr>
              <a:t> </a:t>
            </a:r>
            <a:r>
              <a:rPr sz="1650" dirty="0">
                <a:solidFill>
                  <a:srgbClr val="35362F"/>
                </a:solidFill>
                <a:latin typeface="Calibri" panose="020F0502020204030204"/>
                <a:cs typeface="Calibri" panose="020F0502020204030204"/>
              </a:rPr>
              <a:t>during</a:t>
            </a:r>
            <a:r>
              <a:rPr sz="1650" spc="-65" dirty="0">
                <a:solidFill>
                  <a:srgbClr val="35362F"/>
                </a:solidFill>
                <a:latin typeface="Calibri" panose="020F0502020204030204"/>
                <a:cs typeface="Calibri" panose="020F0502020204030204"/>
              </a:rPr>
              <a:t> </a:t>
            </a:r>
            <a:r>
              <a:rPr sz="1650" dirty="0">
                <a:solidFill>
                  <a:srgbClr val="35362F"/>
                </a:solidFill>
                <a:latin typeface="Calibri" panose="020F0502020204030204"/>
                <a:cs typeface="Calibri" panose="020F0502020204030204"/>
              </a:rPr>
              <a:t>shut</a:t>
            </a:r>
            <a:r>
              <a:rPr sz="1650" spc="-50" dirty="0">
                <a:solidFill>
                  <a:srgbClr val="35362F"/>
                </a:solidFill>
                <a:latin typeface="Calibri" panose="020F0502020204030204"/>
                <a:cs typeface="Calibri" panose="020F0502020204030204"/>
              </a:rPr>
              <a:t> </a:t>
            </a:r>
            <a:r>
              <a:rPr sz="1650" spc="-20" dirty="0">
                <a:solidFill>
                  <a:srgbClr val="35362F"/>
                </a:solidFill>
                <a:latin typeface="Calibri" panose="020F0502020204030204"/>
                <a:cs typeface="Calibri" panose="020F0502020204030204"/>
              </a:rPr>
              <a:t>down</a:t>
            </a:r>
            <a:endParaRPr sz="1650">
              <a:latin typeface="Calibri" panose="020F0502020204030204"/>
              <a:cs typeface="Calibri" panose="020F0502020204030204"/>
            </a:endParaRPr>
          </a:p>
        </p:txBody>
      </p:sp>
      <p:sp>
        <p:nvSpPr>
          <p:cNvPr id="79" name="Text 0"/>
          <p:cNvSpPr/>
          <p:nvPr/>
        </p:nvSpPr>
        <p:spPr>
          <a:xfrm>
            <a:off x="284480" y="8255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总体</a:t>
            </a:r>
            <a:r>
              <a:rPr lang="zh-CN" altLang="en-US" sz="1730" b="1" dirty="0">
                <a:latin typeface="微软雅黑" panose="020B0503020204020204" pitchFamily="34" charset="-122"/>
                <a:ea typeface="微软雅黑" panose="020B0503020204020204" pitchFamily="34" charset="-122"/>
                <a:sym typeface="+mn-ea"/>
              </a:rPr>
              <a:t>框架</a:t>
            </a:r>
            <a:endParaRPr lang="zh-CN" altLang="en-US" sz="1730" b="1" dirty="0">
              <a:latin typeface="微软雅黑" panose="020B0503020204020204" pitchFamily="34" charset="-122"/>
              <a:ea typeface="微软雅黑" panose="020B0503020204020204" pitchFamily="34" charset="-122"/>
              <a:sym typeface="+mn-ea"/>
            </a:endParaRPr>
          </a:p>
        </p:txBody>
      </p:sp>
      <p:sp>
        <p:nvSpPr>
          <p:cNvPr id="81" name="object 55"/>
          <p:cNvSpPr txBox="1"/>
          <p:nvPr/>
        </p:nvSpPr>
        <p:spPr>
          <a:xfrm>
            <a:off x="3508883" y="3421176"/>
            <a:ext cx="299085" cy="133985"/>
          </a:xfrm>
          <a:prstGeom prst="rect">
            <a:avLst/>
          </a:prstGeom>
        </p:spPr>
        <p:txBody>
          <a:bodyPr vert="horz" wrap="square" lIns="0" tIns="11430" rIns="0" bIns="0" rtlCol="0">
            <a:spAutoFit/>
          </a:bodyPr>
          <a:lstStyle/>
          <a:p>
            <a:pPr marL="12700">
              <a:lnSpc>
                <a:spcPct val="100000"/>
              </a:lnSpc>
              <a:spcBef>
                <a:spcPts val="90"/>
              </a:spcBef>
            </a:pPr>
            <a:r>
              <a:rPr lang="en-US" sz="800">
                <a:latin typeface="Calibri" panose="020F0502020204030204"/>
                <a:cs typeface="Calibri" panose="020F0502020204030204"/>
              </a:rPr>
              <a:t>ELS-LH</a:t>
            </a:r>
            <a:endParaRPr lang="en-US" sz="800">
              <a:latin typeface="Calibri" panose="020F0502020204030204"/>
              <a:cs typeface="Calibri" panose="020F0502020204030204"/>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grpSp>
        <p:nvGrpSpPr>
          <p:cNvPr id="2" name="object 2"/>
          <p:cNvGrpSpPr/>
          <p:nvPr/>
        </p:nvGrpSpPr>
        <p:grpSpPr>
          <a:xfrm>
            <a:off x="429260" y="796035"/>
            <a:ext cx="3750310" cy="3628390"/>
            <a:chOff x="342900" y="1210055"/>
            <a:chExt cx="3750310" cy="3628390"/>
          </a:xfrm>
        </p:grpSpPr>
        <p:pic>
          <p:nvPicPr>
            <p:cNvPr id="3" name="object 3"/>
            <p:cNvPicPr/>
            <p:nvPr/>
          </p:nvPicPr>
          <p:blipFill>
            <a:blip r:embed="rId2" cstate="print"/>
            <a:stretch>
              <a:fillRect/>
            </a:stretch>
          </p:blipFill>
          <p:spPr>
            <a:xfrm>
              <a:off x="413003" y="1280159"/>
              <a:ext cx="3679698" cy="3557778"/>
            </a:xfrm>
            <a:prstGeom prst="rect">
              <a:avLst/>
            </a:prstGeom>
          </p:spPr>
        </p:pic>
        <p:sp>
          <p:nvSpPr>
            <p:cNvPr id="4" name="object 4"/>
            <p:cNvSpPr/>
            <p:nvPr/>
          </p:nvSpPr>
          <p:spPr>
            <a:xfrm>
              <a:off x="342900" y="1210055"/>
              <a:ext cx="3670300" cy="3548379"/>
            </a:xfrm>
            <a:custGeom>
              <a:avLst/>
              <a:gdLst/>
              <a:ahLst/>
              <a:cxnLst/>
              <a:rect l="l" t="t" r="r" b="b"/>
              <a:pathLst>
                <a:path w="3670300" h="3548379">
                  <a:moveTo>
                    <a:pt x="3669791" y="0"/>
                  </a:moveTo>
                  <a:lnTo>
                    <a:pt x="0" y="0"/>
                  </a:lnTo>
                  <a:lnTo>
                    <a:pt x="0" y="3547872"/>
                  </a:lnTo>
                  <a:lnTo>
                    <a:pt x="3669791" y="3547872"/>
                  </a:lnTo>
                  <a:lnTo>
                    <a:pt x="3669791" y="0"/>
                  </a:lnTo>
                  <a:close/>
                </a:path>
              </a:pathLst>
            </a:custGeom>
            <a:solidFill>
              <a:srgbClr val="FFFFFF"/>
            </a:solidFill>
          </p:spPr>
          <p:txBody>
            <a:bodyPr wrap="square" lIns="0" tIns="0" rIns="0" bIns="0" rtlCol="0"/>
            <a:lstStyle/>
            <a:p/>
          </p:txBody>
        </p:sp>
        <p:pic>
          <p:nvPicPr>
            <p:cNvPr id="5" name="object 5"/>
            <p:cNvPicPr/>
            <p:nvPr/>
          </p:nvPicPr>
          <p:blipFill>
            <a:blip r:embed="rId3" cstate="print"/>
            <a:stretch>
              <a:fillRect/>
            </a:stretch>
          </p:blipFill>
          <p:spPr>
            <a:xfrm>
              <a:off x="899159" y="1877568"/>
              <a:ext cx="2646426" cy="2283713"/>
            </a:xfrm>
            <a:prstGeom prst="rect">
              <a:avLst/>
            </a:prstGeom>
          </p:spPr>
        </p:pic>
        <p:sp>
          <p:nvSpPr>
            <p:cNvPr id="6" name="object 6"/>
            <p:cNvSpPr/>
            <p:nvPr/>
          </p:nvSpPr>
          <p:spPr>
            <a:xfrm>
              <a:off x="867155" y="1845563"/>
              <a:ext cx="2636520" cy="2273935"/>
            </a:xfrm>
            <a:custGeom>
              <a:avLst/>
              <a:gdLst/>
              <a:ahLst/>
              <a:cxnLst/>
              <a:rect l="l" t="t" r="r" b="b"/>
              <a:pathLst>
                <a:path w="2636520" h="2273935">
                  <a:moveTo>
                    <a:pt x="2636520" y="0"/>
                  </a:moveTo>
                  <a:lnTo>
                    <a:pt x="0" y="0"/>
                  </a:lnTo>
                  <a:lnTo>
                    <a:pt x="0" y="2273808"/>
                  </a:lnTo>
                  <a:lnTo>
                    <a:pt x="2636520" y="2273808"/>
                  </a:lnTo>
                  <a:lnTo>
                    <a:pt x="2636520" y="0"/>
                  </a:lnTo>
                  <a:close/>
                </a:path>
              </a:pathLst>
            </a:custGeom>
            <a:solidFill>
              <a:srgbClr val="CCFFFF"/>
            </a:solidFill>
          </p:spPr>
          <p:txBody>
            <a:bodyPr wrap="square" lIns="0" tIns="0" rIns="0" bIns="0" rtlCol="0"/>
            <a:lstStyle/>
            <a:p/>
          </p:txBody>
        </p:sp>
        <p:sp>
          <p:nvSpPr>
            <p:cNvPr id="7" name="object 7"/>
            <p:cNvSpPr/>
            <p:nvPr/>
          </p:nvSpPr>
          <p:spPr>
            <a:xfrm>
              <a:off x="867155" y="1845563"/>
              <a:ext cx="2636520" cy="2273935"/>
            </a:xfrm>
            <a:custGeom>
              <a:avLst/>
              <a:gdLst/>
              <a:ahLst/>
              <a:cxnLst/>
              <a:rect l="l" t="t" r="r" b="b"/>
              <a:pathLst>
                <a:path w="2636520" h="2273935">
                  <a:moveTo>
                    <a:pt x="0" y="2273808"/>
                  </a:moveTo>
                  <a:lnTo>
                    <a:pt x="2636520" y="2273808"/>
                  </a:lnTo>
                  <a:lnTo>
                    <a:pt x="2636520" y="0"/>
                  </a:lnTo>
                  <a:lnTo>
                    <a:pt x="0" y="0"/>
                  </a:lnTo>
                  <a:lnTo>
                    <a:pt x="0" y="2273808"/>
                  </a:lnTo>
                  <a:close/>
                </a:path>
              </a:pathLst>
            </a:custGeom>
            <a:ln w="9524">
              <a:solidFill>
                <a:srgbClr val="69BD28"/>
              </a:solidFill>
            </a:ln>
          </p:spPr>
          <p:txBody>
            <a:bodyPr wrap="square" lIns="0" tIns="0" rIns="0" bIns="0" rtlCol="0"/>
            <a:lstStyle/>
            <a:p/>
          </p:txBody>
        </p:sp>
      </p:grpSp>
      <p:sp>
        <p:nvSpPr>
          <p:cNvPr id="8" name="object 8"/>
          <p:cNvSpPr txBox="1"/>
          <p:nvPr/>
        </p:nvSpPr>
        <p:spPr>
          <a:xfrm>
            <a:off x="993584" y="1473707"/>
            <a:ext cx="792480" cy="432434"/>
          </a:xfrm>
          <a:prstGeom prst="rect">
            <a:avLst/>
          </a:prstGeom>
          <a:solidFill>
            <a:srgbClr val="2CB6B3"/>
          </a:solidFill>
        </p:spPr>
        <p:txBody>
          <a:bodyPr vert="horz" wrap="square" lIns="0" tIns="0" rIns="0" bIns="0" rtlCol="0">
            <a:spAutoFit/>
          </a:bodyPr>
          <a:lstStyle/>
          <a:p>
            <a:pPr algn="ctr">
              <a:lnSpc>
                <a:spcPts val="1060"/>
              </a:lnSpc>
            </a:pPr>
            <a:r>
              <a:rPr sz="900" b="1" spc="-10" dirty="0">
                <a:solidFill>
                  <a:srgbClr val="FFFFFF"/>
                </a:solidFill>
                <a:latin typeface="Arial" panose="020B0604020202020204"/>
                <a:cs typeface="Arial" panose="020B0604020202020204"/>
              </a:rPr>
              <a:t>u_dhm_core</a:t>
            </a:r>
            <a:endParaRPr sz="900">
              <a:latin typeface="Arial" panose="020B0604020202020204"/>
              <a:cs typeface="Arial" panose="020B0604020202020204"/>
            </a:endParaRPr>
          </a:p>
          <a:p>
            <a:pPr algn="ctr">
              <a:lnSpc>
                <a:spcPct val="100000"/>
              </a:lnSpc>
              <a:spcBef>
                <a:spcPts val="155"/>
              </a:spcBef>
            </a:pPr>
            <a:r>
              <a:rPr sz="900" b="1" dirty="0">
                <a:solidFill>
                  <a:srgbClr val="FFFFFF"/>
                </a:solidFill>
                <a:latin typeface="Arial" panose="020B0604020202020204"/>
                <a:cs typeface="Arial" panose="020B0604020202020204"/>
              </a:rPr>
              <a:t>(1.08V</a:t>
            </a:r>
            <a:r>
              <a:rPr sz="900" b="1" spc="-15" dirty="0">
                <a:solidFill>
                  <a:srgbClr val="FFFFFF"/>
                </a:solidFill>
                <a:latin typeface="Arial" panose="020B0604020202020204"/>
                <a:cs typeface="Arial" panose="020B0604020202020204"/>
              </a:rPr>
              <a:t> </a:t>
            </a:r>
            <a:r>
              <a:rPr sz="900" b="1" dirty="0">
                <a:solidFill>
                  <a:srgbClr val="FFFFFF"/>
                </a:solidFill>
                <a:latin typeface="Arial" panose="020B0604020202020204"/>
                <a:cs typeface="Arial" panose="020B0604020202020204"/>
              </a:rPr>
              <a:t>/</a:t>
            </a:r>
            <a:r>
              <a:rPr sz="900" b="1" spc="-10" dirty="0">
                <a:solidFill>
                  <a:srgbClr val="FFFFFF"/>
                </a:solidFill>
                <a:latin typeface="Arial" panose="020B0604020202020204"/>
                <a:cs typeface="Arial" panose="020B0604020202020204"/>
              </a:rPr>
              <a:t> </a:t>
            </a:r>
            <a:r>
              <a:rPr sz="900" b="1" dirty="0">
                <a:solidFill>
                  <a:srgbClr val="FFFFFF"/>
                </a:solidFill>
                <a:latin typeface="Arial" panose="020B0604020202020204"/>
                <a:cs typeface="Arial" panose="020B0604020202020204"/>
              </a:rPr>
              <a:t>0.7V</a:t>
            </a:r>
            <a:r>
              <a:rPr sz="900" b="1" spc="-10" dirty="0">
                <a:solidFill>
                  <a:srgbClr val="FFFFFF"/>
                </a:solidFill>
                <a:latin typeface="Arial" panose="020B0604020202020204"/>
                <a:cs typeface="Arial" panose="020B0604020202020204"/>
              </a:rPr>
              <a:t> </a:t>
            </a:r>
            <a:r>
              <a:rPr sz="900" b="1" spc="-50" dirty="0">
                <a:solidFill>
                  <a:srgbClr val="FFFFFF"/>
                </a:solidFill>
                <a:latin typeface="Arial" panose="020B0604020202020204"/>
                <a:cs typeface="Arial" panose="020B0604020202020204"/>
              </a:rPr>
              <a:t>/</a:t>
            </a:r>
            <a:endParaRPr sz="900">
              <a:latin typeface="Arial" panose="020B0604020202020204"/>
              <a:cs typeface="Arial" panose="020B0604020202020204"/>
            </a:endParaRPr>
          </a:p>
          <a:p>
            <a:pPr marL="635" algn="ctr">
              <a:lnSpc>
                <a:spcPct val="100000"/>
              </a:lnSpc>
            </a:pPr>
            <a:r>
              <a:rPr sz="900" b="1" spc="-20" dirty="0">
                <a:solidFill>
                  <a:srgbClr val="FFFFFF"/>
                </a:solidFill>
                <a:latin typeface="Arial" panose="020B0604020202020204"/>
                <a:cs typeface="Arial" panose="020B0604020202020204"/>
              </a:rPr>
              <a:t>OFF)</a:t>
            </a:r>
            <a:endParaRPr sz="900">
              <a:latin typeface="Arial" panose="020B0604020202020204"/>
              <a:cs typeface="Arial" panose="020B0604020202020204"/>
            </a:endParaRPr>
          </a:p>
        </p:txBody>
      </p:sp>
      <p:sp>
        <p:nvSpPr>
          <p:cNvPr id="9" name="object 9"/>
          <p:cNvSpPr txBox="1"/>
          <p:nvPr/>
        </p:nvSpPr>
        <p:spPr>
          <a:xfrm>
            <a:off x="476376" y="829818"/>
            <a:ext cx="688975" cy="295275"/>
          </a:xfrm>
          <a:prstGeom prst="rect">
            <a:avLst/>
          </a:prstGeom>
          <a:solidFill>
            <a:srgbClr val="D37700"/>
          </a:solidFill>
        </p:spPr>
        <p:txBody>
          <a:bodyPr vert="horz" wrap="square" lIns="0" tIns="0" rIns="0" bIns="0" rtlCol="0">
            <a:spAutoFit/>
          </a:bodyPr>
          <a:lstStyle/>
          <a:p>
            <a:pPr marL="100965">
              <a:lnSpc>
                <a:spcPts val="1060"/>
              </a:lnSpc>
            </a:pPr>
            <a:r>
              <a:rPr sz="900" b="1" spc="-10" dirty="0">
                <a:solidFill>
                  <a:srgbClr val="FFFFFF"/>
                </a:solidFill>
                <a:latin typeface="Arial" panose="020B0604020202020204"/>
                <a:cs typeface="Arial" panose="020B0604020202020204"/>
              </a:rPr>
              <a:t>dhm_top</a:t>
            </a:r>
            <a:endParaRPr sz="900">
              <a:latin typeface="Arial" panose="020B0604020202020204"/>
              <a:cs typeface="Arial" panose="020B0604020202020204"/>
            </a:endParaRPr>
          </a:p>
          <a:p>
            <a:pPr marL="155575">
              <a:lnSpc>
                <a:spcPct val="100000"/>
              </a:lnSpc>
              <a:spcBef>
                <a:spcPts val="155"/>
              </a:spcBef>
            </a:pPr>
            <a:r>
              <a:rPr sz="900" b="1" spc="-10" dirty="0">
                <a:solidFill>
                  <a:srgbClr val="FFFFFF"/>
                </a:solidFill>
                <a:latin typeface="Arial" panose="020B0604020202020204"/>
                <a:cs typeface="Arial" panose="020B0604020202020204"/>
              </a:rPr>
              <a:t>(1.08V)</a:t>
            </a:r>
            <a:endParaRPr sz="900">
              <a:latin typeface="Arial" panose="020B0604020202020204"/>
              <a:cs typeface="Arial" panose="020B0604020202020204"/>
            </a:endParaRPr>
          </a:p>
        </p:txBody>
      </p:sp>
      <p:sp>
        <p:nvSpPr>
          <p:cNvPr id="10" name="object 10"/>
          <p:cNvSpPr txBox="1"/>
          <p:nvPr/>
        </p:nvSpPr>
        <p:spPr>
          <a:xfrm>
            <a:off x="965707" y="3882135"/>
            <a:ext cx="2636520" cy="248920"/>
          </a:xfrm>
          <a:prstGeom prst="rect">
            <a:avLst/>
          </a:prstGeom>
          <a:solidFill>
            <a:srgbClr val="EF8600"/>
          </a:solidFill>
          <a:ln w="3175">
            <a:solidFill>
              <a:srgbClr val="B86700"/>
            </a:solidFill>
          </a:ln>
        </p:spPr>
        <p:txBody>
          <a:bodyPr vert="horz" wrap="square" lIns="0" tIns="29845" rIns="0" bIns="0" rtlCol="0">
            <a:spAutoFit/>
          </a:bodyPr>
          <a:lstStyle/>
          <a:p>
            <a:pPr marL="90805">
              <a:lnSpc>
                <a:spcPct val="100000"/>
              </a:lnSpc>
              <a:spcBef>
                <a:spcPts val="235"/>
              </a:spcBef>
            </a:pPr>
            <a:r>
              <a:rPr sz="900" spc="-10" dirty="0">
                <a:solidFill>
                  <a:srgbClr val="35362F"/>
                </a:solidFill>
                <a:latin typeface="Calibri" panose="020F0502020204030204"/>
                <a:cs typeface="Calibri" panose="020F0502020204030204"/>
              </a:rPr>
              <a:t>u_dhm_sleep_logic</a:t>
            </a:r>
            <a:endParaRPr sz="900">
              <a:latin typeface="Calibri" panose="020F0502020204030204"/>
              <a:cs typeface="Calibri" panose="020F0502020204030204"/>
            </a:endParaRPr>
          </a:p>
        </p:txBody>
      </p:sp>
      <p:sp>
        <p:nvSpPr>
          <p:cNvPr id="11" name="object 11"/>
          <p:cNvSpPr/>
          <p:nvPr/>
        </p:nvSpPr>
        <p:spPr>
          <a:xfrm>
            <a:off x="926084" y="1405635"/>
            <a:ext cx="2711450" cy="2346960"/>
          </a:xfrm>
          <a:custGeom>
            <a:avLst/>
            <a:gdLst/>
            <a:ahLst/>
            <a:cxnLst/>
            <a:rect l="l" t="t" r="r" b="b"/>
            <a:pathLst>
              <a:path w="2711450" h="2346960">
                <a:moveTo>
                  <a:pt x="0" y="2346960"/>
                </a:moveTo>
                <a:lnTo>
                  <a:pt x="2711196" y="2346960"/>
                </a:lnTo>
                <a:lnTo>
                  <a:pt x="2711196" y="0"/>
                </a:lnTo>
                <a:lnTo>
                  <a:pt x="0" y="0"/>
                </a:lnTo>
                <a:lnTo>
                  <a:pt x="0" y="2346960"/>
                </a:lnTo>
                <a:close/>
              </a:path>
            </a:pathLst>
          </a:custGeom>
          <a:ln w="12700">
            <a:solidFill>
              <a:srgbClr val="FF6600"/>
            </a:solidFill>
            <a:prstDash val="sysDash"/>
          </a:ln>
        </p:spPr>
        <p:txBody>
          <a:bodyPr wrap="square" lIns="0" tIns="0" rIns="0" bIns="0" rtlCol="0"/>
          <a:lstStyle/>
          <a:p/>
        </p:txBody>
      </p:sp>
      <p:sp>
        <p:nvSpPr>
          <p:cNvPr id="12" name="object 12"/>
          <p:cNvSpPr txBox="1"/>
          <p:nvPr/>
        </p:nvSpPr>
        <p:spPr>
          <a:xfrm>
            <a:off x="412750" y="778510"/>
            <a:ext cx="3764280" cy="3644900"/>
          </a:xfrm>
          <a:prstGeom prst="rect">
            <a:avLst/>
          </a:prstGeom>
          <a:ln w="58356">
            <a:solidFill>
              <a:srgbClr val="6F2F9F"/>
            </a:solidFill>
          </a:ln>
        </p:spPr>
        <p:txBody>
          <a:bodyPr vert="horz" wrap="square" lIns="0" tIns="151765" rIns="0" bIns="0" rtlCol="0">
            <a:noAutofit/>
          </a:bodyPr>
          <a:lstStyle/>
          <a:p>
            <a:pPr>
              <a:lnSpc>
                <a:spcPct val="100000"/>
              </a:lnSpc>
              <a:spcBef>
                <a:spcPts val="1195"/>
              </a:spcBef>
            </a:pPr>
            <a:r>
              <a:rPr lang="en-US" sz="1500" i="1" spc="-25" dirty="0">
                <a:solidFill>
                  <a:srgbClr val="FF6600"/>
                </a:solidFill>
                <a:latin typeface="Calibri" panose="020F0502020204030204"/>
                <a:cs typeface="Calibri" panose="020F0502020204030204"/>
              </a:rPr>
              <a:t>                                </a:t>
            </a:r>
            <a:endParaRPr lang="en-US" sz="1500" i="1" spc="-25" dirty="0">
              <a:solidFill>
                <a:srgbClr val="FF6600"/>
              </a:solidFill>
              <a:latin typeface="Calibri" panose="020F0502020204030204"/>
              <a:cs typeface="Calibri" panose="020F0502020204030204"/>
            </a:endParaRPr>
          </a:p>
          <a:p>
            <a:pPr>
              <a:lnSpc>
                <a:spcPct val="100000"/>
              </a:lnSpc>
              <a:spcBef>
                <a:spcPts val="1195"/>
              </a:spcBef>
            </a:pPr>
            <a:r>
              <a:rPr lang="en-US" sz="1500" i="1" spc="-25" dirty="0">
                <a:solidFill>
                  <a:srgbClr val="FF6600"/>
                </a:solidFill>
                <a:latin typeface="Calibri" panose="020F0502020204030204"/>
                <a:cs typeface="Calibri" panose="020F0502020204030204"/>
              </a:rPr>
              <a:t>                                                                                 pd1</a:t>
            </a:r>
            <a:endParaRPr lang="en-US" sz="1500" i="1" spc="-25" dirty="0">
              <a:solidFill>
                <a:srgbClr val="FF6600"/>
              </a:solidFill>
              <a:latin typeface="Calibri" panose="020F0502020204030204"/>
              <a:cs typeface="Calibri" panose="020F0502020204030204"/>
            </a:endParaRPr>
          </a:p>
        </p:txBody>
      </p:sp>
      <p:sp>
        <p:nvSpPr>
          <p:cNvPr id="13" name="object 13"/>
          <p:cNvSpPr txBox="1"/>
          <p:nvPr/>
        </p:nvSpPr>
        <p:spPr>
          <a:xfrm>
            <a:off x="401319" y="537337"/>
            <a:ext cx="337185" cy="254000"/>
          </a:xfrm>
          <a:prstGeom prst="rect">
            <a:avLst/>
          </a:prstGeom>
        </p:spPr>
        <p:txBody>
          <a:bodyPr vert="horz" wrap="square" lIns="0" tIns="12700" rIns="0" bIns="0" rtlCol="0">
            <a:spAutoFit/>
          </a:bodyPr>
          <a:lstStyle/>
          <a:p>
            <a:pPr marL="12700">
              <a:lnSpc>
                <a:spcPct val="100000"/>
              </a:lnSpc>
              <a:spcBef>
                <a:spcPts val="100"/>
              </a:spcBef>
            </a:pPr>
            <a:r>
              <a:rPr sz="1500" i="1" spc="-25" dirty="0">
                <a:solidFill>
                  <a:srgbClr val="6F2F9F"/>
                </a:solidFill>
                <a:latin typeface="Calibri" panose="020F0502020204030204"/>
                <a:cs typeface="Calibri" panose="020F0502020204030204"/>
              </a:rPr>
              <a:t>TOP</a:t>
            </a:r>
            <a:endParaRPr sz="1500">
              <a:latin typeface="Calibri" panose="020F0502020204030204"/>
              <a:cs typeface="Calibri" panose="020F0502020204030204"/>
            </a:endParaRPr>
          </a:p>
        </p:txBody>
      </p:sp>
      <p:sp>
        <p:nvSpPr>
          <p:cNvPr id="14" name="object 14"/>
          <p:cNvSpPr txBox="1">
            <a:spLocks noGrp="1"/>
          </p:cNvSpPr>
          <p:nvPr>
            <p:ph type="body" idx="1"/>
          </p:nvPr>
        </p:nvSpPr>
        <p:spPr>
          <a:xfrm>
            <a:off x="4441189" y="652803"/>
            <a:ext cx="3823334" cy="1200150"/>
          </a:xfrm>
          <a:prstGeom prst="rect">
            <a:avLst/>
          </a:prstGeom>
        </p:spPr>
        <p:txBody>
          <a:bodyPr vert="horz" wrap="square" lIns="0" tIns="156694" rIns="0" bIns="0" rtlCol="0">
            <a:spAutoFit/>
          </a:bodyPr>
          <a:lstStyle/>
          <a:p>
            <a:pPr marL="81915">
              <a:lnSpc>
                <a:spcPct val="100000"/>
              </a:lnSpc>
              <a:spcBef>
                <a:spcPts val="100"/>
              </a:spcBef>
            </a:pPr>
            <a:r>
              <a:rPr spc="-45" dirty="0"/>
              <a:t>Top-</a:t>
            </a:r>
            <a:r>
              <a:rPr dirty="0"/>
              <a:t>level</a:t>
            </a:r>
            <a:r>
              <a:rPr spc="-55" dirty="0"/>
              <a:t> </a:t>
            </a:r>
            <a:r>
              <a:rPr dirty="0"/>
              <a:t>power</a:t>
            </a:r>
            <a:r>
              <a:rPr spc="-60" dirty="0"/>
              <a:t> </a:t>
            </a:r>
            <a:r>
              <a:rPr spc="-10" dirty="0"/>
              <a:t>domain</a:t>
            </a:r>
            <a:endParaRPr spc="-10" dirty="0"/>
          </a:p>
          <a:p>
            <a:pPr marL="347980" indent="-266065">
              <a:lnSpc>
                <a:spcPct val="100000"/>
              </a:lnSpc>
              <a:spcBef>
                <a:spcPts val="20"/>
              </a:spcBef>
              <a:buFont typeface="Arial" panose="020B0604020202020204"/>
              <a:buChar char="•"/>
              <a:tabLst>
                <a:tab pos="347980" algn="l"/>
              </a:tabLst>
            </a:pPr>
            <a:r>
              <a:rPr sz="1500" b="0" dirty="0">
                <a:latin typeface="Calibri" panose="020F0502020204030204"/>
                <a:cs typeface="Calibri" panose="020F0502020204030204"/>
              </a:rPr>
              <a:t>Does</a:t>
            </a:r>
            <a:r>
              <a:rPr sz="1500" b="0" spc="-40" dirty="0">
                <a:latin typeface="Calibri" panose="020F0502020204030204"/>
                <a:cs typeface="Calibri" panose="020F0502020204030204"/>
              </a:rPr>
              <a:t> </a:t>
            </a:r>
            <a:r>
              <a:rPr sz="1500" b="0" dirty="0">
                <a:latin typeface="Calibri" panose="020F0502020204030204"/>
                <a:cs typeface="Calibri" panose="020F0502020204030204"/>
              </a:rPr>
              <a:t>not</a:t>
            </a:r>
            <a:r>
              <a:rPr sz="1500" b="0" spc="-45" dirty="0">
                <a:latin typeface="Calibri" panose="020F0502020204030204"/>
                <a:cs typeface="Calibri" panose="020F0502020204030204"/>
              </a:rPr>
              <a:t> </a:t>
            </a:r>
            <a:r>
              <a:rPr sz="1500" b="0" spc="-10" dirty="0">
                <a:latin typeface="Calibri" panose="020F0502020204030204"/>
                <a:cs typeface="Calibri" panose="020F0502020204030204"/>
              </a:rPr>
              <a:t>require</a:t>
            </a:r>
            <a:r>
              <a:rPr sz="1500" b="0" spc="-30" dirty="0">
                <a:latin typeface="Calibri" panose="020F0502020204030204"/>
                <a:cs typeface="Calibri" panose="020F0502020204030204"/>
              </a:rPr>
              <a:t> </a:t>
            </a:r>
            <a:r>
              <a:rPr sz="1500" b="0" dirty="0">
                <a:latin typeface="Calibri" panose="020F0502020204030204"/>
                <a:cs typeface="Calibri" panose="020F0502020204030204"/>
              </a:rPr>
              <a:t>any</a:t>
            </a:r>
            <a:r>
              <a:rPr sz="1500" b="0" spc="-50" dirty="0">
                <a:latin typeface="Calibri" panose="020F0502020204030204"/>
                <a:cs typeface="Calibri" panose="020F0502020204030204"/>
              </a:rPr>
              <a:t> </a:t>
            </a:r>
            <a:r>
              <a:rPr sz="1500" b="0" dirty="0">
                <a:latin typeface="Calibri" panose="020F0502020204030204"/>
                <a:cs typeface="Calibri" panose="020F0502020204030204"/>
              </a:rPr>
              <a:t>elements</a:t>
            </a:r>
            <a:r>
              <a:rPr sz="1500" b="0" spc="-25" dirty="0">
                <a:latin typeface="Calibri" panose="020F0502020204030204"/>
                <a:cs typeface="Calibri" panose="020F0502020204030204"/>
              </a:rPr>
              <a:t> </a:t>
            </a:r>
            <a:r>
              <a:rPr sz="1500" b="0" dirty="0">
                <a:latin typeface="Calibri" panose="020F0502020204030204"/>
                <a:cs typeface="Calibri" panose="020F0502020204030204"/>
              </a:rPr>
              <a:t>to</a:t>
            </a:r>
            <a:r>
              <a:rPr sz="1500" b="0" spc="-50" dirty="0">
                <a:latin typeface="Calibri" panose="020F0502020204030204"/>
                <a:cs typeface="Calibri" panose="020F0502020204030204"/>
              </a:rPr>
              <a:t> </a:t>
            </a:r>
            <a:r>
              <a:rPr sz="1500" b="0" dirty="0">
                <a:latin typeface="Calibri" panose="020F0502020204030204"/>
                <a:cs typeface="Calibri" panose="020F0502020204030204"/>
              </a:rPr>
              <a:t>be</a:t>
            </a:r>
            <a:r>
              <a:rPr sz="1500" b="0" spc="-30" dirty="0">
                <a:latin typeface="Calibri" panose="020F0502020204030204"/>
                <a:cs typeface="Calibri" panose="020F0502020204030204"/>
              </a:rPr>
              <a:t> </a:t>
            </a:r>
            <a:r>
              <a:rPr sz="1500" b="0" dirty="0">
                <a:latin typeface="Calibri" panose="020F0502020204030204"/>
                <a:cs typeface="Calibri" panose="020F0502020204030204"/>
              </a:rPr>
              <a:t>listed</a:t>
            </a:r>
            <a:r>
              <a:rPr sz="1500" b="0" spc="-30" dirty="0">
                <a:latin typeface="Calibri" panose="020F0502020204030204"/>
                <a:cs typeface="Calibri" panose="020F0502020204030204"/>
              </a:rPr>
              <a:t> </a:t>
            </a:r>
            <a:r>
              <a:rPr sz="1500" b="0" spc="-25" dirty="0">
                <a:latin typeface="Calibri" panose="020F0502020204030204"/>
                <a:cs typeface="Calibri" panose="020F0502020204030204"/>
              </a:rPr>
              <a:t>in</a:t>
            </a:r>
            <a:endParaRPr sz="1500">
              <a:latin typeface="Calibri" panose="020F0502020204030204"/>
              <a:cs typeface="Calibri" panose="020F0502020204030204"/>
            </a:endParaRPr>
          </a:p>
          <a:p>
            <a:pPr marL="348615">
              <a:lnSpc>
                <a:spcPct val="100000"/>
              </a:lnSpc>
              <a:spcBef>
                <a:spcPts val="5"/>
              </a:spcBef>
            </a:pPr>
            <a:r>
              <a:rPr sz="1500" b="0" spc="-10" dirty="0">
                <a:latin typeface="Calibri" panose="020F0502020204030204"/>
                <a:cs typeface="Calibri" panose="020F0502020204030204"/>
              </a:rPr>
              <a:t>definition</a:t>
            </a:r>
            <a:endParaRPr sz="1500">
              <a:latin typeface="Calibri" panose="020F0502020204030204"/>
              <a:cs typeface="Calibri" panose="020F0502020204030204"/>
            </a:endParaRPr>
          </a:p>
          <a:p>
            <a:pPr marL="81915">
              <a:lnSpc>
                <a:spcPct val="100000"/>
              </a:lnSpc>
              <a:spcBef>
                <a:spcPts val="600"/>
              </a:spcBef>
            </a:pPr>
            <a:r>
              <a:rPr sz="1500" b="0" i="1" spc="-10" dirty="0">
                <a:solidFill>
                  <a:srgbClr val="0000FF"/>
                </a:solidFill>
                <a:latin typeface="Calibri" panose="020F0502020204030204"/>
                <a:cs typeface="Calibri" panose="020F0502020204030204"/>
              </a:rPr>
              <a:t>create_power_domain</a:t>
            </a:r>
            <a:r>
              <a:rPr sz="1500" b="0" i="1" dirty="0">
                <a:solidFill>
                  <a:srgbClr val="0000FF"/>
                </a:solidFill>
                <a:latin typeface="Calibri" panose="020F0502020204030204"/>
                <a:cs typeface="Calibri" panose="020F0502020204030204"/>
              </a:rPr>
              <a:t> TOP</a:t>
            </a:r>
            <a:r>
              <a:rPr sz="1500" b="0" i="1" spc="-30" dirty="0">
                <a:solidFill>
                  <a:srgbClr val="0000FF"/>
                </a:solidFill>
                <a:latin typeface="Calibri" panose="020F0502020204030204"/>
                <a:cs typeface="Calibri" panose="020F0502020204030204"/>
              </a:rPr>
              <a:t> </a:t>
            </a:r>
            <a:r>
              <a:rPr sz="1500" b="0" i="1" spc="-10" dirty="0">
                <a:solidFill>
                  <a:srgbClr val="0000FF"/>
                </a:solidFill>
                <a:latin typeface="Calibri" panose="020F0502020204030204"/>
                <a:cs typeface="Calibri" panose="020F0502020204030204"/>
              </a:rPr>
              <a:t>–include_scope</a:t>
            </a:r>
            <a:endParaRPr sz="1500">
              <a:latin typeface="Calibri" panose="020F0502020204030204"/>
              <a:cs typeface="Calibri" panose="020F0502020204030204"/>
            </a:endParaRPr>
          </a:p>
        </p:txBody>
      </p:sp>
      <p:sp>
        <p:nvSpPr>
          <p:cNvPr id="15" name="object 15"/>
          <p:cNvSpPr txBox="1"/>
          <p:nvPr/>
        </p:nvSpPr>
        <p:spPr>
          <a:xfrm>
            <a:off x="4510658" y="1966210"/>
            <a:ext cx="3926204" cy="703580"/>
          </a:xfrm>
          <a:prstGeom prst="rect">
            <a:avLst/>
          </a:prstGeom>
        </p:spPr>
        <p:txBody>
          <a:bodyPr vert="horz" wrap="square" lIns="0" tIns="108585" rIns="0" bIns="0" rtlCol="0">
            <a:spAutoFit/>
          </a:bodyPr>
          <a:lstStyle/>
          <a:p>
            <a:pPr marL="12700">
              <a:lnSpc>
                <a:spcPct val="100000"/>
              </a:lnSpc>
              <a:spcBef>
                <a:spcPts val="855"/>
              </a:spcBef>
            </a:pPr>
            <a:r>
              <a:rPr sz="1800" b="1" dirty="0">
                <a:solidFill>
                  <a:srgbClr val="35362F"/>
                </a:solidFill>
                <a:latin typeface="Calibri" panose="020F0502020204030204"/>
                <a:cs typeface="Calibri" panose="020F0502020204030204"/>
              </a:rPr>
              <a:t>Block-level</a:t>
            </a:r>
            <a:r>
              <a:rPr sz="1800" b="1" spc="-70" dirty="0">
                <a:solidFill>
                  <a:srgbClr val="35362F"/>
                </a:solidFill>
                <a:latin typeface="Calibri" panose="020F0502020204030204"/>
                <a:cs typeface="Calibri" panose="020F0502020204030204"/>
              </a:rPr>
              <a:t> </a:t>
            </a:r>
            <a:r>
              <a:rPr sz="1800" b="1" dirty="0">
                <a:solidFill>
                  <a:srgbClr val="35362F"/>
                </a:solidFill>
                <a:latin typeface="Calibri" panose="020F0502020204030204"/>
                <a:cs typeface="Calibri" panose="020F0502020204030204"/>
              </a:rPr>
              <a:t>power</a:t>
            </a:r>
            <a:r>
              <a:rPr sz="1800" b="1" spc="-70" dirty="0">
                <a:solidFill>
                  <a:srgbClr val="35362F"/>
                </a:solidFill>
                <a:latin typeface="Calibri" panose="020F0502020204030204"/>
                <a:cs typeface="Calibri" panose="020F0502020204030204"/>
              </a:rPr>
              <a:t> </a:t>
            </a:r>
            <a:r>
              <a:rPr sz="1800" b="1" spc="-10" dirty="0">
                <a:solidFill>
                  <a:srgbClr val="35362F"/>
                </a:solidFill>
                <a:latin typeface="Calibri" panose="020F0502020204030204"/>
                <a:cs typeface="Calibri" panose="020F0502020204030204"/>
              </a:rPr>
              <a:t>domain</a:t>
            </a:r>
            <a:endParaRPr sz="1800">
              <a:latin typeface="Calibri" panose="020F0502020204030204"/>
              <a:cs typeface="Calibri" panose="020F0502020204030204"/>
            </a:endParaRPr>
          </a:p>
          <a:p>
            <a:pPr marL="12700">
              <a:lnSpc>
                <a:spcPct val="100000"/>
              </a:lnSpc>
              <a:spcBef>
                <a:spcPts val="625"/>
              </a:spcBef>
            </a:pPr>
            <a:r>
              <a:rPr sz="1500" i="1" spc="-10" dirty="0">
                <a:solidFill>
                  <a:srgbClr val="0000FF"/>
                </a:solidFill>
                <a:latin typeface="Calibri" panose="020F0502020204030204"/>
                <a:cs typeface="Calibri" panose="020F0502020204030204"/>
              </a:rPr>
              <a:t>create_power_domain</a:t>
            </a:r>
            <a:r>
              <a:rPr sz="1500" i="1" dirty="0">
                <a:solidFill>
                  <a:srgbClr val="0000FF"/>
                </a:solidFill>
                <a:latin typeface="Calibri" panose="020F0502020204030204"/>
                <a:cs typeface="Calibri" panose="020F0502020204030204"/>
              </a:rPr>
              <a:t> pd1</a:t>
            </a:r>
            <a:r>
              <a:rPr sz="1500" i="1" spc="-10" dirty="0">
                <a:solidFill>
                  <a:srgbClr val="0000FF"/>
                </a:solidFill>
                <a:latin typeface="Calibri" panose="020F0502020204030204"/>
                <a:cs typeface="Calibri" panose="020F0502020204030204"/>
              </a:rPr>
              <a:t> -</a:t>
            </a:r>
            <a:r>
              <a:rPr sz="1500" i="1" dirty="0">
                <a:solidFill>
                  <a:srgbClr val="0000FF"/>
                </a:solidFill>
                <a:latin typeface="Calibri" panose="020F0502020204030204"/>
                <a:cs typeface="Calibri" panose="020F0502020204030204"/>
              </a:rPr>
              <a:t>elements</a:t>
            </a:r>
            <a:r>
              <a:rPr sz="1500" i="1" spc="-35" dirty="0">
                <a:solidFill>
                  <a:srgbClr val="0000FF"/>
                </a:solidFill>
                <a:latin typeface="Calibri" panose="020F0502020204030204"/>
                <a:cs typeface="Calibri" panose="020F0502020204030204"/>
              </a:rPr>
              <a:t> </a:t>
            </a:r>
            <a:r>
              <a:rPr sz="1500" i="1" spc="-10" dirty="0">
                <a:solidFill>
                  <a:srgbClr val="0000FF"/>
                </a:solidFill>
                <a:latin typeface="Calibri" panose="020F0502020204030204"/>
                <a:cs typeface="Calibri" panose="020F0502020204030204"/>
              </a:rPr>
              <a:t>u_dhm_core</a:t>
            </a:r>
            <a:endParaRPr sz="1500">
              <a:latin typeface="Calibri" panose="020F0502020204030204"/>
              <a:cs typeface="Calibri" panose="020F0502020204030204"/>
            </a:endParaRPr>
          </a:p>
        </p:txBody>
      </p:sp>
      <p:sp>
        <p:nvSpPr>
          <p:cNvPr id="19" name="Text 0"/>
          <p:cNvSpPr/>
          <p:nvPr/>
        </p:nvSpPr>
        <p:spPr>
          <a:xfrm>
            <a:off x="284480" y="8255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电源域的</a:t>
            </a:r>
            <a:r>
              <a:rPr lang="zh-CN" altLang="en-US" sz="1730" b="1" dirty="0">
                <a:latin typeface="微软雅黑" panose="020B0503020204020204" pitchFamily="34" charset="-122"/>
                <a:ea typeface="微软雅黑" panose="020B0503020204020204" pitchFamily="34" charset="-122"/>
                <a:sym typeface="+mn-ea"/>
              </a:rPr>
              <a:t>定义</a:t>
            </a:r>
            <a:endParaRPr lang="zh-CN" altLang="en-US" sz="1730" b="1"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grpSp>
        <p:nvGrpSpPr>
          <p:cNvPr id="2" name="object 2"/>
          <p:cNvGrpSpPr/>
          <p:nvPr/>
        </p:nvGrpSpPr>
        <p:grpSpPr>
          <a:xfrm>
            <a:off x="641731" y="756792"/>
            <a:ext cx="3787140" cy="3667760"/>
            <a:chOff x="327406" y="1170177"/>
            <a:chExt cx="3787140" cy="3667760"/>
          </a:xfrm>
        </p:grpSpPr>
        <p:sp>
          <p:nvSpPr>
            <p:cNvPr id="3" name="object 3"/>
            <p:cNvSpPr/>
            <p:nvPr/>
          </p:nvSpPr>
          <p:spPr>
            <a:xfrm>
              <a:off x="333756" y="1176527"/>
              <a:ext cx="3747770" cy="3621404"/>
            </a:xfrm>
            <a:custGeom>
              <a:avLst/>
              <a:gdLst/>
              <a:ahLst/>
              <a:cxnLst/>
              <a:rect l="l" t="t" r="r" b="b"/>
              <a:pathLst>
                <a:path w="3747770" h="3621404">
                  <a:moveTo>
                    <a:pt x="0" y="3621024"/>
                  </a:moveTo>
                  <a:lnTo>
                    <a:pt x="3747516" y="3621024"/>
                  </a:lnTo>
                  <a:lnTo>
                    <a:pt x="3747516" y="0"/>
                  </a:lnTo>
                  <a:lnTo>
                    <a:pt x="0" y="0"/>
                  </a:lnTo>
                  <a:lnTo>
                    <a:pt x="0" y="3621024"/>
                  </a:lnTo>
                  <a:close/>
                </a:path>
              </a:pathLst>
            </a:custGeom>
            <a:ln w="12700">
              <a:solidFill>
                <a:srgbClr val="6F2F9F"/>
              </a:solidFill>
              <a:prstDash val="sysDash"/>
            </a:ln>
          </p:spPr>
          <p:txBody>
            <a:bodyPr wrap="square" lIns="0" tIns="0" rIns="0" bIns="0" rtlCol="0"/>
            <a:lstStyle/>
            <a:p/>
          </p:txBody>
        </p:sp>
        <p:pic>
          <p:nvPicPr>
            <p:cNvPr id="4" name="object 4"/>
            <p:cNvPicPr/>
            <p:nvPr/>
          </p:nvPicPr>
          <p:blipFill>
            <a:blip r:embed="rId2" cstate="print"/>
            <a:stretch>
              <a:fillRect/>
            </a:stretch>
          </p:blipFill>
          <p:spPr>
            <a:xfrm>
              <a:off x="435864" y="1280159"/>
              <a:ext cx="3678174" cy="3557778"/>
            </a:xfrm>
            <a:prstGeom prst="rect">
              <a:avLst/>
            </a:prstGeom>
          </p:spPr>
        </p:pic>
        <p:sp>
          <p:nvSpPr>
            <p:cNvPr id="5" name="object 5"/>
            <p:cNvSpPr/>
            <p:nvPr/>
          </p:nvSpPr>
          <p:spPr>
            <a:xfrm>
              <a:off x="365760" y="1210055"/>
              <a:ext cx="3668395" cy="3548379"/>
            </a:xfrm>
            <a:custGeom>
              <a:avLst/>
              <a:gdLst/>
              <a:ahLst/>
              <a:cxnLst/>
              <a:rect l="l" t="t" r="r" b="b"/>
              <a:pathLst>
                <a:path w="3668395" h="3548379">
                  <a:moveTo>
                    <a:pt x="3668267" y="0"/>
                  </a:moveTo>
                  <a:lnTo>
                    <a:pt x="0" y="0"/>
                  </a:lnTo>
                  <a:lnTo>
                    <a:pt x="0" y="3547872"/>
                  </a:lnTo>
                  <a:lnTo>
                    <a:pt x="3668267" y="3547872"/>
                  </a:lnTo>
                  <a:lnTo>
                    <a:pt x="3668267" y="0"/>
                  </a:lnTo>
                  <a:close/>
                </a:path>
              </a:pathLst>
            </a:custGeom>
            <a:solidFill>
              <a:srgbClr val="FFFFFF"/>
            </a:solidFill>
          </p:spPr>
          <p:txBody>
            <a:bodyPr wrap="square" lIns="0" tIns="0" rIns="0" bIns="0" rtlCol="0"/>
            <a:lstStyle/>
            <a:p/>
          </p:txBody>
        </p:sp>
        <p:sp>
          <p:nvSpPr>
            <p:cNvPr id="6" name="object 6"/>
            <p:cNvSpPr/>
            <p:nvPr/>
          </p:nvSpPr>
          <p:spPr>
            <a:xfrm>
              <a:off x="365760" y="1210055"/>
              <a:ext cx="3668395" cy="3548379"/>
            </a:xfrm>
            <a:custGeom>
              <a:avLst/>
              <a:gdLst/>
              <a:ahLst/>
              <a:cxnLst/>
              <a:rect l="l" t="t" r="r" b="b"/>
              <a:pathLst>
                <a:path w="3668395" h="3548379">
                  <a:moveTo>
                    <a:pt x="0" y="3547872"/>
                  </a:moveTo>
                  <a:lnTo>
                    <a:pt x="3668267" y="3547872"/>
                  </a:lnTo>
                  <a:lnTo>
                    <a:pt x="3668267" y="0"/>
                  </a:lnTo>
                  <a:lnTo>
                    <a:pt x="0" y="0"/>
                  </a:lnTo>
                  <a:lnTo>
                    <a:pt x="0" y="3547872"/>
                  </a:lnTo>
                  <a:close/>
                </a:path>
              </a:pathLst>
            </a:custGeom>
            <a:ln w="9525">
              <a:solidFill>
                <a:srgbClr val="959595"/>
              </a:solidFill>
            </a:ln>
          </p:spPr>
          <p:txBody>
            <a:bodyPr wrap="square" lIns="0" tIns="0" rIns="0" bIns="0" rtlCol="0"/>
            <a:lstStyle/>
            <a:p/>
          </p:txBody>
        </p:sp>
        <p:pic>
          <p:nvPicPr>
            <p:cNvPr id="7" name="object 7"/>
            <p:cNvPicPr/>
            <p:nvPr/>
          </p:nvPicPr>
          <p:blipFill>
            <a:blip r:embed="rId3" cstate="print"/>
            <a:stretch>
              <a:fillRect/>
            </a:stretch>
          </p:blipFill>
          <p:spPr>
            <a:xfrm>
              <a:off x="920496" y="1877568"/>
              <a:ext cx="2646426" cy="2283713"/>
            </a:xfrm>
            <a:prstGeom prst="rect">
              <a:avLst/>
            </a:prstGeom>
          </p:spPr>
        </p:pic>
        <p:sp>
          <p:nvSpPr>
            <p:cNvPr id="8" name="object 8"/>
            <p:cNvSpPr/>
            <p:nvPr/>
          </p:nvSpPr>
          <p:spPr>
            <a:xfrm>
              <a:off x="888492" y="1845563"/>
              <a:ext cx="2636520" cy="2273935"/>
            </a:xfrm>
            <a:custGeom>
              <a:avLst/>
              <a:gdLst/>
              <a:ahLst/>
              <a:cxnLst/>
              <a:rect l="l" t="t" r="r" b="b"/>
              <a:pathLst>
                <a:path w="2636520" h="2273935">
                  <a:moveTo>
                    <a:pt x="2636520" y="0"/>
                  </a:moveTo>
                  <a:lnTo>
                    <a:pt x="0" y="0"/>
                  </a:lnTo>
                  <a:lnTo>
                    <a:pt x="0" y="2273808"/>
                  </a:lnTo>
                  <a:lnTo>
                    <a:pt x="2636520" y="2273808"/>
                  </a:lnTo>
                  <a:lnTo>
                    <a:pt x="2636520" y="0"/>
                  </a:lnTo>
                  <a:close/>
                </a:path>
              </a:pathLst>
            </a:custGeom>
            <a:solidFill>
              <a:srgbClr val="CCFFFF"/>
            </a:solidFill>
          </p:spPr>
          <p:txBody>
            <a:bodyPr wrap="square" lIns="0" tIns="0" rIns="0" bIns="0" rtlCol="0"/>
            <a:lstStyle/>
            <a:p/>
          </p:txBody>
        </p:sp>
        <p:sp>
          <p:nvSpPr>
            <p:cNvPr id="9" name="object 9"/>
            <p:cNvSpPr/>
            <p:nvPr/>
          </p:nvSpPr>
          <p:spPr>
            <a:xfrm>
              <a:off x="888492" y="1845563"/>
              <a:ext cx="2636520" cy="2273935"/>
            </a:xfrm>
            <a:custGeom>
              <a:avLst/>
              <a:gdLst/>
              <a:ahLst/>
              <a:cxnLst/>
              <a:rect l="l" t="t" r="r" b="b"/>
              <a:pathLst>
                <a:path w="2636520" h="2273935">
                  <a:moveTo>
                    <a:pt x="0" y="2273808"/>
                  </a:moveTo>
                  <a:lnTo>
                    <a:pt x="2636520" y="2273808"/>
                  </a:lnTo>
                  <a:lnTo>
                    <a:pt x="2636520" y="0"/>
                  </a:lnTo>
                  <a:lnTo>
                    <a:pt x="0" y="0"/>
                  </a:lnTo>
                  <a:lnTo>
                    <a:pt x="0" y="2273808"/>
                  </a:lnTo>
                  <a:close/>
                </a:path>
              </a:pathLst>
            </a:custGeom>
            <a:ln w="9525">
              <a:solidFill>
                <a:srgbClr val="69BD28"/>
              </a:solidFill>
            </a:ln>
          </p:spPr>
          <p:txBody>
            <a:bodyPr wrap="square" lIns="0" tIns="0" rIns="0" bIns="0" rtlCol="0"/>
            <a:lstStyle/>
            <a:p/>
          </p:txBody>
        </p:sp>
      </p:grpSp>
      <p:sp>
        <p:nvSpPr>
          <p:cNvPr id="10" name="object 10"/>
          <p:cNvSpPr txBox="1"/>
          <p:nvPr/>
        </p:nvSpPr>
        <p:spPr>
          <a:xfrm>
            <a:off x="1243457" y="1474342"/>
            <a:ext cx="792480" cy="432434"/>
          </a:xfrm>
          <a:prstGeom prst="rect">
            <a:avLst/>
          </a:prstGeom>
          <a:solidFill>
            <a:srgbClr val="2CB6B3"/>
          </a:solidFill>
        </p:spPr>
        <p:txBody>
          <a:bodyPr vert="horz" wrap="square" lIns="0" tIns="0" rIns="0" bIns="0" rtlCol="0">
            <a:spAutoFit/>
          </a:bodyPr>
          <a:lstStyle/>
          <a:p>
            <a:pPr algn="ctr">
              <a:lnSpc>
                <a:spcPts val="1060"/>
              </a:lnSpc>
            </a:pPr>
            <a:r>
              <a:rPr sz="900" b="1" spc="-10" dirty="0">
                <a:solidFill>
                  <a:srgbClr val="FFFFFF"/>
                </a:solidFill>
                <a:latin typeface="Arial" panose="020B0604020202020204"/>
                <a:cs typeface="Arial" panose="020B0604020202020204"/>
              </a:rPr>
              <a:t>u_dhm_core</a:t>
            </a:r>
            <a:endParaRPr sz="900">
              <a:latin typeface="Arial" panose="020B0604020202020204"/>
              <a:cs typeface="Arial" panose="020B0604020202020204"/>
            </a:endParaRPr>
          </a:p>
          <a:p>
            <a:pPr algn="ctr">
              <a:lnSpc>
                <a:spcPct val="100000"/>
              </a:lnSpc>
              <a:spcBef>
                <a:spcPts val="155"/>
              </a:spcBef>
            </a:pPr>
            <a:r>
              <a:rPr sz="900" b="1" dirty="0">
                <a:solidFill>
                  <a:srgbClr val="FFFFFF"/>
                </a:solidFill>
                <a:latin typeface="Arial" panose="020B0604020202020204"/>
                <a:cs typeface="Arial" panose="020B0604020202020204"/>
              </a:rPr>
              <a:t>(1.08V</a:t>
            </a:r>
            <a:r>
              <a:rPr sz="900" b="1" spc="-15" dirty="0">
                <a:solidFill>
                  <a:srgbClr val="FFFFFF"/>
                </a:solidFill>
                <a:latin typeface="Arial" panose="020B0604020202020204"/>
                <a:cs typeface="Arial" panose="020B0604020202020204"/>
              </a:rPr>
              <a:t> </a:t>
            </a:r>
            <a:r>
              <a:rPr sz="900" b="1" dirty="0">
                <a:solidFill>
                  <a:srgbClr val="FFFFFF"/>
                </a:solidFill>
                <a:latin typeface="Arial" panose="020B0604020202020204"/>
                <a:cs typeface="Arial" panose="020B0604020202020204"/>
              </a:rPr>
              <a:t>/</a:t>
            </a:r>
            <a:r>
              <a:rPr sz="900" b="1" spc="-10" dirty="0">
                <a:solidFill>
                  <a:srgbClr val="FFFFFF"/>
                </a:solidFill>
                <a:latin typeface="Arial" panose="020B0604020202020204"/>
                <a:cs typeface="Arial" panose="020B0604020202020204"/>
              </a:rPr>
              <a:t> </a:t>
            </a:r>
            <a:r>
              <a:rPr sz="900" b="1" dirty="0">
                <a:solidFill>
                  <a:srgbClr val="FFFFFF"/>
                </a:solidFill>
                <a:latin typeface="Arial" panose="020B0604020202020204"/>
                <a:cs typeface="Arial" panose="020B0604020202020204"/>
              </a:rPr>
              <a:t>0.7V</a:t>
            </a:r>
            <a:r>
              <a:rPr sz="900" b="1" spc="-10" dirty="0">
                <a:solidFill>
                  <a:srgbClr val="FFFFFF"/>
                </a:solidFill>
                <a:latin typeface="Arial" panose="020B0604020202020204"/>
                <a:cs typeface="Arial" panose="020B0604020202020204"/>
              </a:rPr>
              <a:t> </a:t>
            </a:r>
            <a:r>
              <a:rPr sz="900" b="1" spc="-50" dirty="0">
                <a:solidFill>
                  <a:srgbClr val="FFFFFF"/>
                </a:solidFill>
                <a:latin typeface="Arial" panose="020B0604020202020204"/>
                <a:cs typeface="Arial" panose="020B0604020202020204"/>
              </a:rPr>
              <a:t>/</a:t>
            </a:r>
            <a:endParaRPr sz="900">
              <a:latin typeface="Arial" panose="020B0604020202020204"/>
              <a:cs typeface="Arial" panose="020B0604020202020204"/>
            </a:endParaRPr>
          </a:p>
          <a:p>
            <a:pPr algn="ctr">
              <a:lnSpc>
                <a:spcPct val="100000"/>
              </a:lnSpc>
            </a:pPr>
            <a:r>
              <a:rPr sz="900" b="1" spc="-20" dirty="0">
                <a:solidFill>
                  <a:srgbClr val="FFFFFF"/>
                </a:solidFill>
                <a:latin typeface="Arial" panose="020B0604020202020204"/>
                <a:cs typeface="Arial" panose="020B0604020202020204"/>
              </a:rPr>
              <a:t>OFF)</a:t>
            </a:r>
            <a:endParaRPr sz="900">
              <a:latin typeface="Arial" panose="020B0604020202020204"/>
              <a:cs typeface="Arial" panose="020B0604020202020204"/>
            </a:endParaRPr>
          </a:p>
        </p:txBody>
      </p:sp>
      <p:sp>
        <p:nvSpPr>
          <p:cNvPr id="11" name="object 11"/>
          <p:cNvSpPr txBox="1"/>
          <p:nvPr/>
        </p:nvSpPr>
        <p:spPr>
          <a:xfrm>
            <a:off x="726249" y="830453"/>
            <a:ext cx="688975" cy="295275"/>
          </a:xfrm>
          <a:prstGeom prst="rect">
            <a:avLst/>
          </a:prstGeom>
          <a:solidFill>
            <a:srgbClr val="D37700"/>
          </a:solidFill>
        </p:spPr>
        <p:txBody>
          <a:bodyPr vert="horz" wrap="square" lIns="0" tIns="0" rIns="0" bIns="0" rtlCol="0">
            <a:spAutoFit/>
          </a:bodyPr>
          <a:lstStyle/>
          <a:p>
            <a:pPr marL="100965">
              <a:lnSpc>
                <a:spcPts val="1060"/>
              </a:lnSpc>
            </a:pPr>
            <a:r>
              <a:rPr sz="900" b="1" spc="-10" dirty="0">
                <a:solidFill>
                  <a:srgbClr val="FFFFFF"/>
                </a:solidFill>
                <a:latin typeface="Arial" panose="020B0604020202020204"/>
                <a:cs typeface="Arial" panose="020B0604020202020204"/>
              </a:rPr>
              <a:t>dhm_top</a:t>
            </a:r>
            <a:endParaRPr sz="900">
              <a:latin typeface="Arial" panose="020B0604020202020204"/>
              <a:cs typeface="Arial" panose="020B0604020202020204"/>
            </a:endParaRPr>
          </a:p>
          <a:p>
            <a:pPr marL="156210">
              <a:lnSpc>
                <a:spcPct val="100000"/>
              </a:lnSpc>
              <a:spcBef>
                <a:spcPts val="155"/>
              </a:spcBef>
            </a:pPr>
            <a:r>
              <a:rPr sz="900" b="1" spc="-10" dirty="0">
                <a:solidFill>
                  <a:srgbClr val="FFFFFF"/>
                </a:solidFill>
                <a:latin typeface="Arial" panose="020B0604020202020204"/>
                <a:cs typeface="Arial" panose="020B0604020202020204"/>
              </a:rPr>
              <a:t>(1.08V)</a:t>
            </a:r>
            <a:endParaRPr sz="900">
              <a:latin typeface="Arial" panose="020B0604020202020204"/>
              <a:cs typeface="Arial" panose="020B0604020202020204"/>
            </a:endParaRPr>
          </a:p>
        </p:txBody>
      </p:sp>
      <p:sp>
        <p:nvSpPr>
          <p:cNvPr id="12" name="object 12"/>
          <p:cNvSpPr txBox="1"/>
          <p:nvPr/>
        </p:nvSpPr>
        <p:spPr>
          <a:xfrm>
            <a:off x="1925447" y="842213"/>
            <a:ext cx="295275" cy="208915"/>
          </a:xfrm>
          <a:prstGeom prst="rect">
            <a:avLst/>
          </a:prstGeom>
        </p:spPr>
        <p:txBody>
          <a:bodyPr vert="horz" wrap="square" lIns="0" tIns="12700" rIns="0" bIns="0" rtlCol="0">
            <a:spAutoFit/>
          </a:bodyPr>
          <a:lstStyle/>
          <a:p>
            <a:pPr>
              <a:lnSpc>
                <a:spcPct val="100000"/>
              </a:lnSpc>
              <a:spcBef>
                <a:spcPts val="100"/>
              </a:spcBef>
            </a:pPr>
            <a:r>
              <a:rPr sz="1200" b="1" spc="-25" dirty="0">
                <a:solidFill>
                  <a:srgbClr val="35362F"/>
                </a:solidFill>
                <a:latin typeface="Calibri" panose="020F0502020204030204"/>
                <a:cs typeface="Calibri" panose="020F0502020204030204"/>
              </a:rPr>
              <a:t>VDD</a:t>
            </a:r>
            <a:endParaRPr sz="1200">
              <a:latin typeface="Calibri" panose="020F0502020204030204"/>
              <a:cs typeface="Calibri" panose="020F0502020204030204"/>
            </a:endParaRPr>
          </a:p>
        </p:txBody>
      </p:sp>
      <p:sp>
        <p:nvSpPr>
          <p:cNvPr id="13" name="object 13"/>
          <p:cNvSpPr/>
          <p:nvPr/>
        </p:nvSpPr>
        <p:spPr>
          <a:xfrm>
            <a:off x="1740788" y="725042"/>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5362F"/>
            </a:solidFill>
          </a:ln>
        </p:spPr>
        <p:txBody>
          <a:bodyPr wrap="square" lIns="0" tIns="0" rIns="0" bIns="0" rtlCol="0"/>
          <a:lstStyle/>
          <a:p/>
        </p:txBody>
      </p:sp>
      <p:grpSp>
        <p:nvGrpSpPr>
          <p:cNvPr id="14" name="object 14"/>
          <p:cNvGrpSpPr/>
          <p:nvPr/>
        </p:nvGrpSpPr>
        <p:grpSpPr>
          <a:xfrm>
            <a:off x="1740788" y="725042"/>
            <a:ext cx="1270000" cy="119380"/>
            <a:chOff x="1426463" y="1138427"/>
            <a:chExt cx="1270000" cy="119380"/>
          </a:xfrm>
        </p:grpSpPr>
        <p:pic>
          <p:nvPicPr>
            <p:cNvPr id="15" name="object 15"/>
            <p:cNvPicPr/>
            <p:nvPr/>
          </p:nvPicPr>
          <p:blipFill>
            <a:blip r:embed="rId4" cstate="print"/>
            <a:stretch>
              <a:fillRect/>
            </a:stretch>
          </p:blipFill>
          <p:spPr>
            <a:xfrm>
              <a:off x="1426463" y="1138427"/>
              <a:ext cx="114300" cy="114300"/>
            </a:xfrm>
            <a:prstGeom prst="rect">
              <a:avLst/>
            </a:prstGeom>
          </p:spPr>
        </p:pic>
        <p:pic>
          <p:nvPicPr>
            <p:cNvPr id="16" name="object 16"/>
            <p:cNvPicPr/>
            <p:nvPr/>
          </p:nvPicPr>
          <p:blipFill>
            <a:blip r:embed="rId5" cstate="print"/>
            <a:stretch>
              <a:fillRect/>
            </a:stretch>
          </p:blipFill>
          <p:spPr>
            <a:xfrm>
              <a:off x="2581655" y="1142999"/>
              <a:ext cx="114300" cy="114300"/>
            </a:xfrm>
            <a:prstGeom prst="rect">
              <a:avLst/>
            </a:prstGeom>
          </p:spPr>
        </p:pic>
      </p:grpSp>
      <p:sp>
        <p:nvSpPr>
          <p:cNvPr id="17" name="object 17"/>
          <p:cNvSpPr txBox="1"/>
          <p:nvPr/>
        </p:nvSpPr>
        <p:spPr>
          <a:xfrm>
            <a:off x="3074542" y="846200"/>
            <a:ext cx="360045" cy="208279"/>
          </a:xfrm>
          <a:prstGeom prst="rect">
            <a:avLst/>
          </a:prstGeom>
        </p:spPr>
        <p:txBody>
          <a:bodyPr vert="horz" wrap="square" lIns="0" tIns="12700" rIns="0" bIns="0" rtlCol="0">
            <a:spAutoFit/>
          </a:bodyPr>
          <a:lstStyle/>
          <a:p>
            <a:pPr>
              <a:lnSpc>
                <a:spcPct val="100000"/>
              </a:lnSpc>
              <a:spcBef>
                <a:spcPts val="100"/>
              </a:spcBef>
            </a:pPr>
            <a:r>
              <a:rPr sz="1200" b="1" spc="-20" dirty="0">
                <a:solidFill>
                  <a:srgbClr val="35362F"/>
                </a:solidFill>
                <a:latin typeface="Calibri" panose="020F0502020204030204"/>
                <a:cs typeface="Calibri" panose="020F0502020204030204"/>
              </a:rPr>
              <a:t>VDDL</a:t>
            </a:r>
            <a:endParaRPr sz="1200">
              <a:latin typeface="Calibri" panose="020F0502020204030204"/>
              <a:cs typeface="Calibri" panose="020F0502020204030204"/>
            </a:endParaRPr>
          </a:p>
        </p:txBody>
      </p:sp>
      <p:sp>
        <p:nvSpPr>
          <p:cNvPr id="18" name="object 18"/>
          <p:cNvSpPr/>
          <p:nvPr/>
        </p:nvSpPr>
        <p:spPr>
          <a:xfrm>
            <a:off x="2895980" y="729615"/>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5362F"/>
            </a:solidFill>
          </a:ln>
        </p:spPr>
        <p:txBody>
          <a:bodyPr wrap="square" lIns="0" tIns="0" rIns="0" bIns="0" rtlCol="0"/>
          <a:lstStyle/>
          <a:p/>
        </p:txBody>
      </p:sp>
      <p:sp>
        <p:nvSpPr>
          <p:cNvPr id="19" name="object 19"/>
          <p:cNvSpPr txBox="1"/>
          <p:nvPr/>
        </p:nvSpPr>
        <p:spPr>
          <a:xfrm>
            <a:off x="3820414" y="855853"/>
            <a:ext cx="245745" cy="208279"/>
          </a:xfrm>
          <a:prstGeom prst="rect">
            <a:avLst/>
          </a:prstGeom>
        </p:spPr>
        <p:txBody>
          <a:bodyPr vert="horz" wrap="square" lIns="0" tIns="12700" rIns="0" bIns="0" rtlCol="0">
            <a:spAutoFit/>
          </a:bodyPr>
          <a:lstStyle/>
          <a:p>
            <a:pPr>
              <a:lnSpc>
                <a:spcPct val="100000"/>
              </a:lnSpc>
              <a:spcBef>
                <a:spcPts val="100"/>
              </a:spcBef>
            </a:pPr>
            <a:r>
              <a:rPr sz="1200" b="1" spc="-25" dirty="0">
                <a:solidFill>
                  <a:srgbClr val="35362F"/>
                </a:solidFill>
                <a:latin typeface="Calibri" panose="020F0502020204030204"/>
                <a:cs typeface="Calibri" panose="020F0502020204030204"/>
              </a:rPr>
              <a:t>VSS</a:t>
            </a:r>
            <a:endParaRPr sz="1200">
              <a:latin typeface="Calibri" panose="020F0502020204030204"/>
              <a:cs typeface="Calibri" panose="020F0502020204030204"/>
            </a:endParaRPr>
          </a:p>
        </p:txBody>
      </p:sp>
      <p:sp>
        <p:nvSpPr>
          <p:cNvPr id="20" name="object 20"/>
          <p:cNvSpPr/>
          <p:nvPr/>
        </p:nvSpPr>
        <p:spPr>
          <a:xfrm>
            <a:off x="3679316" y="718947"/>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5362F"/>
            </a:solidFill>
          </a:ln>
        </p:spPr>
        <p:txBody>
          <a:bodyPr wrap="square" lIns="0" tIns="0" rIns="0" bIns="0" rtlCol="0"/>
          <a:lstStyle/>
          <a:p/>
        </p:txBody>
      </p:sp>
      <p:grpSp>
        <p:nvGrpSpPr>
          <p:cNvPr id="21" name="object 21"/>
          <p:cNvGrpSpPr/>
          <p:nvPr/>
        </p:nvGrpSpPr>
        <p:grpSpPr>
          <a:xfrm>
            <a:off x="1170558" y="718947"/>
            <a:ext cx="2722880" cy="3041015"/>
            <a:chOff x="856233" y="1132332"/>
            <a:chExt cx="2722880" cy="3041015"/>
          </a:xfrm>
        </p:grpSpPr>
        <p:pic>
          <p:nvPicPr>
            <p:cNvPr id="22" name="object 22"/>
            <p:cNvPicPr/>
            <p:nvPr/>
          </p:nvPicPr>
          <p:blipFill>
            <a:blip r:embed="rId6" cstate="print"/>
            <a:stretch>
              <a:fillRect/>
            </a:stretch>
          </p:blipFill>
          <p:spPr>
            <a:xfrm>
              <a:off x="3364991" y="1132332"/>
              <a:ext cx="114300" cy="114300"/>
            </a:xfrm>
            <a:prstGeom prst="rect">
              <a:avLst/>
            </a:prstGeom>
          </p:spPr>
        </p:pic>
        <p:sp>
          <p:nvSpPr>
            <p:cNvPr id="23" name="object 23"/>
            <p:cNvSpPr/>
            <p:nvPr/>
          </p:nvSpPr>
          <p:spPr>
            <a:xfrm>
              <a:off x="862583" y="1819656"/>
              <a:ext cx="2710180" cy="2346960"/>
            </a:xfrm>
            <a:custGeom>
              <a:avLst/>
              <a:gdLst/>
              <a:ahLst/>
              <a:cxnLst/>
              <a:rect l="l" t="t" r="r" b="b"/>
              <a:pathLst>
                <a:path w="2710179" h="2346960">
                  <a:moveTo>
                    <a:pt x="0" y="2346960"/>
                  </a:moveTo>
                  <a:lnTo>
                    <a:pt x="2709672" y="2346960"/>
                  </a:lnTo>
                  <a:lnTo>
                    <a:pt x="2709672" y="0"/>
                  </a:lnTo>
                  <a:lnTo>
                    <a:pt x="0" y="0"/>
                  </a:lnTo>
                  <a:lnTo>
                    <a:pt x="0" y="2346960"/>
                  </a:lnTo>
                  <a:close/>
                </a:path>
              </a:pathLst>
            </a:custGeom>
            <a:ln w="12700">
              <a:solidFill>
                <a:srgbClr val="FF6600"/>
              </a:solidFill>
              <a:prstDash val="sysDash"/>
            </a:ln>
          </p:spPr>
          <p:txBody>
            <a:bodyPr wrap="square" lIns="0" tIns="0" rIns="0" bIns="0" rtlCol="0"/>
            <a:lstStyle/>
            <a:p/>
          </p:txBody>
        </p:sp>
      </p:grpSp>
      <p:sp>
        <p:nvSpPr>
          <p:cNvPr id="24" name="object 24"/>
          <p:cNvSpPr txBox="1"/>
          <p:nvPr/>
        </p:nvSpPr>
        <p:spPr>
          <a:xfrm>
            <a:off x="1215008" y="3882770"/>
            <a:ext cx="2636520" cy="248920"/>
          </a:xfrm>
          <a:prstGeom prst="rect">
            <a:avLst/>
          </a:prstGeom>
          <a:solidFill>
            <a:srgbClr val="EF8600"/>
          </a:solidFill>
          <a:ln w="3175">
            <a:solidFill>
              <a:srgbClr val="B86700"/>
            </a:solidFill>
          </a:ln>
        </p:spPr>
        <p:txBody>
          <a:bodyPr vert="horz" wrap="square" lIns="0" tIns="29845" rIns="0" bIns="0" rtlCol="0">
            <a:spAutoFit/>
          </a:bodyPr>
          <a:lstStyle/>
          <a:p>
            <a:pPr marL="91440">
              <a:lnSpc>
                <a:spcPct val="100000"/>
              </a:lnSpc>
              <a:spcBef>
                <a:spcPts val="235"/>
              </a:spcBef>
            </a:pPr>
            <a:r>
              <a:rPr sz="900" spc="-10" dirty="0">
                <a:solidFill>
                  <a:srgbClr val="35362F"/>
                </a:solidFill>
                <a:latin typeface="Calibri" panose="020F0502020204030204"/>
                <a:cs typeface="Calibri" panose="020F0502020204030204"/>
              </a:rPr>
              <a:t>u_dhm_sleep_logic</a:t>
            </a:r>
            <a:endParaRPr sz="900">
              <a:latin typeface="Calibri" panose="020F0502020204030204"/>
              <a:cs typeface="Calibri" panose="020F0502020204030204"/>
            </a:endParaRPr>
          </a:p>
        </p:txBody>
      </p:sp>
      <p:sp>
        <p:nvSpPr>
          <p:cNvPr id="25" name="object 25"/>
          <p:cNvSpPr txBox="1"/>
          <p:nvPr/>
        </p:nvSpPr>
        <p:spPr>
          <a:xfrm>
            <a:off x="650925" y="537718"/>
            <a:ext cx="337820" cy="254000"/>
          </a:xfrm>
          <a:prstGeom prst="rect">
            <a:avLst/>
          </a:prstGeom>
        </p:spPr>
        <p:txBody>
          <a:bodyPr vert="horz" wrap="square" lIns="0" tIns="12700" rIns="0" bIns="0" rtlCol="0">
            <a:spAutoFit/>
          </a:bodyPr>
          <a:lstStyle/>
          <a:p>
            <a:pPr marL="12700">
              <a:lnSpc>
                <a:spcPct val="100000"/>
              </a:lnSpc>
              <a:spcBef>
                <a:spcPts val="100"/>
              </a:spcBef>
            </a:pPr>
            <a:r>
              <a:rPr sz="1500" i="1" spc="-25" dirty="0">
                <a:solidFill>
                  <a:srgbClr val="6F2F9F"/>
                </a:solidFill>
                <a:latin typeface="Calibri" panose="020F0502020204030204"/>
                <a:cs typeface="Calibri" panose="020F0502020204030204"/>
              </a:rPr>
              <a:t>TOP</a:t>
            </a:r>
            <a:endParaRPr sz="1500">
              <a:latin typeface="Calibri" panose="020F0502020204030204"/>
              <a:cs typeface="Calibri" panose="020F0502020204030204"/>
            </a:endParaRPr>
          </a:p>
        </p:txBody>
      </p:sp>
      <p:sp>
        <p:nvSpPr>
          <p:cNvPr id="26" name="object 26"/>
          <p:cNvSpPr txBox="1"/>
          <p:nvPr/>
        </p:nvSpPr>
        <p:spPr>
          <a:xfrm>
            <a:off x="1201902" y="1137793"/>
            <a:ext cx="304165" cy="254000"/>
          </a:xfrm>
          <a:prstGeom prst="rect">
            <a:avLst/>
          </a:prstGeom>
        </p:spPr>
        <p:txBody>
          <a:bodyPr vert="horz" wrap="square" lIns="0" tIns="12700" rIns="0" bIns="0" rtlCol="0">
            <a:spAutoFit/>
          </a:bodyPr>
          <a:lstStyle/>
          <a:p>
            <a:pPr>
              <a:lnSpc>
                <a:spcPct val="100000"/>
              </a:lnSpc>
              <a:spcBef>
                <a:spcPts val="100"/>
              </a:spcBef>
            </a:pPr>
            <a:r>
              <a:rPr sz="1500" i="1" spc="-25" dirty="0">
                <a:solidFill>
                  <a:srgbClr val="FF6600"/>
                </a:solidFill>
                <a:latin typeface="Calibri" panose="020F0502020204030204"/>
                <a:cs typeface="Calibri" panose="020F0502020204030204"/>
              </a:rPr>
              <a:t>pd1</a:t>
            </a:r>
            <a:endParaRPr sz="1500">
              <a:latin typeface="Calibri" panose="020F0502020204030204"/>
              <a:cs typeface="Calibri" panose="020F0502020204030204"/>
            </a:endParaRPr>
          </a:p>
        </p:txBody>
      </p:sp>
      <p:sp>
        <p:nvSpPr>
          <p:cNvPr id="27" name="object 27"/>
          <p:cNvSpPr txBox="1"/>
          <p:nvPr/>
        </p:nvSpPr>
        <p:spPr>
          <a:xfrm>
            <a:off x="4603877" y="678464"/>
            <a:ext cx="2733675" cy="1355725"/>
          </a:xfrm>
          <a:prstGeom prst="rect">
            <a:avLst/>
          </a:prstGeom>
        </p:spPr>
        <p:txBody>
          <a:bodyPr vert="horz" wrap="square" lIns="0" tIns="101600" rIns="0" bIns="0" rtlCol="0">
            <a:spAutoFit/>
          </a:bodyPr>
          <a:lstStyle/>
          <a:p>
            <a:pPr marL="12700">
              <a:lnSpc>
                <a:spcPct val="100000"/>
              </a:lnSpc>
              <a:spcBef>
                <a:spcPts val="800"/>
              </a:spcBef>
            </a:pPr>
            <a:r>
              <a:rPr sz="1800" b="1" dirty="0">
                <a:solidFill>
                  <a:srgbClr val="35362F"/>
                </a:solidFill>
                <a:latin typeface="Calibri" panose="020F0502020204030204"/>
                <a:cs typeface="Calibri" panose="020F0502020204030204"/>
              </a:rPr>
              <a:t>Create</a:t>
            </a:r>
            <a:r>
              <a:rPr sz="1800" b="1" spc="-45" dirty="0">
                <a:solidFill>
                  <a:srgbClr val="35362F"/>
                </a:solidFill>
                <a:latin typeface="Calibri" panose="020F0502020204030204"/>
                <a:cs typeface="Calibri" panose="020F0502020204030204"/>
              </a:rPr>
              <a:t> </a:t>
            </a:r>
            <a:r>
              <a:rPr sz="1800" b="1" dirty="0">
                <a:solidFill>
                  <a:srgbClr val="35362F"/>
                </a:solidFill>
                <a:latin typeface="Calibri" panose="020F0502020204030204"/>
                <a:cs typeface="Calibri" panose="020F0502020204030204"/>
              </a:rPr>
              <a:t>top</a:t>
            </a:r>
            <a:r>
              <a:rPr sz="1800" b="1" spc="-55" dirty="0">
                <a:solidFill>
                  <a:srgbClr val="35362F"/>
                </a:solidFill>
                <a:latin typeface="Calibri" panose="020F0502020204030204"/>
                <a:cs typeface="Calibri" panose="020F0502020204030204"/>
              </a:rPr>
              <a:t> </a:t>
            </a:r>
            <a:r>
              <a:rPr sz="1800" b="1" dirty="0">
                <a:solidFill>
                  <a:srgbClr val="35362F"/>
                </a:solidFill>
                <a:latin typeface="Calibri" panose="020F0502020204030204"/>
                <a:cs typeface="Calibri" panose="020F0502020204030204"/>
              </a:rPr>
              <a:t>level</a:t>
            </a:r>
            <a:r>
              <a:rPr sz="1800" b="1" spc="-65" dirty="0">
                <a:solidFill>
                  <a:srgbClr val="35362F"/>
                </a:solidFill>
                <a:latin typeface="Calibri" panose="020F0502020204030204"/>
                <a:cs typeface="Calibri" panose="020F0502020204030204"/>
              </a:rPr>
              <a:t> </a:t>
            </a:r>
            <a:r>
              <a:rPr sz="1800" b="1" dirty="0">
                <a:solidFill>
                  <a:srgbClr val="35362F"/>
                </a:solidFill>
                <a:latin typeface="Calibri" panose="020F0502020204030204"/>
                <a:cs typeface="Calibri" panose="020F0502020204030204"/>
              </a:rPr>
              <a:t>supply</a:t>
            </a:r>
            <a:r>
              <a:rPr sz="1800" b="1" spc="-65" dirty="0">
                <a:solidFill>
                  <a:srgbClr val="35362F"/>
                </a:solidFill>
                <a:latin typeface="Calibri" panose="020F0502020204030204"/>
                <a:cs typeface="Calibri" panose="020F0502020204030204"/>
              </a:rPr>
              <a:t> </a:t>
            </a:r>
            <a:r>
              <a:rPr sz="1800" b="1" spc="-10" dirty="0">
                <a:solidFill>
                  <a:srgbClr val="35362F"/>
                </a:solidFill>
                <a:latin typeface="Calibri" panose="020F0502020204030204"/>
                <a:cs typeface="Calibri" panose="020F0502020204030204"/>
              </a:rPr>
              <a:t>ports</a:t>
            </a:r>
            <a:endParaRPr sz="1800">
              <a:latin typeface="Calibri" panose="020F0502020204030204"/>
              <a:cs typeface="Calibri" panose="020F0502020204030204"/>
            </a:endParaRPr>
          </a:p>
          <a:p>
            <a:pPr marL="12700" marR="617220">
              <a:lnSpc>
                <a:spcPct val="100000"/>
              </a:lnSpc>
              <a:spcBef>
                <a:spcPts val="620"/>
              </a:spcBef>
            </a:pPr>
            <a:r>
              <a:rPr sz="1600" i="1" spc="-10" dirty="0">
                <a:solidFill>
                  <a:srgbClr val="0000FF"/>
                </a:solidFill>
                <a:latin typeface="Calibri" panose="020F0502020204030204"/>
                <a:cs typeface="Calibri" panose="020F0502020204030204"/>
              </a:rPr>
              <a:t>create_supply_port</a:t>
            </a:r>
            <a:r>
              <a:rPr sz="1600" i="1" spc="55" dirty="0">
                <a:solidFill>
                  <a:srgbClr val="0000FF"/>
                </a:solidFill>
                <a:latin typeface="Calibri" panose="020F0502020204030204"/>
                <a:cs typeface="Calibri" panose="020F0502020204030204"/>
              </a:rPr>
              <a:t> </a:t>
            </a:r>
            <a:r>
              <a:rPr sz="1600" i="1" spc="-25" dirty="0">
                <a:solidFill>
                  <a:srgbClr val="0000FF"/>
                </a:solidFill>
                <a:latin typeface="Calibri" panose="020F0502020204030204"/>
                <a:cs typeface="Calibri" panose="020F0502020204030204"/>
              </a:rPr>
              <a:t>VDD </a:t>
            </a:r>
            <a:endParaRPr sz="1600" i="1" spc="-25" dirty="0">
              <a:solidFill>
                <a:srgbClr val="0000FF"/>
              </a:solidFill>
              <a:latin typeface="Calibri" panose="020F0502020204030204"/>
              <a:cs typeface="Calibri" panose="020F0502020204030204"/>
            </a:endParaRPr>
          </a:p>
          <a:p>
            <a:pPr marL="12700" marR="617220">
              <a:lnSpc>
                <a:spcPct val="100000"/>
              </a:lnSpc>
              <a:spcBef>
                <a:spcPts val="620"/>
              </a:spcBef>
            </a:pPr>
            <a:r>
              <a:rPr sz="1600" i="1" spc="-10" dirty="0">
                <a:solidFill>
                  <a:srgbClr val="0000FF"/>
                </a:solidFill>
                <a:latin typeface="Calibri" panose="020F0502020204030204"/>
                <a:cs typeface="Calibri" panose="020F0502020204030204"/>
              </a:rPr>
              <a:t>create_supply_port</a:t>
            </a:r>
            <a:r>
              <a:rPr sz="1600" i="1" spc="55" dirty="0">
                <a:solidFill>
                  <a:srgbClr val="0000FF"/>
                </a:solidFill>
                <a:latin typeface="Calibri" panose="020F0502020204030204"/>
                <a:cs typeface="Calibri" panose="020F0502020204030204"/>
              </a:rPr>
              <a:t> </a:t>
            </a:r>
            <a:r>
              <a:rPr sz="1600" i="1" spc="-20" dirty="0">
                <a:solidFill>
                  <a:srgbClr val="0000FF"/>
                </a:solidFill>
                <a:latin typeface="Calibri" panose="020F0502020204030204"/>
                <a:cs typeface="Calibri" panose="020F0502020204030204"/>
              </a:rPr>
              <a:t>VDDL</a:t>
            </a:r>
            <a:endParaRPr sz="1600" i="1" spc="-20" dirty="0">
              <a:solidFill>
                <a:srgbClr val="0000FF"/>
              </a:solidFill>
              <a:latin typeface="Calibri" panose="020F0502020204030204"/>
              <a:cs typeface="Calibri" panose="020F0502020204030204"/>
            </a:endParaRPr>
          </a:p>
          <a:p>
            <a:pPr marL="12700" marR="617220">
              <a:lnSpc>
                <a:spcPct val="100000"/>
              </a:lnSpc>
              <a:spcBef>
                <a:spcPts val="620"/>
              </a:spcBef>
            </a:pPr>
            <a:r>
              <a:rPr sz="1600" i="1" spc="-20" dirty="0">
                <a:solidFill>
                  <a:srgbClr val="0000FF"/>
                </a:solidFill>
                <a:latin typeface="Calibri" panose="020F0502020204030204"/>
                <a:cs typeface="Calibri" panose="020F0502020204030204"/>
              </a:rPr>
              <a:t> </a:t>
            </a:r>
            <a:r>
              <a:rPr sz="1600" i="1" spc="-10" dirty="0">
                <a:solidFill>
                  <a:srgbClr val="0000FF"/>
                </a:solidFill>
                <a:latin typeface="Calibri" panose="020F0502020204030204"/>
                <a:cs typeface="Calibri" panose="020F0502020204030204"/>
              </a:rPr>
              <a:t>create_supply_port</a:t>
            </a:r>
            <a:r>
              <a:rPr sz="1600" i="1" spc="35" dirty="0">
                <a:solidFill>
                  <a:srgbClr val="0000FF"/>
                </a:solidFill>
                <a:latin typeface="Calibri" panose="020F0502020204030204"/>
                <a:cs typeface="Calibri" panose="020F0502020204030204"/>
              </a:rPr>
              <a:t> </a:t>
            </a:r>
            <a:r>
              <a:rPr sz="1600" i="1" spc="-25" dirty="0">
                <a:solidFill>
                  <a:srgbClr val="0000FF"/>
                </a:solidFill>
                <a:latin typeface="Calibri" panose="020F0502020204030204"/>
                <a:cs typeface="Calibri" panose="020F0502020204030204"/>
              </a:rPr>
              <a:t>VSS</a:t>
            </a:r>
            <a:endParaRPr sz="1600">
              <a:latin typeface="Calibri" panose="020F0502020204030204"/>
              <a:cs typeface="Calibri" panose="020F0502020204030204"/>
            </a:endParaRPr>
          </a:p>
        </p:txBody>
      </p:sp>
      <p:sp>
        <p:nvSpPr>
          <p:cNvPr id="30" name="Text 0"/>
          <p:cNvSpPr/>
          <p:nvPr/>
        </p:nvSpPr>
        <p:spPr>
          <a:xfrm>
            <a:off x="284480" y="10922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电源网络的</a:t>
            </a:r>
            <a:r>
              <a:rPr lang="zh-CN" altLang="en-US" sz="1730" b="1" dirty="0">
                <a:latin typeface="微软雅黑" panose="020B0503020204020204" pitchFamily="34" charset="-122"/>
                <a:ea typeface="微软雅黑" panose="020B0503020204020204" pitchFamily="34" charset="-122"/>
                <a:sym typeface="+mn-ea"/>
              </a:rPr>
              <a:t>定义</a:t>
            </a:r>
            <a:endParaRPr lang="zh-CN" altLang="en-US" sz="1730" b="1"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grpSp>
        <p:nvGrpSpPr>
          <p:cNvPr id="2" name="object 2"/>
          <p:cNvGrpSpPr/>
          <p:nvPr/>
        </p:nvGrpSpPr>
        <p:grpSpPr>
          <a:xfrm>
            <a:off x="598423" y="796797"/>
            <a:ext cx="3788410" cy="3667760"/>
            <a:chOff x="353313" y="1170177"/>
            <a:chExt cx="3788410" cy="3667760"/>
          </a:xfrm>
        </p:grpSpPr>
        <p:sp>
          <p:nvSpPr>
            <p:cNvPr id="3" name="object 3"/>
            <p:cNvSpPr/>
            <p:nvPr/>
          </p:nvSpPr>
          <p:spPr>
            <a:xfrm>
              <a:off x="359663" y="1176527"/>
              <a:ext cx="3749040" cy="3621404"/>
            </a:xfrm>
            <a:custGeom>
              <a:avLst/>
              <a:gdLst/>
              <a:ahLst/>
              <a:cxnLst/>
              <a:rect l="l" t="t" r="r" b="b"/>
              <a:pathLst>
                <a:path w="3749040" h="3621404">
                  <a:moveTo>
                    <a:pt x="0" y="3621024"/>
                  </a:moveTo>
                  <a:lnTo>
                    <a:pt x="3749040" y="3621024"/>
                  </a:lnTo>
                  <a:lnTo>
                    <a:pt x="3749040" y="0"/>
                  </a:lnTo>
                  <a:lnTo>
                    <a:pt x="0" y="0"/>
                  </a:lnTo>
                  <a:lnTo>
                    <a:pt x="0" y="3621024"/>
                  </a:lnTo>
                  <a:close/>
                </a:path>
              </a:pathLst>
            </a:custGeom>
            <a:ln w="12700">
              <a:solidFill>
                <a:srgbClr val="6F2F9F"/>
              </a:solidFill>
              <a:prstDash val="sysDash"/>
            </a:ln>
          </p:spPr>
          <p:txBody>
            <a:bodyPr wrap="square" lIns="0" tIns="0" rIns="0" bIns="0" rtlCol="0"/>
            <a:lstStyle/>
            <a:p/>
          </p:txBody>
        </p:sp>
        <p:pic>
          <p:nvPicPr>
            <p:cNvPr id="4" name="object 4"/>
            <p:cNvPicPr/>
            <p:nvPr/>
          </p:nvPicPr>
          <p:blipFill>
            <a:blip r:embed="rId2" cstate="print"/>
            <a:stretch>
              <a:fillRect/>
            </a:stretch>
          </p:blipFill>
          <p:spPr>
            <a:xfrm>
              <a:off x="461771" y="1280159"/>
              <a:ext cx="3679698" cy="3557778"/>
            </a:xfrm>
            <a:prstGeom prst="rect">
              <a:avLst/>
            </a:prstGeom>
          </p:spPr>
        </p:pic>
        <p:sp>
          <p:nvSpPr>
            <p:cNvPr id="5" name="object 5"/>
            <p:cNvSpPr/>
            <p:nvPr/>
          </p:nvSpPr>
          <p:spPr>
            <a:xfrm>
              <a:off x="391667" y="1210055"/>
              <a:ext cx="3670300" cy="3548379"/>
            </a:xfrm>
            <a:custGeom>
              <a:avLst/>
              <a:gdLst/>
              <a:ahLst/>
              <a:cxnLst/>
              <a:rect l="l" t="t" r="r" b="b"/>
              <a:pathLst>
                <a:path w="3670300" h="3548379">
                  <a:moveTo>
                    <a:pt x="3669791" y="0"/>
                  </a:moveTo>
                  <a:lnTo>
                    <a:pt x="0" y="0"/>
                  </a:lnTo>
                  <a:lnTo>
                    <a:pt x="0" y="3547872"/>
                  </a:lnTo>
                  <a:lnTo>
                    <a:pt x="3669791" y="3547872"/>
                  </a:lnTo>
                  <a:lnTo>
                    <a:pt x="3669791" y="0"/>
                  </a:lnTo>
                  <a:close/>
                </a:path>
              </a:pathLst>
            </a:custGeom>
            <a:solidFill>
              <a:srgbClr val="FFFFFF"/>
            </a:solidFill>
          </p:spPr>
          <p:txBody>
            <a:bodyPr wrap="square" lIns="0" tIns="0" rIns="0" bIns="0" rtlCol="0"/>
            <a:lstStyle/>
            <a:p/>
          </p:txBody>
        </p:sp>
        <p:sp>
          <p:nvSpPr>
            <p:cNvPr id="6" name="object 6"/>
            <p:cNvSpPr/>
            <p:nvPr/>
          </p:nvSpPr>
          <p:spPr>
            <a:xfrm>
              <a:off x="391667" y="1210055"/>
              <a:ext cx="3670300" cy="3548379"/>
            </a:xfrm>
            <a:custGeom>
              <a:avLst/>
              <a:gdLst/>
              <a:ahLst/>
              <a:cxnLst/>
              <a:rect l="l" t="t" r="r" b="b"/>
              <a:pathLst>
                <a:path w="3670300" h="3548379">
                  <a:moveTo>
                    <a:pt x="0" y="3547872"/>
                  </a:moveTo>
                  <a:lnTo>
                    <a:pt x="3669791" y="3547872"/>
                  </a:lnTo>
                  <a:lnTo>
                    <a:pt x="3669791" y="0"/>
                  </a:lnTo>
                  <a:lnTo>
                    <a:pt x="0" y="0"/>
                  </a:lnTo>
                  <a:lnTo>
                    <a:pt x="0" y="3547872"/>
                  </a:lnTo>
                  <a:close/>
                </a:path>
              </a:pathLst>
            </a:custGeom>
            <a:ln w="9524">
              <a:solidFill>
                <a:srgbClr val="959595"/>
              </a:solidFill>
            </a:ln>
          </p:spPr>
          <p:txBody>
            <a:bodyPr wrap="square" lIns="0" tIns="0" rIns="0" bIns="0" rtlCol="0"/>
            <a:lstStyle/>
            <a:p/>
          </p:txBody>
        </p:sp>
        <p:pic>
          <p:nvPicPr>
            <p:cNvPr id="7" name="object 7"/>
            <p:cNvPicPr/>
            <p:nvPr/>
          </p:nvPicPr>
          <p:blipFill>
            <a:blip r:embed="rId3" cstate="print"/>
            <a:stretch>
              <a:fillRect/>
            </a:stretch>
          </p:blipFill>
          <p:spPr>
            <a:xfrm>
              <a:off x="947927" y="1877568"/>
              <a:ext cx="2646426" cy="2283713"/>
            </a:xfrm>
            <a:prstGeom prst="rect">
              <a:avLst/>
            </a:prstGeom>
          </p:spPr>
        </p:pic>
        <p:sp>
          <p:nvSpPr>
            <p:cNvPr id="8" name="object 8"/>
            <p:cNvSpPr/>
            <p:nvPr/>
          </p:nvSpPr>
          <p:spPr>
            <a:xfrm>
              <a:off x="915923" y="1845563"/>
              <a:ext cx="2636520" cy="2273935"/>
            </a:xfrm>
            <a:custGeom>
              <a:avLst/>
              <a:gdLst/>
              <a:ahLst/>
              <a:cxnLst/>
              <a:rect l="l" t="t" r="r" b="b"/>
              <a:pathLst>
                <a:path w="2636520" h="2273935">
                  <a:moveTo>
                    <a:pt x="2636520" y="0"/>
                  </a:moveTo>
                  <a:lnTo>
                    <a:pt x="0" y="0"/>
                  </a:lnTo>
                  <a:lnTo>
                    <a:pt x="0" y="2273808"/>
                  </a:lnTo>
                  <a:lnTo>
                    <a:pt x="2636520" y="2273808"/>
                  </a:lnTo>
                  <a:lnTo>
                    <a:pt x="2636520" y="0"/>
                  </a:lnTo>
                  <a:close/>
                </a:path>
              </a:pathLst>
            </a:custGeom>
            <a:solidFill>
              <a:srgbClr val="CCFFFF"/>
            </a:solidFill>
          </p:spPr>
          <p:txBody>
            <a:bodyPr wrap="square" lIns="0" tIns="0" rIns="0" bIns="0" rtlCol="0"/>
            <a:lstStyle/>
            <a:p/>
          </p:txBody>
        </p:sp>
        <p:sp>
          <p:nvSpPr>
            <p:cNvPr id="9" name="object 9"/>
            <p:cNvSpPr/>
            <p:nvPr/>
          </p:nvSpPr>
          <p:spPr>
            <a:xfrm>
              <a:off x="915923" y="1845563"/>
              <a:ext cx="2636520" cy="2273935"/>
            </a:xfrm>
            <a:custGeom>
              <a:avLst/>
              <a:gdLst/>
              <a:ahLst/>
              <a:cxnLst/>
              <a:rect l="l" t="t" r="r" b="b"/>
              <a:pathLst>
                <a:path w="2636520" h="2273935">
                  <a:moveTo>
                    <a:pt x="0" y="2273808"/>
                  </a:moveTo>
                  <a:lnTo>
                    <a:pt x="2636520" y="2273808"/>
                  </a:lnTo>
                  <a:lnTo>
                    <a:pt x="2636520" y="0"/>
                  </a:lnTo>
                  <a:lnTo>
                    <a:pt x="0" y="0"/>
                  </a:lnTo>
                  <a:lnTo>
                    <a:pt x="0" y="2273808"/>
                  </a:lnTo>
                  <a:close/>
                </a:path>
              </a:pathLst>
            </a:custGeom>
            <a:ln w="9525">
              <a:solidFill>
                <a:srgbClr val="69BD28"/>
              </a:solidFill>
            </a:ln>
          </p:spPr>
          <p:txBody>
            <a:bodyPr wrap="square" lIns="0" tIns="0" rIns="0" bIns="0" rtlCol="0"/>
            <a:lstStyle/>
            <a:p/>
          </p:txBody>
        </p:sp>
        <p:sp>
          <p:nvSpPr>
            <p:cNvPr id="10" name="object 10"/>
            <p:cNvSpPr/>
            <p:nvPr/>
          </p:nvSpPr>
          <p:spPr>
            <a:xfrm>
              <a:off x="1512569" y="1436369"/>
              <a:ext cx="0" cy="299085"/>
            </a:xfrm>
            <a:custGeom>
              <a:avLst/>
              <a:gdLst/>
              <a:ahLst/>
              <a:cxnLst/>
              <a:rect l="l" t="t" r="r" b="b"/>
              <a:pathLst>
                <a:path h="299085">
                  <a:moveTo>
                    <a:pt x="0" y="0"/>
                  </a:moveTo>
                  <a:lnTo>
                    <a:pt x="0" y="298703"/>
                  </a:lnTo>
                </a:path>
              </a:pathLst>
            </a:custGeom>
            <a:ln w="28575">
              <a:solidFill>
                <a:srgbClr val="35362F"/>
              </a:solidFill>
            </a:ln>
          </p:spPr>
          <p:txBody>
            <a:bodyPr wrap="square" lIns="0" tIns="0" rIns="0" bIns="0" rtlCol="0"/>
            <a:lstStyle/>
            <a:p/>
          </p:txBody>
        </p:sp>
      </p:grpSp>
      <p:sp>
        <p:nvSpPr>
          <p:cNvPr id="11" name="object 11"/>
          <p:cNvSpPr txBox="1"/>
          <p:nvPr/>
        </p:nvSpPr>
        <p:spPr>
          <a:xfrm>
            <a:off x="1200950" y="1514347"/>
            <a:ext cx="792480" cy="432434"/>
          </a:xfrm>
          <a:prstGeom prst="rect">
            <a:avLst/>
          </a:prstGeom>
          <a:solidFill>
            <a:srgbClr val="2CB6B3"/>
          </a:solidFill>
        </p:spPr>
        <p:txBody>
          <a:bodyPr vert="horz" wrap="square" lIns="0" tIns="0" rIns="0" bIns="0" rtlCol="0">
            <a:spAutoFit/>
          </a:bodyPr>
          <a:lstStyle/>
          <a:p>
            <a:pPr algn="ctr">
              <a:lnSpc>
                <a:spcPts val="1060"/>
              </a:lnSpc>
            </a:pPr>
            <a:r>
              <a:rPr sz="900" b="1" spc="-10" dirty="0">
                <a:solidFill>
                  <a:srgbClr val="FFFFFF"/>
                </a:solidFill>
                <a:latin typeface="Arial" panose="020B0604020202020204"/>
                <a:cs typeface="Arial" panose="020B0604020202020204"/>
              </a:rPr>
              <a:t>u_dhm_core</a:t>
            </a:r>
            <a:endParaRPr sz="900">
              <a:latin typeface="Arial" panose="020B0604020202020204"/>
              <a:cs typeface="Arial" panose="020B0604020202020204"/>
            </a:endParaRPr>
          </a:p>
          <a:p>
            <a:pPr algn="ctr">
              <a:lnSpc>
                <a:spcPct val="100000"/>
              </a:lnSpc>
              <a:spcBef>
                <a:spcPts val="155"/>
              </a:spcBef>
            </a:pPr>
            <a:r>
              <a:rPr sz="900" b="1" dirty="0">
                <a:solidFill>
                  <a:srgbClr val="FFFFFF"/>
                </a:solidFill>
                <a:latin typeface="Arial" panose="020B0604020202020204"/>
                <a:cs typeface="Arial" panose="020B0604020202020204"/>
              </a:rPr>
              <a:t>(1.08V</a:t>
            </a:r>
            <a:r>
              <a:rPr sz="900" b="1" spc="-15" dirty="0">
                <a:solidFill>
                  <a:srgbClr val="FFFFFF"/>
                </a:solidFill>
                <a:latin typeface="Arial" panose="020B0604020202020204"/>
                <a:cs typeface="Arial" panose="020B0604020202020204"/>
              </a:rPr>
              <a:t> </a:t>
            </a:r>
            <a:r>
              <a:rPr sz="900" b="1" dirty="0">
                <a:solidFill>
                  <a:srgbClr val="FFFFFF"/>
                </a:solidFill>
                <a:latin typeface="Arial" panose="020B0604020202020204"/>
                <a:cs typeface="Arial" panose="020B0604020202020204"/>
              </a:rPr>
              <a:t>/</a:t>
            </a:r>
            <a:r>
              <a:rPr sz="900" b="1" spc="-10" dirty="0">
                <a:solidFill>
                  <a:srgbClr val="FFFFFF"/>
                </a:solidFill>
                <a:latin typeface="Arial" panose="020B0604020202020204"/>
                <a:cs typeface="Arial" panose="020B0604020202020204"/>
              </a:rPr>
              <a:t> </a:t>
            </a:r>
            <a:r>
              <a:rPr sz="900" b="1" dirty="0">
                <a:solidFill>
                  <a:srgbClr val="FFFFFF"/>
                </a:solidFill>
                <a:latin typeface="Arial" panose="020B0604020202020204"/>
                <a:cs typeface="Arial" panose="020B0604020202020204"/>
              </a:rPr>
              <a:t>0.7V</a:t>
            </a:r>
            <a:r>
              <a:rPr sz="900" b="1" spc="-10" dirty="0">
                <a:solidFill>
                  <a:srgbClr val="FFFFFF"/>
                </a:solidFill>
                <a:latin typeface="Arial" panose="020B0604020202020204"/>
                <a:cs typeface="Arial" panose="020B0604020202020204"/>
              </a:rPr>
              <a:t> </a:t>
            </a:r>
            <a:r>
              <a:rPr sz="900" b="1" spc="-50" dirty="0">
                <a:solidFill>
                  <a:srgbClr val="FFFFFF"/>
                </a:solidFill>
                <a:latin typeface="Arial" panose="020B0604020202020204"/>
                <a:cs typeface="Arial" panose="020B0604020202020204"/>
              </a:rPr>
              <a:t>/</a:t>
            </a:r>
            <a:endParaRPr sz="900">
              <a:latin typeface="Arial" panose="020B0604020202020204"/>
              <a:cs typeface="Arial" panose="020B0604020202020204"/>
            </a:endParaRPr>
          </a:p>
          <a:p>
            <a:pPr marL="635" algn="ctr">
              <a:lnSpc>
                <a:spcPct val="100000"/>
              </a:lnSpc>
            </a:pPr>
            <a:r>
              <a:rPr sz="900" b="1" spc="-20" dirty="0">
                <a:solidFill>
                  <a:srgbClr val="FFFFFF"/>
                </a:solidFill>
                <a:latin typeface="Arial" panose="020B0604020202020204"/>
                <a:cs typeface="Arial" panose="020B0604020202020204"/>
              </a:rPr>
              <a:t>OFF)</a:t>
            </a:r>
            <a:endParaRPr sz="900">
              <a:latin typeface="Arial" panose="020B0604020202020204"/>
              <a:cs typeface="Arial" panose="020B0604020202020204"/>
            </a:endParaRPr>
          </a:p>
        </p:txBody>
      </p:sp>
      <p:sp>
        <p:nvSpPr>
          <p:cNvPr id="12" name="object 12"/>
          <p:cNvSpPr txBox="1"/>
          <p:nvPr/>
        </p:nvSpPr>
        <p:spPr>
          <a:xfrm>
            <a:off x="683755" y="870458"/>
            <a:ext cx="688975" cy="295275"/>
          </a:xfrm>
          <a:prstGeom prst="rect">
            <a:avLst/>
          </a:prstGeom>
          <a:solidFill>
            <a:srgbClr val="D37700"/>
          </a:solidFill>
        </p:spPr>
        <p:txBody>
          <a:bodyPr vert="horz" wrap="square" lIns="0" tIns="0" rIns="0" bIns="0" rtlCol="0">
            <a:spAutoFit/>
          </a:bodyPr>
          <a:lstStyle/>
          <a:p>
            <a:pPr marL="100965">
              <a:lnSpc>
                <a:spcPts val="1060"/>
              </a:lnSpc>
            </a:pPr>
            <a:r>
              <a:rPr sz="900" b="1" spc="-10" dirty="0">
                <a:solidFill>
                  <a:srgbClr val="FFFFFF"/>
                </a:solidFill>
                <a:latin typeface="Arial" panose="020B0604020202020204"/>
                <a:cs typeface="Arial" panose="020B0604020202020204"/>
              </a:rPr>
              <a:t>dhm_top</a:t>
            </a:r>
            <a:endParaRPr sz="900">
              <a:latin typeface="Arial" panose="020B0604020202020204"/>
              <a:cs typeface="Arial" panose="020B0604020202020204"/>
            </a:endParaRPr>
          </a:p>
          <a:p>
            <a:pPr marL="155575">
              <a:lnSpc>
                <a:spcPct val="100000"/>
              </a:lnSpc>
              <a:spcBef>
                <a:spcPts val="155"/>
              </a:spcBef>
            </a:pPr>
            <a:r>
              <a:rPr sz="900" b="1" spc="-10" dirty="0">
                <a:solidFill>
                  <a:srgbClr val="FFFFFF"/>
                </a:solidFill>
                <a:latin typeface="Arial" panose="020B0604020202020204"/>
                <a:cs typeface="Arial" panose="020B0604020202020204"/>
              </a:rPr>
              <a:t>(1.08V)</a:t>
            </a:r>
            <a:endParaRPr sz="900">
              <a:latin typeface="Arial" panose="020B0604020202020204"/>
              <a:cs typeface="Arial" panose="020B0604020202020204"/>
            </a:endParaRPr>
          </a:p>
        </p:txBody>
      </p:sp>
      <p:sp>
        <p:nvSpPr>
          <p:cNvPr id="13" name="object 13"/>
          <p:cNvSpPr txBox="1"/>
          <p:nvPr/>
        </p:nvSpPr>
        <p:spPr>
          <a:xfrm>
            <a:off x="1882774" y="882218"/>
            <a:ext cx="295275" cy="208915"/>
          </a:xfrm>
          <a:prstGeom prst="rect">
            <a:avLst/>
          </a:prstGeom>
        </p:spPr>
        <p:txBody>
          <a:bodyPr vert="horz" wrap="square" lIns="0" tIns="12700" rIns="0" bIns="0" rtlCol="0">
            <a:spAutoFit/>
          </a:bodyPr>
          <a:lstStyle/>
          <a:p>
            <a:pPr>
              <a:lnSpc>
                <a:spcPct val="100000"/>
              </a:lnSpc>
              <a:spcBef>
                <a:spcPts val="100"/>
              </a:spcBef>
            </a:pPr>
            <a:r>
              <a:rPr sz="1200" b="1" spc="-25" dirty="0">
                <a:solidFill>
                  <a:srgbClr val="35362F"/>
                </a:solidFill>
                <a:latin typeface="Calibri" panose="020F0502020204030204"/>
                <a:cs typeface="Calibri" panose="020F0502020204030204"/>
              </a:rPr>
              <a:t>VDD</a:t>
            </a:r>
            <a:endParaRPr sz="1200">
              <a:latin typeface="Calibri" panose="020F0502020204030204"/>
              <a:cs typeface="Calibri" panose="020F0502020204030204"/>
            </a:endParaRPr>
          </a:p>
        </p:txBody>
      </p:sp>
      <p:sp>
        <p:nvSpPr>
          <p:cNvPr id="14" name="object 14"/>
          <p:cNvSpPr/>
          <p:nvPr/>
        </p:nvSpPr>
        <p:spPr>
          <a:xfrm>
            <a:off x="1699006" y="765047"/>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5362F"/>
            </a:solidFill>
          </a:ln>
        </p:spPr>
        <p:txBody>
          <a:bodyPr wrap="square" lIns="0" tIns="0" rIns="0" bIns="0" rtlCol="0"/>
          <a:lstStyle/>
          <a:p/>
        </p:txBody>
      </p:sp>
      <p:grpSp>
        <p:nvGrpSpPr>
          <p:cNvPr id="15" name="object 15"/>
          <p:cNvGrpSpPr/>
          <p:nvPr/>
        </p:nvGrpSpPr>
        <p:grpSpPr>
          <a:xfrm>
            <a:off x="1699006" y="765047"/>
            <a:ext cx="1270000" cy="119380"/>
            <a:chOff x="1453896" y="1138427"/>
            <a:chExt cx="1270000" cy="119380"/>
          </a:xfrm>
        </p:grpSpPr>
        <p:pic>
          <p:nvPicPr>
            <p:cNvPr id="16" name="object 16"/>
            <p:cNvPicPr/>
            <p:nvPr/>
          </p:nvPicPr>
          <p:blipFill>
            <a:blip r:embed="rId4" cstate="print"/>
            <a:stretch>
              <a:fillRect/>
            </a:stretch>
          </p:blipFill>
          <p:spPr>
            <a:xfrm>
              <a:off x="1453896" y="1138427"/>
              <a:ext cx="114300" cy="114300"/>
            </a:xfrm>
            <a:prstGeom prst="rect">
              <a:avLst/>
            </a:prstGeom>
          </p:spPr>
        </p:pic>
        <p:pic>
          <p:nvPicPr>
            <p:cNvPr id="17" name="object 17"/>
            <p:cNvPicPr/>
            <p:nvPr/>
          </p:nvPicPr>
          <p:blipFill>
            <a:blip r:embed="rId5" cstate="print"/>
            <a:stretch>
              <a:fillRect/>
            </a:stretch>
          </p:blipFill>
          <p:spPr>
            <a:xfrm>
              <a:off x="2609088" y="1142999"/>
              <a:ext cx="114300" cy="114300"/>
            </a:xfrm>
            <a:prstGeom prst="rect">
              <a:avLst/>
            </a:prstGeom>
          </p:spPr>
        </p:pic>
      </p:grpSp>
      <p:sp>
        <p:nvSpPr>
          <p:cNvPr id="18" name="object 18"/>
          <p:cNvSpPr txBox="1"/>
          <p:nvPr/>
        </p:nvSpPr>
        <p:spPr>
          <a:xfrm>
            <a:off x="3031870" y="886205"/>
            <a:ext cx="360045" cy="208279"/>
          </a:xfrm>
          <a:prstGeom prst="rect">
            <a:avLst/>
          </a:prstGeom>
        </p:spPr>
        <p:txBody>
          <a:bodyPr vert="horz" wrap="square" lIns="0" tIns="12700" rIns="0" bIns="0" rtlCol="0">
            <a:spAutoFit/>
          </a:bodyPr>
          <a:lstStyle/>
          <a:p>
            <a:pPr>
              <a:lnSpc>
                <a:spcPct val="100000"/>
              </a:lnSpc>
              <a:spcBef>
                <a:spcPts val="100"/>
              </a:spcBef>
            </a:pPr>
            <a:r>
              <a:rPr sz="1200" b="1" spc="-20" dirty="0">
                <a:solidFill>
                  <a:srgbClr val="35362F"/>
                </a:solidFill>
                <a:latin typeface="Calibri" panose="020F0502020204030204"/>
                <a:cs typeface="Calibri" panose="020F0502020204030204"/>
              </a:rPr>
              <a:t>VDDL</a:t>
            </a:r>
            <a:endParaRPr sz="1200">
              <a:latin typeface="Calibri" panose="020F0502020204030204"/>
              <a:cs typeface="Calibri" panose="020F0502020204030204"/>
            </a:endParaRPr>
          </a:p>
        </p:txBody>
      </p:sp>
      <p:sp>
        <p:nvSpPr>
          <p:cNvPr id="19" name="object 19"/>
          <p:cNvSpPr/>
          <p:nvPr/>
        </p:nvSpPr>
        <p:spPr>
          <a:xfrm>
            <a:off x="2854198" y="769620"/>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5362F"/>
            </a:solidFill>
          </a:ln>
        </p:spPr>
        <p:txBody>
          <a:bodyPr wrap="square" lIns="0" tIns="0" rIns="0" bIns="0" rtlCol="0"/>
          <a:lstStyle/>
          <a:p/>
        </p:txBody>
      </p:sp>
      <p:sp>
        <p:nvSpPr>
          <p:cNvPr id="20" name="object 20"/>
          <p:cNvSpPr txBox="1"/>
          <p:nvPr/>
        </p:nvSpPr>
        <p:spPr>
          <a:xfrm>
            <a:off x="3777995" y="895858"/>
            <a:ext cx="245745" cy="208279"/>
          </a:xfrm>
          <a:prstGeom prst="rect">
            <a:avLst/>
          </a:prstGeom>
        </p:spPr>
        <p:txBody>
          <a:bodyPr vert="horz" wrap="square" lIns="0" tIns="12700" rIns="0" bIns="0" rtlCol="0">
            <a:spAutoFit/>
          </a:bodyPr>
          <a:lstStyle/>
          <a:p>
            <a:pPr>
              <a:lnSpc>
                <a:spcPct val="100000"/>
              </a:lnSpc>
              <a:spcBef>
                <a:spcPts val="100"/>
              </a:spcBef>
            </a:pPr>
            <a:r>
              <a:rPr sz="1200" b="1" spc="-25" dirty="0">
                <a:solidFill>
                  <a:srgbClr val="35362F"/>
                </a:solidFill>
                <a:latin typeface="Calibri" panose="020F0502020204030204"/>
                <a:cs typeface="Calibri" panose="020F0502020204030204"/>
              </a:rPr>
              <a:t>VSS</a:t>
            </a:r>
            <a:endParaRPr sz="1200">
              <a:latin typeface="Calibri" panose="020F0502020204030204"/>
              <a:cs typeface="Calibri" panose="020F0502020204030204"/>
            </a:endParaRPr>
          </a:p>
        </p:txBody>
      </p:sp>
      <p:sp>
        <p:nvSpPr>
          <p:cNvPr id="21" name="object 21"/>
          <p:cNvSpPr/>
          <p:nvPr/>
        </p:nvSpPr>
        <p:spPr>
          <a:xfrm>
            <a:off x="3637533" y="758952"/>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5362F"/>
            </a:solidFill>
          </a:ln>
        </p:spPr>
        <p:txBody>
          <a:bodyPr wrap="square" lIns="0" tIns="0" rIns="0" bIns="0" rtlCol="0"/>
          <a:lstStyle/>
          <a:p/>
        </p:txBody>
      </p:sp>
      <p:grpSp>
        <p:nvGrpSpPr>
          <p:cNvPr id="22" name="object 22"/>
          <p:cNvGrpSpPr/>
          <p:nvPr/>
        </p:nvGrpSpPr>
        <p:grpSpPr>
          <a:xfrm>
            <a:off x="1127251" y="758952"/>
            <a:ext cx="2724150" cy="3041015"/>
            <a:chOff x="882141" y="1132332"/>
            <a:chExt cx="2724150" cy="3041015"/>
          </a:xfrm>
        </p:grpSpPr>
        <p:pic>
          <p:nvPicPr>
            <p:cNvPr id="23" name="object 23"/>
            <p:cNvPicPr/>
            <p:nvPr/>
          </p:nvPicPr>
          <p:blipFill>
            <a:blip r:embed="rId6" cstate="print"/>
            <a:stretch>
              <a:fillRect/>
            </a:stretch>
          </p:blipFill>
          <p:spPr>
            <a:xfrm>
              <a:off x="3392424" y="1132332"/>
              <a:ext cx="114300" cy="114300"/>
            </a:xfrm>
            <a:prstGeom prst="rect">
              <a:avLst/>
            </a:prstGeom>
          </p:spPr>
        </p:pic>
        <p:sp>
          <p:nvSpPr>
            <p:cNvPr id="24" name="object 24"/>
            <p:cNvSpPr/>
            <p:nvPr/>
          </p:nvSpPr>
          <p:spPr>
            <a:xfrm>
              <a:off x="2676906" y="1443990"/>
              <a:ext cx="771525" cy="299085"/>
            </a:xfrm>
            <a:custGeom>
              <a:avLst/>
              <a:gdLst/>
              <a:ahLst/>
              <a:cxnLst/>
              <a:rect l="l" t="t" r="r" b="b"/>
              <a:pathLst>
                <a:path w="771525" h="299085">
                  <a:moveTo>
                    <a:pt x="0" y="0"/>
                  </a:moveTo>
                  <a:lnTo>
                    <a:pt x="0" y="298704"/>
                  </a:lnTo>
                </a:path>
                <a:path w="771525" h="299085">
                  <a:moveTo>
                    <a:pt x="771144" y="0"/>
                  </a:moveTo>
                  <a:lnTo>
                    <a:pt x="771144" y="298704"/>
                  </a:lnTo>
                </a:path>
              </a:pathLst>
            </a:custGeom>
            <a:ln w="28575">
              <a:solidFill>
                <a:srgbClr val="35362F"/>
              </a:solidFill>
            </a:ln>
          </p:spPr>
          <p:txBody>
            <a:bodyPr wrap="square" lIns="0" tIns="0" rIns="0" bIns="0" rtlCol="0"/>
            <a:lstStyle/>
            <a:p/>
          </p:txBody>
        </p:sp>
        <p:sp>
          <p:nvSpPr>
            <p:cNvPr id="25" name="object 25"/>
            <p:cNvSpPr/>
            <p:nvPr/>
          </p:nvSpPr>
          <p:spPr>
            <a:xfrm>
              <a:off x="888491" y="1819656"/>
              <a:ext cx="2711450" cy="2346960"/>
            </a:xfrm>
            <a:custGeom>
              <a:avLst/>
              <a:gdLst/>
              <a:ahLst/>
              <a:cxnLst/>
              <a:rect l="l" t="t" r="r" b="b"/>
              <a:pathLst>
                <a:path w="2711450" h="2346960">
                  <a:moveTo>
                    <a:pt x="0" y="2346960"/>
                  </a:moveTo>
                  <a:lnTo>
                    <a:pt x="2711196" y="2346960"/>
                  </a:lnTo>
                  <a:lnTo>
                    <a:pt x="2711196" y="0"/>
                  </a:lnTo>
                  <a:lnTo>
                    <a:pt x="0" y="0"/>
                  </a:lnTo>
                  <a:lnTo>
                    <a:pt x="0" y="2346960"/>
                  </a:lnTo>
                  <a:close/>
                </a:path>
              </a:pathLst>
            </a:custGeom>
            <a:ln w="12700">
              <a:solidFill>
                <a:srgbClr val="FF6600"/>
              </a:solidFill>
              <a:prstDash val="sysDash"/>
            </a:ln>
          </p:spPr>
          <p:txBody>
            <a:bodyPr wrap="square" lIns="0" tIns="0" rIns="0" bIns="0" rtlCol="0"/>
            <a:lstStyle/>
            <a:p/>
          </p:txBody>
        </p:sp>
      </p:grpSp>
      <p:sp>
        <p:nvSpPr>
          <p:cNvPr id="26" name="object 26"/>
          <p:cNvSpPr txBox="1"/>
          <p:nvPr/>
        </p:nvSpPr>
        <p:spPr>
          <a:xfrm>
            <a:off x="1171701" y="3922775"/>
            <a:ext cx="2638425" cy="248920"/>
          </a:xfrm>
          <a:prstGeom prst="rect">
            <a:avLst/>
          </a:prstGeom>
          <a:solidFill>
            <a:srgbClr val="EF8600"/>
          </a:solidFill>
          <a:ln w="3175">
            <a:solidFill>
              <a:srgbClr val="B86700"/>
            </a:solidFill>
          </a:ln>
        </p:spPr>
        <p:txBody>
          <a:bodyPr vert="horz" wrap="square" lIns="0" tIns="29845" rIns="0" bIns="0" rtlCol="0">
            <a:spAutoFit/>
          </a:bodyPr>
          <a:lstStyle/>
          <a:p>
            <a:pPr marL="92075">
              <a:lnSpc>
                <a:spcPct val="100000"/>
              </a:lnSpc>
              <a:spcBef>
                <a:spcPts val="235"/>
              </a:spcBef>
            </a:pPr>
            <a:r>
              <a:rPr sz="900" spc="-10" dirty="0">
                <a:solidFill>
                  <a:srgbClr val="35362F"/>
                </a:solidFill>
                <a:latin typeface="Calibri" panose="020F0502020204030204"/>
                <a:cs typeface="Calibri" panose="020F0502020204030204"/>
              </a:rPr>
              <a:t>u_dhm_sleep_logic</a:t>
            </a:r>
            <a:endParaRPr sz="900">
              <a:latin typeface="Calibri" panose="020F0502020204030204"/>
              <a:cs typeface="Calibri" panose="020F0502020204030204"/>
            </a:endParaRPr>
          </a:p>
        </p:txBody>
      </p:sp>
      <p:sp>
        <p:nvSpPr>
          <p:cNvPr id="27" name="object 27"/>
          <p:cNvSpPr txBox="1"/>
          <p:nvPr/>
        </p:nvSpPr>
        <p:spPr>
          <a:xfrm>
            <a:off x="608533" y="577723"/>
            <a:ext cx="337185" cy="254000"/>
          </a:xfrm>
          <a:prstGeom prst="rect">
            <a:avLst/>
          </a:prstGeom>
        </p:spPr>
        <p:txBody>
          <a:bodyPr vert="horz" wrap="square" lIns="0" tIns="12700" rIns="0" bIns="0" rtlCol="0">
            <a:spAutoFit/>
          </a:bodyPr>
          <a:lstStyle/>
          <a:p>
            <a:pPr marL="12700">
              <a:lnSpc>
                <a:spcPct val="100000"/>
              </a:lnSpc>
              <a:spcBef>
                <a:spcPts val="100"/>
              </a:spcBef>
            </a:pPr>
            <a:r>
              <a:rPr sz="1500" i="1" spc="-25" dirty="0">
                <a:solidFill>
                  <a:srgbClr val="6F2F9F"/>
                </a:solidFill>
                <a:latin typeface="Calibri" panose="020F0502020204030204"/>
                <a:cs typeface="Calibri" panose="020F0502020204030204"/>
              </a:rPr>
              <a:t>TOP</a:t>
            </a:r>
            <a:endParaRPr sz="1500">
              <a:latin typeface="Calibri" panose="020F0502020204030204"/>
              <a:cs typeface="Calibri" panose="020F0502020204030204"/>
            </a:endParaRPr>
          </a:p>
        </p:txBody>
      </p:sp>
      <p:sp>
        <p:nvSpPr>
          <p:cNvPr id="28" name="object 28"/>
          <p:cNvSpPr txBox="1"/>
          <p:nvPr/>
        </p:nvSpPr>
        <p:spPr>
          <a:xfrm>
            <a:off x="1159510" y="1177798"/>
            <a:ext cx="304165" cy="254000"/>
          </a:xfrm>
          <a:prstGeom prst="rect">
            <a:avLst/>
          </a:prstGeom>
        </p:spPr>
        <p:txBody>
          <a:bodyPr vert="horz" wrap="square" lIns="0" tIns="12700" rIns="0" bIns="0" rtlCol="0">
            <a:spAutoFit/>
          </a:bodyPr>
          <a:lstStyle/>
          <a:p>
            <a:pPr>
              <a:lnSpc>
                <a:spcPct val="100000"/>
              </a:lnSpc>
              <a:spcBef>
                <a:spcPts val="100"/>
              </a:spcBef>
            </a:pPr>
            <a:r>
              <a:rPr sz="1500" i="1" spc="-25" dirty="0">
                <a:solidFill>
                  <a:srgbClr val="FF6600"/>
                </a:solidFill>
                <a:latin typeface="Calibri" panose="020F0502020204030204"/>
                <a:cs typeface="Calibri" panose="020F0502020204030204"/>
              </a:rPr>
              <a:t>pd1</a:t>
            </a:r>
            <a:endParaRPr sz="1500">
              <a:latin typeface="Calibri" panose="020F0502020204030204"/>
              <a:cs typeface="Calibri" panose="020F0502020204030204"/>
            </a:endParaRPr>
          </a:p>
        </p:txBody>
      </p:sp>
      <p:sp>
        <p:nvSpPr>
          <p:cNvPr id="29" name="object 29"/>
          <p:cNvSpPr txBox="1"/>
          <p:nvPr/>
        </p:nvSpPr>
        <p:spPr>
          <a:xfrm>
            <a:off x="4508500" y="649992"/>
            <a:ext cx="3155950" cy="1344930"/>
          </a:xfrm>
          <a:prstGeom prst="rect">
            <a:avLst/>
          </a:prstGeom>
        </p:spPr>
        <p:txBody>
          <a:bodyPr vert="horz" wrap="square" lIns="0" tIns="98425" rIns="0" bIns="0" rtlCol="0">
            <a:spAutoFit/>
          </a:bodyPr>
          <a:lstStyle/>
          <a:p>
            <a:pPr marL="12700">
              <a:lnSpc>
                <a:spcPct val="100000"/>
              </a:lnSpc>
              <a:spcBef>
                <a:spcPts val="775"/>
              </a:spcBef>
            </a:pPr>
            <a:r>
              <a:rPr sz="1800" b="1" dirty="0">
                <a:solidFill>
                  <a:srgbClr val="35362F"/>
                </a:solidFill>
                <a:latin typeface="Calibri" panose="020F0502020204030204"/>
                <a:cs typeface="Calibri" panose="020F0502020204030204"/>
              </a:rPr>
              <a:t>Create</a:t>
            </a:r>
            <a:r>
              <a:rPr sz="1800" b="1" spc="-30" dirty="0">
                <a:solidFill>
                  <a:srgbClr val="35362F"/>
                </a:solidFill>
                <a:latin typeface="Calibri" panose="020F0502020204030204"/>
                <a:cs typeface="Calibri" panose="020F0502020204030204"/>
              </a:rPr>
              <a:t> </a:t>
            </a:r>
            <a:r>
              <a:rPr sz="1800" b="1" dirty="0">
                <a:solidFill>
                  <a:srgbClr val="35362F"/>
                </a:solidFill>
                <a:latin typeface="Calibri" panose="020F0502020204030204"/>
                <a:cs typeface="Calibri" panose="020F0502020204030204"/>
              </a:rPr>
              <a:t>supply</a:t>
            </a:r>
            <a:r>
              <a:rPr sz="1800" b="1" spc="-50" dirty="0">
                <a:solidFill>
                  <a:srgbClr val="35362F"/>
                </a:solidFill>
                <a:latin typeface="Calibri" panose="020F0502020204030204"/>
                <a:cs typeface="Calibri" panose="020F0502020204030204"/>
              </a:rPr>
              <a:t> </a:t>
            </a:r>
            <a:r>
              <a:rPr sz="1800" b="1" dirty="0">
                <a:solidFill>
                  <a:srgbClr val="35362F"/>
                </a:solidFill>
                <a:latin typeface="Calibri" panose="020F0502020204030204"/>
                <a:cs typeface="Calibri" panose="020F0502020204030204"/>
              </a:rPr>
              <a:t>nets</a:t>
            </a:r>
            <a:r>
              <a:rPr sz="1800" b="1" spc="-30" dirty="0">
                <a:solidFill>
                  <a:srgbClr val="35362F"/>
                </a:solidFill>
                <a:latin typeface="Calibri" panose="020F0502020204030204"/>
                <a:cs typeface="Calibri" panose="020F0502020204030204"/>
              </a:rPr>
              <a:t> </a:t>
            </a:r>
            <a:r>
              <a:rPr sz="1800" b="1" dirty="0">
                <a:solidFill>
                  <a:srgbClr val="35362F"/>
                </a:solidFill>
                <a:latin typeface="Calibri" panose="020F0502020204030204"/>
                <a:cs typeface="Calibri" panose="020F0502020204030204"/>
              </a:rPr>
              <a:t>at</a:t>
            </a:r>
            <a:r>
              <a:rPr sz="1800" b="1" spc="-20" dirty="0">
                <a:solidFill>
                  <a:srgbClr val="35362F"/>
                </a:solidFill>
                <a:latin typeface="Calibri" panose="020F0502020204030204"/>
                <a:cs typeface="Calibri" panose="020F0502020204030204"/>
              </a:rPr>
              <a:t> </a:t>
            </a:r>
            <a:r>
              <a:rPr sz="1800" b="1" dirty="0">
                <a:solidFill>
                  <a:srgbClr val="35362F"/>
                </a:solidFill>
                <a:latin typeface="Calibri" panose="020F0502020204030204"/>
                <a:cs typeface="Calibri" panose="020F0502020204030204"/>
              </a:rPr>
              <a:t>top</a:t>
            </a:r>
            <a:r>
              <a:rPr sz="1800" b="1" spc="-40" dirty="0">
                <a:solidFill>
                  <a:srgbClr val="35362F"/>
                </a:solidFill>
                <a:latin typeface="Calibri" panose="020F0502020204030204"/>
                <a:cs typeface="Calibri" panose="020F0502020204030204"/>
              </a:rPr>
              <a:t> </a:t>
            </a:r>
            <a:r>
              <a:rPr sz="1800" b="1" spc="-20" dirty="0">
                <a:solidFill>
                  <a:srgbClr val="35362F"/>
                </a:solidFill>
                <a:latin typeface="Calibri" panose="020F0502020204030204"/>
                <a:cs typeface="Calibri" panose="020F0502020204030204"/>
              </a:rPr>
              <a:t>level</a:t>
            </a:r>
            <a:endParaRPr sz="1800">
              <a:latin typeface="Calibri" panose="020F0502020204030204"/>
              <a:cs typeface="Calibri" panose="020F0502020204030204"/>
            </a:endParaRPr>
          </a:p>
          <a:p>
            <a:pPr marL="12700" marR="5080">
              <a:lnSpc>
                <a:spcPct val="100000"/>
              </a:lnSpc>
              <a:spcBef>
                <a:spcPts val="600"/>
              </a:spcBef>
            </a:pPr>
            <a:r>
              <a:rPr sz="1600" i="1" spc="-10" dirty="0">
                <a:solidFill>
                  <a:srgbClr val="0000FF"/>
                </a:solidFill>
                <a:latin typeface="Calibri" panose="020F0502020204030204"/>
                <a:cs typeface="Calibri" panose="020F0502020204030204"/>
              </a:rPr>
              <a:t>create_supply_net</a:t>
            </a:r>
            <a:r>
              <a:rPr sz="1600" i="1" spc="-30" dirty="0">
                <a:solidFill>
                  <a:srgbClr val="0000FF"/>
                </a:solidFill>
                <a:latin typeface="Calibri" panose="020F0502020204030204"/>
                <a:cs typeface="Calibri" panose="020F0502020204030204"/>
              </a:rPr>
              <a:t> </a:t>
            </a:r>
            <a:r>
              <a:rPr sz="1600" i="1" dirty="0">
                <a:solidFill>
                  <a:srgbClr val="0000FF"/>
                </a:solidFill>
                <a:latin typeface="Calibri" panose="020F0502020204030204"/>
                <a:cs typeface="Calibri" panose="020F0502020204030204"/>
              </a:rPr>
              <a:t>VDD</a:t>
            </a:r>
            <a:r>
              <a:rPr sz="1600" i="1" spc="-10" dirty="0">
                <a:solidFill>
                  <a:srgbClr val="0000FF"/>
                </a:solidFill>
                <a:latin typeface="Calibri" panose="020F0502020204030204"/>
                <a:cs typeface="Calibri" panose="020F0502020204030204"/>
              </a:rPr>
              <a:t> </a:t>
            </a:r>
            <a:r>
              <a:rPr sz="1600" i="1" dirty="0">
                <a:solidFill>
                  <a:srgbClr val="0000FF"/>
                </a:solidFill>
                <a:latin typeface="Calibri" panose="020F0502020204030204"/>
                <a:cs typeface="Calibri" panose="020F0502020204030204"/>
              </a:rPr>
              <a:t>-domain</a:t>
            </a:r>
            <a:r>
              <a:rPr sz="1600" i="1" spc="-15" dirty="0">
                <a:solidFill>
                  <a:srgbClr val="0000FF"/>
                </a:solidFill>
                <a:latin typeface="Calibri" panose="020F0502020204030204"/>
                <a:cs typeface="Calibri" panose="020F0502020204030204"/>
              </a:rPr>
              <a:t> </a:t>
            </a:r>
            <a:r>
              <a:rPr sz="1600" i="1" spc="-25" dirty="0">
                <a:solidFill>
                  <a:srgbClr val="0000FF"/>
                </a:solidFill>
                <a:latin typeface="Calibri" panose="020F0502020204030204"/>
                <a:cs typeface="Calibri" panose="020F0502020204030204"/>
              </a:rPr>
              <a:t>TOP </a:t>
            </a:r>
            <a:endParaRPr sz="1600" i="1" spc="-25" dirty="0">
              <a:solidFill>
                <a:srgbClr val="0000FF"/>
              </a:solidFill>
              <a:latin typeface="Calibri" panose="020F0502020204030204"/>
              <a:cs typeface="Calibri" panose="020F0502020204030204"/>
            </a:endParaRPr>
          </a:p>
          <a:p>
            <a:pPr marL="12700" marR="5080">
              <a:lnSpc>
                <a:spcPct val="100000"/>
              </a:lnSpc>
              <a:spcBef>
                <a:spcPts val="600"/>
              </a:spcBef>
            </a:pPr>
            <a:r>
              <a:rPr sz="1600" i="1" spc="-10" dirty="0">
                <a:solidFill>
                  <a:srgbClr val="0000FF"/>
                </a:solidFill>
                <a:latin typeface="Calibri" panose="020F0502020204030204"/>
                <a:cs typeface="Calibri" panose="020F0502020204030204"/>
              </a:rPr>
              <a:t>create_supply_net</a:t>
            </a:r>
            <a:r>
              <a:rPr sz="1600" i="1" spc="-30" dirty="0">
                <a:solidFill>
                  <a:srgbClr val="0000FF"/>
                </a:solidFill>
                <a:latin typeface="Calibri" panose="020F0502020204030204"/>
                <a:cs typeface="Calibri" panose="020F0502020204030204"/>
              </a:rPr>
              <a:t> </a:t>
            </a:r>
            <a:r>
              <a:rPr sz="1600" i="1" dirty="0">
                <a:solidFill>
                  <a:srgbClr val="0000FF"/>
                </a:solidFill>
                <a:latin typeface="Calibri" panose="020F0502020204030204"/>
                <a:cs typeface="Calibri" panose="020F0502020204030204"/>
              </a:rPr>
              <a:t>VDDL</a:t>
            </a:r>
            <a:r>
              <a:rPr sz="1600" i="1" spc="-15" dirty="0">
                <a:solidFill>
                  <a:srgbClr val="0000FF"/>
                </a:solidFill>
                <a:latin typeface="Calibri" panose="020F0502020204030204"/>
                <a:cs typeface="Calibri" panose="020F0502020204030204"/>
              </a:rPr>
              <a:t> </a:t>
            </a:r>
            <a:r>
              <a:rPr sz="1600" i="1" dirty="0">
                <a:solidFill>
                  <a:srgbClr val="0000FF"/>
                </a:solidFill>
                <a:latin typeface="Calibri" panose="020F0502020204030204"/>
                <a:cs typeface="Calibri" panose="020F0502020204030204"/>
              </a:rPr>
              <a:t>-domain</a:t>
            </a:r>
            <a:r>
              <a:rPr sz="1600" i="1" spc="-20" dirty="0">
                <a:solidFill>
                  <a:srgbClr val="0000FF"/>
                </a:solidFill>
                <a:latin typeface="Calibri" panose="020F0502020204030204"/>
                <a:cs typeface="Calibri" panose="020F0502020204030204"/>
              </a:rPr>
              <a:t> </a:t>
            </a:r>
            <a:r>
              <a:rPr sz="1600" i="1" spc="-25" dirty="0">
                <a:solidFill>
                  <a:srgbClr val="0000FF"/>
                </a:solidFill>
                <a:latin typeface="Calibri" panose="020F0502020204030204"/>
                <a:cs typeface="Calibri" panose="020F0502020204030204"/>
              </a:rPr>
              <a:t>TOP </a:t>
            </a:r>
            <a:endParaRPr sz="1600" i="1" spc="-25" dirty="0">
              <a:solidFill>
                <a:srgbClr val="0000FF"/>
              </a:solidFill>
              <a:latin typeface="Calibri" panose="020F0502020204030204"/>
              <a:cs typeface="Calibri" panose="020F0502020204030204"/>
            </a:endParaRPr>
          </a:p>
          <a:p>
            <a:pPr marL="12700" marR="5080">
              <a:lnSpc>
                <a:spcPct val="100000"/>
              </a:lnSpc>
              <a:spcBef>
                <a:spcPts val="600"/>
              </a:spcBef>
            </a:pPr>
            <a:r>
              <a:rPr sz="1600" i="1" spc="-10" dirty="0">
                <a:solidFill>
                  <a:srgbClr val="0000FF"/>
                </a:solidFill>
                <a:latin typeface="Calibri" panose="020F0502020204030204"/>
                <a:cs typeface="Calibri" panose="020F0502020204030204"/>
              </a:rPr>
              <a:t>create_supply_net</a:t>
            </a:r>
            <a:r>
              <a:rPr sz="1600" i="1" spc="-30" dirty="0">
                <a:solidFill>
                  <a:srgbClr val="0000FF"/>
                </a:solidFill>
                <a:latin typeface="Calibri" panose="020F0502020204030204"/>
                <a:cs typeface="Calibri" panose="020F0502020204030204"/>
              </a:rPr>
              <a:t> </a:t>
            </a:r>
            <a:r>
              <a:rPr sz="1600" i="1" dirty="0">
                <a:solidFill>
                  <a:srgbClr val="0000FF"/>
                </a:solidFill>
                <a:latin typeface="Calibri" panose="020F0502020204030204"/>
                <a:cs typeface="Calibri" panose="020F0502020204030204"/>
              </a:rPr>
              <a:t>VSS</a:t>
            </a:r>
            <a:r>
              <a:rPr sz="1600" i="1" spc="-15" dirty="0">
                <a:solidFill>
                  <a:srgbClr val="0000FF"/>
                </a:solidFill>
                <a:latin typeface="Calibri" panose="020F0502020204030204"/>
                <a:cs typeface="Calibri" panose="020F0502020204030204"/>
              </a:rPr>
              <a:t> </a:t>
            </a:r>
            <a:r>
              <a:rPr sz="1600" i="1" dirty="0">
                <a:solidFill>
                  <a:srgbClr val="0000FF"/>
                </a:solidFill>
                <a:latin typeface="Calibri" panose="020F0502020204030204"/>
                <a:cs typeface="Calibri" panose="020F0502020204030204"/>
              </a:rPr>
              <a:t>-domain</a:t>
            </a:r>
            <a:r>
              <a:rPr sz="1600" i="1" spc="-10" dirty="0">
                <a:solidFill>
                  <a:srgbClr val="0000FF"/>
                </a:solidFill>
                <a:latin typeface="Calibri" panose="020F0502020204030204"/>
                <a:cs typeface="Calibri" panose="020F0502020204030204"/>
              </a:rPr>
              <a:t> </a:t>
            </a:r>
            <a:r>
              <a:rPr sz="1600" i="1" spc="-25" dirty="0">
                <a:solidFill>
                  <a:srgbClr val="0000FF"/>
                </a:solidFill>
                <a:latin typeface="Calibri" panose="020F0502020204030204"/>
                <a:cs typeface="Calibri" panose="020F0502020204030204"/>
              </a:rPr>
              <a:t>TOP</a:t>
            </a:r>
            <a:endParaRPr sz="1600">
              <a:latin typeface="Calibri" panose="020F0502020204030204"/>
              <a:cs typeface="Calibri" panose="020F0502020204030204"/>
            </a:endParaRPr>
          </a:p>
        </p:txBody>
      </p:sp>
      <p:sp>
        <p:nvSpPr>
          <p:cNvPr id="32" name="Text 0"/>
          <p:cNvSpPr/>
          <p:nvPr/>
        </p:nvSpPr>
        <p:spPr>
          <a:xfrm>
            <a:off x="284480" y="10922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电源网络的</a:t>
            </a:r>
            <a:r>
              <a:rPr lang="zh-CN" altLang="en-US" sz="1730" b="1" dirty="0">
                <a:latin typeface="微软雅黑" panose="020B0503020204020204" pitchFamily="34" charset="-122"/>
                <a:ea typeface="微软雅黑" panose="020B0503020204020204" pitchFamily="34" charset="-122"/>
                <a:sym typeface="+mn-ea"/>
              </a:rPr>
              <a:t>定义</a:t>
            </a:r>
            <a:endParaRPr lang="zh-CN" altLang="en-US" sz="1730" b="1"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grpSp>
        <p:nvGrpSpPr>
          <p:cNvPr id="2" name="object 2"/>
          <p:cNvGrpSpPr/>
          <p:nvPr/>
        </p:nvGrpSpPr>
        <p:grpSpPr>
          <a:xfrm>
            <a:off x="510285" y="748537"/>
            <a:ext cx="3787140" cy="3667760"/>
            <a:chOff x="380745" y="1170177"/>
            <a:chExt cx="3787140" cy="3667760"/>
          </a:xfrm>
        </p:grpSpPr>
        <p:sp>
          <p:nvSpPr>
            <p:cNvPr id="3" name="object 3"/>
            <p:cNvSpPr/>
            <p:nvPr/>
          </p:nvSpPr>
          <p:spPr>
            <a:xfrm>
              <a:off x="387095" y="1176527"/>
              <a:ext cx="3749040" cy="3621404"/>
            </a:xfrm>
            <a:custGeom>
              <a:avLst/>
              <a:gdLst/>
              <a:ahLst/>
              <a:cxnLst/>
              <a:rect l="l" t="t" r="r" b="b"/>
              <a:pathLst>
                <a:path w="3749040" h="3621404">
                  <a:moveTo>
                    <a:pt x="0" y="3621024"/>
                  </a:moveTo>
                  <a:lnTo>
                    <a:pt x="3749040" y="3621024"/>
                  </a:lnTo>
                  <a:lnTo>
                    <a:pt x="3749040" y="0"/>
                  </a:lnTo>
                  <a:lnTo>
                    <a:pt x="0" y="0"/>
                  </a:lnTo>
                  <a:lnTo>
                    <a:pt x="0" y="3621024"/>
                  </a:lnTo>
                  <a:close/>
                </a:path>
              </a:pathLst>
            </a:custGeom>
            <a:ln w="12700">
              <a:solidFill>
                <a:srgbClr val="6F2F9F"/>
              </a:solidFill>
              <a:prstDash val="sysDash"/>
            </a:ln>
          </p:spPr>
          <p:txBody>
            <a:bodyPr wrap="square" lIns="0" tIns="0" rIns="0" bIns="0" rtlCol="0"/>
            <a:lstStyle/>
            <a:p/>
          </p:txBody>
        </p:sp>
        <p:pic>
          <p:nvPicPr>
            <p:cNvPr id="4" name="object 4"/>
            <p:cNvPicPr/>
            <p:nvPr/>
          </p:nvPicPr>
          <p:blipFill>
            <a:blip r:embed="rId2" cstate="print"/>
            <a:stretch>
              <a:fillRect/>
            </a:stretch>
          </p:blipFill>
          <p:spPr>
            <a:xfrm>
              <a:off x="489203" y="1280159"/>
              <a:ext cx="3678174" cy="3557778"/>
            </a:xfrm>
            <a:prstGeom prst="rect">
              <a:avLst/>
            </a:prstGeom>
          </p:spPr>
        </p:pic>
        <p:sp>
          <p:nvSpPr>
            <p:cNvPr id="5" name="object 5"/>
            <p:cNvSpPr/>
            <p:nvPr/>
          </p:nvSpPr>
          <p:spPr>
            <a:xfrm>
              <a:off x="419099" y="1210055"/>
              <a:ext cx="3668395" cy="3548379"/>
            </a:xfrm>
            <a:custGeom>
              <a:avLst/>
              <a:gdLst/>
              <a:ahLst/>
              <a:cxnLst/>
              <a:rect l="l" t="t" r="r" b="b"/>
              <a:pathLst>
                <a:path w="3668395" h="3548379">
                  <a:moveTo>
                    <a:pt x="3668267" y="0"/>
                  </a:moveTo>
                  <a:lnTo>
                    <a:pt x="0" y="0"/>
                  </a:lnTo>
                  <a:lnTo>
                    <a:pt x="0" y="3547872"/>
                  </a:lnTo>
                  <a:lnTo>
                    <a:pt x="3668267" y="3547872"/>
                  </a:lnTo>
                  <a:lnTo>
                    <a:pt x="3668267" y="0"/>
                  </a:lnTo>
                  <a:close/>
                </a:path>
              </a:pathLst>
            </a:custGeom>
            <a:solidFill>
              <a:srgbClr val="FFFFFF"/>
            </a:solidFill>
          </p:spPr>
          <p:txBody>
            <a:bodyPr wrap="square" lIns="0" tIns="0" rIns="0" bIns="0" rtlCol="0"/>
            <a:lstStyle/>
            <a:p/>
          </p:txBody>
        </p:sp>
        <p:sp>
          <p:nvSpPr>
            <p:cNvPr id="6" name="object 6"/>
            <p:cNvSpPr/>
            <p:nvPr/>
          </p:nvSpPr>
          <p:spPr>
            <a:xfrm>
              <a:off x="419099" y="1210055"/>
              <a:ext cx="3668395" cy="3548379"/>
            </a:xfrm>
            <a:custGeom>
              <a:avLst/>
              <a:gdLst/>
              <a:ahLst/>
              <a:cxnLst/>
              <a:rect l="l" t="t" r="r" b="b"/>
              <a:pathLst>
                <a:path w="3668395" h="3548379">
                  <a:moveTo>
                    <a:pt x="0" y="3547872"/>
                  </a:moveTo>
                  <a:lnTo>
                    <a:pt x="3668267" y="3547872"/>
                  </a:lnTo>
                  <a:lnTo>
                    <a:pt x="3668267" y="0"/>
                  </a:lnTo>
                  <a:lnTo>
                    <a:pt x="0" y="0"/>
                  </a:lnTo>
                  <a:lnTo>
                    <a:pt x="0" y="3547872"/>
                  </a:lnTo>
                  <a:close/>
                </a:path>
              </a:pathLst>
            </a:custGeom>
            <a:ln w="9525">
              <a:solidFill>
                <a:srgbClr val="959595"/>
              </a:solidFill>
            </a:ln>
          </p:spPr>
          <p:txBody>
            <a:bodyPr wrap="square" lIns="0" tIns="0" rIns="0" bIns="0" rtlCol="0"/>
            <a:lstStyle/>
            <a:p/>
          </p:txBody>
        </p:sp>
        <p:pic>
          <p:nvPicPr>
            <p:cNvPr id="7" name="object 7"/>
            <p:cNvPicPr/>
            <p:nvPr/>
          </p:nvPicPr>
          <p:blipFill>
            <a:blip r:embed="rId3" cstate="print"/>
            <a:stretch>
              <a:fillRect/>
            </a:stretch>
          </p:blipFill>
          <p:spPr>
            <a:xfrm>
              <a:off x="973836" y="1877568"/>
              <a:ext cx="2647950" cy="2283713"/>
            </a:xfrm>
            <a:prstGeom prst="rect">
              <a:avLst/>
            </a:prstGeom>
          </p:spPr>
        </p:pic>
        <p:sp>
          <p:nvSpPr>
            <p:cNvPr id="8" name="object 8"/>
            <p:cNvSpPr/>
            <p:nvPr/>
          </p:nvSpPr>
          <p:spPr>
            <a:xfrm>
              <a:off x="941831" y="1845563"/>
              <a:ext cx="2638425" cy="2273935"/>
            </a:xfrm>
            <a:custGeom>
              <a:avLst/>
              <a:gdLst/>
              <a:ahLst/>
              <a:cxnLst/>
              <a:rect l="l" t="t" r="r" b="b"/>
              <a:pathLst>
                <a:path w="2638425" h="2273935">
                  <a:moveTo>
                    <a:pt x="2638044" y="0"/>
                  </a:moveTo>
                  <a:lnTo>
                    <a:pt x="0" y="0"/>
                  </a:lnTo>
                  <a:lnTo>
                    <a:pt x="0" y="2273808"/>
                  </a:lnTo>
                  <a:lnTo>
                    <a:pt x="2638044" y="2273808"/>
                  </a:lnTo>
                  <a:lnTo>
                    <a:pt x="2638044" y="0"/>
                  </a:lnTo>
                  <a:close/>
                </a:path>
              </a:pathLst>
            </a:custGeom>
            <a:solidFill>
              <a:srgbClr val="CCFFFF"/>
            </a:solidFill>
          </p:spPr>
          <p:txBody>
            <a:bodyPr wrap="square" lIns="0" tIns="0" rIns="0" bIns="0" rtlCol="0"/>
            <a:lstStyle/>
            <a:p/>
          </p:txBody>
        </p:sp>
        <p:sp>
          <p:nvSpPr>
            <p:cNvPr id="9" name="object 9"/>
            <p:cNvSpPr/>
            <p:nvPr/>
          </p:nvSpPr>
          <p:spPr>
            <a:xfrm>
              <a:off x="941831" y="1845563"/>
              <a:ext cx="2638425" cy="2273935"/>
            </a:xfrm>
            <a:custGeom>
              <a:avLst/>
              <a:gdLst/>
              <a:ahLst/>
              <a:cxnLst/>
              <a:rect l="l" t="t" r="r" b="b"/>
              <a:pathLst>
                <a:path w="2638425" h="2273935">
                  <a:moveTo>
                    <a:pt x="0" y="2273808"/>
                  </a:moveTo>
                  <a:lnTo>
                    <a:pt x="2638044" y="2273808"/>
                  </a:lnTo>
                  <a:lnTo>
                    <a:pt x="2638044" y="0"/>
                  </a:lnTo>
                  <a:lnTo>
                    <a:pt x="0" y="0"/>
                  </a:lnTo>
                  <a:lnTo>
                    <a:pt x="0" y="2273808"/>
                  </a:lnTo>
                  <a:close/>
                </a:path>
              </a:pathLst>
            </a:custGeom>
            <a:ln w="9524">
              <a:solidFill>
                <a:srgbClr val="69BD28"/>
              </a:solidFill>
            </a:ln>
          </p:spPr>
          <p:txBody>
            <a:bodyPr wrap="square" lIns="0" tIns="0" rIns="0" bIns="0" rtlCol="0"/>
            <a:lstStyle/>
            <a:p/>
          </p:txBody>
        </p:sp>
        <p:sp>
          <p:nvSpPr>
            <p:cNvPr id="10" name="object 10"/>
            <p:cNvSpPr/>
            <p:nvPr/>
          </p:nvSpPr>
          <p:spPr>
            <a:xfrm>
              <a:off x="1538478" y="1436369"/>
              <a:ext cx="1172210" cy="1356360"/>
            </a:xfrm>
            <a:custGeom>
              <a:avLst/>
              <a:gdLst/>
              <a:ahLst/>
              <a:cxnLst/>
              <a:rect l="l" t="t" r="r" b="b"/>
              <a:pathLst>
                <a:path w="1172210" h="1356360">
                  <a:moveTo>
                    <a:pt x="0" y="0"/>
                  </a:moveTo>
                  <a:lnTo>
                    <a:pt x="0" y="298703"/>
                  </a:lnTo>
                </a:path>
                <a:path w="1172210" h="1356360">
                  <a:moveTo>
                    <a:pt x="1159764" y="960119"/>
                  </a:moveTo>
                  <a:lnTo>
                    <a:pt x="1171955" y="1356359"/>
                  </a:lnTo>
                </a:path>
              </a:pathLst>
            </a:custGeom>
            <a:ln w="28575">
              <a:solidFill>
                <a:srgbClr val="35362F"/>
              </a:solidFill>
            </a:ln>
          </p:spPr>
          <p:txBody>
            <a:bodyPr wrap="square" lIns="0" tIns="0" rIns="0" bIns="0" rtlCol="0"/>
            <a:lstStyle/>
            <a:p/>
          </p:txBody>
        </p:sp>
      </p:grpSp>
      <p:sp>
        <p:nvSpPr>
          <p:cNvPr id="11" name="object 11"/>
          <p:cNvSpPr txBox="1"/>
          <p:nvPr/>
        </p:nvSpPr>
        <p:spPr>
          <a:xfrm>
            <a:off x="2860547" y="2087245"/>
            <a:ext cx="508634" cy="208279"/>
          </a:xfrm>
          <a:prstGeom prst="rect">
            <a:avLst/>
          </a:prstGeom>
        </p:spPr>
        <p:txBody>
          <a:bodyPr vert="horz" wrap="square" lIns="0" tIns="12700" rIns="0" bIns="0" rtlCol="0">
            <a:spAutoFit/>
          </a:bodyPr>
          <a:lstStyle/>
          <a:p>
            <a:pPr>
              <a:lnSpc>
                <a:spcPct val="100000"/>
              </a:lnSpc>
              <a:spcBef>
                <a:spcPts val="100"/>
              </a:spcBef>
            </a:pPr>
            <a:r>
              <a:rPr sz="1200" b="1" spc="-10" dirty="0">
                <a:solidFill>
                  <a:srgbClr val="35362F"/>
                </a:solidFill>
                <a:latin typeface="Calibri" panose="020F0502020204030204"/>
                <a:cs typeface="Calibri" panose="020F0502020204030204"/>
              </a:rPr>
              <a:t>VDDLS1</a:t>
            </a:r>
            <a:endParaRPr sz="1200">
              <a:latin typeface="Calibri" panose="020F0502020204030204"/>
              <a:cs typeface="Calibri" panose="020F0502020204030204"/>
            </a:endParaRPr>
          </a:p>
        </p:txBody>
      </p:sp>
      <p:sp>
        <p:nvSpPr>
          <p:cNvPr id="12" name="object 12"/>
          <p:cNvSpPr txBox="1"/>
          <p:nvPr/>
        </p:nvSpPr>
        <p:spPr>
          <a:xfrm>
            <a:off x="1112278" y="1466087"/>
            <a:ext cx="792480" cy="432434"/>
          </a:xfrm>
          <a:prstGeom prst="rect">
            <a:avLst/>
          </a:prstGeom>
          <a:solidFill>
            <a:srgbClr val="2CB6B3"/>
          </a:solidFill>
        </p:spPr>
        <p:txBody>
          <a:bodyPr vert="horz" wrap="square" lIns="0" tIns="0" rIns="0" bIns="0" rtlCol="0">
            <a:spAutoFit/>
          </a:bodyPr>
          <a:lstStyle/>
          <a:p>
            <a:pPr algn="ctr">
              <a:lnSpc>
                <a:spcPts val="1060"/>
              </a:lnSpc>
            </a:pPr>
            <a:r>
              <a:rPr sz="900" b="1" spc="-10" dirty="0">
                <a:solidFill>
                  <a:srgbClr val="FFFFFF"/>
                </a:solidFill>
                <a:latin typeface="Arial" panose="020B0604020202020204"/>
                <a:cs typeface="Arial" panose="020B0604020202020204"/>
              </a:rPr>
              <a:t>u_dhm_core</a:t>
            </a:r>
            <a:endParaRPr sz="900">
              <a:latin typeface="Arial" panose="020B0604020202020204"/>
              <a:cs typeface="Arial" panose="020B0604020202020204"/>
            </a:endParaRPr>
          </a:p>
          <a:p>
            <a:pPr algn="ctr">
              <a:lnSpc>
                <a:spcPct val="100000"/>
              </a:lnSpc>
              <a:spcBef>
                <a:spcPts val="155"/>
              </a:spcBef>
            </a:pPr>
            <a:r>
              <a:rPr sz="900" b="1" dirty="0">
                <a:solidFill>
                  <a:srgbClr val="FFFFFF"/>
                </a:solidFill>
                <a:latin typeface="Arial" panose="020B0604020202020204"/>
                <a:cs typeface="Arial" panose="020B0604020202020204"/>
              </a:rPr>
              <a:t>(1.08V</a:t>
            </a:r>
            <a:r>
              <a:rPr sz="900" b="1" spc="-15" dirty="0">
                <a:solidFill>
                  <a:srgbClr val="FFFFFF"/>
                </a:solidFill>
                <a:latin typeface="Arial" panose="020B0604020202020204"/>
                <a:cs typeface="Arial" panose="020B0604020202020204"/>
              </a:rPr>
              <a:t> </a:t>
            </a:r>
            <a:r>
              <a:rPr sz="900" b="1" dirty="0">
                <a:solidFill>
                  <a:srgbClr val="FFFFFF"/>
                </a:solidFill>
                <a:latin typeface="Arial" panose="020B0604020202020204"/>
                <a:cs typeface="Arial" panose="020B0604020202020204"/>
              </a:rPr>
              <a:t>/</a:t>
            </a:r>
            <a:r>
              <a:rPr sz="900" b="1" spc="-10" dirty="0">
                <a:solidFill>
                  <a:srgbClr val="FFFFFF"/>
                </a:solidFill>
                <a:latin typeface="Arial" panose="020B0604020202020204"/>
                <a:cs typeface="Arial" panose="020B0604020202020204"/>
              </a:rPr>
              <a:t> </a:t>
            </a:r>
            <a:r>
              <a:rPr sz="900" b="1" dirty="0">
                <a:solidFill>
                  <a:srgbClr val="FFFFFF"/>
                </a:solidFill>
                <a:latin typeface="Arial" panose="020B0604020202020204"/>
                <a:cs typeface="Arial" panose="020B0604020202020204"/>
              </a:rPr>
              <a:t>0.7V</a:t>
            </a:r>
            <a:r>
              <a:rPr sz="900" b="1" spc="-10" dirty="0">
                <a:solidFill>
                  <a:srgbClr val="FFFFFF"/>
                </a:solidFill>
                <a:latin typeface="Arial" panose="020B0604020202020204"/>
                <a:cs typeface="Arial" panose="020B0604020202020204"/>
              </a:rPr>
              <a:t> </a:t>
            </a:r>
            <a:r>
              <a:rPr sz="900" b="1" spc="-50" dirty="0">
                <a:solidFill>
                  <a:srgbClr val="FFFFFF"/>
                </a:solidFill>
                <a:latin typeface="Arial" panose="020B0604020202020204"/>
                <a:cs typeface="Arial" panose="020B0604020202020204"/>
              </a:rPr>
              <a:t>/</a:t>
            </a:r>
            <a:endParaRPr sz="900">
              <a:latin typeface="Arial" panose="020B0604020202020204"/>
              <a:cs typeface="Arial" panose="020B0604020202020204"/>
            </a:endParaRPr>
          </a:p>
          <a:p>
            <a:pPr algn="ctr">
              <a:lnSpc>
                <a:spcPct val="100000"/>
              </a:lnSpc>
            </a:pPr>
            <a:r>
              <a:rPr sz="900" b="1" spc="-20" dirty="0">
                <a:solidFill>
                  <a:srgbClr val="FFFFFF"/>
                </a:solidFill>
                <a:latin typeface="Arial" panose="020B0604020202020204"/>
                <a:cs typeface="Arial" panose="020B0604020202020204"/>
              </a:rPr>
              <a:t>OFF)</a:t>
            </a:r>
            <a:endParaRPr sz="900">
              <a:latin typeface="Arial" panose="020B0604020202020204"/>
              <a:cs typeface="Arial" panose="020B0604020202020204"/>
            </a:endParaRPr>
          </a:p>
        </p:txBody>
      </p:sp>
      <p:sp>
        <p:nvSpPr>
          <p:cNvPr id="13" name="object 13"/>
          <p:cNvSpPr txBox="1"/>
          <p:nvPr/>
        </p:nvSpPr>
        <p:spPr>
          <a:xfrm>
            <a:off x="595071" y="822198"/>
            <a:ext cx="688975" cy="295275"/>
          </a:xfrm>
          <a:prstGeom prst="rect">
            <a:avLst/>
          </a:prstGeom>
          <a:solidFill>
            <a:srgbClr val="D37700"/>
          </a:solidFill>
        </p:spPr>
        <p:txBody>
          <a:bodyPr vert="horz" wrap="square" lIns="0" tIns="0" rIns="0" bIns="0" rtlCol="0">
            <a:spAutoFit/>
          </a:bodyPr>
          <a:lstStyle/>
          <a:p>
            <a:pPr marL="100965">
              <a:lnSpc>
                <a:spcPts val="1060"/>
              </a:lnSpc>
            </a:pPr>
            <a:r>
              <a:rPr sz="900" b="1" spc="-10" dirty="0">
                <a:solidFill>
                  <a:srgbClr val="FFFFFF"/>
                </a:solidFill>
                <a:latin typeface="Arial" panose="020B0604020202020204"/>
                <a:cs typeface="Arial" panose="020B0604020202020204"/>
              </a:rPr>
              <a:t>dhm_top</a:t>
            </a:r>
            <a:endParaRPr sz="900">
              <a:latin typeface="Arial" panose="020B0604020202020204"/>
              <a:cs typeface="Arial" panose="020B0604020202020204"/>
            </a:endParaRPr>
          </a:p>
          <a:p>
            <a:pPr marL="156210">
              <a:lnSpc>
                <a:spcPct val="100000"/>
              </a:lnSpc>
              <a:spcBef>
                <a:spcPts val="155"/>
              </a:spcBef>
            </a:pPr>
            <a:r>
              <a:rPr sz="900" b="1" spc="-10" dirty="0">
                <a:solidFill>
                  <a:srgbClr val="FFFFFF"/>
                </a:solidFill>
                <a:latin typeface="Arial" panose="020B0604020202020204"/>
                <a:cs typeface="Arial" panose="020B0604020202020204"/>
              </a:rPr>
              <a:t>(1.08V)</a:t>
            </a:r>
            <a:endParaRPr sz="900">
              <a:latin typeface="Arial" panose="020B0604020202020204"/>
              <a:cs typeface="Arial" panose="020B0604020202020204"/>
            </a:endParaRPr>
          </a:p>
        </p:txBody>
      </p:sp>
      <p:sp>
        <p:nvSpPr>
          <p:cNvPr id="14" name="object 14"/>
          <p:cNvSpPr txBox="1"/>
          <p:nvPr/>
        </p:nvSpPr>
        <p:spPr>
          <a:xfrm>
            <a:off x="1794382" y="833958"/>
            <a:ext cx="295275" cy="208915"/>
          </a:xfrm>
          <a:prstGeom prst="rect">
            <a:avLst/>
          </a:prstGeom>
        </p:spPr>
        <p:txBody>
          <a:bodyPr vert="horz" wrap="square" lIns="0" tIns="12700" rIns="0" bIns="0" rtlCol="0">
            <a:spAutoFit/>
          </a:bodyPr>
          <a:lstStyle/>
          <a:p>
            <a:pPr>
              <a:lnSpc>
                <a:spcPct val="100000"/>
              </a:lnSpc>
              <a:spcBef>
                <a:spcPts val="100"/>
              </a:spcBef>
            </a:pPr>
            <a:r>
              <a:rPr sz="1200" b="1" spc="-25" dirty="0">
                <a:solidFill>
                  <a:srgbClr val="35362F"/>
                </a:solidFill>
                <a:latin typeface="Calibri" panose="020F0502020204030204"/>
                <a:cs typeface="Calibri" panose="020F0502020204030204"/>
              </a:rPr>
              <a:t>VDD</a:t>
            </a:r>
            <a:endParaRPr sz="1200">
              <a:latin typeface="Calibri" panose="020F0502020204030204"/>
              <a:cs typeface="Calibri" panose="020F0502020204030204"/>
            </a:endParaRPr>
          </a:p>
        </p:txBody>
      </p:sp>
      <p:sp>
        <p:nvSpPr>
          <p:cNvPr id="15" name="object 15"/>
          <p:cNvSpPr/>
          <p:nvPr/>
        </p:nvSpPr>
        <p:spPr>
          <a:xfrm>
            <a:off x="1609343" y="716787"/>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5362F"/>
            </a:solidFill>
          </a:ln>
        </p:spPr>
        <p:txBody>
          <a:bodyPr wrap="square" lIns="0" tIns="0" rIns="0" bIns="0" rtlCol="0"/>
          <a:lstStyle/>
          <a:p/>
        </p:txBody>
      </p:sp>
      <p:grpSp>
        <p:nvGrpSpPr>
          <p:cNvPr id="16" name="object 16"/>
          <p:cNvGrpSpPr/>
          <p:nvPr/>
        </p:nvGrpSpPr>
        <p:grpSpPr>
          <a:xfrm>
            <a:off x="1609343" y="716787"/>
            <a:ext cx="1270000" cy="119380"/>
            <a:chOff x="1479803" y="1138427"/>
            <a:chExt cx="1270000" cy="119380"/>
          </a:xfrm>
        </p:grpSpPr>
        <p:pic>
          <p:nvPicPr>
            <p:cNvPr id="17" name="object 17"/>
            <p:cNvPicPr/>
            <p:nvPr/>
          </p:nvPicPr>
          <p:blipFill>
            <a:blip r:embed="rId4" cstate="print"/>
            <a:stretch>
              <a:fillRect/>
            </a:stretch>
          </p:blipFill>
          <p:spPr>
            <a:xfrm>
              <a:off x="1479803" y="1138427"/>
              <a:ext cx="114300" cy="114300"/>
            </a:xfrm>
            <a:prstGeom prst="rect">
              <a:avLst/>
            </a:prstGeom>
          </p:spPr>
        </p:pic>
        <p:pic>
          <p:nvPicPr>
            <p:cNvPr id="18" name="object 18"/>
            <p:cNvPicPr/>
            <p:nvPr/>
          </p:nvPicPr>
          <p:blipFill>
            <a:blip r:embed="rId5" cstate="print"/>
            <a:stretch>
              <a:fillRect/>
            </a:stretch>
          </p:blipFill>
          <p:spPr>
            <a:xfrm>
              <a:off x="2634995" y="1142999"/>
              <a:ext cx="114300" cy="114300"/>
            </a:xfrm>
            <a:prstGeom prst="rect">
              <a:avLst/>
            </a:prstGeom>
          </p:spPr>
        </p:pic>
      </p:grpSp>
      <p:sp>
        <p:nvSpPr>
          <p:cNvPr id="19" name="object 19"/>
          <p:cNvSpPr/>
          <p:nvPr/>
        </p:nvSpPr>
        <p:spPr>
          <a:xfrm>
            <a:off x="2764535" y="721360"/>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5362F"/>
            </a:solidFill>
          </a:ln>
        </p:spPr>
        <p:txBody>
          <a:bodyPr wrap="square" lIns="0" tIns="0" rIns="0" bIns="0" rtlCol="0"/>
          <a:lstStyle/>
          <a:p/>
        </p:txBody>
      </p:sp>
      <p:sp>
        <p:nvSpPr>
          <p:cNvPr id="20" name="object 20"/>
          <p:cNvSpPr txBox="1"/>
          <p:nvPr/>
        </p:nvSpPr>
        <p:spPr>
          <a:xfrm>
            <a:off x="3689349" y="847598"/>
            <a:ext cx="245745" cy="208279"/>
          </a:xfrm>
          <a:prstGeom prst="rect">
            <a:avLst/>
          </a:prstGeom>
        </p:spPr>
        <p:txBody>
          <a:bodyPr vert="horz" wrap="square" lIns="0" tIns="12700" rIns="0" bIns="0" rtlCol="0">
            <a:spAutoFit/>
          </a:bodyPr>
          <a:lstStyle/>
          <a:p>
            <a:pPr>
              <a:lnSpc>
                <a:spcPct val="100000"/>
              </a:lnSpc>
              <a:spcBef>
                <a:spcPts val="100"/>
              </a:spcBef>
            </a:pPr>
            <a:r>
              <a:rPr sz="1200" b="1" spc="-25" dirty="0">
                <a:solidFill>
                  <a:srgbClr val="35362F"/>
                </a:solidFill>
                <a:latin typeface="Calibri" panose="020F0502020204030204"/>
                <a:cs typeface="Calibri" panose="020F0502020204030204"/>
              </a:rPr>
              <a:t>VSS</a:t>
            </a:r>
            <a:endParaRPr sz="1200">
              <a:latin typeface="Calibri" panose="020F0502020204030204"/>
              <a:cs typeface="Calibri" panose="020F0502020204030204"/>
            </a:endParaRPr>
          </a:p>
        </p:txBody>
      </p:sp>
      <p:sp>
        <p:nvSpPr>
          <p:cNvPr id="21" name="object 21"/>
          <p:cNvSpPr/>
          <p:nvPr/>
        </p:nvSpPr>
        <p:spPr>
          <a:xfrm>
            <a:off x="3549395" y="710692"/>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5362F"/>
            </a:solidFill>
          </a:ln>
        </p:spPr>
        <p:txBody>
          <a:bodyPr wrap="square" lIns="0" tIns="0" rIns="0" bIns="0" rtlCol="0"/>
          <a:lstStyle/>
          <a:p/>
        </p:txBody>
      </p:sp>
      <p:grpSp>
        <p:nvGrpSpPr>
          <p:cNvPr id="22" name="object 22"/>
          <p:cNvGrpSpPr/>
          <p:nvPr/>
        </p:nvGrpSpPr>
        <p:grpSpPr>
          <a:xfrm>
            <a:off x="2646997" y="710692"/>
            <a:ext cx="1017269" cy="1277620"/>
            <a:chOff x="2517457" y="1132332"/>
            <a:chExt cx="1017269" cy="1277620"/>
          </a:xfrm>
        </p:grpSpPr>
        <p:pic>
          <p:nvPicPr>
            <p:cNvPr id="23" name="object 23"/>
            <p:cNvPicPr/>
            <p:nvPr/>
          </p:nvPicPr>
          <p:blipFill>
            <a:blip r:embed="rId6" cstate="print"/>
            <a:stretch>
              <a:fillRect/>
            </a:stretch>
          </p:blipFill>
          <p:spPr>
            <a:xfrm>
              <a:off x="3419856" y="1132332"/>
              <a:ext cx="114300" cy="114300"/>
            </a:xfrm>
            <a:prstGeom prst="rect">
              <a:avLst/>
            </a:prstGeom>
          </p:spPr>
        </p:pic>
        <p:sp>
          <p:nvSpPr>
            <p:cNvPr id="24" name="object 24"/>
            <p:cNvSpPr/>
            <p:nvPr/>
          </p:nvSpPr>
          <p:spPr>
            <a:xfrm>
              <a:off x="2699766" y="1434846"/>
              <a:ext cx="5080" cy="528955"/>
            </a:xfrm>
            <a:custGeom>
              <a:avLst/>
              <a:gdLst/>
              <a:ahLst/>
              <a:cxnLst/>
              <a:rect l="l" t="t" r="r" b="b"/>
              <a:pathLst>
                <a:path w="5080" h="528955">
                  <a:moveTo>
                    <a:pt x="4825" y="0"/>
                  </a:moveTo>
                  <a:lnTo>
                    <a:pt x="0" y="528573"/>
                  </a:lnTo>
                </a:path>
              </a:pathLst>
            </a:custGeom>
            <a:ln w="28575">
              <a:solidFill>
                <a:srgbClr val="35362F"/>
              </a:solidFill>
            </a:ln>
          </p:spPr>
          <p:txBody>
            <a:bodyPr wrap="square" lIns="0" tIns="0" rIns="0" bIns="0" rtlCol="0"/>
            <a:lstStyle/>
            <a:p/>
          </p:txBody>
        </p:sp>
        <p:sp>
          <p:nvSpPr>
            <p:cNvPr id="25" name="object 25"/>
            <p:cNvSpPr/>
            <p:nvPr/>
          </p:nvSpPr>
          <p:spPr>
            <a:xfrm>
              <a:off x="2704338" y="1443990"/>
              <a:ext cx="0" cy="299085"/>
            </a:xfrm>
            <a:custGeom>
              <a:avLst/>
              <a:gdLst/>
              <a:ahLst/>
              <a:cxnLst/>
              <a:rect l="l" t="t" r="r" b="b"/>
              <a:pathLst>
                <a:path h="299085">
                  <a:moveTo>
                    <a:pt x="0" y="0"/>
                  </a:moveTo>
                  <a:lnTo>
                    <a:pt x="0" y="298704"/>
                  </a:lnTo>
                </a:path>
              </a:pathLst>
            </a:custGeom>
            <a:ln w="28575">
              <a:solidFill>
                <a:srgbClr val="35362F"/>
              </a:solidFill>
            </a:ln>
          </p:spPr>
          <p:txBody>
            <a:bodyPr wrap="square" lIns="0" tIns="0" rIns="0" bIns="0" rtlCol="0"/>
            <a:lstStyle/>
            <a:p/>
          </p:txBody>
        </p:sp>
        <p:sp>
          <p:nvSpPr>
            <p:cNvPr id="26" name="object 26"/>
            <p:cNvSpPr/>
            <p:nvPr/>
          </p:nvSpPr>
          <p:spPr>
            <a:xfrm>
              <a:off x="3470910" y="1434846"/>
              <a:ext cx="5080" cy="528955"/>
            </a:xfrm>
            <a:custGeom>
              <a:avLst/>
              <a:gdLst/>
              <a:ahLst/>
              <a:cxnLst/>
              <a:rect l="l" t="t" r="r" b="b"/>
              <a:pathLst>
                <a:path w="5079" h="528955">
                  <a:moveTo>
                    <a:pt x="4825" y="0"/>
                  </a:moveTo>
                  <a:lnTo>
                    <a:pt x="0" y="528573"/>
                  </a:lnTo>
                </a:path>
              </a:pathLst>
            </a:custGeom>
            <a:ln w="28575">
              <a:solidFill>
                <a:srgbClr val="35362F"/>
              </a:solidFill>
            </a:ln>
          </p:spPr>
          <p:txBody>
            <a:bodyPr wrap="square" lIns="0" tIns="0" rIns="0" bIns="0" rtlCol="0"/>
            <a:lstStyle/>
            <a:p/>
          </p:txBody>
        </p:sp>
        <p:sp>
          <p:nvSpPr>
            <p:cNvPr id="27" name="object 27"/>
            <p:cNvSpPr/>
            <p:nvPr/>
          </p:nvSpPr>
          <p:spPr>
            <a:xfrm>
              <a:off x="3475482" y="1443990"/>
              <a:ext cx="0" cy="299085"/>
            </a:xfrm>
            <a:custGeom>
              <a:avLst/>
              <a:gdLst/>
              <a:ahLst/>
              <a:cxnLst/>
              <a:rect l="l" t="t" r="r" b="b"/>
              <a:pathLst>
                <a:path h="299085">
                  <a:moveTo>
                    <a:pt x="0" y="0"/>
                  </a:moveTo>
                  <a:lnTo>
                    <a:pt x="0" y="298704"/>
                  </a:lnTo>
                </a:path>
              </a:pathLst>
            </a:custGeom>
            <a:ln w="28575">
              <a:solidFill>
                <a:srgbClr val="35362F"/>
              </a:solidFill>
            </a:ln>
          </p:spPr>
          <p:txBody>
            <a:bodyPr wrap="square" lIns="0" tIns="0" rIns="0" bIns="0" rtlCol="0"/>
            <a:lstStyle/>
            <a:p/>
          </p:txBody>
        </p:sp>
        <p:pic>
          <p:nvPicPr>
            <p:cNvPr id="28" name="object 28"/>
            <p:cNvPicPr/>
            <p:nvPr/>
          </p:nvPicPr>
          <p:blipFill>
            <a:blip r:embed="rId7" cstate="print"/>
            <a:stretch>
              <a:fillRect/>
            </a:stretch>
          </p:blipFill>
          <p:spPr>
            <a:xfrm>
              <a:off x="2522220" y="2090928"/>
              <a:ext cx="339852" cy="313944"/>
            </a:xfrm>
            <a:prstGeom prst="rect">
              <a:avLst/>
            </a:prstGeom>
          </p:spPr>
        </p:pic>
        <p:sp>
          <p:nvSpPr>
            <p:cNvPr id="29" name="object 29"/>
            <p:cNvSpPr/>
            <p:nvPr/>
          </p:nvSpPr>
          <p:spPr>
            <a:xfrm>
              <a:off x="2522220" y="2090928"/>
              <a:ext cx="340360" cy="314325"/>
            </a:xfrm>
            <a:custGeom>
              <a:avLst/>
              <a:gdLst/>
              <a:ahLst/>
              <a:cxnLst/>
              <a:rect l="l" t="t" r="r" b="b"/>
              <a:pathLst>
                <a:path w="340360" h="314325">
                  <a:moveTo>
                    <a:pt x="0" y="156972"/>
                  </a:moveTo>
                  <a:lnTo>
                    <a:pt x="6069" y="115226"/>
                  </a:lnTo>
                  <a:lnTo>
                    <a:pt x="23198" y="77724"/>
                  </a:lnTo>
                  <a:lnTo>
                    <a:pt x="49768" y="45958"/>
                  </a:lnTo>
                  <a:lnTo>
                    <a:pt x="84158" y="21420"/>
                  </a:lnTo>
                  <a:lnTo>
                    <a:pt x="124751" y="5603"/>
                  </a:lnTo>
                  <a:lnTo>
                    <a:pt x="169925" y="0"/>
                  </a:lnTo>
                  <a:lnTo>
                    <a:pt x="215100" y="5603"/>
                  </a:lnTo>
                  <a:lnTo>
                    <a:pt x="255693" y="21420"/>
                  </a:lnTo>
                  <a:lnTo>
                    <a:pt x="290083" y="45958"/>
                  </a:lnTo>
                  <a:lnTo>
                    <a:pt x="316653" y="77724"/>
                  </a:lnTo>
                  <a:lnTo>
                    <a:pt x="333782" y="115226"/>
                  </a:lnTo>
                  <a:lnTo>
                    <a:pt x="339852" y="156972"/>
                  </a:lnTo>
                  <a:lnTo>
                    <a:pt x="333782" y="198717"/>
                  </a:lnTo>
                  <a:lnTo>
                    <a:pt x="316653" y="236220"/>
                  </a:lnTo>
                  <a:lnTo>
                    <a:pt x="290083" y="267985"/>
                  </a:lnTo>
                  <a:lnTo>
                    <a:pt x="255693" y="292523"/>
                  </a:lnTo>
                  <a:lnTo>
                    <a:pt x="215100" y="308340"/>
                  </a:lnTo>
                  <a:lnTo>
                    <a:pt x="169925" y="313944"/>
                  </a:lnTo>
                  <a:lnTo>
                    <a:pt x="124751" y="308340"/>
                  </a:lnTo>
                  <a:lnTo>
                    <a:pt x="84158" y="292523"/>
                  </a:lnTo>
                  <a:lnTo>
                    <a:pt x="49768" y="267985"/>
                  </a:lnTo>
                  <a:lnTo>
                    <a:pt x="23198" y="236220"/>
                  </a:lnTo>
                  <a:lnTo>
                    <a:pt x="6069" y="198717"/>
                  </a:lnTo>
                  <a:lnTo>
                    <a:pt x="0" y="156972"/>
                  </a:lnTo>
                  <a:close/>
                </a:path>
              </a:pathLst>
            </a:custGeom>
            <a:ln w="9525">
              <a:solidFill>
                <a:srgbClr val="008000"/>
              </a:solidFill>
            </a:ln>
          </p:spPr>
          <p:txBody>
            <a:bodyPr wrap="square" lIns="0" tIns="0" rIns="0" bIns="0" rtlCol="0"/>
            <a:lstStyle/>
            <a:p/>
          </p:txBody>
        </p:sp>
        <p:sp>
          <p:nvSpPr>
            <p:cNvPr id="30" name="object 30"/>
            <p:cNvSpPr/>
            <p:nvPr/>
          </p:nvSpPr>
          <p:spPr>
            <a:xfrm>
              <a:off x="2704338" y="1957578"/>
              <a:ext cx="0" cy="181610"/>
            </a:xfrm>
            <a:custGeom>
              <a:avLst/>
              <a:gdLst/>
              <a:ahLst/>
              <a:cxnLst/>
              <a:rect l="l" t="t" r="r" b="b"/>
              <a:pathLst>
                <a:path h="181610">
                  <a:moveTo>
                    <a:pt x="0" y="0"/>
                  </a:moveTo>
                  <a:lnTo>
                    <a:pt x="0" y="181356"/>
                  </a:lnTo>
                </a:path>
              </a:pathLst>
            </a:custGeom>
            <a:ln w="31750">
              <a:solidFill>
                <a:srgbClr val="D37700"/>
              </a:solidFill>
            </a:ln>
          </p:spPr>
          <p:txBody>
            <a:bodyPr wrap="square" lIns="0" tIns="0" rIns="0" bIns="0" rtlCol="0"/>
            <a:lstStyle/>
            <a:p/>
          </p:txBody>
        </p:sp>
        <p:sp>
          <p:nvSpPr>
            <p:cNvPr id="31" name="object 31"/>
            <p:cNvSpPr/>
            <p:nvPr/>
          </p:nvSpPr>
          <p:spPr>
            <a:xfrm>
              <a:off x="2610612" y="2159508"/>
              <a:ext cx="102235" cy="203200"/>
            </a:xfrm>
            <a:custGeom>
              <a:avLst/>
              <a:gdLst/>
              <a:ahLst/>
              <a:cxnLst/>
              <a:rect l="l" t="t" r="r" b="b"/>
              <a:pathLst>
                <a:path w="102235" h="203200">
                  <a:moveTo>
                    <a:pt x="0" y="0"/>
                  </a:moveTo>
                  <a:lnTo>
                    <a:pt x="102107" y="202692"/>
                  </a:lnTo>
                </a:path>
              </a:pathLst>
            </a:custGeom>
            <a:ln w="57150">
              <a:solidFill>
                <a:srgbClr val="B86700"/>
              </a:solidFill>
            </a:ln>
          </p:spPr>
          <p:txBody>
            <a:bodyPr wrap="square" lIns="0" tIns="0" rIns="0" bIns="0" rtlCol="0"/>
            <a:lstStyle/>
            <a:p/>
          </p:txBody>
        </p:sp>
      </p:grpSp>
      <p:sp>
        <p:nvSpPr>
          <p:cNvPr id="32" name="object 32"/>
          <p:cNvSpPr txBox="1"/>
          <p:nvPr/>
        </p:nvSpPr>
        <p:spPr>
          <a:xfrm>
            <a:off x="1083564" y="3874515"/>
            <a:ext cx="2636520" cy="248920"/>
          </a:xfrm>
          <a:prstGeom prst="rect">
            <a:avLst/>
          </a:prstGeom>
          <a:solidFill>
            <a:srgbClr val="EF8600"/>
          </a:solidFill>
          <a:ln w="3175">
            <a:solidFill>
              <a:srgbClr val="B86700"/>
            </a:solidFill>
          </a:ln>
        </p:spPr>
        <p:txBody>
          <a:bodyPr vert="horz" wrap="square" lIns="0" tIns="29845" rIns="0" bIns="0" rtlCol="0">
            <a:spAutoFit/>
          </a:bodyPr>
          <a:lstStyle/>
          <a:p>
            <a:pPr marL="91440">
              <a:lnSpc>
                <a:spcPct val="100000"/>
              </a:lnSpc>
              <a:spcBef>
                <a:spcPts val="235"/>
              </a:spcBef>
            </a:pPr>
            <a:r>
              <a:rPr sz="900" spc="-10" dirty="0">
                <a:solidFill>
                  <a:srgbClr val="35362F"/>
                </a:solidFill>
                <a:latin typeface="Calibri" panose="020F0502020204030204"/>
                <a:cs typeface="Calibri" panose="020F0502020204030204"/>
              </a:rPr>
              <a:t>u_dhm_sleep_logic</a:t>
            </a:r>
            <a:endParaRPr sz="900">
              <a:latin typeface="Calibri" panose="020F0502020204030204"/>
              <a:cs typeface="Calibri" panose="020F0502020204030204"/>
            </a:endParaRPr>
          </a:p>
        </p:txBody>
      </p:sp>
      <p:sp>
        <p:nvSpPr>
          <p:cNvPr id="33" name="object 33"/>
          <p:cNvSpPr txBox="1"/>
          <p:nvPr/>
        </p:nvSpPr>
        <p:spPr>
          <a:xfrm>
            <a:off x="2194306" y="1609343"/>
            <a:ext cx="403860" cy="208279"/>
          </a:xfrm>
          <a:prstGeom prst="rect">
            <a:avLst/>
          </a:prstGeom>
        </p:spPr>
        <p:txBody>
          <a:bodyPr vert="horz" wrap="square" lIns="0" tIns="12700" rIns="0" bIns="0" rtlCol="0">
            <a:spAutoFit/>
          </a:bodyPr>
          <a:lstStyle/>
          <a:p>
            <a:pPr>
              <a:lnSpc>
                <a:spcPct val="100000"/>
              </a:lnSpc>
              <a:spcBef>
                <a:spcPts val="100"/>
              </a:spcBef>
            </a:pPr>
            <a:r>
              <a:rPr sz="1200" spc="-10" dirty="0">
                <a:solidFill>
                  <a:srgbClr val="D37700"/>
                </a:solidFill>
                <a:latin typeface="Calibri" panose="020F0502020204030204"/>
                <a:cs typeface="Calibri" panose="020F0502020204030204"/>
              </a:rPr>
              <a:t>on/off</a:t>
            </a:r>
            <a:endParaRPr sz="1200">
              <a:latin typeface="Calibri" panose="020F0502020204030204"/>
              <a:cs typeface="Calibri" panose="020F0502020204030204"/>
            </a:endParaRPr>
          </a:p>
        </p:txBody>
      </p:sp>
      <p:grpSp>
        <p:nvGrpSpPr>
          <p:cNvPr id="34" name="object 34"/>
          <p:cNvGrpSpPr/>
          <p:nvPr/>
        </p:nvGrpSpPr>
        <p:grpSpPr>
          <a:xfrm>
            <a:off x="1039114" y="1391665"/>
            <a:ext cx="2724150" cy="2359660"/>
            <a:chOff x="909574" y="1813305"/>
            <a:chExt cx="2724150" cy="2359660"/>
          </a:xfrm>
        </p:grpSpPr>
        <p:sp>
          <p:nvSpPr>
            <p:cNvPr id="35" name="object 35"/>
            <p:cNvSpPr/>
            <p:nvPr/>
          </p:nvSpPr>
          <p:spPr>
            <a:xfrm>
              <a:off x="2098548" y="2189987"/>
              <a:ext cx="534670" cy="114300"/>
            </a:xfrm>
            <a:custGeom>
              <a:avLst/>
              <a:gdLst/>
              <a:ahLst/>
              <a:cxnLst/>
              <a:rect l="l" t="t" r="r" b="b"/>
              <a:pathLst>
                <a:path w="534669" h="114300">
                  <a:moveTo>
                    <a:pt x="95250" y="38100"/>
                  </a:moveTo>
                  <a:lnTo>
                    <a:pt x="19050" y="38100"/>
                  </a:lnTo>
                  <a:lnTo>
                    <a:pt x="11626" y="39594"/>
                  </a:lnTo>
                  <a:lnTo>
                    <a:pt x="5572" y="43672"/>
                  </a:lnTo>
                  <a:lnTo>
                    <a:pt x="1494" y="49726"/>
                  </a:lnTo>
                  <a:lnTo>
                    <a:pt x="0" y="57150"/>
                  </a:lnTo>
                  <a:lnTo>
                    <a:pt x="1494" y="64573"/>
                  </a:lnTo>
                  <a:lnTo>
                    <a:pt x="5572" y="70627"/>
                  </a:lnTo>
                  <a:lnTo>
                    <a:pt x="11626" y="74705"/>
                  </a:lnTo>
                  <a:lnTo>
                    <a:pt x="19050" y="76200"/>
                  </a:lnTo>
                  <a:lnTo>
                    <a:pt x="95250" y="76200"/>
                  </a:lnTo>
                  <a:lnTo>
                    <a:pt x="102673" y="74705"/>
                  </a:lnTo>
                  <a:lnTo>
                    <a:pt x="108727" y="70627"/>
                  </a:lnTo>
                  <a:lnTo>
                    <a:pt x="112805" y="64573"/>
                  </a:lnTo>
                  <a:lnTo>
                    <a:pt x="114300" y="57150"/>
                  </a:lnTo>
                  <a:lnTo>
                    <a:pt x="112805" y="49726"/>
                  </a:lnTo>
                  <a:lnTo>
                    <a:pt x="108727" y="43672"/>
                  </a:lnTo>
                  <a:lnTo>
                    <a:pt x="102673" y="39594"/>
                  </a:lnTo>
                  <a:lnTo>
                    <a:pt x="95250" y="38100"/>
                  </a:lnTo>
                  <a:close/>
                </a:path>
                <a:path w="534669" h="114300">
                  <a:moveTo>
                    <a:pt x="247650" y="38100"/>
                  </a:moveTo>
                  <a:lnTo>
                    <a:pt x="171450" y="38100"/>
                  </a:lnTo>
                  <a:lnTo>
                    <a:pt x="164026" y="39594"/>
                  </a:lnTo>
                  <a:lnTo>
                    <a:pt x="157972" y="43672"/>
                  </a:lnTo>
                  <a:lnTo>
                    <a:pt x="153894" y="49726"/>
                  </a:lnTo>
                  <a:lnTo>
                    <a:pt x="152400" y="57150"/>
                  </a:lnTo>
                  <a:lnTo>
                    <a:pt x="153894" y="64573"/>
                  </a:lnTo>
                  <a:lnTo>
                    <a:pt x="157972" y="70627"/>
                  </a:lnTo>
                  <a:lnTo>
                    <a:pt x="164026" y="74705"/>
                  </a:lnTo>
                  <a:lnTo>
                    <a:pt x="171450" y="76200"/>
                  </a:lnTo>
                  <a:lnTo>
                    <a:pt x="247650" y="76200"/>
                  </a:lnTo>
                  <a:lnTo>
                    <a:pt x="255073" y="74705"/>
                  </a:lnTo>
                  <a:lnTo>
                    <a:pt x="261127" y="70627"/>
                  </a:lnTo>
                  <a:lnTo>
                    <a:pt x="265205" y="64573"/>
                  </a:lnTo>
                  <a:lnTo>
                    <a:pt x="266700" y="57150"/>
                  </a:lnTo>
                  <a:lnTo>
                    <a:pt x="265205" y="49726"/>
                  </a:lnTo>
                  <a:lnTo>
                    <a:pt x="261127" y="43672"/>
                  </a:lnTo>
                  <a:lnTo>
                    <a:pt x="255073" y="39594"/>
                  </a:lnTo>
                  <a:lnTo>
                    <a:pt x="247650" y="38100"/>
                  </a:lnTo>
                  <a:close/>
                </a:path>
                <a:path w="534669" h="114300">
                  <a:moveTo>
                    <a:pt x="400050" y="38100"/>
                  </a:moveTo>
                  <a:lnTo>
                    <a:pt x="323850" y="38100"/>
                  </a:lnTo>
                  <a:lnTo>
                    <a:pt x="316426" y="39594"/>
                  </a:lnTo>
                  <a:lnTo>
                    <a:pt x="310372" y="43672"/>
                  </a:lnTo>
                  <a:lnTo>
                    <a:pt x="306294" y="49726"/>
                  </a:lnTo>
                  <a:lnTo>
                    <a:pt x="304800" y="57150"/>
                  </a:lnTo>
                  <a:lnTo>
                    <a:pt x="306294" y="64573"/>
                  </a:lnTo>
                  <a:lnTo>
                    <a:pt x="310372" y="70627"/>
                  </a:lnTo>
                  <a:lnTo>
                    <a:pt x="316426" y="74705"/>
                  </a:lnTo>
                  <a:lnTo>
                    <a:pt x="323850" y="76200"/>
                  </a:lnTo>
                  <a:lnTo>
                    <a:pt x="400050" y="76200"/>
                  </a:lnTo>
                  <a:lnTo>
                    <a:pt x="407473" y="74705"/>
                  </a:lnTo>
                  <a:lnTo>
                    <a:pt x="413527" y="70627"/>
                  </a:lnTo>
                  <a:lnTo>
                    <a:pt x="417605" y="64573"/>
                  </a:lnTo>
                  <a:lnTo>
                    <a:pt x="419100" y="57150"/>
                  </a:lnTo>
                  <a:lnTo>
                    <a:pt x="417605" y="49726"/>
                  </a:lnTo>
                  <a:lnTo>
                    <a:pt x="413527" y="43672"/>
                  </a:lnTo>
                  <a:lnTo>
                    <a:pt x="407473" y="39594"/>
                  </a:lnTo>
                  <a:lnTo>
                    <a:pt x="400050" y="38100"/>
                  </a:lnTo>
                  <a:close/>
                </a:path>
                <a:path w="534669" h="114300">
                  <a:moveTo>
                    <a:pt x="419862" y="0"/>
                  </a:moveTo>
                  <a:lnTo>
                    <a:pt x="419862" y="114300"/>
                  </a:lnTo>
                  <a:lnTo>
                    <a:pt x="534162" y="57150"/>
                  </a:lnTo>
                  <a:lnTo>
                    <a:pt x="419862" y="0"/>
                  </a:lnTo>
                  <a:close/>
                </a:path>
              </a:pathLst>
            </a:custGeom>
            <a:solidFill>
              <a:srgbClr val="D37700"/>
            </a:solidFill>
          </p:spPr>
          <p:txBody>
            <a:bodyPr wrap="square" lIns="0" tIns="0" rIns="0" bIns="0" rtlCol="0"/>
            <a:lstStyle/>
            <a:p/>
          </p:txBody>
        </p:sp>
        <p:sp>
          <p:nvSpPr>
            <p:cNvPr id="36" name="object 36"/>
            <p:cNvSpPr/>
            <p:nvPr/>
          </p:nvSpPr>
          <p:spPr>
            <a:xfrm>
              <a:off x="915924" y="1819655"/>
              <a:ext cx="2711450" cy="2346960"/>
            </a:xfrm>
            <a:custGeom>
              <a:avLst/>
              <a:gdLst/>
              <a:ahLst/>
              <a:cxnLst/>
              <a:rect l="l" t="t" r="r" b="b"/>
              <a:pathLst>
                <a:path w="2711450" h="2346960">
                  <a:moveTo>
                    <a:pt x="0" y="2346960"/>
                  </a:moveTo>
                  <a:lnTo>
                    <a:pt x="2711196" y="2346960"/>
                  </a:lnTo>
                  <a:lnTo>
                    <a:pt x="2711196" y="0"/>
                  </a:lnTo>
                  <a:lnTo>
                    <a:pt x="0" y="0"/>
                  </a:lnTo>
                  <a:lnTo>
                    <a:pt x="0" y="2346960"/>
                  </a:lnTo>
                  <a:close/>
                </a:path>
              </a:pathLst>
            </a:custGeom>
            <a:ln w="12700">
              <a:solidFill>
                <a:srgbClr val="FF6600"/>
              </a:solidFill>
              <a:prstDash val="sysDash"/>
            </a:ln>
          </p:spPr>
          <p:txBody>
            <a:bodyPr wrap="square" lIns="0" tIns="0" rIns="0" bIns="0" rtlCol="0"/>
            <a:lstStyle/>
            <a:p/>
          </p:txBody>
        </p:sp>
      </p:grpSp>
      <p:sp>
        <p:nvSpPr>
          <p:cNvPr id="37" name="object 37"/>
          <p:cNvSpPr txBox="1"/>
          <p:nvPr/>
        </p:nvSpPr>
        <p:spPr>
          <a:xfrm>
            <a:off x="1070762" y="1129538"/>
            <a:ext cx="304165" cy="254000"/>
          </a:xfrm>
          <a:prstGeom prst="rect">
            <a:avLst/>
          </a:prstGeom>
        </p:spPr>
        <p:txBody>
          <a:bodyPr vert="horz" wrap="square" lIns="0" tIns="12700" rIns="0" bIns="0" rtlCol="0">
            <a:spAutoFit/>
          </a:bodyPr>
          <a:lstStyle/>
          <a:p>
            <a:pPr>
              <a:lnSpc>
                <a:spcPct val="100000"/>
              </a:lnSpc>
              <a:spcBef>
                <a:spcPts val="100"/>
              </a:spcBef>
            </a:pPr>
            <a:r>
              <a:rPr sz="1500" i="1" spc="-25" dirty="0">
                <a:solidFill>
                  <a:srgbClr val="FF6600"/>
                </a:solidFill>
                <a:latin typeface="Calibri" panose="020F0502020204030204"/>
                <a:cs typeface="Calibri" panose="020F0502020204030204"/>
              </a:rPr>
              <a:t>pd1</a:t>
            </a:r>
            <a:endParaRPr sz="1500">
              <a:latin typeface="Calibri" panose="020F0502020204030204"/>
              <a:cs typeface="Calibri" panose="020F0502020204030204"/>
            </a:endParaRPr>
          </a:p>
        </p:txBody>
      </p:sp>
      <p:sp>
        <p:nvSpPr>
          <p:cNvPr id="38" name="object 38"/>
          <p:cNvSpPr/>
          <p:nvPr/>
        </p:nvSpPr>
        <p:spPr>
          <a:xfrm>
            <a:off x="3081147" y="1756448"/>
            <a:ext cx="1259205" cy="2044700"/>
          </a:xfrm>
          <a:custGeom>
            <a:avLst/>
            <a:gdLst/>
            <a:ahLst/>
            <a:cxnLst/>
            <a:rect l="l" t="t" r="r" b="b"/>
            <a:pathLst>
              <a:path w="1259204" h="2044700">
                <a:moveTo>
                  <a:pt x="168148" y="101600"/>
                </a:moveTo>
                <a:lnTo>
                  <a:pt x="145342" y="101600"/>
                </a:lnTo>
                <a:lnTo>
                  <a:pt x="113868" y="117484"/>
                </a:lnTo>
                <a:lnTo>
                  <a:pt x="201661" y="177800"/>
                </a:lnTo>
                <a:lnTo>
                  <a:pt x="210057" y="177800"/>
                </a:lnTo>
                <a:lnTo>
                  <a:pt x="229616" y="190500"/>
                </a:lnTo>
                <a:lnTo>
                  <a:pt x="228473" y="190500"/>
                </a:lnTo>
                <a:lnTo>
                  <a:pt x="267335" y="203200"/>
                </a:lnTo>
                <a:lnTo>
                  <a:pt x="265938" y="203200"/>
                </a:lnTo>
                <a:lnTo>
                  <a:pt x="304038" y="215900"/>
                </a:lnTo>
                <a:lnTo>
                  <a:pt x="302768" y="215900"/>
                </a:lnTo>
                <a:lnTo>
                  <a:pt x="340359" y="241300"/>
                </a:lnTo>
                <a:lnTo>
                  <a:pt x="339090" y="241300"/>
                </a:lnTo>
                <a:lnTo>
                  <a:pt x="375919" y="266700"/>
                </a:lnTo>
                <a:lnTo>
                  <a:pt x="374777" y="266700"/>
                </a:lnTo>
                <a:lnTo>
                  <a:pt x="410844" y="292100"/>
                </a:lnTo>
                <a:lnTo>
                  <a:pt x="409829" y="292100"/>
                </a:lnTo>
                <a:lnTo>
                  <a:pt x="444881" y="317500"/>
                </a:lnTo>
                <a:lnTo>
                  <a:pt x="443865" y="317500"/>
                </a:lnTo>
                <a:lnTo>
                  <a:pt x="478028" y="342900"/>
                </a:lnTo>
                <a:lnTo>
                  <a:pt x="477266" y="342900"/>
                </a:lnTo>
                <a:lnTo>
                  <a:pt x="510413" y="368300"/>
                </a:lnTo>
                <a:lnTo>
                  <a:pt x="509523" y="368300"/>
                </a:lnTo>
                <a:lnTo>
                  <a:pt x="541528" y="393700"/>
                </a:lnTo>
                <a:lnTo>
                  <a:pt x="540766" y="393700"/>
                </a:lnTo>
                <a:lnTo>
                  <a:pt x="571627" y="431800"/>
                </a:lnTo>
                <a:lnTo>
                  <a:pt x="570865" y="431800"/>
                </a:lnTo>
                <a:lnTo>
                  <a:pt x="600456" y="469900"/>
                </a:lnTo>
                <a:lnTo>
                  <a:pt x="599694" y="469900"/>
                </a:lnTo>
                <a:lnTo>
                  <a:pt x="628015" y="495300"/>
                </a:lnTo>
                <a:lnTo>
                  <a:pt x="627253" y="495300"/>
                </a:lnTo>
                <a:lnTo>
                  <a:pt x="654177" y="533400"/>
                </a:lnTo>
                <a:lnTo>
                  <a:pt x="653415" y="533400"/>
                </a:lnTo>
                <a:lnTo>
                  <a:pt x="678815" y="571500"/>
                </a:lnTo>
                <a:lnTo>
                  <a:pt x="678180" y="571500"/>
                </a:lnTo>
                <a:lnTo>
                  <a:pt x="702056" y="609600"/>
                </a:lnTo>
                <a:lnTo>
                  <a:pt x="701420" y="609600"/>
                </a:lnTo>
                <a:lnTo>
                  <a:pt x="723645" y="647700"/>
                </a:lnTo>
                <a:lnTo>
                  <a:pt x="723010" y="647700"/>
                </a:lnTo>
                <a:lnTo>
                  <a:pt x="743457" y="685800"/>
                </a:lnTo>
                <a:lnTo>
                  <a:pt x="742822" y="685800"/>
                </a:lnTo>
                <a:lnTo>
                  <a:pt x="761492" y="723900"/>
                </a:lnTo>
                <a:lnTo>
                  <a:pt x="760983" y="723900"/>
                </a:lnTo>
                <a:lnTo>
                  <a:pt x="777620" y="774700"/>
                </a:lnTo>
                <a:lnTo>
                  <a:pt x="777240" y="774700"/>
                </a:lnTo>
                <a:lnTo>
                  <a:pt x="791971" y="812800"/>
                </a:lnTo>
                <a:lnTo>
                  <a:pt x="791591" y="812800"/>
                </a:lnTo>
                <a:lnTo>
                  <a:pt x="804164" y="850900"/>
                </a:lnTo>
                <a:lnTo>
                  <a:pt x="803909" y="850900"/>
                </a:lnTo>
                <a:lnTo>
                  <a:pt x="814451" y="901700"/>
                </a:lnTo>
                <a:lnTo>
                  <a:pt x="814196" y="901700"/>
                </a:lnTo>
                <a:lnTo>
                  <a:pt x="818642" y="914400"/>
                </a:lnTo>
                <a:lnTo>
                  <a:pt x="822452" y="939800"/>
                </a:lnTo>
                <a:lnTo>
                  <a:pt x="825500" y="965200"/>
                </a:lnTo>
                <a:lnTo>
                  <a:pt x="828167" y="977900"/>
                </a:lnTo>
                <a:lnTo>
                  <a:pt x="830326" y="1003300"/>
                </a:lnTo>
                <a:lnTo>
                  <a:pt x="832231" y="1035050"/>
                </a:lnTo>
                <a:lnTo>
                  <a:pt x="832739" y="1041400"/>
                </a:lnTo>
                <a:lnTo>
                  <a:pt x="833501" y="1117600"/>
                </a:lnTo>
                <a:lnTo>
                  <a:pt x="835152" y="1155700"/>
                </a:lnTo>
                <a:lnTo>
                  <a:pt x="837945" y="1206500"/>
                </a:lnTo>
                <a:lnTo>
                  <a:pt x="842009" y="1244600"/>
                </a:lnTo>
                <a:lnTo>
                  <a:pt x="846835" y="1295400"/>
                </a:lnTo>
                <a:lnTo>
                  <a:pt x="852805" y="1333500"/>
                </a:lnTo>
                <a:lnTo>
                  <a:pt x="859663" y="1384300"/>
                </a:lnTo>
                <a:lnTo>
                  <a:pt x="867537" y="1422400"/>
                </a:lnTo>
                <a:lnTo>
                  <a:pt x="876172" y="1460500"/>
                </a:lnTo>
                <a:lnTo>
                  <a:pt x="885825" y="1511300"/>
                </a:lnTo>
                <a:lnTo>
                  <a:pt x="896112" y="1549400"/>
                </a:lnTo>
                <a:lnTo>
                  <a:pt x="907288" y="1587500"/>
                </a:lnTo>
                <a:lnTo>
                  <a:pt x="919098" y="1625600"/>
                </a:lnTo>
                <a:lnTo>
                  <a:pt x="931671" y="1663700"/>
                </a:lnTo>
                <a:lnTo>
                  <a:pt x="945007" y="1701800"/>
                </a:lnTo>
                <a:lnTo>
                  <a:pt x="958977" y="1739900"/>
                </a:lnTo>
                <a:lnTo>
                  <a:pt x="973455" y="1765300"/>
                </a:lnTo>
                <a:lnTo>
                  <a:pt x="988694" y="1803400"/>
                </a:lnTo>
                <a:lnTo>
                  <a:pt x="1004316" y="1828800"/>
                </a:lnTo>
                <a:lnTo>
                  <a:pt x="1020571" y="1866900"/>
                </a:lnTo>
                <a:lnTo>
                  <a:pt x="1037463" y="1892300"/>
                </a:lnTo>
                <a:lnTo>
                  <a:pt x="1054734" y="1917700"/>
                </a:lnTo>
                <a:lnTo>
                  <a:pt x="1072642" y="1943100"/>
                </a:lnTo>
                <a:lnTo>
                  <a:pt x="1090930" y="1955800"/>
                </a:lnTo>
                <a:lnTo>
                  <a:pt x="1109726" y="1981200"/>
                </a:lnTo>
                <a:lnTo>
                  <a:pt x="1128776" y="1993900"/>
                </a:lnTo>
                <a:lnTo>
                  <a:pt x="1138935" y="2006600"/>
                </a:lnTo>
                <a:lnTo>
                  <a:pt x="1149095" y="2006600"/>
                </a:lnTo>
                <a:lnTo>
                  <a:pt x="1159256" y="2019300"/>
                </a:lnTo>
                <a:lnTo>
                  <a:pt x="1169543" y="2032000"/>
                </a:lnTo>
                <a:lnTo>
                  <a:pt x="1190752" y="2032000"/>
                </a:lnTo>
                <a:lnTo>
                  <a:pt x="1201546" y="2044700"/>
                </a:lnTo>
                <a:lnTo>
                  <a:pt x="1256538" y="2044700"/>
                </a:lnTo>
                <a:lnTo>
                  <a:pt x="1258823" y="1993900"/>
                </a:lnTo>
                <a:lnTo>
                  <a:pt x="1229614" y="1993900"/>
                </a:lnTo>
                <a:lnTo>
                  <a:pt x="1220343" y="1981200"/>
                </a:lnTo>
                <a:lnTo>
                  <a:pt x="1198626" y="1981200"/>
                </a:lnTo>
                <a:lnTo>
                  <a:pt x="1189608" y="1968500"/>
                </a:lnTo>
                <a:lnTo>
                  <a:pt x="1182496" y="1968500"/>
                </a:lnTo>
                <a:lnTo>
                  <a:pt x="1173480" y="1955800"/>
                </a:lnTo>
                <a:lnTo>
                  <a:pt x="1166876" y="1955800"/>
                </a:lnTo>
                <a:lnTo>
                  <a:pt x="1149095" y="1943100"/>
                </a:lnTo>
                <a:lnTo>
                  <a:pt x="1150493" y="1943100"/>
                </a:lnTo>
                <a:lnTo>
                  <a:pt x="1132967" y="1917700"/>
                </a:lnTo>
                <a:lnTo>
                  <a:pt x="1134109" y="1917700"/>
                </a:lnTo>
                <a:lnTo>
                  <a:pt x="1116838" y="1905000"/>
                </a:lnTo>
                <a:lnTo>
                  <a:pt x="1117854" y="1905000"/>
                </a:lnTo>
                <a:lnTo>
                  <a:pt x="1100963" y="1879600"/>
                </a:lnTo>
                <a:lnTo>
                  <a:pt x="1101725" y="1879600"/>
                </a:lnTo>
                <a:lnTo>
                  <a:pt x="1085088" y="1854200"/>
                </a:lnTo>
                <a:lnTo>
                  <a:pt x="1085850" y="1854200"/>
                </a:lnTo>
                <a:lnTo>
                  <a:pt x="1069594" y="1828800"/>
                </a:lnTo>
                <a:lnTo>
                  <a:pt x="1070229" y="1828800"/>
                </a:lnTo>
                <a:lnTo>
                  <a:pt x="1054481" y="1803400"/>
                </a:lnTo>
                <a:lnTo>
                  <a:pt x="1054989" y="1803400"/>
                </a:lnTo>
                <a:lnTo>
                  <a:pt x="1039748" y="1778000"/>
                </a:lnTo>
                <a:lnTo>
                  <a:pt x="1040130" y="1778000"/>
                </a:lnTo>
                <a:lnTo>
                  <a:pt x="1025397" y="1739900"/>
                </a:lnTo>
                <a:lnTo>
                  <a:pt x="1025779" y="1739900"/>
                </a:lnTo>
                <a:lnTo>
                  <a:pt x="1011555" y="1714500"/>
                </a:lnTo>
                <a:lnTo>
                  <a:pt x="1011935" y="1714500"/>
                </a:lnTo>
                <a:lnTo>
                  <a:pt x="998346" y="1676400"/>
                </a:lnTo>
                <a:lnTo>
                  <a:pt x="998601" y="1676400"/>
                </a:lnTo>
                <a:lnTo>
                  <a:pt x="985519" y="1651000"/>
                </a:lnTo>
                <a:lnTo>
                  <a:pt x="985773" y="1651000"/>
                </a:lnTo>
                <a:lnTo>
                  <a:pt x="973328" y="1612900"/>
                </a:lnTo>
                <a:lnTo>
                  <a:pt x="973582" y="1612900"/>
                </a:lnTo>
                <a:lnTo>
                  <a:pt x="962025" y="1574800"/>
                </a:lnTo>
                <a:lnTo>
                  <a:pt x="951230" y="1536700"/>
                </a:lnTo>
                <a:lnTo>
                  <a:pt x="951483" y="1536700"/>
                </a:lnTo>
                <a:lnTo>
                  <a:pt x="941196" y="1498600"/>
                </a:lnTo>
                <a:lnTo>
                  <a:pt x="934243" y="1460500"/>
                </a:lnTo>
                <a:lnTo>
                  <a:pt x="932053" y="1460500"/>
                </a:lnTo>
                <a:lnTo>
                  <a:pt x="923544" y="1409700"/>
                </a:lnTo>
                <a:lnTo>
                  <a:pt x="917012" y="1377042"/>
                </a:lnTo>
                <a:lnTo>
                  <a:pt x="909319" y="1333500"/>
                </a:lnTo>
                <a:lnTo>
                  <a:pt x="903605" y="1282700"/>
                </a:lnTo>
                <a:lnTo>
                  <a:pt x="898779" y="1244600"/>
                </a:lnTo>
                <a:lnTo>
                  <a:pt x="894969" y="1193800"/>
                </a:lnTo>
                <a:lnTo>
                  <a:pt x="892302" y="1155700"/>
                </a:lnTo>
                <a:lnTo>
                  <a:pt x="890523" y="1117600"/>
                </a:lnTo>
                <a:lnTo>
                  <a:pt x="889762" y="1041400"/>
                </a:lnTo>
                <a:lnTo>
                  <a:pt x="888872" y="1016000"/>
                </a:lnTo>
                <a:lnTo>
                  <a:pt x="887221" y="1003300"/>
                </a:lnTo>
                <a:lnTo>
                  <a:pt x="884935" y="977900"/>
                </a:lnTo>
                <a:lnTo>
                  <a:pt x="882142" y="952500"/>
                </a:lnTo>
                <a:lnTo>
                  <a:pt x="878840" y="927100"/>
                </a:lnTo>
                <a:lnTo>
                  <a:pt x="874776" y="901700"/>
                </a:lnTo>
                <a:lnTo>
                  <a:pt x="870077" y="889000"/>
                </a:lnTo>
                <a:lnTo>
                  <a:pt x="859282" y="838200"/>
                </a:lnTo>
                <a:lnTo>
                  <a:pt x="846201" y="800100"/>
                </a:lnTo>
                <a:lnTo>
                  <a:pt x="830960" y="749300"/>
                </a:lnTo>
                <a:lnTo>
                  <a:pt x="813816" y="711200"/>
                </a:lnTo>
                <a:lnTo>
                  <a:pt x="794766" y="660400"/>
                </a:lnTo>
                <a:lnTo>
                  <a:pt x="773810" y="622300"/>
                </a:lnTo>
                <a:lnTo>
                  <a:pt x="751078" y="584200"/>
                </a:lnTo>
                <a:lnTo>
                  <a:pt x="726694" y="546100"/>
                </a:lnTo>
                <a:lnTo>
                  <a:pt x="700658" y="508000"/>
                </a:lnTo>
                <a:lnTo>
                  <a:pt x="673100" y="469900"/>
                </a:lnTo>
                <a:lnTo>
                  <a:pt x="644017" y="431800"/>
                </a:lnTo>
                <a:lnTo>
                  <a:pt x="613664" y="393700"/>
                </a:lnTo>
                <a:lnTo>
                  <a:pt x="581914" y="355600"/>
                </a:lnTo>
                <a:lnTo>
                  <a:pt x="549020" y="330200"/>
                </a:lnTo>
                <a:lnTo>
                  <a:pt x="514857" y="292100"/>
                </a:lnTo>
                <a:lnTo>
                  <a:pt x="479679" y="266700"/>
                </a:lnTo>
                <a:lnTo>
                  <a:pt x="443483" y="241300"/>
                </a:lnTo>
                <a:lnTo>
                  <a:pt x="406400" y="215900"/>
                </a:lnTo>
                <a:lnTo>
                  <a:pt x="368427" y="190500"/>
                </a:lnTo>
                <a:lnTo>
                  <a:pt x="329565" y="165100"/>
                </a:lnTo>
                <a:lnTo>
                  <a:pt x="250190" y="139700"/>
                </a:lnTo>
                <a:lnTo>
                  <a:pt x="209423" y="114300"/>
                </a:lnTo>
                <a:lnTo>
                  <a:pt x="188849" y="114300"/>
                </a:lnTo>
                <a:lnTo>
                  <a:pt x="168148" y="101600"/>
                </a:lnTo>
                <a:close/>
              </a:path>
              <a:path w="1259204" h="2044700">
                <a:moveTo>
                  <a:pt x="931926" y="1447800"/>
                </a:moveTo>
                <a:lnTo>
                  <a:pt x="932053" y="1460500"/>
                </a:lnTo>
                <a:lnTo>
                  <a:pt x="934243" y="1460500"/>
                </a:lnTo>
                <a:lnTo>
                  <a:pt x="931926" y="1447800"/>
                </a:lnTo>
                <a:close/>
              </a:path>
              <a:path w="1259204" h="2044700">
                <a:moveTo>
                  <a:pt x="251088" y="0"/>
                </a:moveTo>
                <a:lnTo>
                  <a:pt x="219710" y="0"/>
                </a:lnTo>
                <a:lnTo>
                  <a:pt x="0" y="114300"/>
                </a:lnTo>
                <a:lnTo>
                  <a:pt x="207391" y="254000"/>
                </a:lnTo>
                <a:lnTo>
                  <a:pt x="238984" y="254000"/>
                </a:lnTo>
                <a:lnTo>
                  <a:pt x="246887" y="241300"/>
                </a:lnTo>
                <a:lnTo>
                  <a:pt x="251098" y="228600"/>
                </a:lnTo>
                <a:lnTo>
                  <a:pt x="250952" y="215900"/>
                </a:lnTo>
                <a:lnTo>
                  <a:pt x="246709" y="203200"/>
                </a:lnTo>
                <a:lnTo>
                  <a:pt x="238632" y="203200"/>
                </a:lnTo>
                <a:lnTo>
                  <a:pt x="201661" y="177800"/>
                </a:lnTo>
                <a:lnTo>
                  <a:pt x="191897" y="177800"/>
                </a:lnTo>
                <a:lnTo>
                  <a:pt x="172212" y="165100"/>
                </a:lnTo>
                <a:lnTo>
                  <a:pt x="153924" y="165100"/>
                </a:lnTo>
                <a:lnTo>
                  <a:pt x="134112" y="152400"/>
                </a:lnTo>
                <a:lnTo>
                  <a:pt x="77469" y="152400"/>
                </a:lnTo>
                <a:lnTo>
                  <a:pt x="57404" y="139700"/>
                </a:lnTo>
                <a:lnTo>
                  <a:pt x="54229" y="139700"/>
                </a:lnTo>
                <a:lnTo>
                  <a:pt x="59055" y="88900"/>
                </a:lnTo>
                <a:lnTo>
                  <a:pt x="170506" y="88900"/>
                </a:lnTo>
                <a:lnTo>
                  <a:pt x="245999" y="50800"/>
                </a:lnTo>
                <a:lnTo>
                  <a:pt x="254887" y="38100"/>
                </a:lnTo>
                <a:lnTo>
                  <a:pt x="260143" y="38100"/>
                </a:lnTo>
                <a:lnTo>
                  <a:pt x="261375" y="25400"/>
                </a:lnTo>
                <a:lnTo>
                  <a:pt x="258191" y="12700"/>
                </a:lnTo>
                <a:lnTo>
                  <a:pt x="251088" y="0"/>
                </a:lnTo>
                <a:close/>
              </a:path>
              <a:path w="1259204" h="2044700">
                <a:moveTo>
                  <a:pt x="113868" y="117484"/>
                </a:moveTo>
                <a:lnTo>
                  <a:pt x="69850" y="139700"/>
                </a:lnTo>
                <a:lnTo>
                  <a:pt x="57404" y="139700"/>
                </a:lnTo>
                <a:lnTo>
                  <a:pt x="77469" y="152400"/>
                </a:lnTo>
                <a:lnTo>
                  <a:pt x="134112" y="152400"/>
                </a:lnTo>
                <a:lnTo>
                  <a:pt x="153924" y="165100"/>
                </a:lnTo>
                <a:lnTo>
                  <a:pt x="172212" y="165100"/>
                </a:lnTo>
                <a:lnTo>
                  <a:pt x="191897" y="177800"/>
                </a:lnTo>
                <a:lnTo>
                  <a:pt x="201661" y="177800"/>
                </a:lnTo>
                <a:lnTo>
                  <a:pt x="113868" y="117484"/>
                </a:lnTo>
                <a:close/>
              </a:path>
              <a:path w="1259204" h="2044700">
                <a:moveTo>
                  <a:pt x="72262" y="88900"/>
                </a:moveTo>
                <a:lnTo>
                  <a:pt x="59055" y="88900"/>
                </a:lnTo>
                <a:lnTo>
                  <a:pt x="54229" y="139700"/>
                </a:lnTo>
                <a:lnTo>
                  <a:pt x="69850" y="139700"/>
                </a:lnTo>
                <a:lnTo>
                  <a:pt x="72262" y="88900"/>
                </a:lnTo>
                <a:close/>
              </a:path>
              <a:path w="1259204" h="2044700">
                <a:moveTo>
                  <a:pt x="72262" y="88900"/>
                </a:moveTo>
                <a:lnTo>
                  <a:pt x="69850" y="139700"/>
                </a:lnTo>
                <a:lnTo>
                  <a:pt x="113868" y="117484"/>
                </a:lnTo>
                <a:lnTo>
                  <a:pt x="72262" y="88900"/>
                </a:lnTo>
                <a:close/>
              </a:path>
              <a:path w="1259204" h="2044700">
                <a:moveTo>
                  <a:pt x="105663" y="88900"/>
                </a:moveTo>
                <a:lnTo>
                  <a:pt x="72262" y="88900"/>
                </a:lnTo>
                <a:lnTo>
                  <a:pt x="113868" y="117484"/>
                </a:lnTo>
                <a:lnTo>
                  <a:pt x="145342" y="101600"/>
                </a:lnTo>
                <a:lnTo>
                  <a:pt x="126618" y="101600"/>
                </a:lnTo>
                <a:lnTo>
                  <a:pt x="105663" y="88900"/>
                </a:lnTo>
                <a:close/>
              </a:path>
              <a:path w="1259204" h="2044700">
                <a:moveTo>
                  <a:pt x="170506" y="88900"/>
                </a:moveTo>
                <a:lnTo>
                  <a:pt x="105663" y="88900"/>
                </a:lnTo>
                <a:lnTo>
                  <a:pt x="126618" y="101600"/>
                </a:lnTo>
                <a:lnTo>
                  <a:pt x="145342" y="101600"/>
                </a:lnTo>
                <a:lnTo>
                  <a:pt x="170506" y="88900"/>
                </a:lnTo>
                <a:close/>
              </a:path>
            </a:pathLst>
          </a:custGeom>
          <a:solidFill>
            <a:srgbClr val="C39A00"/>
          </a:solidFill>
        </p:spPr>
        <p:txBody>
          <a:bodyPr wrap="square" lIns="0" tIns="0" rIns="0" bIns="0" rtlCol="0"/>
          <a:lstStyle/>
          <a:p/>
        </p:txBody>
      </p:sp>
      <p:sp>
        <p:nvSpPr>
          <p:cNvPr id="39" name="object 39"/>
          <p:cNvSpPr txBox="1"/>
          <p:nvPr/>
        </p:nvSpPr>
        <p:spPr>
          <a:xfrm>
            <a:off x="2859023" y="837945"/>
            <a:ext cx="601345" cy="700405"/>
          </a:xfrm>
          <a:prstGeom prst="rect">
            <a:avLst/>
          </a:prstGeom>
        </p:spPr>
        <p:txBody>
          <a:bodyPr vert="horz" wrap="square" lIns="0" tIns="12700" rIns="0" bIns="0" rtlCol="0">
            <a:spAutoFit/>
          </a:bodyPr>
          <a:lstStyle/>
          <a:p>
            <a:pPr marL="84455">
              <a:lnSpc>
                <a:spcPct val="100000"/>
              </a:lnSpc>
              <a:spcBef>
                <a:spcPts val="100"/>
              </a:spcBef>
            </a:pPr>
            <a:r>
              <a:rPr sz="1200" b="1" spc="-20" dirty="0">
                <a:solidFill>
                  <a:srgbClr val="35362F"/>
                </a:solidFill>
                <a:latin typeface="Calibri" panose="020F0502020204030204"/>
                <a:cs typeface="Calibri" panose="020F0502020204030204"/>
              </a:rPr>
              <a:t>VDDL</a:t>
            </a:r>
            <a:endParaRPr sz="1200">
              <a:latin typeface="Calibri" panose="020F0502020204030204"/>
              <a:cs typeface="Calibri" panose="020F0502020204030204"/>
            </a:endParaRPr>
          </a:p>
          <a:p>
            <a:pPr marR="5080">
              <a:lnSpc>
                <a:spcPts val="970"/>
              </a:lnSpc>
              <a:spcBef>
                <a:spcPts val="970"/>
              </a:spcBef>
            </a:pPr>
            <a:r>
              <a:rPr sz="900" b="1" i="1" dirty="0">
                <a:solidFill>
                  <a:srgbClr val="35362F"/>
                </a:solidFill>
                <a:latin typeface="Calibri" panose="020F0502020204030204"/>
                <a:cs typeface="Calibri" panose="020F0502020204030204"/>
              </a:rPr>
              <a:t>Supply</a:t>
            </a:r>
            <a:r>
              <a:rPr sz="900" b="1" i="1" spc="-30" dirty="0">
                <a:solidFill>
                  <a:srgbClr val="35362F"/>
                </a:solidFill>
                <a:latin typeface="Calibri" panose="020F0502020204030204"/>
                <a:cs typeface="Calibri" panose="020F0502020204030204"/>
              </a:rPr>
              <a:t> </a:t>
            </a:r>
            <a:r>
              <a:rPr sz="900" b="1" i="1" spc="-10" dirty="0">
                <a:solidFill>
                  <a:srgbClr val="35362F"/>
                </a:solidFill>
                <a:latin typeface="Calibri" panose="020F0502020204030204"/>
                <a:cs typeface="Calibri" panose="020F0502020204030204"/>
              </a:rPr>
              <a:t>ports</a:t>
            </a:r>
            <a:r>
              <a:rPr sz="900" b="1" i="1" spc="500" dirty="0">
                <a:solidFill>
                  <a:srgbClr val="35362F"/>
                </a:solidFill>
                <a:latin typeface="Calibri" panose="020F0502020204030204"/>
                <a:cs typeface="Calibri" panose="020F0502020204030204"/>
              </a:rPr>
              <a:t> </a:t>
            </a:r>
            <a:r>
              <a:rPr sz="900" b="1" i="1" spc="-10" dirty="0">
                <a:solidFill>
                  <a:srgbClr val="35362F"/>
                </a:solidFill>
                <a:latin typeface="Calibri" panose="020F0502020204030204"/>
                <a:cs typeface="Calibri" panose="020F0502020204030204"/>
              </a:rPr>
              <a:t>implicitly</a:t>
            </a:r>
            <a:r>
              <a:rPr sz="900" b="1" i="1" spc="500" dirty="0">
                <a:solidFill>
                  <a:srgbClr val="35362F"/>
                </a:solidFill>
                <a:latin typeface="Calibri" panose="020F0502020204030204"/>
                <a:cs typeface="Calibri" panose="020F0502020204030204"/>
              </a:rPr>
              <a:t> </a:t>
            </a:r>
            <a:r>
              <a:rPr sz="900" b="1" i="1" spc="-10" dirty="0">
                <a:solidFill>
                  <a:srgbClr val="35362F"/>
                </a:solidFill>
                <a:latin typeface="Calibri" panose="020F0502020204030204"/>
                <a:cs typeface="Calibri" panose="020F0502020204030204"/>
              </a:rPr>
              <a:t>generated</a:t>
            </a:r>
            <a:endParaRPr sz="900">
              <a:latin typeface="Calibri" panose="020F0502020204030204"/>
              <a:cs typeface="Calibri" panose="020F0502020204030204"/>
            </a:endParaRPr>
          </a:p>
        </p:txBody>
      </p:sp>
      <p:sp>
        <p:nvSpPr>
          <p:cNvPr id="40" name="object 40"/>
          <p:cNvSpPr txBox="1"/>
          <p:nvPr/>
        </p:nvSpPr>
        <p:spPr>
          <a:xfrm>
            <a:off x="519785" y="529463"/>
            <a:ext cx="337185" cy="254000"/>
          </a:xfrm>
          <a:prstGeom prst="rect">
            <a:avLst/>
          </a:prstGeom>
        </p:spPr>
        <p:txBody>
          <a:bodyPr vert="horz" wrap="square" lIns="0" tIns="12700" rIns="0" bIns="0" rtlCol="0">
            <a:spAutoFit/>
          </a:bodyPr>
          <a:lstStyle/>
          <a:p>
            <a:pPr marL="12700">
              <a:lnSpc>
                <a:spcPct val="100000"/>
              </a:lnSpc>
              <a:spcBef>
                <a:spcPts val="100"/>
              </a:spcBef>
            </a:pPr>
            <a:r>
              <a:rPr sz="1500" i="1" spc="-25" dirty="0">
                <a:solidFill>
                  <a:srgbClr val="6F2F9F"/>
                </a:solidFill>
                <a:latin typeface="Calibri" panose="020F0502020204030204"/>
                <a:cs typeface="Calibri" panose="020F0502020204030204"/>
              </a:rPr>
              <a:t>TOP</a:t>
            </a:r>
            <a:endParaRPr sz="1500">
              <a:latin typeface="Calibri" panose="020F0502020204030204"/>
              <a:cs typeface="Calibri" panose="020F0502020204030204"/>
            </a:endParaRPr>
          </a:p>
        </p:txBody>
      </p:sp>
      <p:sp>
        <p:nvSpPr>
          <p:cNvPr id="42" name="object 42"/>
          <p:cNvSpPr txBox="1">
            <a:spLocks noGrp="1"/>
          </p:cNvSpPr>
          <p:nvPr>
            <p:ph type="body" idx="1"/>
          </p:nvPr>
        </p:nvSpPr>
        <p:spPr>
          <a:xfrm>
            <a:off x="4484370" y="645160"/>
            <a:ext cx="4340860" cy="1666875"/>
          </a:xfrm>
          <a:prstGeom prst="rect">
            <a:avLst/>
          </a:prstGeom>
        </p:spPr>
        <p:txBody>
          <a:bodyPr vert="horz" wrap="square" lIns="0" tIns="102235" rIns="0" bIns="0" rtlCol="0">
            <a:noAutofit/>
          </a:bodyPr>
          <a:lstStyle/>
          <a:p>
            <a:pPr marL="12700">
              <a:lnSpc>
                <a:spcPct val="100000"/>
              </a:lnSpc>
              <a:spcBef>
                <a:spcPts val="805"/>
              </a:spcBef>
            </a:pPr>
            <a:r>
              <a:rPr dirty="0"/>
              <a:t>Create</a:t>
            </a:r>
            <a:r>
              <a:rPr spc="-35" dirty="0"/>
              <a:t> </a:t>
            </a:r>
            <a:r>
              <a:rPr dirty="0"/>
              <a:t>supply</a:t>
            </a:r>
            <a:r>
              <a:rPr spc="-60" dirty="0"/>
              <a:t> </a:t>
            </a:r>
            <a:r>
              <a:rPr dirty="0"/>
              <a:t>nets</a:t>
            </a:r>
            <a:r>
              <a:rPr spc="-35" dirty="0"/>
              <a:t> </a:t>
            </a:r>
            <a:r>
              <a:rPr dirty="0"/>
              <a:t>at</a:t>
            </a:r>
            <a:r>
              <a:rPr spc="-25" dirty="0"/>
              <a:t> </a:t>
            </a:r>
            <a:r>
              <a:rPr dirty="0"/>
              <a:t>child</a:t>
            </a:r>
            <a:r>
              <a:rPr spc="-30" dirty="0"/>
              <a:t> </a:t>
            </a:r>
            <a:r>
              <a:rPr spc="-20" dirty="0"/>
              <a:t>level</a:t>
            </a:r>
            <a:endParaRPr spc="-20" dirty="0"/>
          </a:p>
          <a:p>
            <a:pPr marL="0" marR="5080" indent="0">
              <a:lnSpc>
                <a:spcPct val="100000"/>
              </a:lnSpc>
              <a:spcBef>
                <a:spcPts val="625"/>
              </a:spcBef>
              <a:buNone/>
              <a:tabLst>
                <a:tab pos="2016760" algn="l"/>
              </a:tabLst>
            </a:pPr>
            <a:r>
              <a:rPr sz="1600" b="0" i="1" spc="-10" dirty="0">
                <a:solidFill>
                  <a:srgbClr val="0000FF"/>
                </a:solidFill>
                <a:latin typeface="Calibri" panose="020F0502020204030204"/>
                <a:cs typeface="Calibri" panose="020F0502020204030204"/>
              </a:rPr>
              <a:t>create_supply_net</a:t>
            </a:r>
            <a:r>
              <a:rPr sz="1600" b="0" i="1" spc="5" dirty="0">
                <a:solidFill>
                  <a:srgbClr val="0000FF"/>
                </a:solidFill>
                <a:latin typeface="Calibri" panose="020F0502020204030204"/>
                <a:cs typeface="Calibri" panose="020F0502020204030204"/>
              </a:rPr>
              <a:t> </a:t>
            </a:r>
            <a:r>
              <a:rPr sz="1600" b="0" i="1" dirty="0">
                <a:solidFill>
                  <a:srgbClr val="0000FF"/>
                </a:solidFill>
                <a:latin typeface="Calibri" panose="020F0502020204030204"/>
                <a:cs typeface="Calibri" panose="020F0502020204030204"/>
              </a:rPr>
              <a:t>VDDL</a:t>
            </a:r>
            <a:r>
              <a:rPr sz="1600" b="0" i="1" spc="325" dirty="0">
                <a:solidFill>
                  <a:srgbClr val="0000FF"/>
                </a:solidFill>
                <a:latin typeface="Calibri" panose="020F0502020204030204"/>
                <a:cs typeface="Calibri" panose="020F0502020204030204"/>
              </a:rPr>
              <a:t> </a:t>
            </a:r>
            <a:r>
              <a:rPr sz="1600" b="0" i="1" dirty="0">
                <a:solidFill>
                  <a:srgbClr val="0000FF"/>
                </a:solidFill>
                <a:latin typeface="Calibri" panose="020F0502020204030204"/>
                <a:cs typeface="Calibri" panose="020F0502020204030204"/>
              </a:rPr>
              <a:t>-domain</a:t>
            </a:r>
            <a:r>
              <a:rPr sz="1600" b="0" i="1" spc="-5" dirty="0">
                <a:solidFill>
                  <a:srgbClr val="0000FF"/>
                </a:solidFill>
                <a:latin typeface="Calibri" panose="020F0502020204030204"/>
                <a:cs typeface="Calibri" panose="020F0502020204030204"/>
              </a:rPr>
              <a:t> </a:t>
            </a:r>
            <a:r>
              <a:rPr sz="1600" b="0" i="1" dirty="0">
                <a:solidFill>
                  <a:srgbClr val="0000FF"/>
                </a:solidFill>
                <a:latin typeface="Calibri" panose="020F0502020204030204"/>
                <a:cs typeface="Calibri" panose="020F0502020204030204"/>
              </a:rPr>
              <a:t>pd1</a:t>
            </a:r>
            <a:r>
              <a:rPr sz="1600" b="0" i="1" spc="325" dirty="0">
                <a:solidFill>
                  <a:srgbClr val="0000FF"/>
                </a:solidFill>
                <a:latin typeface="Calibri" panose="020F0502020204030204"/>
                <a:cs typeface="Calibri" panose="020F0502020204030204"/>
              </a:rPr>
              <a:t> </a:t>
            </a:r>
            <a:r>
              <a:rPr sz="1600" b="0" i="1" spc="-10" dirty="0">
                <a:solidFill>
                  <a:srgbClr val="69BD28"/>
                </a:solidFill>
                <a:latin typeface="Calibri" panose="020F0502020204030204"/>
                <a:cs typeface="Calibri" panose="020F0502020204030204"/>
              </a:rPr>
              <a:t>–reuse </a:t>
            </a:r>
            <a:r>
              <a:rPr lang="en-US" sz="1600" b="0" i="1" spc="-10" dirty="0">
                <a:solidFill>
                  <a:srgbClr val="69BD28"/>
                </a:solidFill>
                <a:latin typeface="Calibri" panose="020F0502020204030204"/>
                <a:cs typeface="Calibri" panose="020F0502020204030204"/>
              </a:rPr>
              <a:t>     </a:t>
            </a:r>
            <a:endParaRPr lang="en-US" sz="1600" b="0" i="1" spc="-10" dirty="0">
              <a:solidFill>
                <a:srgbClr val="69BD28"/>
              </a:solidFill>
              <a:latin typeface="Calibri" panose="020F0502020204030204"/>
              <a:cs typeface="Calibri" panose="020F0502020204030204"/>
            </a:endParaRPr>
          </a:p>
          <a:p>
            <a:pPr marL="0" marR="5080" indent="0">
              <a:lnSpc>
                <a:spcPct val="100000"/>
              </a:lnSpc>
              <a:spcBef>
                <a:spcPts val="625"/>
              </a:spcBef>
              <a:buNone/>
              <a:tabLst>
                <a:tab pos="2016760" algn="l"/>
              </a:tabLst>
            </a:pPr>
            <a:r>
              <a:rPr sz="1600" b="0" i="1" spc="-10" dirty="0">
                <a:solidFill>
                  <a:srgbClr val="0000FF"/>
                </a:solidFill>
                <a:latin typeface="Calibri" panose="020F0502020204030204"/>
                <a:cs typeface="Calibri" panose="020F0502020204030204"/>
              </a:rPr>
              <a:t>create_supply_net</a:t>
            </a:r>
            <a:r>
              <a:rPr sz="1600" b="0" i="1" spc="25" dirty="0">
                <a:solidFill>
                  <a:srgbClr val="0000FF"/>
                </a:solidFill>
                <a:latin typeface="Calibri" panose="020F0502020204030204"/>
                <a:cs typeface="Calibri" panose="020F0502020204030204"/>
              </a:rPr>
              <a:t> </a:t>
            </a:r>
            <a:r>
              <a:rPr sz="1600" b="0" i="1" spc="-25" dirty="0">
                <a:solidFill>
                  <a:srgbClr val="0000FF"/>
                </a:solidFill>
                <a:latin typeface="Calibri" panose="020F0502020204030204"/>
                <a:cs typeface="Calibri" panose="020F0502020204030204"/>
              </a:rPr>
              <a:t>VSS</a:t>
            </a:r>
            <a:r>
              <a:rPr lang="en-US" sz="1600" b="0" i="1" spc="-25" dirty="0">
                <a:solidFill>
                  <a:srgbClr val="0000FF"/>
                </a:solidFill>
                <a:latin typeface="Calibri" panose="020F0502020204030204"/>
                <a:cs typeface="Calibri" panose="020F0502020204030204"/>
              </a:rPr>
              <a:t>     </a:t>
            </a:r>
            <a:r>
              <a:rPr sz="1600" b="0" i="1" dirty="0">
                <a:solidFill>
                  <a:srgbClr val="0000FF"/>
                </a:solidFill>
                <a:latin typeface="Calibri" panose="020F0502020204030204"/>
                <a:cs typeface="Calibri" panose="020F0502020204030204"/>
              </a:rPr>
              <a:t>-domain</a:t>
            </a:r>
            <a:r>
              <a:rPr sz="1600" b="0" i="1" spc="-25" dirty="0">
                <a:solidFill>
                  <a:srgbClr val="0000FF"/>
                </a:solidFill>
                <a:latin typeface="Calibri" panose="020F0502020204030204"/>
                <a:cs typeface="Calibri" panose="020F0502020204030204"/>
              </a:rPr>
              <a:t> </a:t>
            </a:r>
            <a:r>
              <a:rPr sz="1600" b="0" i="1" dirty="0">
                <a:solidFill>
                  <a:srgbClr val="0000FF"/>
                </a:solidFill>
                <a:latin typeface="Calibri" panose="020F0502020204030204"/>
                <a:cs typeface="Calibri" panose="020F0502020204030204"/>
              </a:rPr>
              <a:t>pd1</a:t>
            </a:r>
            <a:r>
              <a:rPr sz="1600" b="0" i="1" spc="315" dirty="0">
                <a:solidFill>
                  <a:srgbClr val="0000FF"/>
                </a:solidFill>
                <a:latin typeface="Calibri" panose="020F0502020204030204"/>
                <a:cs typeface="Calibri" panose="020F0502020204030204"/>
              </a:rPr>
              <a:t> </a:t>
            </a:r>
            <a:r>
              <a:rPr sz="1600" b="0" i="1" spc="-10" dirty="0">
                <a:solidFill>
                  <a:srgbClr val="69BD28"/>
                </a:solidFill>
                <a:latin typeface="Calibri" panose="020F0502020204030204"/>
                <a:cs typeface="Calibri" panose="020F0502020204030204"/>
              </a:rPr>
              <a:t>–reuse </a:t>
            </a:r>
            <a:endParaRPr sz="1600" b="0" i="1" spc="-10" dirty="0">
              <a:solidFill>
                <a:srgbClr val="69BD28"/>
              </a:solidFill>
              <a:latin typeface="Calibri" panose="020F0502020204030204"/>
              <a:cs typeface="Calibri" panose="020F0502020204030204"/>
            </a:endParaRPr>
          </a:p>
          <a:p>
            <a:pPr marL="0" marR="5080" indent="0">
              <a:lnSpc>
                <a:spcPct val="100000"/>
              </a:lnSpc>
              <a:spcBef>
                <a:spcPts val="625"/>
              </a:spcBef>
              <a:buNone/>
              <a:tabLst>
                <a:tab pos="2016760" algn="l"/>
              </a:tabLst>
            </a:pPr>
            <a:r>
              <a:rPr sz="1600" b="0" i="1" spc="-10" dirty="0">
                <a:solidFill>
                  <a:srgbClr val="0000FF"/>
                </a:solidFill>
                <a:latin typeface="Calibri" panose="020F0502020204030204"/>
                <a:cs typeface="Calibri" panose="020F0502020204030204"/>
              </a:rPr>
              <a:t>create_supply_net</a:t>
            </a:r>
            <a:r>
              <a:rPr sz="1600" b="0" i="1" spc="-15" dirty="0">
                <a:solidFill>
                  <a:srgbClr val="0000FF"/>
                </a:solidFill>
                <a:latin typeface="Calibri" panose="020F0502020204030204"/>
                <a:cs typeface="Calibri" panose="020F0502020204030204"/>
              </a:rPr>
              <a:t> </a:t>
            </a:r>
            <a:r>
              <a:rPr sz="1600" b="0" i="1" dirty="0">
                <a:solidFill>
                  <a:srgbClr val="0000FF"/>
                </a:solidFill>
                <a:latin typeface="Calibri" panose="020F0502020204030204"/>
                <a:cs typeface="Calibri" panose="020F0502020204030204"/>
              </a:rPr>
              <a:t>VDDLS1</a:t>
            </a:r>
            <a:r>
              <a:rPr sz="1600" b="0" i="1" spc="-20" dirty="0">
                <a:solidFill>
                  <a:srgbClr val="0000FF"/>
                </a:solidFill>
                <a:latin typeface="Calibri" panose="020F0502020204030204"/>
                <a:cs typeface="Calibri" panose="020F0502020204030204"/>
              </a:rPr>
              <a:t> </a:t>
            </a:r>
            <a:r>
              <a:rPr sz="1600" b="0" i="1" dirty="0">
                <a:solidFill>
                  <a:srgbClr val="0000FF"/>
                </a:solidFill>
                <a:latin typeface="Calibri" panose="020F0502020204030204"/>
                <a:cs typeface="Calibri" panose="020F0502020204030204"/>
              </a:rPr>
              <a:t>-domain</a:t>
            </a:r>
            <a:r>
              <a:rPr sz="1600" b="0" i="1" spc="-25" dirty="0">
                <a:solidFill>
                  <a:srgbClr val="0000FF"/>
                </a:solidFill>
                <a:latin typeface="Calibri" panose="020F0502020204030204"/>
                <a:cs typeface="Calibri" panose="020F0502020204030204"/>
              </a:rPr>
              <a:t> pd1</a:t>
            </a:r>
            <a:endParaRPr sz="1600">
              <a:latin typeface="Calibri" panose="020F0502020204030204"/>
              <a:cs typeface="Calibri" panose="020F0502020204030204"/>
            </a:endParaRPr>
          </a:p>
        </p:txBody>
      </p:sp>
      <p:sp>
        <p:nvSpPr>
          <p:cNvPr id="45" name="Text 0"/>
          <p:cNvSpPr/>
          <p:nvPr/>
        </p:nvSpPr>
        <p:spPr>
          <a:xfrm>
            <a:off x="284480" y="10922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电源网络的</a:t>
            </a:r>
            <a:r>
              <a:rPr lang="zh-CN" altLang="en-US" sz="1730" b="1" dirty="0">
                <a:latin typeface="微软雅黑" panose="020B0503020204020204" pitchFamily="34" charset="-122"/>
                <a:ea typeface="微软雅黑" panose="020B0503020204020204" pitchFamily="34" charset="-122"/>
                <a:sym typeface="+mn-ea"/>
              </a:rPr>
              <a:t>定义</a:t>
            </a:r>
            <a:endParaRPr lang="zh-CN" altLang="en-US" sz="1730" b="1"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grpSp>
        <p:nvGrpSpPr>
          <p:cNvPr id="2" name="object 2"/>
          <p:cNvGrpSpPr/>
          <p:nvPr/>
        </p:nvGrpSpPr>
        <p:grpSpPr>
          <a:xfrm>
            <a:off x="595375" y="877442"/>
            <a:ext cx="3788410" cy="3667760"/>
            <a:chOff x="304545" y="1170177"/>
            <a:chExt cx="3788410" cy="3667760"/>
          </a:xfrm>
        </p:grpSpPr>
        <p:sp>
          <p:nvSpPr>
            <p:cNvPr id="3" name="object 3"/>
            <p:cNvSpPr/>
            <p:nvPr/>
          </p:nvSpPr>
          <p:spPr>
            <a:xfrm>
              <a:off x="310895" y="1176527"/>
              <a:ext cx="3749040" cy="3621404"/>
            </a:xfrm>
            <a:custGeom>
              <a:avLst/>
              <a:gdLst/>
              <a:ahLst/>
              <a:cxnLst/>
              <a:rect l="l" t="t" r="r" b="b"/>
              <a:pathLst>
                <a:path w="3749040" h="3621404">
                  <a:moveTo>
                    <a:pt x="0" y="3621024"/>
                  </a:moveTo>
                  <a:lnTo>
                    <a:pt x="3749040" y="3621024"/>
                  </a:lnTo>
                  <a:lnTo>
                    <a:pt x="3749040" y="0"/>
                  </a:lnTo>
                  <a:lnTo>
                    <a:pt x="0" y="0"/>
                  </a:lnTo>
                  <a:lnTo>
                    <a:pt x="0" y="3621024"/>
                  </a:lnTo>
                  <a:close/>
                </a:path>
              </a:pathLst>
            </a:custGeom>
            <a:ln w="12700">
              <a:solidFill>
                <a:srgbClr val="6F2F9F"/>
              </a:solidFill>
              <a:prstDash val="sysDash"/>
            </a:ln>
          </p:spPr>
          <p:txBody>
            <a:bodyPr wrap="square" lIns="0" tIns="0" rIns="0" bIns="0" rtlCol="0"/>
            <a:lstStyle/>
            <a:p/>
          </p:txBody>
        </p:sp>
        <p:pic>
          <p:nvPicPr>
            <p:cNvPr id="4" name="object 4"/>
            <p:cNvPicPr/>
            <p:nvPr/>
          </p:nvPicPr>
          <p:blipFill>
            <a:blip r:embed="rId2" cstate="print"/>
            <a:stretch>
              <a:fillRect/>
            </a:stretch>
          </p:blipFill>
          <p:spPr>
            <a:xfrm>
              <a:off x="413003" y="1280159"/>
              <a:ext cx="3679698" cy="3557778"/>
            </a:xfrm>
            <a:prstGeom prst="rect">
              <a:avLst/>
            </a:prstGeom>
          </p:spPr>
        </p:pic>
        <p:sp>
          <p:nvSpPr>
            <p:cNvPr id="5" name="object 5"/>
            <p:cNvSpPr/>
            <p:nvPr/>
          </p:nvSpPr>
          <p:spPr>
            <a:xfrm>
              <a:off x="342899" y="1210055"/>
              <a:ext cx="3670300" cy="3548379"/>
            </a:xfrm>
            <a:custGeom>
              <a:avLst/>
              <a:gdLst/>
              <a:ahLst/>
              <a:cxnLst/>
              <a:rect l="l" t="t" r="r" b="b"/>
              <a:pathLst>
                <a:path w="3670300" h="3548379">
                  <a:moveTo>
                    <a:pt x="3669791" y="0"/>
                  </a:moveTo>
                  <a:lnTo>
                    <a:pt x="0" y="0"/>
                  </a:lnTo>
                  <a:lnTo>
                    <a:pt x="0" y="3547872"/>
                  </a:lnTo>
                  <a:lnTo>
                    <a:pt x="3669791" y="3547872"/>
                  </a:lnTo>
                  <a:lnTo>
                    <a:pt x="3669791" y="0"/>
                  </a:lnTo>
                  <a:close/>
                </a:path>
              </a:pathLst>
            </a:custGeom>
            <a:solidFill>
              <a:srgbClr val="FFFFFF"/>
            </a:solidFill>
          </p:spPr>
          <p:txBody>
            <a:bodyPr wrap="square" lIns="0" tIns="0" rIns="0" bIns="0" rtlCol="0"/>
            <a:lstStyle/>
            <a:p/>
          </p:txBody>
        </p:sp>
        <p:sp>
          <p:nvSpPr>
            <p:cNvPr id="6" name="object 6"/>
            <p:cNvSpPr/>
            <p:nvPr/>
          </p:nvSpPr>
          <p:spPr>
            <a:xfrm>
              <a:off x="342899" y="1210055"/>
              <a:ext cx="3670300" cy="3548379"/>
            </a:xfrm>
            <a:custGeom>
              <a:avLst/>
              <a:gdLst/>
              <a:ahLst/>
              <a:cxnLst/>
              <a:rect l="l" t="t" r="r" b="b"/>
              <a:pathLst>
                <a:path w="3670300" h="3548379">
                  <a:moveTo>
                    <a:pt x="0" y="3547872"/>
                  </a:moveTo>
                  <a:lnTo>
                    <a:pt x="3669791" y="3547872"/>
                  </a:lnTo>
                  <a:lnTo>
                    <a:pt x="3669791" y="0"/>
                  </a:lnTo>
                  <a:lnTo>
                    <a:pt x="0" y="0"/>
                  </a:lnTo>
                  <a:lnTo>
                    <a:pt x="0" y="3547872"/>
                  </a:lnTo>
                  <a:close/>
                </a:path>
              </a:pathLst>
            </a:custGeom>
            <a:ln w="9524">
              <a:solidFill>
                <a:srgbClr val="959595"/>
              </a:solidFill>
            </a:ln>
          </p:spPr>
          <p:txBody>
            <a:bodyPr wrap="square" lIns="0" tIns="0" rIns="0" bIns="0" rtlCol="0"/>
            <a:lstStyle/>
            <a:p/>
          </p:txBody>
        </p:sp>
        <p:pic>
          <p:nvPicPr>
            <p:cNvPr id="7" name="object 7"/>
            <p:cNvPicPr/>
            <p:nvPr/>
          </p:nvPicPr>
          <p:blipFill>
            <a:blip r:embed="rId3" cstate="print"/>
            <a:stretch>
              <a:fillRect/>
            </a:stretch>
          </p:blipFill>
          <p:spPr>
            <a:xfrm>
              <a:off x="899159" y="1877568"/>
              <a:ext cx="2646426" cy="2283713"/>
            </a:xfrm>
            <a:prstGeom prst="rect">
              <a:avLst/>
            </a:prstGeom>
          </p:spPr>
        </p:pic>
        <p:sp>
          <p:nvSpPr>
            <p:cNvPr id="8" name="object 8"/>
            <p:cNvSpPr/>
            <p:nvPr/>
          </p:nvSpPr>
          <p:spPr>
            <a:xfrm>
              <a:off x="867155" y="1845563"/>
              <a:ext cx="2636520" cy="2273935"/>
            </a:xfrm>
            <a:custGeom>
              <a:avLst/>
              <a:gdLst/>
              <a:ahLst/>
              <a:cxnLst/>
              <a:rect l="l" t="t" r="r" b="b"/>
              <a:pathLst>
                <a:path w="2636520" h="2273935">
                  <a:moveTo>
                    <a:pt x="2636520" y="0"/>
                  </a:moveTo>
                  <a:lnTo>
                    <a:pt x="0" y="0"/>
                  </a:lnTo>
                  <a:lnTo>
                    <a:pt x="0" y="2273808"/>
                  </a:lnTo>
                  <a:lnTo>
                    <a:pt x="2636520" y="2273808"/>
                  </a:lnTo>
                  <a:lnTo>
                    <a:pt x="2636520" y="0"/>
                  </a:lnTo>
                  <a:close/>
                </a:path>
              </a:pathLst>
            </a:custGeom>
            <a:solidFill>
              <a:srgbClr val="CCFFFF"/>
            </a:solidFill>
          </p:spPr>
          <p:txBody>
            <a:bodyPr wrap="square" lIns="0" tIns="0" rIns="0" bIns="0" rtlCol="0"/>
            <a:lstStyle/>
            <a:p/>
          </p:txBody>
        </p:sp>
        <p:sp>
          <p:nvSpPr>
            <p:cNvPr id="9" name="object 9"/>
            <p:cNvSpPr/>
            <p:nvPr/>
          </p:nvSpPr>
          <p:spPr>
            <a:xfrm>
              <a:off x="867155" y="1845563"/>
              <a:ext cx="2636520" cy="2273935"/>
            </a:xfrm>
            <a:custGeom>
              <a:avLst/>
              <a:gdLst/>
              <a:ahLst/>
              <a:cxnLst/>
              <a:rect l="l" t="t" r="r" b="b"/>
              <a:pathLst>
                <a:path w="2636520" h="2273935">
                  <a:moveTo>
                    <a:pt x="0" y="2273808"/>
                  </a:moveTo>
                  <a:lnTo>
                    <a:pt x="2636520" y="2273808"/>
                  </a:lnTo>
                  <a:lnTo>
                    <a:pt x="2636520" y="0"/>
                  </a:lnTo>
                  <a:lnTo>
                    <a:pt x="0" y="0"/>
                  </a:lnTo>
                  <a:lnTo>
                    <a:pt x="0" y="2273808"/>
                  </a:lnTo>
                  <a:close/>
                </a:path>
              </a:pathLst>
            </a:custGeom>
            <a:ln w="9524">
              <a:solidFill>
                <a:srgbClr val="69BD28"/>
              </a:solidFill>
            </a:ln>
          </p:spPr>
          <p:txBody>
            <a:bodyPr wrap="square" lIns="0" tIns="0" rIns="0" bIns="0" rtlCol="0"/>
            <a:lstStyle/>
            <a:p/>
          </p:txBody>
        </p:sp>
        <p:sp>
          <p:nvSpPr>
            <p:cNvPr id="10" name="object 10"/>
            <p:cNvSpPr/>
            <p:nvPr/>
          </p:nvSpPr>
          <p:spPr>
            <a:xfrm>
              <a:off x="1463801" y="1436369"/>
              <a:ext cx="1172210" cy="1356360"/>
            </a:xfrm>
            <a:custGeom>
              <a:avLst/>
              <a:gdLst/>
              <a:ahLst/>
              <a:cxnLst/>
              <a:rect l="l" t="t" r="r" b="b"/>
              <a:pathLst>
                <a:path w="1172210" h="1356360">
                  <a:moveTo>
                    <a:pt x="0" y="0"/>
                  </a:moveTo>
                  <a:lnTo>
                    <a:pt x="0" y="298703"/>
                  </a:lnTo>
                </a:path>
                <a:path w="1172210" h="1356360">
                  <a:moveTo>
                    <a:pt x="1159764" y="960119"/>
                  </a:moveTo>
                  <a:lnTo>
                    <a:pt x="1171955" y="1356359"/>
                  </a:lnTo>
                </a:path>
              </a:pathLst>
            </a:custGeom>
            <a:ln w="28575">
              <a:solidFill>
                <a:srgbClr val="35362F"/>
              </a:solidFill>
            </a:ln>
          </p:spPr>
          <p:txBody>
            <a:bodyPr wrap="square" lIns="0" tIns="0" rIns="0" bIns="0" rtlCol="0"/>
            <a:lstStyle/>
            <a:p/>
          </p:txBody>
        </p:sp>
      </p:grpSp>
      <p:sp>
        <p:nvSpPr>
          <p:cNvPr id="11" name="object 11"/>
          <p:cNvSpPr txBox="1"/>
          <p:nvPr/>
        </p:nvSpPr>
        <p:spPr>
          <a:xfrm>
            <a:off x="2933572" y="2216150"/>
            <a:ext cx="521334" cy="208279"/>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35362F"/>
                </a:solidFill>
                <a:latin typeface="Calibri" panose="020F0502020204030204"/>
                <a:cs typeface="Calibri" panose="020F0502020204030204"/>
              </a:rPr>
              <a:t>VDDLS1</a:t>
            </a:r>
            <a:endParaRPr sz="1200">
              <a:latin typeface="Calibri" panose="020F0502020204030204"/>
              <a:cs typeface="Calibri" panose="020F0502020204030204"/>
            </a:endParaRPr>
          </a:p>
        </p:txBody>
      </p:sp>
      <p:sp>
        <p:nvSpPr>
          <p:cNvPr id="12" name="object 12"/>
          <p:cNvSpPr txBox="1"/>
          <p:nvPr/>
        </p:nvSpPr>
        <p:spPr>
          <a:xfrm>
            <a:off x="1198054" y="1594992"/>
            <a:ext cx="792480" cy="432434"/>
          </a:xfrm>
          <a:prstGeom prst="rect">
            <a:avLst/>
          </a:prstGeom>
          <a:solidFill>
            <a:srgbClr val="2CB6B3"/>
          </a:solidFill>
        </p:spPr>
        <p:txBody>
          <a:bodyPr vert="horz" wrap="square" lIns="0" tIns="0" rIns="0" bIns="0" rtlCol="0">
            <a:spAutoFit/>
          </a:bodyPr>
          <a:lstStyle/>
          <a:p>
            <a:pPr algn="ctr">
              <a:lnSpc>
                <a:spcPts val="1060"/>
              </a:lnSpc>
            </a:pPr>
            <a:r>
              <a:rPr sz="900" b="1" spc="-10" dirty="0">
                <a:solidFill>
                  <a:srgbClr val="FFFFFF"/>
                </a:solidFill>
                <a:latin typeface="Arial" panose="020B0604020202020204"/>
                <a:cs typeface="Arial" panose="020B0604020202020204"/>
              </a:rPr>
              <a:t>u_dhm_core</a:t>
            </a:r>
            <a:endParaRPr sz="900">
              <a:latin typeface="Arial" panose="020B0604020202020204"/>
              <a:cs typeface="Arial" panose="020B0604020202020204"/>
            </a:endParaRPr>
          </a:p>
          <a:p>
            <a:pPr algn="ctr">
              <a:lnSpc>
                <a:spcPct val="100000"/>
              </a:lnSpc>
              <a:spcBef>
                <a:spcPts val="155"/>
              </a:spcBef>
            </a:pPr>
            <a:r>
              <a:rPr sz="900" b="1" dirty="0">
                <a:solidFill>
                  <a:srgbClr val="FFFFFF"/>
                </a:solidFill>
                <a:latin typeface="Arial" panose="020B0604020202020204"/>
                <a:cs typeface="Arial" panose="020B0604020202020204"/>
              </a:rPr>
              <a:t>(1.08V</a:t>
            </a:r>
            <a:r>
              <a:rPr sz="900" b="1" spc="-15" dirty="0">
                <a:solidFill>
                  <a:srgbClr val="FFFFFF"/>
                </a:solidFill>
                <a:latin typeface="Arial" panose="020B0604020202020204"/>
                <a:cs typeface="Arial" panose="020B0604020202020204"/>
              </a:rPr>
              <a:t> </a:t>
            </a:r>
            <a:r>
              <a:rPr sz="900" b="1" dirty="0">
                <a:solidFill>
                  <a:srgbClr val="FFFFFF"/>
                </a:solidFill>
                <a:latin typeface="Arial" panose="020B0604020202020204"/>
                <a:cs typeface="Arial" panose="020B0604020202020204"/>
              </a:rPr>
              <a:t>/</a:t>
            </a:r>
            <a:r>
              <a:rPr sz="900" b="1" spc="-10" dirty="0">
                <a:solidFill>
                  <a:srgbClr val="FFFFFF"/>
                </a:solidFill>
                <a:latin typeface="Arial" panose="020B0604020202020204"/>
                <a:cs typeface="Arial" panose="020B0604020202020204"/>
              </a:rPr>
              <a:t> </a:t>
            </a:r>
            <a:r>
              <a:rPr sz="900" b="1" dirty="0">
                <a:solidFill>
                  <a:srgbClr val="FFFFFF"/>
                </a:solidFill>
                <a:latin typeface="Arial" panose="020B0604020202020204"/>
                <a:cs typeface="Arial" panose="020B0604020202020204"/>
              </a:rPr>
              <a:t>0.7V</a:t>
            </a:r>
            <a:r>
              <a:rPr sz="900" b="1" spc="-10" dirty="0">
                <a:solidFill>
                  <a:srgbClr val="FFFFFF"/>
                </a:solidFill>
                <a:latin typeface="Arial" panose="020B0604020202020204"/>
                <a:cs typeface="Arial" panose="020B0604020202020204"/>
              </a:rPr>
              <a:t> </a:t>
            </a:r>
            <a:r>
              <a:rPr sz="900" b="1" spc="-50" dirty="0">
                <a:solidFill>
                  <a:srgbClr val="FFFFFF"/>
                </a:solidFill>
                <a:latin typeface="Arial" panose="020B0604020202020204"/>
                <a:cs typeface="Arial" panose="020B0604020202020204"/>
              </a:rPr>
              <a:t>/</a:t>
            </a:r>
            <a:endParaRPr sz="900">
              <a:latin typeface="Arial" panose="020B0604020202020204"/>
              <a:cs typeface="Arial" panose="020B0604020202020204"/>
            </a:endParaRPr>
          </a:p>
          <a:p>
            <a:pPr marL="635" algn="ctr">
              <a:lnSpc>
                <a:spcPct val="100000"/>
              </a:lnSpc>
            </a:pPr>
            <a:r>
              <a:rPr sz="900" b="1" spc="-20" dirty="0">
                <a:solidFill>
                  <a:srgbClr val="FFFFFF"/>
                </a:solidFill>
                <a:latin typeface="Arial" panose="020B0604020202020204"/>
                <a:cs typeface="Arial" panose="020B0604020202020204"/>
              </a:rPr>
              <a:t>OFF)</a:t>
            </a:r>
            <a:endParaRPr sz="900">
              <a:latin typeface="Arial" panose="020B0604020202020204"/>
              <a:cs typeface="Arial" panose="020B0604020202020204"/>
            </a:endParaRPr>
          </a:p>
        </p:txBody>
      </p:sp>
      <p:sp>
        <p:nvSpPr>
          <p:cNvPr id="13" name="object 13"/>
          <p:cNvSpPr txBox="1"/>
          <p:nvPr/>
        </p:nvSpPr>
        <p:spPr>
          <a:xfrm>
            <a:off x="680846" y="951103"/>
            <a:ext cx="688975" cy="295275"/>
          </a:xfrm>
          <a:prstGeom prst="rect">
            <a:avLst/>
          </a:prstGeom>
          <a:solidFill>
            <a:srgbClr val="D37700"/>
          </a:solidFill>
        </p:spPr>
        <p:txBody>
          <a:bodyPr vert="horz" wrap="square" lIns="0" tIns="0" rIns="0" bIns="0" rtlCol="0">
            <a:spAutoFit/>
          </a:bodyPr>
          <a:lstStyle/>
          <a:p>
            <a:pPr marL="100965">
              <a:lnSpc>
                <a:spcPts val="1060"/>
              </a:lnSpc>
            </a:pPr>
            <a:r>
              <a:rPr sz="900" b="1" spc="-10" dirty="0">
                <a:solidFill>
                  <a:srgbClr val="FFFFFF"/>
                </a:solidFill>
                <a:latin typeface="Arial" panose="020B0604020202020204"/>
                <a:cs typeface="Arial" panose="020B0604020202020204"/>
              </a:rPr>
              <a:t>dhm_top</a:t>
            </a:r>
            <a:endParaRPr sz="900">
              <a:latin typeface="Arial" panose="020B0604020202020204"/>
              <a:cs typeface="Arial" panose="020B0604020202020204"/>
            </a:endParaRPr>
          </a:p>
          <a:p>
            <a:pPr marL="155575">
              <a:lnSpc>
                <a:spcPct val="100000"/>
              </a:lnSpc>
              <a:spcBef>
                <a:spcPts val="155"/>
              </a:spcBef>
            </a:pPr>
            <a:r>
              <a:rPr sz="900" b="1" spc="-10" dirty="0">
                <a:solidFill>
                  <a:srgbClr val="FFFFFF"/>
                </a:solidFill>
                <a:latin typeface="Arial" panose="020B0604020202020204"/>
                <a:cs typeface="Arial" panose="020B0604020202020204"/>
              </a:rPr>
              <a:t>(1.08V)</a:t>
            </a:r>
            <a:endParaRPr sz="900">
              <a:latin typeface="Arial" panose="020B0604020202020204"/>
              <a:cs typeface="Arial" panose="020B0604020202020204"/>
            </a:endParaRPr>
          </a:p>
        </p:txBody>
      </p:sp>
      <p:sp>
        <p:nvSpPr>
          <p:cNvPr id="14" name="object 14"/>
          <p:cNvSpPr txBox="1"/>
          <p:nvPr/>
        </p:nvSpPr>
        <p:spPr>
          <a:xfrm>
            <a:off x="1867407" y="962863"/>
            <a:ext cx="307975" cy="208915"/>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35362F"/>
                </a:solidFill>
                <a:latin typeface="Calibri" panose="020F0502020204030204"/>
                <a:cs typeface="Calibri" panose="020F0502020204030204"/>
              </a:rPr>
              <a:t>VDD</a:t>
            </a:r>
            <a:endParaRPr sz="1200">
              <a:latin typeface="Calibri" panose="020F0502020204030204"/>
              <a:cs typeface="Calibri" panose="020F0502020204030204"/>
            </a:endParaRPr>
          </a:p>
        </p:txBody>
      </p:sp>
      <p:grpSp>
        <p:nvGrpSpPr>
          <p:cNvPr id="15" name="object 15"/>
          <p:cNvGrpSpPr/>
          <p:nvPr/>
        </p:nvGrpSpPr>
        <p:grpSpPr>
          <a:xfrm>
            <a:off x="1695957" y="845692"/>
            <a:ext cx="114300" cy="306705"/>
            <a:chOff x="1405127" y="1138427"/>
            <a:chExt cx="114300" cy="306705"/>
          </a:xfrm>
        </p:grpSpPr>
        <p:sp>
          <p:nvSpPr>
            <p:cNvPr id="16" name="object 16"/>
            <p:cNvSpPr/>
            <p:nvPr/>
          </p:nvSpPr>
          <p:spPr>
            <a:xfrm>
              <a:off x="1454657" y="1194053"/>
              <a:ext cx="10795" cy="236220"/>
            </a:xfrm>
            <a:custGeom>
              <a:avLst/>
              <a:gdLst/>
              <a:ahLst/>
              <a:cxnLst/>
              <a:rect l="l" t="t" r="r" b="b"/>
              <a:pathLst>
                <a:path w="10794" h="236219">
                  <a:moveTo>
                    <a:pt x="0" y="0"/>
                  </a:moveTo>
                  <a:lnTo>
                    <a:pt x="10667" y="236220"/>
                  </a:lnTo>
                </a:path>
              </a:pathLst>
            </a:custGeom>
            <a:ln w="28575">
              <a:solidFill>
                <a:srgbClr val="35362F"/>
              </a:solidFill>
            </a:ln>
          </p:spPr>
          <p:txBody>
            <a:bodyPr wrap="square" lIns="0" tIns="0" rIns="0" bIns="0" rtlCol="0"/>
            <a:lstStyle/>
            <a:p/>
          </p:txBody>
        </p:sp>
        <p:pic>
          <p:nvPicPr>
            <p:cNvPr id="17" name="object 17"/>
            <p:cNvPicPr/>
            <p:nvPr/>
          </p:nvPicPr>
          <p:blipFill>
            <a:blip r:embed="rId4" cstate="print"/>
            <a:stretch>
              <a:fillRect/>
            </a:stretch>
          </p:blipFill>
          <p:spPr>
            <a:xfrm>
              <a:off x="1405127" y="1138427"/>
              <a:ext cx="114300" cy="114300"/>
            </a:xfrm>
            <a:prstGeom prst="rect">
              <a:avLst/>
            </a:prstGeom>
          </p:spPr>
        </p:pic>
      </p:grpSp>
      <p:sp>
        <p:nvSpPr>
          <p:cNvPr id="18" name="object 18"/>
          <p:cNvSpPr/>
          <p:nvPr/>
        </p:nvSpPr>
        <p:spPr>
          <a:xfrm>
            <a:off x="1695957" y="845692"/>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5362F"/>
            </a:solidFill>
          </a:ln>
        </p:spPr>
        <p:txBody>
          <a:bodyPr wrap="square" lIns="0" tIns="0" rIns="0" bIns="0" rtlCol="0"/>
          <a:lstStyle/>
          <a:p/>
        </p:txBody>
      </p:sp>
      <p:sp>
        <p:nvSpPr>
          <p:cNvPr id="19" name="object 19"/>
          <p:cNvSpPr txBox="1"/>
          <p:nvPr/>
        </p:nvSpPr>
        <p:spPr>
          <a:xfrm>
            <a:off x="2938843" y="966850"/>
            <a:ext cx="728980" cy="208279"/>
          </a:xfrm>
          <a:prstGeom prst="rect">
            <a:avLst/>
          </a:prstGeom>
        </p:spPr>
        <p:txBody>
          <a:bodyPr vert="horz" wrap="square" lIns="0" tIns="12700" rIns="0" bIns="0" rtlCol="0">
            <a:spAutoFit/>
          </a:bodyPr>
          <a:lstStyle/>
          <a:p>
            <a:pPr marL="90170">
              <a:lnSpc>
                <a:spcPct val="100000"/>
              </a:lnSpc>
              <a:spcBef>
                <a:spcPts val="100"/>
              </a:spcBef>
            </a:pPr>
            <a:r>
              <a:rPr sz="1200" b="1" spc="-20" dirty="0">
                <a:solidFill>
                  <a:srgbClr val="35362F"/>
                </a:solidFill>
                <a:latin typeface="Calibri" panose="020F0502020204030204"/>
                <a:cs typeface="Calibri" panose="020F0502020204030204"/>
              </a:rPr>
              <a:t>VDDL</a:t>
            </a:r>
            <a:endParaRPr sz="1200">
              <a:latin typeface="Calibri" panose="020F0502020204030204"/>
              <a:cs typeface="Calibri" panose="020F0502020204030204"/>
            </a:endParaRPr>
          </a:p>
        </p:txBody>
      </p:sp>
      <p:grpSp>
        <p:nvGrpSpPr>
          <p:cNvPr id="20" name="object 20"/>
          <p:cNvGrpSpPr/>
          <p:nvPr/>
        </p:nvGrpSpPr>
        <p:grpSpPr>
          <a:xfrm>
            <a:off x="2851150" y="850265"/>
            <a:ext cx="114300" cy="306705"/>
            <a:chOff x="2560320" y="1143000"/>
            <a:chExt cx="114300" cy="306705"/>
          </a:xfrm>
        </p:grpSpPr>
        <p:sp>
          <p:nvSpPr>
            <p:cNvPr id="21" name="object 21"/>
            <p:cNvSpPr/>
            <p:nvPr/>
          </p:nvSpPr>
          <p:spPr>
            <a:xfrm>
              <a:off x="2617470" y="1198626"/>
              <a:ext cx="12700" cy="236220"/>
            </a:xfrm>
            <a:custGeom>
              <a:avLst/>
              <a:gdLst/>
              <a:ahLst/>
              <a:cxnLst/>
              <a:rect l="l" t="t" r="r" b="b"/>
              <a:pathLst>
                <a:path w="12700" h="236219">
                  <a:moveTo>
                    <a:pt x="0" y="0"/>
                  </a:moveTo>
                  <a:lnTo>
                    <a:pt x="12192" y="236220"/>
                  </a:lnTo>
                </a:path>
              </a:pathLst>
            </a:custGeom>
            <a:ln w="28575">
              <a:solidFill>
                <a:srgbClr val="35362F"/>
              </a:solidFill>
            </a:ln>
          </p:spPr>
          <p:txBody>
            <a:bodyPr wrap="square" lIns="0" tIns="0" rIns="0" bIns="0" rtlCol="0"/>
            <a:lstStyle/>
            <a:p/>
          </p:txBody>
        </p:sp>
        <p:pic>
          <p:nvPicPr>
            <p:cNvPr id="22" name="object 22"/>
            <p:cNvPicPr/>
            <p:nvPr/>
          </p:nvPicPr>
          <p:blipFill>
            <a:blip r:embed="rId5" cstate="print"/>
            <a:stretch>
              <a:fillRect/>
            </a:stretch>
          </p:blipFill>
          <p:spPr>
            <a:xfrm>
              <a:off x="2560320" y="1143000"/>
              <a:ext cx="114300" cy="114300"/>
            </a:xfrm>
            <a:prstGeom prst="rect">
              <a:avLst/>
            </a:prstGeom>
          </p:spPr>
        </p:pic>
      </p:grpSp>
      <p:sp>
        <p:nvSpPr>
          <p:cNvPr id="23" name="object 23"/>
          <p:cNvSpPr/>
          <p:nvPr/>
        </p:nvSpPr>
        <p:spPr>
          <a:xfrm>
            <a:off x="2851150" y="850265"/>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5362F"/>
            </a:solidFill>
          </a:ln>
        </p:spPr>
        <p:txBody>
          <a:bodyPr wrap="square" lIns="0" tIns="0" rIns="0" bIns="0" rtlCol="0"/>
          <a:lstStyle/>
          <a:p/>
        </p:txBody>
      </p:sp>
      <p:sp>
        <p:nvSpPr>
          <p:cNvPr id="24" name="object 24"/>
          <p:cNvSpPr txBox="1"/>
          <p:nvPr/>
        </p:nvSpPr>
        <p:spPr>
          <a:xfrm>
            <a:off x="3711511" y="976503"/>
            <a:ext cx="610235" cy="208279"/>
          </a:xfrm>
          <a:prstGeom prst="rect">
            <a:avLst/>
          </a:prstGeom>
        </p:spPr>
        <p:txBody>
          <a:bodyPr vert="horz" wrap="square" lIns="0" tIns="12700" rIns="0" bIns="0" rtlCol="0">
            <a:spAutoFit/>
          </a:bodyPr>
          <a:lstStyle/>
          <a:p>
            <a:pPr marL="62865">
              <a:lnSpc>
                <a:spcPct val="100000"/>
              </a:lnSpc>
              <a:spcBef>
                <a:spcPts val="100"/>
              </a:spcBef>
            </a:pPr>
            <a:r>
              <a:rPr sz="1200" b="1" spc="-25" dirty="0">
                <a:solidFill>
                  <a:srgbClr val="35362F"/>
                </a:solidFill>
                <a:latin typeface="Calibri" panose="020F0502020204030204"/>
                <a:cs typeface="Calibri" panose="020F0502020204030204"/>
              </a:rPr>
              <a:t>VSS</a:t>
            </a:r>
            <a:endParaRPr sz="1200">
              <a:latin typeface="Calibri" panose="020F0502020204030204"/>
              <a:cs typeface="Calibri" panose="020F0502020204030204"/>
            </a:endParaRPr>
          </a:p>
        </p:txBody>
      </p:sp>
      <p:sp>
        <p:nvSpPr>
          <p:cNvPr id="25" name="object 25"/>
          <p:cNvSpPr/>
          <p:nvPr/>
        </p:nvSpPr>
        <p:spPr>
          <a:xfrm>
            <a:off x="3634485" y="839597"/>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5362F"/>
            </a:solidFill>
          </a:ln>
        </p:spPr>
        <p:txBody>
          <a:bodyPr wrap="square" lIns="0" tIns="0" rIns="0" bIns="0" rtlCol="0"/>
          <a:lstStyle/>
          <a:p/>
        </p:txBody>
      </p:sp>
      <p:grpSp>
        <p:nvGrpSpPr>
          <p:cNvPr id="26" name="object 26"/>
          <p:cNvGrpSpPr/>
          <p:nvPr/>
        </p:nvGrpSpPr>
        <p:grpSpPr>
          <a:xfrm>
            <a:off x="2733611" y="839597"/>
            <a:ext cx="1015365" cy="1277620"/>
            <a:chOff x="2442781" y="1132332"/>
            <a:chExt cx="1015365" cy="1277620"/>
          </a:xfrm>
        </p:grpSpPr>
        <p:sp>
          <p:nvSpPr>
            <p:cNvPr id="27" name="object 27"/>
            <p:cNvSpPr/>
            <p:nvPr/>
          </p:nvSpPr>
          <p:spPr>
            <a:xfrm>
              <a:off x="3385566" y="1221486"/>
              <a:ext cx="12700" cy="236220"/>
            </a:xfrm>
            <a:custGeom>
              <a:avLst/>
              <a:gdLst/>
              <a:ahLst/>
              <a:cxnLst/>
              <a:rect l="l" t="t" r="r" b="b"/>
              <a:pathLst>
                <a:path w="12700" h="236219">
                  <a:moveTo>
                    <a:pt x="0" y="0"/>
                  </a:moveTo>
                  <a:lnTo>
                    <a:pt x="12192" y="236219"/>
                  </a:lnTo>
                </a:path>
              </a:pathLst>
            </a:custGeom>
            <a:ln w="28575">
              <a:solidFill>
                <a:srgbClr val="35362F"/>
              </a:solidFill>
            </a:ln>
          </p:spPr>
          <p:txBody>
            <a:bodyPr wrap="square" lIns="0" tIns="0" rIns="0" bIns="0" rtlCol="0"/>
            <a:lstStyle/>
            <a:p/>
          </p:txBody>
        </p:sp>
        <p:pic>
          <p:nvPicPr>
            <p:cNvPr id="28" name="object 28"/>
            <p:cNvPicPr/>
            <p:nvPr/>
          </p:nvPicPr>
          <p:blipFill>
            <a:blip r:embed="rId6" cstate="print"/>
            <a:stretch>
              <a:fillRect/>
            </a:stretch>
          </p:blipFill>
          <p:spPr>
            <a:xfrm>
              <a:off x="3343655" y="1132332"/>
              <a:ext cx="114300" cy="114300"/>
            </a:xfrm>
            <a:prstGeom prst="rect">
              <a:avLst/>
            </a:prstGeom>
          </p:spPr>
        </p:pic>
        <p:sp>
          <p:nvSpPr>
            <p:cNvPr id="29" name="object 29"/>
            <p:cNvSpPr/>
            <p:nvPr/>
          </p:nvSpPr>
          <p:spPr>
            <a:xfrm>
              <a:off x="2625090" y="1434846"/>
              <a:ext cx="775970" cy="528955"/>
            </a:xfrm>
            <a:custGeom>
              <a:avLst/>
              <a:gdLst/>
              <a:ahLst/>
              <a:cxnLst/>
              <a:rect l="l" t="t" r="r" b="b"/>
              <a:pathLst>
                <a:path w="775970" h="528955">
                  <a:moveTo>
                    <a:pt x="4826" y="0"/>
                  </a:moveTo>
                  <a:lnTo>
                    <a:pt x="0" y="528573"/>
                  </a:lnTo>
                </a:path>
                <a:path w="775970" h="528955">
                  <a:moveTo>
                    <a:pt x="775970" y="0"/>
                  </a:moveTo>
                  <a:lnTo>
                    <a:pt x="771144" y="528573"/>
                  </a:lnTo>
                </a:path>
              </a:pathLst>
            </a:custGeom>
            <a:ln w="28575">
              <a:solidFill>
                <a:srgbClr val="35362F"/>
              </a:solidFill>
            </a:ln>
          </p:spPr>
          <p:txBody>
            <a:bodyPr wrap="square" lIns="0" tIns="0" rIns="0" bIns="0" rtlCol="0"/>
            <a:lstStyle/>
            <a:p/>
          </p:txBody>
        </p:sp>
        <p:pic>
          <p:nvPicPr>
            <p:cNvPr id="30" name="object 30"/>
            <p:cNvPicPr/>
            <p:nvPr/>
          </p:nvPicPr>
          <p:blipFill>
            <a:blip r:embed="rId7" cstate="print"/>
            <a:stretch>
              <a:fillRect/>
            </a:stretch>
          </p:blipFill>
          <p:spPr>
            <a:xfrm>
              <a:off x="2447544" y="2090928"/>
              <a:ext cx="338328" cy="313944"/>
            </a:xfrm>
            <a:prstGeom prst="rect">
              <a:avLst/>
            </a:prstGeom>
          </p:spPr>
        </p:pic>
        <p:sp>
          <p:nvSpPr>
            <p:cNvPr id="31" name="object 31"/>
            <p:cNvSpPr/>
            <p:nvPr/>
          </p:nvSpPr>
          <p:spPr>
            <a:xfrm>
              <a:off x="2447544" y="2090928"/>
              <a:ext cx="338455" cy="314325"/>
            </a:xfrm>
            <a:custGeom>
              <a:avLst/>
              <a:gdLst/>
              <a:ahLst/>
              <a:cxnLst/>
              <a:rect l="l" t="t" r="r" b="b"/>
              <a:pathLst>
                <a:path w="338455" h="314325">
                  <a:moveTo>
                    <a:pt x="0" y="156972"/>
                  </a:moveTo>
                  <a:lnTo>
                    <a:pt x="6039" y="115226"/>
                  </a:lnTo>
                  <a:lnTo>
                    <a:pt x="23085" y="77724"/>
                  </a:lnTo>
                  <a:lnTo>
                    <a:pt x="49530" y="45958"/>
                  </a:lnTo>
                  <a:lnTo>
                    <a:pt x="83763" y="21420"/>
                  </a:lnTo>
                  <a:lnTo>
                    <a:pt x="124177" y="5603"/>
                  </a:lnTo>
                  <a:lnTo>
                    <a:pt x="169163" y="0"/>
                  </a:lnTo>
                  <a:lnTo>
                    <a:pt x="214150" y="5603"/>
                  </a:lnTo>
                  <a:lnTo>
                    <a:pt x="254564" y="21420"/>
                  </a:lnTo>
                  <a:lnTo>
                    <a:pt x="288798" y="45958"/>
                  </a:lnTo>
                  <a:lnTo>
                    <a:pt x="315242" y="77724"/>
                  </a:lnTo>
                  <a:lnTo>
                    <a:pt x="332288" y="115226"/>
                  </a:lnTo>
                  <a:lnTo>
                    <a:pt x="338328" y="156972"/>
                  </a:lnTo>
                  <a:lnTo>
                    <a:pt x="332288" y="198717"/>
                  </a:lnTo>
                  <a:lnTo>
                    <a:pt x="315242" y="236220"/>
                  </a:lnTo>
                  <a:lnTo>
                    <a:pt x="288798" y="267985"/>
                  </a:lnTo>
                  <a:lnTo>
                    <a:pt x="254564" y="292523"/>
                  </a:lnTo>
                  <a:lnTo>
                    <a:pt x="214150" y="308340"/>
                  </a:lnTo>
                  <a:lnTo>
                    <a:pt x="169163" y="313944"/>
                  </a:lnTo>
                  <a:lnTo>
                    <a:pt x="124177" y="308340"/>
                  </a:lnTo>
                  <a:lnTo>
                    <a:pt x="83763" y="292523"/>
                  </a:lnTo>
                  <a:lnTo>
                    <a:pt x="49530" y="267985"/>
                  </a:lnTo>
                  <a:lnTo>
                    <a:pt x="23085" y="236220"/>
                  </a:lnTo>
                  <a:lnTo>
                    <a:pt x="6039" y="198717"/>
                  </a:lnTo>
                  <a:lnTo>
                    <a:pt x="0" y="156972"/>
                  </a:lnTo>
                  <a:close/>
                </a:path>
              </a:pathLst>
            </a:custGeom>
            <a:ln w="9524">
              <a:solidFill>
                <a:srgbClr val="008000"/>
              </a:solidFill>
            </a:ln>
          </p:spPr>
          <p:txBody>
            <a:bodyPr wrap="square" lIns="0" tIns="0" rIns="0" bIns="0" rtlCol="0"/>
            <a:lstStyle/>
            <a:p/>
          </p:txBody>
        </p:sp>
        <p:sp>
          <p:nvSpPr>
            <p:cNvPr id="32" name="object 32"/>
            <p:cNvSpPr/>
            <p:nvPr/>
          </p:nvSpPr>
          <p:spPr>
            <a:xfrm>
              <a:off x="2629662" y="1957578"/>
              <a:ext cx="0" cy="181610"/>
            </a:xfrm>
            <a:custGeom>
              <a:avLst/>
              <a:gdLst/>
              <a:ahLst/>
              <a:cxnLst/>
              <a:rect l="l" t="t" r="r" b="b"/>
              <a:pathLst>
                <a:path h="181610">
                  <a:moveTo>
                    <a:pt x="0" y="0"/>
                  </a:moveTo>
                  <a:lnTo>
                    <a:pt x="0" y="181356"/>
                  </a:lnTo>
                </a:path>
              </a:pathLst>
            </a:custGeom>
            <a:ln w="31750">
              <a:solidFill>
                <a:srgbClr val="D37700"/>
              </a:solidFill>
            </a:ln>
          </p:spPr>
          <p:txBody>
            <a:bodyPr wrap="square" lIns="0" tIns="0" rIns="0" bIns="0" rtlCol="0"/>
            <a:lstStyle/>
            <a:p/>
          </p:txBody>
        </p:sp>
        <p:sp>
          <p:nvSpPr>
            <p:cNvPr id="33" name="object 33"/>
            <p:cNvSpPr/>
            <p:nvPr/>
          </p:nvSpPr>
          <p:spPr>
            <a:xfrm>
              <a:off x="2534412" y="2159508"/>
              <a:ext cx="102235" cy="203200"/>
            </a:xfrm>
            <a:custGeom>
              <a:avLst/>
              <a:gdLst/>
              <a:ahLst/>
              <a:cxnLst/>
              <a:rect l="l" t="t" r="r" b="b"/>
              <a:pathLst>
                <a:path w="102235" h="203200">
                  <a:moveTo>
                    <a:pt x="0" y="0"/>
                  </a:moveTo>
                  <a:lnTo>
                    <a:pt x="102107" y="202692"/>
                  </a:lnTo>
                </a:path>
              </a:pathLst>
            </a:custGeom>
            <a:ln w="57150">
              <a:solidFill>
                <a:srgbClr val="B86700"/>
              </a:solidFill>
            </a:ln>
          </p:spPr>
          <p:txBody>
            <a:bodyPr wrap="square" lIns="0" tIns="0" rIns="0" bIns="0" rtlCol="0"/>
            <a:lstStyle/>
            <a:p/>
          </p:txBody>
        </p:sp>
      </p:grpSp>
      <p:sp>
        <p:nvSpPr>
          <p:cNvPr id="34" name="object 34"/>
          <p:cNvSpPr txBox="1"/>
          <p:nvPr/>
        </p:nvSpPr>
        <p:spPr>
          <a:xfrm>
            <a:off x="1170177" y="4003420"/>
            <a:ext cx="2636520" cy="248920"/>
          </a:xfrm>
          <a:prstGeom prst="rect">
            <a:avLst/>
          </a:prstGeom>
          <a:solidFill>
            <a:srgbClr val="EF8600"/>
          </a:solidFill>
          <a:ln w="3175">
            <a:solidFill>
              <a:srgbClr val="B86700"/>
            </a:solidFill>
          </a:ln>
        </p:spPr>
        <p:txBody>
          <a:bodyPr vert="horz" wrap="square" lIns="0" tIns="29845" rIns="0" bIns="0" rtlCol="0">
            <a:spAutoFit/>
          </a:bodyPr>
          <a:lstStyle/>
          <a:p>
            <a:pPr marL="90805">
              <a:lnSpc>
                <a:spcPct val="100000"/>
              </a:lnSpc>
              <a:spcBef>
                <a:spcPts val="235"/>
              </a:spcBef>
            </a:pPr>
            <a:r>
              <a:rPr sz="900" spc="-10" dirty="0">
                <a:solidFill>
                  <a:srgbClr val="35362F"/>
                </a:solidFill>
                <a:latin typeface="Calibri" panose="020F0502020204030204"/>
                <a:cs typeface="Calibri" panose="020F0502020204030204"/>
              </a:rPr>
              <a:t>u_dhm_sleep_logic</a:t>
            </a:r>
            <a:endParaRPr sz="900">
              <a:latin typeface="Calibri" panose="020F0502020204030204"/>
              <a:cs typeface="Calibri" panose="020F0502020204030204"/>
            </a:endParaRPr>
          </a:p>
        </p:txBody>
      </p:sp>
      <p:sp>
        <p:nvSpPr>
          <p:cNvPr id="35" name="object 35"/>
          <p:cNvSpPr txBox="1"/>
          <p:nvPr/>
        </p:nvSpPr>
        <p:spPr>
          <a:xfrm>
            <a:off x="2267203" y="1738248"/>
            <a:ext cx="416559" cy="208279"/>
          </a:xfrm>
          <a:prstGeom prst="rect">
            <a:avLst/>
          </a:prstGeom>
        </p:spPr>
        <p:txBody>
          <a:bodyPr vert="horz" wrap="square" lIns="0" tIns="12700" rIns="0" bIns="0" rtlCol="0">
            <a:spAutoFit/>
          </a:bodyPr>
          <a:lstStyle/>
          <a:p>
            <a:pPr marL="12700">
              <a:lnSpc>
                <a:spcPct val="100000"/>
              </a:lnSpc>
              <a:spcBef>
                <a:spcPts val="100"/>
              </a:spcBef>
            </a:pPr>
            <a:r>
              <a:rPr sz="1200" spc="-10" dirty="0">
                <a:solidFill>
                  <a:srgbClr val="D37700"/>
                </a:solidFill>
                <a:latin typeface="Calibri" panose="020F0502020204030204"/>
                <a:cs typeface="Calibri" panose="020F0502020204030204"/>
              </a:rPr>
              <a:t>on/off</a:t>
            </a:r>
            <a:endParaRPr sz="1200">
              <a:latin typeface="Calibri" panose="020F0502020204030204"/>
              <a:cs typeface="Calibri" panose="020F0502020204030204"/>
            </a:endParaRPr>
          </a:p>
        </p:txBody>
      </p:sp>
      <p:grpSp>
        <p:nvGrpSpPr>
          <p:cNvPr id="36" name="object 36"/>
          <p:cNvGrpSpPr/>
          <p:nvPr/>
        </p:nvGrpSpPr>
        <p:grpSpPr>
          <a:xfrm>
            <a:off x="1124204" y="1520570"/>
            <a:ext cx="2724150" cy="2359660"/>
            <a:chOff x="833374" y="1813305"/>
            <a:chExt cx="2724150" cy="2359660"/>
          </a:xfrm>
        </p:grpSpPr>
        <p:sp>
          <p:nvSpPr>
            <p:cNvPr id="37" name="object 37"/>
            <p:cNvSpPr/>
            <p:nvPr/>
          </p:nvSpPr>
          <p:spPr>
            <a:xfrm>
              <a:off x="2023872" y="2189987"/>
              <a:ext cx="532765" cy="114300"/>
            </a:xfrm>
            <a:custGeom>
              <a:avLst/>
              <a:gdLst/>
              <a:ahLst/>
              <a:cxnLst/>
              <a:rect l="l" t="t" r="r" b="b"/>
              <a:pathLst>
                <a:path w="532764" h="114300">
                  <a:moveTo>
                    <a:pt x="95250" y="38100"/>
                  </a:moveTo>
                  <a:lnTo>
                    <a:pt x="19050" y="38100"/>
                  </a:lnTo>
                  <a:lnTo>
                    <a:pt x="11626" y="39594"/>
                  </a:lnTo>
                  <a:lnTo>
                    <a:pt x="5572" y="43672"/>
                  </a:lnTo>
                  <a:lnTo>
                    <a:pt x="1494" y="49726"/>
                  </a:lnTo>
                  <a:lnTo>
                    <a:pt x="0" y="57150"/>
                  </a:lnTo>
                  <a:lnTo>
                    <a:pt x="1494" y="64573"/>
                  </a:lnTo>
                  <a:lnTo>
                    <a:pt x="5572" y="70627"/>
                  </a:lnTo>
                  <a:lnTo>
                    <a:pt x="11626" y="74705"/>
                  </a:lnTo>
                  <a:lnTo>
                    <a:pt x="19050" y="76200"/>
                  </a:lnTo>
                  <a:lnTo>
                    <a:pt x="95250" y="76200"/>
                  </a:lnTo>
                  <a:lnTo>
                    <a:pt x="102673" y="74705"/>
                  </a:lnTo>
                  <a:lnTo>
                    <a:pt x="108727" y="70627"/>
                  </a:lnTo>
                  <a:lnTo>
                    <a:pt x="112805" y="64573"/>
                  </a:lnTo>
                  <a:lnTo>
                    <a:pt x="114300" y="57150"/>
                  </a:lnTo>
                  <a:lnTo>
                    <a:pt x="112805" y="49726"/>
                  </a:lnTo>
                  <a:lnTo>
                    <a:pt x="108727" y="43672"/>
                  </a:lnTo>
                  <a:lnTo>
                    <a:pt x="102673" y="39594"/>
                  </a:lnTo>
                  <a:lnTo>
                    <a:pt x="95250" y="38100"/>
                  </a:lnTo>
                  <a:close/>
                </a:path>
                <a:path w="532764" h="114300">
                  <a:moveTo>
                    <a:pt x="247650" y="38100"/>
                  </a:moveTo>
                  <a:lnTo>
                    <a:pt x="171450" y="38100"/>
                  </a:lnTo>
                  <a:lnTo>
                    <a:pt x="164026" y="39594"/>
                  </a:lnTo>
                  <a:lnTo>
                    <a:pt x="157972" y="43672"/>
                  </a:lnTo>
                  <a:lnTo>
                    <a:pt x="153894" y="49726"/>
                  </a:lnTo>
                  <a:lnTo>
                    <a:pt x="152400" y="57150"/>
                  </a:lnTo>
                  <a:lnTo>
                    <a:pt x="153894" y="64573"/>
                  </a:lnTo>
                  <a:lnTo>
                    <a:pt x="157972" y="70627"/>
                  </a:lnTo>
                  <a:lnTo>
                    <a:pt x="164026" y="74705"/>
                  </a:lnTo>
                  <a:lnTo>
                    <a:pt x="171450" y="76200"/>
                  </a:lnTo>
                  <a:lnTo>
                    <a:pt x="247650" y="76200"/>
                  </a:lnTo>
                  <a:lnTo>
                    <a:pt x="255073" y="74705"/>
                  </a:lnTo>
                  <a:lnTo>
                    <a:pt x="261127" y="70627"/>
                  </a:lnTo>
                  <a:lnTo>
                    <a:pt x="265205" y="64573"/>
                  </a:lnTo>
                  <a:lnTo>
                    <a:pt x="266700" y="57150"/>
                  </a:lnTo>
                  <a:lnTo>
                    <a:pt x="265205" y="49726"/>
                  </a:lnTo>
                  <a:lnTo>
                    <a:pt x="261127" y="43672"/>
                  </a:lnTo>
                  <a:lnTo>
                    <a:pt x="255073" y="39594"/>
                  </a:lnTo>
                  <a:lnTo>
                    <a:pt x="247650" y="38100"/>
                  </a:lnTo>
                  <a:close/>
                </a:path>
                <a:path w="532764" h="114300">
                  <a:moveTo>
                    <a:pt x="418338" y="0"/>
                  </a:moveTo>
                  <a:lnTo>
                    <a:pt x="418338" y="53364"/>
                  </a:lnTo>
                  <a:lnTo>
                    <a:pt x="419100" y="57150"/>
                  </a:lnTo>
                  <a:lnTo>
                    <a:pt x="418338" y="60935"/>
                  </a:lnTo>
                  <a:lnTo>
                    <a:pt x="418338" y="114300"/>
                  </a:lnTo>
                  <a:lnTo>
                    <a:pt x="532638" y="57150"/>
                  </a:lnTo>
                  <a:lnTo>
                    <a:pt x="418338" y="0"/>
                  </a:lnTo>
                  <a:close/>
                </a:path>
                <a:path w="532764" h="114300">
                  <a:moveTo>
                    <a:pt x="400050" y="38100"/>
                  </a:moveTo>
                  <a:lnTo>
                    <a:pt x="323850" y="38100"/>
                  </a:lnTo>
                  <a:lnTo>
                    <a:pt x="316426" y="39594"/>
                  </a:lnTo>
                  <a:lnTo>
                    <a:pt x="310372" y="43672"/>
                  </a:lnTo>
                  <a:lnTo>
                    <a:pt x="306294" y="49726"/>
                  </a:lnTo>
                  <a:lnTo>
                    <a:pt x="304800" y="57150"/>
                  </a:lnTo>
                  <a:lnTo>
                    <a:pt x="306294" y="64573"/>
                  </a:lnTo>
                  <a:lnTo>
                    <a:pt x="310372" y="70627"/>
                  </a:lnTo>
                  <a:lnTo>
                    <a:pt x="316426" y="74705"/>
                  </a:lnTo>
                  <a:lnTo>
                    <a:pt x="323850" y="76200"/>
                  </a:lnTo>
                  <a:lnTo>
                    <a:pt x="400050" y="76200"/>
                  </a:lnTo>
                  <a:lnTo>
                    <a:pt x="407473" y="74705"/>
                  </a:lnTo>
                  <a:lnTo>
                    <a:pt x="413527" y="70627"/>
                  </a:lnTo>
                  <a:lnTo>
                    <a:pt x="417605" y="64573"/>
                  </a:lnTo>
                  <a:lnTo>
                    <a:pt x="418338" y="60935"/>
                  </a:lnTo>
                  <a:lnTo>
                    <a:pt x="418338" y="53364"/>
                  </a:lnTo>
                  <a:lnTo>
                    <a:pt x="417605" y="49726"/>
                  </a:lnTo>
                  <a:lnTo>
                    <a:pt x="413527" y="43672"/>
                  </a:lnTo>
                  <a:lnTo>
                    <a:pt x="407473" y="39594"/>
                  </a:lnTo>
                  <a:lnTo>
                    <a:pt x="400050" y="38100"/>
                  </a:lnTo>
                  <a:close/>
                </a:path>
                <a:path w="532764" h="114300">
                  <a:moveTo>
                    <a:pt x="418338" y="53364"/>
                  </a:moveTo>
                  <a:lnTo>
                    <a:pt x="418338" y="60935"/>
                  </a:lnTo>
                  <a:lnTo>
                    <a:pt x="419100" y="57150"/>
                  </a:lnTo>
                  <a:lnTo>
                    <a:pt x="418338" y="53364"/>
                  </a:lnTo>
                  <a:close/>
                </a:path>
              </a:pathLst>
            </a:custGeom>
            <a:solidFill>
              <a:srgbClr val="D37700"/>
            </a:solidFill>
          </p:spPr>
          <p:txBody>
            <a:bodyPr wrap="square" lIns="0" tIns="0" rIns="0" bIns="0" rtlCol="0"/>
            <a:lstStyle/>
            <a:p/>
          </p:txBody>
        </p:sp>
        <p:sp>
          <p:nvSpPr>
            <p:cNvPr id="38" name="object 38"/>
            <p:cNvSpPr/>
            <p:nvPr/>
          </p:nvSpPr>
          <p:spPr>
            <a:xfrm>
              <a:off x="839724" y="1819655"/>
              <a:ext cx="2711450" cy="2346960"/>
            </a:xfrm>
            <a:custGeom>
              <a:avLst/>
              <a:gdLst/>
              <a:ahLst/>
              <a:cxnLst/>
              <a:rect l="l" t="t" r="r" b="b"/>
              <a:pathLst>
                <a:path w="2711450" h="2346960">
                  <a:moveTo>
                    <a:pt x="0" y="2346960"/>
                  </a:moveTo>
                  <a:lnTo>
                    <a:pt x="2711196" y="2346960"/>
                  </a:lnTo>
                  <a:lnTo>
                    <a:pt x="2711196" y="0"/>
                  </a:lnTo>
                  <a:lnTo>
                    <a:pt x="0" y="0"/>
                  </a:lnTo>
                  <a:lnTo>
                    <a:pt x="0" y="2346960"/>
                  </a:lnTo>
                  <a:close/>
                </a:path>
              </a:pathLst>
            </a:custGeom>
            <a:ln w="12700">
              <a:solidFill>
                <a:srgbClr val="FF6600"/>
              </a:solidFill>
              <a:prstDash val="sysDash"/>
            </a:ln>
          </p:spPr>
          <p:txBody>
            <a:bodyPr wrap="square" lIns="0" tIns="0" rIns="0" bIns="0" rtlCol="0"/>
            <a:lstStyle/>
            <a:p/>
          </p:txBody>
        </p:sp>
      </p:grpSp>
      <p:sp>
        <p:nvSpPr>
          <p:cNvPr id="39" name="object 39"/>
          <p:cNvSpPr txBox="1"/>
          <p:nvPr/>
        </p:nvSpPr>
        <p:spPr>
          <a:xfrm>
            <a:off x="605789" y="658368"/>
            <a:ext cx="337185" cy="254000"/>
          </a:xfrm>
          <a:prstGeom prst="rect">
            <a:avLst/>
          </a:prstGeom>
        </p:spPr>
        <p:txBody>
          <a:bodyPr vert="horz" wrap="square" lIns="0" tIns="12700" rIns="0" bIns="0" rtlCol="0">
            <a:spAutoFit/>
          </a:bodyPr>
          <a:lstStyle/>
          <a:p>
            <a:pPr marL="12700">
              <a:lnSpc>
                <a:spcPct val="100000"/>
              </a:lnSpc>
              <a:spcBef>
                <a:spcPts val="100"/>
              </a:spcBef>
            </a:pPr>
            <a:r>
              <a:rPr sz="1500" i="1" spc="-25" dirty="0">
                <a:solidFill>
                  <a:srgbClr val="6F2F9F"/>
                </a:solidFill>
                <a:latin typeface="Calibri" panose="020F0502020204030204"/>
                <a:cs typeface="Calibri" panose="020F0502020204030204"/>
              </a:rPr>
              <a:t>TOP</a:t>
            </a:r>
            <a:endParaRPr sz="1500">
              <a:latin typeface="Calibri" panose="020F0502020204030204"/>
              <a:cs typeface="Calibri" panose="020F0502020204030204"/>
            </a:endParaRPr>
          </a:p>
        </p:txBody>
      </p:sp>
      <p:sp>
        <p:nvSpPr>
          <p:cNvPr id="40" name="object 40"/>
          <p:cNvSpPr txBox="1"/>
          <p:nvPr/>
        </p:nvSpPr>
        <p:spPr>
          <a:xfrm>
            <a:off x="1143762" y="1258443"/>
            <a:ext cx="316865" cy="254000"/>
          </a:xfrm>
          <a:prstGeom prst="rect">
            <a:avLst/>
          </a:prstGeom>
        </p:spPr>
        <p:txBody>
          <a:bodyPr vert="horz" wrap="square" lIns="0" tIns="12700" rIns="0" bIns="0" rtlCol="0">
            <a:spAutoFit/>
          </a:bodyPr>
          <a:lstStyle/>
          <a:p>
            <a:pPr marL="12700">
              <a:lnSpc>
                <a:spcPct val="100000"/>
              </a:lnSpc>
              <a:spcBef>
                <a:spcPts val="100"/>
              </a:spcBef>
            </a:pPr>
            <a:r>
              <a:rPr sz="1500" i="1" spc="-25" dirty="0">
                <a:solidFill>
                  <a:srgbClr val="FF6600"/>
                </a:solidFill>
                <a:latin typeface="Calibri" panose="020F0502020204030204"/>
                <a:cs typeface="Calibri" panose="020F0502020204030204"/>
              </a:rPr>
              <a:t>pd1</a:t>
            </a:r>
            <a:endParaRPr sz="1500">
              <a:latin typeface="Calibri" panose="020F0502020204030204"/>
              <a:cs typeface="Calibri" panose="020F0502020204030204"/>
            </a:endParaRPr>
          </a:p>
        </p:txBody>
      </p:sp>
      <p:sp>
        <p:nvSpPr>
          <p:cNvPr id="41" name="object 41"/>
          <p:cNvSpPr txBox="1"/>
          <p:nvPr/>
        </p:nvSpPr>
        <p:spPr>
          <a:xfrm>
            <a:off x="4574285" y="740409"/>
            <a:ext cx="3599815" cy="1275715"/>
          </a:xfrm>
          <a:prstGeom prst="rect">
            <a:avLst/>
          </a:prstGeom>
        </p:spPr>
        <p:txBody>
          <a:bodyPr vert="horz" wrap="square" lIns="0" tIns="88900" rIns="0" bIns="0" rtlCol="0">
            <a:spAutoFit/>
          </a:bodyPr>
          <a:lstStyle/>
          <a:p>
            <a:pPr marL="12700">
              <a:lnSpc>
                <a:spcPct val="100000"/>
              </a:lnSpc>
              <a:spcBef>
                <a:spcPts val="700"/>
              </a:spcBef>
            </a:pPr>
            <a:r>
              <a:rPr sz="1800" b="1" dirty="0">
                <a:solidFill>
                  <a:srgbClr val="35362F"/>
                </a:solidFill>
                <a:latin typeface="Calibri" panose="020F0502020204030204"/>
                <a:cs typeface="Calibri" panose="020F0502020204030204"/>
              </a:rPr>
              <a:t>Connect</a:t>
            </a:r>
            <a:r>
              <a:rPr sz="1800" b="1" spc="-40" dirty="0">
                <a:solidFill>
                  <a:srgbClr val="35362F"/>
                </a:solidFill>
                <a:latin typeface="Calibri" panose="020F0502020204030204"/>
                <a:cs typeface="Calibri" panose="020F0502020204030204"/>
              </a:rPr>
              <a:t> </a:t>
            </a:r>
            <a:r>
              <a:rPr sz="1800" b="1" dirty="0">
                <a:solidFill>
                  <a:srgbClr val="35362F"/>
                </a:solidFill>
                <a:latin typeface="Calibri" panose="020F0502020204030204"/>
                <a:cs typeface="Calibri" panose="020F0502020204030204"/>
              </a:rPr>
              <a:t>supply</a:t>
            </a:r>
            <a:r>
              <a:rPr sz="1800" b="1" spc="-50" dirty="0">
                <a:solidFill>
                  <a:srgbClr val="35362F"/>
                </a:solidFill>
                <a:latin typeface="Calibri" panose="020F0502020204030204"/>
                <a:cs typeface="Calibri" panose="020F0502020204030204"/>
              </a:rPr>
              <a:t> </a:t>
            </a:r>
            <a:r>
              <a:rPr sz="1800" b="1" dirty="0">
                <a:solidFill>
                  <a:srgbClr val="35362F"/>
                </a:solidFill>
                <a:latin typeface="Calibri" panose="020F0502020204030204"/>
                <a:cs typeface="Calibri" panose="020F0502020204030204"/>
              </a:rPr>
              <a:t>nets</a:t>
            </a:r>
            <a:r>
              <a:rPr sz="1800" b="1" spc="-40" dirty="0">
                <a:solidFill>
                  <a:srgbClr val="35362F"/>
                </a:solidFill>
                <a:latin typeface="Calibri" panose="020F0502020204030204"/>
                <a:cs typeface="Calibri" panose="020F0502020204030204"/>
              </a:rPr>
              <a:t> </a:t>
            </a:r>
            <a:r>
              <a:rPr sz="1800" b="1" dirty="0">
                <a:solidFill>
                  <a:srgbClr val="35362F"/>
                </a:solidFill>
                <a:latin typeface="Calibri" panose="020F0502020204030204"/>
                <a:cs typeface="Calibri" panose="020F0502020204030204"/>
              </a:rPr>
              <a:t>to</a:t>
            </a:r>
            <a:r>
              <a:rPr sz="1800" b="1" spc="-10" dirty="0">
                <a:solidFill>
                  <a:srgbClr val="35362F"/>
                </a:solidFill>
                <a:latin typeface="Calibri" panose="020F0502020204030204"/>
                <a:cs typeface="Calibri" panose="020F0502020204030204"/>
              </a:rPr>
              <a:t> ports</a:t>
            </a:r>
            <a:endParaRPr sz="1800">
              <a:latin typeface="Calibri" panose="020F0502020204030204"/>
              <a:cs typeface="Calibri" panose="020F0502020204030204"/>
            </a:endParaRPr>
          </a:p>
          <a:p>
            <a:pPr marL="12700" marR="5080">
              <a:lnSpc>
                <a:spcPct val="100000"/>
              </a:lnSpc>
              <a:spcBef>
                <a:spcPts val="600"/>
              </a:spcBef>
            </a:pPr>
            <a:r>
              <a:rPr sz="1800" i="1" spc="-10" dirty="0">
                <a:solidFill>
                  <a:srgbClr val="0000FF"/>
                </a:solidFill>
                <a:latin typeface="Calibri" panose="020F0502020204030204"/>
                <a:cs typeface="Calibri" panose="020F0502020204030204"/>
              </a:rPr>
              <a:t>connect_supply_net </a:t>
            </a:r>
            <a:r>
              <a:rPr sz="1800" i="1" dirty="0">
                <a:solidFill>
                  <a:srgbClr val="0000FF"/>
                </a:solidFill>
                <a:latin typeface="Calibri" panose="020F0502020204030204"/>
                <a:cs typeface="Calibri" panose="020F0502020204030204"/>
              </a:rPr>
              <a:t>VDD</a:t>
            </a:r>
            <a:r>
              <a:rPr sz="1800" i="1" spc="409" dirty="0">
                <a:solidFill>
                  <a:srgbClr val="0000FF"/>
                </a:solidFill>
                <a:latin typeface="Calibri" panose="020F0502020204030204"/>
                <a:cs typeface="Calibri" panose="020F0502020204030204"/>
              </a:rPr>
              <a:t> </a:t>
            </a:r>
            <a:r>
              <a:rPr sz="1800" i="1" dirty="0">
                <a:solidFill>
                  <a:srgbClr val="0000FF"/>
                </a:solidFill>
                <a:latin typeface="Calibri" panose="020F0502020204030204"/>
                <a:cs typeface="Calibri" panose="020F0502020204030204"/>
              </a:rPr>
              <a:t>-ports</a:t>
            </a:r>
            <a:r>
              <a:rPr sz="1800" i="1" spc="-25" dirty="0">
                <a:solidFill>
                  <a:srgbClr val="0000FF"/>
                </a:solidFill>
                <a:latin typeface="Calibri" panose="020F0502020204030204"/>
                <a:cs typeface="Calibri" panose="020F0502020204030204"/>
              </a:rPr>
              <a:t> VDD </a:t>
            </a:r>
            <a:r>
              <a:rPr sz="1800" i="1" spc="-10" dirty="0">
                <a:solidFill>
                  <a:srgbClr val="0000FF"/>
                </a:solidFill>
                <a:latin typeface="Calibri" panose="020F0502020204030204"/>
                <a:cs typeface="Calibri" panose="020F0502020204030204"/>
              </a:rPr>
              <a:t>connect_supply_net</a:t>
            </a:r>
            <a:r>
              <a:rPr sz="1800" i="1" spc="-20" dirty="0">
                <a:solidFill>
                  <a:srgbClr val="0000FF"/>
                </a:solidFill>
                <a:latin typeface="Calibri" panose="020F0502020204030204"/>
                <a:cs typeface="Calibri" panose="020F0502020204030204"/>
              </a:rPr>
              <a:t> </a:t>
            </a:r>
            <a:r>
              <a:rPr sz="1800" i="1" dirty="0">
                <a:solidFill>
                  <a:srgbClr val="0000FF"/>
                </a:solidFill>
                <a:latin typeface="Calibri" panose="020F0502020204030204"/>
                <a:cs typeface="Calibri" panose="020F0502020204030204"/>
              </a:rPr>
              <a:t>VDDL</a:t>
            </a:r>
            <a:r>
              <a:rPr sz="1800" i="1" spc="10" dirty="0">
                <a:solidFill>
                  <a:srgbClr val="0000FF"/>
                </a:solidFill>
                <a:latin typeface="Calibri" panose="020F0502020204030204"/>
                <a:cs typeface="Calibri" panose="020F0502020204030204"/>
              </a:rPr>
              <a:t> </a:t>
            </a:r>
            <a:r>
              <a:rPr sz="1800" i="1" dirty="0">
                <a:solidFill>
                  <a:srgbClr val="0000FF"/>
                </a:solidFill>
                <a:latin typeface="Calibri" panose="020F0502020204030204"/>
                <a:cs typeface="Calibri" panose="020F0502020204030204"/>
              </a:rPr>
              <a:t>-ports</a:t>
            </a:r>
            <a:r>
              <a:rPr sz="1800" i="1" spc="-30" dirty="0">
                <a:solidFill>
                  <a:srgbClr val="0000FF"/>
                </a:solidFill>
                <a:latin typeface="Calibri" panose="020F0502020204030204"/>
                <a:cs typeface="Calibri" panose="020F0502020204030204"/>
              </a:rPr>
              <a:t> </a:t>
            </a:r>
            <a:r>
              <a:rPr sz="1800" i="1" spc="-20" dirty="0">
                <a:solidFill>
                  <a:srgbClr val="0000FF"/>
                </a:solidFill>
                <a:latin typeface="Calibri" panose="020F0502020204030204"/>
                <a:cs typeface="Calibri" panose="020F0502020204030204"/>
              </a:rPr>
              <a:t>VDDL </a:t>
            </a:r>
            <a:r>
              <a:rPr sz="1800" i="1" spc="-10" dirty="0">
                <a:solidFill>
                  <a:srgbClr val="0000FF"/>
                </a:solidFill>
                <a:latin typeface="Calibri" panose="020F0502020204030204"/>
                <a:cs typeface="Calibri" panose="020F0502020204030204"/>
              </a:rPr>
              <a:t>connect_supply_net</a:t>
            </a:r>
            <a:r>
              <a:rPr sz="1800" i="1" spc="-5" dirty="0">
                <a:solidFill>
                  <a:srgbClr val="0000FF"/>
                </a:solidFill>
                <a:latin typeface="Calibri" panose="020F0502020204030204"/>
                <a:cs typeface="Calibri" panose="020F0502020204030204"/>
              </a:rPr>
              <a:t> </a:t>
            </a:r>
            <a:r>
              <a:rPr sz="1800" i="1" dirty="0">
                <a:solidFill>
                  <a:srgbClr val="0000FF"/>
                </a:solidFill>
                <a:latin typeface="Calibri" panose="020F0502020204030204"/>
                <a:cs typeface="Calibri" panose="020F0502020204030204"/>
              </a:rPr>
              <a:t>VSS</a:t>
            </a:r>
            <a:r>
              <a:rPr sz="1800" i="1" spc="400" dirty="0">
                <a:solidFill>
                  <a:srgbClr val="0000FF"/>
                </a:solidFill>
                <a:latin typeface="Calibri" panose="020F0502020204030204"/>
                <a:cs typeface="Calibri" panose="020F0502020204030204"/>
              </a:rPr>
              <a:t> </a:t>
            </a:r>
            <a:r>
              <a:rPr sz="1800" i="1" dirty="0">
                <a:solidFill>
                  <a:srgbClr val="0000FF"/>
                </a:solidFill>
                <a:latin typeface="Calibri" panose="020F0502020204030204"/>
                <a:cs typeface="Calibri" panose="020F0502020204030204"/>
              </a:rPr>
              <a:t>-ports</a:t>
            </a:r>
            <a:r>
              <a:rPr sz="1800" i="1" spc="-15" dirty="0">
                <a:solidFill>
                  <a:srgbClr val="0000FF"/>
                </a:solidFill>
                <a:latin typeface="Calibri" panose="020F0502020204030204"/>
                <a:cs typeface="Calibri" panose="020F0502020204030204"/>
              </a:rPr>
              <a:t> </a:t>
            </a:r>
            <a:r>
              <a:rPr sz="1800" i="1" spc="-25" dirty="0">
                <a:solidFill>
                  <a:srgbClr val="0000FF"/>
                </a:solidFill>
                <a:latin typeface="Calibri" panose="020F0502020204030204"/>
                <a:cs typeface="Calibri" panose="020F0502020204030204"/>
              </a:rPr>
              <a:t>VSS</a:t>
            </a:r>
            <a:endParaRPr sz="1800">
              <a:latin typeface="Calibri" panose="020F0502020204030204"/>
              <a:cs typeface="Calibri" panose="020F0502020204030204"/>
            </a:endParaRPr>
          </a:p>
        </p:txBody>
      </p:sp>
      <p:sp>
        <p:nvSpPr>
          <p:cNvPr id="45" name="Text 0"/>
          <p:cNvSpPr/>
          <p:nvPr/>
        </p:nvSpPr>
        <p:spPr>
          <a:xfrm>
            <a:off x="284480" y="10922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电源网络的</a:t>
            </a:r>
            <a:r>
              <a:rPr lang="zh-CN" altLang="en-US" sz="1730" b="1" dirty="0">
                <a:latin typeface="微软雅黑" panose="020B0503020204020204" pitchFamily="34" charset="-122"/>
                <a:ea typeface="微软雅黑" panose="020B0503020204020204" pitchFamily="34" charset="-122"/>
                <a:sym typeface="+mn-ea"/>
              </a:rPr>
              <a:t>定义</a:t>
            </a:r>
            <a:endParaRPr lang="zh-CN" altLang="en-US" sz="1730" b="1"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grpSp>
        <p:nvGrpSpPr>
          <p:cNvPr id="2" name="object 2"/>
          <p:cNvGrpSpPr/>
          <p:nvPr/>
        </p:nvGrpSpPr>
        <p:grpSpPr>
          <a:xfrm>
            <a:off x="474725" y="723392"/>
            <a:ext cx="3788410" cy="3666490"/>
            <a:chOff x="304545" y="1171702"/>
            <a:chExt cx="3788410" cy="3666490"/>
          </a:xfrm>
        </p:grpSpPr>
        <p:sp>
          <p:nvSpPr>
            <p:cNvPr id="3" name="object 3"/>
            <p:cNvSpPr/>
            <p:nvPr/>
          </p:nvSpPr>
          <p:spPr>
            <a:xfrm>
              <a:off x="310895" y="1178052"/>
              <a:ext cx="3749040" cy="3619500"/>
            </a:xfrm>
            <a:custGeom>
              <a:avLst/>
              <a:gdLst/>
              <a:ahLst/>
              <a:cxnLst/>
              <a:rect l="l" t="t" r="r" b="b"/>
              <a:pathLst>
                <a:path w="3749040" h="3619500">
                  <a:moveTo>
                    <a:pt x="0" y="3619500"/>
                  </a:moveTo>
                  <a:lnTo>
                    <a:pt x="3749040" y="3619500"/>
                  </a:lnTo>
                  <a:lnTo>
                    <a:pt x="3749040" y="0"/>
                  </a:lnTo>
                  <a:lnTo>
                    <a:pt x="0" y="0"/>
                  </a:lnTo>
                  <a:lnTo>
                    <a:pt x="0" y="3619500"/>
                  </a:lnTo>
                  <a:close/>
                </a:path>
              </a:pathLst>
            </a:custGeom>
            <a:ln w="12700">
              <a:solidFill>
                <a:srgbClr val="6F2F9F"/>
              </a:solidFill>
              <a:prstDash val="sysDash"/>
            </a:ln>
          </p:spPr>
          <p:txBody>
            <a:bodyPr wrap="square" lIns="0" tIns="0" rIns="0" bIns="0" rtlCol="0"/>
            <a:lstStyle/>
            <a:p/>
          </p:txBody>
        </p:sp>
        <p:pic>
          <p:nvPicPr>
            <p:cNvPr id="4" name="object 4"/>
            <p:cNvPicPr/>
            <p:nvPr/>
          </p:nvPicPr>
          <p:blipFill>
            <a:blip r:embed="rId2" cstate="print"/>
            <a:stretch>
              <a:fillRect/>
            </a:stretch>
          </p:blipFill>
          <p:spPr>
            <a:xfrm>
              <a:off x="413003" y="1280160"/>
              <a:ext cx="3679698" cy="3557778"/>
            </a:xfrm>
            <a:prstGeom prst="rect">
              <a:avLst/>
            </a:prstGeom>
          </p:spPr>
        </p:pic>
        <p:sp>
          <p:nvSpPr>
            <p:cNvPr id="5" name="object 5"/>
            <p:cNvSpPr/>
            <p:nvPr/>
          </p:nvSpPr>
          <p:spPr>
            <a:xfrm>
              <a:off x="342899" y="1210056"/>
              <a:ext cx="3670300" cy="3548379"/>
            </a:xfrm>
            <a:custGeom>
              <a:avLst/>
              <a:gdLst/>
              <a:ahLst/>
              <a:cxnLst/>
              <a:rect l="l" t="t" r="r" b="b"/>
              <a:pathLst>
                <a:path w="3670300" h="3548379">
                  <a:moveTo>
                    <a:pt x="3669791" y="0"/>
                  </a:moveTo>
                  <a:lnTo>
                    <a:pt x="0" y="0"/>
                  </a:lnTo>
                  <a:lnTo>
                    <a:pt x="0" y="3547872"/>
                  </a:lnTo>
                  <a:lnTo>
                    <a:pt x="3669791" y="3547872"/>
                  </a:lnTo>
                  <a:lnTo>
                    <a:pt x="3669791" y="0"/>
                  </a:lnTo>
                  <a:close/>
                </a:path>
              </a:pathLst>
            </a:custGeom>
            <a:solidFill>
              <a:srgbClr val="FFFFFF"/>
            </a:solidFill>
          </p:spPr>
          <p:txBody>
            <a:bodyPr wrap="square" lIns="0" tIns="0" rIns="0" bIns="0" rtlCol="0"/>
            <a:lstStyle/>
            <a:p/>
          </p:txBody>
        </p:sp>
        <p:sp>
          <p:nvSpPr>
            <p:cNvPr id="6" name="object 6"/>
            <p:cNvSpPr/>
            <p:nvPr/>
          </p:nvSpPr>
          <p:spPr>
            <a:xfrm>
              <a:off x="342899" y="1210056"/>
              <a:ext cx="3670300" cy="3548379"/>
            </a:xfrm>
            <a:custGeom>
              <a:avLst/>
              <a:gdLst/>
              <a:ahLst/>
              <a:cxnLst/>
              <a:rect l="l" t="t" r="r" b="b"/>
              <a:pathLst>
                <a:path w="3670300" h="3548379">
                  <a:moveTo>
                    <a:pt x="0" y="3547872"/>
                  </a:moveTo>
                  <a:lnTo>
                    <a:pt x="3669791" y="3547872"/>
                  </a:lnTo>
                  <a:lnTo>
                    <a:pt x="3669791" y="0"/>
                  </a:lnTo>
                  <a:lnTo>
                    <a:pt x="0" y="0"/>
                  </a:lnTo>
                  <a:lnTo>
                    <a:pt x="0" y="3547872"/>
                  </a:lnTo>
                  <a:close/>
                </a:path>
              </a:pathLst>
            </a:custGeom>
            <a:ln w="9524">
              <a:solidFill>
                <a:srgbClr val="959595"/>
              </a:solidFill>
            </a:ln>
          </p:spPr>
          <p:txBody>
            <a:bodyPr wrap="square" lIns="0" tIns="0" rIns="0" bIns="0" rtlCol="0"/>
            <a:lstStyle/>
            <a:p/>
          </p:txBody>
        </p:sp>
        <p:pic>
          <p:nvPicPr>
            <p:cNvPr id="7" name="object 7"/>
            <p:cNvPicPr/>
            <p:nvPr/>
          </p:nvPicPr>
          <p:blipFill>
            <a:blip r:embed="rId3" cstate="print"/>
            <a:stretch>
              <a:fillRect/>
            </a:stretch>
          </p:blipFill>
          <p:spPr>
            <a:xfrm>
              <a:off x="899159" y="1879092"/>
              <a:ext cx="2646426" cy="2282189"/>
            </a:xfrm>
            <a:prstGeom prst="rect">
              <a:avLst/>
            </a:prstGeom>
          </p:spPr>
        </p:pic>
        <p:sp>
          <p:nvSpPr>
            <p:cNvPr id="8" name="object 8"/>
            <p:cNvSpPr/>
            <p:nvPr/>
          </p:nvSpPr>
          <p:spPr>
            <a:xfrm>
              <a:off x="867155" y="1847088"/>
              <a:ext cx="2636520" cy="2272665"/>
            </a:xfrm>
            <a:custGeom>
              <a:avLst/>
              <a:gdLst/>
              <a:ahLst/>
              <a:cxnLst/>
              <a:rect l="l" t="t" r="r" b="b"/>
              <a:pathLst>
                <a:path w="2636520" h="2272665">
                  <a:moveTo>
                    <a:pt x="2636520" y="0"/>
                  </a:moveTo>
                  <a:lnTo>
                    <a:pt x="0" y="0"/>
                  </a:lnTo>
                  <a:lnTo>
                    <a:pt x="0" y="2272284"/>
                  </a:lnTo>
                  <a:lnTo>
                    <a:pt x="2636520" y="2272284"/>
                  </a:lnTo>
                  <a:lnTo>
                    <a:pt x="2636520" y="0"/>
                  </a:lnTo>
                  <a:close/>
                </a:path>
              </a:pathLst>
            </a:custGeom>
            <a:solidFill>
              <a:srgbClr val="CCFFFF"/>
            </a:solidFill>
          </p:spPr>
          <p:txBody>
            <a:bodyPr wrap="square" lIns="0" tIns="0" rIns="0" bIns="0" rtlCol="0"/>
            <a:lstStyle/>
            <a:p/>
          </p:txBody>
        </p:sp>
        <p:sp>
          <p:nvSpPr>
            <p:cNvPr id="9" name="object 9"/>
            <p:cNvSpPr/>
            <p:nvPr/>
          </p:nvSpPr>
          <p:spPr>
            <a:xfrm>
              <a:off x="867155" y="1847088"/>
              <a:ext cx="2636520" cy="2272665"/>
            </a:xfrm>
            <a:custGeom>
              <a:avLst/>
              <a:gdLst/>
              <a:ahLst/>
              <a:cxnLst/>
              <a:rect l="l" t="t" r="r" b="b"/>
              <a:pathLst>
                <a:path w="2636520" h="2272665">
                  <a:moveTo>
                    <a:pt x="0" y="2272284"/>
                  </a:moveTo>
                  <a:lnTo>
                    <a:pt x="2636520" y="2272284"/>
                  </a:lnTo>
                  <a:lnTo>
                    <a:pt x="2636520" y="0"/>
                  </a:lnTo>
                  <a:lnTo>
                    <a:pt x="0" y="0"/>
                  </a:lnTo>
                  <a:lnTo>
                    <a:pt x="0" y="2272284"/>
                  </a:lnTo>
                  <a:close/>
                </a:path>
              </a:pathLst>
            </a:custGeom>
            <a:ln w="9525">
              <a:solidFill>
                <a:srgbClr val="69BD28"/>
              </a:solidFill>
            </a:ln>
          </p:spPr>
          <p:txBody>
            <a:bodyPr wrap="square" lIns="0" tIns="0" rIns="0" bIns="0" rtlCol="0"/>
            <a:lstStyle/>
            <a:p/>
          </p:txBody>
        </p:sp>
        <p:sp>
          <p:nvSpPr>
            <p:cNvPr id="10" name="object 10"/>
            <p:cNvSpPr/>
            <p:nvPr/>
          </p:nvSpPr>
          <p:spPr>
            <a:xfrm>
              <a:off x="1463801" y="1436370"/>
              <a:ext cx="1172210" cy="1358265"/>
            </a:xfrm>
            <a:custGeom>
              <a:avLst/>
              <a:gdLst/>
              <a:ahLst/>
              <a:cxnLst/>
              <a:rect l="l" t="t" r="r" b="b"/>
              <a:pathLst>
                <a:path w="1172210" h="1358264">
                  <a:moveTo>
                    <a:pt x="0" y="0"/>
                  </a:moveTo>
                  <a:lnTo>
                    <a:pt x="0" y="298703"/>
                  </a:lnTo>
                </a:path>
                <a:path w="1172210" h="1358264">
                  <a:moveTo>
                    <a:pt x="1159764" y="960119"/>
                  </a:moveTo>
                  <a:lnTo>
                    <a:pt x="1171955" y="1357883"/>
                  </a:lnTo>
                </a:path>
              </a:pathLst>
            </a:custGeom>
            <a:ln w="28575">
              <a:solidFill>
                <a:srgbClr val="35362F"/>
              </a:solidFill>
            </a:ln>
          </p:spPr>
          <p:txBody>
            <a:bodyPr wrap="square" lIns="0" tIns="0" rIns="0" bIns="0" rtlCol="0"/>
            <a:lstStyle/>
            <a:p/>
          </p:txBody>
        </p:sp>
      </p:grpSp>
      <p:sp>
        <p:nvSpPr>
          <p:cNvPr id="11" name="object 11"/>
          <p:cNvSpPr txBox="1"/>
          <p:nvPr/>
        </p:nvSpPr>
        <p:spPr>
          <a:xfrm>
            <a:off x="2812922" y="2060956"/>
            <a:ext cx="521334" cy="208279"/>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35362F"/>
                </a:solidFill>
                <a:latin typeface="Calibri" panose="020F0502020204030204"/>
                <a:cs typeface="Calibri" panose="020F0502020204030204"/>
              </a:rPr>
              <a:t>VDDLS1</a:t>
            </a:r>
            <a:endParaRPr sz="1200">
              <a:latin typeface="Calibri" panose="020F0502020204030204"/>
              <a:cs typeface="Calibri" panose="020F0502020204030204"/>
            </a:endParaRPr>
          </a:p>
        </p:txBody>
      </p:sp>
      <p:sp>
        <p:nvSpPr>
          <p:cNvPr id="12" name="object 12"/>
          <p:cNvSpPr txBox="1"/>
          <p:nvPr/>
        </p:nvSpPr>
        <p:spPr>
          <a:xfrm>
            <a:off x="1077404" y="1439798"/>
            <a:ext cx="792480" cy="432434"/>
          </a:xfrm>
          <a:prstGeom prst="rect">
            <a:avLst/>
          </a:prstGeom>
          <a:solidFill>
            <a:srgbClr val="2CB6B3"/>
          </a:solidFill>
        </p:spPr>
        <p:txBody>
          <a:bodyPr vert="horz" wrap="square" lIns="0" tIns="0" rIns="0" bIns="0" rtlCol="0">
            <a:spAutoFit/>
          </a:bodyPr>
          <a:lstStyle/>
          <a:p>
            <a:pPr marL="53975">
              <a:lnSpc>
                <a:spcPts val="1060"/>
              </a:lnSpc>
            </a:pPr>
            <a:r>
              <a:rPr sz="900" b="1" spc="-10" dirty="0">
                <a:solidFill>
                  <a:srgbClr val="FFFFFF"/>
                </a:solidFill>
                <a:latin typeface="Arial" panose="020B0604020202020204"/>
                <a:cs typeface="Arial" panose="020B0604020202020204"/>
              </a:rPr>
              <a:t>u_dhm_core</a:t>
            </a:r>
            <a:endParaRPr sz="900">
              <a:latin typeface="Arial" panose="020B0604020202020204"/>
              <a:cs typeface="Arial" panose="020B0604020202020204"/>
            </a:endParaRPr>
          </a:p>
          <a:p>
            <a:pPr marL="262890" marR="23495" indent="-231775">
              <a:lnSpc>
                <a:spcPct val="100000"/>
              </a:lnSpc>
              <a:spcBef>
                <a:spcPts val="155"/>
              </a:spcBef>
            </a:pPr>
            <a:r>
              <a:rPr sz="900" b="1" dirty="0">
                <a:solidFill>
                  <a:srgbClr val="FFFFFF"/>
                </a:solidFill>
                <a:latin typeface="Arial" panose="020B0604020202020204"/>
                <a:cs typeface="Arial" panose="020B0604020202020204"/>
              </a:rPr>
              <a:t>(1.08V</a:t>
            </a:r>
            <a:r>
              <a:rPr sz="900" b="1" spc="-15" dirty="0">
                <a:solidFill>
                  <a:srgbClr val="FFFFFF"/>
                </a:solidFill>
                <a:latin typeface="Arial" panose="020B0604020202020204"/>
                <a:cs typeface="Arial" panose="020B0604020202020204"/>
              </a:rPr>
              <a:t> </a:t>
            </a:r>
            <a:r>
              <a:rPr sz="900" b="1" dirty="0">
                <a:solidFill>
                  <a:srgbClr val="FFFFFF"/>
                </a:solidFill>
                <a:latin typeface="Arial" panose="020B0604020202020204"/>
                <a:cs typeface="Arial" panose="020B0604020202020204"/>
              </a:rPr>
              <a:t>/</a:t>
            </a:r>
            <a:r>
              <a:rPr sz="900" b="1" spc="-10" dirty="0">
                <a:solidFill>
                  <a:srgbClr val="FFFFFF"/>
                </a:solidFill>
                <a:latin typeface="Arial" panose="020B0604020202020204"/>
                <a:cs typeface="Arial" panose="020B0604020202020204"/>
              </a:rPr>
              <a:t> </a:t>
            </a:r>
            <a:r>
              <a:rPr sz="900" b="1" dirty="0">
                <a:solidFill>
                  <a:srgbClr val="FFFFFF"/>
                </a:solidFill>
                <a:latin typeface="Arial" panose="020B0604020202020204"/>
                <a:cs typeface="Arial" panose="020B0604020202020204"/>
              </a:rPr>
              <a:t>0.7V</a:t>
            </a:r>
            <a:r>
              <a:rPr sz="900" b="1" spc="-15" dirty="0">
                <a:solidFill>
                  <a:srgbClr val="FFFFFF"/>
                </a:solidFill>
                <a:latin typeface="Arial" panose="020B0604020202020204"/>
                <a:cs typeface="Arial" panose="020B0604020202020204"/>
              </a:rPr>
              <a:t> </a:t>
            </a:r>
            <a:r>
              <a:rPr sz="900" b="1" spc="-50" dirty="0">
                <a:solidFill>
                  <a:srgbClr val="FFFFFF"/>
                </a:solidFill>
                <a:latin typeface="Arial" panose="020B0604020202020204"/>
                <a:cs typeface="Arial" panose="020B0604020202020204"/>
              </a:rPr>
              <a:t>/</a:t>
            </a:r>
            <a:r>
              <a:rPr sz="900" b="1" spc="-20" dirty="0">
                <a:solidFill>
                  <a:srgbClr val="FFFFFF"/>
                </a:solidFill>
                <a:latin typeface="Arial" panose="020B0604020202020204"/>
                <a:cs typeface="Arial" panose="020B0604020202020204"/>
              </a:rPr>
              <a:t> OFF)</a:t>
            </a:r>
            <a:endParaRPr sz="900">
              <a:latin typeface="Arial" panose="020B0604020202020204"/>
              <a:cs typeface="Arial" panose="020B0604020202020204"/>
            </a:endParaRPr>
          </a:p>
        </p:txBody>
      </p:sp>
      <p:sp>
        <p:nvSpPr>
          <p:cNvPr id="13" name="object 13"/>
          <p:cNvSpPr txBox="1"/>
          <p:nvPr/>
        </p:nvSpPr>
        <p:spPr>
          <a:xfrm>
            <a:off x="560196" y="795909"/>
            <a:ext cx="688975" cy="295275"/>
          </a:xfrm>
          <a:prstGeom prst="rect">
            <a:avLst/>
          </a:prstGeom>
          <a:solidFill>
            <a:srgbClr val="D37700"/>
          </a:solidFill>
        </p:spPr>
        <p:txBody>
          <a:bodyPr vert="horz" wrap="square" lIns="0" tIns="0" rIns="0" bIns="0" rtlCol="0">
            <a:spAutoFit/>
          </a:bodyPr>
          <a:lstStyle/>
          <a:p>
            <a:pPr marL="100965">
              <a:lnSpc>
                <a:spcPts val="1060"/>
              </a:lnSpc>
            </a:pPr>
            <a:r>
              <a:rPr sz="900" b="1" spc="-10" dirty="0">
                <a:solidFill>
                  <a:srgbClr val="FFFFFF"/>
                </a:solidFill>
                <a:latin typeface="Arial" panose="020B0604020202020204"/>
                <a:cs typeface="Arial" panose="020B0604020202020204"/>
              </a:rPr>
              <a:t>dhm_top</a:t>
            </a:r>
            <a:endParaRPr sz="900">
              <a:latin typeface="Arial" panose="020B0604020202020204"/>
              <a:cs typeface="Arial" panose="020B0604020202020204"/>
            </a:endParaRPr>
          </a:p>
          <a:p>
            <a:pPr marL="155575">
              <a:lnSpc>
                <a:spcPct val="100000"/>
              </a:lnSpc>
              <a:spcBef>
                <a:spcPts val="155"/>
              </a:spcBef>
            </a:pPr>
            <a:r>
              <a:rPr sz="900" b="1" spc="-10" dirty="0">
                <a:solidFill>
                  <a:srgbClr val="FFFFFF"/>
                </a:solidFill>
                <a:latin typeface="Arial" panose="020B0604020202020204"/>
                <a:cs typeface="Arial" panose="020B0604020202020204"/>
              </a:rPr>
              <a:t>(1.08V)</a:t>
            </a:r>
            <a:endParaRPr sz="900">
              <a:latin typeface="Arial" panose="020B0604020202020204"/>
              <a:cs typeface="Arial" panose="020B0604020202020204"/>
            </a:endParaRPr>
          </a:p>
        </p:txBody>
      </p:sp>
      <p:sp>
        <p:nvSpPr>
          <p:cNvPr id="14" name="object 14"/>
          <p:cNvSpPr txBox="1"/>
          <p:nvPr/>
        </p:nvSpPr>
        <p:spPr>
          <a:xfrm>
            <a:off x="1746757" y="808228"/>
            <a:ext cx="307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35362F"/>
                </a:solidFill>
                <a:latin typeface="Calibri" panose="020F0502020204030204"/>
                <a:cs typeface="Calibri" panose="020F0502020204030204"/>
              </a:rPr>
              <a:t>VDD</a:t>
            </a:r>
            <a:endParaRPr sz="1200">
              <a:latin typeface="Calibri" panose="020F0502020204030204"/>
              <a:cs typeface="Calibri" panose="020F0502020204030204"/>
            </a:endParaRPr>
          </a:p>
        </p:txBody>
      </p:sp>
      <p:grpSp>
        <p:nvGrpSpPr>
          <p:cNvPr id="15" name="object 15"/>
          <p:cNvGrpSpPr/>
          <p:nvPr/>
        </p:nvGrpSpPr>
        <p:grpSpPr>
          <a:xfrm>
            <a:off x="1575307" y="690117"/>
            <a:ext cx="114300" cy="306705"/>
            <a:chOff x="1405127" y="1138427"/>
            <a:chExt cx="114300" cy="306705"/>
          </a:xfrm>
        </p:grpSpPr>
        <p:sp>
          <p:nvSpPr>
            <p:cNvPr id="16" name="object 16"/>
            <p:cNvSpPr/>
            <p:nvPr/>
          </p:nvSpPr>
          <p:spPr>
            <a:xfrm>
              <a:off x="1454657" y="1194053"/>
              <a:ext cx="10795" cy="236220"/>
            </a:xfrm>
            <a:custGeom>
              <a:avLst/>
              <a:gdLst/>
              <a:ahLst/>
              <a:cxnLst/>
              <a:rect l="l" t="t" r="r" b="b"/>
              <a:pathLst>
                <a:path w="10794" h="236219">
                  <a:moveTo>
                    <a:pt x="0" y="0"/>
                  </a:moveTo>
                  <a:lnTo>
                    <a:pt x="10667" y="236220"/>
                  </a:lnTo>
                </a:path>
              </a:pathLst>
            </a:custGeom>
            <a:ln w="28575">
              <a:solidFill>
                <a:srgbClr val="35362F"/>
              </a:solidFill>
            </a:ln>
          </p:spPr>
          <p:txBody>
            <a:bodyPr wrap="square" lIns="0" tIns="0" rIns="0" bIns="0" rtlCol="0"/>
            <a:lstStyle/>
            <a:p/>
          </p:txBody>
        </p:sp>
        <p:pic>
          <p:nvPicPr>
            <p:cNvPr id="17" name="object 17"/>
            <p:cNvPicPr/>
            <p:nvPr/>
          </p:nvPicPr>
          <p:blipFill>
            <a:blip r:embed="rId4" cstate="print"/>
            <a:stretch>
              <a:fillRect/>
            </a:stretch>
          </p:blipFill>
          <p:spPr>
            <a:xfrm>
              <a:off x="1405127" y="1138427"/>
              <a:ext cx="114300" cy="114300"/>
            </a:xfrm>
            <a:prstGeom prst="rect">
              <a:avLst/>
            </a:prstGeom>
          </p:spPr>
        </p:pic>
      </p:grpSp>
      <p:sp>
        <p:nvSpPr>
          <p:cNvPr id="18" name="object 18"/>
          <p:cNvSpPr/>
          <p:nvPr/>
        </p:nvSpPr>
        <p:spPr>
          <a:xfrm>
            <a:off x="1575307" y="690117"/>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5362F"/>
            </a:solidFill>
          </a:ln>
        </p:spPr>
        <p:txBody>
          <a:bodyPr wrap="square" lIns="0" tIns="0" rIns="0" bIns="0" rtlCol="0"/>
          <a:lstStyle/>
          <a:p/>
        </p:txBody>
      </p:sp>
      <p:sp>
        <p:nvSpPr>
          <p:cNvPr id="19" name="object 19"/>
          <p:cNvSpPr txBox="1"/>
          <p:nvPr/>
        </p:nvSpPr>
        <p:spPr>
          <a:xfrm>
            <a:off x="2818193" y="811530"/>
            <a:ext cx="728980" cy="208279"/>
          </a:xfrm>
          <a:prstGeom prst="rect">
            <a:avLst/>
          </a:prstGeom>
        </p:spPr>
        <p:txBody>
          <a:bodyPr vert="horz" wrap="square" lIns="0" tIns="12700" rIns="0" bIns="0" rtlCol="0">
            <a:spAutoFit/>
          </a:bodyPr>
          <a:lstStyle/>
          <a:p>
            <a:pPr marL="90170">
              <a:lnSpc>
                <a:spcPct val="100000"/>
              </a:lnSpc>
              <a:spcBef>
                <a:spcPts val="100"/>
              </a:spcBef>
            </a:pPr>
            <a:r>
              <a:rPr sz="1200" b="1" spc="-20" dirty="0">
                <a:solidFill>
                  <a:srgbClr val="35362F"/>
                </a:solidFill>
                <a:latin typeface="Calibri" panose="020F0502020204030204"/>
                <a:cs typeface="Calibri" panose="020F0502020204030204"/>
              </a:rPr>
              <a:t>VDDL</a:t>
            </a:r>
            <a:endParaRPr sz="1200">
              <a:latin typeface="Calibri" panose="020F0502020204030204"/>
              <a:cs typeface="Calibri" panose="020F0502020204030204"/>
            </a:endParaRPr>
          </a:p>
        </p:txBody>
      </p:sp>
      <p:grpSp>
        <p:nvGrpSpPr>
          <p:cNvPr id="20" name="object 20"/>
          <p:cNvGrpSpPr/>
          <p:nvPr/>
        </p:nvGrpSpPr>
        <p:grpSpPr>
          <a:xfrm>
            <a:off x="2730500" y="694690"/>
            <a:ext cx="114300" cy="306705"/>
            <a:chOff x="2560320" y="1143000"/>
            <a:chExt cx="114300" cy="306705"/>
          </a:xfrm>
        </p:grpSpPr>
        <p:sp>
          <p:nvSpPr>
            <p:cNvPr id="21" name="object 21"/>
            <p:cNvSpPr/>
            <p:nvPr/>
          </p:nvSpPr>
          <p:spPr>
            <a:xfrm>
              <a:off x="2617470" y="1200150"/>
              <a:ext cx="12700" cy="234950"/>
            </a:xfrm>
            <a:custGeom>
              <a:avLst/>
              <a:gdLst/>
              <a:ahLst/>
              <a:cxnLst/>
              <a:rect l="l" t="t" r="r" b="b"/>
              <a:pathLst>
                <a:path w="12700" h="234950">
                  <a:moveTo>
                    <a:pt x="0" y="0"/>
                  </a:moveTo>
                  <a:lnTo>
                    <a:pt x="12192" y="234696"/>
                  </a:lnTo>
                </a:path>
              </a:pathLst>
            </a:custGeom>
            <a:ln w="28575">
              <a:solidFill>
                <a:srgbClr val="35362F"/>
              </a:solidFill>
            </a:ln>
          </p:spPr>
          <p:txBody>
            <a:bodyPr wrap="square" lIns="0" tIns="0" rIns="0" bIns="0" rtlCol="0"/>
            <a:lstStyle/>
            <a:p/>
          </p:txBody>
        </p:sp>
        <p:pic>
          <p:nvPicPr>
            <p:cNvPr id="22" name="object 22"/>
            <p:cNvPicPr/>
            <p:nvPr/>
          </p:nvPicPr>
          <p:blipFill>
            <a:blip r:embed="rId5" cstate="print"/>
            <a:stretch>
              <a:fillRect/>
            </a:stretch>
          </p:blipFill>
          <p:spPr>
            <a:xfrm>
              <a:off x="2560320" y="1143000"/>
              <a:ext cx="114300" cy="114300"/>
            </a:xfrm>
            <a:prstGeom prst="rect">
              <a:avLst/>
            </a:prstGeom>
          </p:spPr>
        </p:pic>
      </p:grpSp>
      <p:sp>
        <p:nvSpPr>
          <p:cNvPr id="23" name="object 23"/>
          <p:cNvSpPr/>
          <p:nvPr/>
        </p:nvSpPr>
        <p:spPr>
          <a:xfrm>
            <a:off x="2730500" y="694690"/>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5362F"/>
            </a:solidFill>
          </a:ln>
        </p:spPr>
        <p:txBody>
          <a:bodyPr wrap="square" lIns="0" tIns="0" rIns="0" bIns="0" rtlCol="0"/>
          <a:lstStyle/>
          <a:p/>
        </p:txBody>
      </p:sp>
      <p:sp>
        <p:nvSpPr>
          <p:cNvPr id="24" name="object 24"/>
          <p:cNvSpPr txBox="1"/>
          <p:nvPr/>
        </p:nvSpPr>
        <p:spPr>
          <a:xfrm>
            <a:off x="3590861" y="821309"/>
            <a:ext cx="610235" cy="208279"/>
          </a:xfrm>
          <a:prstGeom prst="rect">
            <a:avLst/>
          </a:prstGeom>
        </p:spPr>
        <p:txBody>
          <a:bodyPr vert="horz" wrap="square" lIns="0" tIns="12700" rIns="0" bIns="0" rtlCol="0">
            <a:spAutoFit/>
          </a:bodyPr>
          <a:lstStyle/>
          <a:p>
            <a:pPr marL="62865">
              <a:lnSpc>
                <a:spcPct val="100000"/>
              </a:lnSpc>
              <a:spcBef>
                <a:spcPts val="100"/>
              </a:spcBef>
            </a:pPr>
            <a:r>
              <a:rPr sz="1200" b="1" spc="-25" dirty="0">
                <a:solidFill>
                  <a:srgbClr val="35362F"/>
                </a:solidFill>
                <a:latin typeface="Calibri" panose="020F0502020204030204"/>
                <a:cs typeface="Calibri" panose="020F0502020204030204"/>
              </a:rPr>
              <a:t>VSS</a:t>
            </a:r>
            <a:endParaRPr sz="1200">
              <a:latin typeface="Calibri" panose="020F0502020204030204"/>
              <a:cs typeface="Calibri" panose="020F0502020204030204"/>
            </a:endParaRPr>
          </a:p>
        </p:txBody>
      </p:sp>
      <p:sp>
        <p:nvSpPr>
          <p:cNvPr id="25" name="object 25"/>
          <p:cNvSpPr/>
          <p:nvPr/>
        </p:nvSpPr>
        <p:spPr>
          <a:xfrm>
            <a:off x="3513835" y="684022"/>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5362F"/>
            </a:solidFill>
          </a:ln>
        </p:spPr>
        <p:txBody>
          <a:bodyPr wrap="square" lIns="0" tIns="0" rIns="0" bIns="0" rtlCol="0"/>
          <a:lstStyle/>
          <a:p/>
        </p:txBody>
      </p:sp>
      <p:grpSp>
        <p:nvGrpSpPr>
          <p:cNvPr id="26" name="object 26"/>
          <p:cNvGrpSpPr/>
          <p:nvPr/>
        </p:nvGrpSpPr>
        <p:grpSpPr>
          <a:xfrm>
            <a:off x="2612961" y="684022"/>
            <a:ext cx="1015365" cy="1277620"/>
            <a:chOff x="2442781" y="1132332"/>
            <a:chExt cx="1015365" cy="1277620"/>
          </a:xfrm>
        </p:grpSpPr>
        <p:sp>
          <p:nvSpPr>
            <p:cNvPr id="27" name="object 27"/>
            <p:cNvSpPr/>
            <p:nvPr/>
          </p:nvSpPr>
          <p:spPr>
            <a:xfrm>
              <a:off x="3385566" y="1223010"/>
              <a:ext cx="12700" cy="234950"/>
            </a:xfrm>
            <a:custGeom>
              <a:avLst/>
              <a:gdLst/>
              <a:ahLst/>
              <a:cxnLst/>
              <a:rect l="l" t="t" r="r" b="b"/>
              <a:pathLst>
                <a:path w="12700" h="234950">
                  <a:moveTo>
                    <a:pt x="0" y="0"/>
                  </a:moveTo>
                  <a:lnTo>
                    <a:pt x="12192" y="234695"/>
                  </a:lnTo>
                </a:path>
              </a:pathLst>
            </a:custGeom>
            <a:ln w="28575">
              <a:solidFill>
                <a:srgbClr val="35362F"/>
              </a:solidFill>
            </a:ln>
          </p:spPr>
          <p:txBody>
            <a:bodyPr wrap="square" lIns="0" tIns="0" rIns="0" bIns="0" rtlCol="0"/>
            <a:lstStyle/>
            <a:p/>
          </p:txBody>
        </p:sp>
        <p:pic>
          <p:nvPicPr>
            <p:cNvPr id="28" name="object 28"/>
            <p:cNvPicPr/>
            <p:nvPr/>
          </p:nvPicPr>
          <p:blipFill>
            <a:blip r:embed="rId6" cstate="print"/>
            <a:stretch>
              <a:fillRect/>
            </a:stretch>
          </p:blipFill>
          <p:spPr>
            <a:xfrm>
              <a:off x="3343655" y="1132332"/>
              <a:ext cx="114300" cy="114300"/>
            </a:xfrm>
            <a:prstGeom prst="rect">
              <a:avLst/>
            </a:prstGeom>
          </p:spPr>
        </p:pic>
        <p:sp>
          <p:nvSpPr>
            <p:cNvPr id="29" name="object 29"/>
            <p:cNvSpPr/>
            <p:nvPr/>
          </p:nvSpPr>
          <p:spPr>
            <a:xfrm>
              <a:off x="2625090" y="1434846"/>
              <a:ext cx="775970" cy="528955"/>
            </a:xfrm>
            <a:custGeom>
              <a:avLst/>
              <a:gdLst/>
              <a:ahLst/>
              <a:cxnLst/>
              <a:rect l="l" t="t" r="r" b="b"/>
              <a:pathLst>
                <a:path w="775970" h="528955">
                  <a:moveTo>
                    <a:pt x="4826" y="0"/>
                  </a:moveTo>
                  <a:lnTo>
                    <a:pt x="0" y="528573"/>
                  </a:lnTo>
                </a:path>
                <a:path w="775970" h="528955">
                  <a:moveTo>
                    <a:pt x="775970" y="0"/>
                  </a:moveTo>
                  <a:lnTo>
                    <a:pt x="771144" y="528573"/>
                  </a:lnTo>
                </a:path>
              </a:pathLst>
            </a:custGeom>
            <a:ln w="28575">
              <a:solidFill>
                <a:srgbClr val="35362F"/>
              </a:solidFill>
            </a:ln>
          </p:spPr>
          <p:txBody>
            <a:bodyPr wrap="square" lIns="0" tIns="0" rIns="0" bIns="0" rtlCol="0"/>
            <a:lstStyle/>
            <a:p/>
          </p:txBody>
        </p:sp>
        <p:pic>
          <p:nvPicPr>
            <p:cNvPr id="30" name="object 30"/>
            <p:cNvPicPr/>
            <p:nvPr/>
          </p:nvPicPr>
          <p:blipFill>
            <a:blip r:embed="rId7" cstate="print"/>
            <a:stretch>
              <a:fillRect/>
            </a:stretch>
          </p:blipFill>
          <p:spPr>
            <a:xfrm>
              <a:off x="2447544" y="2090928"/>
              <a:ext cx="338328" cy="313944"/>
            </a:xfrm>
            <a:prstGeom prst="rect">
              <a:avLst/>
            </a:prstGeom>
          </p:spPr>
        </p:pic>
        <p:sp>
          <p:nvSpPr>
            <p:cNvPr id="31" name="object 31"/>
            <p:cNvSpPr/>
            <p:nvPr/>
          </p:nvSpPr>
          <p:spPr>
            <a:xfrm>
              <a:off x="2447544" y="2090928"/>
              <a:ext cx="338455" cy="314325"/>
            </a:xfrm>
            <a:custGeom>
              <a:avLst/>
              <a:gdLst/>
              <a:ahLst/>
              <a:cxnLst/>
              <a:rect l="l" t="t" r="r" b="b"/>
              <a:pathLst>
                <a:path w="338455" h="314325">
                  <a:moveTo>
                    <a:pt x="0" y="156972"/>
                  </a:moveTo>
                  <a:lnTo>
                    <a:pt x="6039" y="115226"/>
                  </a:lnTo>
                  <a:lnTo>
                    <a:pt x="23085" y="77724"/>
                  </a:lnTo>
                  <a:lnTo>
                    <a:pt x="49530" y="45958"/>
                  </a:lnTo>
                  <a:lnTo>
                    <a:pt x="83763" y="21420"/>
                  </a:lnTo>
                  <a:lnTo>
                    <a:pt x="124177" y="5603"/>
                  </a:lnTo>
                  <a:lnTo>
                    <a:pt x="169163" y="0"/>
                  </a:lnTo>
                  <a:lnTo>
                    <a:pt x="214150" y="5603"/>
                  </a:lnTo>
                  <a:lnTo>
                    <a:pt x="254564" y="21420"/>
                  </a:lnTo>
                  <a:lnTo>
                    <a:pt x="288798" y="45958"/>
                  </a:lnTo>
                  <a:lnTo>
                    <a:pt x="315242" y="77724"/>
                  </a:lnTo>
                  <a:lnTo>
                    <a:pt x="332288" y="115226"/>
                  </a:lnTo>
                  <a:lnTo>
                    <a:pt x="338328" y="156972"/>
                  </a:lnTo>
                  <a:lnTo>
                    <a:pt x="332288" y="198717"/>
                  </a:lnTo>
                  <a:lnTo>
                    <a:pt x="315242" y="236220"/>
                  </a:lnTo>
                  <a:lnTo>
                    <a:pt x="288798" y="267985"/>
                  </a:lnTo>
                  <a:lnTo>
                    <a:pt x="254564" y="292523"/>
                  </a:lnTo>
                  <a:lnTo>
                    <a:pt x="214150" y="308340"/>
                  </a:lnTo>
                  <a:lnTo>
                    <a:pt x="169163" y="313944"/>
                  </a:lnTo>
                  <a:lnTo>
                    <a:pt x="124177" y="308340"/>
                  </a:lnTo>
                  <a:lnTo>
                    <a:pt x="83763" y="292523"/>
                  </a:lnTo>
                  <a:lnTo>
                    <a:pt x="49530" y="267985"/>
                  </a:lnTo>
                  <a:lnTo>
                    <a:pt x="23085" y="236220"/>
                  </a:lnTo>
                  <a:lnTo>
                    <a:pt x="6039" y="198717"/>
                  </a:lnTo>
                  <a:lnTo>
                    <a:pt x="0" y="156972"/>
                  </a:lnTo>
                  <a:close/>
                </a:path>
              </a:pathLst>
            </a:custGeom>
            <a:ln w="9524">
              <a:solidFill>
                <a:srgbClr val="008000"/>
              </a:solidFill>
            </a:ln>
          </p:spPr>
          <p:txBody>
            <a:bodyPr wrap="square" lIns="0" tIns="0" rIns="0" bIns="0" rtlCol="0"/>
            <a:lstStyle/>
            <a:p/>
          </p:txBody>
        </p:sp>
        <p:sp>
          <p:nvSpPr>
            <p:cNvPr id="32" name="object 32"/>
            <p:cNvSpPr/>
            <p:nvPr/>
          </p:nvSpPr>
          <p:spPr>
            <a:xfrm>
              <a:off x="2629662" y="1959102"/>
              <a:ext cx="0" cy="180340"/>
            </a:xfrm>
            <a:custGeom>
              <a:avLst/>
              <a:gdLst/>
              <a:ahLst/>
              <a:cxnLst/>
              <a:rect l="l" t="t" r="r" b="b"/>
              <a:pathLst>
                <a:path h="180339">
                  <a:moveTo>
                    <a:pt x="0" y="0"/>
                  </a:moveTo>
                  <a:lnTo>
                    <a:pt x="0" y="179831"/>
                  </a:lnTo>
                </a:path>
              </a:pathLst>
            </a:custGeom>
            <a:ln w="31750">
              <a:solidFill>
                <a:srgbClr val="D37700"/>
              </a:solidFill>
            </a:ln>
          </p:spPr>
          <p:txBody>
            <a:bodyPr wrap="square" lIns="0" tIns="0" rIns="0" bIns="0" rtlCol="0"/>
            <a:lstStyle/>
            <a:p/>
          </p:txBody>
        </p:sp>
        <p:sp>
          <p:nvSpPr>
            <p:cNvPr id="33" name="object 33"/>
            <p:cNvSpPr/>
            <p:nvPr/>
          </p:nvSpPr>
          <p:spPr>
            <a:xfrm>
              <a:off x="2534412" y="2159508"/>
              <a:ext cx="102235" cy="203200"/>
            </a:xfrm>
            <a:custGeom>
              <a:avLst/>
              <a:gdLst/>
              <a:ahLst/>
              <a:cxnLst/>
              <a:rect l="l" t="t" r="r" b="b"/>
              <a:pathLst>
                <a:path w="102235" h="203200">
                  <a:moveTo>
                    <a:pt x="0" y="0"/>
                  </a:moveTo>
                  <a:lnTo>
                    <a:pt x="102107" y="202692"/>
                  </a:lnTo>
                </a:path>
              </a:pathLst>
            </a:custGeom>
            <a:ln w="57150">
              <a:solidFill>
                <a:srgbClr val="B86700"/>
              </a:solidFill>
            </a:ln>
          </p:spPr>
          <p:txBody>
            <a:bodyPr wrap="square" lIns="0" tIns="0" rIns="0" bIns="0" rtlCol="0"/>
            <a:lstStyle/>
            <a:p/>
          </p:txBody>
        </p:sp>
      </p:grpSp>
      <p:sp>
        <p:nvSpPr>
          <p:cNvPr id="34" name="object 34"/>
          <p:cNvSpPr txBox="1"/>
          <p:nvPr/>
        </p:nvSpPr>
        <p:spPr>
          <a:xfrm>
            <a:off x="1049527" y="3847845"/>
            <a:ext cx="2636520" cy="248920"/>
          </a:xfrm>
          <a:prstGeom prst="rect">
            <a:avLst/>
          </a:prstGeom>
          <a:solidFill>
            <a:srgbClr val="EF8600"/>
          </a:solidFill>
          <a:ln w="3175">
            <a:solidFill>
              <a:srgbClr val="B86700"/>
            </a:solidFill>
          </a:ln>
        </p:spPr>
        <p:txBody>
          <a:bodyPr vert="horz" wrap="square" lIns="0" tIns="29845" rIns="0" bIns="0" rtlCol="0">
            <a:spAutoFit/>
          </a:bodyPr>
          <a:lstStyle/>
          <a:p>
            <a:pPr marL="90805">
              <a:lnSpc>
                <a:spcPct val="100000"/>
              </a:lnSpc>
              <a:spcBef>
                <a:spcPts val="235"/>
              </a:spcBef>
            </a:pPr>
            <a:r>
              <a:rPr sz="900" spc="-10" dirty="0">
                <a:solidFill>
                  <a:srgbClr val="35362F"/>
                </a:solidFill>
                <a:latin typeface="Calibri" panose="020F0502020204030204"/>
                <a:cs typeface="Calibri" panose="020F0502020204030204"/>
              </a:rPr>
              <a:t>u_dhm_sleep_logic</a:t>
            </a:r>
            <a:endParaRPr sz="900">
              <a:latin typeface="Calibri" panose="020F0502020204030204"/>
              <a:cs typeface="Calibri" panose="020F0502020204030204"/>
            </a:endParaRPr>
          </a:p>
        </p:txBody>
      </p:sp>
      <p:sp>
        <p:nvSpPr>
          <p:cNvPr id="35" name="object 35"/>
          <p:cNvSpPr txBox="1"/>
          <p:nvPr/>
        </p:nvSpPr>
        <p:spPr>
          <a:xfrm>
            <a:off x="2146553" y="1582623"/>
            <a:ext cx="416559" cy="208915"/>
          </a:xfrm>
          <a:prstGeom prst="rect">
            <a:avLst/>
          </a:prstGeom>
        </p:spPr>
        <p:txBody>
          <a:bodyPr vert="horz" wrap="square" lIns="0" tIns="12700" rIns="0" bIns="0" rtlCol="0">
            <a:spAutoFit/>
          </a:bodyPr>
          <a:lstStyle/>
          <a:p>
            <a:pPr marL="12700">
              <a:lnSpc>
                <a:spcPct val="100000"/>
              </a:lnSpc>
              <a:spcBef>
                <a:spcPts val="100"/>
              </a:spcBef>
            </a:pPr>
            <a:r>
              <a:rPr sz="1200" spc="-10" dirty="0">
                <a:solidFill>
                  <a:srgbClr val="D37700"/>
                </a:solidFill>
                <a:latin typeface="Calibri" panose="020F0502020204030204"/>
                <a:cs typeface="Calibri" panose="020F0502020204030204"/>
              </a:rPr>
              <a:t>on/off</a:t>
            </a:r>
            <a:endParaRPr sz="1200">
              <a:latin typeface="Calibri" panose="020F0502020204030204"/>
              <a:cs typeface="Calibri" panose="020F0502020204030204"/>
            </a:endParaRPr>
          </a:p>
        </p:txBody>
      </p:sp>
      <p:grpSp>
        <p:nvGrpSpPr>
          <p:cNvPr id="36" name="object 36"/>
          <p:cNvGrpSpPr/>
          <p:nvPr/>
        </p:nvGrpSpPr>
        <p:grpSpPr>
          <a:xfrm>
            <a:off x="1003554" y="1366519"/>
            <a:ext cx="2724150" cy="2358390"/>
            <a:chOff x="833374" y="1814829"/>
            <a:chExt cx="2724150" cy="2358390"/>
          </a:xfrm>
        </p:grpSpPr>
        <p:sp>
          <p:nvSpPr>
            <p:cNvPr id="37" name="object 37"/>
            <p:cNvSpPr/>
            <p:nvPr/>
          </p:nvSpPr>
          <p:spPr>
            <a:xfrm>
              <a:off x="2023872" y="2189987"/>
              <a:ext cx="532765" cy="114300"/>
            </a:xfrm>
            <a:custGeom>
              <a:avLst/>
              <a:gdLst/>
              <a:ahLst/>
              <a:cxnLst/>
              <a:rect l="l" t="t" r="r" b="b"/>
              <a:pathLst>
                <a:path w="532764" h="114300">
                  <a:moveTo>
                    <a:pt x="95250" y="38100"/>
                  </a:moveTo>
                  <a:lnTo>
                    <a:pt x="19050" y="38100"/>
                  </a:lnTo>
                  <a:lnTo>
                    <a:pt x="11626" y="39594"/>
                  </a:lnTo>
                  <a:lnTo>
                    <a:pt x="5572" y="43672"/>
                  </a:lnTo>
                  <a:lnTo>
                    <a:pt x="1494" y="49726"/>
                  </a:lnTo>
                  <a:lnTo>
                    <a:pt x="0" y="57150"/>
                  </a:lnTo>
                  <a:lnTo>
                    <a:pt x="1494" y="64573"/>
                  </a:lnTo>
                  <a:lnTo>
                    <a:pt x="5572" y="70627"/>
                  </a:lnTo>
                  <a:lnTo>
                    <a:pt x="11626" y="74705"/>
                  </a:lnTo>
                  <a:lnTo>
                    <a:pt x="19050" y="76200"/>
                  </a:lnTo>
                  <a:lnTo>
                    <a:pt x="95250" y="76200"/>
                  </a:lnTo>
                  <a:lnTo>
                    <a:pt x="102673" y="74705"/>
                  </a:lnTo>
                  <a:lnTo>
                    <a:pt x="108727" y="70627"/>
                  </a:lnTo>
                  <a:lnTo>
                    <a:pt x="112805" y="64573"/>
                  </a:lnTo>
                  <a:lnTo>
                    <a:pt x="114300" y="57150"/>
                  </a:lnTo>
                  <a:lnTo>
                    <a:pt x="112805" y="49726"/>
                  </a:lnTo>
                  <a:lnTo>
                    <a:pt x="108727" y="43672"/>
                  </a:lnTo>
                  <a:lnTo>
                    <a:pt x="102673" y="39594"/>
                  </a:lnTo>
                  <a:lnTo>
                    <a:pt x="95250" y="38100"/>
                  </a:lnTo>
                  <a:close/>
                </a:path>
                <a:path w="532764" h="114300">
                  <a:moveTo>
                    <a:pt x="247650" y="38100"/>
                  </a:moveTo>
                  <a:lnTo>
                    <a:pt x="171450" y="38100"/>
                  </a:lnTo>
                  <a:lnTo>
                    <a:pt x="164026" y="39594"/>
                  </a:lnTo>
                  <a:lnTo>
                    <a:pt x="157972" y="43672"/>
                  </a:lnTo>
                  <a:lnTo>
                    <a:pt x="153894" y="49726"/>
                  </a:lnTo>
                  <a:lnTo>
                    <a:pt x="152400" y="57150"/>
                  </a:lnTo>
                  <a:lnTo>
                    <a:pt x="153894" y="64573"/>
                  </a:lnTo>
                  <a:lnTo>
                    <a:pt x="157972" y="70627"/>
                  </a:lnTo>
                  <a:lnTo>
                    <a:pt x="164026" y="74705"/>
                  </a:lnTo>
                  <a:lnTo>
                    <a:pt x="171450" y="76200"/>
                  </a:lnTo>
                  <a:lnTo>
                    <a:pt x="247650" y="76200"/>
                  </a:lnTo>
                  <a:lnTo>
                    <a:pt x="255073" y="74705"/>
                  </a:lnTo>
                  <a:lnTo>
                    <a:pt x="261127" y="70627"/>
                  </a:lnTo>
                  <a:lnTo>
                    <a:pt x="265205" y="64573"/>
                  </a:lnTo>
                  <a:lnTo>
                    <a:pt x="266700" y="57150"/>
                  </a:lnTo>
                  <a:lnTo>
                    <a:pt x="265205" y="49726"/>
                  </a:lnTo>
                  <a:lnTo>
                    <a:pt x="261127" y="43672"/>
                  </a:lnTo>
                  <a:lnTo>
                    <a:pt x="255073" y="39594"/>
                  </a:lnTo>
                  <a:lnTo>
                    <a:pt x="247650" y="38100"/>
                  </a:lnTo>
                  <a:close/>
                </a:path>
                <a:path w="532764" h="114300">
                  <a:moveTo>
                    <a:pt x="418338" y="0"/>
                  </a:moveTo>
                  <a:lnTo>
                    <a:pt x="418338" y="53364"/>
                  </a:lnTo>
                  <a:lnTo>
                    <a:pt x="419100" y="57150"/>
                  </a:lnTo>
                  <a:lnTo>
                    <a:pt x="418338" y="60935"/>
                  </a:lnTo>
                  <a:lnTo>
                    <a:pt x="418338" y="114300"/>
                  </a:lnTo>
                  <a:lnTo>
                    <a:pt x="532638" y="57150"/>
                  </a:lnTo>
                  <a:lnTo>
                    <a:pt x="418338" y="0"/>
                  </a:lnTo>
                  <a:close/>
                </a:path>
                <a:path w="532764" h="114300">
                  <a:moveTo>
                    <a:pt x="400050" y="38100"/>
                  </a:moveTo>
                  <a:lnTo>
                    <a:pt x="323850" y="38100"/>
                  </a:lnTo>
                  <a:lnTo>
                    <a:pt x="316426" y="39594"/>
                  </a:lnTo>
                  <a:lnTo>
                    <a:pt x="310372" y="43672"/>
                  </a:lnTo>
                  <a:lnTo>
                    <a:pt x="306294" y="49726"/>
                  </a:lnTo>
                  <a:lnTo>
                    <a:pt x="304800" y="57150"/>
                  </a:lnTo>
                  <a:lnTo>
                    <a:pt x="306294" y="64573"/>
                  </a:lnTo>
                  <a:lnTo>
                    <a:pt x="310372" y="70627"/>
                  </a:lnTo>
                  <a:lnTo>
                    <a:pt x="316426" y="74705"/>
                  </a:lnTo>
                  <a:lnTo>
                    <a:pt x="323850" y="76200"/>
                  </a:lnTo>
                  <a:lnTo>
                    <a:pt x="400050" y="76200"/>
                  </a:lnTo>
                  <a:lnTo>
                    <a:pt x="407473" y="74705"/>
                  </a:lnTo>
                  <a:lnTo>
                    <a:pt x="413527" y="70627"/>
                  </a:lnTo>
                  <a:lnTo>
                    <a:pt x="417605" y="64573"/>
                  </a:lnTo>
                  <a:lnTo>
                    <a:pt x="418338" y="60935"/>
                  </a:lnTo>
                  <a:lnTo>
                    <a:pt x="418338" y="53364"/>
                  </a:lnTo>
                  <a:lnTo>
                    <a:pt x="417605" y="49726"/>
                  </a:lnTo>
                  <a:lnTo>
                    <a:pt x="413527" y="43672"/>
                  </a:lnTo>
                  <a:lnTo>
                    <a:pt x="407473" y="39594"/>
                  </a:lnTo>
                  <a:lnTo>
                    <a:pt x="400050" y="38100"/>
                  </a:lnTo>
                  <a:close/>
                </a:path>
                <a:path w="532764" h="114300">
                  <a:moveTo>
                    <a:pt x="418338" y="53364"/>
                  </a:moveTo>
                  <a:lnTo>
                    <a:pt x="418338" y="60935"/>
                  </a:lnTo>
                  <a:lnTo>
                    <a:pt x="419100" y="57150"/>
                  </a:lnTo>
                  <a:lnTo>
                    <a:pt x="418338" y="53364"/>
                  </a:lnTo>
                  <a:close/>
                </a:path>
              </a:pathLst>
            </a:custGeom>
            <a:solidFill>
              <a:srgbClr val="D37700"/>
            </a:solidFill>
          </p:spPr>
          <p:txBody>
            <a:bodyPr wrap="square" lIns="0" tIns="0" rIns="0" bIns="0" rtlCol="0"/>
            <a:lstStyle/>
            <a:p/>
          </p:txBody>
        </p:sp>
        <p:sp>
          <p:nvSpPr>
            <p:cNvPr id="38" name="object 38"/>
            <p:cNvSpPr/>
            <p:nvPr/>
          </p:nvSpPr>
          <p:spPr>
            <a:xfrm>
              <a:off x="839724" y="1821179"/>
              <a:ext cx="2711450" cy="2345690"/>
            </a:xfrm>
            <a:custGeom>
              <a:avLst/>
              <a:gdLst/>
              <a:ahLst/>
              <a:cxnLst/>
              <a:rect l="l" t="t" r="r" b="b"/>
              <a:pathLst>
                <a:path w="2711450" h="2345690">
                  <a:moveTo>
                    <a:pt x="0" y="2345436"/>
                  </a:moveTo>
                  <a:lnTo>
                    <a:pt x="2711196" y="2345436"/>
                  </a:lnTo>
                  <a:lnTo>
                    <a:pt x="2711196" y="0"/>
                  </a:lnTo>
                  <a:lnTo>
                    <a:pt x="0" y="0"/>
                  </a:lnTo>
                  <a:lnTo>
                    <a:pt x="0" y="2345436"/>
                  </a:lnTo>
                  <a:close/>
                </a:path>
              </a:pathLst>
            </a:custGeom>
            <a:ln w="12699">
              <a:solidFill>
                <a:srgbClr val="FF6600"/>
              </a:solidFill>
              <a:prstDash val="sysDash"/>
            </a:ln>
          </p:spPr>
          <p:txBody>
            <a:bodyPr wrap="square" lIns="0" tIns="0" rIns="0" bIns="0" rtlCol="0"/>
            <a:lstStyle/>
            <a:p/>
          </p:txBody>
        </p:sp>
      </p:grpSp>
      <p:sp>
        <p:nvSpPr>
          <p:cNvPr id="39" name="object 39"/>
          <p:cNvSpPr txBox="1"/>
          <p:nvPr/>
        </p:nvSpPr>
        <p:spPr>
          <a:xfrm>
            <a:off x="485139" y="503047"/>
            <a:ext cx="337185" cy="254000"/>
          </a:xfrm>
          <a:prstGeom prst="rect">
            <a:avLst/>
          </a:prstGeom>
        </p:spPr>
        <p:txBody>
          <a:bodyPr vert="horz" wrap="square" lIns="0" tIns="12700" rIns="0" bIns="0" rtlCol="0">
            <a:spAutoFit/>
          </a:bodyPr>
          <a:lstStyle/>
          <a:p>
            <a:pPr marL="12700">
              <a:lnSpc>
                <a:spcPct val="100000"/>
              </a:lnSpc>
              <a:spcBef>
                <a:spcPts val="100"/>
              </a:spcBef>
            </a:pPr>
            <a:r>
              <a:rPr sz="1500" i="1" spc="-25" dirty="0">
                <a:solidFill>
                  <a:srgbClr val="6F2F9F"/>
                </a:solidFill>
                <a:latin typeface="Calibri" panose="020F0502020204030204"/>
                <a:cs typeface="Calibri" panose="020F0502020204030204"/>
              </a:rPr>
              <a:t>TOP</a:t>
            </a:r>
            <a:endParaRPr sz="1500">
              <a:latin typeface="Calibri" panose="020F0502020204030204"/>
              <a:cs typeface="Calibri" panose="020F0502020204030204"/>
            </a:endParaRPr>
          </a:p>
        </p:txBody>
      </p:sp>
      <p:sp>
        <p:nvSpPr>
          <p:cNvPr id="40" name="object 40"/>
          <p:cNvSpPr txBox="1"/>
          <p:nvPr/>
        </p:nvSpPr>
        <p:spPr>
          <a:xfrm>
            <a:off x="1023112" y="1102944"/>
            <a:ext cx="316865" cy="254635"/>
          </a:xfrm>
          <a:prstGeom prst="rect">
            <a:avLst/>
          </a:prstGeom>
        </p:spPr>
        <p:txBody>
          <a:bodyPr vert="horz" wrap="square" lIns="0" tIns="12700" rIns="0" bIns="0" rtlCol="0">
            <a:spAutoFit/>
          </a:bodyPr>
          <a:lstStyle/>
          <a:p>
            <a:pPr marL="12700">
              <a:lnSpc>
                <a:spcPct val="100000"/>
              </a:lnSpc>
              <a:spcBef>
                <a:spcPts val="100"/>
              </a:spcBef>
            </a:pPr>
            <a:r>
              <a:rPr sz="1500" i="1" spc="-25" dirty="0">
                <a:solidFill>
                  <a:srgbClr val="FF6600"/>
                </a:solidFill>
                <a:latin typeface="Calibri" panose="020F0502020204030204"/>
                <a:cs typeface="Calibri" panose="020F0502020204030204"/>
              </a:rPr>
              <a:t>pd1</a:t>
            </a:r>
            <a:endParaRPr sz="1500">
              <a:latin typeface="Calibri" panose="020F0502020204030204"/>
              <a:cs typeface="Calibri" panose="020F0502020204030204"/>
            </a:endParaRPr>
          </a:p>
        </p:txBody>
      </p:sp>
      <p:sp>
        <p:nvSpPr>
          <p:cNvPr id="41" name="object 41"/>
          <p:cNvSpPr txBox="1"/>
          <p:nvPr/>
        </p:nvSpPr>
        <p:spPr>
          <a:xfrm>
            <a:off x="4464049" y="3041980"/>
            <a:ext cx="4747895" cy="665480"/>
          </a:xfrm>
          <a:prstGeom prst="rect">
            <a:avLst/>
          </a:prstGeom>
        </p:spPr>
        <p:txBody>
          <a:bodyPr vert="horz" wrap="square" lIns="0" tIns="12700" rIns="0" bIns="0" rtlCol="0">
            <a:spAutoFit/>
          </a:bodyPr>
          <a:lstStyle/>
          <a:p>
            <a:pPr marL="12700" marR="5080">
              <a:lnSpc>
                <a:spcPct val="150000"/>
              </a:lnSpc>
              <a:spcBef>
                <a:spcPts val="100"/>
              </a:spcBef>
            </a:pPr>
            <a:r>
              <a:rPr sz="1400" i="1" spc="-10" dirty="0">
                <a:solidFill>
                  <a:srgbClr val="0000FF"/>
                </a:solidFill>
                <a:latin typeface="Calibri" panose="020F0502020204030204"/>
                <a:cs typeface="Calibri" panose="020F0502020204030204"/>
              </a:rPr>
              <a:t>create_power_domain</a:t>
            </a:r>
            <a:r>
              <a:rPr sz="1400" i="1" spc="-40" dirty="0">
                <a:solidFill>
                  <a:srgbClr val="0000FF"/>
                </a:solidFill>
                <a:latin typeface="Calibri" panose="020F0502020204030204"/>
                <a:cs typeface="Calibri" panose="020F0502020204030204"/>
              </a:rPr>
              <a:t> </a:t>
            </a:r>
            <a:r>
              <a:rPr sz="1400" i="1" dirty="0">
                <a:solidFill>
                  <a:srgbClr val="0000FF"/>
                </a:solidFill>
                <a:latin typeface="Calibri" panose="020F0502020204030204"/>
                <a:cs typeface="Calibri" panose="020F0502020204030204"/>
              </a:rPr>
              <a:t>TOP</a:t>
            </a:r>
            <a:r>
              <a:rPr sz="1400" i="1" spc="-25" dirty="0">
                <a:solidFill>
                  <a:srgbClr val="0000FF"/>
                </a:solidFill>
                <a:latin typeface="Calibri" panose="020F0502020204030204"/>
                <a:cs typeface="Calibri" panose="020F0502020204030204"/>
              </a:rPr>
              <a:t> </a:t>
            </a:r>
            <a:r>
              <a:rPr sz="1400" i="1" dirty="0">
                <a:solidFill>
                  <a:srgbClr val="0000FF"/>
                </a:solidFill>
                <a:latin typeface="Calibri" panose="020F0502020204030204"/>
                <a:cs typeface="Calibri" panose="020F0502020204030204"/>
              </a:rPr>
              <a:t>-supply</a:t>
            </a:r>
            <a:r>
              <a:rPr sz="1400" i="1" spc="-20" dirty="0">
                <a:solidFill>
                  <a:srgbClr val="0000FF"/>
                </a:solidFill>
                <a:latin typeface="Calibri" panose="020F0502020204030204"/>
                <a:cs typeface="Calibri" panose="020F0502020204030204"/>
              </a:rPr>
              <a:t> </a:t>
            </a:r>
            <a:r>
              <a:rPr sz="1400" i="1" dirty="0">
                <a:solidFill>
                  <a:srgbClr val="0000FF"/>
                </a:solidFill>
                <a:latin typeface="Calibri" panose="020F0502020204030204"/>
                <a:cs typeface="Calibri" panose="020F0502020204030204"/>
              </a:rPr>
              <a:t>{primary</a:t>
            </a:r>
            <a:r>
              <a:rPr sz="1400" i="1" spc="-35" dirty="0">
                <a:solidFill>
                  <a:srgbClr val="0000FF"/>
                </a:solidFill>
                <a:latin typeface="Calibri" panose="020F0502020204030204"/>
                <a:cs typeface="Calibri" panose="020F0502020204030204"/>
              </a:rPr>
              <a:t> </a:t>
            </a:r>
            <a:r>
              <a:rPr sz="1400" i="1" dirty="0">
                <a:solidFill>
                  <a:srgbClr val="0000FF"/>
                </a:solidFill>
                <a:latin typeface="Calibri" panose="020F0502020204030204"/>
                <a:cs typeface="Calibri" panose="020F0502020204030204"/>
              </a:rPr>
              <a:t>SS_VDD}</a:t>
            </a:r>
            <a:r>
              <a:rPr sz="1400" i="1" spc="-15" dirty="0">
                <a:solidFill>
                  <a:srgbClr val="0000FF"/>
                </a:solidFill>
                <a:latin typeface="Calibri" panose="020F0502020204030204"/>
                <a:cs typeface="Calibri" panose="020F0502020204030204"/>
              </a:rPr>
              <a:t> </a:t>
            </a:r>
            <a:r>
              <a:rPr sz="1400" i="1" spc="-10" dirty="0">
                <a:solidFill>
                  <a:srgbClr val="FF0000"/>
                </a:solidFill>
                <a:latin typeface="Calibri" panose="020F0502020204030204"/>
                <a:cs typeface="Calibri" panose="020F0502020204030204"/>
              </a:rPr>
              <a:t>–update </a:t>
            </a:r>
            <a:r>
              <a:rPr sz="1400" i="1" spc="-10" dirty="0">
                <a:solidFill>
                  <a:srgbClr val="0000FF"/>
                </a:solidFill>
                <a:latin typeface="Calibri" panose="020F0502020204030204"/>
                <a:cs typeface="Calibri" panose="020F0502020204030204"/>
              </a:rPr>
              <a:t>create_power_domain</a:t>
            </a:r>
            <a:r>
              <a:rPr sz="1400" i="1" spc="-40" dirty="0">
                <a:solidFill>
                  <a:srgbClr val="0000FF"/>
                </a:solidFill>
                <a:latin typeface="Calibri" panose="020F0502020204030204"/>
                <a:cs typeface="Calibri" panose="020F0502020204030204"/>
              </a:rPr>
              <a:t> </a:t>
            </a:r>
            <a:r>
              <a:rPr sz="1400" i="1" dirty="0">
                <a:solidFill>
                  <a:srgbClr val="0000FF"/>
                </a:solidFill>
                <a:latin typeface="Calibri" panose="020F0502020204030204"/>
                <a:cs typeface="Calibri" panose="020F0502020204030204"/>
              </a:rPr>
              <a:t>pd1</a:t>
            </a:r>
            <a:r>
              <a:rPr sz="1400" i="1" spc="-20" dirty="0">
                <a:solidFill>
                  <a:srgbClr val="0000FF"/>
                </a:solidFill>
                <a:latin typeface="Calibri" panose="020F0502020204030204"/>
                <a:cs typeface="Calibri" panose="020F0502020204030204"/>
              </a:rPr>
              <a:t> </a:t>
            </a:r>
            <a:r>
              <a:rPr sz="1400" i="1" dirty="0">
                <a:solidFill>
                  <a:srgbClr val="0000FF"/>
                </a:solidFill>
                <a:latin typeface="Calibri" panose="020F0502020204030204"/>
                <a:cs typeface="Calibri" panose="020F0502020204030204"/>
              </a:rPr>
              <a:t>-supply</a:t>
            </a:r>
            <a:r>
              <a:rPr sz="1400" i="1" spc="-10" dirty="0">
                <a:solidFill>
                  <a:srgbClr val="0000FF"/>
                </a:solidFill>
                <a:latin typeface="Calibri" panose="020F0502020204030204"/>
                <a:cs typeface="Calibri" panose="020F0502020204030204"/>
              </a:rPr>
              <a:t> </a:t>
            </a:r>
            <a:r>
              <a:rPr sz="1400" i="1" dirty="0">
                <a:solidFill>
                  <a:srgbClr val="0000FF"/>
                </a:solidFill>
                <a:latin typeface="Calibri" panose="020F0502020204030204"/>
                <a:cs typeface="Calibri" panose="020F0502020204030204"/>
              </a:rPr>
              <a:t>{primary</a:t>
            </a:r>
            <a:r>
              <a:rPr sz="1400" i="1" spc="-40" dirty="0">
                <a:solidFill>
                  <a:srgbClr val="0000FF"/>
                </a:solidFill>
                <a:latin typeface="Calibri" panose="020F0502020204030204"/>
                <a:cs typeface="Calibri" panose="020F0502020204030204"/>
              </a:rPr>
              <a:t> </a:t>
            </a:r>
            <a:r>
              <a:rPr sz="1400" i="1" dirty="0">
                <a:solidFill>
                  <a:srgbClr val="0000FF"/>
                </a:solidFill>
                <a:latin typeface="Calibri" panose="020F0502020204030204"/>
                <a:cs typeface="Calibri" panose="020F0502020204030204"/>
              </a:rPr>
              <a:t>SS_VDDLS1} </a:t>
            </a:r>
            <a:r>
              <a:rPr sz="1400" i="1" spc="-10" dirty="0">
                <a:solidFill>
                  <a:srgbClr val="FF0000"/>
                </a:solidFill>
                <a:latin typeface="Calibri" panose="020F0502020204030204"/>
                <a:cs typeface="Calibri" panose="020F0502020204030204"/>
              </a:rPr>
              <a:t>–update</a:t>
            </a:r>
            <a:endParaRPr sz="1400">
              <a:latin typeface="Calibri" panose="020F0502020204030204"/>
              <a:cs typeface="Calibri" panose="020F0502020204030204"/>
            </a:endParaRPr>
          </a:p>
        </p:txBody>
      </p:sp>
      <p:sp>
        <p:nvSpPr>
          <p:cNvPr id="42" name="object 42"/>
          <p:cNvSpPr txBox="1"/>
          <p:nvPr/>
        </p:nvSpPr>
        <p:spPr>
          <a:xfrm>
            <a:off x="4464050" y="702055"/>
            <a:ext cx="4238625" cy="2317750"/>
          </a:xfrm>
          <a:prstGeom prst="rect">
            <a:avLst/>
          </a:prstGeom>
        </p:spPr>
        <p:txBody>
          <a:bodyPr vert="horz" wrap="square" lIns="0" tIns="12700" rIns="0" bIns="0" rtlCol="0">
            <a:spAutoFit/>
          </a:bodyPr>
          <a:lstStyle/>
          <a:p>
            <a:pPr marL="12700" marR="230505">
              <a:lnSpc>
                <a:spcPct val="100000"/>
              </a:lnSpc>
              <a:spcBef>
                <a:spcPts val="100"/>
              </a:spcBef>
            </a:pPr>
            <a:r>
              <a:rPr sz="1800" b="1" dirty="0">
                <a:solidFill>
                  <a:srgbClr val="35362F"/>
                </a:solidFill>
                <a:latin typeface="Calibri" panose="020F0502020204030204"/>
                <a:cs typeface="Calibri" panose="020F0502020204030204"/>
              </a:rPr>
              <a:t>Create</a:t>
            </a:r>
            <a:r>
              <a:rPr sz="1800" b="1" spc="-35" dirty="0">
                <a:solidFill>
                  <a:srgbClr val="35362F"/>
                </a:solidFill>
                <a:latin typeface="Calibri" panose="020F0502020204030204"/>
                <a:cs typeface="Calibri" panose="020F0502020204030204"/>
              </a:rPr>
              <a:t> </a:t>
            </a:r>
            <a:r>
              <a:rPr sz="1800" b="1" dirty="0">
                <a:solidFill>
                  <a:srgbClr val="35362F"/>
                </a:solidFill>
                <a:latin typeface="Calibri" panose="020F0502020204030204"/>
                <a:cs typeface="Calibri" panose="020F0502020204030204"/>
              </a:rPr>
              <a:t>supply</a:t>
            </a:r>
            <a:r>
              <a:rPr sz="1800" b="1" spc="-65" dirty="0">
                <a:solidFill>
                  <a:srgbClr val="35362F"/>
                </a:solidFill>
                <a:latin typeface="Calibri" panose="020F0502020204030204"/>
                <a:cs typeface="Calibri" panose="020F0502020204030204"/>
              </a:rPr>
              <a:t> </a:t>
            </a:r>
            <a:r>
              <a:rPr sz="1800" b="1" dirty="0">
                <a:solidFill>
                  <a:srgbClr val="35362F"/>
                </a:solidFill>
                <a:latin typeface="Calibri" panose="020F0502020204030204"/>
                <a:cs typeface="Calibri" panose="020F0502020204030204"/>
              </a:rPr>
              <a:t>set</a:t>
            </a:r>
            <a:r>
              <a:rPr sz="1800" b="1" spc="-35" dirty="0">
                <a:solidFill>
                  <a:srgbClr val="35362F"/>
                </a:solidFill>
                <a:latin typeface="Calibri" panose="020F0502020204030204"/>
                <a:cs typeface="Calibri" panose="020F0502020204030204"/>
              </a:rPr>
              <a:t> </a:t>
            </a:r>
            <a:r>
              <a:rPr sz="1800" b="1" dirty="0">
                <a:solidFill>
                  <a:srgbClr val="35362F"/>
                </a:solidFill>
                <a:latin typeface="Calibri" panose="020F0502020204030204"/>
                <a:cs typeface="Calibri" panose="020F0502020204030204"/>
              </a:rPr>
              <a:t>and</a:t>
            </a:r>
            <a:r>
              <a:rPr sz="1800" b="1" spc="-30" dirty="0">
                <a:solidFill>
                  <a:srgbClr val="35362F"/>
                </a:solidFill>
                <a:latin typeface="Calibri" panose="020F0502020204030204"/>
                <a:cs typeface="Calibri" panose="020F0502020204030204"/>
              </a:rPr>
              <a:t> </a:t>
            </a:r>
            <a:r>
              <a:rPr sz="1800" b="1" dirty="0">
                <a:solidFill>
                  <a:srgbClr val="35362F"/>
                </a:solidFill>
                <a:latin typeface="Calibri" panose="020F0502020204030204"/>
                <a:cs typeface="Calibri" panose="020F0502020204030204"/>
              </a:rPr>
              <a:t>associate</a:t>
            </a:r>
            <a:r>
              <a:rPr sz="1800" b="1" spc="-65" dirty="0">
                <a:solidFill>
                  <a:srgbClr val="35362F"/>
                </a:solidFill>
                <a:latin typeface="Calibri" panose="020F0502020204030204"/>
                <a:cs typeface="Calibri" panose="020F0502020204030204"/>
              </a:rPr>
              <a:t> </a:t>
            </a:r>
            <a:r>
              <a:rPr sz="1800" b="1" dirty="0">
                <a:solidFill>
                  <a:srgbClr val="35362F"/>
                </a:solidFill>
                <a:latin typeface="Calibri" panose="020F0502020204030204"/>
                <a:cs typeface="Calibri" panose="020F0502020204030204"/>
              </a:rPr>
              <a:t>them</a:t>
            </a:r>
            <a:r>
              <a:rPr sz="1800" b="1" spc="-40" dirty="0">
                <a:solidFill>
                  <a:srgbClr val="35362F"/>
                </a:solidFill>
                <a:latin typeface="Calibri" panose="020F0502020204030204"/>
                <a:cs typeface="Calibri" panose="020F0502020204030204"/>
              </a:rPr>
              <a:t> </a:t>
            </a:r>
            <a:r>
              <a:rPr sz="1800" b="1" spc="-20" dirty="0">
                <a:solidFill>
                  <a:srgbClr val="35362F"/>
                </a:solidFill>
                <a:latin typeface="Calibri" panose="020F0502020204030204"/>
                <a:cs typeface="Calibri" panose="020F0502020204030204"/>
              </a:rPr>
              <a:t>with </a:t>
            </a:r>
            <a:r>
              <a:rPr sz="1800" b="1" dirty="0">
                <a:solidFill>
                  <a:srgbClr val="35362F"/>
                </a:solidFill>
                <a:latin typeface="Calibri" panose="020F0502020204030204"/>
                <a:cs typeface="Calibri" panose="020F0502020204030204"/>
              </a:rPr>
              <a:t>appropriate</a:t>
            </a:r>
            <a:r>
              <a:rPr sz="1800" b="1" spc="-75" dirty="0">
                <a:solidFill>
                  <a:srgbClr val="35362F"/>
                </a:solidFill>
                <a:latin typeface="Calibri" panose="020F0502020204030204"/>
                <a:cs typeface="Calibri" panose="020F0502020204030204"/>
              </a:rPr>
              <a:t> </a:t>
            </a:r>
            <a:r>
              <a:rPr sz="1800" b="1" dirty="0">
                <a:solidFill>
                  <a:srgbClr val="35362F"/>
                </a:solidFill>
                <a:latin typeface="Calibri" panose="020F0502020204030204"/>
                <a:cs typeface="Calibri" panose="020F0502020204030204"/>
              </a:rPr>
              <a:t>power</a:t>
            </a:r>
            <a:r>
              <a:rPr sz="1800" b="1" spc="-90" dirty="0">
                <a:solidFill>
                  <a:srgbClr val="35362F"/>
                </a:solidFill>
                <a:latin typeface="Calibri" panose="020F0502020204030204"/>
                <a:cs typeface="Calibri" panose="020F0502020204030204"/>
              </a:rPr>
              <a:t> </a:t>
            </a:r>
            <a:r>
              <a:rPr sz="1800" b="1" spc="-10" dirty="0">
                <a:solidFill>
                  <a:srgbClr val="35362F"/>
                </a:solidFill>
                <a:latin typeface="Calibri" panose="020F0502020204030204"/>
                <a:cs typeface="Calibri" panose="020F0502020204030204"/>
              </a:rPr>
              <a:t>domain</a:t>
            </a:r>
            <a:endParaRPr sz="1800">
              <a:latin typeface="Calibri" panose="020F0502020204030204"/>
              <a:cs typeface="Calibri" panose="020F0502020204030204"/>
            </a:endParaRPr>
          </a:p>
          <a:p>
            <a:pPr marL="12700">
              <a:lnSpc>
                <a:spcPct val="100000"/>
              </a:lnSpc>
              <a:spcBef>
                <a:spcPts val="110"/>
              </a:spcBef>
            </a:pPr>
            <a:r>
              <a:rPr sz="1400" i="1" spc="-10" dirty="0">
                <a:solidFill>
                  <a:srgbClr val="0000FF"/>
                </a:solidFill>
                <a:latin typeface="Calibri" panose="020F0502020204030204"/>
                <a:cs typeface="Calibri" panose="020F0502020204030204"/>
              </a:rPr>
              <a:t>create_supply_set</a:t>
            </a:r>
            <a:r>
              <a:rPr sz="1400" i="1" dirty="0">
                <a:solidFill>
                  <a:srgbClr val="0000FF"/>
                </a:solidFill>
                <a:latin typeface="Calibri" panose="020F0502020204030204"/>
                <a:cs typeface="Calibri" panose="020F0502020204030204"/>
              </a:rPr>
              <a:t> SS_VDD</a:t>
            </a:r>
            <a:r>
              <a:rPr sz="1400" i="1" spc="-5" dirty="0">
                <a:solidFill>
                  <a:srgbClr val="0000FF"/>
                </a:solidFill>
                <a:latin typeface="Calibri" panose="020F0502020204030204"/>
                <a:cs typeface="Calibri" panose="020F0502020204030204"/>
              </a:rPr>
              <a:t> </a:t>
            </a:r>
            <a:r>
              <a:rPr sz="1400" i="1" spc="-10" dirty="0">
                <a:solidFill>
                  <a:srgbClr val="0000FF"/>
                </a:solidFill>
                <a:latin typeface="Calibri" panose="020F0502020204030204"/>
                <a:cs typeface="Calibri" panose="020F0502020204030204"/>
              </a:rPr>
              <a:t>–function </a:t>
            </a:r>
            <a:r>
              <a:rPr sz="1400" i="1" dirty="0">
                <a:solidFill>
                  <a:srgbClr val="0000FF"/>
                </a:solidFill>
                <a:latin typeface="Calibri" panose="020F0502020204030204"/>
                <a:cs typeface="Calibri" panose="020F0502020204030204"/>
              </a:rPr>
              <a:t>{power</a:t>
            </a:r>
            <a:r>
              <a:rPr sz="1400" i="1" spc="-40" dirty="0">
                <a:solidFill>
                  <a:srgbClr val="0000FF"/>
                </a:solidFill>
                <a:latin typeface="Calibri" panose="020F0502020204030204"/>
                <a:cs typeface="Calibri" panose="020F0502020204030204"/>
              </a:rPr>
              <a:t> </a:t>
            </a:r>
            <a:r>
              <a:rPr sz="1400" i="1" dirty="0">
                <a:solidFill>
                  <a:srgbClr val="0000FF"/>
                </a:solidFill>
                <a:latin typeface="Calibri" panose="020F0502020204030204"/>
                <a:cs typeface="Calibri" panose="020F0502020204030204"/>
              </a:rPr>
              <a:t>VDD}</a:t>
            </a:r>
            <a:r>
              <a:rPr sz="1400" i="1" spc="290" dirty="0">
                <a:solidFill>
                  <a:srgbClr val="0000FF"/>
                </a:solidFill>
                <a:latin typeface="Calibri" panose="020F0502020204030204"/>
                <a:cs typeface="Calibri" panose="020F0502020204030204"/>
              </a:rPr>
              <a:t> </a:t>
            </a:r>
            <a:r>
              <a:rPr sz="1400" i="1" spc="-50" dirty="0">
                <a:solidFill>
                  <a:srgbClr val="0000FF"/>
                </a:solidFill>
                <a:latin typeface="Calibri" panose="020F0502020204030204"/>
                <a:cs typeface="Calibri" panose="020F0502020204030204"/>
              </a:rPr>
              <a:t>\</a:t>
            </a:r>
            <a:endParaRPr sz="1400">
              <a:latin typeface="Calibri" panose="020F0502020204030204"/>
              <a:cs typeface="Calibri" panose="020F0502020204030204"/>
            </a:endParaRPr>
          </a:p>
          <a:p>
            <a:pPr marL="12700">
              <a:lnSpc>
                <a:spcPct val="100000"/>
              </a:lnSpc>
              <a:spcBef>
                <a:spcPts val="170"/>
              </a:spcBef>
            </a:pPr>
            <a:r>
              <a:rPr sz="1400" i="1" dirty="0">
                <a:solidFill>
                  <a:srgbClr val="0000FF"/>
                </a:solidFill>
                <a:latin typeface="Calibri" panose="020F0502020204030204"/>
                <a:cs typeface="Calibri" panose="020F0502020204030204"/>
              </a:rPr>
              <a:t>–function</a:t>
            </a:r>
            <a:r>
              <a:rPr sz="1400" i="1" spc="-60" dirty="0">
                <a:solidFill>
                  <a:srgbClr val="0000FF"/>
                </a:solidFill>
                <a:latin typeface="Calibri" panose="020F0502020204030204"/>
                <a:cs typeface="Calibri" panose="020F0502020204030204"/>
              </a:rPr>
              <a:t> </a:t>
            </a:r>
            <a:r>
              <a:rPr sz="1400" i="1" dirty="0">
                <a:solidFill>
                  <a:srgbClr val="0000FF"/>
                </a:solidFill>
                <a:latin typeface="Calibri" panose="020F0502020204030204"/>
                <a:cs typeface="Calibri" panose="020F0502020204030204"/>
              </a:rPr>
              <a:t>{ground</a:t>
            </a:r>
            <a:r>
              <a:rPr sz="1400" i="1" spc="-65" dirty="0">
                <a:solidFill>
                  <a:srgbClr val="0000FF"/>
                </a:solidFill>
                <a:latin typeface="Calibri" panose="020F0502020204030204"/>
                <a:cs typeface="Calibri" panose="020F0502020204030204"/>
              </a:rPr>
              <a:t> </a:t>
            </a:r>
            <a:r>
              <a:rPr sz="1400" i="1" spc="-20" dirty="0">
                <a:solidFill>
                  <a:srgbClr val="0000FF"/>
                </a:solidFill>
                <a:latin typeface="Calibri" panose="020F0502020204030204"/>
                <a:cs typeface="Calibri" panose="020F0502020204030204"/>
              </a:rPr>
              <a:t>VSS}</a:t>
            </a:r>
            <a:endParaRPr sz="1400">
              <a:latin typeface="Calibri" panose="020F0502020204030204"/>
              <a:cs typeface="Calibri" panose="020F0502020204030204"/>
            </a:endParaRPr>
          </a:p>
          <a:p>
            <a:pPr marL="12700">
              <a:lnSpc>
                <a:spcPct val="100000"/>
              </a:lnSpc>
              <a:spcBef>
                <a:spcPts val="840"/>
              </a:spcBef>
            </a:pPr>
            <a:r>
              <a:rPr sz="1400" i="1" spc="-10" dirty="0">
                <a:solidFill>
                  <a:srgbClr val="0000FF"/>
                </a:solidFill>
                <a:latin typeface="Calibri" panose="020F0502020204030204"/>
                <a:cs typeface="Calibri" panose="020F0502020204030204"/>
              </a:rPr>
              <a:t>create_supply_set</a:t>
            </a:r>
            <a:r>
              <a:rPr sz="1400" i="1" spc="-20" dirty="0">
                <a:solidFill>
                  <a:srgbClr val="0000FF"/>
                </a:solidFill>
                <a:latin typeface="Calibri" panose="020F0502020204030204"/>
                <a:cs typeface="Calibri" panose="020F0502020204030204"/>
              </a:rPr>
              <a:t> </a:t>
            </a:r>
            <a:r>
              <a:rPr sz="1400" i="1" dirty="0">
                <a:solidFill>
                  <a:srgbClr val="0000FF"/>
                </a:solidFill>
                <a:latin typeface="Calibri" panose="020F0502020204030204"/>
                <a:cs typeface="Calibri" panose="020F0502020204030204"/>
              </a:rPr>
              <a:t>SS_VDDL</a:t>
            </a:r>
            <a:r>
              <a:rPr sz="1400" i="1" spc="-20" dirty="0">
                <a:solidFill>
                  <a:srgbClr val="0000FF"/>
                </a:solidFill>
                <a:latin typeface="Calibri" panose="020F0502020204030204"/>
                <a:cs typeface="Calibri" panose="020F0502020204030204"/>
              </a:rPr>
              <a:t> </a:t>
            </a:r>
            <a:r>
              <a:rPr sz="1400" i="1" dirty="0">
                <a:solidFill>
                  <a:srgbClr val="0000FF"/>
                </a:solidFill>
                <a:latin typeface="Calibri" panose="020F0502020204030204"/>
                <a:cs typeface="Calibri" panose="020F0502020204030204"/>
              </a:rPr>
              <a:t>–function</a:t>
            </a:r>
            <a:r>
              <a:rPr sz="1400" i="1" spc="-20" dirty="0">
                <a:solidFill>
                  <a:srgbClr val="0000FF"/>
                </a:solidFill>
                <a:latin typeface="Calibri" panose="020F0502020204030204"/>
                <a:cs typeface="Calibri" panose="020F0502020204030204"/>
              </a:rPr>
              <a:t> </a:t>
            </a:r>
            <a:r>
              <a:rPr sz="1400" i="1" dirty="0">
                <a:solidFill>
                  <a:srgbClr val="0000FF"/>
                </a:solidFill>
                <a:latin typeface="Calibri" panose="020F0502020204030204"/>
                <a:cs typeface="Calibri" panose="020F0502020204030204"/>
              </a:rPr>
              <a:t>{power</a:t>
            </a:r>
            <a:r>
              <a:rPr sz="1400" i="1" spc="-50" dirty="0">
                <a:solidFill>
                  <a:srgbClr val="0000FF"/>
                </a:solidFill>
                <a:latin typeface="Calibri" panose="020F0502020204030204"/>
                <a:cs typeface="Calibri" panose="020F0502020204030204"/>
              </a:rPr>
              <a:t> </a:t>
            </a:r>
            <a:r>
              <a:rPr sz="1400" i="1" dirty="0">
                <a:solidFill>
                  <a:srgbClr val="0000FF"/>
                </a:solidFill>
                <a:latin typeface="Calibri" panose="020F0502020204030204"/>
                <a:cs typeface="Calibri" panose="020F0502020204030204"/>
              </a:rPr>
              <a:t>VDDL}</a:t>
            </a:r>
            <a:r>
              <a:rPr sz="1400" i="1" spc="250" dirty="0">
                <a:solidFill>
                  <a:srgbClr val="0000FF"/>
                </a:solidFill>
                <a:latin typeface="Calibri" panose="020F0502020204030204"/>
                <a:cs typeface="Calibri" panose="020F0502020204030204"/>
              </a:rPr>
              <a:t> </a:t>
            </a:r>
            <a:r>
              <a:rPr sz="1400" i="1" spc="-50" dirty="0">
                <a:solidFill>
                  <a:srgbClr val="0000FF"/>
                </a:solidFill>
                <a:latin typeface="Calibri" panose="020F0502020204030204"/>
                <a:cs typeface="Calibri" panose="020F0502020204030204"/>
              </a:rPr>
              <a:t>\</a:t>
            </a:r>
            <a:endParaRPr sz="1400">
              <a:latin typeface="Calibri" panose="020F0502020204030204"/>
              <a:cs typeface="Calibri" panose="020F0502020204030204"/>
            </a:endParaRPr>
          </a:p>
          <a:p>
            <a:pPr marL="12700">
              <a:lnSpc>
                <a:spcPct val="100000"/>
              </a:lnSpc>
              <a:spcBef>
                <a:spcPts val="840"/>
              </a:spcBef>
            </a:pPr>
            <a:r>
              <a:rPr sz="1400" i="1" dirty="0">
                <a:solidFill>
                  <a:srgbClr val="0000FF"/>
                </a:solidFill>
                <a:latin typeface="Calibri" panose="020F0502020204030204"/>
                <a:cs typeface="Calibri" panose="020F0502020204030204"/>
              </a:rPr>
              <a:t>–function</a:t>
            </a:r>
            <a:r>
              <a:rPr sz="1400" i="1" spc="-60" dirty="0">
                <a:solidFill>
                  <a:srgbClr val="0000FF"/>
                </a:solidFill>
                <a:latin typeface="Calibri" panose="020F0502020204030204"/>
                <a:cs typeface="Calibri" panose="020F0502020204030204"/>
              </a:rPr>
              <a:t> </a:t>
            </a:r>
            <a:r>
              <a:rPr sz="1400" i="1" dirty="0">
                <a:solidFill>
                  <a:srgbClr val="0000FF"/>
                </a:solidFill>
                <a:latin typeface="Calibri" panose="020F0502020204030204"/>
                <a:cs typeface="Calibri" panose="020F0502020204030204"/>
              </a:rPr>
              <a:t>{ground</a:t>
            </a:r>
            <a:r>
              <a:rPr sz="1400" i="1" spc="-65" dirty="0">
                <a:solidFill>
                  <a:srgbClr val="0000FF"/>
                </a:solidFill>
                <a:latin typeface="Calibri" panose="020F0502020204030204"/>
                <a:cs typeface="Calibri" panose="020F0502020204030204"/>
              </a:rPr>
              <a:t> </a:t>
            </a:r>
            <a:r>
              <a:rPr sz="1400" i="1" spc="-20" dirty="0">
                <a:solidFill>
                  <a:srgbClr val="0000FF"/>
                </a:solidFill>
                <a:latin typeface="Calibri" panose="020F0502020204030204"/>
                <a:cs typeface="Calibri" panose="020F0502020204030204"/>
              </a:rPr>
              <a:t>VSS}</a:t>
            </a:r>
            <a:endParaRPr sz="1400">
              <a:latin typeface="Calibri" panose="020F0502020204030204"/>
              <a:cs typeface="Calibri" panose="020F0502020204030204"/>
            </a:endParaRPr>
          </a:p>
          <a:p>
            <a:pPr marL="12700">
              <a:lnSpc>
                <a:spcPct val="100000"/>
              </a:lnSpc>
              <a:spcBef>
                <a:spcPts val="845"/>
              </a:spcBef>
            </a:pPr>
            <a:r>
              <a:rPr sz="1400" i="1" spc="-10" dirty="0">
                <a:solidFill>
                  <a:srgbClr val="0000FF"/>
                </a:solidFill>
                <a:latin typeface="Calibri" panose="020F0502020204030204"/>
                <a:cs typeface="Calibri" panose="020F0502020204030204"/>
              </a:rPr>
              <a:t>create_supply_set</a:t>
            </a:r>
            <a:r>
              <a:rPr sz="1400" i="1" spc="-25" dirty="0">
                <a:solidFill>
                  <a:srgbClr val="0000FF"/>
                </a:solidFill>
                <a:latin typeface="Calibri" panose="020F0502020204030204"/>
                <a:cs typeface="Calibri" panose="020F0502020204030204"/>
              </a:rPr>
              <a:t> </a:t>
            </a:r>
            <a:r>
              <a:rPr sz="1400" i="1" dirty="0">
                <a:solidFill>
                  <a:srgbClr val="0000FF"/>
                </a:solidFill>
                <a:latin typeface="Calibri" panose="020F0502020204030204"/>
                <a:cs typeface="Calibri" panose="020F0502020204030204"/>
              </a:rPr>
              <a:t>SS_VDDLS1</a:t>
            </a:r>
            <a:r>
              <a:rPr sz="1400" i="1" spc="-25" dirty="0">
                <a:solidFill>
                  <a:srgbClr val="0000FF"/>
                </a:solidFill>
                <a:latin typeface="Calibri" panose="020F0502020204030204"/>
                <a:cs typeface="Calibri" panose="020F0502020204030204"/>
              </a:rPr>
              <a:t> </a:t>
            </a:r>
            <a:r>
              <a:rPr sz="1400" i="1" dirty="0">
                <a:solidFill>
                  <a:srgbClr val="0000FF"/>
                </a:solidFill>
                <a:latin typeface="Calibri" panose="020F0502020204030204"/>
                <a:cs typeface="Calibri" panose="020F0502020204030204"/>
              </a:rPr>
              <a:t>–function</a:t>
            </a:r>
            <a:r>
              <a:rPr sz="1400" i="1" spc="-30" dirty="0">
                <a:solidFill>
                  <a:srgbClr val="0000FF"/>
                </a:solidFill>
                <a:latin typeface="Calibri" panose="020F0502020204030204"/>
                <a:cs typeface="Calibri" panose="020F0502020204030204"/>
              </a:rPr>
              <a:t> </a:t>
            </a:r>
            <a:r>
              <a:rPr sz="1400" i="1" dirty="0">
                <a:solidFill>
                  <a:srgbClr val="0000FF"/>
                </a:solidFill>
                <a:latin typeface="Calibri" panose="020F0502020204030204"/>
                <a:cs typeface="Calibri" panose="020F0502020204030204"/>
              </a:rPr>
              <a:t>{power</a:t>
            </a:r>
            <a:r>
              <a:rPr sz="1400" i="1" spc="-55" dirty="0">
                <a:solidFill>
                  <a:srgbClr val="0000FF"/>
                </a:solidFill>
                <a:latin typeface="Calibri" panose="020F0502020204030204"/>
                <a:cs typeface="Calibri" panose="020F0502020204030204"/>
              </a:rPr>
              <a:t> </a:t>
            </a:r>
            <a:r>
              <a:rPr sz="1400" i="1" dirty="0">
                <a:solidFill>
                  <a:srgbClr val="0000FF"/>
                </a:solidFill>
                <a:latin typeface="Calibri" panose="020F0502020204030204"/>
                <a:cs typeface="Calibri" panose="020F0502020204030204"/>
              </a:rPr>
              <a:t>VDDLS1}</a:t>
            </a:r>
            <a:r>
              <a:rPr sz="1400" i="1" spc="-25" dirty="0">
                <a:solidFill>
                  <a:srgbClr val="0000FF"/>
                </a:solidFill>
                <a:latin typeface="Calibri" panose="020F0502020204030204"/>
                <a:cs typeface="Calibri" panose="020F0502020204030204"/>
              </a:rPr>
              <a:t> </a:t>
            </a:r>
            <a:r>
              <a:rPr sz="1400" i="1" spc="-50" dirty="0">
                <a:solidFill>
                  <a:srgbClr val="0000FF"/>
                </a:solidFill>
                <a:latin typeface="Calibri" panose="020F0502020204030204"/>
                <a:cs typeface="Calibri" panose="020F0502020204030204"/>
              </a:rPr>
              <a:t>\</a:t>
            </a:r>
            <a:endParaRPr sz="1400">
              <a:latin typeface="Calibri" panose="020F0502020204030204"/>
              <a:cs typeface="Calibri" panose="020F0502020204030204"/>
            </a:endParaRPr>
          </a:p>
          <a:p>
            <a:pPr marL="12700">
              <a:lnSpc>
                <a:spcPct val="100000"/>
              </a:lnSpc>
              <a:spcBef>
                <a:spcPts val="840"/>
              </a:spcBef>
            </a:pPr>
            <a:r>
              <a:rPr sz="1400" i="1" dirty="0">
                <a:solidFill>
                  <a:srgbClr val="0000FF"/>
                </a:solidFill>
                <a:latin typeface="Calibri" panose="020F0502020204030204"/>
                <a:cs typeface="Calibri" panose="020F0502020204030204"/>
              </a:rPr>
              <a:t>–function</a:t>
            </a:r>
            <a:r>
              <a:rPr sz="1400" i="1" spc="-60" dirty="0">
                <a:solidFill>
                  <a:srgbClr val="0000FF"/>
                </a:solidFill>
                <a:latin typeface="Calibri" panose="020F0502020204030204"/>
                <a:cs typeface="Calibri" panose="020F0502020204030204"/>
              </a:rPr>
              <a:t> </a:t>
            </a:r>
            <a:r>
              <a:rPr sz="1400" i="1" dirty="0">
                <a:solidFill>
                  <a:srgbClr val="0000FF"/>
                </a:solidFill>
                <a:latin typeface="Calibri" panose="020F0502020204030204"/>
                <a:cs typeface="Calibri" panose="020F0502020204030204"/>
              </a:rPr>
              <a:t>{ground</a:t>
            </a:r>
            <a:r>
              <a:rPr sz="1400" i="1" spc="-65" dirty="0">
                <a:solidFill>
                  <a:srgbClr val="0000FF"/>
                </a:solidFill>
                <a:latin typeface="Calibri" panose="020F0502020204030204"/>
                <a:cs typeface="Calibri" panose="020F0502020204030204"/>
              </a:rPr>
              <a:t> </a:t>
            </a:r>
            <a:r>
              <a:rPr sz="1400" i="1" spc="-20" dirty="0">
                <a:solidFill>
                  <a:srgbClr val="0000FF"/>
                </a:solidFill>
                <a:latin typeface="Calibri" panose="020F0502020204030204"/>
                <a:cs typeface="Calibri" panose="020F0502020204030204"/>
              </a:rPr>
              <a:t>VSS}</a:t>
            </a:r>
            <a:endParaRPr sz="1400">
              <a:latin typeface="Calibri" panose="020F0502020204030204"/>
              <a:cs typeface="Calibri" panose="020F0502020204030204"/>
            </a:endParaRPr>
          </a:p>
        </p:txBody>
      </p:sp>
      <p:sp>
        <p:nvSpPr>
          <p:cNvPr id="46" name="Text 0"/>
          <p:cNvSpPr/>
          <p:nvPr/>
        </p:nvSpPr>
        <p:spPr>
          <a:xfrm>
            <a:off x="284480" y="10922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电源网络的</a:t>
            </a:r>
            <a:r>
              <a:rPr lang="zh-CN" altLang="en-US" sz="1730" b="1" dirty="0">
                <a:latin typeface="微软雅黑" panose="020B0503020204020204" pitchFamily="34" charset="-122"/>
                <a:ea typeface="微软雅黑" panose="020B0503020204020204" pitchFamily="34" charset="-122"/>
                <a:sym typeface="+mn-ea"/>
              </a:rPr>
              <a:t>定义</a:t>
            </a:r>
            <a:endParaRPr lang="zh-CN" altLang="en-US" sz="1730" b="1"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grpSp>
        <p:nvGrpSpPr>
          <p:cNvPr id="3" name="object 3"/>
          <p:cNvGrpSpPr/>
          <p:nvPr/>
        </p:nvGrpSpPr>
        <p:grpSpPr>
          <a:xfrm>
            <a:off x="306133" y="717613"/>
            <a:ext cx="3754754" cy="3632835"/>
            <a:chOff x="306133" y="1258633"/>
            <a:chExt cx="3754754" cy="3632835"/>
          </a:xfrm>
        </p:grpSpPr>
        <p:pic>
          <p:nvPicPr>
            <p:cNvPr id="4" name="object 4"/>
            <p:cNvPicPr/>
            <p:nvPr/>
          </p:nvPicPr>
          <p:blipFill>
            <a:blip r:embed="rId2" cstate="print"/>
            <a:stretch>
              <a:fillRect/>
            </a:stretch>
          </p:blipFill>
          <p:spPr>
            <a:xfrm>
              <a:off x="380999" y="1333500"/>
              <a:ext cx="3679698" cy="3557778"/>
            </a:xfrm>
            <a:prstGeom prst="rect">
              <a:avLst/>
            </a:prstGeom>
          </p:spPr>
        </p:pic>
        <p:sp>
          <p:nvSpPr>
            <p:cNvPr id="5" name="object 5"/>
            <p:cNvSpPr/>
            <p:nvPr/>
          </p:nvSpPr>
          <p:spPr>
            <a:xfrm>
              <a:off x="310895" y="1263396"/>
              <a:ext cx="3670300" cy="3548379"/>
            </a:xfrm>
            <a:custGeom>
              <a:avLst/>
              <a:gdLst/>
              <a:ahLst/>
              <a:cxnLst/>
              <a:rect l="l" t="t" r="r" b="b"/>
              <a:pathLst>
                <a:path w="3670300" h="3548379">
                  <a:moveTo>
                    <a:pt x="3669791" y="0"/>
                  </a:moveTo>
                  <a:lnTo>
                    <a:pt x="0" y="0"/>
                  </a:lnTo>
                  <a:lnTo>
                    <a:pt x="0" y="3547872"/>
                  </a:lnTo>
                  <a:lnTo>
                    <a:pt x="3669791" y="3547872"/>
                  </a:lnTo>
                  <a:lnTo>
                    <a:pt x="3669791" y="0"/>
                  </a:lnTo>
                  <a:close/>
                </a:path>
              </a:pathLst>
            </a:custGeom>
            <a:solidFill>
              <a:srgbClr val="FEFEFE"/>
            </a:solidFill>
          </p:spPr>
          <p:txBody>
            <a:bodyPr wrap="square" lIns="0" tIns="0" rIns="0" bIns="0" rtlCol="0"/>
            <a:lstStyle/>
            <a:p/>
          </p:txBody>
        </p:sp>
        <p:sp>
          <p:nvSpPr>
            <p:cNvPr id="6" name="object 6"/>
            <p:cNvSpPr/>
            <p:nvPr/>
          </p:nvSpPr>
          <p:spPr>
            <a:xfrm>
              <a:off x="310895" y="1263396"/>
              <a:ext cx="3670300" cy="3548379"/>
            </a:xfrm>
            <a:custGeom>
              <a:avLst/>
              <a:gdLst/>
              <a:ahLst/>
              <a:cxnLst/>
              <a:rect l="l" t="t" r="r" b="b"/>
              <a:pathLst>
                <a:path w="3670300" h="3548379">
                  <a:moveTo>
                    <a:pt x="0" y="3547872"/>
                  </a:moveTo>
                  <a:lnTo>
                    <a:pt x="3669791" y="3547872"/>
                  </a:lnTo>
                  <a:lnTo>
                    <a:pt x="3669791" y="0"/>
                  </a:lnTo>
                  <a:lnTo>
                    <a:pt x="0" y="0"/>
                  </a:lnTo>
                  <a:lnTo>
                    <a:pt x="0" y="3547872"/>
                  </a:lnTo>
                  <a:close/>
                </a:path>
              </a:pathLst>
            </a:custGeom>
            <a:ln w="9524">
              <a:solidFill>
                <a:srgbClr val="959595"/>
              </a:solidFill>
            </a:ln>
          </p:spPr>
          <p:txBody>
            <a:bodyPr wrap="square" lIns="0" tIns="0" rIns="0" bIns="0" rtlCol="0"/>
            <a:lstStyle/>
            <a:p/>
          </p:txBody>
        </p:sp>
        <p:pic>
          <p:nvPicPr>
            <p:cNvPr id="7" name="object 7"/>
            <p:cNvPicPr/>
            <p:nvPr/>
          </p:nvPicPr>
          <p:blipFill>
            <a:blip r:embed="rId3" cstate="print"/>
            <a:stretch>
              <a:fillRect/>
            </a:stretch>
          </p:blipFill>
          <p:spPr>
            <a:xfrm>
              <a:off x="867155" y="1932432"/>
              <a:ext cx="2646425" cy="2282190"/>
            </a:xfrm>
            <a:prstGeom prst="rect">
              <a:avLst/>
            </a:prstGeom>
          </p:spPr>
        </p:pic>
        <p:sp>
          <p:nvSpPr>
            <p:cNvPr id="8" name="object 8"/>
            <p:cNvSpPr/>
            <p:nvPr/>
          </p:nvSpPr>
          <p:spPr>
            <a:xfrm>
              <a:off x="835151" y="1900428"/>
              <a:ext cx="2636520" cy="2272665"/>
            </a:xfrm>
            <a:custGeom>
              <a:avLst/>
              <a:gdLst/>
              <a:ahLst/>
              <a:cxnLst/>
              <a:rect l="l" t="t" r="r" b="b"/>
              <a:pathLst>
                <a:path w="2636520" h="2272665">
                  <a:moveTo>
                    <a:pt x="2636520" y="0"/>
                  </a:moveTo>
                  <a:lnTo>
                    <a:pt x="0" y="0"/>
                  </a:lnTo>
                  <a:lnTo>
                    <a:pt x="0" y="2272284"/>
                  </a:lnTo>
                  <a:lnTo>
                    <a:pt x="2636520" y="2272284"/>
                  </a:lnTo>
                  <a:lnTo>
                    <a:pt x="2636520" y="0"/>
                  </a:lnTo>
                  <a:close/>
                </a:path>
              </a:pathLst>
            </a:custGeom>
            <a:solidFill>
              <a:srgbClr val="CBFEFE"/>
            </a:solidFill>
          </p:spPr>
          <p:txBody>
            <a:bodyPr wrap="square" lIns="0" tIns="0" rIns="0" bIns="0" rtlCol="0"/>
            <a:lstStyle/>
            <a:p/>
          </p:txBody>
        </p:sp>
        <p:sp>
          <p:nvSpPr>
            <p:cNvPr id="9" name="object 9"/>
            <p:cNvSpPr/>
            <p:nvPr/>
          </p:nvSpPr>
          <p:spPr>
            <a:xfrm>
              <a:off x="835151" y="1900428"/>
              <a:ext cx="2636520" cy="2272665"/>
            </a:xfrm>
            <a:custGeom>
              <a:avLst/>
              <a:gdLst/>
              <a:ahLst/>
              <a:cxnLst/>
              <a:rect l="l" t="t" r="r" b="b"/>
              <a:pathLst>
                <a:path w="2636520" h="2272665">
                  <a:moveTo>
                    <a:pt x="0" y="2272284"/>
                  </a:moveTo>
                  <a:lnTo>
                    <a:pt x="2636520" y="2272284"/>
                  </a:lnTo>
                  <a:lnTo>
                    <a:pt x="2636520" y="0"/>
                  </a:lnTo>
                  <a:lnTo>
                    <a:pt x="0" y="0"/>
                  </a:lnTo>
                  <a:lnTo>
                    <a:pt x="0" y="2272284"/>
                  </a:lnTo>
                  <a:close/>
                </a:path>
              </a:pathLst>
            </a:custGeom>
            <a:ln w="9524">
              <a:solidFill>
                <a:srgbClr val="68BD27"/>
              </a:solidFill>
            </a:ln>
          </p:spPr>
          <p:txBody>
            <a:bodyPr wrap="square" lIns="0" tIns="0" rIns="0" bIns="0" rtlCol="0"/>
            <a:lstStyle/>
            <a:p/>
          </p:txBody>
        </p:sp>
      </p:grpSp>
      <p:sp>
        <p:nvSpPr>
          <p:cNvPr id="10" name="object 10"/>
          <p:cNvSpPr txBox="1"/>
          <p:nvPr/>
        </p:nvSpPr>
        <p:spPr>
          <a:xfrm>
            <a:off x="2616009" y="772414"/>
            <a:ext cx="728980" cy="208279"/>
          </a:xfrm>
          <a:prstGeom prst="rect">
            <a:avLst/>
          </a:prstGeom>
        </p:spPr>
        <p:txBody>
          <a:bodyPr vert="horz" wrap="square" lIns="0" tIns="12700" rIns="0" bIns="0" rtlCol="0">
            <a:spAutoFit/>
          </a:bodyPr>
          <a:lstStyle/>
          <a:p>
            <a:pPr marL="90170">
              <a:lnSpc>
                <a:spcPct val="100000"/>
              </a:lnSpc>
              <a:spcBef>
                <a:spcPts val="100"/>
              </a:spcBef>
            </a:pPr>
            <a:r>
              <a:rPr sz="1200" b="1" spc="-20" dirty="0">
                <a:solidFill>
                  <a:srgbClr val="34352F"/>
                </a:solidFill>
                <a:latin typeface="Calibri" panose="020F0502020204030204"/>
                <a:cs typeface="Calibri" panose="020F0502020204030204"/>
              </a:rPr>
              <a:t>VDDL</a:t>
            </a:r>
            <a:endParaRPr sz="1200">
              <a:latin typeface="Calibri" panose="020F0502020204030204"/>
              <a:cs typeface="Calibri" panose="020F0502020204030204"/>
            </a:endParaRPr>
          </a:p>
        </p:txBody>
      </p:sp>
      <p:sp>
        <p:nvSpPr>
          <p:cNvPr id="11" name="object 11"/>
          <p:cNvSpPr txBox="1"/>
          <p:nvPr/>
        </p:nvSpPr>
        <p:spPr>
          <a:xfrm>
            <a:off x="1544827" y="768858"/>
            <a:ext cx="307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34352F"/>
                </a:solidFill>
                <a:latin typeface="Calibri" panose="020F0502020204030204"/>
                <a:cs typeface="Calibri" panose="020F0502020204030204"/>
              </a:rPr>
              <a:t>VDD</a:t>
            </a:r>
            <a:endParaRPr sz="1200">
              <a:latin typeface="Calibri" panose="020F0502020204030204"/>
              <a:cs typeface="Calibri" panose="020F0502020204030204"/>
            </a:endParaRPr>
          </a:p>
        </p:txBody>
      </p:sp>
      <p:sp>
        <p:nvSpPr>
          <p:cNvPr id="12" name="object 12"/>
          <p:cNvSpPr txBox="1"/>
          <p:nvPr/>
        </p:nvSpPr>
        <p:spPr>
          <a:xfrm>
            <a:off x="3388677" y="782193"/>
            <a:ext cx="587375" cy="208279"/>
          </a:xfrm>
          <a:prstGeom prst="rect">
            <a:avLst/>
          </a:prstGeom>
        </p:spPr>
        <p:txBody>
          <a:bodyPr vert="horz" wrap="square" lIns="0" tIns="12700" rIns="0" bIns="0" rtlCol="0">
            <a:spAutoFit/>
          </a:bodyPr>
          <a:lstStyle/>
          <a:p>
            <a:pPr marL="63500">
              <a:lnSpc>
                <a:spcPct val="100000"/>
              </a:lnSpc>
              <a:spcBef>
                <a:spcPts val="100"/>
              </a:spcBef>
            </a:pPr>
            <a:r>
              <a:rPr sz="1200" b="1" spc="-25" dirty="0">
                <a:solidFill>
                  <a:srgbClr val="34352F"/>
                </a:solidFill>
                <a:latin typeface="Calibri" panose="020F0502020204030204"/>
                <a:cs typeface="Calibri" panose="020F0502020204030204"/>
              </a:rPr>
              <a:t>VSS</a:t>
            </a:r>
            <a:endParaRPr sz="1200">
              <a:latin typeface="Calibri" panose="020F0502020204030204"/>
              <a:cs typeface="Calibri" panose="020F0502020204030204"/>
            </a:endParaRPr>
          </a:p>
        </p:txBody>
      </p:sp>
      <p:grpSp>
        <p:nvGrpSpPr>
          <p:cNvPr id="13" name="object 13"/>
          <p:cNvGrpSpPr/>
          <p:nvPr/>
        </p:nvGrpSpPr>
        <p:grpSpPr>
          <a:xfrm>
            <a:off x="1408366" y="693610"/>
            <a:ext cx="1971675" cy="1627505"/>
            <a:chOff x="1408366" y="1234630"/>
            <a:chExt cx="1971675" cy="1627505"/>
          </a:xfrm>
        </p:grpSpPr>
        <p:sp>
          <p:nvSpPr>
            <p:cNvPr id="14" name="object 14"/>
            <p:cNvSpPr/>
            <p:nvPr/>
          </p:nvSpPr>
          <p:spPr>
            <a:xfrm>
              <a:off x="1431797" y="1489709"/>
              <a:ext cx="0" cy="299085"/>
            </a:xfrm>
            <a:custGeom>
              <a:avLst/>
              <a:gdLst/>
              <a:ahLst/>
              <a:cxnLst/>
              <a:rect l="l" t="t" r="r" b="b"/>
              <a:pathLst>
                <a:path h="299085">
                  <a:moveTo>
                    <a:pt x="0" y="0"/>
                  </a:moveTo>
                  <a:lnTo>
                    <a:pt x="0" y="298703"/>
                  </a:lnTo>
                </a:path>
              </a:pathLst>
            </a:custGeom>
            <a:ln w="28575">
              <a:solidFill>
                <a:srgbClr val="34352F"/>
              </a:solidFill>
            </a:ln>
          </p:spPr>
          <p:txBody>
            <a:bodyPr wrap="square" lIns="0" tIns="0" rIns="0" bIns="0" rtlCol="0"/>
            <a:lstStyle/>
            <a:p/>
          </p:txBody>
        </p:sp>
        <p:sp>
          <p:nvSpPr>
            <p:cNvPr id="15" name="object 15"/>
            <p:cNvSpPr/>
            <p:nvPr/>
          </p:nvSpPr>
          <p:spPr>
            <a:xfrm>
              <a:off x="1422653" y="1248917"/>
              <a:ext cx="1943100" cy="262255"/>
            </a:xfrm>
            <a:custGeom>
              <a:avLst/>
              <a:gdLst/>
              <a:ahLst/>
              <a:cxnLst/>
              <a:rect l="l" t="t" r="r" b="b"/>
              <a:pathLst>
                <a:path w="1943100" h="262255">
                  <a:moveTo>
                    <a:pt x="1162812" y="4572"/>
                  </a:moveTo>
                  <a:lnTo>
                    <a:pt x="1175004" y="239268"/>
                  </a:lnTo>
                </a:path>
                <a:path w="1943100" h="262255">
                  <a:moveTo>
                    <a:pt x="0" y="0"/>
                  </a:moveTo>
                  <a:lnTo>
                    <a:pt x="12192" y="234696"/>
                  </a:lnTo>
                </a:path>
                <a:path w="1943100" h="262255">
                  <a:moveTo>
                    <a:pt x="1930908" y="27432"/>
                  </a:moveTo>
                  <a:lnTo>
                    <a:pt x="1943100" y="262128"/>
                  </a:lnTo>
                </a:path>
              </a:pathLst>
            </a:custGeom>
            <a:ln w="28575">
              <a:solidFill>
                <a:srgbClr val="34352F"/>
              </a:solidFill>
            </a:ln>
          </p:spPr>
          <p:txBody>
            <a:bodyPr wrap="square" lIns="0" tIns="0" rIns="0" bIns="0" rtlCol="0"/>
            <a:lstStyle/>
            <a:p/>
          </p:txBody>
        </p:sp>
        <p:sp>
          <p:nvSpPr>
            <p:cNvPr id="16" name="object 16"/>
            <p:cNvSpPr/>
            <p:nvPr/>
          </p:nvSpPr>
          <p:spPr>
            <a:xfrm>
              <a:off x="2591561" y="2449829"/>
              <a:ext cx="12700" cy="398145"/>
            </a:xfrm>
            <a:custGeom>
              <a:avLst/>
              <a:gdLst/>
              <a:ahLst/>
              <a:cxnLst/>
              <a:rect l="l" t="t" r="r" b="b"/>
              <a:pathLst>
                <a:path w="12700" h="398144">
                  <a:moveTo>
                    <a:pt x="0" y="0"/>
                  </a:moveTo>
                  <a:lnTo>
                    <a:pt x="12192" y="397763"/>
                  </a:lnTo>
                </a:path>
              </a:pathLst>
            </a:custGeom>
            <a:ln w="28575">
              <a:solidFill>
                <a:srgbClr val="34352F"/>
              </a:solidFill>
            </a:ln>
          </p:spPr>
          <p:txBody>
            <a:bodyPr wrap="square" lIns="0" tIns="0" rIns="0" bIns="0" rtlCol="0"/>
            <a:lstStyle/>
            <a:p/>
          </p:txBody>
        </p:sp>
      </p:grpSp>
      <p:sp>
        <p:nvSpPr>
          <p:cNvPr id="17" name="object 17"/>
          <p:cNvSpPr txBox="1"/>
          <p:nvPr/>
        </p:nvSpPr>
        <p:spPr>
          <a:xfrm>
            <a:off x="2680842" y="2021840"/>
            <a:ext cx="521334" cy="208279"/>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34352F"/>
                </a:solidFill>
                <a:latin typeface="Calibri" panose="020F0502020204030204"/>
                <a:cs typeface="Calibri" panose="020F0502020204030204"/>
              </a:rPr>
              <a:t>VDDLS1</a:t>
            </a:r>
            <a:endParaRPr sz="1200">
              <a:latin typeface="Calibri" panose="020F0502020204030204"/>
              <a:cs typeface="Calibri" panose="020F0502020204030204"/>
            </a:endParaRPr>
          </a:p>
        </p:txBody>
      </p:sp>
      <p:sp>
        <p:nvSpPr>
          <p:cNvPr id="18" name="object 18"/>
          <p:cNvSpPr txBox="1"/>
          <p:nvPr/>
        </p:nvSpPr>
        <p:spPr>
          <a:xfrm>
            <a:off x="2046223" y="1636268"/>
            <a:ext cx="275590" cy="162560"/>
          </a:xfrm>
          <a:prstGeom prst="rect">
            <a:avLst/>
          </a:prstGeom>
        </p:spPr>
        <p:txBody>
          <a:bodyPr vert="horz" wrap="square" lIns="0" tIns="12700" rIns="0" bIns="0" rtlCol="0">
            <a:spAutoFit/>
          </a:bodyPr>
          <a:lstStyle/>
          <a:p>
            <a:pPr marL="12700">
              <a:lnSpc>
                <a:spcPct val="100000"/>
              </a:lnSpc>
              <a:spcBef>
                <a:spcPts val="100"/>
              </a:spcBef>
            </a:pPr>
            <a:r>
              <a:rPr sz="900" b="1" spc="-10" dirty="0">
                <a:solidFill>
                  <a:srgbClr val="34352F"/>
                </a:solidFill>
                <a:latin typeface="Calibri" panose="020F0502020204030204"/>
                <a:cs typeface="Calibri" panose="020F0502020204030204"/>
              </a:rPr>
              <a:t>sleep</a:t>
            </a:r>
            <a:endParaRPr sz="900">
              <a:latin typeface="Calibri" panose="020F0502020204030204"/>
              <a:cs typeface="Calibri" panose="020F0502020204030204"/>
            </a:endParaRPr>
          </a:p>
        </p:txBody>
      </p:sp>
      <p:grpSp>
        <p:nvGrpSpPr>
          <p:cNvPr id="19" name="object 19"/>
          <p:cNvGrpSpPr/>
          <p:nvPr/>
        </p:nvGrpSpPr>
        <p:grpSpPr>
          <a:xfrm>
            <a:off x="2028057" y="1456944"/>
            <a:ext cx="680720" cy="576580"/>
            <a:chOff x="2028057" y="1997964"/>
            <a:chExt cx="680720" cy="576580"/>
          </a:xfrm>
        </p:grpSpPr>
        <p:pic>
          <p:nvPicPr>
            <p:cNvPr id="20" name="object 20"/>
            <p:cNvPicPr/>
            <p:nvPr/>
          </p:nvPicPr>
          <p:blipFill>
            <a:blip r:embed="rId4" cstate="print"/>
            <a:stretch>
              <a:fillRect/>
            </a:stretch>
          </p:blipFill>
          <p:spPr>
            <a:xfrm>
              <a:off x="2417063" y="2208276"/>
              <a:ext cx="286512" cy="284988"/>
            </a:xfrm>
            <a:prstGeom prst="rect">
              <a:avLst/>
            </a:prstGeom>
          </p:spPr>
        </p:pic>
        <p:sp>
          <p:nvSpPr>
            <p:cNvPr id="21" name="object 21"/>
            <p:cNvSpPr/>
            <p:nvPr/>
          </p:nvSpPr>
          <p:spPr>
            <a:xfrm>
              <a:off x="2417063" y="2208276"/>
              <a:ext cx="287020" cy="285115"/>
            </a:xfrm>
            <a:custGeom>
              <a:avLst/>
              <a:gdLst/>
              <a:ahLst/>
              <a:cxnLst/>
              <a:rect l="l" t="t" r="r" b="b"/>
              <a:pathLst>
                <a:path w="287019" h="285114">
                  <a:moveTo>
                    <a:pt x="0" y="142494"/>
                  </a:moveTo>
                  <a:lnTo>
                    <a:pt x="7303" y="97438"/>
                  </a:lnTo>
                  <a:lnTo>
                    <a:pt x="27639" y="58320"/>
                  </a:lnTo>
                  <a:lnTo>
                    <a:pt x="58649" y="27480"/>
                  </a:lnTo>
                  <a:lnTo>
                    <a:pt x="97974" y="7260"/>
                  </a:lnTo>
                  <a:lnTo>
                    <a:pt x="143256" y="0"/>
                  </a:lnTo>
                  <a:lnTo>
                    <a:pt x="188537" y="7260"/>
                  </a:lnTo>
                  <a:lnTo>
                    <a:pt x="227862" y="27480"/>
                  </a:lnTo>
                  <a:lnTo>
                    <a:pt x="258872" y="58320"/>
                  </a:lnTo>
                  <a:lnTo>
                    <a:pt x="279208" y="97438"/>
                  </a:lnTo>
                  <a:lnTo>
                    <a:pt x="286512" y="142494"/>
                  </a:lnTo>
                  <a:lnTo>
                    <a:pt x="279208" y="187549"/>
                  </a:lnTo>
                  <a:lnTo>
                    <a:pt x="258872" y="226667"/>
                  </a:lnTo>
                  <a:lnTo>
                    <a:pt x="227862" y="257507"/>
                  </a:lnTo>
                  <a:lnTo>
                    <a:pt x="188537" y="277727"/>
                  </a:lnTo>
                  <a:lnTo>
                    <a:pt x="143256" y="284988"/>
                  </a:lnTo>
                  <a:lnTo>
                    <a:pt x="97974" y="277727"/>
                  </a:lnTo>
                  <a:lnTo>
                    <a:pt x="58649" y="257507"/>
                  </a:lnTo>
                  <a:lnTo>
                    <a:pt x="27639" y="226667"/>
                  </a:lnTo>
                  <a:lnTo>
                    <a:pt x="7303" y="187549"/>
                  </a:lnTo>
                  <a:lnTo>
                    <a:pt x="0" y="142494"/>
                  </a:lnTo>
                  <a:close/>
                </a:path>
              </a:pathLst>
            </a:custGeom>
            <a:ln w="9525">
              <a:solidFill>
                <a:srgbClr val="007F00"/>
              </a:solidFill>
            </a:ln>
          </p:spPr>
          <p:txBody>
            <a:bodyPr wrap="square" lIns="0" tIns="0" rIns="0" bIns="0" rtlCol="0"/>
            <a:lstStyle/>
            <a:p/>
          </p:txBody>
        </p:sp>
        <p:sp>
          <p:nvSpPr>
            <p:cNvPr id="22" name="object 22"/>
            <p:cNvSpPr/>
            <p:nvPr/>
          </p:nvSpPr>
          <p:spPr>
            <a:xfrm>
              <a:off x="2598419" y="2433828"/>
              <a:ext cx="0" cy="135890"/>
            </a:xfrm>
            <a:custGeom>
              <a:avLst/>
              <a:gdLst/>
              <a:ahLst/>
              <a:cxnLst/>
              <a:rect l="l" t="t" r="r" b="b"/>
              <a:pathLst>
                <a:path h="135889">
                  <a:moveTo>
                    <a:pt x="0" y="0"/>
                  </a:moveTo>
                  <a:lnTo>
                    <a:pt x="0" y="135636"/>
                  </a:lnTo>
                </a:path>
              </a:pathLst>
            </a:custGeom>
            <a:ln w="9525">
              <a:solidFill>
                <a:srgbClr val="34352F"/>
              </a:solidFill>
            </a:ln>
          </p:spPr>
          <p:txBody>
            <a:bodyPr wrap="square" lIns="0" tIns="0" rIns="0" bIns="0" rtlCol="0"/>
            <a:lstStyle/>
            <a:p/>
          </p:txBody>
        </p:sp>
        <p:sp>
          <p:nvSpPr>
            <p:cNvPr id="23" name="object 23"/>
            <p:cNvSpPr/>
            <p:nvPr/>
          </p:nvSpPr>
          <p:spPr>
            <a:xfrm>
              <a:off x="2519172" y="2264664"/>
              <a:ext cx="91440" cy="180340"/>
            </a:xfrm>
            <a:custGeom>
              <a:avLst/>
              <a:gdLst/>
              <a:ahLst/>
              <a:cxnLst/>
              <a:rect l="l" t="t" r="r" b="b"/>
              <a:pathLst>
                <a:path w="91439" h="180339">
                  <a:moveTo>
                    <a:pt x="0" y="0"/>
                  </a:moveTo>
                  <a:lnTo>
                    <a:pt x="91439" y="179831"/>
                  </a:lnTo>
                </a:path>
              </a:pathLst>
            </a:custGeom>
            <a:ln w="57150">
              <a:solidFill>
                <a:srgbClr val="34352F"/>
              </a:solidFill>
            </a:ln>
          </p:spPr>
          <p:txBody>
            <a:bodyPr wrap="square" lIns="0" tIns="0" rIns="0" bIns="0" rtlCol="0"/>
            <a:lstStyle/>
            <a:p/>
          </p:txBody>
        </p:sp>
        <p:sp>
          <p:nvSpPr>
            <p:cNvPr id="24" name="object 24"/>
            <p:cNvSpPr/>
            <p:nvPr/>
          </p:nvSpPr>
          <p:spPr>
            <a:xfrm>
              <a:off x="2028057" y="2282698"/>
              <a:ext cx="479425" cy="76200"/>
            </a:xfrm>
            <a:custGeom>
              <a:avLst/>
              <a:gdLst/>
              <a:ahLst/>
              <a:cxnLst/>
              <a:rect l="l" t="t" r="r" b="b"/>
              <a:pathLst>
                <a:path w="479425" h="76200">
                  <a:moveTo>
                    <a:pt x="10038" y="30479"/>
                  </a:moveTo>
                  <a:lnTo>
                    <a:pt x="3053" y="30479"/>
                  </a:lnTo>
                  <a:lnTo>
                    <a:pt x="0" y="33400"/>
                  </a:lnTo>
                  <a:lnTo>
                    <a:pt x="132" y="33400"/>
                  </a:lnTo>
                  <a:lnTo>
                    <a:pt x="254" y="40385"/>
                  </a:lnTo>
                  <a:lnTo>
                    <a:pt x="2926" y="43179"/>
                  </a:lnTo>
                  <a:lnTo>
                    <a:pt x="10038" y="43179"/>
                  </a:lnTo>
                  <a:lnTo>
                    <a:pt x="12832" y="40385"/>
                  </a:lnTo>
                  <a:lnTo>
                    <a:pt x="12832" y="33400"/>
                  </a:lnTo>
                  <a:lnTo>
                    <a:pt x="10038" y="30479"/>
                  </a:lnTo>
                  <a:close/>
                </a:path>
                <a:path w="479425" h="76200">
                  <a:moveTo>
                    <a:pt x="35438" y="30606"/>
                  </a:moveTo>
                  <a:lnTo>
                    <a:pt x="28453" y="30606"/>
                  </a:lnTo>
                  <a:lnTo>
                    <a:pt x="25532" y="33400"/>
                  </a:lnTo>
                  <a:lnTo>
                    <a:pt x="25532" y="40385"/>
                  </a:lnTo>
                  <a:lnTo>
                    <a:pt x="28326" y="43306"/>
                  </a:lnTo>
                  <a:lnTo>
                    <a:pt x="35438" y="43306"/>
                  </a:lnTo>
                  <a:lnTo>
                    <a:pt x="38232" y="40385"/>
                  </a:lnTo>
                  <a:lnTo>
                    <a:pt x="38232" y="33400"/>
                  </a:lnTo>
                  <a:lnTo>
                    <a:pt x="35438" y="30606"/>
                  </a:lnTo>
                  <a:close/>
                </a:path>
                <a:path w="479425" h="76200">
                  <a:moveTo>
                    <a:pt x="60838" y="30606"/>
                  </a:moveTo>
                  <a:lnTo>
                    <a:pt x="53853" y="30606"/>
                  </a:lnTo>
                  <a:lnTo>
                    <a:pt x="50932" y="33527"/>
                  </a:lnTo>
                  <a:lnTo>
                    <a:pt x="50932" y="40512"/>
                  </a:lnTo>
                  <a:lnTo>
                    <a:pt x="53726" y="43306"/>
                  </a:lnTo>
                  <a:lnTo>
                    <a:pt x="60838" y="43306"/>
                  </a:lnTo>
                  <a:lnTo>
                    <a:pt x="63632" y="40512"/>
                  </a:lnTo>
                  <a:lnTo>
                    <a:pt x="63632" y="33527"/>
                  </a:lnTo>
                  <a:lnTo>
                    <a:pt x="60838" y="30606"/>
                  </a:lnTo>
                  <a:close/>
                </a:path>
                <a:path w="479425" h="76200">
                  <a:moveTo>
                    <a:pt x="86238" y="30733"/>
                  </a:moveTo>
                  <a:lnTo>
                    <a:pt x="79253" y="30733"/>
                  </a:lnTo>
                  <a:lnTo>
                    <a:pt x="76332" y="33527"/>
                  </a:lnTo>
                  <a:lnTo>
                    <a:pt x="76459" y="40639"/>
                  </a:lnTo>
                  <a:lnTo>
                    <a:pt x="79253" y="43433"/>
                  </a:lnTo>
                  <a:lnTo>
                    <a:pt x="86238" y="43433"/>
                  </a:lnTo>
                  <a:lnTo>
                    <a:pt x="89032" y="40639"/>
                  </a:lnTo>
                  <a:lnTo>
                    <a:pt x="89032" y="33527"/>
                  </a:lnTo>
                  <a:lnTo>
                    <a:pt x="86238" y="30733"/>
                  </a:lnTo>
                  <a:close/>
                </a:path>
                <a:path w="479425" h="76200">
                  <a:moveTo>
                    <a:pt x="111638" y="30860"/>
                  </a:moveTo>
                  <a:lnTo>
                    <a:pt x="104526" y="30860"/>
                  </a:lnTo>
                  <a:lnTo>
                    <a:pt x="101732" y="33654"/>
                  </a:lnTo>
                  <a:lnTo>
                    <a:pt x="101732" y="40639"/>
                  </a:lnTo>
                  <a:lnTo>
                    <a:pt x="104786" y="43560"/>
                  </a:lnTo>
                  <a:lnTo>
                    <a:pt x="111638" y="43560"/>
                  </a:lnTo>
                  <a:lnTo>
                    <a:pt x="114432" y="40639"/>
                  </a:lnTo>
                  <a:lnTo>
                    <a:pt x="114432" y="37210"/>
                  </a:lnTo>
                  <a:lnTo>
                    <a:pt x="114559" y="33654"/>
                  </a:lnTo>
                  <a:lnTo>
                    <a:pt x="111638" y="30860"/>
                  </a:lnTo>
                  <a:close/>
                </a:path>
                <a:path w="479425" h="76200">
                  <a:moveTo>
                    <a:pt x="137038" y="30860"/>
                  </a:moveTo>
                  <a:lnTo>
                    <a:pt x="130053" y="30860"/>
                  </a:lnTo>
                  <a:lnTo>
                    <a:pt x="127259" y="33654"/>
                  </a:lnTo>
                  <a:lnTo>
                    <a:pt x="127255" y="33781"/>
                  </a:lnTo>
                  <a:lnTo>
                    <a:pt x="127132" y="40766"/>
                  </a:lnTo>
                  <a:lnTo>
                    <a:pt x="130053" y="43560"/>
                  </a:lnTo>
                  <a:lnTo>
                    <a:pt x="137038" y="43560"/>
                  </a:lnTo>
                  <a:lnTo>
                    <a:pt x="139832" y="40766"/>
                  </a:lnTo>
                  <a:lnTo>
                    <a:pt x="139959" y="37210"/>
                  </a:lnTo>
                  <a:lnTo>
                    <a:pt x="139959" y="33781"/>
                  </a:lnTo>
                  <a:lnTo>
                    <a:pt x="137038" y="30860"/>
                  </a:lnTo>
                  <a:close/>
                </a:path>
                <a:path w="479425" h="76200">
                  <a:moveTo>
                    <a:pt x="162438" y="30987"/>
                  </a:moveTo>
                  <a:lnTo>
                    <a:pt x="155453" y="30987"/>
                  </a:lnTo>
                  <a:lnTo>
                    <a:pt x="152659" y="33781"/>
                  </a:lnTo>
                  <a:lnTo>
                    <a:pt x="152659" y="37337"/>
                  </a:lnTo>
                  <a:lnTo>
                    <a:pt x="152532" y="40766"/>
                  </a:lnTo>
                  <a:lnTo>
                    <a:pt x="155453" y="43687"/>
                  </a:lnTo>
                  <a:lnTo>
                    <a:pt x="162438" y="43687"/>
                  </a:lnTo>
                  <a:lnTo>
                    <a:pt x="165359" y="40893"/>
                  </a:lnTo>
                  <a:lnTo>
                    <a:pt x="165359" y="33781"/>
                  </a:lnTo>
                  <a:lnTo>
                    <a:pt x="162438" y="30987"/>
                  </a:lnTo>
                  <a:close/>
                </a:path>
                <a:path w="479425" h="76200">
                  <a:moveTo>
                    <a:pt x="187965" y="31114"/>
                  </a:moveTo>
                  <a:lnTo>
                    <a:pt x="180732" y="31114"/>
                  </a:lnTo>
                  <a:lnTo>
                    <a:pt x="178059" y="33908"/>
                  </a:lnTo>
                  <a:lnTo>
                    <a:pt x="178059" y="40893"/>
                  </a:lnTo>
                  <a:lnTo>
                    <a:pt x="180980" y="43814"/>
                  </a:lnTo>
                  <a:lnTo>
                    <a:pt x="187838" y="43814"/>
                  </a:lnTo>
                  <a:lnTo>
                    <a:pt x="190759" y="40893"/>
                  </a:lnTo>
                  <a:lnTo>
                    <a:pt x="190759" y="33908"/>
                  </a:lnTo>
                  <a:lnTo>
                    <a:pt x="187965" y="31114"/>
                  </a:lnTo>
                  <a:close/>
                </a:path>
                <a:path w="479425" h="76200">
                  <a:moveTo>
                    <a:pt x="213365" y="31114"/>
                  </a:moveTo>
                  <a:lnTo>
                    <a:pt x="206253" y="31114"/>
                  </a:lnTo>
                  <a:lnTo>
                    <a:pt x="203459" y="34035"/>
                  </a:lnTo>
                  <a:lnTo>
                    <a:pt x="203459" y="41020"/>
                  </a:lnTo>
                  <a:lnTo>
                    <a:pt x="206253" y="43814"/>
                  </a:lnTo>
                  <a:lnTo>
                    <a:pt x="213238" y="43814"/>
                  </a:lnTo>
                  <a:lnTo>
                    <a:pt x="216159" y="41020"/>
                  </a:lnTo>
                  <a:lnTo>
                    <a:pt x="216159" y="34035"/>
                  </a:lnTo>
                  <a:lnTo>
                    <a:pt x="213365" y="31114"/>
                  </a:lnTo>
                  <a:close/>
                </a:path>
                <a:path w="479425" h="76200">
                  <a:moveTo>
                    <a:pt x="238765" y="31241"/>
                  </a:moveTo>
                  <a:lnTo>
                    <a:pt x="231653" y="31241"/>
                  </a:lnTo>
                  <a:lnTo>
                    <a:pt x="228859" y="34035"/>
                  </a:lnTo>
                  <a:lnTo>
                    <a:pt x="228981" y="41147"/>
                  </a:lnTo>
                  <a:lnTo>
                    <a:pt x="231653" y="43941"/>
                  </a:lnTo>
                  <a:lnTo>
                    <a:pt x="238638" y="43941"/>
                  </a:lnTo>
                  <a:lnTo>
                    <a:pt x="241559" y="41147"/>
                  </a:lnTo>
                  <a:lnTo>
                    <a:pt x="241559" y="34035"/>
                  </a:lnTo>
                  <a:lnTo>
                    <a:pt x="238765" y="31241"/>
                  </a:lnTo>
                  <a:close/>
                </a:path>
                <a:path w="479425" h="76200">
                  <a:moveTo>
                    <a:pt x="260609" y="31241"/>
                  </a:moveTo>
                  <a:lnTo>
                    <a:pt x="257180" y="31241"/>
                  </a:lnTo>
                  <a:lnTo>
                    <a:pt x="254259" y="34162"/>
                  </a:lnTo>
                  <a:lnTo>
                    <a:pt x="254259" y="41147"/>
                  </a:lnTo>
                  <a:lnTo>
                    <a:pt x="257053" y="43941"/>
                  </a:lnTo>
                  <a:lnTo>
                    <a:pt x="260609" y="43941"/>
                  </a:lnTo>
                  <a:lnTo>
                    <a:pt x="264165" y="44068"/>
                  </a:lnTo>
                  <a:lnTo>
                    <a:pt x="266959" y="41147"/>
                  </a:lnTo>
                  <a:lnTo>
                    <a:pt x="266959" y="34162"/>
                  </a:lnTo>
                  <a:lnTo>
                    <a:pt x="264165" y="31368"/>
                  </a:lnTo>
                  <a:lnTo>
                    <a:pt x="260609" y="31241"/>
                  </a:lnTo>
                  <a:close/>
                </a:path>
                <a:path w="479425" h="76200">
                  <a:moveTo>
                    <a:pt x="289565" y="31368"/>
                  </a:moveTo>
                  <a:lnTo>
                    <a:pt x="282580" y="31368"/>
                  </a:lnTo>
                  <a:lnTo>
                    <a:pt x="279527" y="34289"/>
                  </a:lnTo>
                  <a:lnTo>
                    <a:pt x="279659" y="34289"/>
                  </a:lnTo>
                  <a:lnTo>
                    <a:pt x="279659" y="41275"/>
                  </a:lnTo>
                  <a:lnTo>
                    <a:pt x="282453" y="44068"/>
                  </a:lnTo>
                  <a:lnTo>
                    <a:pt x="289565" y="44068"/>
                  </a:lnTo>
                  <a:lnTo>
                    <a:pt x="292359" y="41275"/>
                  </a:lnTo>
                  <a:lnTo>
                    <a:pt x="292359" y="34289"/>
                  </a:lnTo>
                  <a:lnTo>
                    <a:pt x="289565" y="31368"/>
                  </a:lnTo>
                  <a:close/>
                </a:path>
                <a:path w="479425" h="76200">
                  <a:moveTo>
                    <a:pt x="314965" y="31495"/>
                  </a:moveTo>
                  <a:lnTo>
                    <a:pt x="307980" y="31495"/>
                  </a:lnTo>
                  <a:lnTo>
                    <a:pt x="305059" y="34289"/>
                  </a:lnTo>
                  <a:lnTo>
                    <a:pt x="305181" y="41401"/>
                  </a:lnTo>
                  <a:lnTo>
                    <a:pt x="307853" y="44195"/>
                  </a:lnTo>
                  <a:lnTo>
                    <a:pt x="314965" y="44195"/>
                  </a:lnTo>
                  <a:lnTo>
                    <a:pt x="317759" y="41401"/>
                  </a:lnTo>
                  <a:lnTo>
                    <a:pt x="317759" y="34289"/>
                  </a:lnTo>
                  <a:lnTo>
                    <a:pt x="314965" y="31495"/>
                  </a:lnTo>
                  <a:close/>
                </a:path>
                <a:path w="479425" h="76200">
                  <a:moveTo>
                    <a:pt x="340365" y="31495"/>
                  </a:moveTo>
                  <a:lnTo>
                    <a:pt x="333380" y="31495"/>
                  </a:lnTo>
                  <a:lnTo>
                    <a:pt x="330459" y="34416"/>
                  </a:lnTo>
                  <a:lnTo>
                    <a:pt x="330459" y="41401"/>
                  </a:lnTo>
                  <a:lnTo>
                    <a:pt x="333380" y="44195"/>
                  </a:lnTo>
                  <a:lnTo>
                    <a:pt x="340365" y="44195"/>
                  </a:lnTo>
                  <a:lnTo>
                    <a:pt x="343159" y="41401"/>
                  </a:lnTo>
                  <a:lnTo>
                    <a:pt x="343159" y="34416"/>
                  </a:lnTo>
                  <a:lnTo>
                    <a:pt x="340365" y="31495"/>
                  </a:lnTo>
                  <a:close/>
                </a:path>
                <a:path w="479425" h="76200">
                  <a:moveTo>
                    <a:pt x="365765" y="31622"/>
                  </a:moveTo>
                  <a:lnTo>
                    <a:pt x="358780" y="31622"/>
                  </a:lnTo>
                  <a:lnTo>
                    <a:pt x="355859" y="34416"/>
                  </a:lnTo>
                  <a:lnTo>
                    <a:pt x="355986" y="41528"/>
                  </a:lnTo>
                  <a:lnTo>
                    <a:pt x="358780" y="44322"/>
                  </a:lnTo>
                  <a:lnTo>
                    <a:pt x="365765" y="44322"/>
                  </a:lnTo>
                  <a:lnTo>
                    <a:pt x="368559" y="41528"/>
                  </a:lnTo>
                  <a:lnTo>
                    <a:pt x="368686" y="34543"/>
                  </a:lnTo>
                  <a:lnTo>
                    <a:pt x="365765" y="31622"/>
                  </a:lnTo>
                  <a:close/>
                </a:path>
                <a:path w="479425" h="76200">
                  <a:moveTo>
                    <a:pt x="391165" y="31750"/>
                  </a:moveTo>
                  <a:lnTo>
                    <a:pt x="384180" y="31750"/>
                  </a:lnTo>
                  <a:lnTo>
                    <a:pt x="381386" y="34543"/>
                  </a:lnTo>
                  <a:lnTo>
                    <a:pt x="381259" y="41528"/>
                  </a:lnTo>
                  <a:lnTo>
                    <a:pt x="384180" y="44450"/>
                  </a:lnTo>
                  <a:lnTo>
                    <a:pt x="391165" y="44450"/>
                  </a:lnTo>
                  <a:lnTo>
                    <a:pt x="393959" y="41528"/>
                  </a:lnTo>
                  <a:lnTo>
                    <a:pt x="394086" y="34543"/>
                  </a:lnTo>
                  <a:lnTo>
                    <a:pt x="391165" y="31750"/>
                  </a:lnTo>
                  <a:close/>
                </a:path>
                <a:path w="479425" h="76200">
                  <a:moveTo>
                    <a:pt x="402849" y="0"/>
                  </a:moveTo>
                  <a:lnTo>
                    <a:pt x="402743" y="31750"/>
                  </a:lnTo>
                  <a:lnTo>
                    <a:pt x="402721" y="38353"/>
                  </a:lnTo>
                  <a:lnTo>
                    <a:pt x="402595" y="76200"/>
                  </a:lnTo>
                  <a:lnTo>
                    <a:pt x="466628" y="44450"/>
                  </a:lnTo>
                  <a:lnTo>
                    <a:pt x="409580" y="44450"/>
                  </a:lnTo>
                  <a:lnTo>
                    <a:pt x="406659" y="41656"/>
                  </a:lnTo>
                  <a:lnTo>
                    <a:pt x="406786" y="34670"/>
                  </a:lnTo>
                  <a:lnTo>
                    <a:pt x="409580" y="31750"/>
                  </a:lnTo>
                  <a:lnTo>
                    <a:pt x="465824" y="31750"/>
                  </a:lnTo>
                  <a:lnTo>
                    <a:pt x="402849" y="0"/>
                  </a:lnTo>
                  <a:close/>
                </a:path>
                <a:path w="479425" h="76200">
                  <a:moveTo>
                    <a:pt x="416565" y="31750"/>
                  </a:moveTo>
                  <a:lnTo>
                    <a:pt x="409580" y="31750"/>
                  </a:lnTo>
                  <a:lnTo>
                    <a:pt x="406786" y="34670"/>
                  </a:lnTo>
                  <a:lnTo>
                    <a:pt x="406659" y="41656"/>
                  </a:lnTo>
                  <a:lnTo>
                    <a:pt x="409580" y="44450"/>
                  </a:lnTo>
                  <a:lnTo>
                    <a:pt x="416565" y="44450"/>
                  </a:lnTo>
                  <a:lnTo>
                    <a:pt x="419486" y="41656"/>
                  </a:lnTo>
                  <a:lnTo>
                    <a:pt x="419486" y="34670"/>
                  </a:lnTo>
                  <a:lnTo>
                    <a:pt x="416565" y="31750"/>
                  </a:lnTo>
                  <a:close/>
                </a:path>
                <a:path w="479425" h="76200">
                  <a:moveTo>
                    <a:pt x="465824" y="31750"/>
                  </a:moveTo>
                  <a:lnTo>
                    <a:pt x="416565" y="31750"/>
                  </a:lnTo>
                  <a:lnTo>
                    <a:pt x="419486" y="34670"/>
                  </a:lnTo>
                  <a:lnTo>
                    <a:pt x="419486" y="41656"/>
                  </a:lnTo>
                  <a:lnTo>
                    <a:pt x="416565" y="44450"/>
                  </a:lnTo>
                  <a:lnTo>
                    <a:pt x="466628" y="44450"/>
                  </a:lnTo>
                  <a:lnTo>
                    <a:pt x="478922" y="38353"/>
                  </a:lnTo>
                  <a:lnTo>
                    <a:pt x="465824" y="31750"/>
                  </a:lnTo>
                  <a:close/>
                </a:path>
              </a:pathLst>
            </a:custGeom>
            <a:solidFill>
              <a:srgbClr val="34352F"/>
            </a:solidFill>
          </p:spPr>
          <p:txBody>
            <a:bodyPr wrap="square" lIns="0" tIns="0" rIns="0" bIns="0" rtlCol="0"/>
            <a:lstStyle/>
            <a:p/>
          </p:txBody>
        </p:sp>
        <p:sp>
          <p:nvSpPr>
            <p:cNvPr id="25" name="object 25"/>
            <p:cNvSpPr/>
            <p:nvPr/>
          </p:nvSpPr>
          <p:spPr>
            <a:xfrm>
              <a:off x="2593086" y="2017014"/>
              <a:ext cx="0" cy="172720"/>
            </a:xfrm>
            <a:custGeom>
              <a:avLst/>
              <a:gdLst/>
              <a:ahLst/>
              <a:cxnLst/>
              <a:rect l="l" t="t" r="r" b="b"/>
              <a:pathLst>
                <a:path h="172719">
                  <a:moveTo>
                    <a:pt x="0" y="0"/>
                  </a:moveTo>
                  <a:lnTo>
                    <a:pt x="0" y="172212"/>
                  </a:lnTo>
                </a:path>
              </a:pathLst>
            </a:custGeom>
            <a:ln w="38100">
              <a:solidFill>
                <a:srgbClr val="34352F"/>
              </a:solidFill>
            </a:ln>
          </p:spPr>
          <p:txBody>
            <a:bodyPr wrap="square" lIns="0" tIns="0" rIns="0" bIns="0" rtlCol="0"/>
            <a:lstStyle/>
            <a:p/>
          </p:txBody>
        </p:sp>
        <p:sp>
          <p:nvSpPr>
            <p:cNvPr id="26" name="object 26"/>
            <p:cNvSpPr/>
            <p:nvPr/>
          </p:nvSpPr>
          <p:spPr>
            <a:xfrm>
              <a:off x="2592323" y="2150364"/>
              <a:ext cx="0" cy="135890"/>
            </a:xfrm>
            <a:custGeom>
              <a:avLst/>
              <a:gdLst/>
              <a:ahLst/>
              <a:cxnLst/>
              <a:rect l="l" t="t" r="r" b="b"/>
              <a:pathLst>
                <a:path h="135889">
                  <a:moveTo>
                    <a:pt x="0" y="0"/>
                  </a:moveTo>
                  <a:lnTo>
                    <a:pt x="0" y="135636"/>
                  </a:lnTo>
                </a:path>
              </a:pathLst>
            </a:custGeom>
            <a:ln w="9525">
              <a:solidFill>
                <a:srgbClr val="34352F"/>
              </a:solidFill>
            </a:ln>
          </p:spPr>
          <p:txBody>
            <a:bodyPr wrap="square" lIns="0" tIns="0" rIns="0" bIns="0" rtlCol="0"/>
            <a:lstStyle/>
            <a:p/>
          </p:txBody>
        </p:sp>
      </p:grpSp>
      <p:sp>
        <p:nvSpPr>
          <p:cNvPr id="27" name="object 27"/>
          <p:cNvSpPr txBox="1"/>
          <p:nvPr/>
        </p:nvSpPr>
        <p:spPr>
          <a:xfrm>
            <a:off x="2721101" y="1684400"/>
            <a:ext cx="464820" cy="208279"/>
          </a:xfrm>
          <a:prstGeom prst="rect">
            <a:avLst/>
          </a:prstGeom>
        </p:spPr>
        <p:txBody>
          <a:bodyPr vert="horz" wrap="square" lIns="0" tIns="12700" rIns="0" bIns="0" rtlCol="0">
            <a:spAutoFit/>
          </a:bodyPr>
          <a:lstStyle/>
          <a:p>
            <a:pPr marL="12700">
              <a:lnSpc>
                <a:spcPct val="100000"/>
              </a:lnSpc>
              <a:spcBef>
                <a:spcPts val="100"/>
              </a:spcBef>
            </a:pPr>
            <a:r>
              <a:rPr sz="1200" spc="-10" dirty="0">
                <a:solidFill>
                  <a:srgbClr val="34352F"/>
                </a:solidFill>
                <a:latin typeface="Calibri" panose="020F0502020204030204"/>
                <a:cs typeface="Calibri" panose="020F0502020204030204"/>
              </a:rPr>
              <a:t>pd1_sx</a:t>
            </a:r>
            <a:endParaRPr sz="1200">
              <a:latin typeface="Calibri" panose="020F0502020204030204"/>
              <a:cs typeface="Calibri" panose="020F0502020204030204"/>
            </a:endParaRPr>
          </a:p>
        </p:txBody>
      </p:sp>
      <p:sp>
        <p:nvSpPr>
          <p:cNvPr id="28" name="object 28"/>
          <p:cNvSpPr txBox="1"/>
          <p:nvPr/>
        </p:nvSpPr>
        <p:spPr>
          <a:xfrm>
            <a:off x="875538" y="1400428"/>
            <a:ext cx="792480" cy="432434"/>
          </a:xfrm>
          <a:prstGeom prst="rect">
            <a:avLst/>
          </a:prstGeom>
          <a:solidFill>
            <a:srgbClr val="2CB5B2"/>
          </a:solidFill>
        </p:spPr>
        <p:txBody>
          <a:bodyPr vert="horz" wrap="square" lIns="0" tIns="0" rIns="0" bIns="0" rtlCol="0">
            <a:spAutoFit/>
          </a:bodyPr>
          <a:lstStyle/>
          <a:p>
            <a:pPr marL="53975">
              <a:lnSpc>
                <a:spcPts val="1060"/>
              </a:lnSpc>
            </a:pPr>
            <a:r>
              <a:rPr sz="900" b="1" spc="-10" dirty="0">
                <a:solidFill>
                  <a:srgbClr val="FEFEFE"/>
                </a:solidFill>
                <a:latin typeface="Arial" panose="020B0604020202020204"/>
                <a:cs typeface="Arial" panose="020B0604020202020204"/>
              </a:rPr>
              <a:t>u_dhm_core</a:t>
            </a:r>
            <a:endParaRPr sz="900">
              <a:latin typeface="Arial" panose="020B0604020202020204"/>
              <a:cs typeface="Arial" panose="020B0604020202020204"/>
            </a:endParaRPr>
          </a:p>
          <a:p>
            <a:pPr marL="262890" marR="23495" indent="-231775">
              <a:lnSpc>
                <a:spcPct val="100000"/>
              </a:lnSpc>
              <a:spcBef>
                <a:spcPts val="155"/>
              </a:spcBef>
            </a:pPr>
            <a:r>
              <a:rPr sz="900" b="1" dirty="0">
                <a:solidFill>
                  <a:srgbClr val="FEFEFE"/>
                </a:solidFill>
                <a:latin typeface="Arial" panose="020B0604020202020204"/>
                <a:cs typeface="Arial" panose="020B0604020202020204"/>
              </a:rPr>
              <a:t>(1.08V</a:t>
            </a:r>
            <a:r>
              <a:rPr sz="900" b="1" spc="-15" dirty="0">
                <a:solidFill>
                  <a:srgbClr val="FEFEFE"/>
                </a:solidFill>
                <a:latin typeface="Arial" panose="020B0604020202020204"/>
                <a:cs typeface="Arial" panose="020B0604020202020204"/>
              </a:rPr>
              <a:t> </a:t>
            </a:r>
            <a:r>
              <a:rPr sz="900" b="1" dirty="0">
                <a:solidFill>
                  <a:srgbClr val="FEFEFE"/>
                </a:solidFill>
                <a:latin typeface="Arial" panose="020B0604020202020204"/>
                <a:cs typeface="Arial" panose="020B0604020202020204"/>
              </a:rPr>
              <a:t>/</a:t>
            </a:r>
            <a:r>
              <a:rPr sz="900" b="1" spc="-10" dirty="0">
                <a:solidFill>
                  <a:srgbClr val="FEFEFE"/>
                </a:solidFill>
                <a:latin typeface="Arial" panose="020B0604020202020204"/>
                <a:cs typeface="Arial" panose="020B0604020202020204"/>
              </a:rPr>
              <a:t> </a:t>
            </a:r>
            <a:r>
              <a:rPr sz="900" b="1" dirty="0">
                <a:solidFill>
                  <a:srgbClr val="FEFEFE"/>
                </a:solidFill>
                <a:latin typeface="Arial" panose="020B0604020202020204"/>
                <a:cs typeface="Arial" panose="020B0604020202020204"/>
              </a:rPr>
              <a:t>0.7V</a:t>
            </a:r>
            <a:r>
              <a:rPr sz="900" b="1" spc="-15" dirty="0">
                <a:solidFill>
                  <a:srgbClr val="FEFEFE"/>
                </a:solidFill>
                <a:latin typeface="Arial" panose="020B0604020202020204"/>
                <a:cs typeface="Arial" panose="020B0604020202020204"/>
              </a:rPr>
              <a:t> </a:t>
            </a:r>
            <a:r>
              <a:rPr sz="900" b="1" spc="-50" dirty="0">
                <a:solidFill>
                  <a:srgbClr val="FEFEFE"/>
                </a:solidFill>
                <a:latin typeface="Arial" panose="020B0604020202020204"/>
                <a:cs typeface="Arial" panose="020B0604020202020204"/>
              </a:rPr>
              <a:t>/</a:t>
            </a:r>
            <a:r>
              <a:rPr sz="900" b="1" spc="-20" dirty="0">
                <a:solidFill>
                  <a:srgbClr val="FEFEFE"/>
                </a:solidFill>
                <a:latin typeface="Arial" panose="020B0604020202020204"/>
                <a:cs typeface="Arial" panose="020B0604020202020204"/>
              </a:rPr>
              <a:t> OFF)</a:t>
            </a:r>
            <a:endParaRPr sz="900">
              <a:latin typeface="Arial" panose="020B0604020202020204"/>
              <a:cs typeface="Arial" panose="020B0604020202020204"/>
            </a:endParaRPr>
          </a:p>
        </p:txBody>
      </p:sp>
      <p:sp>
        <p:nvSpPr>
          <p:cNvPr id="29" name="object 29"/>
          <p:cNvSpPr txBox="1"/>
          <p:nvPr/>
        </p:nvSpPr>
        <p:spPr>
          <a:xfrm>
            <a:off x="358343" y="756666"/>
            <a:ext cx="688975" cy="295275"/>
          </a:xfrm>
          <a:prstGeom prst="rect">
            <a:avLst/>
          </a:prstGeom>
          <a:solidFill>
            <a:srgbClr val="D37600"/>
          </a:solidFill>
        </p:spPr>
        <p:txBody>
          <a:bodyPr vert="horz" wrap="square" lIns="0" tIns="0" rIns="0" bIns="0" rtlCol="0">
            <a:spAutoFit/>
          </a:bodyPr>
          <a:lstStyle/>
          <a:p>
            <a:pPr marL="100965">
              <a:lnSpc>
                <a:spcPts val="1060"/>
              </a:lnSpc>
            </a:pPr>
            <a:r>
              <a:rPr sz="900" b="1" spc="-10" dirty="0">
                <a:solidFill>
                  <a:srgbClr val="FEFEFE"/>
                </a:solidFill>
                <a:latin typeface="Arial" panose="020B0604020202020204"/>
                <a:cs typeface="Arial" panose="020B0604020202020204"/>
              </a:rPr>
              <a:t>dhm_top</a:t>
            </a:r>
            <a:endParaRPr sz="900">
              <a:latin typeface="Arial" panose="020B0604020202020204"/>
              <a:cs typeface="Arial" panose="020B0604020202020204"/>
            </a:endParaRPr>
          </a:p>
          <a:p>
            <a:pPr marL="155575">
              <a:lnSpc>
                <a:spcPct val="100000"/>
              </a:lnSpc>
              <a:spcBef>
                <a:spcPts val="155"/>
              </a:spcBef>
            </a:pPr>
            <a:r>
              <a:rPr sz="900" b="1" spc="-10" dirty="0">
                <a:solidFill>
                  <a:srgbClr val="FEFEFE"/>
                </a:solidFill>
                <a:latin typeface="Arial" panose="020B0604020202020204"/>
                <a:cs typeface="Arial" panose="020B0604020202020204"/>
              </a:rPr>
              <a:t>(1.08V)</a:t>
            </a:r>
            <a:endParaRPr sz="900">
              <a:latin typeface="Arial" panose="020B0604020202020204"/>
              <a:cs typeface="Arial" panose="020B0604020202020204"/>
            </a:endParaRPr>
          </a:p>
        </p:txBody>
      </p:sp>
      <p:grpSp>
        <p:nvGrpSpPr>
          <p:cNvPr id="30" name="object 30"/>
          <p:cNvGrpSpPr/>
          <p:nvPr/>
        </p:nvGrpSpPr>
        <p:grpSpPr>
          <a:xfrm>
            <a:off x="1368361" y="645985"/>
            <a:ext cx="2526030" cy="2868930"/>
            <a:chOff x="1368361" y="1187005"/>
            <a:chExt cx="2526030" cy="2868930"/>
          </a:xfrm>
        </p:grpSpPr>
        <p:pic>
          <p:nvPicPr>
            <p:cNvPr id="31" name="object 31"/>
            <p:cNvPicPr/>
            <p:nvPr/>
          </p:nvPicPr>
          <p:blipFill>
            <a:blip r:embed="rId5" cstate="print"/>
            <a:stretch>
              <a:fillRect/>
            </a:stretch>
          </p:blipFill>
          <p:spPr>
            <a:xfrm>
              <a:off x="1373124" y="1191767"/>
              <a:ext cx="114300" cy="114300"/>
            </a:xfrm>
            <a:prstGeom prst="rect">
              <a:avLst/>
            </a:prstGeom>
          </p:spPr>
        </p:pic>
        <p:sp>
          <p:nvSpPr>
            <p:cNvPr id="32" name="object 32"/>
            <p:cNvSpPr/>
            <p:nvPr/>
          </p:nvSpPr>
          <p:spPr>
            <a:xfrm>
              <a:off x="1373124" y="1191767"/>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4352F"/>
              </a:solidFill>
            </a:ln>
          </p:spPr>
          <p:txBody>
            <a:bodyPr wrap="square" lIns="0" tIns="0" rIns="0" bIns="0" rtlCol="0"/>
            <a:lstStyle/>
            <a:p/>
          </p:txBody>
        </p:sp>
        <p:pic>
          <p:nvPicPr>
            <p:cNvPr id="33" name="object 33"/>
            <p:cNvPicPr/>
            <p:nvPr/>
          </p:nvPicPr>
          <p:blipFill>
            <a:blip r:embed="rId6" cstate="print"/>
            <a:stretch>
              <a:fillRect/>
            </a:stretch>
          </p:blipFill>
          <p:spPr>
            <a:xfrm>
              <a:off x="2528316" y="1196339"/>
              <a:ext cx="114300" cy="114300"/>
            </a:xfrm>
            <a:prstGeom prst="rect">
              <a:avLst/>
            </a:prstGeom>
          </p:spPr>
        </p:pic>
        <p:sp>
          <p:nvSpPr>
            <p:cNvPr id="34" name="object 34"/>
            <p:cNvSpPr/>
            <p:nvPr/>
          </p:nvSpPr>
          <p:spPr>
            <a:xfrm>
              <a:off x="2528316" y="1196339"/>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4352F"/>
              </a:solidFill>
            </a:ln>
          </p:spPr>
          <p:txBody>
            <a:bodyPr wrap="square" lIns="0" tIns="0" rIns="0" bIns="0" rtlCol="0"/>
            <a:lstStyle/>
            <a:p/>
          </p:txBody>
        </p:sp>
        <p:pic>
          <p:nvPicPr>
            <p:cNvPr id="35" name="object 35"/>
            <p:cNvPicPr/>
            <p:nvPr/>
          </p:nvPicPr>
          <p:blipFill>
            <a:blip r:embed="rId7" cstate="print"/>
            <a:stretch>
              <a:fillRect/>
            </a:stretch>
          </p:blipFill>
          <p:spPr>
            <a:xfrm>
              <a:off x="3311652" y="1208531"/>
              <a:ext cx="114300" cy="114300"/>
            </a:xfrm>
            <a:prstGeom prst="rect">
              <a:avLst/>
            </a:prstGeom>
          </p:spPr>
        </p:pic>
        <p:sp>
          <p:nvSpPr>
            <p:cNvPr id="36" name="object 36"/>
            <p:cNvSpPr/>
            <p:nvPr/>
          </p:nvSpPr>
          <p:spPr>
            <a:xfrm>
              <a:off x="3311652" y="1208531"/>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4352F"/>
              </a:solidFill>
            </a:ln>
          </p:spPr>
          <p:txBody>
            <a:bodyPr wrap="square" lIns="0" tIns="0" rIns="0" bIns="0" rtlCol="0"/>
            <a:lstStyle/>
            <a:p/>
          </p:txBody>
        </p:sp>
        <p:sp>
          <p:nvSpPr>
            <p:cNvPr id="37" name="object 37"/>
            <p:cNvSpPr/>
            <p:nvPr/>
          </p:nvSpPr>
          <p:spPr>
            <a:xfrm>
              <a:off x="2593086" y="1488185"/>
              <a:ext cx="5080" cy="528955"/>
            </a:xfrm>
            <a:custGeom>
              <a:avLst/>
              <a:gdLst/>
              <a:ahLst/>
              <a:cxnLst/>
              <a:rect l="l" t="t" r="r" b="b"/>
              <a:pathLst>
                <a:path w="5080" h="528955">
                  <a:moveTo>
                    <a:pt x="4825" y="0"/>
                  </a:moveTo>
                  <a:lnTo>
                    <a:pt x="0" y="528574"/>
                  </a:lnTo>
                </a:path>
              </a:pathLst>
            </a:custGeom>
            <a:ln w="28575">
              <a:solidFill>
                <a:srgbClr val="34352F"/>
              </a:solidFill>
            </a:ln>
          </p:spPr>
          <p:txBody>
            <a:bodyPr wrap="square" lIns="0" tIns="0" rIns="0" bIns="0" rtlCol="0"/>
            <a:lstStyle/>
            <a:p/>
          </p:txBody>
        </p:sp>
        <p:sp>
          <p:nvSpPr>
            <p:cNvPr id="38" name="object 38"/>
            <p:cNvSpPr/>
            <p:nvPr/>
          </p:nvSpPr>
          <p:spPr>
            <a:xfrm>
              <a:off x="3474719" y="3816095"/>
              <a:ext cx="417830" cy="238125"/>
            </a:xfrm>
            <a:custGeom>
              <a:avLst/>
              <a:gdLst/>
              <a:ahLst/>
              <a:cxnLst/>
              <a:rect l="l" t="t" r="r" b="b"/>
              <a:pathLst>
                <a:path w="417829" h="238125">
                  <a:moveTo>
                    <a:pt x="208787" y="0"/>
                  </a:moveTo>
                  <a:lnTo>
                    <a:pt x="0" y="0"/>
                  </a:lnTo>
                  <a:lnTo>
                    <a:pt x="0" y="237743"/>
                  </a:lnTo>
                  <a:lnTo>
                    <a:pt x="208787" y="237743"/>
                  </a:lnTo>
                  <a:lnTo>
                    <a:pt x="264294" y="233497"/>
                  </a:lnTo>
                  <a:lnTo>
                    <a:pt x="314169" y="221513"/>
                  </a:lnTo>
                  <a:lnTo>
                    <a:pt x="356425" y="202925"/>
                  </a:lnTo>
                  <a:lnTo>
                    <a:pt x="389071" y="178866"/>
                  </a:lnTo>
                  <a:lnTo>
                    <a:pt x="417575" y="118871"/>
                  </a:lnTo>
                  <a:lnTo>
                    <a:pt x="410118" y="87268"/>
                  </a:lnTo>
                  <a:lnTo>
                    <a:pt x="356425" y="34813"/>
                  </a:lnTo>
                  <a:lnTo>
                    <a:pt x="314169" y="16227"/>
                  </a:lnTo>
                  <a:lnTo>
                    <a:pt x="264294" y="4245"/>
                  </a:lnTo>
                  <a:lnTo>
                    <a:pt x="208787" y="0"/>
                  </a:lnTo>
                  <a:close/>
                </a:path>
              </a:pathLst>
            </a:custGeom>
            <a:solidFill>
              <a:srgbClr val="0B0B51"/>
            </a:solidFill>
          </p:spPr>
          <p:txBody>
            <a:bodyPr wrap="square" lIns="0" tIns="0" rIns="0" bIns="0" rtlCol="0"/>
            <a:lstStyle/>
            <a:p/>
          </p:txBody>
        </p:sp>
        <p:sp>
          <p:nvSpPr>
            <p:cNvPr id="39" name="object 39"/>
            <p:cNvSpPr/>
            <p:nvPr/>
          </p:nvSpPr>
          <p:spPr>
            <a:xfrm>
              <a:off x="3474719" y="3816095"/>
              <a:ext cx="417830" cy="238125"/>
            </a:xfrm>
            <a:custGeom>
              <a:avLst/>
              <a:gdLst/>
              <a:ahLst/>
              <a:cxnLst/>
              <a:rect l="l" t="t" r="r" b="b"/>
              <a:pathLst>
                <a:path w="417829" h="238125">
                  <a:moveTo>
                    <a:pt x="0" y="0"/>
                  </a:moveTo>
                  <a:lnTo>
                    <a:pt x="208787" y="0"/>
                  </a:lnTo>
                  <a:lnTo>
                    <a:pt x="264294" y="4245"/>
                  </a:lnTo>
                  <a:lnTo>
                    <a:pt x="314169" y="16227"/>
                  </a:lnTo>
                  <a:lnTo>
                    <a:pt x="356425" y="34813"/>
                  </a:lnTo>
                  <a:lnTo>
                    <a:pt x="389071" y="58871"/>
                  </a:lnTo>
                  <a:lnTo>
                    <a:pt x="417575" y="118871"/>
                  </a:lnTo>
                  <a:lnTo>
                    <a:pt x="410118" y="150471"/>
                  </a:lnTo>
                  <a:lnTo>
                    <a:pt x="356425" y="202925"/>
                  </a:lnTo>
                  <a:lnTo>
                    <a:pt x="314169" y="221513"/>
                  </a:lnTo>
                  <a:lnTo>
                    <a:pt x="264294" y="233497"/>
                  </a:lnTo>
                  <a:lnTo>
                    <a:pt x="208787" y="237743"/>
                  </a:lnTo>
                  <a:lnTo>
                    <a:pt x="0" y="237743"/>
                  </a:lnTo>
                  <a:lnTo>
                    <a:pt x="0" y="0"/>
                  </a:lnTo>
                  <a:close/>
                </a:path>
              </a:pathLst>
            </a:custGeom>
            <a:ln w="3175">
              <a:solidFill>
                <a:srgbClr val="34352F"/>
              </a:solidFill>
            </a:ln>
          </p:spPr>
          <p:txBody>
            <a:bodyPr wrap="square" lIns="0" tIns="0" rIns="0" bIns="0" rtlCol="0"/>
            <a:lstStyle/>
            <a:p/>
          </p:txBody>
        </p:sp>
      </p:grpSp>
      <p:sp>
        <p:nvSpPr>
          <p:cNvPr id="40" name="object 40"/>
          <p:cNvSpPr txBox="1"/>
          <p:nvPr/>
        </p:nvSpPr>
        <p:spPr>
          <a:xfrm>
            <a:off x="393903" y="4039615"/>
            <a:ext cx="33147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34352F"/>
                </a:solidFill>
                <a:latin typeface="Calibri" panose="020F0502020204030204"/>
                <a:cs typeface="Calibri" panose="020F0502020204030204"/>
              </a:rPr>
              <a:t>pd_iso</a:t>
            </a:r>
            <a:endParaRPr sz="900">
              <a:latin typeface="Calibri" panose="020F0502020204030204"/>
              <a:cs typeface="Calibri" panose="020F0502020204030204"/>
            </a:endParaRPr>
          </a:p>
        </p:txBody>
      </p:sp>
      <p:sp>
        <p:nvSpPr>
          <p:cNvPr id="41" name="object 41"/>
          <p:cNvSpPr/>
          <p:nvPr/>
        </p:nvSpPr>
        <p:spPr>
          <a:xfrm>
            <a:off x="355091" y="3518915"/>
            <a:ext cx="3319779" cy="668655"/>
          </a:xfrm>
          <a:custGeom>
            <a:avLst/>
            <a:gdLst/>
            <a:ahLst/>
            <a:cxnLst/>
            <a:rect l="l" t="t" r="r" b="b"/>
            <a:pathLst>
              <a:path w="3319779" h="668654">
                <a:moveTo>
                  <a:pt x="3275076" y="655701"/>
                </a:moveTo>
                <a:lnTo>
                  <a:pt x="0" y="655701"/>
                </a:lnTo>
                <a:lnTo>
                  <a:pt x="0" y="668401"/>
                </a:lnTo>
                <a:lnTo>
                  <a:pt x="3287776" y="668401"/>
                </a:lnTo>
                <a:lnTo>
                  <a:pt x="3287776" y="662051"/>
                </a:lnTo>
                <a:lnTo>
                  <a:pt x="3275076" y="662051"/>
                </a:lnTo>
                <a:lnTo>
                  <a:pt x="3275076" y="655701"/>
                </a:lnTo>
                <a:close/>
              </a:path>
              <a:path w="3319779" h="668654">
                <a:moveTo>
                  <a:pt x="3287776" y="63500"/>
                </a:moveTo>
                <a:lnTo>
                  <a:pt x="3275076" y="63500"/>
                </a:lnTo>
                <a:lnTo>
                  <a:pt x="3275076" y="662051"/>
                </a:lnTo>
                <a:lnTo>
                  <a:pt x="3281426" y="655701"/>
                </a:lnTo>
                <a:lnTo>
                  <a:pt x="3287776" y="655701"/>
                </a:lnTo>
                <a:lnTo>
                  <a:pt x="3287776" y="63500"/>
                </a:lnTo>
                <a:close/>
              </a:path>
              <a:path w="3319779" h="668654">
                <a:moveTo>
                  <a:pt x="3287776" y="655701"/>
                </a:moveTo>
                <a:lnTo>
                  <a:pt x="3281426" y="655701"/>
                </a:lnTo>
                <a:lnTo>
                  <a:pt x="3275076" y="662051"/>
                </a:lnTo>
                <a:lnTo>
                  <a:pt x="3287776" y="662051"/>
                </a:lnTo>
                <a:lnTo>
                  <a:pt x="3287776" y="655701"/>
                </a:lnTo>
                <a:close/>
              </a:path>
              <a:path w="3319779" h="668654">
                <a:moveTo>
                  <a:pt x="3281426" y="0"/>
                </a:moveTo>
                <a:lnTo>
                  <a:pt x="3243325" y="76200"/>
                </a:lnTo>
                <a:lnTo>
                  <a:pt x="3275076" y="76200"/>
                </a:lnTo>
                <a:lnTo>
                  <a:pt x="3275076" y="63500"/>
                </a:lnTo>
                <a:lnTo>
                  <a:pt x="3313176" y="63500"/>
                </a:lnTo>
                <a:lnTo>
                  <a:pt x="3281426" y="0"/>
                </a:lnTo>
                <a:close/>
              </a:path>
              <a:path w="3319779" h="668654">
                <a:moveTo>
                  <a:pt x="3313176" y="63500"/>
                </a:moveTo>
                <a:lnTo>
                  <a:pt x="3287776" y="63500"/>
                </a:lnTo>
                <a:lnTo>
                  <a:pt x="3287776" y="76200"/>
                </a:lnTo>
                <a:lnTo>
                  <a:pt x="3319526" y="76200"/>
                </a:lnTo>
                <a:lnTo>
                  <a:pt x="3313176" y="63500"/>
                </a:lnTo>
                <a:close/>
              </a:path>
            </a:pathLst>
          </a:custGeom>
          <a:solidFill>
            <a:srgbClr val="34352F"/>
          </a:solidFill>
        </p:spPr>
        <p:txBody>
          <a:bodyPr wrap="square" lIns="0" tIns="0" rIns="0" bIns="0" rtlCol="0"/>
          <a:lstStyle/>
          <a:p/>
        </p:txBody>
      </p:sp>
      <p:grpSp>
        <p:nvGrpSpPr>
          <p:cNvPr id="42" name="object 42"/>
          <p:cNvGrpSpPr/>
          <p:nvPr/>
        </p:nvGrpSpPr>
        <p:grpSpPr>
          <a:xfrm>
            <a:off x="257365" y="4146613"/>
            <a:ext cx="102870" cy="67945"/>
            <a:chOff x="257365" y="4687633"/>
            <a:chExt cx="102870" cy="67945"/>
          </a:xfrm>
        </p:grpSpPr>
        <p:sp>
          <p:nvSpPr>
            <p:cNvPr id="43" name="object 43"/>
            <p:cNvSpPr/>
            <p:nvPr/>
          </p:nvSpPr>
          <p:spPr>
            <a:xfrm>
              <a:off x="262127" y="4692396"/>
              <a:ext cx="93345" cy="58419"/>
            </a:xfrm>
            <a:custGeom>
              <a:avLst/>
              <a:gdLst/>
              <a:ahLst/>
              <a:cxnLst/>
              <a:rect l="l" t="t" r="r" b="b"/>
              <a:pathLst>
                <a:path w="93345" h="58420">
                  <a:moveTo>
                    <a:pt x="92964" y="0"/>
                  </a:moveTo>
                  <a:lnTo>
                    <a:pt x="0" y="0"/>
                  </a:lnTo>
                  <a:lnTo>
                    <a:pt x="0" y="57911"/>
                  </a:lnTo>
                  <a:lnTo>
                    <a:pt x="92964" y="57911"/>
                  </a:lnTo>
                  <a:lnTo>
                    <a:pt x="92964" y="0"/>
                  </a:lnTo>
                  <a:close/>
                </a:path>
              </a:pathLst>
            </a:custGeom>
            <a:solidFill>
              <a:srgbClr val="FEFEFE"/>
            </a:solidFill>
          </p:spPr>
          <p:txBody>
            <a:bodyPr wrap="square" lIns="0" tIns="0" rIns="0" bIns="0" rtlCol="0"/>
            <a:lstStyle/>
            <a:p/>
          </p:txBody>
        </p:sp>
        <p:sp>
          <p:nvSpPr>
            <p:cNvPr id="44" name="object 44"/>
            <p:cNvSpPr/>
            <p:nvPr/>
          </p:nvSpPr>
          <p:spPr>
            <a:xfrm>
              <a:off x="262127" y="4692396"/>
              <a:ext cx="93345" cy="58419"/>
            </a:xfrm>
            <a:custGeom>
              <a:avLst/>
              <a:gdLst/>
              <a:ahLst/>
              <a:cxnLst/>
              <a:rect l="l" t="t" r="r" b="b"/>
              <a:pathLst>
                <a:path w="93345" h="58420">
                  <a:moveTo>
                    <a:pt x="0" y="57911"/>
                  </a:moveTo>
                  <a:lnTo>
                    <a:pt x="92964" y="57911"/>
                  </a:lnTo>
                  <a:lnTo>
                    <a:pt x="92964" y="0"/>
                  </a:lnTo>
                  <a:lnTo>
                    <a:pt x="0" y="0"/>
                  </a:lnTo>
                  <a:lnTo>
                    <a:pt x="0" y="57911"/>
                  </a:lnTo>
                  <a:close/>
                </a:path>
              </a:pathLst>
            </a:custGeom>
            <a:ln w="9524">
              <a:solidFill>
                <a:srgbClr val="34352F"/>
              </a:solidFill>
            </a:ln>
          </p:spPr>
          <p:txBody>
            <a:bodyPr wrap="square" lIns="0" tIns="0" rIns="0" bIns="0" rtlCol="0"/>
            <a:lstStyle/>
            <a:p/>
          </p:txBody>
        </p:sp>
      </p:grpSp>
      <p:sp>
        <p:nvSpPr>
          <p:cNvPr id="45" name="object 45"/>
          <p:cNvSpPr txBox="1"/>
          <p:nvPr/>
        </p:nvSpPr>
        <p:spPr>
          <a:xfrm>
            <a:off x="1739264" y="3667455"/>
            <a:ext cx="26797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34352F"/>
                </a:solidFill>
                <a:latin typeface="Calibri" panose="020F0502020204030204"/>
                <a:cs typeface="Calibri" panose="020F0502020204030204"/>
              </a:rPr>
              <a:t>sleep</a:t>
            </a:r>
            <a:endParaRPr sz="900">
              <a:latin typeface="Calibri" panose="020F0502020204030204"/>
              <a:cs typeface="Calibri" panose="020F0502020204030204"/>
            </a:endParaRPr>
          </a:p>
        </p:txBody>
      </p:sp>
      <p:grpSp>
        <p:nvGrpSpPr>
          <p:cNvPr id="46" name="object 46"/>
          <p:cNvGrpSpPr/>
          <p:nvPr/>
        </p:nvGrpSpPr>
        <p:grpSpPr>
          <a:xfrm>
            <a:off x="847344" y="1778507"/>
            <a:ext cx="2636520" cy="2278380"/>
            <a:chOff x="847344" y="2319527"/>
            <a:chExt cx="2636520" cy="2278380"/>
          </a:xfrm>
        </p:grpSpPr>
        <p:sp>
          <p:nvSpPr>
            <p:cNvPr id="47" name="object 47"/>
            <p:cNvSpPr/>
            <p:nvPr/>
          </p:nvSpPr>
          <p:spPr>
            <a:xfrm>
              <a:off x="1680718" y="2319527"/>
              <a:ext cx="393065" cy="2018030"/>
            </a:xfrm>
            <a:custGeom>
              <a:avLst/>
              <a:gdLst/>
              <a:ahLst/>
              <a:cxnLst/>
              <a:rect l="l" t="t" r="r" b="b"/>
              <a:pathLst>
                <a:path w="393064" h="2018029">
                  <a:moveTo>
                    <a:pt x="348361" y="375920"/>
                  </a:moveTo>
                  <a:lnTo>
                    <a:pt x="0" y="375920"/>
                  </a:lnTo>
                  <a:lnTo>
                    <a:pt x="0" y="2017903"/>
                  </a:lnTo>
                  <a:lnTo>
                    <a:pt x="12700" y="2017903"/>
                  </a:lnTo>
                  <a:lnTo>
                    <a:pt x="12700" y="388620"/>
                  </a:lnTo>
                  <a:lnTo>
                    <a:pt x="6350" y="388620"/>
                  </a:lnTo>
                  <a:lnTo>
                    <a:pt x="12700" y="382270"/>
                  </a:lnTo>
                  <a:lnTo>
                    <a:pt x="348361" y="382270"/>
                  </a:lnTo>
                  <a:lnTo>
                    <a:pt x="348361" y="375920"/>
                  </a:lnTo>
                  <a:close/>
                </a:path>
                <a:path w="393064" h="2018029">
                  <a:moveTo>
                    <a:pt x="12700" y="382270"/>
                  </a:moveTo>
                  <a:lnTo>
                    <a:pt x="6350" y="388620"/>
                  </a:lnTo>
                  <a:lnTo>
                    <a:pt x="12700" y="388620"/>
                  </a:lnTo>
                  <a:lnTo>
                    <a:pt x="12700" y="382270"/>
                  </a:lnTo>
                  <a:close/>
                </a:path>
                <a:path w="393064" h="2018029">
                  <a:moveTo>
                    <a:pt x="361061" y="375920"/>
                  </a:moveTo>
                  <a:lnTo>
                    <a:pt x="354711" y="375920"/>
                  </a:lnTo>
                  <a:lnTo>
                    <a:pt x="348361" y="382270"/>
                  </a:lnTo>
                  <a:lnTo>
                    <a:pt x="12700" y="382270"/>
                  </a:lnTo>
                  <a:lnTo>
                    <a:pt x="12700" y="388620"/>
                  </a:lnTo>
                  <a:lnTo>
                    <a:pt x="361061" y="388620"/>
                  </a:lnTo>
                  <a:lnTo>
                    <a:pt x="361061" y="375920"/>
                  </a:lnTo>
                  <a:close/>
                </a:path>
                <a:path w="393064" h="2018029">
                  <a:moveTo>
                    <a:pt x="361061" y="63500"/>
                  </a:moveTo>
                  <a:lnTo>
                    <a:pt x="348361" y="63500"/>
                  </a:lnTo>
                  <a:lnTo>
                    <a:pt x="348361" y="382270"/>
                  </a:lnTo>
                  <a:lnTo>
                    <a:pt x="354711" y="375920"/>
                  </a:lnTo>
                  <a:lnTo>
                    <a:pt x="361061" y="375920"/>
                  </a:lnTo>
                  <a:lnTo>
                    <a:pt x="361061" y="63500"/>
                  </a:lnTo>
                  <a:close/>
                </a:path>
                <a:path w="393064" h="2018029">
                  <a:moveTo>
                    <a:pt x="354711" y="0"/>
                  </a:moveTo>
                  <a:lnTo>
                    <a:pt x="316611" y="76200"/>
                  </a:lnTo>
                  <a:lnTo>
                    <a:pt x="348361" y="76200"/>
                  </a:lnTo>
                  <a:lnTo>
                    <a:pt x="348361" y="63500"/>
                  </a:lnTo>
                  <a:lnTo>
                    <a:pt x="386461" y="63500"/>
                  </a:lnTo>
                  <a:lnTo>
                    <a:pt x="354711" y="0"/>
                  </a:lnTo>
                  <a:close/>
                </a:path>
                <a:path w="393064" h="2018029">
                  <a:moveTo>
                    <a:pt x="386461" y="63500"/>
                  </a:moveTo>
                  <a:lnTo>
                    <a:pt x="361061" y="63500"/>
                  </a:lnTo>
                  <a:lnTo>
                    <a:pt x="361061" y="76200"/>
                  </a:lnTo>
                  <a:lnTo>
                    <a:pt x="392811" y="76200"/>
                  </a:lnTo>
                  <a:lnTo>
                    <a:pt x="386461" y="63500"/>
                  </a:lnTo>
                  <a:close/>
                </a:path>
              </a:pathLst>
            </a:custGeom>
            <a:solidFill>
              <a:srgbClr val="34352F"/>
            </a:solidFill>
          </p:spPr>
          <p:txBody>
            <a:bodyPr wrap="square" lIns="0" tIns="0" rIns="0" bIns="0" rtlCol="0"/>
            <a:lstStyle/>
            <a:p/>
          </p:txBody>
        </p:sp>
        <p:sp>
          <p:nvSpPr>
            <p:cNvPr id="48" name="object 48"/>
            <p:cNvSpPr/>
            <p:nvPr/>
          </p:nvSpPr>
          <p:spPr>
            <a:xfrm>
              <a:off x="847344" y="4349495"/>
              <a:ext cx="2636520" cy="248920"/>
            </a:xfrm>
            <a:custGeom>
              <a:avLst/>
              <a:gdLst/>
              <a:ahLst/>
              <a:cxnLst/>
              <a:rect l="l" t="t" r="r" b="b"/>
              <a:pathLst>
                <a:path w="2636520" h="248920">
                  <a:moveTo>
                    <a:pt x="2636520" y="0"/>
                  </a:moveTo>
                  <a:lnTo>
                    <a:pt x="0" y="0"/>
                  </a:lnTo>
                  <a:lnTo>
                    <a:pt x="0" y="248411"/>
                  </a:lnTo>
                  <a:lnTo>
                    <a:pt x="2636520" y="248411"/>
                  </a:lnTo>
                  <a:lnTo>
                    <a:pt x="2636520" y="0"/>
                  </a:lnTo>
                  <a:close/>
                </a:path>
              </a:pathLst>
            </a:custGeom>
            <a:solidFill>
              <a:srgbClr val="EF8600"/>
            </a:solidFill>
          </p:spPr>
          <p:txBody>
            <a:bodyPr wrap="square" lIns="0" tIns="0" rIns="0" bIns="0" rtlCol="0"/>
            <a:lstStyle/>
            <a:p/>
          </p:txBody>
        </p:sp>
      </p:grpSp>
      <p:sp>
        <p:nvSpPr>
          <p:cNvPr id="49" name="object 49"/>
          <p:cNvSpPr txBox="1"/>
          <p:nvPr/>
        </p:nvSpPr>
        <p:spPr>
          <a:xfrm>
            <a:off x="847344" y="3808476"/>
            <a:ext cx="2636520" cy="248920"/>
          </a:xfrm>
          <a:prstGeom prst="rect">
            <a:avLst/>
          </a:prstGeom>
          <a:ln w="3175">
            <a:solidFill>
              <a:srgbClr val="B76600"/>
            </a:solidFill>
          </a:ln>
        </p:spPr>
        <p:txBody>
          <a:bodyPr vert="horz" wrap="square" lIns="0" tIns="29845" rIns="0" bIns="0" rtlCol="0">
            <a:spAutoFit/>
          </a:bodyPr>
          <a:lstStyle/>
          <a:p>
            <a:pPr marL="90805">
              <a:lnSpc>
                <a:spcPct val="100000"/>
              </a:lnSpc>
              <a:spcBef>
                <a:spcPts val="235"/>
              </a:spcBef>
            </a:pPr>
            <a:r>
              <a:rPr sz="900" spc="-10" dirty="0">
                <a:solidFill>
                  <a:srgbClr val="34352F"/>
                </a:solidFill>
                <a:latin typeface="Calibri" panose="020F0502020204030204"/>
                <a:cs typeface="Calibri" panose="020F0502020204030204"/>
              </a:rPr>
              <a:t>u_dhm_sleep_logic</a:t>
            </a:r>
            <a:endParaRPr sz="900">
              <a:latin typeface="Calibri" panose="020F0502020204030204"/>
              <a:cs typeface="Calibri" panose="020F0502020204030204"/>
            </a:endParaRPr>
          </a:p>
        </p:txBody>
      </p:sp>
      <p:grpSp>
        <p:nvGrpSpPr>
          <p:cNvPr id="50" name="object 50"/>
          <p:cNvGrpSpPr/>
          <p:nvPr/>
        </p:nvGrpSpPr>
        <p:grpSpPr>
          <a:xfrm>
            <a:off x="1641157" y="932878"/>
            <a:ext cx="2284730" cy="2914015"/>
            <a:chOff x="1641157" y="1473898"/>
            <a:chExt cx="2284730" cy="2914015"/>
          </a:xfrm>
        </p:grpSpPr>
        <p:sp>
          <p:nvSpPr>
            <p:cNvPr id="51" name="object 51"/>
            <p:cNvSpPr/>
            <p:nvPr/>
          </p:nvSpPr>
          <p:spPr>
            <a:xfrm>
              <a:off x="1645920" y="4325112"/>
              <a:ext cx="91440" cy="58419"/>
            </a:xfrm>
            <a:custGeom>
              <a:avLst/>
              <a:gdLst/>
              <a:ahLst/>
              <a:cxnLst/>
              <a:rect l="l" t="t" r="r" b="b"/>
              <a:pathLst>
                <a:path w="91439" h="58420">
                  <a:moveTo>
                    <a:pt x="0" y="57911"/>
                  </a:moveTo>
                  <a:lnTo>
                    <a:pt x="91439" y="57911"/>
                  </a:lnTo>
                  <a:lnTo>
                    <a:pt x="91439" y="0"/>
                  </a:lnTo>
                  <a:lnTo>
                    <a:pt x="0" y="0"/>
                  </a:lnTo>
                  <a:lnTo>
                    <a:pt x="0" y="57911"/>
                  </a:lnTo>
                  <a:close/>
                </a:path>
              </a:pathLst>
            </a:custGeom>
            <a:ln w="9525">
              <a:solidFill>
                <a:srgbClr val="34352F"/>
              </a:solidFill>
            </a:ln>
          </p:spPr>
          <p:txBody>
            <a:bodyPr wrap="square" lIns="0" tIns="0" rIns="0" bIns="0" rtlCol="0"/>
            <a:lstStyle/>
            <a:p/>
          </p:txBody>
        </p:sp>
        <p:sp>
          <p:nvSpPr>
            <p:cNvPr id="52" name="object 52"/>
            <p:cNvSpPr/>
            <p:nvPr/>
          </p:nvSpPr>
          <p:spPr>
            <a:xfrm>
              <a:off x="3364230" y="1488186"/>
              <a:ext cx="5080" cy="528955"/>
            </a:xfrm>
            <a:custGeom>
              <a:avLst/>
              <a:gdLst/>
              <a:ahLst/>
              <a:cxnLst/>
              <a:rect l="l" t="t" r="r" b="b"/>
              <a:pathLst>
                <a:path w="5079" h="528955">
                  <a:moveTo>
                    <a:pt x="4825" y="0"/>
                  </a:moveTo>
                  <a:lnTo>
                    <a:pt x="0" y="528574"/>
                  </a:lnTo>
                </a:path>
              </a:pathLst>
            </a:custGeom>
            <a:ln w="28575">
              <a:solidFill>
                <a:srgbClr val="34352F"/>
              </a:solidFill>
            </a:ln>
          </p:spPr>
          <p:txBody>
            <a:bodyPr wrap="square" lIns="0" tIns="0" rIns="0" bIns="0" rtlCol="0"/>
            <a:lstStyle/>
            <a:p/>
          </p:txBody>
        </p:sp>
        <p:sp>
          <p:nvSpPr>
            <p:cNvPr id="53" name="object 53"/>
            <p:cNvSpPr/>
            <p:nvPr/>
          </p:nvSpPr>
          <p:spPr>
            <a:xfrm>
              <a:off x="3471672" y="3808475"/>
              <a:ext cx="452755" cy="251460"/>
            </a:xfrm>
            <a:custGeom>
              <a:avLst/>
              <a:gdLst/>
              <a:ahLst/>
              <a:cxnLst/>
              <a:rect l="l" t="t" r="r" b="b"/>
              <a:pathLst>
                <a:path w="452754" h="251460">
                  <a:moveTo>
                    <a:pt x="326898" y="0"/>
                  </a:moveTo>
                  <a:lnTo>
                    <a:pt x="0" y="0"/>
                  </a:lnTo>
                  <a:lnTo>
                    <a:pt x="0" y="251460"/>
                  </a:lnTo>
                  <a:lnTo>
                    <a:pt x="326898" y="251460"/>
                  </a:lnTo>
                  <a:lnTo>
                    <a:pt x="452627" y="125730"/>
                  </a:lnTo>
                  <a:lnTo>
                    <a:pt x="326898" y="0"/>
                  </a:lnTo>
                  <a:close/>
                </a:path>
              </a:pathLst>
            </a:custGeom>
            <a:solidFill>
              <a:srgbClr val="006FBF"/>
            </a:solidFill>
          </p:spPr>
          <p:txBody>
            <a:bodyPr wrap="square" lIns="0" tIns="0" rIns="0" bIns="0" rtlCol="0"/>
            <a:lstStyle/>
            <a:p/>
          </p:txBody>
        </p:sp>
        <p:sp>
          <p:nvSpPr>
            <p:cNvPr id="54" name="object 54"/>
            <p:cNvSpPr/>
            <p:nvPr/>
          </p:nvSpPr>
          <p:spPr>
            <a:xfrm>
              <a:off x="3471672" y="3808475"/>
              <a:ext cx="452755" cy="251460"/>
            </a:xfrm>
            <a:custGeom>
              <a:avLst/>
              <a:gdLst/>
              <a:ahLst/>
              <a:cxnLst/>
              <a:rect l="l" t="t" r="r" b="b"/>
              <a:pathLst>
                <a:path w="452754" h="251460">
                  <a:moveTo>
                    <a:pt x="0" y="0"/>
                  </a:moveTo>
                  <a:lnTo>
                    <a:pt x="326898" y="0"/>
                  </a:lnTo>
                  <a:lnTo>
                    <a:pt x="452627" y="125730"/>
                  </a:lnTo>
                  <a:lnTo>
                    <a:pt x="326898" y="251460"/>
                  </a:lnTo>
                  <a:lnTo>
                    <a:pt x="0" y="251460"/>
                  </a:lnTo>
                  <a:lnTo>
                    <a:pt x="0" y="0"/>
                  </a:lnTo>
                  <a:close/>
                </a:path>
              </a:pathLst>
            </a:custGeom>
            <a:ln w="3175">
              <a:solidFill>
                <a:srgbClr val="34352F"/>
              </a:solidFill>
            </a:ln>
          </p:spPr>
          <p:txBody>
            <a:bodyPr wrap="square" lIns="0" tIns="0" rIns="0" bIns="0" rtlCol="0"/>
            <a:lstStyle/>
            <a:p/>
          </p:txBody>
        </p:sp>
      </p:grpSp>
      <p:sp>
        <p:nvSpPr>
          <p:cNvPr id="55" name="object 55"/>
          <p:cNvSpPr txBox="1"/>
          <p:nvPr/>
        </p:nvSpPr>
        <p:spPr>
          <a:xfrm>
            <a:off x="3518408" y="3314496"/>
            <a:ext cx="299085" cy="133985"/>
          </a:xfrm>
          <a:prstGeom prst="rect">
            <a:avLst/>
          </a:prstGeom>
        </p:spPr>
        <p:txBody>
          <a:bodyPr vert="horz" wrap="square" lIns="0" tIns="11430" rIns="0" bIns="0" rtlCol="0">
            <a:spAutoFit/>
          </a:bodyPr>
          <a:lstStyle/>
          <a:p>
            <a:pPr marL="12700">
              <a:lnSpc>
                <a:spcPct val="100000"/>
              </a:lnSpc>
              <a:spcBef>
                <a:spcPts val="90"/>
              </a:spcBef>
            </a:pPr>
            <a:r>
              <a:rPr lang="en-US" sz="800">
                <a:latin typeface="Calibri" panose="020F0502020204030204"/>
                <a:cs typeface="Calibri" panose="020F0502020204030204"/>
              </a:rPr>
              <a:t>ELS-LH</a:t>
            </a:r>
            <a:endParaRPr lang="en-US" sz="800">
              <a:latin typeface="Calibri" panose="020F0502020204030204"/>
              <a:cs typeface="Calibri" panose="020F0502020204030204"/>
            </a:endParaRPr>
          </a:p>
        </p:txBody>
      </p:sp>
      <p:sp>
        <p:nvSpPr>
          <p:cNvPr id="61" name="object 61"/>
          <p:cNvSpPr txBox="1"/>
          <p:nvPr/>
        </p:nvSpPr>
        <p:spPr>
          <a:xfrm>
            <a:off x="4524247" y="709676"/>
            <a:ext cx="3465829" cy="2220595"/>
          </a:xfrm>
          <a:prstGeom prst="rect">
            <a:avLst/>
          </a:prstGeom>
        </p:spPr>
        <p:txBody>
          <a:bodyPr vert="horz" wrap="square" lIns="0" tIns="12700" rIns="0" bIns="0" rtlCol="0">
            <a:spAutoFit/>
          </a:bodyPr>
          <a:lstStyle/>
          <a:p>
            <a:pPr marL="12700">
              <a:lnSpc>
                <a:spcPct val="100000"/>
              </a:lnSpc>
              <a:spcBef>
                <a:spcPts val="100"/>
              </a:spcBef>
            </a:pPr>
            <a:r>
              <a:rPr sz="1800" i="1" dirty="0">
                <a:solidFill>
                  <a:srgbClr val="0000FE"/>
                </a:solidFill>
                <a:latin typeface="Calibri" panose="020F0502020204030204"/>
                <a:cs typeface="Calibri" panose="020F0502020204030204"/>
              </a:rPr>
              <a:t>set_isolation</a:t>
            </a:r>
            <a:r>
              <a:rPr sz="1800" i="1" spc="-80" dirty="0">
                <a:solidFill>
                  <a:srgbClr val="0000FE"/>
                </a:solidFill>
                <a:latin typeface="Calibri" panose="020F0502020204030204"/>
                <a:cs typeface="Calibri" panose="020F0502020204030204"/>
              </a:rPr>
              <a:t> </a:t>
            </a:r>
            <a:r>
              <a:rPr sz="1800" i="1" spc="-10" dirty="0">
                <a:solidFill>
                  <a:srgbClr val="0000FE"/>
                </a:solidFill>
                <a:latin typeface="Calibri" panose="020F0502020204030204"/>
                <a:cs typeface="Calibri" panose="020F0502020204030204"/>
              </a:rPr>
              <a:t>pd1_iso</a:t>
            </a:r>
            <a:endParaRPr sz="1800">
              <a:latin typeface="Calibri" panose="020F0502020204030204"/>
              <a:cs typeface="Calibri" panose="020F0502020204030204"/>
            </a:endParaRPr>
          </a:p>
          <a:p>
            <a:pPr marL="12700">
              <a:lnSpc>
                <a:spcPct val="100000"/>
              </a:lnSpc>
            </a:pPr>
            <a:r>
              <a:rPr sz="1800" i="1" dirty="0">
                <a:solidFill>
                  <a:srgbClr val="FD9A1D"/>
                </a:solidFill>
                <a:latin typeface="Calibri" panose="020F0502020204030204"/>
                <a:cs typeface="Calibri" panose="020F0502020204030204"/>
              </a:rPr>
              <a:t>-domain</a:t>
            </a:r>
            <a:r>
              <a:rPr sz="1800" i="1" spc="-80" dirty="0">
                <a:solidFill>
                  <a:srgbClr val="FD9A1D"/>
                </a:solidFill>
                <a:latin typeface="Calibri" panose="020F0502020204030204"/>
                <a:cs typeface="Calibri" panose="020F0502020204030204"/>
              </a:rPr>
              <a:t> </a:t>
            </a:r>
            <a:r>
              <a:rPr sz="1800" i="1" spc="-25" dirty="0">
                <a:solidFill>
                  <a:srgbClr val="FD9A1D"/>
                </a:solidFill>
                <a:latin typeface="Calibri" panose="020F0502020204030204"/>
                <a:cs typeface="Calibri" panose="020F0502020204030204"/>
              </a:rPr>
              <a:t>pd1</a:t>
            </a:r>
            <a:endParaRPr sz="1800">
              <a:latin typeface="Calibri" panose="020F0502020204030204"/>
              <a:cs typeface="Calibri" panose="020F0502020204030204"/>
            </a:endParaRPr>
          </a:p>
          <a:p>
            <a:pPr marL="12700">
              <a:lnSpc>
                <a:spcPct val="100000"/>
              </a:lnSpc>
            </a:pPr>
            <a:r>
              <a:rPr sz="1800" i="1" dirty="0">
                <a:solidFill>
                  <a:srgbClr val="FD9A1D"/>
                </a:solidFill>
                <a:latin typeface="Calibri" panose="020F0502020204030204"/>
                <a:cs typeface="Calibri" panose="020F0502020204030204"/>
              </a:rPr>
              <a:t>-applies_to</a:t>
            </a:r>
            <a:r>
              <a:rPr sz="1800" i="1" spc="-20" dirty="0">
                <a:solidFill>
                  <a:srgbClr val="FD9A1D"/>
                </a:solidFill>
                <a:latin typeface="Calibri" panose="020F0502020204030204"/>
                <a:cs typeface="Calibri" panose="020F0502020204030204"/>
              </a:rPr>
              <a:t> </a:t>
            </a:r>
            <a:r>
              <a:rPr sz="1800" i="1" dirty="0">
                <a:solidFill>
                  <a:srgbClr val="FD9A1D"/>
                </a:solidFill>
                <a:latin typeface="Calibri" panose="020F0502020204030204"/>
                <a:cs typeface="Calibri" panose="020F0502020204030204"/>
              </a:rPr>
              <a:t>&lt;inputs</a:t>
            </a:r>
            <a:r>
              <a:rPr sz="1800" i="1" spc="-40" dirty="0">
                <a:solidFill>
                  <a:srgbClr val="FD9A1D"/>
                </a:solidFill>
                <a:latin typeface="Calibri" panose="020F0502020204030204"/>
                <a:cs typeface="Calibri" panose="020F0502020204030204"/>
              </a:rPr>
              <a:t> </a:t>
            </a:r>
            <a:r>
              <a:rPr sz="1800" i="1" dirty="0">
                <a:solidFill>
                  <a:srgbClr val="FD9A1D"/>
                </a:solidFill>
                <a:latin typeface="Calibri" panose="020F0502020204030204"/>
                <a:cs typeface="Calibri" panose="020F0502020204030204"/>
              </a:rPr>
              <a:t>|</a:t>
            </a:r>
            <a:r>
              <a:rPr sz="1800" i="1" spc="-35" dirty="0">
                <a:solidFill>
                  <a:srgbClr val="FD9A1D"/>
                </a:solidFill>
                <a:latin typeface="Calibri" panose="020F0502020204030204"/>
                <a:cs typeface="Calibri" panose="020F0502020204030204"/>
              </a:rPr>
              <a:t> </a:t>
            </a:r>
            <a:r>
              <a:rPr sz="1800" i="1" dirty="0">
                <a:solidFill>
                  <a:srgbClr val="FE0000"/>
                </a:solidFill>
                <a:latin typeface="Calibri" panose="020F0502020204030204"/>
                <a:cs typeface="Calibri" panose="020F0502020204030204"/>
              </a:rPr>
              <a:t>outputs</a:t>
            </a:r>
            <a:r>
              <a:rPr sz="1800" i="1" spc="-30" dirty="0">
                <a:solidFill>
                  <a:srgbClr val="FE0000"/>
                </a:solidFill>
                <a:latin typeface="Calibri" panose="020F0502020204030204"/>
                <a:cs typeface="Calibri" panose="020F0502020204030204"/>
              </a:rPr>
              <a:t> </a:t>
            </a:r>
            <a:r>
              <a:rPr sz="1800" i="1" dirty="0">
                <a:solidFill>
                  <a:srgbClr val="FD9A1D"/>
                </a:solidFill>
                <a:latin typeface="Calibri" panose="020F0502020204030204"/>
                <a:cs typeface="Calibri" panose="020F0502020204030204"/>
              </a:rPr>
              <a:t>|</a:t>
            </a:r>
            <a:r>
              <a:rPr sz="1800" i="1" spc="-45" dirty="0">
                <a:solidFill>
                  <a:srgbClr val="FD9A1D"/>
                </a:solidFill>
                <a:latin typeface="Calibri" panose="020F0502020204030204"/>
                <a:cs typeface="Calibri" panose="020F0502020204030204"/>
              </a:rPr>
              <a:t> </a:t>
            </a:r>
            <a:r>
              <a:rPr sz="1800" i="1" spc="-20" dirty="0">
                <a:solidFill>
                  <a:srgbClr val="FD9A1D"/>
                </a:solidFill>
                <a:latin typeface="Calibri" panose="020F0502020204030204"/>
                <a:cs typeface="Calibri" panose="020F0502020204030204"/>
              </a:rPr>
              <a:t>both&gt;</a:t>
            </a:r>
            <a:endParaRPr sz="1800">
              <a:latin typeface="Calibri" panose="020F0502020204030204"/>
              <a:cs typeface="Calibri" panose="020F0502020204030204"/>
            </a:endParaRPr>
          </a:p>
          <a:p>
            <a:pPr marL="12700">
              <a:lnSpc>
                <a:spcPct val="100000"/>
              </a:lnSpc>
            </a:pPr>
            <a:r>
              <a:rPr sz="1800" i="1" dirty="0">
                <a:solidFill>
                  <a:srgbClr val="006FBF"/>
                </a:solidFill>
                <a:latin typeface="Calibri" panose="020F0502020204030204"/>
                <a:cs typeface="Calibri" panose="020F0502020204030204"/>
              </a:rPr>
              <a:t>-location</a:t>
            </a:r>
            <a:r>
              <a:rPr sz="1800" i="1" spc="-20" dirty="0">
                <a:solidFill>
                  <a:srgbClr val="006FBF"/>
                </a:solidFill>
                <a:latin typeface="Calibri" panose="020F0502020204030204"/>
                <a:cs typeface="Calibri" panose="020F0502020204030204"/>
              </a:rPr>
              <a:t> </a:t>
            </a:r>
            <a:r>
              <a:rPr sz="1800" i="1" dirty="0">
                <a:solidFill>
                  <a:srgbClr val="006FBF"/>
                </a:solidFill>
                <a:latin typeface="Calibri" panose="020F0502020204030204"/>
                <a:cs typeface="Calibri" panose="020F0502020204030204"/>
              </a:rPr>
              <a:t>&lt;self</a:t>
            </a:r>
            <a:r>
              <a:rPr sz="1800" i="1" spc="-25" dirty="0">
                <a:solidFill>
                  <a:srgbClr val="006FBF"/>
                </a:solidFill>
                <a:latin typeface="Calibri" panose="020F0502020204030204"/>
                <a:cs typeface="Calibri" panose="020F0502020204030204"/>
              </a:rPr>
              <a:t> </a:t>
            </a:r>
            <a:r>
              <a:rPr sz="1800" i="1" dirty="0">
                <a:solidFill>
                  <a:srgbClr val="006FBF"/>
                </a:solidFill>
                <a:latin typeface="Calibri" panose="020F0502020204030204"/>
                <a:cs typeface="Calibri" panose="020F0502020204030204"/>
              </a:rPr>
              <a:t>|</a:t>
            </a:r>
            <a:r>
              <a:rPr sz="1800" i="1" spc="-30" dirty="0">
                <a:solidFill>
                  <a:srgbClr val="006FBF"/>
                </a:solidFill>
                <a:latin typeface="Calibri" panose="020F0502020204030204"/>
                <a:cs typeface="Calibri" panose="020F0502020204030204"/>
              </a:rPr>
              <a:t> </a:t>
            </a:r>
            <a:r>
              <a:rPr sz="1800" i="1" dirty="0">
                <a:solidFill>
                  <a:srgbClr val="FE0000"/>
                </a:solidFill>
                <a:latin typeface="Calibri" panose="020F0502020204030204"/>
                <a:cs typeface="Calibri" panose="020F0502020204030204"/>
              </a:rPr>
              <a:t>parent</a:t>
            </a:r>
            <a:r>
              <a:rPr sz="1800" i="1" spc="-35" dirty="0">
                <a:solidFill>
                  <a:srgbClr val="FE0000"/>
                </a:solidFill>
                <a:latin typeface="Calibri" panose="020F0502020204030204"/>
                <a:cs typeface="Calibri" panose="020F0502020204030204"/>
              </a:rPr>
              <a:t> </a:t>
            </a:r>
            <a:r>
              <a:rPr sz="1800" i="1" dirty="0">
                <a:solidFill>
                  <a:srgbClr val="006FBF"/>
                </a:solidFill>
                <a:latin typeface="Calibri" panose="020F0502020204030204"/>
                <a:cs typeface="Calibri" panose="020F0502020204030204"/>
              </a:rPr>
              <a:t>|</a:t>
            </a:r>
            <a:r>
              <a:rPr sz="1800" i="1" spc="-40" dirty="0">
                <a:solidFill>
                  <a:srgbClr val="006FBF"/>
                </a:solidFill>
                <a:latin typeface="Calibri" panose="020F0502020204030204"/>
                <a:cs typeface="Calibri" panose="020F0502020204030204"/>
              </a:rPr>
              <a:t> </a:t>
            </a:r>
            <a:r>
              <a:rPr sz="1800" i="1" spc="-25" dirty="0">
                <a:solidFill>
                  <a:srgbClr val="006FBF"/>
                </a:solidFill>
                <a:latin typeface="Calibri" panose="020F0502020204030204"/>
                <a:cs typeface="Calibri" panose="020F0502020204030204"/>
              </a:rPr>
              <a:t>…&gt;</a:t>
            </a:r>
            <a:endParaRPr sz="1800">
              <a:latin typeface="Calibri" panose="020F0502020204030204"/>
              <a:cs typeface="Calibri" panose="020F0502020204030204"/>
            </a:endParaRPr>
          </a:p>
          <a:p>
            <a:pPr marL="12700">
              <a:lnSpc>
                <a:spcPct val="100000"/>
              </a:lnSpc>
            </a:pPr>
            <a:r>
              <a:rPr sz="1800" i="1" dirty="0">
                <a:solidFill>
                  <a:srgbClr val="006FBF"/>
                </a:solidFill>
                <a:latin typeface="Calibri" panose="020F0502020204030204"/>
                <a:cs typeface="Calibri" panose="020F0502020204030204"/>
              </a:rPr>
              <a:t>-isolation_signal</a:t>
            </a:r>
            <a:r>
              <a:rPr sz="1800" i="1" spc="-80" dirty="0">
                <a:solidFill>
                  <a:srgbClr val="006FBF"/>
                </a:solidFill>
                <a:latin typeface="Calibri" panose="020F0502020204030204"/>
                <a:cs typeface="Calibri" panose="020F0502020204030204"/>
              </a:rPr>
              <a:t> </a:t>
            </a:r>
            <a:r>
              <a:rPr sz="1800" i="1" spc="-10" dirty="0">
                <a:solidFill>
                  <a:srgbClr val="006FBF"/>
                </a:solidFill>
                <a:latin typeface="Calibri" panose="020F0502020204030204"/>
                <a:cs typeface="Calibri" panose="020F0502020204030204"/>
              </a:rPr>
              <a:t>pd_iso</a:t>
            </a:r>
            <a:endParaRPr sz="1800">
              <a:latin typeface="Calibri" panose="020F0502020204030204"/>
              <a:cs typeface="Calibri" panose="020F0502020204030204"/>
            </a:endParaRPr>
          </a:p>
          <a:p>
            <a:pPr marL="12700">
              <a:lnSpc>
                <a:spcPct val="100000"/>
              </a:lnSpc>
            </a:pPr>
            <a:r>
              <a:rPr sz="1800" i="1" dirty="0">
                <a:solidFill>
                  <a:srgbClr val="006FBF"/>
                </a:solidFill>
                <a:latin typeface="Calibri" panose="020F0502020204030204"/>
                <a:cs typeface="Calibri" panose="020F0502020204030204"/>
              </a:rPr>
              <a:t>-isolation_sense</a:t>
            </a:r>
            <a:r>
              <a:rPr sz="1800" i="1" spc="-25" dirty="0">
                <a:solidFill>
                  <a:srgbClr val="006FBF"/>
                </a:solidFill>
                <a:latin typeface="Calibri" panose="020F0502020204030204"/>
                <a:cs typeface="Calibri" panose="020F0502020204030204"/>
              </a:rPr>
              <a:t> </a:t>
            </a:r>
            <a:r>
              <a:rPr sz="1800" i="1" dirty="0">
                <a:solidFill>
                  <a:srgbClr val="006FBF"/>
                </a:solidFill>
                <a:latin typeface="Calibri" panose="020F0502020204030204"/>
                <a:cs typeface="Calibri" panose="020F0502020204030204"/>
              </a:rPr>
              <a:t>&lt;</a:t>
            </a:r>
            <a:r>
              <a:rPr sz="1800" i="1" spc="-25" dirty="0">
                <a:solidFill>
                  <a:srgbClr val="006FBF"/>
                </a:solidFill>
                <a:latin typeface="Calibri" panose="020F0502020204030204"/>
                <a:cs typeface="Calibri" panose="020F0502020204030204"/>
              </a:rPr>
              <a:t> </a:t>
            </a:r>
            <a:r>
              <a:rPr sz="1800" i="1" dirty="0">
                <a:solidFill>
                  <a:srgbClr val="FE0000"/>
                </a:solidFill>
                <a:latin typeface="Calibri" panose="020F0502020204030204"/>
                <a:cs typeface="Calibri" panose="020F0502020204030204"/>
              </a:rPr>
              <a:t>high</a:t>
            </a:r>
            <a:r>
              <a:rPr sz="1800" i="1" spc="-30" dirty="0">
                <a:solidFill>
                  <a:srgbClr val="FE0000"/>
                </a:solidFill>
                <a:latin typeface="Calibri" panose="020F0502020204030204"/>
                <a:cs typeface="Calibri" panose="020F0502020204030204"/>
              </a:rPr>
              <a:t> </a:t>
            </a:r>
            <a:r>
              <a:rPr sz="1800" i="1" dirty="0">
                <a:solidFill>
                  <a:srgbClr val="006FBF"/>
                </a:solidFill>
                <a:latin typeface="Calibri" panose="020F0502020204030204"/>
                <a:cs typeface="Calibri" panose="020F0502020204030204"/>
              </a:rPr>
              <a:t>|</a:t>
            </a:r>
            <a:r>
              <a:rPr sz="1800" i="1" spc="-45" dirty="0">
                <a:solidFill>
                  <a:srgbClr val="006FBF"/>
                </a:solidFill>
                <a:latin typeface="Calibri" panose="020F0502020204030204"/>
                <a:cs typeface="Calibri" panose="020F0502020204030204"/>
              </a:rPr>
              <a:t> </a:t>
            </a:r>
            <a:r>
              <a:rPr sz="1800" i="1" dirty="0">
                <a:solidFill>
                  <a:srgbClr val="006FBF"/>
                </a:solidFill>
                <a:latin typeface="Calibri" panose="020F0502020204030204"/>
                <a:cs typeface="Calibri" panose="020F0502020204030204"/>
              </a:rPr>
              <a:t>low</a:t>
            </a:r>
            <a:r>
              <a:rPr sz="1800" i="1" spc="-30" dirty="0">
                <a:solidFill>
                  <a:srgbClr val="006FBF"/>
                </a:solidFill>
                <a:latin typeface="Calibri" panose="020F0502020204030204"/>
                <a:cs typeface="Calibri" panose="020F0502020204030204"/>
              </a:rPr>
              <a:t> </a:t>
            </a:r>
            <a:r>
              <a:rPr sz="1800" i="1" spc="-50" dirty="0">
                <a:solidFill>
                  <a:srgbClr val="006FBF"/>
                </a:solidFill>
                <a:latin typeface="Calibri" panose="020F0502020204030204"/>
                <a:cs typeface="Calibri" panose="020F0502020204030204"/>
              </a:rPr>
              <a:t>&gt;</a:t>
            </a:r>
            <a:endParaRPr sz="1800">
              <a:latin typeface="Calibri" panose="020F0502020204030204"/>
              <a:cs typeface="Calibri" panose="020F0502020204030204"/>
            </a:endParaRPr>
          </a:p>
          <a:p>
            <a:pPr marL="12700">
              <a:lnSpc>
                <a:spcPct val="100000"/>
              </a:lnSpc>
            </a:pPr>
            <a:r>
              <a:rPr sz="1800" i="1" dirty="0">
                <a:solidFill>
                  <a:srgbClr val="006FBF"/>
                </a:solidFill>
                <a:latin typeface="Calibri" panose="020F0502020204030204"/>
                <a:cs typeface="Calibri" panose="020F0502020204030204"/>
              </a:rPr>
              <a:t>-clamp_value</a:t>
            </a:r>
            <a:r>
              <a:rPr sz="1800" i="1" spc="-15" dirty="0">
                <a:solidFill>
                  <a:srgbClr val="006FBF"/>
                </a:solidFill>
                <a:latin typeface="Calibri" panose="020F0502020204030204"/>
                <a:cs typeface="Calibri" panose="020F0502020204030204"/>
              </a:rPr>
              <a:t> </a:t>
            </a:r>
            <a:r>
              <a:rPr sz="1800" i="1" dirty="0">
                <a:solidFill>
                  <a:srgbClr val="006FBF"/>
                </a:solidFill>
                <a:latin typeface="Calibri" panose="020F0502020204030204"/>
                <a:cs typeface="Calibri" panose="020F0502020204030204"/>
              </a:rPr>
              <a:t>&lt;</a:t>
            </a:r>
            <a:r>
              <a:rPr sz="1800" i="1" spc="-15" dirty="0">
                <a:solidFill>
                  <a:srgbClr val="006FBF"/>
                </a:solidFill>
                <a:latin typeface="Calibri" panose="020F0502020204030204"/>
                <a:cs typeface="Calibri" panose="020F0502020204030204"/>
              </a:rPr>
              <a:t> </a:t>
            </a:r>
            <a:r>
              <a:rPr sz="1800" i="1" dirty="0">
                <a:solidFill>
                  <a:srgbClr val="006FBF"/>
                </a:solidFill>
                <a:latin typeface="Calibri" panose="020F0502020204030204"/>
                <a:cs typeface="Calibri" panose="020F0502020204030204"/>
              </a:rPr>
              <a:t>0 |</a:t>
            </a:r>
            <a:r>
              <a:rPr sz="1800" i="1" spc="-15" dirty="0">
                <a:solidFill>
                  <a:srgbClr val="006FBF"/>
                </a:solidFill>
                <a:latin typeface="Calibri" panose="020F0502020204030204"/>
                <a:cs typeface="Calibri" panose="020F0502020204030204"/>
              </a:rPr>
              <a:t> </a:t>
            </a:r>
            <a:r>
              <a:rPr sz="1800" i="1" dirty="0">
                <a:solidFill>
                  <a:srgbClr val="FE0000"/>
                </a:solidFill>
                <a:latin typeface="Calibri" panose="020F0502020204030204"/>
                <a:cs typeface="Calibri" panose="020F0502020204030204"/>
              </a:rPr>
              <a:t>1</a:t>
            </a:r>
            <a:r>
              <a:rPr sz="1800" i="1" spc="-15" dirty="0">
                <a:solidFill>
                  <a:srgbClr val="FE0000"/>
                </a:solidFill>
                <a:latin typeface="Calibri" panose="020F0502020204030204"/>
                <a:cs typeface="Calibri" panose="020F0502020204030204"/>
              </a:rPr>
              <a:t> </a:t>
            </a:r>
            <a:r>
              <a:rPr sz="1800" i="1" spc="-50" dirty="0">
                <a:solidFill>
                  <a:srgbClr val="006FBF"/>
                </a:solidFill>
                <a:latin typeface="Calibri" panose="020F0502020204030204"/>
                <a:cs typeface="Calibri" panose="020F0502020204030204"/>
              </a:rPr>
              <a:t>&gt;</a:t>
            </a:r>
            <a:endParaRPr sz="1800">
              <a:latin typeface="Calibri" panose="020F0502020204030204"/>
              <a:cs typeface="Calibri" panose="020F0502020204030204"/>
            </a:endParaRPr>
          </a:p>
          <a:p>
            <a:pPr marL="12700">
              <a:lnSpc>
                <a:spcPct val="100000"/>
              </a:lnSpc>
              <a:spcBef>
                <a:spcPts val="5"/>
              </a:spcBef>
            </a:pPr>
            <a:r>
              <a:rPr sz="1800" i="1" dirty="0">
                <a:solidFill>
                  <a:srgbClr val="006FBF"/>
                </a:solidFill>
                <a:latin typeface="Calibri" panose="020F0502020204030204"/>
                <a:cs typeface="Calibri" panose="020F0502020204030204"/>
              </a:rPr>
              <a:t>-</a:t>
            </a:r>
            <a:r>
              <a:rPr sz="1800" i="1" spc="-10" dirty="0">
                <a:solidFill>
                  <a:srgbClr val="006FBF"/>
                </a:solidFill>
                <a:latin typeface="Calibri" panose="020F0502020204030204"/>
                <a:cs typeface="Calibri" panose="020F0502020204030204"/>
              </a:rPr>
              <a:t>isolation_supply_set</a:t>
            </a:r>
            <a:r>
              <a:rPr sz="1800" i="1" spc="50" dirty="0">
                <a:solidFill>
                  <a:srgbClr val="006FBF"/>
                </a:solidFill>
                <a:latin typeface="Calibri" panose="020F0502020204030204"/>
                <a:cs typeface="Calibri" panose="020F0502020204030204"/>
              </a:rPr>
              <a:t> </a:t>
            </a:r>
            <a:r>
              <a:rPr sz="1800" i="1" spc="-10" dirty="0">
                <a:solidFill>
                  <a:srgbClr val="006FBF"/>
                </a:solidFill>
                <a:latin typeface="Calibri" panose="020F0502020204030204"/>
                <a:cs typeface="Calibri" panose="020F0502020204030204"/>
              </a:rPr>
              <a:t>SS_VDD</a:t>
            </a:r>
            <a:endParaRPr sz="1800">
              <a:latin typeface="Calibri" panose="020F0502020204030204"/>
              <a:cs typeface="Calibri" panose="020F0502020204030204"/>
            </a:endParaRPr>
          </a:p>
        </p:txBody>
      </p:sp>
      <p:sp>
        <p:nvSpPr>
          <p:cNvPr id="64" name="Text 0"/>
          <p:cNvSpPr/>
          <p:nvPr/>
        </p:nvSpPr>
        <p:spPr>
          <a:xfrm>
            <a:off x="284480" y="10922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隔离</a:t>
            </a:r>
            <a:r>
              <a:rPr lang="zh-CN" altLang="en-US" sz="1730" b="1" dirty="0">
                <a:latin typeface="微软雅黑" panose="020B0503020204020204" pitchFamily="34" charset="-122"/>
                <a:ea typeface="微软雅黑" panose="020B0503020204020204" pitchFamily="34" charset="-122"/>
                <a:sym typeface="+mn-ea"/>
              </a:rPr>
              <a:t>单元</a:t>
            </a:r>
            <a:endParaRPr lang="zh-CN" altLang="en-US" sz="1730" b="1"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grpSp>
        <p:nvGrpSpPr>
          <p:cNvPr id="3" name="object 3"/>
          <p:cNvGrpSpPr/>
          <p:nvPr/>
        </p:nvGrpSpPr>
        <p:grpSpPr>
          <a:xfrm>
            <a:off x="295338" y="712406"/>
            <a:ext cx="3754754" cy="3632835"/>
            <a:chOff x="306133" y="1238821"/>
            <a:chExt cx="3754754" cy="3632835"/>
          </a:xfrm>
        </p:grpSpPr>
        <p:pic>
          <p:nvPicPr>
            <p:cNvPr id="4" name="object 4"/>
            <p:cNvPicPr/>
            <p:nvPr/>
          </p:nvPicPr>
          <p:blipFill>
            <a:blip r:embed="rId2" cstate="print"/>
            <a:stretch>
              <a:fillRect/>
            </a:stretch>
          </p:blipFill>
          <p:spPr>
            <a:xfrm>
              <a:off x="380999" y="1313687"/>
              <a:ext cx="3679698" cy="3557778"/>
            </a:xfrm>
            <a:prstGeom prst="rect">
              <a:avLst/>
            </a:prstGeom>
          </p:spPr>
        </p:pic>
        <p:sp>
          <p:nvSpPr>
            <p:cNvPr id="5" name="object 5"/>
            <p:cNvSpPr/>
            <p:nvPr/>
          </p:nvSpPr>
          <p:spPr>
            <a:xfrm>
              <a:off x="310895" y="1243583"/>
              <a:ext cx="3670300" cy="3548379"/>
            </a:xfrm>
            <a:custGeom>
              <a:avLst/>
              <a:gdLst/>
              <a:ahLst/>
              <a:cxnLst/>
              <a:rect l="l" t="t" r="r" b="b"/>
              <a:pathLst>
                <a:path w="3670300" h="3548379">
                  <a:moveTo>
                    <a:pt x="3669791" y="0"/>
                  </a:moveTo>
                  <a:lnTo>
                    <a:pt x="0" y="0"/>
                  </a:lnTo>
                  <a:lnTo>
                    <a:pt x="0" y="3547872"/>
                  </a:lnTo>
                  <a:lnTo>
                    <a:pt x="3669791" y="3547872"/>
                  </a:lnTo>
                  <a:lnTo>
                    <a:pt x="3669791" y="0"/>
                  </a:lnTo>
                  <a:close/>
                </a:path>
              </a:pathLst>
            </a:custGeom>
            <a:solidFill>
              <a:srgbClr val="FEFEFE"/>
            </a:solidFill>
          </p:spPr>
          <p:txBody>
            <a:bodyPr wrap="square" lIns="0" tIns="0" rIns="0" bIns="0" rtlCol="0"/>
            <a:lstStyle/>
            <a:p/>
          </p:txBody>
        </p:sp>
        <p:sp>
          <p:nvSpPr>
            <p:cNvPr id="6" name="object 6"/>
            <p:cNvSpPr/>
            <p:nvPr/>
          </p:nvSpPr>
          <p:spPr>
            <a:xfrm>
              <a:off x="310895" y="1243583"/>
              <a:ext cx="3670300" cy="3548379"/>
            </a:xfrm>
            <a:custGeom>
              <a:avLst/>
              <a:gdLst/>
              <a:ahLst/>
              <a:cxnLst/>
              <a:rect l="l" t="t" r="r" b="b"/>
              <a:pathLst>
                <a:path w="3670300" h="3548379">
                  <a:moveTo>
                    <a:pt x="0" y="3547872"/>
                  </a:moveTo>
                  <a:lnTo>
                    <a:pt x="3669791" y="3547872"/>
                  </a:lnTo>
                  <a:lnTo>
                    <a:pt x="3669791" y="0"/>
                  </a:lnTo>
                  <a:lnTo>
                    <a:pt x="0" y="0"/>
                  </a:lnTo>
                  <a:lnTo>
                    <a:pt x="0" y="3547872"/>
                  </a:lnTo>
                  <a:close/>
                </a:path>
              </a:pathLst>
            </a:custGeom>
            <a:ln w="9524">
              <a:solidFill>
                <a:srgbClr val="959595"/>
              </a:solidFill>
            </a:ln>
          </p:spPr>
          <p:txBody>
            <a:bodyPr wrap="square" lIns="0" tIns="0" rIns="0" bIns="0" rtlCol="0"/>
            <a:lstStyle/>
            <a:p/>
          </p:txBody>
        </p:sp>
        <p:pic>
          <p:nvPicPr>
            <p:cNvPr id="7" name="object 7"/>
            <p:cNvPicPr/>
            <p:nvPr/>
          </p:nvPicPr>
          <p:blipFill>
            <a:blip r:embed="rId3" cstate="print"/>
            <a:stretch>
              <a:fillRect/>
            </a:stretch>
          </p:blipFill>
          <p:spPr>
            <a:xfrm>
              <a:off x="800100" y="1961387"/>
              <a:ext cx="2647950" cy="2282190"/>
            </a:xfrm>
            <a:prstGeom prst="rect">
              <a:avLst/>
            </a:prstGeom>
          </p:spPr>
        </p:pic>
        <p:sp>
          <p:nvSpPr>
            <p:cNvPr id="8" name="object 8"/>
            <p:cNvSpPr/>
            <p:nvPr/>
          </p:nvSpPr>
          <p:spPr>
            <a:xfrm>
              <a:off x="768095" y="1929383"/>
              <a:ext cx="2638425" cy="2272665"/>
            </a:xfrm>
            <a:custGeom>
              <a:avLst/>
              <a:gdLst/>
              <a:ahLst/>
              <a:cxnLst/>
              <a:rect l="l" t="t" r="r" b="b"/>
              <a:pathLst>
                <a:path w="2638425" h="2272665">
                  <a:moveTo>
                    <a:pt x="2638044" y="0"/>
                  </a:moveTo>
                  <a:lnTo>
                    <a:pt x="0" y="0"/>
                  </a:lnTo>
                  <a:lnTo>
                    <a:pt x="0" y="2272284"/>
                  </a:lnTo>
                  <a:lnTo>
                    <a:pt x="2638044" y="2272284"/>
                  </a:lnTo>
                  <a:lnTo>
                    <a:pt x="2638044" y="0"/>
                  </a:lnTo>
                  <a:close/>
                </a:path>
              </a:pathLst>
            </a:custGeom>
            <a:solidFill>
              <a:srgbClr val="CBFEFE"/>
            </a:solidFill>
          </p:spPr>
          <p:txBody>
            <a:bodyPr wrap="square" lIns="0" tIns="0" rIns="0" bIns="0" rtlCol="0"/>
            <a:lstStyle/>
            <a:p/>
          </p:txBody>
        </p:sp>
        <p:sp>
          <p:nvSpPr>
            <p:cNvPr id="9" name="object 9"/>
            <p:cNvSpPr/>
            <p:nvPr/>
          </p:nvSpPr>
          <p:spPr>
            <a:xfrm>
              <a:off x="768095" y="1929383"/>
              <a:ext cx="2638425" cy="2272665"/>
            </a:xfrm>
            <a:custGeom>
              <a:avLst/>
              <a:gdLst/>
              <a:ahLst/>
              <a:cxnLst/>
              <a:rect l="l" t="t" r="r" b="b"/>
              <a:pathLst>
                <a:path w="2638425" h="2272665">
                  <a:moveTo>
                    <a:pt x="0" y="2272284"/>
                  </a:moveTo>
                  <a:lnTo>
                    <a:pt x="2638044" y="2272284"/>
                  </a:lnTo>
                  <a:lnTo>
                    <a:pt x="2638044" y="0"/>
                  </a:lnTo>
                  <a:lnTo>
                    <a:pt x="0" y="0"/>
                  </a:lnTo>
                  <a:lnTo>
                    <a:pt x="0" y="2272284"/>
                  </a:lnTo>
                  <a:close/>
                </a:path>
              </a:pathLst>
            </a:custGeom>
            <a:ln w="9525">
              <a:solidFill>
                <a:srgbClr val="68BD27"/>
              </a:solidFill>
            </a:ln>
          </p:spPr>
          <p:txBody>
            <a:bodyPr wrap="square" lIns="0" tIns="0" rIns="0" bIns="0" rtlCol="0"/>
            <a:lstStyle/>
            <a:p/>
          </p:txBody>
        </p:sp>
      </p:grpSp>
      <p:sp>
        <p:nvSpPr>
          <p:cNvPr id="10" name="object 10"/>
          <p:cNvSpPr txBox="1"/>
          <p:nvPr/>
        </p:nvSpPr>
        <p:spPr>
          <a:xfrm>
            <a:off x="1489202" y="818133"/>
            <a:ext cx="2476500" cy="208279"/>
          </a:xfrm>
          <a:prstGeom prst="rect">
            <a:avLst/>
          </a:prstGeom>
        </p:spPr>
        <p:txBody>
          <a:bodyPr vert="horz" wrap="square" lIns="0" tIns="12700" rIns="0" bIns="0" rtlCol="0">
            <a:spAutoFit/>
          </a:bodyPr>
          <a:lstStyle/>
          <a:p>
            <a:pPr marL="12700">
              <a:lnSpc>
                <a:spcPct val="100000"/>
              </a:lnSpc>
              <a:spcBef>
                <a:spcPts val="100"/>
              </a:spcBef>
              <a:tabLst>
                <a:tab pos="1161415" algn="l"/>
                <a:tab pos="1906905" algn="l"/>
              </a:tabLst>
            </a:pPr>
            <a:r>
              <a:rPr sz="1800" b="1" spc="-37" baseline="5000" dirty="0">
                <a:solidFill>
                  <a:srgbClr val="34352F"/>
                </a:solidFill>
                <a:latin typeface="Calibri" panose="020F0502020204030204"/>
                <a:cs typeface="Calibri" panose="020F0502020204030204"/>
              </a:rPr>
              <a:t>VDD</a:t>
            </a:r>
            <a:r>
              <a:rPr sz="1800" b="1" baseline="5000" dirty="0">
                <a:solidFill>
                  <a:srgbClr val="34352F"/>
                </a:solidFill>
                <a:latin typeface="Calibri" panose="020F0502020204030204"/>
                <a:cs typeface="Calibri" panose="020F0502020204030204"/>
              </a:rPr>
              <a:t>	</a:t>
            </a:r>
            <a:r>
              <a:rPr sz="1800" b="1" spc="-30" baseline="5000" dirty="0">
                <a:solidFill>
                  <a:srgbClr val="34352F"/>
                </a:solidFill>
                <a:latin typeface="Calibri" panose="020F0502020204030204"/>
                <a:cs typeface="Calibri" panose="020F0502020204030204"/>
              </a:rPr>
              <a:t>VDDL</a:t>
            </a:r>
            <a:r>
              <a:rPr sz="1800" b="1" baseline="5000" dirty="0">
                <a:solidFill>
                  <a:srgbClr val="34352F"/>
                </a:solidFill>
                <a:latin typeface="Calibri" panose="020F0502020204030204"/>
                <a:cs typeface="Calibri" panose="020F0502020204030204"/>
              </a:rPr>
              <a:t>	</a:t>
            </a:r>
            <a:r>
              <a:rPr sz="1200" b="1" spc="-25" dirty="0">
                <a:solidFill>
                  <a:srgbClr val="34352F"/>
                </a:solidFill>
                <a:latin typeface="Calibri" panose="020F0502020204030204"/>
                <a:cs typeface="Calibri" panose="020F0502020204030204"/>
              </a:rPr>
              <a:t>VSS</a:t>
            </a:r>
            <a:endParaRPr sz="1200">
              <a:latin typeface="Calibri" panose="020F0502020204030204"/>
              <a:cs typeface="Calibri" panose="020F0502020204030204"/>
            </a:endParaRPr>
          </a:p>
        </p:txBody>
      </p:sp>
      <p:grpSp>
        <p:nvGrpSpPr>
          <p:cNvPr id="11" name="object 11"/>
          <p:cNvGrpSpPr/>
          <p:nvPr/>
        </p:nvGrpSpPr>
        <p:grpSpPr>
          <a:xfrm>
            <a:off x="778573" y="729551"/>
            <a:ext cx="2546985" cy="2827020"/>
            <a:chOff x="789368" y="1255966"/>
            <a:chExt cx="2546985" cy="2827020"/>
          </a:xfrm>
        </p:grpSpPr>
        <p:sp>
          <p:nvSpPr>
            <p:cNvPr id="12" name="object 12"/>
            <p:cNvSpPr/>
            <p:nvPr/>
          </p:nvSpPr>
          <p:spPr>
            <a:xfrm>
              <a:off x="1387601" y="1511045"/>
              <a:ext cx="0" cy="299085"/>
            </a:xfrm>
            <a:custGeom>
              <a:avLst/>
              <a:gdLst/>
              <a:ahLst/>
              <a:cxnLst/>
              <a:rect l="l" t="t" r="r" b="b"/>
              <a:pathLst>
                <a:path h="299085">
                  <a:moveTo>
                    <a:pt x="0" y="0"/>
                  </a:moveTo>
                  <a:lnTo>
                    <a:pt x="0" y="298703"/>
                  </a:lnTo>
                </a:path>
              </a:pathLst>
            </a:custGeom>
            <a:ln w="28575">
              <a:solidFill>
                <a:srgbClr val="34352F"/>
              </a:solidFill>
            </a:ln>
          </p:spPr>
          <p:txBody>
            <a:bodyPr wrap="square" lIns="0" tIns="0" rIns="0" bIns="0" rtlCol="0"/>
            <a:lstStyle/>
            <a:p/>
          </p:txBody>
        </p:sp>
        <p:sp>
          <p:nvSpPr>
            <p:cNvPr id="13" name="object 13"/>
            <p:cNvSpPr/>
            <p:nvPr/>
          </p:nvSpPr>
          <p:spPr>
            <a:xfrm>
              <a:off x="1378457" y="1270253"/>
              <a:ext cx="1943100" cy="262255"/>
            </a:xfrm>
            <a:custGeom>
              <a:avLst/>
              <a:gdLst/>
              <a:ahLst/>
              <a:cxnLst/>
              <a:rect l="l" t="t" r="r" b="b"/>
              <a:pathLst>
                <a:path w="1943100" h="262255">
                  <a:moveTo>
                    <a:pt x="1162811" y="4572"/>
                  </a:moveTo>
                  <a:lnTo>
                    <a:pt x="1175004" y="239268"/>
                  </a:lnTo>
                </a:path>
                <a:path w="1943100" h="262255">
                  <a:moveTo>
                    <a:pt x="0" y="0"/>
                  </a:moveTo>
                  <a:lnTo>
                    <a:pt x="10667" y="234696"/>
                  </a:lnTo>
                </a:path>
                <a:path w="1943100" h="262255">
                  <a:moveTo>
                    <a:pt x="1930907" y="27432"/>
                  </a:moveTo>
                  <a:lnTo>
                    <a:pt x="1943100" y="262128"/>
                  </a:lnTo>
                </a:path>
              </a:pathLst>
            </a:custGeom>
            <a:ln w="28575">
              <a:solidFill>
                <a:srgbClr val="34352F"/>
              </a:solidFill>
            </a:ln>
          </p:spPr>
          <p:txBody>
            <a:bodyPr wrap="square" lIns="0" tIns="0" rIns="0" bIns="0" rtlCol="0"/>
            <a:lstStyle/>
            <a:p/>
          </p:txBody>
        </p:sp>
        <p:sp>
          <p:nvSpPr>
            <p:cNvPr id="14" name="object 14"/>
            <p:cNvSpPr/>
            <p:nvPr/>
          </p:nvSpPr>
          <p:spPr>
            <a:xfrm>
              <a:off x="790955" y="3829811"/>
              <a:ext cx="452755" cy="251460"/>
            </a:xfrm>
            <a:custGeom>
              <a:avLst/>
              <a:gdLst/>
              <a:ahLst/>
              <a:cxnLst/>
              <a:rect l="l" t="t" r="r" b="b"/>
              <a:pathLst>
                <a:path w="452755" h="251460">
                  <a:moveTo>
                    <a:pt x="326897" y="0"/>
                  </a:moveTo>
                  <a:lnTo>
                    <a:pt x="0" y="0"/>
                  </a:lnTo>
                  <a:lnTo>
                    <a:pt x="0" y="251459"/>
                  </a:lnTo>
                  <a:lnTo>
                    <a:pt x="326897" y="251459"/>
                  </a:lnTo>
                  <a:lnTo>
                    <a:pt x="452628" y="125729"/>
                  </a:lnTo>
                  <a:lnTo>
                    <a:pt x="326897" y="0"/>
                  </a:lnTo>
                  <a:close/>
                </a:path>
              </a:pathLst>
            </a:custGeom>
            <a:solidFill>
              <a:srgbClr val="6F2F9F"/>
            </a:solidFill>
          </p:spPr>
          <p:txBody>
            <a:bodyPr wrap="square" lIns="0" tIns="0" rIns="0" bIns="0" rtlCol="0"/>
            <a:lstStyle/>
            <a:p/>
          </p:txBody>
        </p:sp>
        <p:sp>
          <p:nvSpPr>
            <p:cNvPr id="15" name="object 15"/>
            <p:cNvSpPr/>
            <p:nvPr/>
          </p:nvSpPr>
          <p:spPr>
            <a:xfrm>
              <a:off x="790955" y="3829811"/>
              <a:ext cx="452755" cy="251460"/>
            </a:xfrm>
            <a:custGeom>
              <a:avLst/>
              <a:gdLst/>
              <a:ahLst/>
              <a:cxnLst/>
              <a:rect l="l" t="t" r="r" b="b"/>
              <a:pathLst>
                <a:path w="452755" h="251460">
                  <a:moveTo>
                    <a:pt x="0" y="0"/>
                  </a:moveTo>
                  <a:lnTo>
                    <a:pt x="326897" y="0"/>
                  </a:lnTo>
                  <a:lnTo>
                    <a:pt x="452628" y="125729"/>
                  </a:lnTo>
                  <a:lnTo>
                    <a:pt x="326897" y="251459"/>
                  </a:lnTo>
                  <a:lnTo>
                    <a:pt x="0" y="251459"/>
                  </a:lnTo>
                  <a:lnTo>
                    <a:pt x="0" y="0"/>
                  </a:lnTo>
                  <a:close/>
                </a:path>
              </a:pathLst>
            </a:custGeom>
            <a:ln w="3175">
              <a:solidFill>
                <a:srgbClr val="34352F"/>
              </a:solidFill>
            </a:ln>
          </p:spPr>
          <p:txBody>
            <a:bodyPr wrap="square" lIns="0" tIns="0" rIns="0" bIns="0" rtlCol="0"/>
            <a:lstStyle/>
            <a:p/>
          </p:txBody>
        </p:sp>
      </p:grpSp>
      <p:sp>
        <p:nvSpPr>
          <p:cNvPr id="16" name="object 16"/>
          <p:cNvSpPr txBox="1"/>
          <p:nvPr/>
        </p:nvSpPr>
        <p:spPr>
          <a:xfrm>
            <a:off x="819988" y="1436496"/>
            <a:ext cx="792480" cy="432434"/>
          </a:xfrm>
          <a:prstGeom prst="rect">
            <a:avLst/>
          </a:prstGeom>
          <a:solidFill>
            <a:srgbClr val="2CB5B2"/>
          </a:solidFill>
        </p:spPr>
        <p:txBody>
          <a:bodyPr vert="horz" wrap="square" lIns="0" tIns="0" rIns="0" bIns="0" rtlCol="0">
            <a:spAutoFit/>
          </a:bodyPr>
          <a:lstStyle/>
          <a:p>
            <a:pPr marL="53975">
              <a:lnSpc>
                <a:spcPts val="1060"/>
              </a:lnSpc>
            </a:pPr>
            <a:r>
              <a:rPr sz="900" b="1" spc="-10" dirty="0">
                <a:solidFill>
                  <a:srgbClr val="FEFEFE"/>
                </a:solidFill>
                <a:latin typeface="Arial" panose="020B0604020202020204"/>
                <a:cs typeface="Arial" panose="020B0604020202020204"/>
              </a:rPr>
              <a:t>u_dhm_core</a:t>
            </a:r>
            <a:endParaRPr sz="900">
              <a:latin typeface="Arial" panose="020B0604020202020204"/>
              <a:cs typeface="Arial" panose="020B0604020202020204"/>
            </a:endParaRPr>
          </a:p>
          <a:p>
            <a:pPr marL="262890" marR="21590" indent="-232410">
              <a:lnSpc>
                <a:spcPct val="100000"/>
              </a:lnSpc>
              <a:spcBef>
                <a:spcPts val="155"/>
              </a:spcBef>
            </a:pPr>
            <a:r>
              <a:rPr sz="900" b="1" dirty="0">
                <a:solidFill>
                  <a:srgbClr val="FEFEFE"/>
                </a:solidFill>
                <a:latin typeface="Arial" panose="020B0604020202020204"/>
                <a:cs typeface="Arial" panose="020B0604020202020204"/>
              </a:rPr>
              <a:t>(1.08V</a:t>
            </a:r>
            <a:r>
              <a:rPr sz="900" b="1" spc="-15" dirty="0">
                <a:solidFill>
                  <a:srgbClr val="FEFEFE"/>
                </a:solidFill>
                <a:latin typeface="Arial" panose="020B0604020202020204"/>
                <a:cs typeface="Arial" panose="020B0604020202020204"/>
              </a:rPr>
              <a:t> </a:t>
            </a:r>
            <a:r>
              <a:rPr sz="900" b="1" dirty="0">
                <a:solidFill>
                  <a:srgbClr val="FEFEFE"/>
                </a:solidFill>
                <a:latin typeface="Arial" panose="020B0604020202020204"/>
                <a:cs typeface="Arial" panose="020B0604020202020204"/>
              </a:rPr>
              <a:t>/ 0.7V </a:t>
            </a:r>
            <a:r>
              <a:rPr sz="900" b="1" spc="-50" dirty="0">
                <a:solidFill>
                  <a:srgbClr val="FEFEFE"/>
                </a:solidFill>
                <a:latin typeface="Arial" panose="020B0604020202020204"/>
                <a:cs typeface="Arial" panose="020B0604020202020204"/>
              </a:rPr>
              <a:t>/</a:t>
            </a:r>
            <a:r>
              <a:rPr sz="900" b="1" spc="-20" dirty="0">
                <a:solidFill>
                  <a:srgbClr val="FEFEFE"/>
                </a:solidFill>
                <a:latin typeface="Arial" panose="020B0604020202020204"/>
                <a:cs typeface="Arial" panose="020B0604020202020204"/>
              </a:rPr>
              <a:t> OFF)</a:t>
            </a:r>
            <a:endParaRPr sz="900">
              <a:latin typeface="Arial" panose="020B0604020202020204"/>
              <a:cs typeface="Arial" panose="020B0604020202020204"/>
            </a:endParaRPr>
          </a:p>
        </p:txBody>
      </p:sp>
      <p:sp>
        <p:nvSpPr>
          <p:cNvPr id="17" name="object 17"/>
          <p:cNvSpPr txBox="1"/>
          <p:nvPr/>
        </p:nvSpPr>
        <p:spPr>
          <a:xfrm>
            <a:off x="302780" y="792607"/>
            <a:ext cx="688975" cy="295275"/>
          </a:xfrm>
          <a:prstGeom prst="rect">
            <a:avLst/>
          </a:prstGeom>
          <a:solidFill>
            <a:srgbClr val="D37600"/>
          </a:solidFill>
        </p:spPr>
        <p:txBody>
          <a:bodyPr vert="horz" wrap="square" lIns="0" tIns="0" rIns="0" bIns="0" rtlCol="0">
            <a:spAutoFit/>
          </a:bodyPr>
          <a:lstStyle/>
          <a:p>
            <a:pPr marL="100965">
              <a:lnSpc>
                <a:spcPts val="1060"/>
              </a:lnSpc>
            </a:pPr>
            <a:r>
              <a:rPr sz="900" b="1" spc="-10" dirty="0">
                <a:solidFill>
                  <a:srgbClr val="FEFEFE"/>
                </a:solidFill>
                <a:latin typeface="Arial" panose="020B0604020202020204"/>
                <a:cs typeface="Arial" panose="020B0604020202020204"/>
              </a:rPr>
              <a:t>dhm_top</a:t>
            </a:r>
            <a:endParaRPr sz="900">
              <a:latin typeface="Arial" panose="020B0604020202020204"/>
              <a:cs typeface="Arial" panose="020B0604020202020204"/>
            </a:endParaRPr>
          </a:p>
          <a:p>
            <a:pPr marL="155575">
              <a:lnSpc>
                <a:spcPct val="100000"/>
              </a:lnSpc>
              <a:spcBef>
                <a:spcPts val="155"/>
              </a:spcBef>
            </a:pPr>
            <a:r>
              <a:rPr sz="900" b="1" spc="-10" dirty="0">
                <a:solidFill>
                  <a:srgbClr val="FEFEFE"/>
                </a:solidFill>
                <a:latin typeface="Arial" panose="020B0604020202020204"/>
                <a:cs typeface="Arial" panose="020B0604020202020204"/>
              </a:rPr>
              <a:t>(1.08V)</a:t>
            </a:r>
            <a:endParaRPr sz="900">
              <a:latin typeface="Arial" panose="020B0604020202020204"/>
              <a:cs typeface="Arial" panose="020B0604020202020204"/>
            </a:endParaRPr>
          </a:p>
        </p:txBody>
      </p:sp>
      <p:sp>
        <p:nvSpPr>
          <p:cNvPr id="18" name="object 18"/>
          <p:cNvSpPr txBox="1"/>
          <p:nvPr/>
        </p:nvSpPr>
        <p:spPr>
          <a:xfrm>
            <a:off x="891819" y="3328492"/>
            <a:ext cx="168275" cy="186690"/>
          </a:xfrm>
          <a:prstGeom prst="rect">
            <a:avLst/>
          </a:prstGeom>
        </p:spPr>
        <p:txBody>
          <a:bodyPr vert="horz" wrap="square" lIns="0" tIns="13335" rIns="0" bIns="0" rtlCol="0">
            <a:spAutoFit/>
          </a:bodyPr>
          <a:lstStyle/>
          <a:p>
            <a:pPr marL="12700">
              <a:lnSpc>
                <a:spcPct val="100000"/>
              </a:lnSpc>
              <a:spcBef>
                <a:spcPts val="105"/>
              </a:spcBef>
            </a:pPr>
            <a:r>
              <a:rPr sz="1050" b="1" spc="-25" dirty="0">
                <a:solidFill>
                  <a:srgbClr val="FEFEFE"/>
                </a:solidFill>
                <a:latin typeface="Calibri" panose="020F0502020204030204"/>
                <a:cs typeface="Calibri" panose="020F0502020204030204"/>
              </a:rPr>
              <a:t>HL</a:t>
            </a:r>
            <a:endParaRPr sz="1050">
              <a:latin typeface="Calibri" panose="020F0502020204030204"/>
              <a:cs typeface="Calibri" panose="020F0502020204030204"/>
            </a:endParaRPr>
          </a:p>
        </p:txBody>
      </p:sp>
      <p:grpSp>
        <p:nvGrpSpPr>
          <p:cNvPr id="19" name="object 19"/>
          <p:cNvGrpSpPr/>
          <p:nvPr/>
        </p:nvGrpSpPr>
        <p:grpSpPr>
          <a:xfrm>
            <a:off x="1313370" y="681926"/>
            <a:ext cx="2557780" cy="2874645"/>
            <a:chOff x="1324165" y="1208341"/>
            <a:chExt cx="2557780" cy="2874645"/>
          </a:xfrm>
        </p:grpSpPr>
        <p:pic>
          <p:nvPicPr>
            <p:cNvPr id="20" name="object 20"/>
            <p:cNvPicPr/>
            <p:nvPr/>
          </p:nvPicPr>
          <p:blipFill>
            <a:blip r:embed="rId4" cstate="print"/>
            <a:stretch>
              <a:fillRect/>
            </a:stretch>
          </p:blipFill>
          <p:spPr>
            <a:xfrm>
              <a:off x="1328927" y="1213103"/>
              <a:ext cx="114300" cy="114300"/>
            </a:xfrm>
            <a:prstGeom prst="rect">
              <a:avLst/>
            </a:prstGeom>
          </p:spPr>
        </p:pic>
        <p:sp>
          <p:nvSpPr>
            <p:cNvPr id="21" name="object 21"/>
            <p:cNvSpPr/>
            <p:nvPr/>
          </p:nvSpPr>
          <p:spPr>
            <a:xfrm>
              <a:off x="1328927" y="1213103"/>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4352F"/>
              </a:solidFill>
            </a:ln>
          </p:spPr>
          <p:txBody>
            <a:bodyPr wrap="square" lIns="0" tIns="0" rIns="0" bIns="0" rtlCol="0"/>
            <a:lstStyle/>
            <a:p/>
          </p:txBody>
        </p:sp>
        <p:pic>
          <p:nvPicPr>
            <p:cNvPr id="22" name="object 22"/>
            <p:cNvPicPr/>
            <p:nvPr/>
          </p:nvPicPr>
          <p:blipFill>
            <a:blip r:embed="rId5" cstate="print"/>
            <a:stretch>
              <a:fillRect/>
            </a:stretch>
          </p:blipFill>
          <p:spPr>
            <a:xfrm>
              <a:off x="2484119" y="1217675"/>
              <a:ext cx="114300" cy="114300"/>
            </a:xfrm>
            <a:prstGeom prst="rect">
              <a:avLst/>
            </a:prstGeom>
          </p:spPr>
        </p:pic>
        <p:sp>
          <p:nvSpPr>
            <p:cNvPr id="23" name="object 23"/>
            <p:cNvSpPr/>
            <p:nvPr/>
          </p:nvSpPr>
          <p:spPr>
            <a:xfrm>
              <a:off x="2484119" y="1217675"/>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4352F"/>
              </a:solidFill>
            </a:ln>
          </p:spPr>
          <p:txBody>
            <a:bodyPr wrap="square" lIns="0" tIns="0" rIns="0" bIns="0" rtlCol="0"/>
            <a:lstStyle/>
            <a:p/>
          </p:txBody>
        </p:sp>
        <p:pic>
          <p:nvPicPr>
            <p:cNvPr id="24" name="object 24"/>
            <p:cNvPicPr/>
            <p:nvPr/>
          </p:nvPicPr>
          <p:blipFill>
            <a:blip r:embed="rId6" cstate="print"/>
            <a:stretch>
              <a:fillRect/>
            </a:stretch>
          </p:blipFill>
          <p:spPr>
            <a:xfrm>
              <a:off x="3267455" y="1229867"/>
              <a:ext cx="114300" cy="114300"/>
            </a:xfrm>
            <a:prstGeom prst="rect">
              <a:avLst/>
            </a:prstGeom>
          </p:spPr>
        </p:pic>
        <p:sp>
          <p:nvSpPr>
            <p:cNvPr id="25" name="object 25"/>
            <p:cNvSpPr/>
            <p:nvPr/>
          </p:nvSpPr>
          <p:spPr>
            <a:xfrm>
              <a:off x="3267455" y="1229867"/>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4352F"/>
              </a:solidFill>
            </a:ln>
          </p:spPr>
          <p:txBody>
            <a:bodyPr wrap="square" lIns="0" tIns="0" rIns="0" bIns="0" rtlCol="0"/>
            <a:lstStyle/>
            <a:p/>
          </p:txBody>
        </p:sp>
        <p:sp>
          <p:nvSpPr>
            <p:cNvPr id="26" name="object 26"/>
            <p:cNvSpPr/>
            <p:nvPr/>
          </p:nvSpPr>
          <p:spPr>
            <a:xfrm>
              <a:off x="2547366" y="1509521"/>
              <a:ext cx="777875" cy="528955"/>
            </a:xfrm>
            <a:custGeom>
              <a:avLst/>
              <a:gdLst/>
              <a:ahLst/>
              <a:cxnLst/>
              <a:rect l="l" t="t" r="r" b="b"/>
              <a:pathLst>
                <a:path w="777875" h="528955">
                  <a:moveTo>
                    <a:pt x="4825" y="0"/>
                  </a:moveTo>
                  <a:lnTo>
                    <a:pt x="0" y="528573"/>
                  </a:lnTo>
                </a:path>
                <a:path w="777875" h="528955">
                  <a:moveTo>
                    <a:pt x="777494" y="0"/>
                  </a:moveTo>
                  <a:lnTo>
                    <a:pt x="772668" y="528573"/>
                  </a:lnTo>
                </a:path>
              </a:pathLst>
            </a:custGeom>
            <a:ln w="28575">
              <a:solidFill>
                <a:srgbClr val="34352F"/>
              </a:solidFill>
            </a:ln>
          </p:spPr>
          <p:txBody>
            <a:bodyPr wrap="square" lIns="0" tIns="0" rIns="0" bIns="0" rtlCol="0"/>
            <a:lstStyle/>
            <a:p/>
          </p:txBody>
        </p:sp>
        <p:sp>
          <p:nvSpPr>
            <p:cNvPr id="27" name="object 27"/>
            <p:cNvSpPr/>
            <p:nvPr/>
          </p:nvSpPr>
          <p:spPr>
            <a:xfrm>
              <a:off x="3427476" y="3829811"/>
              <a:ext cx="452755" cy="251460"/>
            </a:xfrm>
            <a:custGeom>
              <a:avLst/>
              <a:gdLst/>
              <a:ahLst/>
              <a:cxnLst/>
              <a:rect l="l" t="t" r="r" b="b"/>
              <a:pathLst>
                <a:path w="452754" h="251460">
                  <a:moveTo>
                    <a:pt x="326898" y="0"/>
                  </a:moveTo>
                  <a:lnTo>
                    <a:pt x="0" y="0"/>
                  </a:lnTo>
                  <a:lnTo>
                    <a:pt x="0" y="251459"/>
                  </a:lnTo>
                  <a:lnTo>
                    <a:pt x="326898" y="251459"/>
                  </a:lnTo>
                  <a:lnTo>
                    <a:pt x="452627" y="125729"/>
                  </a:lnTo>
                  <a:lnTo>
                    <a:pt x="326898" y="0"/>
                  </a:lnTo>
                  <a:close/>
                </a:path>
              </a:pathLst>
            </a:custGeom>
            <a:solidFill>
              <a:srgbClr val="6F2F9F"/>
            </a:solidFill>
          </p:spPr>
          <p:txBody>
            <a:bodyPr wrap="square" lIns="0" tIns="0" rIns="0" bIns="0" rtlCol="0"/>
            <a:lstStyle/>
            <a:p/>
          </p:txBody>
        </p:sp>
        <p:sp>
          <p:nvSpPr>
            <p:cNvPr id="28" name="object 28"/>
            <p:cNvSpPr/>
            <p:nvPr/>
          </p:nvSpPr>
          <p:spPr>
            <a:xfrm>
              <a:off x="3427476" y="3829811"/>
              <a:ext cx="452755" cy="251460"/>
            </a:xfrm>
            <a:custGeom>
              <a:avLst/>
              <a:gdLst/>
              <a:ahLst/>
              <a:cxnLst/>
              <a:rect l="l" t="t" r="r" b="b"/>
              <a:pathLst>
                <a:path w="452754" h="251460">
                  <a:moveTo>
                    <a:pt x="0" y="0"/>
                  </a:moveTo>
                  <a:lnTo>
                    <a:pt x="326898" y="0"/>
                  </a:lnTo>
                  <a:lnTo>
                    <a:pt x="452627" y="125729"/>
                  </a:lnTo>
                  <a:lnTo>
                    <a:pt x="326898" y="251459"/>
                  </a:lnTo>
                  <a:lnTo>
                    <a:pt x="0" y="251459"/>
                  </a:lnTo>
                  <a:lnTo>
                    <a:pt x="0" y="0"/>
                  </a:lnTo>
                  <a:close/>
                </a:path>
              </a:pathLst>
            </a:custGeom>
            <a:ln w="3175">
              <a:solidFill>
                <a:srgbClr val="34352F"/>
              </a:solidFill>
            </a:ln>
          </p:spPr>
          <p:txBody>
            <a:bodyPr wrap="square" lIns="0" tIns="0" rIns="0" bIns="0" rtlCol="0"/>
            <a:lstStyle/>
            <a:p/>
          </p:txBody>
        </p:sp>
      </p:grpSp>
      <p:sp>
        <p:nvSpPr>
          <p:cNvPr id="29" name="object 29"/>
          <p:cNvSpPr txBox="1"/>
          <p:nvPr/>
        </p:nvSpPr>
        <p:spPr>
          <a:xfrm>
            <a:off x="3528314" y="3328492"/>
            <a:ext cx="166370" cy="186690"/>
          </a:xfrm>
          <a:prstGeom prst="rect">
            <a:avLst/>
          </a:prstGeom>
        </p:spPr>
        <p:txBody>
          <a:bodyPr vert="horz" wrap="square" lIns="0" tIns="13335" rIns="0" bIns="0" rtlCol="0">
            <a:spAutoFit/>
          </a:bodyPr>
          <a:lstStyle/>
          <a:p>
            <a:pPr marL="12700">
              <a:lnSpc>
                <a:spcPct val="100000"/>
              </a:lnSpc>
              <a:spcBef>
                <a:spcPts val="105"/>
              </a:spcBef>
            </a:pPr>
            <a:r>
              <a:rPr sz="1050" b="1" spc="-25" dirty="0">
                <a:solidFill>
                  <a:srgbClr val="FEFEFE"/>
                </a:solidFill>
                <a:latin typeface="Calibri" panose="020F0502020204030204"/>
                <a:cs typeface="Calibri" panose="020F0502020204030204"/>
              </a:rPr>
              <a:t>LH</a:t>
            </a:r>
            <a:endParaRPr sz="1050">
              <a:latin typeface="Calibri" panose="020F0502020204030204"/>
              <a:cs typeface="Calibri" panose="020F0502020204030204"/>
            </a:endParaRPr>
          </a:p>
        </p:txBody>
      </p:sp>
      <p:sp>
        <p:nvSpPr>
          <p:cNvPr id="30" name="object 30"/>
          <p:cNvSpPr txBox="1"/>
          <p:nvPr/>
        </p:nvSpPr>
        <p:spPr>
          <a:xfrm>
            <a:off x="4434966" y="2821050"/>
            <a:ext cx="3464560" cy="1976120"/>
          </a:xfrm>
          <a:prstGeom prst="rect">
            <a:avLst/>
          </a:prstGeom>
        </p:spPr>
        <p:txBody>
          <a:bodyPr vert="horz" wrap="square" lIns="0" tIns="12065" rIns="0" bIns="0" rtlCol="0">
            <a:spAutoFit/>
          </a:bodyPr>
          <a:lstStyle/>
          <a:p>
            <a:pPr marL="12700">
              <a:lnSpc>
                <a:spcPct val="100000"/>
              </a:lnSpc>
              <a:spcBef>
                <a:spcPts val="95"/>
              </a:spcBef>
            </a:pPr>
            <a:r>
              <a:rPr sz="1600" i="1" spc="-10" dirty="0">
                <a:solidFill>
                  <a:srgbClr val="0000FE"/>
                </a:solidFill>
                <a:latin typeface="Calibri" panose="020F0502020204030204"/>
                <a:cs typeface="Calibri" panose="020F0502020204030204"/>
              </a:rPr>
              <a:t>set_level_shifter</a:t>
            </a:r>
            <a:r>
              <a:rPr sz="1600" i="1" spc="15" dirty="0">
                <a:solidFill>
                  <a:srgbClr val="0000FE"/>
                </a:solidFill>
                <a:latin typeface="Calibri" panose="020F0502020204030204"/>
                <a:cs typeface="Calibri" panose="020F0502020204030204"/>
              </a:rPr>
              <a:t> </a:t>
            </a:r>
            <a:r>
              <a:rPr sz="1600" i="1" spc="-10" dirty="0">
                <a:solidFill>
                  <a:srgbClr val="0000FE"/>
                </a:solidFill>
                <a:latin typeface="Calibri" panose="020F0502020204030204"/>
                <a:cs typeface="Calibri" panose="020F0502020204030204"/>
              </a:rPr>
              <a:t>pd1_LSout</a:t>
            </a:r>
            <a:endParaRPr sz="1600">
              <a:latin typeface="Calibri" panose="020F0502020204030204"/>
              <a:cs typeface="Calibri" panose="020F0502020204030204"/>
            </a:endParaRPr>
          </a:p>
          <a:p>
            <a:pPr marL="12700">
              <a:lnSpc>
                <a:spcPct val="100000"/>
              </a:lnSpc>
            </a:pPr>
            <a:r>
              <a:rPr sz="1600" i="1" dirty="0">
                <a:solidFill>
                  <a:srgbClr val="FD9A1D"/>
                </a:solidFill>
                <a:latin typeface="Calibri" panose="020F0502020204030204"/>
                <a:cs typeface="Calibri" panose="020F0502020204030204"/>
              </a:rPr>
              <a:t>-domain</a:t>
            </a:r>
            <a:r>
              <a:rPr sz="1600" i="1" spc="-60" dirty="0">
                <a:solidFill>
                  <a:srgbClr val="FD9A1D"/>
                </a:solidFill>
                <a:latin typeface="Calibri" panose="020F0502020204030204"/>
                <a:cs typeface="Calibri" panose="020F0502020204030204"/>
              </a:rPr>
              <a:t> </a:t>
            </a:r>
            <a:r>
              <a:rPr sz="1600" i="1" spc="-25" dirty="0">
                <a:solidFill>
                  <a:srgbClr val="FD9A1D"/>
                </a:solidFill>
                <a:latin typeface="Calibri" panose="020F0502020204030204"/>
                <a:cs typeface="Calibri" panose="020F0502020204030204"/>
              </a:rPr>
              <a:t>pd1</a:t>
            </a:r>
            <a:endParaRPr sz="1600">
              <a:latin typeface="Calibri" panose="020F0502020204030204"/>
              <a:cs typeface="Calibri" panose="020F0502020204030204"/>
            </a:endParaRPr>
          </a:p>
          <a:p>
            <a:pPr marL="12700">
              <a:lnSpc>
                <a:spcPct val="100000"/>
              </a:lnSpc>
            </a:pPr>
            <a:r>
              <a:rPr sz="1600" i="1" dirty="0">
                <a:solidFill>
                  <a:srgbClr val="FD9A1D"/>
                </a:solidFill>
                <a:latin typeface="Calibri" panose="020F0502020204030204"/>
                <a:cs typeface="Calibri" panose="020F0502020204030204"/>
              </a:rPr>
              <a:t>-applies_to</a:t>
            </a:r>
            <a:r>
              <a:rPr sz="1600" i="1" spc="-35" dirty="0">
                <a:solidFill>
                  <a:srgbClr val="FD9A1D"/>
                </a:solidFill>
                <a:latin typeface="Calibri" panose="020F0502020204030204"/>
                <a:cs typeface="Calibri" panose="020F0502020204030204"/>
              </a:rPr>
              <a:t> </a:t>
            </a:r>
            <a:r>
              <a:rPr sz="1600" i="1" dirty="0">
                <a:solidFill>
                  <a:srgbClr val="FD9A1D"/>
                </a:solidFill>
                <a:latin typeface="Calibri" panose="020F0502020204030204"/>
                <a:cs typeface="Calibri" panose="020F0502020204030204"/>
              </a:rPr>
              <a:t>&lt;inputs</a:t>
            </a:r>
            <a:r>
              <a:rPr sz="1600" i="1" spc="-35" dirty="0">
                <a:solidFill>
                  <a:srgbClr val="FD9A1D"/>
                </a:solidFill>
                <a:latin typeface="Calibri" panose="020F0502020204030204"/>
                <a:cs typeface="Calibri" panose="020F0502020204030204"/>
              </a:rPr>
              <a:t> </a:t>
            </a:r>
            <a:r>
              <a:rPr sz="1600" i="1" dirty="0">
                <a:solidFill>
                  <a:srgbClr val="FD9A1D"/>
                </a:solidFill>
                <a:latin typeface="Calibri" panose="020F0502020204030204"/>
                <a:cs typeface="Calibri" panose="020F0502020204030204"/>
              </a:rPr>
              <a:t>|</a:t>
            </a:r>
            <a:r>
              <a:rPr sz="1600" i="1" spc="-40" dirty="0">
                <a:solidFill>
                  <a:srgbClr val="FD9A1D"/>
                </a:solidFill>
                <a:latin typeface="Calibri" panose="020F0502020204030204"/>
                <a:cs typeface="Calibri" panose="020F0502020204030204"/>
              </a:rPr>
              <a:t> </a:t>
            </a:r>
            <a:r>
              <a:rPr sz="1600" i="1" dirty="0">
                <a:solidFill>
                  <a:srgbClr val="FE0000"/>
                </a:solidFill>
                <a:latin typeface="Calibri" panose="020F0502020204030204"/>
                <a:cs typeface="Calibri" panose="020F0502020204030204"/>
              </a:rPr>
              <a:t>outputs</a:t>
            </a:r>
            <a:r>
              <a:rPr sz="1600" i="1" spc="-30" dirty="0">
                <a:solidFill>
                  <a:srgbClr val="FE0000"/>
                </a:solidFill>
                <a:latin typeface="Calibri" panose="020F0502020204030204"/>
                <a:cs typeface="Calibri" panose="020F0502020204030204"/>
              </a:rPr>
              <a:t> </a:t>
            </a:r>
            <a:r>
              <a:rPr sz="1600" i="1" dirty="0">
                <a:solidFill>
                  <a:srgbClr val="FD9A1D"/>
                </a:solidFill>
                <a:latin typeface="Calibri" panose="020F0502020204030204"/>
                <a:cs typeface="Calibri" panose="020F0502020204030204"/>
              </a:rPr>
              <a:t>|</a:t>
            </a:r>
            <a:r>
              <a:rPr sz="1600" i="1" spc="-45" dirty="0">
                <a:solidFill>
                  <a:srgbClr val="FD9A1D"/>
                </a:solidFill>
                <a:latin typeface="Calibri" panose="020F0502020204030204"/>
                <a:cs typeface="Calibri" panose="020F0502020204030204"/>
              </a:rPr>
              <a:t> </a:t>
            </a:r>
            <a:r>
              <a:rPr sz="1600" i="1" spc="-20" dirty="0">
                <a:solidFill>
                  <a:srgbClr val="FD9A1D"/>
                </a:solidFill>
                <a:latin typeface="Calibri" panose="020F0502020204030204"/>
                <a:cs typeface="Calibri" panose="020F0502020204030204"/>
              </a:rPr>
              <a:t>both&gt;</a:t>
            </a:r>
            <a:endParaRPr sz="1600">
              <a:latin typeface="Calibri" panose="020F0502020204030204"/>
              <a:cs typeface="Calibri" panose="020F0502020204030204"/>
            </a:endParaRPr>
          </a:p>
          <a:p>
            <a:pPr marL="12700">
              <a:lnSpc>
                <a:spcPct val="100000"/>
              </a:lnSpc>
            </a:pPr>
            <a:r>
              <a:rPr sz="1600" i="1" dirty="0">
                <a:solidFill>
                  <a:srgbClr val="FD9A1D"/>
                </a:solidFill>
                <a:latin typeface="Calibri" panose="020F0502020204030204"/>
                <a:cs typeface="Calibri" panose="020F0502020204030204"/>
              </a:rPr>
              <a:t>-source</a:t>
            </a:r>
            <a:r>
              <a:rPr sz="1600" i="1" spc="-35" dirty="0">
                <a:solidFill>
                  <a:srgbClr val="FD9A1D"/>
                </a:solidFill>
                <a:latin typeface="Calibri" panose="020F0502020204030204"/>
                <a:cs typeface="Calibri" panose="020F0502020204030204"/>
              </a:rPr>
              <a:t> </a:t>
            </a:r>
            <a:r>
              <a:rPr sz="1600" i="1" dirty="0">
                <a:solidFill>
                  <a:srgbClr val="FD9A1D"/>
                </a:solidFill>
                <a:latin typeface="Calibri" panose="020F0502020204030204"/>
                <a:cs typeface="Calibri" panose="020F0502020204030204"/>
              </a:rPr>
              <a:t>pd1</a:t>
            </a:r>
            <a:r>
              <a:rPr sz="1600" i="1" spc="-10" dirty="0">
                <a:solidFill>
                  <a:srgbClr val="FD9A1D"/>
                </a:solidFill>
                <a:latin typeface="Calibri" panose="020F0502020204030204"/>
                <a:cs typeface="Calibri" panose="020F0502020204030204"/>
              </a:rPr>
              <a:t> </a:t>
            </a:r>
            <a:r>
              <a:rPr sz="1600" i="1" dirty="0">
                <a:solidFill>
                  <a:srgbClr val="FD9A1D"/>
                </a:solidFill>
                <a:latin typeface="Calibri" panose="020F0502020204030204"/>
                <a:cs typeface="Calibri" panose="020F0502020204030204"/>
              </a:rPr>
              <a:t>-sink</a:t>
            </a:r>
            <a:r>
              <a:rPr sz="1600" i="1" spc="-55" dirty="0">
                <a:solidFill>
                  <a:srgbClr val="FD9A1D"/>
                </a:solidFill>
                <a:latin typeface="Calibri" panose="020F0502020204030204"/>
                <a:cs typeface="Calibri" panose="020F0502020204030204"/>
              </a:rPr>
              <a:t> </a:t>
            </a:r>
            <a:r>
              <a:rPr sz="1600" i="1" spc="-25" dirty="0">
                <a:solidFill>
                  <a:srgbClr val="FD9A1D"/>
                </a:solidFill>
                <a:latin typeface="Calibri" panose="020F0502020204030204"/>
                <a:cs typeface="Calibri" panose="020F0502020204030204"/>
              </a:rPr>
              <a:t>TOP</a:t>
            </a:r>
            <a:endParaRPr sz="1600">
              <a:latin typeface="Calibri" panose="020F0502020204030204"/>
              <a:cs typeface="Calibri" panose="020F0502020204030204"/>
            </a:endParaRPr>
          </a:p>
          <a:p>
            <a:pPr marL="12700">
              <a:lnSpc>
                <a:spcPct val="100000"/>
              </a:lnSpc>
            </a:pPr>
            <a:r>
              <a:rPr sz="1600" i="1" dirty="0">
                <a:solidFill>
                  <a:srgbClr val="006FBF"/>
                </a:solidFill>
                <a:latin typeface="Calibri" panose="020F0502020204030204"/>
                <a:cs typeface="Calibri" panose="020F0502020204030204"/>
              </a:rPr>
              <a:t>-location</a:t>
            </a:r>
            <a:r>
              <a:rPr sz="1600" i="1" spc="-35" dirty="0">
                <a:solidFill>
                  <a:srgbClr val="006FBF"/>
                </a:solidFill>
                <a:latin typeface="Calibri" panose="020F0502020204030204"/>
                <a:cs typeface="Calibri" panose="020F0502020204030204"/>
              </a:rPr>
              <a:t> </a:t>
            </a:r>
            <a:r>
              <a:rPr sz="1600" i="1" dirty="0">
                <a:solidFill>
                  <a:srgbClr val="006FBF"/>
                </a:solidFill>
                <a:latin typeface="Calibri" panose="020F0502020204030204"/>
                <a:cs typeface="Calibri" panose="020F0502020204030204"/>
              </a:rPr>
              <a:t>&lt;self</a:t>
            </a:r>
            <a:r>
              <a:rPr sz="1600" i="1" spc="-30" dirty="0">
                <a:solidFill>
                  <a:srgbClr val="006FBF"/>
                </a:solidFill>
                <a:latin typeface="Calibri" panose="020F0502020204030204"/>
                <a:cs typeface="Calibri" panose="020F0502020204030204"/>
              </a:rPr>
              <a:t> </a:t>
            </a:r>
            <a:r>
              <a:rPr sz="1600" i="1" dirty="0">
                <a:solidFill>
                  <a:srgbClr val="006FBF"/>
                </a:solidFill>
                <a:latin typeface="Calibri" panose="020F0502020204030204"/>
                <a:cs typeface="Calibri" panose="020F0502020204030204"/>
              </a:rPr>
              <a:t>|</a:t>
            </a:r>
            <a:r>
              <a:rPr sz="1600" i="1" spc="-35" dirty="0">
                <a:solidFill>
                  <a:srgbClr val="006FBF"/>
                </a:solidFill>
                <a:latin typeface="Calibri" panose="020F0502020204030204"/>
                <a:cs typeface="Calibri" panose="020F0502020204030204"/>
              </a:rPr>
              <a:t> </a:t>
            </a:r>
            <a:r>
              <a:rPr sz="1600" i="1" dirty="0">
                <a:solidFill>
                  <a:srgbClr val="FE0000"/>
                </a:solidFill>
                <a:latin typeface="Calibri" panose="020F0502020204030204"/>
                <a:cs typeface="Calibri" panose="020F0502020204030204"/>
              </a:rPr>
              <a:t>parent</a:t>
            </a:r>
            <a:r>
              <a:rPr sz="1600" i="1" spc="-10" dirty="0">
                <a:solidFill>
                  <a:srgbClr val="FE0000"/>
                </a:solidFill>
                <a:latin typeface="Calibri" panose="020F0502020204030204"/>
                <a:cs typeface="Calibri" panose="020F0502020204030204"/>
              </a:rPr>
              <a:t> </a:t>
            </a:r>
            <a:r>
              <a:rPr sz="1600" i="1" dirty="0">
                <a:solidFill>
                  <a:srgbClr val="006FBF"/>
                </a:solidFill>
                <a:latin typeface="Calibri" panose="020F0502020204030204"/>
                <a:cs typeface="Calibri" panose="020F0502020204030204"/>
              </a:rPr>
              <a:t>|</a:t>
            </a:r>
            <a:r>
              <a:rPr sz="1600" i="1" spc="-35" dirty="0">
                <a:solidFill>
                  <a:srgbClr val="006FBF"/>
                </a:solidFill>
                <a:latin typeface="Calibri" panose="020F0502020204030204"/>
                <a:cs typeface="Calibri" panose="020F0502020204030204"/>
              </a:rPr>
              <a:t> </a:t>
            </a:r>
            <a:r>
              <a:rPr sz="1600" i="1" dirty="0">
                <a:solidFill>
                  <a:srgbClr val="006FBF"/>
                </a:solidFill>
                <a:latin typeface="Calibri" panose="020F0502020204030204"/>
                <a:cs typeface="Calibri" panose="020F0502020204030204"/>
              </a:rPr>
              <a:t>other</a:t>
            </a:r>
            <a:r>
              <a:rPr sz="1600" i="1" spc="-25" dirty="0">
                <a:solidFill>
                  <a:srgbClr val="006FBF"/>
                </a:solidFill>
                <a:latin typeface="Calibri" panose="020F0502020204030204"/>
                <a:cs typeface="Calibri" panose="020F0502020204030204"/>
              </a:rPr>
              <a:t> </a:t>
            </a:r>
            <a:r>
              <a:rPr sz="1600" i="1" dirty="0">
                <a:solidFill>
                  <a:srgbClr val="006FBF"/>
                </a:solidFill>
                <a:latin typeface="Calibri" panose="020F0502020204030204"/>
                <a:cs typeface="Calibri" panose="020F0502020204030204"/>
              </a:rPr>
              <a:t>|</a:t>
            </a:r>
            <a:r>
              <a:rPr sz="1600" i="1" spc="-25" dirty="0">
                <a:solidFill>
                  <a:srgbClr val="006FBF"/>
                </a:solidFill>
                <a:latin typeface="Calibri" panose="020F0502020204030204"/>
                <a:cs typeface="Calibri" panose="020F0502020204030204"/>
              </a:rPr>
              <a:t> …&gt;</a:t>
            </a:r>
            <a:endParaRPr sz="1600">
              <a:latin typeface="Calibri" panose="020F0502020204030204"/>
              <a:cs typeface="Calibri" panose="020F0502020204030204"/>
            </a:endParaRPr>
          </a:p>
          <a:p>
            <a:pPr marL="12700">
              <a:lnSpc>
                <a:spcPct val="100000"/>
              </a:lnSpc>
            </a:pPr>
            <a:r>
              <a:rPr sz="1600" i="1" dirty="0">
                <a:solidFill>
                  <a:srgbClr val="006FBF"/>
                </a:solidFill>
                <a:latin typeface="Calibri" panose="020F0502020204030204"/>
                <a:cs typeface="Calibri" panose="020F0502020204030204"/>
              </a:rPr>
              <a:t>-rule</a:t>
            </a:r>
            <a:r>
              <a:rPr sz="1600" i="1" spc="-55" dirty="0">
                <a:solidFill>
                  <a:srgbClr val="006FBF"/>
                </a:solidFill>
                <a:latin typeface="Calibri" panose="020F0502020204030204"/>
                <a:cs typeface="Calibri" panose="020F0502020204030204"/>
              </a:rPr>
              <a:t> </a:t>
            </a:r>
            <a:r>
              <a:rPr sz="1600" i="1" dirty="0">
                <a:solidFill>
                  <a:srgbClr val="006FBF"/>
                </a:solidFill>
                <a:latin typeface="Calibri" panose="020F0502020204030204"/>
                <a:cs typeface="Calibri" panose="020F0502020204030204"/>
              </a:rPr>
              <a:t>&lt;</a:t>
            </a:r>
            <a:r>
              <a:rPr sz="1600" i="1" dirty="0">
                <a:solidFill>
                  <a:srgbClr val="FE0000"/>
                </a:solidFill>
                <a:latin typeface="Calibri" panose="020F0502020204030204"/>
                <a:cs typeface="Calibri" panose="020F0502020204030204"/>
              </a:rPr>
              <a:t>low_to_high</a:t>
            </a:r>
            <a:r>
              <a:rPr sz="1600" i="1" spc="10" dirty="0">
                <a:solidFill>
                  <a:srgbClr val="FE0000"/>
                </a:solidFill>
                <a:latin typeface="Calibri" panose="020F0502020204030204"/>
                <a:cs typeface="Calibri" panose="020F0502020204030204"/>
              </a:rPr>
              <a:t> </a:t>
            </a:r>
            <a:r>
              <a:rPr sz="1600" i="1" dirty="0">
                <a:solidFill>
                  <a:srgbClr val="006FBF"/>
                </a:solidFill>
                <a:latin typeface="Calibri" panose="020F0502020204030204"/>
                <a:cs typeface="Calibri" panose="020F0502020204030204"/>
              </a:rPr>
              <a:t>|</a:t>
            </a:r>
            <a:r>
              <a:rPr sz="1600" i="1" spc="-40" dirty="0">
                <a:solidFill>
                  <a:srgbClr val="006FBF"/>
                </a:solidFill>
                <a:latin typeface="Calibri" panose="020F0502020204030204"/>
                <a:cs typeface="Calibri" panose="020F0502020204030204"/>
              </a:rPr>
              <a:t> </a:t>
            </a:r>
            <a:r>
              <a:rPr sz="1600" i="1" spc="-10" dirty="0">
                <a:solidFill>
                  <a:srgbClr val="006FBF"/>
                </a:solidFill>
                <a:latin typeface="Calibri" panose="020F0502020204030204"/>
                <a:cs typeface="Calibri" panose="020F0502020204030204"/>
              </a:rPr>
              <a:t>high_to_low</a:t>
            </a:r>
            <a:r>
              <a:rPr sz="1600" i="1" spc="10" dirty="0">
                <a:solidFill>
                  <a:srgbClr val="006FBF"/>
                </a:solidFill>
                <a:latin typeface="Calibri" panose="020F0502020204030204"/>
                <a:cs typeface="Calibri" panose="020F0502020204030204"/>
              </a:rPr>
              <a:t> </a:t>
            </a:r>
            <a:r>
              <a:rPr sz="1600" i="1" dirty="0">
                <a:solidFill>
                  <a:srgbClr val="006FBF"/>
                </a:solidFill>
                <a:latin typeface="Calibri" panose="020F0502020204030204"/>
                <a:cs typeface="Calibri" panose="020F0502020204030204"/>
              </a:rPr>
              <a:t>|</a:t>
            </a:r>
            <a:r>
              <a:rPr sz="1600" i="1" spc="-50" dirty="0">
                <a:solidFill>
                  <a:srgbClr val="006FBF"/>
                </a:solidFill>
                <a:latin typeface="Calibri" panose="020F0502020204030204"/>
                <a:cs typeface="Calibri" panose="020F0502020204030204"/>
              </a:rPr>
              <a:t> </a:t>
            </a:r>
            <a:r>
              <a:rPr sz="1600" i="1" spc="-20" dirty="0">
                <a:solidFill>
                  <a:srgbClr val="006FBF"/>
                </a:solidFill>
                <a:latin typeface="Calibri" panose="020F0502020204030204"/>
                <a:cs typeface="Calibri" panose="020F0502020204030204"/>
              </a:rPr>
              <a:t>both&gt;</a:t>
            </a:r>
            <a:endParaRPr sz="1600">
              <a:latin typeface="Calibri" panose="020F0502020204030204"/>
              <a:cs typeface="Calibri" panose="020F0502020204030204"/>
            </a:endParaRPr>
          </a:p>
          <a:p>
            <a:pPr marL="12700">
              <a:lnSpc>
                <a:spcPct val="100000"/>
              </a:lnSpc>
            </a:pPr>
            <a:r>
              <a:rPr sz="1600" i="1" dirty="0">
                <a:solidFill>
                  <a:srgbClr val="006FBF"/>
                </a:solidFill>
                <a:latin typeface="Calibri" panose="020F0502020204030204"/>
                <a:cs typeface="Calibri" panose="020F0502020204030204"/>
              </a:rPr>
              <a:t>-</a:t>
            </a:r>
            <a:r>
              <a:rPr sz="1600" i="1" spc="-10" dirty="0">
                <a:solidFill>
                  <a:srgbClr val="006FBF"/>
                </a:solidFill>
                <a:latin typeface="Calibri" panose="020F0502020204030204"/>
                <a:cs typeface="Calibri" panose="020F0502020204030204"/>
              </a:rPr>
              <a:t>input_supply_set</a:t>
            </a:r>
            <a:r>
              <a:rPr sz="1600" i="1" spc="50" dirty="0">
                <a:solidFill>
                  <a:srgbClr val="006FBF"/>
                </a:solidFill>
                <a:latin typeface="Calibri" panose="020F0502020204030204"/>
                <a:cs typeface="Calibri" panose="020F0502020204030204"/>
              </a:rPr>
              <a:t> </a:t>
            </a:r>
            <a:r>
              <a:rPr sz="1600" i="1" spc="-10" dirty="0">
                <a:solidFill>
                  <a:srgbClr val="006FBF"/>
                </a:solidFill>
                <a:latin typeface="Calibri" panose="020F0502020204030204"/>
                <a:cs typeface="Calibri" panose="020F0502020204030204"/>
              </a:rPr>
              <a:t>SS_VDDL</a:t>
            </a:r>
            <a:endParaRPr sz="1600">
              <a:latin typeface="Calibri" panose="020F0502020204030204"/>
              <a:cs typeface="Calibri" panose="020F0502020204030204"/>
            </a:endParaRPr>
          </a:p>
          <a:p>
            <a:pPr marL="12700">
              <a:lnSpc>
                <a:spcPct val="100000"/>
              </a:lnSpc>
            </a:pPr>
            <a:r>
              <a:rPr sz="1600" i="1" dirty="0">
                <a:solidFill>
                  <a:srgbClr val="006FBF"/>
                </a:solidFill>
                <a:latin typeface="Calibri" panose="020F0502020204030204"/>
                <a:cs typeface="Calibri" panose="020F0502020204030204"/>
              </a:rPr>
              <a:t>-</a:t>
            </a:r>
            <a:r>
              <a:rPr sz="1600" i="1" spc="-10" dirty="0">
                <a:solidFill>
                  <a:srgbClr val="006FBF"/>
                </a:solidFill>
                <a:latin typeface="Calibri" panose="020F0502020204030204"/>
                <a:cs typeface="Calibri" panose="020F0502020204030204"/>
              </a:rPr>
              <a:t>output_supply_set</a:t>
            </a:r>
            <a:r>
              <a:rPr sz="1600" i="1" spc="50" dirty="0">
                <a:solidFill>
                  <a:srgbClr val="006FBF"/>
                </a:solidFill>
                <a:latin typeface="Calibri" panose="020F0502020204030204"/>
                <a:cs typeface="Calibri" panose="020F0502020204030204"/>
              </a:rPr>
              <a:t> </a:t>
            </a:r>
            <a:r>
              <a:rPr sz="1600" i="1" spc="-10" dirty="0">
                <a:solidFill>
                  <a:srgbClr val="006FBF"/>
                </a:solidFill>
                <a:latin typeface="Calibri" panose="020F0502020204030204"/>
                <a:cs typeface="Calibri" panose="020F0502020204030204"/>
              </a:rPr>
              <a:t>SS_VDD</a:t>
            </a:r>
            <a:endParaRPr sz="1600">
              <a:latin typeface="Calibri" panose="020F0502020204030204"/>
              <a:cs typeface="Calibri" panose="020F0502020204030204"/>
            </a:endParaRPr>
          </a:p>
        </p:txBody>
      </p:sp>
      <p:sp>
        <p:nvSpPr>
          <p:cNvPr id="31" name="object 31"/>
          <p:cNvSpPr txBox="1"/>
          <p:nvPr/>
        </p:nvSpPr>
        <p:spPr>
          <a:xfrm>
            <a:off x="4434966" y="649986"/>
            <a:ext cx="2157095" cy="513080"/>
          </a:xfrm>
          <a:prstGeom prst="rect">
            <a:avLst/>
          </a:prstGeom>
        </p:spPr>
        <p:txBody>
          <a:bodyPr vert="horz" wrap="square" lIns="0" tIns="12065" rIns="0" bIns="0" rtlCol="0">
            <a:spAutoFit/>
          </a:bodyPr>
          <a:lstStyle/>
          <a:p>
            <a:pPr marL="12700">
              <a:lnSpc>
                <a:spcPct val="100000"/>
              </a:lnSpc>
              <a:spcBef>
                <a:spcPts val="95"/>
              </a:spcBef>
            </a:pPr>
            <a:r>
              <a:rPr sz="1600" i="1" spc="-10" dirty="0">
                <a:solidFill>
                  <a:srgbClr val="0000FE"/>
                </a:solidFill>
                <a:latin typeface="Calibri" panose="020F0502020204030204"/>
                <a:cs typeface="Calibri" panose="020F0502020204030204"/>
              </a:rPr>
              <a:t>set_level_shifter</a:t>
            </a:r>
            <a:r>
              <a:rPr sz="1600" i="1" spc="15" dirty="0">
                <a:solidFill>
                  <a:srgbClr val="0000FE"/>
                </a:solidFill>
                <a:latin typeface="Calibri" panose="020F0502020204030204"/>
                <a:cs typeface="Calibri" panose="020F0502020204030204"/>
              </a:rPr>
              <a:t> </a:t>
            </a:r>
            <a:r>
              <a:rPr sz="1600" i="1" spc="-10" dirty="0">
                <a:solidFill>
                  <a:srgbClr val="0000FE"/>
                </a:solidFill>
                <a:latin typeface="Calibri" panose="020F0502020204030204"/>
                <a:cs typeface="Calibri" panose="020F0502020204030204"/>
              </a:rPr>
              <a:t>pd1_LSin</a:t>
            </a:r>
            <a:endParaRPr sz="1600">
              <a:latin typeface="Calibri" panose="020F0502020204030204"/>
              <a:cs typeface="Calibri" panose="020F0502020204030204"/>
            </a:endParaRPr>
          </a:p>
          <a:p>
            <a:pPr marL="12700">
              <a:lnSpc>
                <a:spcPct val="100000"/>
              </a:lnSpc>
            </a:pPr>
            <a:r>
              <a:rPr sz="1600" i="1" dirty="0">
                <a:solidFill>
                  <a:srgbClr val="FD9A1D"/>
                </a:solidFill>
                <a:latin typeface="Calibri" panose="020F0502020204030204"/>
                <a:cs typeface="Calibri" panose="020F0502020204030204"/>
              </a:rPr>
              <a:t>-domain</a:t>
            </a:r>
            <a:r>
              <a:rPr sz="1600" i="1" spc="-60" dirty="0">
                <a:solidFill>
                  <a:srgbClr val="FD9A1D"/>
                </a:solidFill>
                <a:latin typeface="Calibri" panose="020F0502020204030204"/>
                <a:cs typeface="Calibri" panose="020F0502020204030204"/>
              </a:rPr>
              <a:t> </a:t>
            </a:r>
            <a:r>
              <a:rPr sz="1600" i="1" spc="-25" dirty="0">
                <a:solidFill>
                  <a:srgbClr val="FD9A1D"/>
                </a:solidFill>
                <a:latin typeface="Calibri" panose="020F0502020204030204"/>
                <a:cs typeface="Calibri" panose="020F0502020204030204"/>
              </a:rPr>
              <a:t>pd1</a:t>
            </a:r>
            <a:endParaRPr sz="1600">
              <a:latin typeface="Calibri" panose="020F0502020204030204"/>
              <a:cs typeface="Calibri" panose="020F0502020204030204"/>
            </a:endParaRPr>
          </a:p>
        </p:txBody>
      </p:sp>
      <p:sp>
        <p:nvSpPr>
          <p:cNvPr id="32" name="object 32"/>
          <p:cNvSpPr txBox="1"/>
          <p:nvPr/>
        </p:nvSpPr>
        <p:spPr>
          <a:xfrm>
            <a:off x="4434966" y="1137919"/>
            <a:ext cx="3464560" cy="1488440"/>
          </a:xfrm>
          <a:prstGeom prst="rect">
            <a:avLst/>
          </a:prstGeom>
        </p:spPr>
        <p:txBody>
          <a:bodyPr vert="horz" wrap="square" lIns="0" tIns="12065" rIns="0" bIns="0" rtlCol="0">
            <a:spAutoFit/>
          </a:bodyPr>
          <a:lstStyle/>
          <a:p>
            <a:pPr marL="12700">
              <a:lnSpc>
                <a:spcPct val="100000"/>
              </a:lnSpc>
              <a:spcBef>
                <a:spcPts val="95"/>
              </a:spcBef>
            </a:pPr>
            <a:r>
              <a:rPr sz="1600" i="1" dirty="0">
                <a:solidFill>
                  <a:srgbClr val="FD9A1D"/>
                </a:solidFill>
                <a:latin typeface="Calibri" panose="020F0502020204030204"/>
                <a:cs typeface="Calibri" panose="020F0502020204030204"/>
              </a:rPr>
              <a:t>-applies_to</a:t>
            </a:r>
            <a:r>
              <a:rPr sz="1600" i="1" spc="-35" dirty="0">
                <a:solidFill>
                  <a:srgbClr val="FD9A1D"/>
                </a:solidFill>
                <a:latin typeface="Calibri" panose="020F0502020204030204"/>
                <a:cs typeface="Calibri" panose="020F0502020204030204"/>
              </a:rPr>
              <a:t> </a:t>
            </a:r>
            <a:r>
              <a:rPr sz="1600" i="1" dirty="0">
                <a:solidFill>
                  <a:srgbClr val="FD9A1D"/>
                </a:solidFill>
                <a:latin typeface="Calibri" panose="020F0502020204030204"/>
                <a:cs typeface="Calibri" panose="020F0502020204030204"/>
              </a:rPr>
              <a:t>&lt;</a:t>
            </a:r>
            <a:r>
              <a:rPr sz="1600" i="1" dirty="0">
                <a:solidFill>
                  <a:srgbClr val="FE0000"/>
                </a:solidFill>
                <a:latin typeface="Calibri" panose="020F0502020204030204"/>
                <a:cs typeface="Calibri" panose="020F0502020204030204"/>
              </a:rPr>
              <a:t>inputs</a:t>
            </a:r>
            <a:r>
              <a:rPr sz="1600" i="1" spc="-25" dirty="0">
                <a:solidFill>
                  <a:srgbClr val="FE0000"/>
                </a:solidFill>
                <a:latin typeface="Calibri" panose="020F0502020204030204"/>
                <a:cs typeface="Calibri" panose="020F0502020204030204"/>
              </a:rPr>
              <a:t> </a:t>
            </a:r>
            <a:r>
              <a:rPr sz="1600" i="1" dirty="0">
                <a:solidFill>
                  <a:srgbClr val="FD9A1D"/>
                </a:solidFill>
                <a:latin typeface="Calibri" panose="020F0502020204030204"/>
                <a:cs typeface="Calibri" panose="020F0502020204030204"/>
              </a:rPr>
              <a:t>|</a:t>
            </a:r>
            <a:r>
              <a:rPr sz="1600" i="1" spc="-45" dirty="0">
                <a:solidFill>
                  <a:srgbClr val="FD9A1D"/>
                </a:solidFill>
                <a:latin typeface="Calibri" panose="020F0502020204030204"/>
                <a:cs typeface="Calibri" panose="020F0502020204030204"/>
              </a:rPr>
              <a:t> </a:t>
            </a:r>
            <a:r>
              <a:rPr sz="1600" i="1" dirty="0">
                <a:solidFill>
                  <a:srgbClr val="FD9A1D"/>
                </a:solidFill>
                <a:latin typeface="Calibri" panose="020F0502020204030204"/>
                <a:cs typeface="Calibri" panose="020F0502020204030204"/>
              </a:rPr>
              <a:t>outputs</a:t>
            </a:r>
            <a:r>
              <a:rPr sz="1600" i="1" spc="-30" dirty="0">
                <a:solidFill>
                  <a:srgbClr val="FD9A1D"/>
                </a:solidFill>
                <a:latin typeface="Calibri" panose="020F0502020204030204"/>
                <a:cs typeface="Calibri" panose="020F0502020204030204"/>
              </a:rPr>
              <a:t> </a:t>
            </a:r>
            <a:r>
              <a:rPr sz="1600" i="1" dirty="0">
                <a:solidFill>
                  <a:srgbClr val="FD9A1D"/>
                </a:solidFill>
                <a:latin typeface="Calibri" panose="020F0502020204030204"/>
                <a:cs typeface="Calibri" panose="020F0502020204030204"/>
              </a:rPr>
              <a:t>|</a:t>
            </a:r>
            <a:r>
              <a:rPr sz="1600" i="1" spc="-45" dirty="0">
                <a:solidFill>
                  <a:srgbClr val="FD9A1D"/>
                </a:solidFill>
                <a:latin typeface="Calibri" panose="020F0502020204030204"/>
                <a:cs typeface="Calibri" panose="020F0502020204030204"/>
              </a:rPr>
              <a:t> </a:t>
            </a:r>
            <a:r>
              <a:rPr sz="1600" i="1" spc="-20" dirty="0">
                <a:solidFill>
                  <a:srgbClr val="FD9A1D"/>
                </a:solidFill>
                <a:latin typeface="Calibri" panose="020F0502020204030204"/>
                <a:cs typeface="Calibri" panose="020F0502020204030204"/>
              </a:rPr>
              <a:t>both&gt;</a:t>
            </a:r>
            <a:endParaRPr sz="1600">
              <a:latin typeface="Calibri" panose="020F0502020204030204"/>
              <a:cs typeface="Calibri" panose="020F0502020204030204"/>
            </a:endParaRPr>
          </a:p>
          <a:p>
            <a:pPr marL="12700">
              <a:lnSpc>
                <a:spcPct val="100000"/>
              </a:lnSpc>
            </a:pPr>
            <a:r>
              <a:rPr sz="1600" i="1" dirty="0">
                <a:solidFill>
                  <a:srgbClr val="FD9A1D"/>
                </a:solidFill>
                <a:latin typeface="Calibri" panose="020F0502020204030204"/>
                <a:cs typeface="Calibri" panose="020F0502020204030204"/>
              </a:rPr>
              <a:t>-source</a:t>
            </a:r>
            <a:r>
              <a:rPr sz="1600" i="1" spc="-40" dirty="0">
                <a:solidFill>
                  <a:srgbClr val="FD9A1D"/>
                </a:solidFill>
                <a:latin typeface="Calibri" panose="020F0502020204030204"/>
                <a:cs typeface="Calibri" panose="020F0502020204030204"/>
              </a:rPr>
              <a:t> </a:t>
            </a:r>
            <a:r>
              <a:rPr sz="1600" i="1" dirty="0">
                <a:solidFill>
                  <a:srgbClr val="FD9A1D"/>
                </a:solidFill>
                <a:latin typeface="Calibri" panose="020F0502020204030204"/>
                <a:cs typeface="Calibri" panose="020F0502020204030204"/>
              </a:rPr>
              <a:t>TOP</a:t>
            </a:r>
            <a:r>
              <a:rPr sz="1600" i="1" spc="-40" dirty="0">
                <a:solidFill>
                  <a:srgbClr val="FD9A1D"/>
                </a:solidFill>
                <a:latin typeface="Calibri" panose="020F0502020204030204"/>
                <a:cs typeface="Calibri" panose="020F0502020204030204"/>
              </a:rPr>
              <a:t> </a:t>
            </a:r>
            <a:r>
              <a:rPr sz="1600" i="1" dirty="0">
                <a:solidFill>
                  <a:srgbClr val="FD9A1D"/>
                </a:solidFill>
                <a:latin typeface="Calibri" panose="020F0502020204030204"/>
                <a:cs typeface="Calibri" panose="020F0502020204030204"/>
              </a:rPr>
              <a:t>-sink</a:t>
            </a:r>
            <a:r>
              <a:rPr sz="1600" i="1" spc="-60" dirty="0">
                <a:solidFill>
                  <a:srgbClr val="FD9A1D"/>
                </a:solidFill>
                <a:latin typeface="Calibri" panose="020F0502020204030204"/>
                <a:cs typeface="Calibri" panose="020F0502020204030204"/>
              </a:rPr>
              <a:t> </a:t>
            </a:r>
            <a:r>
              <a:rPr sz="1600" i="1" spc="-25" dirty="0">
                <a:solidFill>
                  <a:srgbClr val="FD9A1D"/>
                </a:solidFill>
                <a:latin typeface="Calibri" panose="020F0502020204030204"/>
                <a:cs typeface="Calibri" panose="020F0502020204030204"/>
              </a:rPr>
              <a:t>pd1</a:t>
            </a:r>
            <a:endParaRPr sz="1600">
              <a:latin typeface="Calibri" panose="020F0502020204030204"/>
              <a:cs typeface="Calibri" panose="020F0502020204030204"/>
            </a:endParaRPr>
          </a:p>
          <a:p>
            <a:pPr marL="12700">
              <a:lnSpc>
                <a:spcPct val="100000"/>
              </a:lnSpc>
            </a:pPr>
            <a:r>
              <a:rPr sz="1600" i="1" dirty="0">
                <a:solidFill>
                  <a:srgbClr val="006FBF"/>
                </a:solidFill>
                <a:latin typeface="Calibri" panose="020F0502020204030204"/>
                <a:cs typeface="Calibri" panose="020F0502020204030204"/>
              </a:rPr>
              <a:t>-location</a:t>
            </a:r>
            <a:r>
              <a:rPr sz="1600" i="1" spc="-35" dirty="0">
                <a:solidFill>
                  <a:srgbClr val="006FBF"/>
                </a:solidFill>
                <a:latin typeface="Calibri" panose="020F0502020204030204"/>
                <a:cs typeface="Calibri" panose="020F0502020204030204"/>
              </a:rPr>
              <a:t> </a:t>
            </a:r>
            <a:r>
              <a:rPr sz="1600" i="1" dirty="0">
                <a:solidFill>
                  <a:srgbClr val="006FBF"/>
                </a:solidFill>
                <a:latin typeface="Calibri" panose="020F0502020204030204"/>
                <a:cs typeface="Calibri" panose="020F0502020204030204"/>
              </a:rPr>
              <a:t>&lt;</a:t>
            </a:r>
            <a:r>
              <a:rPr sz="1600" i="1" dirty="0">
                <a:solidFill>
                  <a:srgbClr val="FE0000"/>
                </a:solidFill>
                <a:latin typeface="Calibri" panose="020F0502020204030204"/>
                <a:cs typeface="Calibri" panose="020F0502020204030204"/>
              </a:rPr>
              <a:t>self</a:t>
            </a:r>
            <a:r>
              <a:rPr sz="1600" i="1" spc="-25" dirty="0">
                <a:solidFill>
                  <a:srgbClr val="FE0000"/>
                </a:solidFill>
                <a:latin typeface="Calibri" panose="020F0502020204030204"/>
                <a:cs typeface="Calibri" panose="020F0502020204030204"/>
              </a:rPr>
              <a:t> </a:t>
            </a:r>
            <a:r>
              <a:rPr sz="1600" i="1" dirty="0">
                <a:solidFill>
                  <a:srgbClr val="006FBF"/>
                </a:solidFill>
                <a:latin typeface="Calibri" panose="020F0502020204030204"/>
                <a:cs typeface="Calibri" panose="020F0502020204030204"/>
              </a:rPr>
              <a:t>|</a:t>
            </a:r>
            <a:r>
              <a:rPr sz="1600" i="1" spc="-40" dirty="0">
                <a:solidFill>
                  <a:srgbClr val="006FBF"/>
                </a:solidFill>
                <a:latin typeface="Calibri" panose="020F0502020204030204"/>
                <a:cs typeface="Calibri" panose="020F0502020204030204"/>
              </a:rPr>
              <a:t> </a:t>
            </a:r>
            <a:r>
              <a:rPr sz="1600" i="1" dirty="0">
                <a:solidFill>
                  <a:srgbClr val="006FBF"/>
                </a:solidFill>
                <a:latin typeface="Calibri" panose="020F0502020204030204"/>
                <a:cs typeface="Calibri" panose="020F0502020204030204"/>
              </a:rPr>
              <a:t>parent</a:t>
            </a:r>
            <a:r>
              <a:rPr sz="1600" i="1" spc="-15" dirty="0">
                <a:solidFill>
                  <a:srgbClr val="006FBF"/>
                </a:solidFill>
                <a:latin typeface="Calibri" panose="020F0502020204030204"/>
                <a:cs typeface="Calibri" panose="020F0502020204030204"/>
              </a:rPr>
              <a:t> </a:t>
            </a:r>
            <a:r>
              <a:rPr sz="1600" i="1" dirty="0">
                <a:solidFill>
                  <a:srgbClr val="006FBF"/>
                </a:solidFill>
                <a:latin typeface="Calibri" panose="020F0502020204030204"/>
                <a:cs typeface="Calibri" panose="020F0502020204030204"/>
              </a:rPr>
              <a:t>|</a:t>
            </a:r>
            <a:r>
              <a:rPr sz="1600" i="1" spc="-35" dirty="0">
                <a:solidFill>
                  <a:srgbClr val="006FBF"/>
                </a:solidFill>
                <a:latin typeface="Calibri" panose="020F0502020204030204"/>
                <a:cs typeface="Calibri" panose="020F0502020204030204"/>
              </a:rPr>
              <a:t> </a:t>
            </a:r>
            <a:r>
              <a:rPr sz="1600" i="1" dirty="0">
                <a:solidFill>
                  <a:srgbClr val="006FBF"/>
                </a:solidFill>
                <a:latin typeface="Calibri" panose="020F0502020204030204"/>
                <a:cs typeface="Calibri" panose="020F0502020204030204"/>
              </a:rPr>
              <a:t>other</a:t>
            </a:r>
            <a:r>
              <a:rPr sz="1600" i="1" spc="-25" dirty="0">
                <a:solidFill>
                  <a:srgbClr val="006FBF"/>
                </a:solidFill>
                <a:latin typeface="Calibri" panose="020F0502020204030204"/>
                <a:cs typeface="Calibri" panose="020F0502020204030204"/>
              </a:rPr>
              <a:t> </a:t>
            </a:r>
            <a:r>
              <a:rPr sz="1600" i="1" dirty="0">
                <a:solidFill>
                  <a:srgbClr val="006FBF"/>
                </a:solidFill>
                <a:latin typeface="Calibri" panose="020F0502020204030204"/>
                <a:cs typeface="Calibri" panose="020F0502020204030204"/>
              </a:rPr>
              <a:t>|</a:t>
            </a:r>
            <a:r>
              <a:rPr sz="1600" i="1" spc="-25" dirty="0">
                <a:solidFill>
                  <a:srgbClr val="006FBF"/>
                </a:solidFill>
                <a:latin typeface="Calibri" panose="020F0502020204030204"/>
                <a:cs typeface="Calibri" panose="020F0502020204030204"/>
              </a:rPr>
              <a:t> …&gt;</a:t>
            </a:r>
            <a:endParaRPr sz="1600">
              <a:latin typeface="Calibri" panose="020F0502020204030204"/>
              <a:cs typeface="Calibri" panose="020F0502020204030204"/>
            </a:endParaRPr>
          </a:p>
          <a:p>
            <a:pPr marL="12700">
              <a:lnSpc>
                <a:spcPct val="100000"/>
              </a:lnSpc>
            </a:pPr>
            <a:r>
              <a:rPr sz="1600" i="1" dirty="0">
                <a:solidFill>
                  <a:srgbClr val="006FBF"/>
                </a:solidFill>
                <a:latin typeface="Calibri" panose="020F0502020204030204"/>
                <a:cs typeface="Calibri" panose="020F0502020204030204"/>
              </a:rPr>
              <a:t>-rule</a:t>
            </a:r>
            <a:r>
              <a:rPr sz="1600" i="1" spc="-55" dirty="0">
                <a:solidFill>
                  <a:srgbClr val="006FBF"/>
                </a:solidFill>
                <a:latin typeface="Calibri" panose="020F0502020204030204"/>
                <a:cs typeface="Calibri" panose="020F0502020204030204"/>
              </a:rPr>
              <a:t> </a:t>
            </a:r>
            <a:r>
              <a:rPr sz="1600" i="1" dirty="0">
                <a:solidFill>
                  <a:srgbClr val="006FBF"/>
                </a:solidFill>
                <a:latin typeface="Calibri" panose="020F0502020204030204"/>
                <a:cs typeface="Calibri" panose="020F0502020204030204"/>
              </a:rPr>
              <a:t>&lt;low_to_high</a:t>
            </a:r>
            <a:r>
              <a:rPr sz="1600" i="1" spc="10" dirty="0">
                <a:solidFill>
                  <a:srgbClr val="006FBF"/>
                </a:solidFill>
                <a:latin typeface="Calibri" panose="020F0502020204030204"/>
                <a:cs typeface="Calibri" panose="020F0502020204030204"/>
              </a:rPr>
              <a:t> </a:t>
            </a:r>
            <a:r>
              <a:rPr sz="1600" i="1" dirty="0">
                <a:solidFill>
                  <a:srgbClr val="006FBF"/>
                </a:solidFill>
                <a:latin typeface="Calibri" panose="020F0502020204030204"/>
                <a:cs typeface="Calibri" panose="020F0502020204030204"/>
              </a:rPr>
              <a:t>|</a:t>
            </a:r>
            <a:r>
              <a:rPr sz="1600" i="1" spc="-40" dirty="0">
                <a:solidFill>
                  <a:srgbClr val="006FBF"/>
                </a:solidFill>
                <a:latin typeface="Calibri" panose="020F0502020204030204"/>
                <a:cs typeface="Calibri" panose="020F0502020204030204"/>
              </a:rPr>
              <a:t> </a:t>
            </a:r>
            <a:r>
              <a:rPr sz="1600" i="1" spc="-10" dirty="0">
                <a:solidFill>
                  <a:srgbClr val="FE0000"/>
                </a:solidFill>
                <a:latin typeface="Calibri" panose="020F0502020204030204"/>
                <a:cs typeface="Calibri" panose="020F0502020204030204"/>
              </a:rPr>
              <a:t>high_to_low</a:t>
            </a:r>
            <a:r>
              <a:rPr sz="1600" i="1" spc="10" dirty="0">
                <a:solidFill>
                  <a:srgbClr val="FE0000"/>
                </a:solidFill>
                <a:latin typeface="Calibri" panose="020F0502020204030204"/>
                <a:cs typeface="Calibri" panose="020F0502020204030204"/>
              </a:rPr>
              <a:t> </a:t>
            </a:r>
            <a:r>
              <a:rPr sz="1600" i="1" dirty="0">
                <a:solidFill>
                  <a:srgbClr val="006FBF"/>
                </a:solidFill>
                <a:latin typeface="Calibri" panose="020F0502020204030204"/>
                <a:cs typeface="Calibri" panose="020F0502020204030204"/>
              </a:rPr>
              <a:t>|</a:t>
            </a:r>
            <a:r>
              <a:rPr sz="1600" i="1" spc="-50" dirty="0">
                <a:solidFill>
                  <a:srgbClr val="006FBF"/>
                </a:solidFill>
                <a:latin typeface="Calibri" panose="020F0502020204030204"/>
                <a:cs typeface="Calibri" panose="020F0502020204030204"/>
              </a:rPr>
              <a:t> </a:t>
            </a:r>
            <a:r>
              <a:rPr sz="1600" i="1" spc="-20" dirty="0">
                <a:solidFill>
                  <a:srgbClr val="006FBF"/>
                </a:solidFill>
                <a:latin typeface="Calibri" panose="020F0502020204030204"/>
                <a:cs typeface="Calibri" panose="020F0502020204030204"/>
              </a:rPr>
              <a:t>both&gt;</a:t>
            </a:r>
            <a:endParaRPr sz="1600">
              <a:latin typeface="Calibri" panose="020F0502020204030204"/>
              <a:cs typeface="Calibri" panose="020F0502020204030204"/>
            </a:endParaRPr>
          </a:p>
          <a:p>
            <a:pPr marL="12700">
              <a:lnSpc>
                <a:spcPct val="100000"/>
              </a:lnSpc>
            </a:pPr>
            <a:r>
              <a:rPr sz="1600" i="1" dirty="0">
                <a:solidFill>
                  <a:srgbClr val="006FBF"/>
                </a:solidFill>
                <a:latin typeface="Calibri" panose="020F0502020204030204"/>
                <a:cs typeface="Calibri" panose="020F0502020204030204"/>
              </a:rPr>
              <a:t>-</a:t>
            </a:r>
            <a:r>
              <a:rPr sz="1600" i="1" spc="-10" dirty="0">
                <a:solidFill>
                  <a:srgbClr val="006FBF"/>
                </a:solidFill>
                <a:latin typeface="Calibri" panose="020F0502020204030204"/>
                <a:cs typeface="Calibri" panose="020F0502020204030204"/>
              </a:rPr>
              <a:t>input_supply_set</a:t>
            </a:r>
            <a:r>
              <a:rPr sz="1600" i="1" spc="15" dirty="0">
                <a:solidFill>
                  <a:srgbClr val="006FBF"/>
                </a:solidFill>
                <a:latin typeface="Calibri" panose="020F0502020204030204"/>
                <a:cs typeface="Calibri" panose="020F0502020204030204"/>
              </a:rPr>
              <a:t> </a:t>
            </a:r>
            <a:r>
              <a:rPr sz="1600" i="1" spc="-10" dirty="0">
                <a:solidFill>
                  <a:srgbClr val="006FBF"/>
                </a:solidFill>
                <a:latin typeface="Calibri" panose="020F0502020204030204"/>
                <a:cs typeface="Calibri" panose="020F0502020204030204"/>
              </a:rPr>
              <a:t>SS_VDD</a:t>
            </a:r>
            <a:endParaRPr sz="1600">
              <a:latin typeface="Calibri" panose="020F0502020204030204"/>
              <a:cs typeface="Calibri" panose="020F0502020204030204"/>
            </a:endParaRPr>
          </a:p>
          <a:p>
            <a:pPr marL="12700">
              <a:lnSpc>
                <a:spcPct val="100000"/>
              </a:lnSpc>
            </a:pPr>
            <a:r>
              <a:rPr sz="1600" i="1" dirty="0">
                <a:solidFill>
                  <a:srgbClr val="006FBF"/>
                </a:solidFill>
                <a:latin typeface="Calibri" panose="020F0502020204030204"/>
                <a:cs typeface="Calibri" panose="020F0502020204030204"/>
              </a:rPr>
              <a:t>-</a:t>
            </a:r>
            <a:r>
              <a:rPr sz="1600" i="1" spc="-10" dirty="0">
                <a:solidFill>
                  <a:srgbClr val="006FBF"/>
                </a:solidFill>
                <a:latin typeface="Calibri" panose="020F0502020204030204"/>
                <a:cs typeface="Calibri" panose="020F0502020204030204"/>
              </a:rPr>
              <a:t>output_supply_set</a:t>
            </a:r>
            <a:r>
              <a:rPr sz="1600" i="1" spc="50" dirty="0">
                <a:solidFill>
                  <a:srgbClr val="006FBF"/>
                </a:solidFill>
                <a:latin typeface="Calibri" panose="020F0502020204030204"/>
                <a:cs typeface="Calibri" panose="020F0502020204030204"/>
              </a:rPr>
              <a:t> </a:t>
            </a:r>
            <a:r>
              <a:rPr sz="1600" i="1" spc="-10" dirty="0">
                <a:solidFill>
                  <a:srgbClr val="006FBF"/>
                </a:solidFill>
                <a:latin typeface="Calibri" panose="020F0502020204030204"/>
                <a:cs typeface="Calibri" panose="020F0502020204030204"/>
              </a:rPr>
              <a:t>SS_VDDL</a:t>
            </a:r>
            <a:endParaRPr sz="1600">
              <a:latin typeface="Calibri" panose="020F0502020204030204"/>
              <a:cs typeface="Calibri" panose="020F0502020204030204"/>
            </a:endParaRPr>
          </a:p>
        </p:txBody>
      </p:sp>
      <p:sp>
        <p:nvSpPr>
          <p:cNvPr id="46" name="Text 0"/>
          <p:cNvSpPr/>
          <p:nvPr/>
        </p:nvSpPr>
        <p:spPr>
          <a:xfrm>
            <a:off x="284480" y="10922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电平转换</a:t>
            </a:r>
            <a:r>
              <a:rPr lang="zh-CN" altLang="en-US" sz="1730" b="1" dirty="0">
                <a:latin typeface="微软雅黑" panose="020B0503020204020204" pitchFamily="34" charset="-122"/>
                <a:ea typeface="微软雅黑" panose="020B0503020204020204" pitchFamily="34" charset="-122"/>
                <a:sym typeface="+mn-ea"/>
              </a:rPr>
              <a:t>单元</a:t>
            </a:r>
            <a:endParaRPr lang="zh-CN" altLang="en-US" sz="1730" b="1"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grpSp>
        <p:nvGrpSpPr>
          <p:cNvPr id="3" name="object 3"/>
          <p:cNvGrpSpPr/>
          <p:nvPr/>
        </p:nvGrpSpPr>
        <p:grpSpPr>
          <a:xfrm>
            <a:off x="284670" y="780224"/>
            <a:ext cx="3753485" cy="3631565"/>
            <a:chOff x="89725" y="1188529"/>
            <a:chExt cx="3753485" cy="3631565"/>
          </a:xfrm>
        </p:grpSpPr>
        <p:pic>
          <p:nvPicPr>
            <p:cNvPr id="4" name="object 4"/>
            <p:cNvPicPr/>
            <p:nvPr/>
          </p:nvPicPr>
          <p:blipFill>
            <a:blip r:embed="rId2" cstate="print"/>
            <a:stretch>
              <a:fillRect/>
            </a:stretch>
          </p:blipFill>
          <p:spPr>
            <a:xfrm>
              <a:off x="164592" y="1263395"/>
              <a:ext cx="3678173" cy="3556254"/>
            </a:xfrm>
            <a:prstGeom prst="rect">
              <a:avLst/>
            </a:prstGeom>
          </p:spPr>
        </p:pic>
        <p:sp>
          <p:nvSpPr>
            <p:cNvPr id="5" name="object 5"/>
            <p:cNvSpPr/>
            <p:nvPr/>
          </p:nvSpPr>
          <p:spPr>
            <a:xfrm>
              <a:off x="94488" y="1193291"/>
              <a:ext cx="3668395" cy="3546475"/>
            </a:xfrm>
            <a:custGeom>
              <a:avLst/>
              <a:gdLst/>
              <a:ahLst/>
              <a:cxnLst/>
              <a:rect l="l" t="t" r="r" b="b"/>
              <a:pathLst>
                <a:path w="3668395" h="3546475">
                  <a:moveTo>
                    <a:pt x="3668267" y="0"/>
                  </a:moveTo>
                  <a:lnTo>
                    <a:pt x="0" y="0"/>
                  </a:lnTo>
                  <a:lnTo>
                    <a:pt x="0" y="3546348"/>
                  </a:lnTo>
                  <a:lnTo>
                    <a:pt x="3668267" y="3546348"/>
                  </a:lnTo>
                  <a:lnTo>
                    <a:pt x="3668267" y="0"/>
                  </a:lnTo>
                  <a:close/>
                </a:path>
              </a:pathLst>
            </a:custGeom>
            <a:solidFill>
              <a:srgbClr val="FEFEFE"/>
            </a:solidFill>
          </p:spPr>
          <p:txBody>
            <a:bodyPr wrap="square" lIns="0" tIns="0" rIns="0" bIns="0" rtlCol="0"/>
            <a:lstStyle/>
            <a:p/>
          </p:txBody>
        </p:sp>
        <p:sp>
          <p:nvSpPr>
            <p:cNvPr id="6" name="object 6"/>
            <p:cNvSpPr/>
            <p:nvPr/>
          </p:nvSpPr>
          <p:spPr>
            <a:xfrm>
              <a:off x="94488" y="1193291"/>
              <a:ext cx="3668395" cy="3546475"/>
            </a:xfrm>
            <a:custGeom>
              <a:avLst/>
              <a:gdLst/>
              <a:ahLst/>
              <a:cxnLst/>
              <a:rect l="l" t="t" r="r" b="b"/>
              <a:pathLst>
                <a:path w="3668395" h="3546475">
                  <a:moveTo>
                    <a:pt x="0" y="3546348"/>
                  </a:moveTo>
                  <a:lnTo>
                    <a:pt x="3668267" y="3546348"/>
                  </a:lnTo>
                  <a:lnTo>
                    <a:pt x="3668267" y="0"/>
                  </a:lnTo>
                  <a:lnTo>
                    <a:pt x="0" y="0"/>
                  </a:lnTo>
                  <a:lnTo>
                    <a:pt x="0" y="3546348"/>
                  </a:lnTo>
                  <a:close/>
                </a:path>
              </a:pathLst>
            </a:custGeom>
            <a:ln w="9524">
              <a:solidFill>
                <a:srgbClr val="959595"/>
              </a:solidFill>
            </a:ln>
          </p:spPr>
          <p:txBody>
            <a:bodyPr wrap="square" lIns="0" tIns="0" rIns="0" bIns="0" rtlCol="0"/>
            <a:lstStyle/>
            <a:p/>
          </p:txBody>
        </p:sp>
        <p:pic>
          <p:nvPicPr>
            <p:cNvPr id="7" name="object 7"/>
            <p:cNvPicPr/>
            <p:nvPr/>
          </p:nvPicPr>
          <p:blipFill>
            <a:blip r:embed="rId3" cstate="print"/>
            <a:stretch>
              <a:fillRect/>
            </a:stretch>
          </p:blipFill>
          <p:spPr>
            <a:xfrm>
              <a:off x="649224" y="1860804"/>
              <a:ext cx="2646426" cy="2282190"/>
            </a:xfrm>
            <a:prstGeom prst="rect">
              <a:avLst/>
            </a:prstGeom>
          </p:spPr>
        </p:pic>
        <p:sp>
          <p:nvSpPr>
            <p:cNvPr id="8" name="object 8"/>
            <p:cNvSpPr/>
            <p:nvPr/>
          </p:nvSpPr>
          <p:spPr>
            <a:xfrm>
              <a:off x="617219" y="1828800"/>
              <a:ext cx="2636520" cy="2272665"/>
            </a:xfrm>
            <a:custGeom>
              <a:avLst/>
              <a:gdLst/>
              <a:ahLst/>
              <a:cxnLst/>
              <a:rect l="l" t="t" r="r" b="b"/>
              <a:pathLst>
                <a:path w="2636520" h="2272665">
                  <a:moveTo>
                    <a:pt x="2636520" y="0"/>
                  </a:moveTo>
                  <a:lnTo>
                    <a:pt x="0" y="0"/>
                  </a:lnTo>
                  <a:lnTo>
                    <a:pt x="0" y="2272284"/>
                  </a:lnTo>
                  <a:lnTo>
                    <a:pt x="2636520" y="2272284"/>
                  </a:lnTo>
                  <a:lnTo>
                    <a:pt x="2636520" y="0"/>
                  </a:lnTo>
                  <a:close/>
                </a:path>
              </a:pathLst>
            </a:custGeom>
            <a:solidFill>
              <a:srgbClr val="CBFEFE"/>
            </a:solidFill>
          </p:spPr>
          <p:txBody>
            <a:bodyPr wrap="square" lIns="0" tIns="0" rIns="0" bIns="0" rtlCol="0"/>
            <a:lstStyle/>
            <a:p/>
          </p:txBody>
        </p:sp>
        <p:sp>
          <p:nvSpPr>
            <p:cNvPr id="9" name="object 9"/>
            <p:cNvSpPr/>
            <p:nvPr/>
          </p:nvSpPr>
          <p:spPr>
            <a:xfrm>
              <a:off x="617219" y="1828800"/>
              <a:ext cx="2636520" cy="2272665"/>
            </a:xfrm>
            <a:custGeom>
              <a:avLst/>
              <a:gdLst/>
              <a:ahLst/>
              <a:cxnLst/>
              <a:rect l="l" t="t" r="r" b="b"/>
              <a:pathLst>
                <a:path w="2636520" h="2272665">
                  <a:moveTo>
                    <a:pt x="0" y="2272284"/>
                  </a:moveTo>
                  <a:lnTo>
                    <a:pt x="2636520" y="2272284"/>
                  </a:lnTo>
                  <a:lnTo>
                    <a:pt x="2636520" y="0"/>
                  </a:lnTo>
                  <a:lnTo>
                    <a:pt x="0" y="0"/>
                  </a:lnTo>
                  <a:lnTo>
                    <a:pt x="0" y="2272284"/>
                  </a:lnTo>
                  <a:close/>
                </a:path>
              </a:pathLst>
            </a:custGeom>
            <a:ln w="9525">
              <a:solidFill>
                <a:srgbClr val="68BD27"/>
              </a:solidFill>
            </a:ln>
          </p:spPr>
          <p:txBody>
            <a:bodyPr wrap="square" lIns="0" tIns="0" rIns="0" bIns="0" rtlCol="0"/>
            <a:lstStyle/>
            <a:p/>
          </p:txBody>
        </p:sp>
        <p:sp>
          <p:nvSpPr>
            <p:cNvPr id="10" name="object 10"/>
            <p:cNvSpPr/>
            <p:nvPr/>
          </p:nvSpPr>
          <p:spPr>
            <a:xfrm>
              <a:off x="1213865" y="1418081"/>
              <a:ext cx="1172210" cy="1358265"/>
            </a:xfrm>
            <a:custGeom>
              <a:avLst/>
              <a:gdLst/>
              <a:ahLst/>
              <a:cxnLst/>
              <a:rect l="l" t="t" r="r" b="b"/>
              <a:pathLst>
                <a:path w="1172210" h="1358264">
                  <a:moveTo>
                    <a:pt x="0" y="0"/>
                  </a:moveTo>
                  <a:lnTo>
                    <a:pt x="0" y="298703"/>
                  </a:lnTo>
                </a:path>
                <a:path w="1172210" h="1358264">
                  <a:moveTo>
                    <a:pt x="1159764" y="960119"/>
                  </a:moveTo>
                  <a:lnTo>
                    <a:pt x="1171956" y="1357883"/>
                  </a:lnTo>
                </a:path>
              </a:pathLst>
            </a:custGeom>
            <a:ln w="28575">
              <a:solidFill>
                <a:srgbClr val="34352F"/>
              </a:solidFill>
            </a:ln>
          </p:spPr>
          <p:txBody>
            <a:bodyPr wrap="square" lIns="0" tIns="0" rIns="0" bIns="0" rtlCol="0"/>
            <a:lstStyle/>
            <a:p/>
          </p:txBody>
        </p:sp>
      </p:grpSp>
      <p:sp>
        <p:nvSpPr>
          <p:cNvPr id="12" name="object 12"/>
          <p:cNvSpPr txBox="1"/>
          <p:nvPr/>
        </p:nvSpPr>
        <p:spPr>
          <a:xfrm>
            <a:off x="2658109" y="2083180"/>
            <a:ext cx="521334" cy="208279"/>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34352F"/>
                </a:solidFill>
                <a:latin typeface="Calibri" panose="020F0502020204030204"/>
                <a:cs typeface="Calibri" panose="020F0502020204030204"/>
              </a:rPr>
              <a:t>VDDLS1</a:t>
            </a:r>
            <a:endParaRPr sz="1200">
              <a:latin typeface="Calibri" panose="020F0502020204030204"/>
              <a:cs typeface="Calibri" panose="020F0502020204030204"/>
            </a:endParaRPr>
          </a:p>
        </p:txBody>
      </p:sp>
      <p:sp>
        <p:nvSpPr>
          <p:cNvPr id="13" name="object 13"/>
          <p:cNvSpPr txBox="1"/>
          <p:nvPr/>
        </p:nvSpPr>
        <p:spPr>
          <a:xfrm>
            <a:off x="2023237" y="1697609"/>
            <a:ext cx="275590" cy="162560"/>
          </a:xfrm>
          <a:prstGeom prst="rect">
            <a:avLst/>
          </a:prstGeom>
        </p:spPr>
        <p:txBody>
          <a:bodyPr vert="horz" wrap="square" lIns="0" tIns="12700" rIns="0" bIns="0" rtlCol="0">
            <a:spAutoFit/>
          </a:bodyPr>
          <a:lstStyle/>
          <a:p>
            <a:pPr marL="12700">
              <a:lnSpc>
                <a:spcPct val="100000"/>
              </a:lnSpc>
              <a:spcBef>
                <a:spcPts val="100"/>
              </a:spcBef>
            </a:pPr>
            <a:r>
              <a:rPr sz="900" b="1" spc="-10" dirty="0">
                <a:solidFill>
                  <a:srgbClr val="34352F"/>
                </a:solidFill>
                <a:latin typeface="Calibri" panose="020F0502020204030204"/>
                <a:cs typeface="Calibri" panose="020F0502020204030204"/>
              </a:rPr>
              <a:t>sleep</a:t>
            </a:r>
            <a:endParaRPr sz="900">
              <a:latin typeface="Calibri" panose="020F0502020204030204"/>
              <a:cs typeface="Calibri" panose="020F0502020204030204"/>
            </a:endParaRPr>
          </a:p>
        </p:txBody>
      </p:sp>
      <p:grpSp>
        <p:nvGrpSpPr>
          <p:cNvPr id="14" name="object 14"/>
          <p:cNvGrpSpPr/>
          <p:nvPr/>
        </p:nvGrpSpPr>
        <p:grpSpPr>
          <a:xfrm>
            <a:off x="2005070" y="1518030"/>
            <a:ext cx="680720" cy="576580"/>
            <a:chOff x="1810125" y="1926335"/>
            <a:chExt cx="680720" cy="576580"/>
          </a:xfrm>
        </p:grpSpPr>
        <p:pic>
          <p:nvPicPr>
            <p:cNvPr id="15" name="object 15"/>
            <p:cNvPicPr/>
            <p:nvPr/>
          </p:nvPicPr>
          <p:blipFill>
            <a:blip r:embed="rId4" cstate="print"/>
            <a:stretch>
              <a:fillRect/>
            </a:stretch>
          </p:blipFill>
          <p:spPr>
            <a:xfrm>
              <a:off x="2199131" y="2136647"/>
              <a:ext cx="286512" cy="286512"/>
            </a:xfrm>
            <a:prstGeom prst="rect">
              <a:avLst/>
            </a:prstGeom>
          </p:spPr>
        </p:pic>
        <p:sp>
          <p:nvSpPr>
            <p:cNvPr id="16" name="object 16"/>
            <p:cNvSpPr/>
            <p:nvPr/>
          </p:nvSpPr>
          <p:spPr>
            <a:xfrm>
              <a:off x="2199131" y="2136647"/>
              <a:ext cx="287020" cy="287020"/>
            </a:xfrm>
            <a:custGeom>
              <a:avLst/>
              <a:gdLst/>
              <a:ahLst/>
              <a:cxnLst/>
              <a:rect l="l" t="t" r="r" b="b"/>
              <a:pathLst>
                <a:path w="287019" h="287019">
                  <a:moveTo>
                    <a:pt x="0" y="143256"/>
                  </a:moveTo>
                  <a:lnTo>
                    <a:pt x="7303" y="97974"/>
                  </a:lnTo>
                  <a:lnTo>
                    <a:pt x="27639" y="58649"/>
                  </a:lnTo>
                  <a:lnTo>
                    <a:pt x="58649" y="27639"/>
                  </a:lnTo>
                  <a:lnTo>
                    <a:pt x="97974" y="7303"/>
                  </a:lnTo>
                  <a:lnTo>
                    <a:pt x="143256" y="0"/>
                  </a:lnTo>
                  <a:lnTo>
                    <a:pt x="188537" y="7303"/>
                  </a:lnTo>
                  <a:lnTo>
                    <a:pt x="227862" y="27639"/>
                  </a:lnTo>
                  <a:lnTo>
                    <a:pt x="258872" y="58649"/>
                  </a:lnTo>
                  <a:lnTo>
                    <a:pt x="279208" y="97974"/>
                  </a:lnTo>
                  <a:lnTo>
                    <a:pt x="286512" y="143256"/>
                  </a:lnTo>
                  <a:lnTo>
                    <a:pt x="279208" y="188537"/>
                  </a:lnTo>
                  <a:lnTo>
                    <a:pt x="258872" y="227862"/>
                  </a:lnTo>
                  <a:lnTo>
                    <a:pt x="227862" y="258872"/>
                  </a:lnTo>
                  <a:lnTo>
                    <a:pt x="188537" y="279208"/>
                  </a:lnTo>
                  <a:lnTo>
                    <a:pt x="143256" y="286512"/>
                  </a:lnTo>
                  <a:lnTo>
                    <a:pt x="97974" y="279208"/>
                  </a:lnTo>
                  <a:lnTo>
                    <a:pt x="58649" y="258872"/>
                  </a:lnTo>
                  <a:lnTo>
                    <a:pt x="27639" y="227862"/>
                  </a:lnTo>
                  <a:lnTo>
                    <a:pt x="7303" y="188537"/>
                  </a:lnTo>
                  <a:lnTo>
                    <a:pt x="0" y="143256"/>
                  </a:lnTo>
                  <a:close/>
                </a:path>
              </a:pathLst>
            </a:custGeom>
            <a:ln w="9525">
              <a:solidFill>
                <a:srgbClr val="007F00"/>
              </a:solidFill>
            </a:ln>
          </p:spPr>
          <p:txBody>
            <a:bodyPr wrap="square" lIns="0" tIns="0" rIns="0" bIns="0" rtlCol="0"/>
            <a:lstStyle/>
            <a:p/>
          </p:txBody>
        </p:sp>
        <p:sp>
          <p:nvSpPr>
            <p:cNvPr id="17" name="object 17"/>
            <p:cNvSpPr/>
            <p:nvPr/>
          </p:nvSpPr>
          <p:spPr>
            <a:xfrm>
              <a:off x="2380487" y="2362199"/>
              <a:ext cx="0" cy="135890"/>
            </a:xfrm>
            <a:custGeom>
              <a:avLst/>
              <a:gdLst/>
              <a:ahLst/>
              <a:cxnLst/>
              <a:rect l="l" t="t" r="r" b="b"/>
              <a:pathLst>
                <a:path h="135889">
                  <a:moveTo>
                    <a:pt x="0" y="0"/>
                  </a:moveTo>
                  <a:lnTo>
                    <a:pt x="0" y="135636"/>
                  </a:lnTo>
                </a:path>
              </a:pathLst>
            </a:custGeom>
            <a:ln w="9525">
              <a:solidFill>
                <a:srgbClr val="34352F"/>
              </a:solidFill>
            </a:ln>
          </p:spPr>
          <p:txBody>
            <a:bodyPr wrap="square" lIns="0" tIns="0" rIns="0" bIns="0" rtlCol="0"/>
            <a:lstStyle/>
            <a:p/>
          </p:txBody>
        </p:sp>
        <p:sp>
          <p:nvSpPr>
            <p:cNvPr id="18" name="object 18"/>
            <p:cNvSpPr/>
            <p:nvPr/>
          </p:nvSpPr>
          <p:spPr>
            <a:xfrm>
              <a:off x="2301239" y="2194559"/>
              <a:ext cx="91440" cy="180340"/>
            </a:xfrm>
            <a:custGeom>
              <a:avLst/>
              <a:gdLst/>
              <a:ahLst/>
              <a:cxnLst/>
              <a:rect l="l" t="t" r="r" b="b"/>
              <a:pathLst>
                <a:path w="91439" h="180339">
                  <a:moveTo>
                    <a:pt x="0" y="0"/>
                  </a:moveTo>
                  <a:lnTo>
                    <a:pt x="91440" y="179831"/>
                  </a:lnTo>
                </a:path>
              </a:pathLst>
            </a:custGeom>
            <a:ln w="57150">
              <a:solidFill>
                <a:srgbClr val="34352F"/>
              </a:solidFill>
            </a:ln>
          </p:spPr>
          <p:txBody>
            <a:bodyPr wrap="square" lIns="0" tIns="0" rIns="0" bIns="0" rtlCol="0"/>
            <a:lstStyle/>
            <a:p/>
          </p:txBody>
        </p:sp>
        <p:sp>
          <p:nvSpPr>
            <p:cNvPr id="19" name="object 19"/>
            <p:cNvSpPr/>
            <p:nvPr/>
          </p:nvSpPr>
          <p:spPr>
            <a:xfrm>
              <a:off x="1810125" y="2212593"/>
              <a:ext cx="480695" cy="76200"/>
            </a:xfrm>
            <a:custGeom>
              <a:avLst/>
              <a:gdLst/>
              <a:ahLst/>
              <a:cxnLst/>
              <a:rect l="l" t="t" r="r" b="b"/>
              <a:pathLst>
                <a:path w="480694" h="76200">
                  <a:moveTo>
                    <a:pt x="10038" y="30480"/>
                  </a:moveTo>
                  <a:lnTo>
                    <a:pt x="3053" y="30480"/>
                  </a:lnTo>
                  <a:lnTo>
                    <a:pt x="0" y="33400"/>
                  </a:lnTo>
                  <a:lnTo>
                    <a:pt x="132" y="33400"/>
                  </a:lnTo>
                  <a:lnTo>
                    <a:pt x="254" y="40386"/>
                  </a:lnTo>
                  <a:lnTo>
                    <a:pt x="2926" y="43180"/>
                  </a:lnTo>
                  <a:lnTo>
                    <a:pt x="10038" y="43180"/>
                  </a:lnTo>
                  <a:lnTo>
                    <a:pt x="12832" y="40386"/>
                  </a:lnTo>
                  <a:lnTo>
                    <a:pt x="12832" y="33400"/>
                  </a:lnTo>
                  <a:lnTo>
                    <a:pt x="10038" y="30480"/>
                  </a:lnTo>
                  <a:close/>
                </a:path>
                <a:path w="480694" h="76200">
                  <a:moveTo>
                    <a:pt x="35438" y="30606"/>
                  </a:moveTo>
                  <a:lnTo>
                    <a:pt x="28453" y="30606"/>
                  </a:lnTo>
                  <a:lnTo>
                    <a:pt x="25532" y="33400"/>
                  </a:lnTo>
                  <a:lnTo>
                    <a:pt x="25532" y="40386"/>
                  </a:lnTo>
                  <a:lnTo>
                    <a:pt x="28326" y="43306"/>
                  </a:lnTo>
                  <a:lnTo>
                    <a:pt x="35438" y="43306"/>
                  </a:lnTo>
                  <a:lnTo>
                    <a:pt x="38232" y="40386"/>
                  </a:lnTo>
                  <a:lnTo>
                    <a:pt x="38232" y="33400"/>
                  </a:lnTo>
                  <a:lnTo>
                    <a:pt x="35438" y="30606"/>
                  </a:lnTo>
                  <a:close/>
                </a:path>
                <a:path w="480694" h="76200">
                  <a:moveTo>
                    <a:pt x="60838" y="30606"/>
                  </a:moveTo>
                  <a:lnTo>
                    <a:pt x="53853" y="30606"/>
                  </a:lnTo>
                  <a:lnTo>
                    <a:pt x="50932" y="33528"/>
                  </a:lnTo>
                  <a:lnTo>
                    <a:pt x="50932" y="40512"/>
                  </a:lnTo>
                  <a:lnTo>
                    <a:pt x="53726" y="43306"/>
                  </a:lnTo>
                  <a:lnTo>
                    <a:pt x="60838" y="43306"/>
                  </a:lnTo>
                  <a:lnTo>
                    <a:pt x="63632" y="40512"/>
                  </a:lnTo>
                  <a:lnTo>
                    <a:pt x="63632" y="33528"/>
                  </a:lnTo>
                  <a:lnTo>
                    <a:pt x="60838" y="30606"/>
                  </a:lnTo>
                  <a:close/>
                </a:path>
                <a:path w="480694" h="76200">
                  <a:moveTo>
                    <a:pt x="86238" y="30733"/>
                  </a:moveTo>
                  <a:lnTo>
                    <a:pt x="79253" y="30733"/>
                  </a:lnTo>
                  <a:lnTo>
                    <a:pt x="76332" y="33528"/>
                  </a:lnTo>
                  <a:lnTo>
                    <a:pt x="76459" y="40639"/>
                  </a:lnTo>
                  <a:lnTo>
                    <a:pt x="79253" y="43433"/>
                  </a:lnTo>
                  <a:lnTo>
                    <a:pt x="86238" y="43433"/>
                  </a:lnTo>
                  <a:lnTo>
                    <a:pt x="89032" y="40639"/>
                  </a:lnTo>
                  <a:lnTo>
                    <a:pt x="89032" y="33528"/>
                  </a:lnTo>
                  <a:lnTo>
                    <a:pt x="86238" y="30733"/>
                  </a:lnTo>
                  <a:close/>
                </a:path>
                <a:path w="480694" h="76200">
                  <a:moveTo>
                    <a:pt x="104653" y="30733"/>
                  </a:moveTo>
                  <a:lnTo>
                    <a:pt x="101732" y="33655"/>
                  </a:lnTo>
                  <a:lnTo>
                    <a:pt x="101732" y="40639"/>
                  </a:lnTo>
                  <a:lnTo>
                    <a:pt x="104653" y="43433"/>
                  </a:lnTo>
                  <a:lnTo>
                    <a:pt x="108082" y="43561"/>
                  </a:lnTo>
                  <a:lnTo>
                    <a:pt x="111638" y="43561"/>
                  </a:lnTo>
                  <a:lnTo>
                    <a:pt x="114432" y="40639"/>
                  </a:lnTo>
                  <a:lnTo>
                    <a:pt x="114432" y="37211"/>
                  </a:lnTo>
                  <a:lnTo>
                    <a:pt x="114559" y="33655"/>
                  </a:lnTo>
                  <a:lnTo>
                    <a:pt x="111638" y="30861"/>
                  </a:lnTo>
                  <a:lnTo>
                    <a:pt x="108209" y="30861"/>
                  </a:lnTo>
                  <a:lnTo>
                    <a:pt x="104653" y="30733"/>
                  </a:lnTo>
                  <a:close/>
                </a:path>
                <a:path w="480694" h="76200">
                  <a:moveTo>
                    <a:pt x="137038" y="30861"/>
                  </a:moveTo>
                  <a:lnTo>
                    <a:pt x="130053" y="30861"/>
                  </a:lnTo>
                  <a:lnTo>
                    <a:pt x="127255" y="33781"/>
                  </a:lnTo>
                  <a:lnTo>
                    <a:pt x="127132" y="40767"/>
                  </a:lnTo>
                  <a:lnTo>
                    <a:pt x="130053" y="43561"/>
                  </a:lnTo>
                  <a:lnTo>
                    <a:pt x="137038" y="43561"/>
                  </a:lnTo>
                  <a:lnTo>
                    <a:pt x="139832" y="40767"/>
                  </a:lnTo>
                  <a:lnTo>
                    <a:pt x="139959" y="37211"/>
                  </a:lnTo>
                  <a:lnTo>
                    <a:pt x="139959" y="33781"/>
                  </a:lnTo>
                  <a:lnTo>
                    <a:pt x="137038" y="30861"/>
                  </a:lnTo>
                  <a:close/>
                </a:path>
                <a:path w="480694" h="76200">
                  <a:moveTo>
                    <a:pt x="162438" y="30987"/>
                  </a:moveTo>
                  <a:lnTo>
                    <a:pt x="155453" y="30987"/>
                  </a:lnTo>
                  <a:lnTo>
                    <a:pt x="152659" y="33781"/>
                  </a:lnTo>
                  <a:lnTo>
                    <a:pt x="152659" y="37337"/>
                  </a:lnTo>
                  <a:lnTo>
                    <a:pt x="152528" y="40893"/>
                  </a:lnTo>
                  <a:lnTo>
                    <a:pt x="152659" y="40893"/>
                  </a:lnTo>
                  <a:lnTo>
                    <a:pt x="155453" y="43687"/>
                  </a:lnTo>
                  <a:lnTo>
                    <a:pt x="162438" y="43687"/>
                  </a:lnTo>
                  <a:lnTo>
                    <a:pt x="165359" y="40893"/>
                  </a:lnTo>
                  <a:lnTo>
                    <a:pt x="165359" y="33781"/>
                  </a:lnTo>
                  <a:lnTo>
                    <a:pt x="162438" y="30987"/>
                  </a:lnTo>
                  <a:close/>
                </a:path>
                <a:path w="480694" h="76200">
                  <a:moveTo>
                    <a:pt x="187965" y="31114"/>
                  </a:moveTo>
                  <a:lnTo>
                    <a:pt x="180732" y="31114"/>
                  </a:lnTo>
                  <a:lnTo>
                    <a:pt x="178059" y="33908"/>
                  </a:lnTo>
                  <a:lnTo>
                    <a:pt x="178059" y="40893"/>
                  </a:lnTo>
                  <a:lnTo>
                    <a:pt x="180980" y="43814"/>
                  </a:lnTo>
                  <a:lnTo>
                    <a:pt x="187838" y="43814"/>
                  </a:lnTo>
                  <a:lnTo>
                    <a:pt x="190759" y="40893"/>
                  </a:lnTo>
                  <a:lnTo>
                    <a:pt x="190759" y="33908"/>
                  </a:lnTo>
                  <a:lnTo>
                    <a:pt x="187965" y="31114"/>
                  </a:lnTo>
                  <a:close/>
                </a:path>
                <a:path w="480694" h="76200">
                  <a:moveTo>
                    <a:pt x="213365" y="31114"/>
                  </a:moveTo>
                  <a:lnTo>
                    <a:pt x="206253" y="31114"/>
                  </a:lnTo>
                  <a:lnTo>
                    <a:pt x="203459" y="33908"/>
                  </a:lnTo>
                  <a:lnTo>
                    <a:pt x="203459" y="41020"/>
                  </a:lnTo>
                  <a:lnTo>
                    <a:pt x="206253" y="43814"/>
                  </a:lnTo>
                  <a:lnTo>
                    <a:pt x="213238" y="43814"/>
                  </a:lnTo>
                  <a:lnTo>
                    <a:pt x="216159" y="41020"/>
                  </a:lnTo>
                  <a:lnTo>
                    <a:pt x="216038" y="33908"/>
                  </a:lnTo>
                  <a:lnTo>
                    <a:pt x="213365" y="31114"/>
                  </a:lnTo>
                  <a:close/>
                </a:path>
                <a:path w="480694" h="76200">
                  <a:moveTo>
                    <a:pt x="238765" y="31242"/>
                  </a:moveTo>
                  <a:lnTo>
                    <a:pt x="231653" y="31242"/>
                  </a:lnTo>
                  <a:lnTo>
                    <a:pt x="228859" y="34036"/>
                  </a:lnTo>
                  <a:lnTo>
                    <a:pt x="228981" y="41148"/>
                  </a:lnTo>
                  <a:lnTo>
                    <a:pt x="231653" y="43942"/>
                  </a:lnTo>
                  <a:lnTo>
                    <a:pt x="238638" y="43942"/>
                  </a:lnTo>
                  <a:lnTo>
                    <a:pt x="241559" y="41148"/>
                  </a:lnTo>
                  <a:lnTo>
                    <a:pt x="241559" y="34036"/>
                  </a:lnTo>
                  <a:lnTo>
                    <a:pt x="238765" y="31242"/>
                  </a:lnTo>
                  <a:close/>
                </a:path>
                <a:path w="480694" h="76200">
                  <a:moveTo>
                    <a:pt x="264165" y="31368"/>
                  </a:moveTo>
                  <a:lnTo>
                    <a:pt x="257053" y="31368"/>
                  </a:lnTo>
                  <a:lnTo>
                    <a:pt x="254259" y="34162"/>
                  </a:lnTo>
                  <a:lnTo>
                    <a:pt x="254259" y="41148"/>
                  </a:lnTo>
                  <a:lnTo>
                    <a:pt x="257180" y="44068"/>
                  </a:lnTo>
                  <a:lnTo>
                    <a:pt x="264165" y="44068"/>
                  </a:lnTo>
                  <a:lnTo>
                    <a:pt x="266959" y="41148"/>
                  </a:lnTo>
                  <a:lnTo>
                    <a:pt x="266959" y="34162"/>
                  </a:lnTo>
                  <a:lnTo>
                    <a:pt x="264165" y="31368"/>
                  </a:lnTo>
                  <a:close/>
                </a:path>
                <a:path w="480694" h="76200">
                  <a:moveTo>
                    <a:pt x="289565" y="31368"/>
                  </a:moveTo>
                  <a:lnTo>
                    <a:pt x="282580" y="31368"/>
                  </a:lnTo>
                  <a:lnTo>
                    <a:pt x="279527" y="34289"/>
                  </a:lnTo>
                  <a:lnTo>
                    <a:pt x="279659" y="34289"/>
                  </a:lnTo>
                  <a:lnTo>
                    <a:pt x="279659" y="41275"/>
                  </a:lnTo>
                  <a:lnTo>
                    <a:pt x="282453" y="44068"/>
                  </a:lnTo>
                  <a:lnTo>
                    <a:pt x="289565" y="44068"/>
                  </a:lnTo>
                  <a:lnTo>
                    <a:pt x="292359" y="41275"/>
                  </a:lnTo>
                  <a:lnTo>
                    <a:pt x="292359" y="34289"/>
                  </a:lnTo>
                  <a:lnTo>
                    <a:pt x="289565" y="31368"/>
                  </a:lnTo>
                  <a:close/>
                </a:path>
                <a:path w="480694" h="76200">
                  <a:moveTo>
                    <a:pt x="314965" y="31495"/>
                  </a:moveTo>
                  <a:lnTo>
                    <a:pt x="307980" y="31495"/>
                  </a:lnTo>
                  <a:lnTo>
                    <a:pt x="305059" y="34289"/>
                  </a:lnTo>
                  <a:lnTo>
                    <a:pt x="305059" y="41275"/>
                  </a:lnTo>
                  <a:lnTo>
                    <a:pt x="307853" y="44195"/>
                  </a:lnTo>
                  <a:lnTo>
                    <a:pt x="314965" y="44195"/>
                  </a:lnTo>
                  <a:lnTo>
                    <a:pt x="317759" y="41275"/>
                  </a:lnTo>
                  <a:lnTo>
                    <a:pt x="317759" y="34289"/>
                  </a:lnTo>
                  <a:lnTo>
                    <a:pt x="314965" y="31495"/>
                  </a:lnTo>
                  <a:close/>
                </a:path>
                <a:path w="480694" h="76200">
                  <a:moveTo>
                    <a:pt x="340365" y="31495"/>
                  </a:moveTo>
                  <a:lnTo>
                    <a:pt x="333380" y="31495"/>
                  </a:lnTo>
                  <a:lnTo>
                    <a:pt x="330459" y="34417"/>
                  </a:lnTo>
                  <a:lnTo>
                    <a:pt x="330459" y="41401"/>
                  </a:lnTo>
                  <a:lnTo>
                    <a:pt x="333380" y="44195"/>
                  </a:lnTo>
                  <a:lnTo>
                    <a:pt x="340365" y="44195"/>
                  </a:lnTo>
                  <a:lnTo>
                    <a:pt x="343159" y="41401"/>
                  </a:lnTo>
                  <a:lnTo>
                    <a:pt x="343159" y="34417"/>
                  </a:lnTo>
                  <a:lnTo>
                    <a:pt x="340365" y="31495"/>
                  </a:lnTo>
                  <a:close/>
                </a:path>
                <a:path w="480694" h="76200">
                  <a:moveTo>
                    <a:pt x="365765" y="31623"/>
                  </a:moveTo>
                  <a:lnTo>
                    <a:pt x="358780" y="31623"/>
                  </a:lnTo>
                  <a:lnTo>
                    <a:pt x="355727" y="34543"/>
                  </a:lnTo>
                  <a:lnTo>
                    <a:pt x="355859" y="34543"/>
                  </a:lnTo>
                  <a:lnTo>
                    <a:pt x="355859" y="41401"/>
                  </a:lnTo>
                  <a:lnTo>
                    <a:pt x="358780" y="44323"/>
                  </a:lnTo>
                  <a:lnTo>
                    <a:pt x="365765" y="44323"/>
                  </a:lnTo>
                  <a:lnTo>
                    <a:pt x="368559" y="41529"/>
                  </a:lnTo>
                  <a:lnTo>
                    <a:pt x="368686" y="34543"/>
                  </a:lnTo>
                  <a:lnTo>
                    <a:pt x="365765" y="31623"/>
                  </a:lnTo>
                  <a:close/>
                </a:path>
                <a:path w="480694" h="76200">
                  <a:moveTo>
                    <a:pt x="391165" y="31750"/>
                  </a:moveTo>
                  <a:lnTo>
                    <a:pt x="384180" y="31750"/>
                  </a:lnTo>
                  <a:lnTo>
                    <a:pt x="381386" y="34543"/>
                  </a:lnTo>
                  <a:lnTo>
                    <a:pt x="381259" y="41529"/>
                  </a:lnTo>
                  <a:lnTo>
                    <a:pt x="384180" y="44450"/>
                  </a:lnTo>
                  <a:lnTo>
                    <a:pt x="391165" y="44450"/>
                  </a:lnTo>
                  <a:lnTo>
                    <a:pt x="393959" y="41529"/>
                  </a:lnTo>
                  <a:lnTo>
                    <a:pt x="394086" y="34543"/>
                  </a:lnTo>
                  <a:lnTo>
                    <a:pt x="391165" y="31750"/>
                  </a:lnTo>
                  <a:close/>
                </a:path>
                <a:path w="480694" h="76200">
                  <a:moveTo>
                    <a:pt x="404373" y="0"/>
                  </a:moveTo>
                  <a:lnTo>
                    <a:pt x="404267" y="31750"/>
                  </a:lnTo>
                  <a:lnTo>
                    <a:pt x="404245" y="38354"/>
                  </a:lnTo>
                  <a:lnTo>
                    <a:pt x="404119" y="76200"/>
                  </a:lnTo>
                  <a:lnTo>
                    <a:pt x="468152" y="44450"/>
                  </a:lnTo>
                  <a:lnTo>
                    <a:pt x="409580" y="44450"/>
                  </a:lnTo>
                  <a:lnTo>
                    <a:pt x="406659" y="41656"/>
                  </a:lnTo>
                  <a:lnTo>
                    <a:pt x="406786" y="34670"/>
                  </a:lnTo>
                  <a:lnTo>
                    <a:pt x="409580" y="31750"/>
                  </a:lnTo>
                  <a:lnTo>
                    <a:pt x="467348" y="31750"/>
                  </a:lnTo>
                  <a:lnTo>
                    <a:pt x="404373" y="0"/>
                  </a:lnTo>
                  <a:close/>
                </a:path>
                <a:path w="480694" h="76200">
                  <a:moveTo>
                    <a:pt x="416565" y="31750"/>
                  </a:moveTo>
                  <a:lnTo>
                    <a:pt x="409580" y="31750"/>
                  </a:lnTo>
                  <a:lnTo>
                    <a:pt x="406786" y="34670"/>
                  </a:lnTo>
                  <a:lnTo>
                    <a:pt x="406659" y="41656"/>
                  </a:lnTo>
                  <a:lnTo>
                    <a:pt x="409580" y="44450"/>
                  </a:lnTo>
                  <a:lnTo>
                    <a:pt x="416565" y="44450"/>
                  </a:lnTo>
                  <a:lnTo>
                    <a:pt x="419486" y="41656"/>
                  </a:lnTo>
                  <a:lnTo>
                    <a:pt x="419486" y="34670"/>
                  </a:lnTo>
                  <a:lnTo>
                    <a:pt x="416565" y="31750"/>
                  </a:lnTo>
                  <a:close/>
                </a:path>
                <a:path w="480694" h="76200">
                  <a:moveTo>
                    <a:pt x="467348" y="31750"/>
                  </a:moveTo>
                  <a:lnTo>
                    <a:pt x="416565" y="31750"/>
                  </a:lnTo>
                  <a:lnTo>
                    <a:pt x="419486" y="34670"/>
                  </a:lnTo>
                  <a:lnTo>
                    <a:pt x="419486" y="41656"/>
                  </a:lnTo>
                  <a:lnTo>
                    <a:pt x="416565" y="44450"/>
                  </a:lnTo>
                  <a:lnTo>
                    <a:pt x="468152" y="44450"/>
                  </a:lnTo>
                  <a:lnTo>
                    <a:pt x="480446" y="38354"/>
                  </a:lnTo>
                  <a:lnTo>
                    <a:pt x="467348" y="31750"/>
                  </a:lnTo>
                  <a:close/>
                </a:path>
              </a:pathLst>
            </a:custGeom>
            <a:solidFill>
              <a:srgbClr val="34352F"/>
            </a:solidFill>
          </p:spPr>
          <p:txBody>
            <a:bodyPr wrap="square" lIns="0" tIns="0" rIns="0" bIns="0" rtlCol="0"/>
            <a:lstStyle/>
            <a:p/>
          </p:txBody>
        </p:sp>
        <p:sp>
          <p:nvSpPr>
            <p:cNvPr id="20" name="object 20"/>
            <p:cNvSpPr/>
            <p:nvPr/>
          </p:nvSpPr>
          <p:spPr>
            <a:xfrm>
              <a:off x="2375153" y="1945385"/>
              <a:ext cx="0" cy="172720"/>
            </a:xfrm>
            <a:custGeom>
              <a:avLst/>
              <a:gdLst/>
              <a:ahLst/>
              <a:cxnLst/>
              <a:rect l="l" t="t" r="r" b="b"/>
              <a:pathLst>
                <a:path h="172719">
                  <a:moveTo>
                    <a:pt x="0" y="0"/>
                  </a:moveTo>
                  <a:lnTo>
                    <a:pt x="0" y="172212"/>
                  </a:lnTo>
                </a:path>
              </a:pathLst>
            </a:custGeom>
            <a:ln w="38100">
              <a:solidFill>
                <a:srgbClr val="34352F"/>
              </a:solidFill>
            </a:ln>
          </p:spPr>
          <p:txBody>
            <a:bodyPr wrap="square" lIns="0" tIns="0" rIns="0" bIns="0" rtlCol="0"/>
            <a:lstStyle/>
            <a:p/>
          </p:txBody>
        </p:sp>
        <p:sp>
          <p:nvSpPr>
            <p:cNvPr id="21" name="object 21"/>
            <p:cNvSpPr/>
            <p:nvPr/>
          </p:nvSpPr>
          <p:spPr>
            <a:xfrm>
              <a:off x="2374391" y="2080259"/>
              <a:ext cx="0" cy="134620"/>
            </a:xfrm>
            <a:custGeom>
              <a:avLst/>
              <a:gdLst/>
              <a:ahLst/>
              <a:cxnLst/>
              <a:rect l="l" t="t" r="r" b="b"/>
              <a:pathLst>
                <a:path h="134619">
                  <a:moveTo>
                    <a:pt x="0" y="0"/>
                  </a:moveTo>
                  <a:lnTo>
                    <a:pt x="0" y="134112"/>
                  </a:lnTo>
                </a:path>
              </a:pathLst>
            </a:custGeom>
            <a:ln w="9525">
              <a:solidFill>
                <a:srgbClr val="34352F"/>
              </a:solidFill>
            </a:ln>
          </p:spPr>
          <p:txBody>
            <a:bodyPr wrap="square" lIns="0" tIns="0" rIns="0" bIns="0" rtlCol="0"/>
            <a:lstStyle/>
            <a:p/>
          </p:txBody>
        </p:sp>
      </p:grpSp>
      <p:sp>
        <p:nvSpPr>
          <p:cNvPr id="22" name="object 22"/>
          <p:cNvSpPr txBox="1"/>
          <p:nvPr/>
        </p:nvSpPr>
        <p:spPr>
          <a:xfrm>
            <a:off x="2698115" y="1745868"/>
            <a:ext cx="464820" cy="208279"/>
          </a:xfrm>
          <a:prstGeom prst="rect">
            <a:avLst/>
          </a:prstGeom>
        </p:spPr>
        <p:txBody>
          <a:bodyPr vert="horz" wrap="square" lIns="0" tIns="12700" rIns="0" bIns="0" rtlCol="0">
            <a:spAutoFit/>
          </a:bodyPr>
          <a:lstStyle/>
          <a:p>
            <a:pPr marL="12700">
              <a:lnSpc>
                <a:spcPct val="100000"/>
              </a:lnSpc>
              <a:spcBef>
                <a:spcPts val="100"/>
              </a:spcBef>
            </a:pPr>
            <a:r>
              <a:rPr sz="1200" spc="-10" dirty="0">
                <a:solidFill>
                  <a:srgbClr val="34352F"/>
                </a:solidFill>
                <a:latin typeface="Calibri" panose="020F0502020204030204"/>
                <a:cs typeface="Calibri" panose="020F0502020204030204"/>
              </a:rPr>
              <a:t>pd1_sx</a:t>
            </a:r>
            <a:endParaRPr sz="1200">
              <a:latin typeface="Calibri" panose="020F0502020204030204"/>
              <a:cs typeface="Calibri" panose="020F0502020204030204"/>
            </a:endParaRPr>
          </a:p>
        </p:txBody>
      </p:sp>
      <p:sp>
        <p:nvSpPr>
          <p:cNvPr id="23" name="object 23"/>
          <p:cNvSpPr txBox="1"/>
          <p:nvPr/>
        </p:nvSpPr>
        <p:spPr>
          <a:xfrm>
            <a:off x="852779" y="1461896"/>
            <a:ext cx="792480" cy="432434"/>
          </a:xfrm>
          <a:prstGeom prst="rect">
            <a:avLst/>
          </a:prstGeom>
          <a:solidFill>
            <a:srgbClr val="2CB5B2"/>
          </a:solidFill>
        </p:spPr>
        <p:txBody>
          <a:bodyPr vert="horz" wrap="square" lIns="0" tIns="0" rIns="0" bIns="0" rtlCol="0">
            <a:spAutoFit/>
          </a:bodyPr>
          <a:lstStyle/>
          <a:p>
            <a:pPr marL="53975">
              <a:lnSpc>
                <a:spcPts val="1060"/>
              </a:lnSpc>
            </a:pPr>
            <a:r>
              <a:rPr sz="900" b="1" spc="-10" dirty="0">
                <a:solidFill>
                  <a:srgbClr val="FEFEFE"/>
                </a:solidFill>
                <a:latin typeface="Arial" panose="020B0604020202020204"/>
                <a:cs typeface="Arial" panose="020B0604020202020204"/>
              </a:rPr>
              <a:t>u_dhm_core</a:t>
            </a:r>
            <a:endParaRPr sz="900">
              <a:latin typeface="Arial" panose="020B0604020202020204"/>
              <a:cs typeface="Arial" panose="020B0604020202020204"/>
            </a:endParaRPr>
          </a:p>
          <a:p>
            <a:pPr marL="262890" marR="23495" indent="-231775">
              <a:lnSpc>
                <a:spcPct val="100000"/>
              </a:lnSpc>
              <a:spcBef>
                <a:spcPts val="155"/>
              </a:spcBef>
            </a:pPr>
            <a:r>
              <a:rPr sz="900" b="1" dirty="0">
                <a:solidFill>
                  <a:srgbClr val="FEFEFE"/>
                </a:solidFill>
                <a:latin typeface="Arial" panose="020B0604020202020204"/>
                <a:cs typeface="Arial" panose="020B0604020202020204"/>
              </a:rPr>
              <a:t>(1.08V</a:t>
            </a:r>
            <a:r>
              <a:rPr sz="900" b="1" spc="-15" dirty="0">
                <a:solidFill>
                  <a:srgbClr val="FEFEFE"/>
                </a:solidFill>
                <a:latin typeface="Arial" panose="020B0604020202020204"/>
                <a:cs typeface="Arial" panose="020B0604020202020204"/>
              </a:rPr>
              <a:t> </a:t>
            </a:r>
            <a:r>
              <a:rPr sz="900" b="1" dirty="0">
                <a:solidFill>
                  <a:srgbClr val="FEFEFE"/>
                </a:solidFill>
                <a:latin typeface="Arial" panose="020B0604020202020204"/>
                <a:cs typeface="Arial" panose="020B0604020202020204"/>
              </a:rPr>
              <a:t>/</a:t>
            </a:r>
            <a:r>
              <a:rPr sz="900" b="1" spc="-10" dirty="0">
                <a:solidFill>
                  <a:srgbClr val="FEFEFE"/>
                </a:solidFill>
                <a:latin typeface="Arial" panose="020B0604020202020204"/>
                <a:cs typeface="Arial" panose="020B0604020202020204"/>
              </a:rPr>
              <a:t> </a:t>
            </a:r>
            <a:r>
              <a:rPr sz="900" b="1" dirty="0">
                <a:solidFill>
                  <a:srgbClr val="FEFEFE"/>
                </a:solidFill>
                <a:latin typeface="Arial" panose="020B0604020202020204"/>
                <a:cs typeface="Arial" panose="020B0604020202020204"/>
              </a:rPr>
              <a:t>0.7V</a:t>
            </a:r>
            <a:r>
              <a:rPr sz="900" b="1" spc="-15" dirty="0">
                <a:solidFill>
                  <a:srgbClr val="FEFEFE"/>
                </a:solidFill>
                <a:latin typeface="Arial" panose="020B0604020202020204"/>
                <a:cs typeface="Arial" panose="020B0604020202020204"/>
              </a:rPr>
              <a:t> </a:t>
            </a:r>
            <a:r>
              <a:rPr sz="900" b="1" spc="-50" dirty="0">
                <a:solidFill>
                  <a:srgbClr val="FEFEFE"/>
                </a:solidFill>
                <a:latin typeface="Arial" panose="020B0604020202020204"/>
                <a:cs typeface="Arial" panose="020B0604020202020204"/>
              </a:rPr>
              <a:t>/</a:t>
            </a:r>
            <a:r>
              <a:rPr sz="900" b="1" spc="-20" dirty="0">
                <a:solidFill>
                  <a:srgbClr val="FEFEFE"/>
                </a:solidFill>
                <a:latin typeface="Arial" panose="020B0604020202020204"/>
                <a:cs typeface="Arial" panose="020B0604020202020204"/>
              </a:rPr>
              <a:t> OFF)</a:t>
            </a:r>
            <a:endParaRPr sz="900">
              <a:latin typeface="Arial" panose="020B0604020202020204"/>
              <a:cs typeface="Arial" panose="020B0604020202020204"/>
            </a:endParaRPr>
          </a:p>
        </p:txBody>
      </p:sp>
      <p:sp>
        <p:nvSpPr>
          <p:cNvPr id="24" name="object 24"/>
          <p:cNvSpPr txBox="1"/>
          <p:nvPr/>
        </p:nvSpPr>
        <p:spPr>
          <a:xfrm>
            <a:off x="335572" y="818133"/>
            <a:ext cx="688975" cy="295275"/>
          </a:xfrm>
          <a:prstGeom prst="rect">
            <a:avLst/>
          </a:prstGeom>
          <a:solidFill>
            <a:srgbClr val="D37600"/>
          </a:solidFill>
        </p:spPr>
        <p:txBody>
          <a:bodyPr vert="horz" wrap="square" lIns="0" tIns="0" rIns="0" bIns="0" rtlCol="0">
            <a:spAutoFit/>
          </a:bodyPr>
          <a:lstStyle/>
          <a:p>
            <a:pPr marL="100965">
              <a:lnSpc>
                <a:spcPts val="1060"/>
              </a:lnSpc>
            </a:pPr>
            <a:r>
              <a:rPr sz="900" b="1" spc="-10" dirty="0">
                <a:solidFill>
                  <a:srgbClr val="FEFEFE"/>
                </a:solidFill>
                <a:latin typeface="Arial" panose="020B0604020202020204"/>
                <a:cs typeface="Arial" panose="020B0604020202020204"/>
              </a:rPr>
              <a:t>dhm_top</a:t>
            </a:r>
            <a:endParaRPr sz="900">
              <a:latin typeface="Arial" panose="020B0604020202020204"/>
              <a:cs typeface="Arial" panose="020B0604020202020204"/>
            </a:endParaRPr>
          </a:p>
          <a:p>
            <a:pPr marL="155575">
              <a:lnSpc>
                <a:spcPct val="100000"/>
              </a:lnSpc>
              <a:spcBef>
                <a:spcPts val="155"/>
              </a:spcBef>
            </a:pPr>
            <a:r>
              <a:rPr sz="900" b="1" spc="-10" dirty="0">
                <a:solidFill>
                  <a:srgbClr val="FEFEFE"/>
                </a:solidFill>
                <a:latin typeface="Arial" panose="020B0604020202020204"/>
                <a:cs typeface="Arial" panose="020B0604020202020204"/>
              </a:rPr>
              <a:t>(1.08V)</a:t>
            </a:r>
            <a:endParaRPr sz="900">
              <a:latin typeface="Arial" panose="020B0604020202020204"/>
              <a:cs typeface="Arial" panose="020B0604020202020204"/>
            </a:endParaRPr>
          </a:p>
        </p:txBody>
      </p:sp>
      <p:sp>
        <p:nvSpPr>
          <p:cNvPr id="25" name="object 25"/>
          <p:cNvSpPr txBox="1"/>
          <p:nvPr/>
        </p:nvSpPr>
        <p:spPr>
          <a:xfrm>
            <a:off x="1521841" y="830198"/>
            <a:ext cx="307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34352F"/>
                </a:solidFill>
                <a:latin typeface="Calibri" panose="020F0502020204030204"/>
                <a:cs typeface="Calibri" panose="020F0502020204030204"/>
              </a:rPr>
              <a:t>VDD</a:t>
            </a:r>
            <a:endParaRPr sz="1200">
              <a:latin typeface="Calibri" panose="020F0502020204030204"/>
              <a:cs typeface="Calibri" panose="020F0502020204030204"/>
            </a:endParaRPr>
          </a:p>
        </p:txBody>
      </p:sp>
      <p:grpSp>
        <p:nvGrpSpPr>
          <p:cNvPr id="26" name="object 26"/>
          <p:cNvGrpSpPr/>
          <p:nvPr/>
        </p:nvGrpSpPr>
        <p:grpSpPr>
          <a:xfrm>
            <a:off x="1350136" y="713358"/>
            <a:ext cx="114300" cy="304800"/>
            <a:chOff x="1155191" y="1121663"/>
            <a:chExt cx="114300" cy="304800"/>
          </a:xfrm>
        </p:grpSpPr>
        <p:sp>
          <p:nvSpPr>
            <p:cNvPr id="27" name="object 27"/>
            <p:cNvSpPr/>
            <p:nvPr/>
          </p:nvSpPr>
          <p:spPr>
            <a:xfrm>
              <a:off x="1204721" y="1177289"/>
              <a:ext cx="12700" cy="234950"/>
            </a:xfrm>
            <a:custGeom>
              <a:avLst/>
              <a:gdLst/>
              <a:ahLst/>
              <a:cxnLst/>
              <a:rect l="l" t="t" r="r" b="b"/>
              <a:pathLst>
                <a:path w="12700" h="234950">
                  <a:moveTo>
                    <a:pt x="0" y="0"/>
                  </a:moveTo>
                  <a:lnTo>
                    <a:pt x="12191" y="234696"/>
                  </a:lnTo>
                </a:path>
              </a:pathLst>
            </a:custGeom>
            <a:ln w="28575">
              <a:solidFill>
                <a:srgbClr val="34352F"/>
              </a:solidFill>
            </a:ln>
          </p:spPr>
          <p:txBody>
            <a:bodyPr wrap="square" lIns="0" tIns="0" rIns="0" bIns="0" rtlCol="0"/>
            <a:lstStyle/>
            <a:p/>
          </p:txBody>
        </p:sp>
        <p:pic>
          <p:nvPicPr>
            <p:cNvPr id="28" name="object 28"/>
            <p:cNvPicPr/>
            <p:nvPr/>
          </p:nvPicPr>
          <p:blipFill>
            <a:blip r:embed="rId5" cstate="print"/>
            <a:stretch>
              <a:fillRect/>
            </a:stretch>
          </p:blipFill>
          <p:spPr>
            <a:xfrm>
              <a:off x="1155191" y="1121663"/>
              <a:ext cx="114300" cy="114300"/>
            </a:xfrm>
            <a:prstGeom prst="rect">
              <a:avLst/>
            </a:prstGeom>
          </p:spPr>
        </p:pic>
      </p:grpSp>
      <p:sp>
        <p:nvSpPr>
          <p:cNvPr id="29" name="object 29"/>
          <p:cNvSpPr/>
          <p:nvPr/>
        </p:nvSpPr>
        <p:spPr>
          <a:xfrm>
            <a:off x="1350136" y="713358"/>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4352F"/>
            </a:solidFill>
          </a:ln>
        </p:spPr>
        <p:txBody>
          <a:bodyPr wrap="square" lIns="0" tIns="0" rIns="0" bIns="0" rtlCol="0"/>
          <a:lstStyle/>
          <a:p/>
        </p:txBody>
      </p:sp>
      <p:sp>
        <p:nvSpPr>
          <p:cNvPr id="30" name="object 30"/>
          <p:cNvSpPr txBox="1"/>
          <p:nvPr/>
        </p:nvSpPr>
        <p:spPr>
          <a:xfrm>
            <a:off x="2593022" y="833881"/>
            <a:ext cx="729615" cy="208279"/>
          </a:xfrm>
          <a:prstGeom prst="rect">
            <a:avLst/>
          </a:prstGeom>
        </p:spPr>
        <p:txBody>
          <a:bodyPr vert="horz" wrap="square" lIns="0" tIns="12700" rIns="0" bIns="0" rtlCol="0">
            <a:spAutoFit/>
          </a:bodyPr>
          <a:lstStyle/>
          <a:p>
            <a:pPr marL="90805">
              <a:lnSpc>
                <a:spcPct val="100000"/>
              </a:lnSpc>
              <a:spcBef>
                <a:spcPts val="100"/>
              </a:spcBef>
            </a:pPr>
            <a:r>
              <a:rPr sz="1200" b="1" spc="-20" dirty="0">
                <a:solidFill>
                  <a:srgbClr val="34352F"/>
                </a:solidFill>
                <a:latin typeface="Calibri" panose="020F0502020204030204"/>
                <a:cs typeface="Calibri" panose="020F0502020204030204"/>
              </a:rPr>
              <a:t>VDDL</a:t>
            </a:r>
            <a:endParaRPr sz="1200">
              <a:latin typeface="Calibri" panose="020F0502020204030204"/>
              <a:cs typeface="Calibri" panose="020F0502020204030204"/>
            </a:endParaRPr>
          </a:p>
        </p:txBody>
      </p:sp>
      <p:grpSp>
        <p:nvGrpSpPr>
          <p:cNvPr id="31" name="object 31"/>
          <p:cNvGrpSpPr/>
          <p:nvPr/>
        </p:nvGrpSpPr>
        <p:grpSpPr>
          <a:xfrm>
            <a:off x="2505328" y="716406"/>
            <a:ext cx="114300" cy="307975"/>
            <a:chOff x="2310383" y="1124711"/>
            <a:chExt cx="114300" cy="307975"/>
          </a:xfrm>
        </p:grpSpPr>
        <p:sp>
          <p:nvSpPr>
            <p:cNvPr id="32" name="object 32"/>
            <p:cNvSpPr/>
            <p:nvPr/>
          </p:nvSpPr>
          <p:spPr>
            <a:xfrm>
              <a:off x="2367533" y="1181861"/>
              <a:ext cx="12700" cy="236220"/>
            </a:xfrm>
            <a:custGeom>
              <a:avLst/>
              <a:gdLst/>
              <a:ahLst/>
              <a:cxnLst/>
              <a:rect l="l" t="t" r="r" b="b"/>
              <a:pathLst>
                <a:path w="12700" h="236219">
                  <a:moveTo>
                    <a:pt x="0" y="0"/>
                  </a:moveTo>
                  <a:lnTo>
                    <a:pt x="12192" y="236220"/>
                  </a:lnTo>
                </a:path>
              </a:pathLst>
            </a:custGeom>
            <a:ln w="28575">
              <a:solidFill>
                <a:srgbClr val="34352F"/>
              </a:solidFill>
            </a:ln>
          </p:spPr>
          <p:txBody>
            <a:bodyPr wrap="square" lIns="0" tIns="0" rIns="0" bIns="0" rtlCol="0"/>
            <a:lstStyle/>
            <a:p/>
          </p:txBody>
        </p:sp>
        <p:pic>
          <p:nvPicPr>
            <p:cNvPr id="33" name="object 33"/>
            <p:cNvPicPr/>
            <p:nvPr/>
          </p:nvPicPr>
          <p:blipFill>
            <a:blip r:embed="rId6" cstate="print"/>
            <a:stretch>
              <a:fillRect/>
            </a:stretch>
          </p:blipFill>
          <p:spPr>
            <a:xfrm>
              <a:off x="2310383" y="1124711"/>
              <a:ext cx="114300" cy="114300"/>
            </a:xfrm>
            <a:prstGeom prst="rect">
              <a:avLst/>
            </a:prstGeom>
          </p:spPr>
        </p:pic>
      </p:grpSp>
      <p:sp>
        <p:nvSpPr>
          <p:cNvPr id="34" name="object 34"/>
          <p:cNvSpPr/>
          <p:nvPr/>
        </p:nvSpPr>
        <p:spPr>
          <a:xfrm>
            <a:off x="2505328" y="716406"/>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4352F"/>
            </a:solidFill>
          </a:ln>
        </p:spPr>
        <p:txBody>
          <a:bodyPr wrap="square" lIns="0" tIns="0" rIns="0" bIns="0" rtlCol="0"/>
          <a:lstStyle/>
          <a:p/>
        </p:txBody>
      </p:sp>
      <p:sp>
        <p:nvSpPr>
          <p:cNvPr id="35" name="object 35"/>
          <p:cNvSpPr txBox="1"/>
          <p:nvPr/>
        </p:nvSpPr>
        <p:spPr>
          <a:xfrm>
            <a:off x="3364928" y="843660"/>
            <a:ext cx="588010" cy="208279"/>
          </a:xfrm>
          <a:prstGeom prst="rect">
            <a:avLst/>
          </a:prstGeom>
        </p:spPr>
        <p:txBody>
          <a:bodyPr vert="horz" wrap="square" lIns="0" tIns="12700" rIns="0" bIns="0" rtlCol="0">
            <a:spAutoFit/>
          </a:bodyPr>
          <a:lstStyle/>
          <a:p>
            <a:pPr marL="64770">
              <a:lnSpc>
                <a:spcPct val="100000"/>
              </a:lnSpc>
              <a:spcBef>
                <a:spcPts val="100"/>
              </a:spcBef>
            </a:pPr>
            <a:r>
              <a:rPr sz="1200" b="1" spc="-25" dirty="0">
                <a:solidFill>
                  <a:srgbClr val="34352F"/>
                </a:solidFill>
                <a:latin typeface="Calibri" panose="020F0502020204030204"/>
                <a:cs typeface="Calibri" panose="020F0502020204030204"/>
              </a:rPr>
              <a:t>VSS</a:t>
            </a:r>
            <a:endParaRPr sz="1200">
              <a:latin typeface="Calibri" panose="020F0502020204030204"/>
              <a:cs typeface="Calibri" panose="020F0502020204030204"/>
            </a:endParaRPr>
          </a:p>
        </p:txBody>
      </p:sp>
      <p:sp>
        <p:nvSpPr>
          <p:cNvPr id="36" name="object 36"/>
          <p:cNvSpPr/>
          <p:nvPr/>
        </p:nvSpPr>
        <p:spPr>
          <a:xfrm>
            <a:off x="3288665" y="728598"/>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4352F"/>
            </a:solidFill>
          </a:ln>
        </p:spPr>
        <p:txBody>
          <a:bodyPr wrap="square" lIns="0" tIns="0" rIns="0" bIns="0" rtlCol="0"/>
          <a:lstStyle/>
          <a:p/>
        </p:txBody>
      </p:sp>
      <p:grpSp>
        <p:nvGrpSpPr>
          <p:cNvPr id="37" name="object 37"/>
          <p:cNvGrpSpPr/>
          <p:nvPr/>
        </p:nvGrpSpPr>
        <p:grpSpPr>
          <a:xfrm>
            <a:off x="824357" y="728598"/>
            <a:ext cx="2636520" cy="3389629"/>
            <a:chOff x="629412" y="1136903"/>
            <a:chExt cx="2636520" cy="3389629"/>
          </a:xfrm>
        </p:grpSpPr>
        <p:sp>
          <p:nvSpPr>
            <p:cNvPr id="38" name="object 38"/>
            <p:cNvSpPr/>
            <p:nvPr/>
          </p:nvSpPr>
          <p:spPr>
            <a:xfrm>
              <a:off x="3137154" y="1204721"/>
              <a:ext cx="10795" cy="236220"/>
            </a:xfrm>
            <a:custGeom>
              <a:avLst/>
              <a:gdLst/>
              <a:ahLst/>
              <a:cxnLst/>
              <a:rect l="l" t="t" r="r" b="b"/>
              <a:pathLst>
                <a:path w="10794" h="236219">
                  <a:moveTo>
                    <a:pt x="0" y="0"/>
                  </a:moveTo>
                  <a:lnTo>
                    <a:pt x="10668" y="236219"/>
                  </a:lnTo>
                </a:path>
              </a:pathLst>
            </a:custGeom>
            <a:ln w="28575">
              <a:solidFill>
                <a:srgbClr val="34352F"/>
              </a:solidFill>
            </a:ln>
          </p:spPr>
          <p:txBody>
            <a:bodyPr wrap="square" lIns="0" tIns="0" rIns="0" bIns="0" rtlCol="0"/>
            <a:lstStyle/>
            <a:p/>
          </p:txBody>
        </p:sp>
        <p:pic>
          <p:nvPicPr>
            <p:cNvPr id="39" name="object 39"/>
            <p:cNvPicPr/>
            <p:nvPr/>
          </p:nvPicPr>
          <p:blipFill>
            <a:blip r:embed="rId7" cstate="print"/>
            <a:stretch>
              <a:fillRect/>
            </a:stretch>
          </p:blipFill>
          <p:spPr>
            <a:xfrm>
              <a:off x="3093719" y="1136903"/>
              <a:ext cx="114300" cy="114300"/>
            </a:xfrm>
            <a:prstGeom prst="rect">
              <a:avLst/>
            </a:prstGeom>
          </p:spPr>
        </p:pic>
        <p:sp>
          <p:nvSpPr>
            <p:cNvPr id="40" name="object 40"/>
            <p:cNvSpPr/>
            <p:nvPr/>
          </p:nvSpPr>
          <p:spPr>
            <a:xfrm>
              <a:off x="2375154" y="1418081"/>
              <a:ext cx="5080" cy="528955"/>
            </a:xfrm>
            <a:custGeom>
              <a:avLst/>
              <a:gdLst/>
              <a:ahLst/>
              <a:cxnLst/>
              <a:rect l="l" t="t" r="r" b="b"/>
              <a:pathLst>
                <a:path w="5080" h="528955">
                  <a:moveTo>
                    <a:pt x="4825" y="0"/>
                  </a:moveTo>
                  <a:lnTo>
                    <a:pt x="0" y="528573"/>
                  </a:lnTo>
                </a:path>
              </a:pathLst>
            </a:custGeom>
            <a:ln w="28575">
              <a:solidFill>
                <a:srgbClr val="34352F"/>
              </a:solidFill>
            </a:ln>
          </p:spPr>
          <p:txBody>
            <a:bodyPr wrap="square" lIns="0" tIns="0" rIns="0" bIns="0" rtlCol="0"/>
            <a:lstStyle/>
            <a:p/>
          </p:txBody>
        </p:sp>
        <p:sp>
          <p:nvSpPr>
            <p:cNvPr id="41" name="object 41"/>
            <p:cNvSpPr/>
            <p:nvPr/>
          </p:nvSpPr>
          <p:spPr>
            <a:xfrm>
              <a:off x="629412" y="4279391"/>
              <a:ext cx="2636520" cy="247015"/>
            </a:xfrm>
            <a:custGeom>
              <a:avLst/>
              <a:gdLst/>
              <a:ahLst/>
              <a:cxnLst/>
              <a:rect l="l" t="t" r="r" b="b"/>
              <a:pathLst>
                <a:path w="2636520" h="247014">
                  <a:moveTo>
                    <a:pt x="2636519" y="0"/>
                  </a:moveTo>
                  <a:lnTo>
                    <a:pt x="0" y="0"/>
                  </a:lnTo>
                  <a:lnTo>
                    <a:pt x="0" y="246888"/>
                  </a:lnTo>
                  <a:lnTo>
                    <a:pt x="2636519" y="246888"/>
                  </a:lnTo>
                  <a:lnTo>
                    <a:pt x="2636519" y="0"/>
                  </a:lnTo>
                  <a:close/>
                </a:path>
              </a:pathLst>
            </a:custGeom>
            <a:solidFill>
              <a:srgbClr val="EF8600"/>
            </a:solidFill>
          </p:spPr>
          <p:txBody>
            <a:bodyPr wrap="square" lIns="0" tIns="0" rIns="0" bIns="0" rtlCol="0"/>
            <a:lstStyle/>
            <a:p/>
          </p:txBody>
        </p:sp>
      </p:grpSp>
      <p:sp>
        <p:nvSpPr>
          <p:cNvPr id="42" name="object 42"/>
          <p:cNvSpPr txBox="1"/>
          <p:nvPr/>
        </p:nvSpPr>
        <p:spPr>
          <a:xfrm>
            <a:off x="824357" y="3871086"/>
            <a:ext cx="2636520" cy="247015"/>
          </a:xfrm>
          <a:prstGeom prst="rect">
            <a:avLst/>
          </a:prstGeom>
          <a:ln w="3175">
            <a:solidFill>
              <a:srgbClr val="B76600"/>
            </a:solidFill>
          </a:ln>
        </p:spPr>
        <p:txBody>
          <a:bodyPr vert="horz" wrap="square" lIns="0" tIns="28575" rIns="0" bIns="0" rtlCol="0">
            <a:spAutoFit/>
          </a:bodyPr>
          <a:lstStyle/>
          <a:p>
            <a:pPr marL="90805">
              <a:lnSpc>
                <a:spcPct val="100000"/>
              </a:lnSpc>
              <a:spcBef>
                <a:spcPts val="225"/>
              </a:spcBef>
            </a:pPr>
            <a:r>
              <a:rPr sz="900" spc="-10" dirty="0">
                <a:solidFill>
                  <a:srgbClr val="34352F"/>
                </a:solidFill>
                <a:latin typeface="Calibri" panose="020F0502020204030204"/>
                <a:cs typeface="Calibri" panose="020F0502020204030204"/>
              </a:rPr>
              <a:t>u_dhm_sleep_logic</a:t>
            </a:r>
            <a:endParaRPr sz="900">
              <a:latin typeface="Calibri" panose="020F0502020204030204"/>
              <a:cs typeface="Calibri" panose="020F0502020204030204"/>
            </a:endParaRPr>
          </a:p>
        </p:txBody>
      </p:sp>
      <p:sp>
        <p:nvSpPr>
          <p:cNvPr id="43" name="object 43"/>
          <p:cNvSpPr txBox="1"/>
          <p:nvPr/>
        </p:nvSpPr>
        <p:spPr>
          <a:xfrm>
            <a:off x="1716278" y="3728847"/>
            <a:ext cx="267970" cy="162560"/>
          </a:xfrm>
          <a:prstGeom prst="rect">
            <a:avLst/>
          </a:prstGeom>
        </p:spPr>
        <p:txBody>
          <a:bodyPr vert="horz" wrap="square" lIns="0" tIns="12700" rIns="0" bIns="0" rtlCol="0">
            <a:spAutoFit/>
          </a:bodyPr>
          <a:lstStyle/>
          <a:p>
            <a:pPr marL="12700">
              <a:lnSpc>
                <a:spcPct val="100000"/>
              </a:lnSpc>
              <a:spcBef>
                <a:spcPts val="100"/>
              </a:spcBef>
            </a:pPr>
            <a:r>
              <a:rPr sz="900" spc="-10" dirty="0">
                <a:solidFill>
                  <a:srgbClr val="34352F"/>
                </a:solidFill>
                <a:latin typeface="Calibri" panose="020F0502020204030204"/>
                <a:cs typeface="Calibri" panose="020F0502020204030204"/>
              </a:rPr>
              <a:t>sleep</a:t>
            </a:r>
            <a:endParaRPr sz="900">
              <a:latin typeface="Calibri" panose="020F0502020204030204"/>
              <a:cs typeface="Calibri" panose="020F0502020204030204"/>
            </a:endParaRPr>
          </a:p>
        </p:txBody>
      </p:sp>
      <p:grpSp>
        <p:nvGrpSpPr>
          <p:cNvPr id="44" name="object 44"/>
          <p:cNvGrpSpPr/>
          <p:nvPr/>
        </p:nvGrpSpPr>
        <p:grpSpPr>
          <a:xfrm>
            <a:off x="1618170" y="995489"/>
            <a:ext cx="1742439" cy="2912745"/>
            <a:chOff x="1423225" y="1403794"/>
            <a:chExt cx="1742439" cy="2912745"/>
          </a:xfrm>
        </p:grpSpPr>
        <p:sp>
          <p:nvSpPr>
            <p:cNvPr id="45" name="object 45"/>
            <p:cNvSpPr/>
            <p:nvPr/>
          </p:nvSpPr>
          <p:spPr>
            <a:xfrm>
              <a:off x="1462786" y="2249424"/>
              <a:ext cx="393065" cy="2018030"/>
            </a:xfrm>
            <a:custGeom>
              <a:avLst/>
              <a:gdLst/>
              <a:ahLst/>
              <a:cxnLst/>
              <a:rect l="l" t="t" r="r" b="b"/>
              <a:pathLst>
                <a:path w="393064" h="2018029">
                  <a:moveTo>
                    <a:pt x="348361" y="375919"/>
                  </a:moveTo>
                  <a:lnTo>
                    <a:pt x="0" y="375919"/>
                  </a:lnTo>
                  <a:lnTo>
                    <a:pt x="0" y="2017902"/>
                  </a:lnTo>
                  <a:lnTo>
                    <a:pt x="12700" y="2017903"/>
                  </a:lnTo>
                  <a:lnTo>
                    <a:pt x="12700" y="388619"/>
                  </a:lnTo>
                  <a:lnTo>
                    <a:pt x="6350" y="388619"/>
                  </a:lnTo>
                  <a:lnTo>
                    <a:pt x="12700" y="382269"/>
                  </a:lnTo>
                  <a:lnTo>
                    <a:pt x="348361" y="382269"/>
                  </a:lnTo>
                  <a:lnTo>
                    <a:pt x="348361" y="375919"/>
                  </a:lnTo>
                  <a:close/>
                </a:path>
                <a:path w="393064" h="2018029">
                  <a:moveTo>
                    <a:pt x="12700" y="382269"/>
                  </a:moveTo>
                  <a:lnTo>
                    <a:pt x="6350" y="388619"/>
                  </a:lnTo>
                  <a:lnTo>
                    <a:pt x="12700" y="388619"/>
                  </a:lnTo>
                  <a:lnTo>
                    <a:pt x="12700" y="382269"/>
                  </a:lnTo>
                  <a:close/>
                </a:path>
                <a:path w="393064" h="2018029">
                  <a:moveTo>
                    <a:pt x="361061" y="375919"/>
                  </a:moveTo>
                  <a:lnTo>
                    <a:pt x="354711" y="375919"/>
                  </a:lnTo>
                  <a:lnTo>
                    <a:pt x="348361" y="382269"/>
                  </a:lnTo>
                  <a:lnTo>
                    <a:pt x="12700" y="382269"/>
                  </a:lnTo>
                  <a:lnTo>
                    <a:pt x="12700" y="388619"/>
                  </a:lnTo>
                  <a:lnTo>
                    <a:pt x="361061" y="388619"/>
                  </a:lnTo>
                  <a:lnTo>
                    <a:pt x="361061" y="375919"/>
                  </a:lnTo>
                  <a:close/>
                </a:path>
                <a:path w="393064" h="2018029">
                  <a:moveTo>
                    <a:pt x="361061" y="63500"/>
                  </a:moveTo>
                  <a:lnTo>
                    <a:pt x="348361" y="63500"/>
                  </a:lnTo>
                  <a:lnTo>
                    <a:pt x="348361" y="382269"/>
                  </a:lnTo>
                  <a:lnTo>
                    <a:pt x="354711" y="375919"/>
                  </a:lnTo>
                  <a:lnTo>
                    <a:pt x="361061" y="375919"/>
                  </a:lnTo>
                  <a:lnTo>
                    <a:pt x="361061" y="63500"/>
                  </a:lnTo>
                  <a:close/>
                </a:path>
                <a:path w="393064" h="2018029">
                  <a:moveTo>
                    <a:pt x="354711" y="0"/>
                  </a:moveTo>
                  <a:lnTo>
                    <a:pt x="316611" y="76200"/>
                  </a:lnTo>
                  <a:lnTo>
                    <a:pt x="348361" y="76200"/>
                  </a:lnTo>
                  <a:lnTo>
                    <a:pt x="348361" y="63500"/>
                  </a:lnTo>
                  <a:lnTo>
                    <a:pt x="386461" y="63500"/>
                  </a:lnTo>
                  <a:lnTo>
                    <a:pt x="354711" y="0"/>
                  </a:lnTo>
                  <a:close/>
                </a:path>
                <a:path w="393064" h="2018029">
                  <a:moveTo>
                    <a:pt x="386461" y="63500"/>
                  </a:moveTo>
                  <a:lnTo>
                    <a:pt x="361061" y="63500"/>
                  </a:lnTo>
                  <a:lnTo>
                    <a:pt x="361061" y="76200"/>
                  </a:lnTo>
                  <a:lnTo>
                    <a:pt x="392811" y="76200"/>
                  </a:lnTo>
                  <a:lnTo>
                    <a:pt x="386461" y="63500"/>
                  </a:lnTo>
                  <a:close/>
                </a:path>
              </a:pathLst>
            </a:custGeom>
            <a:solidFill>
              <a:srgbClr val="34352F"/>
            </a:solidFill>
          </p:spPr>
          <p:txBody>
            <a:bodyPr wrap="square" lIns="0" tIns="0" rIns="0" bIns="0" rtlCol="0"/>
            <a:lstStyle/>
            <a:p/>
          </p:txBody>
        </p:sp>
        <p:sp>
          <p:nvSpPr>
            <p:cNvPr id="46" name="object 46"/>
            <p:cNvSpPr/>
            <p:nvPr/>
          </p:nvSpPr>
          <p:spPr>
            <a:xfrm>
              <a:off x="1427988" y="4255008"/>
              <a:ext cx="91440" cy="56515"/>
            </a:xfrm>
            <a:custGeom>
              <a:avLst/>
              <a:gdLst/>
              <a:ahLst/>
              <a:cxnLst/>
              <a:rect l="l" t="t" r="r" b="b"/>
              <a:pathLst>
                <a:path w="91440" h="56514">
                  <a:moveTo>
                    <a:pt x="91440" y="0"/>
                  </a:moveTo>
                  <a:lnTo>
                    <a:pt x="0" y="0"/>
                  </a:lnTo>
                  <a:lnTo>
                    <a:pt x="0" y="56387"/>
                  </a:lnTo>
                  <a:lnTo>
                    <a:pt x="91440" y="56387"/>
                  </a:lnTo>
                  <a:lnTo>
                    <a:pt x="91440" y="0"/>
                  </a:lnTo>
                  <a:close/>
                </a:path>
              </a:pathLst>
            </a:custGeom>
            <a:solidFill>
              <a:srgbClr val="FEFEFE"/>
            </a:solidFill>
          </p:spPr>
          <p:txBody>
            <a:bodyPr wrap="square" lIns="0" tIns="0" rIns="0" bIns="0" rtlCol="0"/>
            <a:lstStyle/>
            <a:p/>
          </p:txBody>
        </p:sp>
        <p:sp>
          <p:nvSpPr>
            <p:cNvPr id="47" name="object 47"/>
            <p:cNvSpPr/>
            <p:nvPr/>
          </p:nvSpPr>
          <p:spPr>
            <a:xfrm>
              <a:off x="1427988" y="4255008"/>
              <a:ext cx="91440" cy="56515"/>
            </a:xfrm>
            <a:custGeom>
              <a:avLst/>
              <a:gdLst/>
              <a:ahLst/>
              <a:cxnLst/>
              <a:rect l="l" t="t" r="r" b="b"/>
              <a:pathLst>
                <a:path w="91440" h="56514">
                  <a:moveTo>
                    <a:pt x="0" y="56387"/>
                  </a:moveTo>
                  <a:lnTo>
                    <a:pt x="91440" y="56387"/>
                  </a:lnTo>
                  <a:lnTo>
                    <a:pt x="91440" y="0"/>
                  </a:lnTo>
                  <a:lnTo>
                    <a:pt x="0" y="0"/>
                  </a:lnTo>
                  <a:lnTo>
                    <a:pt x="0" y="56387"/>
                  </a:lnTo>
                  <a:close/>
                </a:path>
              </a:pathLst>
            </a:custGeom>
            <a:ln w="9525">
              <a:solidFill>
                <a:srgbClr val="34352F"/>
              </a:solidFill>
            </a:ln>
          </p:spPr>
          <p:txBody>
            <a:bodyPr wrap="square" lIns="0" tIns="0" rIns="0" bIns="0" rtlCol="0"/>
            <a:lstStyle/>
            <a:p/>
          </p:txBody>
        </p:sp>
        <p:sp>
          <p:nvSpPr>
            <p:cNvPr id="48" name="object 48"/>
            <p:cNvSpPr/>
            <p:nvPr/>
          </p:nvSpPr>
          <p:spPr>
            <a:xfrm>
              <a:off x="3146298" y="1418082"/>
              <a:ext cx="5080" cy="528955"/>
            </a:xfrm>
            <a:custGeom>
              <a:avLst/>
              <a:gdLst/>
              <a:ahLst/>
              <a:cxnLst/>
              <a:rect l="l" t="t" r="r" b="b"/>
              <a:pathLst>
                <a:path w="5080" h="528955">
                  <a:moveTo>
                    <a:pt x="4825" y="0"/>
                  </a:moveTo>
                  <a:lnTo>
                    <a:pt x="0" y="528573"/>
                  </a:lnTo>
                </a:path>
              </a:pathLst>
            </a:custGeom>
            <a:ln w="28575">
              <a:solidFill>
                <a:srgbClr val="34352F"/>
              </a:solidFill>
            </a:ln>
          </p:spPr>
          <p:txBody>
            <a:bodyPr wrap="square" lIns="0" tIns="0" rIns="0" bIns="0" rtlCol="0"/>
            <a:lstStyle/>
            <a:p/>
          </p:txBody>
        </p:sp>
      </p:grpSp>
      <p:sp>
        <p:nvSpPr>
          <p:cNvPr id="49" name="object 49"/>
          <p:cNvSpPr txBox="1"/>
          <p:nvPr/>
        </p:nvSpPr>
        <p:spPr>
          <a:xfrm>
            <a:off x="291972" y="543052"/>
            <a:ext cx="337185" cy="254000"/>
          </a:xfrm>
          <a:prstGeom prst="rect">
            <a:avLst/>
          </a:prstGeom>
        </p:spPr>
        <p:txBody>
          <a:bodyPr vert="horz" wrap="square" lIns="0" tIns="12700" rIns="0" bIns="0" rtlCol="0">
            <a:spAutoFit/>
          </a:bodyPr>
          <a:lstStyle/>
          <a:p>
            <a:pPr marL="12700">
              <a:lnSpc>
                <a:spcPct val="100000"/>
              </a:lnSpc>
              <a:spcBef>
                <a:spcPts val="100"/>
              </a:spcBef>
            </a:pPr>
            <a:r>
              <a:rPr sz="1500" i="1" spc="-25" dirty="0">
                <a:solidFill>
                  <a:srgbClr val="6F2F9F"/>
                </a:solidFill>
                <a:latin typeface="Calibri" panose="020F0502020204030204"/>
                <a:cs typeface="Calibri" panose="020F0502020204030204"/>
              </a:rPr>
              <a:t>TOP</a:t>
            </a:r>
            <a:endParaRPr sz="1500">
              <a:latin typeface="Calibri" panose="020F0502020204030204"/>
              <a:cs typeface="Calibri" panose="020F0502020204030204"/>
            </a:endParaRPr>
          </a:p>
        </p:txBody>
      </p:sp>
      <p:sp>
        <p:nvSpPr>
          <p:cNvPr id="50" name="object 50"/>
          <p:cNvSpPr txBox="1"/>
          <p:nvPr/>
        </p:nvSpPr>
        <p:spPr>
          <a:xfrm>
            <a:off x="4379975" y="712216"/>
            <a:ext cx="3844925" cy="1732280"/>
          </a:xfrm>
          <a:prstGeom prst="rect">
            <a:avLst/>
          </a:prstGeom>
        </p:spPr>
        <p:txBody>
          <a:bodyPr vert="horz" wrap="square" lIns="0" tIns="12065" rIns="0" bIns="0" rtlCol="0">
            <a:spAutoFit/>
          </a:bodyPr>
          <a:lstStyle/>
          <a:p>
            <a:pPr marL="12700">
              <a:lnSpc>
                <a:spcPct val="100000"/>
              </a:lnSpc>
              <a:spcBef>
                <a:spcPts val="95"/>
              </a:spcBef>
            </a:pPr>
            <a:r>
              <a:rPr sz="1600" i="1" spc="-10" dirty="0">
                <a:solidFill>
                  <a:srgbClr val="0000FE"/>
                </a:solidFill>
                <a:latin typeface="Calibri" panose="020F0502020204030204"/>
                <a:cs typeface="Calibri" panose="020F0502020204030204"/>
              </a:rPr>
              <a:t>create_power_switch</a:t>
            </a:r>
            <a:r>
              <a:rPr sz="1600" i="1" spc="20" dirty="0">
                <a:solidFill>
                  <a:srgbClr val="0000FE"/>
                </a:solidFill>
                <a:latin typeface="Calibri" panose="020F0502020204030204"/>
                <a:cs typeface="Calibri" panose="020F0502020204030204"/>
              </a:rPr>
              <a:t> </a:t>
            </a:r>
            <a:r>
              <a:rPr sz="1600" i="1" spc="-10" dirty="0">
                <a:solidFill>
                  <a:srgbClr val="0000FE"/>
                </a:solidFill>
                <a:latin typeface="Calibri" panose="020F0502020204030204"/>
                <a:cs typeface="Calibri" panose="020F0502020204030204"/>
              </a:rPr>
              <a:t>pd1_sx</a:t>
            </a:r>
            <a:endParaRPr sz="1600">
              <a:latin typeface="Calibri" panose="020F0502020204030204"/>
              <a:cs typeface="Calibri" panose="020F0502020204030204"/>
            </a:endParaRPr>
          </a:p>
          <a:p>
            <a:pPr marL="12700">
              <a:lnSpc>
                <a:spcPct val="100000"/>
              </a:lnSpc>
            </a:pPr>
            <a:r>
              <a:rPr sz="1600" i="1" dirty="0">
                <a:solidFill>
                  <a:srgbClr val="FD9A1D"/>
                </a:solidFill>
                <a:latin typeface="Calibri" panose="020F0502020204030204"/>
                <a:cs typeface="Calibri" panose="020F0502020204030204"/>
              </a:rPr>
              <a:t>-domain</a:t>
            </a:r>
            <a:r>
              <a:rPr sz="1600" i="1" spc="-60" dirty="0">
                <a:solidFill>
                  <a:srgbClr val="FD9A1D"/>
                </a:solidFill>
                <a:latin typeface="Calibri" panose="020F0502020204030204"/>
                <a:cs typeface="Calibri" panose="020F0502020204030204"/>
              </a:rPr>
              <a:t> </a:t>
            </a:r>
            <a:r>
              <a:rPr sz="1600" i="1" spc="-25" dirty="0">
                <a:solidFill>
                  <a:srgbClr val="FD9A1D"/>
                </a:solidFill>
                <a:latin typeface="Calibri" panose="020F0502020204030204"/>
                <a:cs typeface="Calibri" panose="020F0502020204030204"/>
              </a:rPr>
              <a:t>pd1</a:t>
            </a:r>
            <a:endParaRPr sz="1600">
              <a:latin typeface="Calibri" panose="020F0502020204030204"/>
              <a:cs typeface="Calibri" panose="020F0502020204030204"/>
            </a:endParaRPr>
          </a:p>
          <a:p>
            <a:pPr marL="12700">
              <a:lnSpc>
                <a:spcPct val="100000"/>
              </a:lnSpc>
            </a:pPr>
            <a:r>
              <a:rPr sz="1600" i="1" dirty="0">
                <a:solidFill>
                  <a:srgbClr val="006FBF"/>
                </a:solidFill>
                <a:latin typeface="Calibri" panose="020F0502020204030204"/>
                <a:cs typeface="Calibri" panose="020F0502020204030204"/>
              </a:rPr>
              <a:t>-</a:t>
            </a:r>
            <a:r>
              <a:rPr sz="1600" i="1" spc="-10" dirty="0">
                <a:solidFill>
                  <a:srgbClr val="006FBF"/>
                </a:solidFill>
                <a:latin typeface="Calibri" panose="020F0502020204030204"/>
                <a:cs typeface="Calibri" panose="020F0502020204030204"/>
              </a:rPr>
              <a:t>input_supply_port</a:t>
            </a:r>
            <a:r>
              <a:rPr sz="1600" i="1" spc="50" dirty="0">
                <a:solidFill>
                  <a:srgbClr val="006FBF"/>
                </a:solidFill>
                <a:latin typeface="Calibri" panose="020F0502020204030204"/>
                <a:cs typeface="Calibri" panose="020F0502020204030204"/>
              </a:rPr>
              <a:t> </a:t>
            </a:r>
            <a:r>
              <a:rPr sz="1600" i="1" dirty="0">
                <a:solidFill>
                  <a:srgbClr val="006FBF"/>
                </a:solidFill>
                <a:latin typeface="Calibri" panose="020F0502020204030204"/>
                <a:cs typeface="Calibri" panose="020F0502020204030204"/>
              </a:rPr>
              <a:t>{</a:t>
            </a:r>
            <a:r>
              <a:rPr sz="1600" i="1" dirty="0">
                <a:solidFill>
                  <a:srgbClr val="34352F"/>
                </a:solidFill>
                <a:latin typeface="Calibri" panose="020F0502020204030204"/>
                <a:cs typeface="Calibri" panose="020F0502020204030204"/>
              </a:rPr>
              <a:t>in</a:t>
            </a:r>
            <a:r>
              <a:rPr sz="1600" i="1" spc="-10" dirty="0">
                <a:solidFill>
                  <a:srgbClr val="34352F"/>
                </a:solidFill>
                <a:latin typeface="Calibri" panose="020F0502020204030204"/>
                <a:cs typeface="Calibri" panose="020F0502020204030204"/>
              </a:rPr>
              <a:t> </a:t>
            </a:r>
            <a:r>
              <a:rPr sz="1600" i="1" spc="-20" dirty="0">
                <a:solidFill>
                  <a:srgbClr val="006FBF"/>
                </a:solidFill>
                <a:latin typeface="Calibri" panose="020F0502020204030204"/>
                <a:cs typeface="Calibri" panose="020F0502020204030204"/>
              </a:rPr>
              <a:t>VDDL}</a:t>
            </a:r>
            <a:endParaRPr sz="1600">
              <a:latin typeface="Calibri" panose="020F0502020204030204"/>
              <a:cs typeface="Calibri" panose="020F0502020204030204"/>
            </a:endParaRPr>
          </a:p>
          <a:p>
            <a:pPr marL="12700">
              <a:lnSpc>
                <a:spcPct val="100000"/>
              </a:lnSpc>
              <a:spcBef>
                <a:spcPts val="5"/>
              </a:spcBef>
            </a:pPr>
            <a:r>
              <a:rPr sz="1600" i="1" dirty="0">
                <a:solidFill>
                  <a:srgbClr val="006FBF"/>
                </a:solidFill>
                <a:latin typeface="Calibri" panose="020F0502020204030204"/>
                <a:cs typeface="Calibri" panose="020F0502020204030204"/>
              </a:rPr>
              <a:t>-</a:t>
            </a:r>
            <a:r>
              <a:rPr sz="1600" i="1" spc="-10" dirty="0">
                <a:solidFill>
                  <a:srgbClr val="006FBF"/>
                </a:solidFill>
                <a:latin typeface="Calibri" panose="020F0502020204030204"/>
                <a:cs typeface="Calibri" panose="020F0502020204030204"/>
              </a:rPr>
              <a:t>output_supply_port</a:t>
            </a:r>
            <a:r>
              <a:rPr sz="1600" i="1" spc="50" dirty="0">
                <a:solidFill>
                  <a:srgbClr val="006FBF"/>
                </a:solidFill>
                <a:latin typeface="Calibri" panose="020F0502020204030204"/>
                <a:cs typeface="Calibri" panose="020F0502020204030204"/>
              </a:rPr>
              <a:t> </a:t>
            </a:r>
            <a:r>
              <a:rPr sz="1600" i="1" dirty="0">
                <a:solidFill>
                  <a:srgbClr val="006FBF"/>
                </a:solidFill>
                <a:latin typeface="Calibri" panose="020F0502020204030204"/>
                <a:cs typeface="Calibri" panose="020F0502020204030204"/>
              </a:rPr>
              <a:t>{</a:t>
            </a:r>
            <a:r>
              <a:rPr sz="1600" i="1" dirty="0">
                <a:solidFill>
                  <a:srgbClr val="34352F"/>
                </a:solidFill>
                <a:latin typeface="Calibri" panose="020F0502020204030204"/>
                <a:cs typeface="Calibri" panose="020F0502020204030204"/>
              </a:rPr>
              <a:t>out</a:t>
            </a:r>
            <a:r>
              <a:rPr sz="1600" i="1" spc="-5" dirty="0">
                <a:solidFill>
                  <a:srgbClr val="34352F"/>
                </a:solidFill>
                <a:latin typeface="Calibri" panose="020F0502020204030204"/>
                <a:cs typeface="Calibri" panose="020F0502020204030204"/>
              </a:rPr>
              <a:t> </a:t>
            </a:r>
            <a:r>
              <a:rPr sz="1600" i="1" spc="-10" dirty="0">
                <a:solidFill>
                  <a:srgbClr val="006FBF"/>
                </a:solidFill>
                <a:latin typeface="Calibri" panose="020F0502020204030204"/>
                <a:cs typeface="Calibri" panose="020F0502020204030204"/>
              </a:rPr>
              <a:t>VDDLS1}</a:t>
            </a:r>
            <a:endParaRPr sz="1600">
              <a:latin typeface="Calibri" panose="020F0502020204030204"/>
              <a:cs typeface="Calibri" panose="020F0502020204030204"/>
            </a:endParaRPr>
          </a:p>
          <a:p>
            <a:pPr marL="12700">
              <a:lnSpc>
                <a:spcPct val="100000"/>
              </a:lnSpc>
            </a:pPr>
            <a:r>
              <a:rPr sz="1600" i="1" dirty="0">
                <a:solidFill>
                  <a:srgbClr val="006FBF"/>
                </a:solidFill>
                <a:latin typeface="Calibri" panose="020F0502020204030204"/>
                <a:cs typeface="Calibri" panose="020F0502020204030204"/>
              </a:rPr>
              <a:t>-</a:t>
            </a:r>
            <a:r>
              <a:rPr sz="1600" i="1" spc="-10" dirty="0">
                <a:solidFill>
                  <a:srgbClr val="006FBF"/>
                </a:solidFill>
                <a:latin typeface="Calibri" panose="020F0502020204030204"/>
                <a:cs typeface="Calibri" panose="020F0502020204030204"/>
              </a:rPr>
              <a:t>control_port</a:t>
            </a:r>
            <a:r>
              <a:rPr sz="1600" i="1" spc="10" dirty="0">
                <a:solidFill>
                  <a:srgbClr val="006FBF"/>
                </a:solidFill>
                <a:latin typeface="Calibri" panose="020F0502020204030204"/>
                <a:cs typeface="Calibri" panose="020F0502020204030204"/>
              </a:rPr>
              <a:t> </a:t>
            </a:r>
            <a:r>
              <a:rPr sz="1600" i="1" dirty="0">
                <a:solidFill>
                  <a:srgbClr val="006FBF"/>
                </a:solidFill>
                <a:latin typeface="Calibri" panose="020F0502020204030204"/>
                <a:cs typeface="Calibri" panose="020F0502020204030204"/>
              </a:rPr>
              <a:t>{</a:t>
            </a:r>
            <a:r>
              <a:rPr sz="1600" i="1" dirty="0">
                <a:solidFill>
                  <a:srgbClr val="34352F"/>
                </a:solidFill>
                <a:latin typeface="Calibri" panose="020F0502020204030204"/>
                <a:cs typeface="Calibri" panose="020F0502020204030204"/>
              </a:rPr>
              <a:t>sleep</a:t>
            </a:r>
            <a:r>
              <a:rPr sz="1600" i="1" spc="-25" dirty="0">
                <a:solidFill>
                  <a:srgbClr val="34352F"/>
                </a:solidFill>
                <a:latin typeface="Calibri" panose="020F0502020204030204"/>
                <a:cs typeface="Calibri" panose="020F0502020204030204"/>
              </a:rPr>
              <a:t> </a:t>
            </a:r>
            <a:r>
              <a:rPr sz="1600" i="1" spc="-10" dirty="0">
                <a:solidFill>
                  <a:srgbClr val="006FBF"/>
                </a:solidFill>
                <a:latin typeface="Calibri" panose="020F0502020204030204"/>
                <a:cs typeface="Calibri" panose="020F0502020204030204"/>
              </a:rPr>
              <a:t>u_dhm_sleep_logic/sleep}</a:t>
            </a:r>
            <a:endParaRPr sz="1600">
              <a:latin typeface="Calibri" panose="020F0502020204030204"/>
              <a:cs typeface="Calibri" panose="020F0502020204030204"/>
            </a:endParaRPr>
          </a:p>
          <a:p>
            <a:pPr marL="12700">
              <a:lnSpc>
                <a:spcPct val="100000"/>
              </a:lnSpc>
            </a:pPr>
            <a:r>
              <a:rPr sz="1600" i="1" dirty="0">
                <a:solidFill>
                  <a:srgbClr val="006FBF"/>
                </a:solidFill>
                <a:latin typeface="Calibri" panose="020F0502020204030204"/>
                <a:cs typeface="Calibri" panose="020F0502020204030204"/>
              </a:rPr>
              <a:t>-</a:t>
            </a:r>
            <a:r>
              <a:rPr sz="1600" i="1" spc="-10" dirty="0">
                <a:solidFill>
                  <a:srgbClr val="006FBF"/>
                </a:solidFill>
                <a:latin typeface="Calibri" panose="020F0502020204030204"/>
                <a:cs typeface="Calibri" panose="020F0502020204030204"/>
              </a:rPr>
              <a:t>on_state</a:t>
            </a:r>
            <a:r>
              <a:rPr sz="1600" i="1" spc="-20" dirty="0">
                <a:solidFill>
                  <a:srgbClr val="006FBF"/>
                </a:solidFill>
                <a:latin typeface="Calibri" panose="020F0502020204030204"/>
                <a:cs typeface="Calibri" panose="020F0502020204030204"/>
              </a:rPr>
              <a:t> </a:t>
            </a:r>
            <a:r>
              <a:rPr sz="1600" i="1" dirty="0">
                <a:solidFill>
                  <a:srgbClr val="006FBF"/>
                </a:solidFill>
                <a:latin typeface="Calibri" panose="020F0502020204030204"/>
                <a:cs typeface="Calibri" panose="020F0502020204030204"/>
              </a:rPr>
              <a:t>{on</a:t>
            </a:r>
            <a:r>
              <a:rPr sz="1600" i="1" spc="-15" dirty="0">
                <a:solidFill>
                  <a:srgbClr val="006FB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in</a:t>
            </a:r>
            <a:r>
              <a:rPr sz="1600" i="1" spc="-40" dirty="0">
                <a:solidFill>
                  <a:srgbClr val="34352F"/>
                </a:solidFill>
                <a:latin typeface="Calibri" panose="020F0502020204030204"/>
                <a:cs typeface="Calibri" panose="020F0502020204030204"/>
              </a:rPr>
              <a:t> </a:t>
            </a:r>
            <a:r>
              <a:rPr sz="1600" i="1" spc="-10" dirty="0">
                <a:solidFill>
                  <a:srgbClr val="006FBF"/>
                </a:solidFill>
                <a:latin typeface="Calibri" panose="020F0502020204030204"/>
                <a:cs typeface="Calibri" panose="020F0502020204030204"/>
              </a:rPr>
              <a:t>{!sleep}}</a:t>
            </a:r>
            <a:endParaRPr sz="1600">
              <a:latin typeface="Calibri" panose="020F0502020204030204"/>
              <a:cs typeface="Calibri" panose="020F0502020204030204"/>
            </a:endParaRPr>
          </a:p>
          <a:p>
            <a:pPr marL="12700">
              <a:lnSpc>
                <a:spcPct val="100000"/>
              </a:lnSpc>
            </a:pPr>
            <a:r>
              <a:rPr sz="1600" i="1" dirty="0">
                <a:solidFill>
                  <a:srgbClr val="006FBF"/>
                </a:solidFill>
                <a:latin typeface="Calibri" panose="020F0502020204030204"/>
                <a:cs typeface="Calibri" panose="020F0502020204030204"/>
              </a:rPr>
              <a:t>-</a:t>
            </a:r>
            <a:r>
              <a:rPr sz="1600" i="1" spc="-10" dirty="0">
                <a:solidFill>
                  <a:srgbClr val="006FBF"/>
                </a:solidFill>
                <a:latin typeface="Calibri" panose="020F0502020204030204"/>
                <a:cs typeface="Calibri" panose="020F0502020204030204"/>
              </a:rPr>
              <a:t>off_state</a:t>
            </a:r>
            <a:r>
              <a:rPr sz="1600" i="1" spc="-30" dirty="0">
                <a:solidFill>
                  <a:srgbClr val="006FBF"/>
                </a:solidFill>
                <a:latin typeface="Calibri" panose="020F0502020204030204"/>
                <a:cs typeface="Calibri" panose="020F0502020204030204"/>
              </a:rPr>
              <a:t> </a:t>
            </a:r>
            <a:r>
              <a:rPr sz="1600" i="1" dirty="0">
                <a:solidFill>
                  <a:srgbClr val="006FBF"/>
                </a:solidFill>
                <a:latin typeface="Calibri" panose="020F0502020204030204"/>
                <a:cs typeface="Calibri" panose="020F0502020204030204"/>
              </a:rPr>
              <a:t>{off</a:t>
            </a:r>
            <a:r>
              <a:rPr sz="1600" i="1" spc="-30" dirty="0">
                <a:solidFill>
                  <a:srgbClr val="006FBF"/>
                </a:solidFill>
                <a:latin typeface="Calibri" panose="020F0502020204030204"/>
                <a:cs typeface="Calibri" panose="020F0502020204030204"/>
              </a:rPr>
              <a:t> </a:t>
            </a:r>
            <a:r>
              <a:rPr sz="1600" i="1" spc="-10" dirty="0">
                <a:solidFill>
                  <a:srgbClr val="006FBF"/>
                </a:solidFill>
                <a:latin typeface="Calibri" panose="020F0502020204030204"/>
                <a:cs typeface="Calibri" panose="020F0502020204030204"/>
              </a:rPr>
              <a:t>{sleep}}</a:t>
            </a:r>
            <a:endParaRPr sz="1600">
              <a:latin typeface="Calibri" panose="020F0502020204030204"/>
              <a:cs typeface="Calibri" panose="020F0502020204030204"/>
            </a:endParaRPr>
          </a:p>
        </p:txBody>
      </p:sp>
      <p:sp>
        <p:nvSpPr>
          <p:cNvPr id="53" name="Text 0"/>
          <p:cNvSpPr/>
          <p:nvPr/>
        </p:nvSpPr>
        <p:spPr>
          <a:xfrm>
            <a:off x="284480" y="10922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电源</a:t>
            </a:r>
            <a:r>
              <a:rPr lang="zh-CN" altLang="en-US" sz="1730" b="1" dirty="0">
                <a:latin typeface="微软雅黑" panose="020B0503020204020204" pitchFamily="34" charset="-122"/>
                <a:ea typeface="微软雅黑" panose="020B0503020204020204" pitchFamily="34" charset="-122"/>
                <a:sym typeface="+mn-ea"/>
              </a:rPr>
              <a:t>开关</a:t>
            </a:r>
            <a:endParaRPr lang="zh-CN" altLang="en-US" sz="1730" b="1"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grpSp>
        <p:nvGrpSpPr>
          <p:cNvPr id="3" name="object 3"/>
          <p:cNvGrpSpPr/>
          <p:nvPr/>
        </p:nvGrpSpPr>
        <p:grpSpPr>
          <a:xfrm>
            <a:off x="429196" y="684593"/>
            <a:ext cx="3754754" cy="3631565"/>
            <a:chOff x="354901" y="1251013"/>
            <a:chExt cx="3754754" cy="3631565"/>
          </a:xfrm>
        </p:grpSpPr>
        <p:pic>
          <p:nvPicPr>
            <p:cNvPr id="4" name="object 4"/>
            <p:cNvPicPr/>
            <p:nvPr/>
          </p:nvPicPr>
          <p:blipFill>
            <a:blip r:embed="rId2" cstate="print"/>
            <a:stretch>
              <a:fillRect/>
            </a:stretch>
          </p:blipFill>
          <p:spPr>
            <a:xfrm>
              <a:off x="429767" y="1325879"/>
              <a:ext cx="3679698" cy="3556254"/>
            </a:xfrm>
            <a:prstGeom prst="rect">
              <a:avLst/>
            </a:prstGeom>
          </p:spPr>
        </p:pic>
        <p:sp>
          <p:nvSpPr>
            <p:cNvPr id="5" name="object 5"/>
            <p:cNvSpPr/>
            <p:nvPr/>
          </p:nvSpPr>
          <p:spPr>
            <a:xfrm>
              <a:off x="359663" y="1255775"/>
              <a:ext cx="3670300" cy="3546475"/>
            </a:xfrm>
            <a:custGeom>
              <a:avLst/>
              <a:gdLst/>
              <a:ahLst/>
              <a:cxnLst/>
              <a:rect l="l" t="t" r="r" b="b"/>
              <a:pathLst>
                <a:path w="3670300" h="3546475">
                  <a:moveTo>
                    <a:pt x="3669791" y="0"/>
                  </a:moveTo>
                  <a:lnTo>
                    <a:pt x="0" y="0"/>
                  </a:lnTo>
                  <a:lnTo>
                    <a:pt x="0" y="3546348"/>
                  </a:lnTo>
                  <a:lnTo>
                    <a:pt x="3669791" y="3546348"/>
                  </a:lnTo>
                  <a:lnTo>
                    <a:pt x="3669791" y="0"/>
                  </a:lnTo>
                  <a:close/>
                </a:path>
              </a:pathLst>
            </a:custGeom>
            <a:solidFill>
              <a:srgbClr val="FEFEFE"/>
            </a:solidFill>
          </p:spPr>
          <p:txBody>
            <a:bodyPr wrap="square" lIns="0" tIns="0" rIns="0" bIns="0" rtlCol="0"/>
            <a:lstStyle/>
            <a:p/>
          </p:txBody>
        </p:sp>
        <p:sp>
          <p:nvSpPr>
            <p:cNvPr id="6" name="object 6"/>
            <p:cNvSpPr/>
            <p:nvPr/>
          </p:nvSpPr>
          <p:spPr>
            <a:xfrm>
              <a:off x="359663" y="1255775"/>
              <a:ext cx="3670300" cy="3546475"/>
            </a:xfrm>
            <a:custGeom>
              <a:avLst/>
              <a:gdLst/>
              <a:ahLst/>
              <a:cxnLst/>
              <a:rect l="l" t="t" r="r" b="b"/>
              <a:pathLst>
                <a:path w="3670300" h="3546475">
                  <a:moveTo>
                    <a:pt x="0" y="3546348"/>
                  </a:moveTo>
                  <a:lnTo>
                    <a:pt x="3669791" y="3546348"/>
                  </a:lnTo>
                  <a:lnTo>
                    <a:pt x="3669791" y="0"/>
                  </a:lnTo>
                  <a:lnTo>
                    <a:pt x="0" y="0"/>
                  </a:lnTo>
                  <a:lnTo>
                    <a:pt x="0" y="3546348"/>
                  </a:lnTo>
                  <a:close/>
                </a:path>
              </a:pathLst>
            </a:custGeom>
            <a:ln w="9524">
              <a:solidFill>
                <a:srgbClr val="959595"/>
              </a:solidFill>
            </a:ln>
          </p:spPr>
          <p:txBody>
            <a:bodyPr wrap="square" lIns="0" tIns="0" rIns="0" bIns="0" rtlCol="0"/>
            <a:lstStyle/>
            <a:p/>
          </p:txBody>
        </p:sp>
        <p:pic>
          <p:nvPicPr>
            <p:cNvPr id="7" name="object 7"/>
            <p:cNvPicPr/>
            <p:nvPr/>
          </p:nvPicPr>
          <p:blipFill>
            <a:blip r:embed="rId3" cstate="print"/>
            <a:stretch>
              <a:fillRect/>
            </a:stretch>
          </p:blipFill>
          <p:spPr>
            <a:xfrm>
              <a:off x="915923" y="1923287"/>
              <a:ext cx="2646426" cy="2282190"/>
            </a:xfrm>
            <a:prstGeom prst="rect">
              <a:avLst/>
            </a:prstGeom>
          </p:spPr>
        </p:pic>
        <p:sp>
          <p:nvSpPr>
            <p:cNvPr id="8" name="object 8"/>
            <p:cNvSpPr/>
            <p:nvPr/>
          </p:nvSpPr>
          <p:spPr>
            <a:xfrm>
              <a:off x="883919" y="1891283"/>
              <a:ext cx="2636520" cy="2272665"/>
            </a:xfrm>
            <a:custGeom>
              <a:avLst/>
              <a:gdLst/>
              <a:ahLst/>
              <a:cxnLst/>
              <a:rect l="l" t="t" r="r" b="b"/>
              <a:pathLst>
                <a:path w="2636520" h="2272665">
                  <a:moveTo>
                    <a:pt x="2636520" y="0"/>
                  </a:moveTo>
                  <a:lnTo>
                    <a:pt x="0" y="0"/>
                  </a:lnTo>
                  <a:lnTo>
                    <a:pt x="0" y="2272284"/>
                  </a:lnTo>
                  <a:lnTo>
                    <a:pt x="2636520" y="2272284"/>
                  </a:lnTo>
                  <a:lnTo>
                    <a:pt x="2636520" y="0"/>
                  </a:lnTo>
                  <a:close/>
                </a:path>
              </a:pathLst>
            </a:custGeom>
            <a:solidFill>
              <a:srgbClr val="CBFEFE"/>
            </a:solidFill>
          </p:spPr>
          <p:txBody>
            <a:bodyPr wrap="square" lIns="0" tIns="0" rIns="0" bIns="0" rtlCol="0"/>
            <a:lstStyle/>
            <a:p/>
          </p:txBody>
        </p:sp>
        <p:sp>
          <p:nvSpPr>
            <p:cNvPr id="9" name="object 9"/>
            <p:cNvSpPr/>
            <p:nvPr/>
          </p:nvSpPr>
          <p:spPr>
            <a:xfrm>
              <a:off x="883919" y="1891283"/>
              <a:ext cx="2636520" cy="2272665"/>
            </a:xfrm>
            <a:custGeom>
              <a:avLst/>
              <a:gdLst/>
              <a:ahLst/>
              <a:cxnLst/>
              <a:rect l="l" t="t" r="r" b="b"/>
              <a:pathLst>
                <a:path w="2636520" h="2272665">
                  <a:moveTo>
                    <a:pt x="0" y="2272284"/>
                  </a:moveTo>
                  <a:lnTo>
                    <a:pt x="2636520" y="2272284"/>
                  </a:lnTo>
                  <a:lnTo>
                    <a:pt x="2636520" y="0"/>
                  </a:lnTo>
                  <a:lnTo>
                    <a:pt x="0" y="0"/>
                  </a:lnTo>
                  <a:lnTo>
                    <a:pt x="0" y="2272284"/>
                  </a:lnTo>
                  <a:close/>
                </a:path>
              </a:pathLst>
            </a:custGeom>
            <a:ln w="9525">
              <a:solidFill>
                <a:srgbClr val="68BD27"/>
              </a:solidFill>
            </a:ln>
          </p:spPr>
          <p:txBody>
            <a:bodyPr wrap="square" lIns="0" tIns="0" rIns="0" bIns="0" rtlCol="0"/>
            <a:lstStyle/>
            <a:p/>
          </p:txBody>
        </p:sp>
      </p:grpSp>
      <p:sp>
        <p:nvSpPr>
          <p:cNvPr id="10" name="object 10"/>
          <p:cNvSpPr txBox="1"/>
          <p:nvPr/>
        </p:nvSpPr>
        <p:spPr>
          <a:xfrm>
            <a:off x="2739072" y="737565"/>
            <a:ext cx="728980" cy="208915"/>
          </a:xfrm>
          <a:prstGeom prst="rect">
            <a:avLst/>
          </a:prstGeom>
        </p:spPr>
        <p:txBody>
          <a:bodyPr vert="horz" wrap="square" lIns="0" tIns="12700" rIns="0" bIns="0" rtlCol="0">
            <a:spAutoFit/>
          </a:bodyPr>
          <a:lstStyle/>
          <a:p>
            <a:pPr marL="90170">
              <a:lnSpc>
                <a:spcPct val="100000"/>
              </a:lnSpc>
              <a:spcBef>
                <a:spcPts val="100"/>
              </a:spcBef>
            </a:pPr>
            <a:r>
              <a:rPr sz="1200" b="1" spc="-20" dirty="0">
                <a:solidFill>
                  <a:srgbClr val="34352F"/>
                </a:solidFill>
                <a:latin typeface="Calibri" panose="020F0502020204030204"/>
                <a:cs typeface="Calibri" panose="020F0502020204030204"/>
              </a:rPr>
              <a:t>VDDL</a:t>
            </a:r>
            <a:endParaRPr sz="1200">
              <a:latin typeface="Calibri" panose="020F0502020204030204"/>
              <a:cs typeface="Calibri" panose="020F0502020204030204"/>
            </a:endParaRPr>
          </a:p>
        </p:txBody>
      </p:sp>
      <p:sp>
        <p:nvSpPr>
          <p:cNvPr id="11" name="object 11"/>
          <p:cNvSpPr txBox="1"/>
          <p:nvPr/>
        </p:nvSpPr>
        <p:spPr>
          <a:xfrm>
            <a:off x="1667891" y="734568"/>
            <a:ext cx="307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34352F"/>
                </a:solidFill>
                <a:latin typeface="Calibri" panose="020F0502020204030204"/>
                <a:cs typeface="Calibri" panose="020F0502020204030204"/>
              </a:rPr>
              <a:t>VDD</a:t>
            </a:r>
            <a:endParaRPr sz="1200">
              <a:latin typeface="Calibri" panose="020F0502020204030204"/>
              <a:cs typeface="Calibri" panose="020F0502020204030204"/>
            </a:endParaRPr>
          </a:p>
        </p:txBody>
      </p:sp>
      <p:sp>
        <p:nvSpPr>
          <p:cNvPr id="12" name="object 12"/>
          <p:cNvSpPr txBox="1"/>
          <p:nvPr/>
        </p:nvSpPr>
        <p:spPr>
          <a:xfrm>
            <a:off x="3511740" y="747649"/>
            <a:ext cx="587375" cy="208279"/>
          </a:xfrm>
          <a:prstGeom prst="rect">
            <a:avLst/>
          </a:prstGeom>
        </p:spPr>
        <p:txBody>
          <a:bodyPr vert="horz" wrap="square" lIns="0" tIns="12700" rIns="0" bIns="0" rtlCol="0">
            <a:spAutoFit/>
          </a:bodyPr>
          <a:lstStyle/>
          <a:p>
            <a:pPr marL="63500">
              <a:lnSpc>
                <a:spcPct val="100000"/>
              </a:lnSpc>
              <a:spcBef>
                <a:spcPts val="100"/>
              </a:spcBef>
            </a:pPr>
            <a:r>
              <a:rPr sz="1200" b="1" spc="-25" dirty="0">
                <a:solidFill>
                  <a:srgbClr val="34352F"/>
                </a:solidFill>
                <a:latin typeface="Calibri" panose="020F0502020204030204"/>
                <a:cs typeface="Calibri" panose="020F0502020204030204"/>
              </a:rPr>
              <a:t>VSS</a:t>
            </a:r>
            <a:endParaRPr sz="1200">
              <a:latin typeface="Calibri" panose="020F0502020204030204"/>
              <a:cs typeface="Calibri" panose="020F0502020204030204"/>
            </a:endParaRPr>
          </a:p>
        </p:txBody>
      </p:sp>
      <p:grpSp>
        <p:nvGrpSpPr>
          <p:cNvPr id="13" name="object 13"/>
          <p:cNvGrpSpPr/>
          <p:nvPr/>
        </p:nvGrpSpPr>
        <p:grpSpPr>
          <a:xfrm>
            <a:off x="1531429" y="659066"/>
            <a:ext cx="1971675" cy="568325"/>
            <a:chOff x="1457134" y="1225486"/>
            <a:chExt cx="1971675" cy="568325"/>
          </a:xfrm>
        </p:grpSpPr>
        <p:sp>
          <p:nvSpPr>
            <p:cNvPr id="14" name="object 14"/>
            <p:cNvSpPr/>
            <p:nvPr/>
          </p:nvSpPr>
          <p:spPr>
            <a:xfrm>
              <a:off x="1480566" y="1480566"/>
              <a:ext cx="0" cy="299085"/>
            </a:xfrm>
            <a:custGeom>
              <a:avLst/>
              <a:gdLst/>
              <a:ahLst/>
              <a:cxnLst/>
              <a:rect l="l" t="t" r="r" b="b"/>
              <a:pathLst>
                <a:path h="299085">
                  <a:moveTo>
                    <a:pt x="0" y="0"/>
                  </a:moveTo>
                  <a:lnTo>
                    <a:pt x="0" y="298704"/>
                  </a:lnTo>
                </a:path>
              </a:pathLst>
            </a:custGeom>
            <a:ln w="28575">
              <a:solidFill>
                <a:srgbClr val="34352F"/>
              </a:solidFill>
            </a:ln>
          </p:spPr>
          <p:txBody>
            <a:bodyPr wrap="square" lIns="0" tIns="0" rIns="0" bIns="0" rtlCol="0"/>
            <a:lstStyle/>
            <a:p/>
          </p:txBody>
        </p:sp>
        <p:sp>
          <p:nvSpPr>
            <p:cNvPr id="15" name="object 15"/>
            <p:cNvSpPr/>
            <p:nvPr/>
          </p:nvSpPr>
          <p:spPr>
            <a:xfrm>
              <a:off x="1471422" y="1239774"/>
              <a:ext cx="1943100" cy="264160"/>
            </a:xfrm>
            <a:custGeom>
              <a:avLst/>
              <a:gdLst/>
              <a:ahLst/>
              <a:cxnLst/>
              <a:rect l="l" t="t" r="r" b="b"/>
              <a:pathLst>
                <a:path w="1943100" h="264159">
                  <a:moveTo>
                    <a:pt x="1162811" y="4572"/>
                  </a:moveTo>
                  <a:lnTo>
                    <a:pt x="1175004" y="239267"/>
                  </a:lnTo>
                </a:path>
                <a:path w="1943100" h="264159">
                  <a:moveTo>
                    <a:pt x="0" y="0"/>
                  </a:moveTo>
                  <a:lnTo>
                    <a:pt x="12191" y="234696"/>
                  </a:lnTo>
                </a:path>
                <a:path w="1943100" h="264159">
                  <a:moveTo>
                    <a:pt x="1930907" y="27431"/>
                  </a:moveTo>
                  <a:lnTo>
                    <a:pt x="1943100" y="263651"/>
                  </a:lnTo>
                </a:path>
              </a:pathLst>
            </a:custGeom>
            <a:ln w="28575">
              <a:solidFill>
                <a:srgbClr val="34352F"/>
              </a:solidFill>
            </a:ln>
          </p:spPr>
          <p:txBody>
            <a:bodyPr wrap="square" lIns="0" tIns="0" rIns="0" bIns="0" rtlCol="0"/>
            <a:lstStyle/>
            <a:p/>
          </p:txBody>
        </p:sp>
      </p:grpSp>
      <p:sp>
        <p:nvSpPr>
          <p:cNvPr id="16" name="object 16"/>
          <p:cNvSpPr txBox="1"/>
          <p:nvPr/>
        </p:nvSpPr>
        <p:spPr>
          <a:xfrm>
            <a:off x="2803905" y="1987296"/>
            <a:ext cx="521334" cy="208279"/>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34352F"/>
                </a:solidFill>
                <a:latin typeface="Calibri" panose="020F0502020204030204"/>
                <a:cs typeface="Calibri" panose="020F0502020204030204"/>
              </a:rPr>
              <a:t>VDDLS1</a:t>
            </a:r>
            <a:endParaRPr sz="1200">
              <a:latin typeface="Calibri" panose="020F0502020204030204"/>
              <a:cs typeface="Calibri" panose="020F0502020204030204"/>
            </a:endParaRPr>
          </a:p>
        </p:txBody>
      </p:sp>
      <p:sp>
        <p:nvSpPr>
          <p:cNvPr id="17" name="object 17"/>
          <p:cNvSpPr txBox="1"/>
          <p:nvPr/>
        </p:nvSpPr>
        <p:spPr>
          <a:xfrm>
            <a:off x="2169287" y="1601419"/>
            <a:ext cx="276225" cy="163195"/>
          </a:xfrm>
          <a:prstGeom prst="rect">
            <a:avLst/>
          </a:prstGeom>
        </p:spPr>
        <p:txBody>
          <a:bodyPr vert="horz" wrap="square" lIns="0" tIns="12700" rIns="0" bIns="0" rtlCol="0">
            <a:spAutoFit/>
          </a:bodyPr>
          <a:lstStyle/>
          <a:p>
            <a:pPr marL="12700">
              <a:lnSpc>
                <a:spcPct val="100000"/>
              </a:lnSpc>
              <a:spcBef>
                <a:spcPts val="100"/>
              </a:spcBef>
            </a:pPr>
            <a:r>
              <a:rPr sz="900" b="1" spc="-10" dirty="0">
                <a:solidFill>
                  <a:srgbClr val="34352F"/>
                </a:solidFill>
                <a:latin typeface="Calibri" panose="020F0502020204030204"/>
                <a:cs typeface="Calibri" panose="020F0502020204030204"/>
              </a:rPr>
              <a:t>sleep</a:t>
            </a:r>
            <a:endParaRPr sz="900">
              <a:latin typeface="Calibri" panose="020F0502020204030204"/>
              <a:cs typeface="Calibri" panose="020F0502020204030204"/>
            </a:endParaRPr>
          </a:p>
        </p:txBody>
      </p:sp>
      <p:grpSp>
        <p:nvGrpSpPr>
          <p:cNvPr id="18" name="object 18"/>
          <p:cNvGrpSpPr/>
          <p:nvPr/>
        </p:nvGrpSpPr>
        <p:grpSpPr>
          <a:xfrm>
            <a:off x="2151252" y="1422400"/>
            <a:ext cx="680720" cy="576580"/>
            <a:chOff x="2076957" y="1988820"/>
            <a:chExt cx="680720" cy="576580"/>
          </a:xfrm>
        </p:grpSpPr>
        <p:pic>
          <p:nvPicPr>
            <p:cNvPr id="19" name="object 19"/>
            <p:cNvPicPr/>
            <p:nvPr/>
          </p:nvPicPr>
          <p:blipFill>
            <a:blip r:embed="rId4" cstate="print"/>
            <a:stretch>
              <a:fillRect/>
            </a:stretch>
          </p:blipFill>
          <p:spPr>
            <a:xfrm>
              <a:off x="2465831" y="2199132"/>
              <a:ext cx="286512" cy="286512"/>
            </a:xfrm>
            <a:prstGeom prst="rect">
              <a:avLst/>
            </a:prstGeom>
          </p:spPr>
        </p:pic>
        <p:sp>
          <p:nvSpPr>
            <p:cNvPr id="20" name="object 20"/>
            <p:cNvSpPr/>
            <p:nvPr/>
          </p:nvSpPr>
          <p:spPr>
            <a:xfrm>
              <a:off x="2465831" y="2199132"/>
              <a:ext cx="287020" cy="287020"/>
            </a:xfrm>
            <a:custGeom>
              <a:avLst/>
              <a:gdLst/>
              <a:ahLst/>
              <a:cxnLst/>
              <a:rect l="l" t="t" r="r" b="b"/>
              <a:pathLst>
                <a:path w="287019" h="287019">
                  <a:moveTo>
                    <a:pt x="0" y="143256"/>
                  </a:moveTo>
                  <a:lnTo>
                    <a:pt x="7303" y="97974"/>
                  </a:lnTo>
                  <a:lnTo>
                    <a:pt x="27639" y="58649"/>
                  </a:lnTo>
                  <a:lnTo>
                    <a:pt x="58649" y="27639"/>
                  </a:lnTo>
                  <a:lnTo>
                    <a:pt x="97974" y="7303"/>
                  </a:lnTo>
                  <a:lnTo>
                    <a:pt x="143256" y="0"/>
                  </a:lnTo>
                  <a:lnTo>
                    <a:pt x="188537" y="7303"/>
                  </a:lnTo>
                  <a:lnTo>
                    <a:pt x="227862" y="27639"/>
                  </a:lnTo>
                  <a:lnTo>
                    <a:pt x="258872" y="58649"/>
                  </a:lnTo>
                  <a:lnTo>
                    <a:pt x="279208" y="97974"/>
                  </a:lnTo>
                  <a:lnTo>
                    <a:pt x="286512" y="143256"/>
                  </a:lnTo>
                  <a:lnTo>
                    <a:pt x="279208" y="188537"/>
                  </a:lnTo>
                  <a:lnTo>
                    <a:pt x="258872" y="227862"/>
                  </a:lnTo>
                  <a:lnTo>
                    <a:pt x="227862" y="258872"/>
                  </a:lnTo>
                  <a:lnTo>
                    <a:pt x="188537" y="279208"/>
                  </a:lnTo>
                  <a:lnTo>
                    <a:pt x="143256" y="286512"/>
                  </a:lnTo>
                  <a:lnTo>
                    <a:pt x="97974" y="279208"/>
                  </a:lnTo>
                  <a:lnTo>
                    <a:pt x="58649" y="258872"/>
                  </a:lnTo>
                  <a:lnTo>
                    <a:pt x="27639" y="227862"/>
                  </a:lnTo>
                  <a:lnTo>
                    <a:pt x="7303" y="188537"/>
                  </a:lnTo>
                  <a:lnTo>
                    <a:pt x="0" y="143256"/>
                  </a:lnTo>
                  <a:close/>
                </a:path>
              </a:pathLst>
            </a:custGeom>
            <a:ln w="9525">
              <a:solidFill>
                <a:srgbClr val="007F00"/>
              </a:solidFill>
            </a:ln>
          </p:spPr>
          <p:txBody>
            <a:bodyPr wrap="square" lIns="0" tIns="0" rIns="0" bIns="0" rtlCol="0"/>
            <a:lstStyle/>
            <a:p/>
          </p:txBody>
        </p:sp>
        <p:sp>
          <p:nvSpPr>
            <p:cNvPr id="21" name="object 21"/>
            <p:cNvSpPr/>
            <p:nvPr/>
          </p:nvSpPr>
          <p:spPr>
            <a:xfrm>
              <a:off x="2647187" y="2424684"/>
              <a:ext cx="0" cy="135890"/>
            </a:xfrm>
            <a:custGeom>
              <a:avLst/>
              <a:gdLst/>
              <a:ahLst/>
              <a:cxnLst/>
              <a:rect l="l" t="t" r="r" b="b"/>
              <a:pathLst>
                <a:path h="135889">
                  <a:moveTo>
                    <a:pt x="0" y="0"/>
                  </a:moveTo>
                  <a:lnTo>
                    <a:pt x="0" y="135636"/>
                  </a:lnTo>
                </a:path>
              </a:pathLst>
            </a:custGeom>
            <a:ln w="9525">
              <a:solidFill>
                <a:srgbClr val="34352F"/>
              </a:solidFill>
            </a:ln>
          </p:spPr>
          <p:txBody>
            <a:bodyPr wrap="square" lIns="0" tIns="0" rIns="0" bIns="0" rtlCol="0"/>
            <a:lstStyle/>
            <a:p/>
          </p:txBody>
        </p:sp>
        <p:sp>
          <p:nvSpPr>
            <p:cNvPr id="22" name="object 22"/>
            <p:cNvSpPr/>
            <p:nvPr/>
          </p:nvSpPr>
          <p:spPr>
            <a:xfrm>
              <a:off x="2567939" y="2257044"/>
              <a:ext cx="91440" cy="180340"/>
            </a:xfrm>
            <a:custGeom>
              <a:avLst/>
              <a:gdLst/>
              <a:ahLst/>
              <a:cxnLst/>
              <a:rect l="l" t="t" r="r" b="b"/>
              <a:pathLst>
                <a:path w="91439" h="180339">
                  <a:moveTo>
                    <a:pt x="0" y="0"/>
                  </a:moveTo>
                  <a:lnTo>
                    <a:pt x="91440" y="179831"/>
                  </a:lnTo>
                </a:path>
              </a:pathLst>
            </a:custGeom>
            <a:ln w="57150">
              <a:solidFill>
                <a:srgbClr val="34352F"/>
              </a:solidFill>
            </a:ln>
          </p:spPr>
          <p:txBody>
            <a:bodyPr wrap="square" lIns="0" tIns="0" rIns="0" bIns="0" rtlCol="0"/>
            <a:lstStyle/>
            <a:p/>
          </p:txBody>
        </p:sp>
        <p:sp>
          <p:nvSpPr>
            <p:cNvPr id="23" name="object 23"/>
            <p:cNvSpPr/>
            <p:nvPr/>
          </p:nvSpPr>
          <p:spPr>
            <a:xfrm>
              <a:off x="2076957" y="2275078"/>
              <a:ext cx="478790" cy="76200"/>
            </a:xfrm>
            <a:custGeom>
              <a:avLst/>
              <a:gdLst/>
              <a:ahLst/>
              <a:cxnLst/>
              <a:rect l="l" t="t" r="r" b="b"/>
              <a:pathLst>
                <a:path w="478789" h="76200">
                  <a:moveTo>
                    <a:pt x="9906" y="30480"/>
                  </a:moveTo>
                  <a:lnTo>
                    <a:pt x="2921" y="30480"/>
                  </a:lnTo>
                  <a:lnTo>
                    <a:pt x="0" y="33274"/>
                  </a:lnTo>
                  <a:lnTo>
                    <a:pt x="121" y="40386"/>
                  </a:lnTo>
                  <a:lnTo>
                    <a:pt x="2793" y="43180"/>
                  </a:lnTo>
                  <a:lnTo>
                    <a:pt x="9906" y="43180"/>
                  </a:lnTo>
                  <a:lnTo>
                    <a:pt x="12700" y="40386"/>
                  </a:lnTo>
                  <a:lnTo>
                    <a:pt x="12578" y="33274"/>
                  </a:lnTo>
                  <a:lnTo>
                    <a:pt x="9906" y="30480"/>
                  </a:lnTo>
                  <a:close/>
                </a:path>
                <a:path w="478789" h="76200">
                  <a:moveTo>
                    <a:pt x="35306" y="30607"/>
                  </a:moveTo>
                  <a:lnTo>
                    <a:pt x="28321" y="30607"/>
                  </a:lnTo>
                  <a:lnTo>
                    <a:pt x="25400" y="33401"/>
                  </a:lnTo>
                  <a:lnTo>
                    <a:pt x="25400" y="40386"/>
                  </a:lnTo>
                  <a:lnTo>
                    <a:pt x="28193" y="43307"/>
                  </a:lnTo>
                  <a:lnTo>
                    <a:pt x="35306" y="43307"/>
                  </a:lnTo>
                  <a:lnTo>
                    <a:pt x="38100" y="40386"/>
                  </a:lnTo>
                  <a:lnTo>
                    <a:pt x="38100" y="33401"/>
                  </a:lnTo>
                  <a:lnTo>
                    <a:pt x="35306" y="30607"/>
                  </a:lnTo>
                  <a:close/>
                </a:path>
                <a:path w="478789" h="76200">
                  <a:moveTo>
                    <a:pt x="60706" y="30607"/>
                  </a:moveTo>
                  <a:lnTo>
                    <a:pt x="53721" y="30607"/>
                  </a:lnTo>
                  <a:lnTo>
                    <a:pt x="50800" y="33528"/>
                  </a:lnTo>
                  <a:lnTo>
                    <a:pt x="50800" y="40513"/>
                  </a:lnTo>
                  <a:lnTo>
                    <a:pt x="53593" y="43307"/>
                  </a:lnTo>
                  <a:lnTo>
                    <a:pt x="60706" y="43307"/>
                  </a:lnTo>
                  <a:lnTo>
                    <a:pt x="63500" y="40513"/>
                  </a:lnTo>
                  <a:lnTo>
                    <a:pt x="63500" y="33528"/>
                  </a:lnTo>
                  <a:lnTo>
                    <a:pt x="60706" y="30607"/>
                  </a:lnTo>
                  <a:close/>
                </a:path>
                <a:path w="478789" h="76200">
                  <a:moveTo>
                    <a:pt x="86106" y="30734"/>
                  </a:moveTo>
                  <a:lnTo>
                    <a:pt x="79121" y="30734"/>
                  </a:lnTo>
                  <a:lnTo>
                    <a:pt x="76200" y="33528"/>
                  </a:lnTo>
                  <a:lnTo>
                    <a:pt x="76326" y="40640"/>
                  </a:lnTo>
                  <a:lnTo>
                    <a:pt x="79121" y="43434"/>
                  </a:lnTo>
                  <a:lnTo>
                    <a:pt x="86106" y="43434"/>
                  </a:lnTo>
                  <a:lnTo>
                    <a:pt x="88900" y="40640"/>
                  </a:lnTo>
                  <a:lnTo>
                    <a:pt x="88900" y="33528"/>
                  </a:lnTo>
                  <a:lnTo>
                    <a:pt x="86106" y="30734"/>
                  </a:lnTo>
                  <a:close/>
                </a:path>
                <a:path w="478789" h="76200">
                  <a:moveTo>
                    <a:pt x="111506" y="30861"/>
                  </a:moveTo>
                  <a:lnTo>
                    <a:pt x="104394" y="30861"/>
                  </a:lnTo>
                  <a:lnTo>
                    <a:pt x="101600" y="33655"/>
                  </a:lnTo>
                  <a:lnTo>
                    <a:pt x="101600" y="40640"/>
                  </a:lnTo>
                  <a:lnTo>
                    <a:pt x="104653" y="43561"/>
                  </a:lnTo>
                  <a:lnTo>
                    <a:pt x="111506" y="43561"/>
                  </a:lnTo>
                  <a:lnTo>
                    <a:pt x="114300" y="40640"/>
                  </a:lnTo>
                  <a:lnTo>
                    <a:pt x="114300" y="37211"/>
                  </a:lnTo>
                  <a:lnTo>
                    <a:pt x="114427" y="33655"/>
                  </a:lnTo>
                  <a:lnTo>
                    <a:pt x="111506" y="30861"/>
                  </a:lnTo>
                  <a:close/>
                </a:path>
                <a:path w="478789" h="76200">
                  <a:moveTo>
                    <a:pt x="136906" y="30861"/>
                  </a:moveTo>
                  <a:lnTo>
                    <a:pt x="129921" y="30861"/>
                  </a:lnTo>
                  <a:lnTo>
                    <a:pt x="127127" y="33655"/>
                  </a:lnTo>
                  <a:lnTo>
                    <a:pt x="127122" y="33782"/>
                  </a:lnTo>
                  <a:lnTo>
                    <a:pt x="127000" y="40767"/>
                  </a:lnTo>
                  <a:lnTo>
                    <a:pt x="129921" y="43561"/>
                  </a:lnTo>
                  <a:lnTo>
                    <a:pt x="136906" y="43561"/>
                  </a:lnTo>
                  <a:lnTo>
                    <a:pt x="139700" y="40767"/>
                  </a:lnTo>
                  <a:lnTo>
                    <a:pt x="139827" y="37211"/>
                  </a:lnTo>
                  <a:lnTo>
                    <a:pt x="139827" y="33782"/>
                  </a:lnTo>
                  <a:lnTo>
                    <a:pt x="136906" y="30861"/>
                  </a:lnTo>
                  <a:close/>
                </a:path>
                <a:path w="478789" h="76200">
                  <a:moveTo>
                    <a:pt x="162306" y="30988"/>
                  </a:moveTo>
                  <a:lnTo>
                    <a:pt x="155321" y="30988"/>
                  </a:lnTo>
                  <a:lnTo>
                    <a:pt x="152527" y="33782"/>
                  </a:lnTo>
                  <a:lnTo>
                    <a:pt x="152527" y="37338"/>
                  </a:lnTo>
                  <a:lnTo>
                    <a:pt x="152400" y="40767"/>
                  </a:lnTo>
                  <a:lnTo>
                    <a:pt x="155321" y="43688"/>
                  </a:lnTo>
                  <a:lnTo>
                    <a:pt x="162306" y="43688"/>
                  </a:lnTo>
                  <a:lnTo>
                    <a:pt x="165227" y="40894"/>
                  </a:lnTo>
                  <a:lnTo>
                    <a:pt x="165227" y="33782"/>
                  </a:lnTo>
                  <a:lnTo>
                    <a:pt x="162306" y="30988"/>
                  </a:lnTo>
                  <a:close/>
                </a:path>
                <a:path w="478789" h="76200">
                  <a:moveTo>
                    <a:pt x="187833" y="31115"/>
                  </a:moveTo>
                  <a:lnTo>
                    <a:pt x="180599" y="31115"/>
                  </a:lnTo>
                  <a:lnTo>
                    <a:pt x="177927" y="33909"/>
                  </a:lnTo>
                  <a:lnTo>
                    <a:pt x="177927" y="40894"/>
                  </a:lnTo>
                  <a:lnTo>
                    <a:pt x="180848" y="43815"/>
                  </a:lnTo>
                  <a:lnTo>
                    <a:pt x="187706" y="43815"/>
                  </a:lnTo>
                  <a:lnTo>
                    <a:pt x="190627" y="40894"/>
                  </a:lnTo>
                  <a:lnTo>
                    <a:pt x="190627" y="33909"/>
                  </a:lnTo>
                  <a:lnTo>
                    <a:pt x="187833" y="31115"/>
                  </a:lnTo>
                  <a:close/>
                </a:path>
                <a:path w="478789" h="76200">
                  <a:moveTo>
                    <a:pt x="213233" y="31115"/>
                  </a:moveTo>
                  <a:lnTo>
                    <a:pt x="206121" y="31115"/>
                  </a:lnTo>
                  <a:lnTo>
                    <a:pt x="203327" y="34036"/>
                  </a:lnTo>
                  <a:lnTo>
                    <a:pt x="203327" y="41021"/>
                  </a:lnTo>
                  <a:lnTo>
                    <a:pt x="206121" y="43815"/>
                  </a:lnTo>
                  <a:lnTo>
                    <a:pt x="213106" y="43815"/>
                  </a:lnTo>
                  <a:lnTo>
                    <a:pt x="216027" y="41021"/>
                  </a:lnTo>
                  <a:lnTo>
                    <a:pt x="216027" y="34036"/>
                  </a:lnTo>
                  <a:lnTo>
                    <a:pt x="213233" y="31115"/>
                  </a:lnTo>
                  <a:close/>
                </a:path>
                <a:path w="478789" h="76200">
                  <a:moveTo>
                    <a:pt x="238633" y="31242"/>
                  </a:moveTo>
                  <a:lnTo>
                    <a:pt x="231521" y="31242"/>
                  </a:lnTo>
                  <a:lnTo>
                    <a:pt x="228727" y="34036"/>
                  </a:lnTo>
                  <a:lnTo>
                    <a:pt x="228848" y="41148"/>
                  </a:lnTo>
                  <a:lnTo>
                    <a:pt x="231521" y="43942"/>
                  </a:lnTo>
                  <a:lnTo>
                    <a:pt x="238506" y="43942"/>
                  </a:lnTo>
                  <a:lnTo>
                    <a:pt x="241427" y="41148"/>
                  </a:lnTo>
                  <a:lnTo>
                    <a:pt x="241427" y="34036"/>
                  </a:lnTo>
                  <a:lnTo>
                    <a:pt x="238633" y="31242"/>
                  </a:lnTo>
                  <a:close/>
                </a:path>
                <a:path w="478789" h="76200">
                  <a:moveTo>
                    <a:pt x="260477" y="31242"/>
                  </a:moveTo>
                  <a:lnTo>
                    <a:pt x="257048" y="31242"/>
                  </a:lnTo>
                  <a:lnTo>
                    <a:pt x="254127" y="34163"/>
                  </a:lnTo>
                  <a:lnTo>
                    <a:pt x="254127" y="41148"/>
                  </a:lnTo>
                  <a:lnTo>
                    <a:pt x="256921" y="43942"/>
                  </a:lnTo>
                  <a:lnTo>
                    <a:pt x="260477" y="43942"/>
                  </a:lnTo>
                  <a:lnTo>
                    <a:pt x="264033" y="44069"/>
                  </a:lnTo>
                  <a:lnTo>
                    <a:pt x="266827" y="41148"/>
                  </a:lnTo>
                  <a:lnTo>
                    <a:pt x="266827" y="34163"/>
                  </a:lnTo>
                  <a:lnTo>
                    <a:pt x="264033" y="31369"/>
                  </a:lnTo>
                  <a:lnTo>
                    <a:pt x="260477" y="31242"/>
                  </a:lnTo>
                  <a:close/>
                </a:path>
                <a:path w="478789" h="76200">
                  <a:moveTo>
                    <a:pt x="289433" y="31369"/>
                  </a:moveTo>
                  <a:lnTo>
                    <a:pt x="282448" y="31369"/>
                  </a:lnTo>
                  <a:lnTo>
                    <a:pt x="279394" y="34290"/>
                  </a:lnTo>
                  <a:lnTo>
                    <a:pt x="279527" y="34290"/>
                  </a:lnTo>
                  <a:lnTo>
                    <a:pt x="279527" y="41275"/>
                  </a:lnTo>
                  <a:lnTo>
                    <a:pt x="282321" y="44069"/>
                  </a:lnTo>
                  <a:lnTo>
                    <a:pt x="289433" y="44069"/>
                  </a:lnTo>
                  <a:lnTo>
                    <a:pt x="292227" y="41275"/>
                  </a:lnTo>
                  <a:lnTo>
                    <a:pt x="292227" y="34290"/>
                  </a:lnTo>
                  <a:lnTo>
                    <a:pt x="289433" y="31369"/>
                  </a:lnTo>
                  <a:close/>
                </a:path>
                <a:path w="478789" h="76200">
                  <a:moveTo>
                    <a:pt x="314833" y="31496"/>
                  </a:moveTo>
                  <a:lnTo>
                    <a:pt x="307848" y="31496"/>
                  </a:lnTo>
                  <a:lnTo>
                    <a:pt x="304927" y="34290"/>
                  </a:lnTo>
                  <a:lnTo>
                    <a:pt x="305048" y="41402"/>
                  </a:lnTo>
                  <a:lnTo>
                    <a:pt x="307721" y="44196"/>
                  </a:lnTo>
                  <a:lnTo>
                    <a:pt x="314833" y="44196"/>
                  </a:lnTo>
                  <a:lnTo>
                    <a:pt x="317627" y="41402"/>
                  </a:lnTo>
                  <a:lnTo>
                    <a:pt x="317627" y="34290"/>
                  </a:lnTo>
                  <a:lnTo>
                    <a:pt x="314833" y="31496"/>
                  </a:lnTo>
                  <a:close/>
                </a:path>
                <a:path w="478789" h="76200">
                  <a:moveTo>
                    <a:pt x="340233" y="31496"/>
                  </a:moveTo>
                  <a:lnTo>
                    <a:pt x="333248" y="31496"/>
                  </a:lnTo>
                  <a:lnTo>
                    <a:pt x="330327" y="34417"/>
                  </a:lnTo>
                  <a:lnTo>
                    <a:pt x="330327" y="41402"/>
                  </a:lnTo>
                  <a:lnTo>
                    <a:pt x="333248" y="44196"/>
                  </a:lnTo>
                  <a:lnTo>
                    <a:pt x="340233" y="44196"/>
                  </a:lnTo>
                  <a:lnTo>
                    <a:pt x="343027" y="41402"/>
                  </a:lnTo>
                  <a:lnTo>
                    <a:pt x="343027" y="34417"/>
                  </a:lnTo>
                  <a:lnTo>
                    <a:pt x="340233" y="31496"/>
                  </a:lnTo>
                  <a:close/>
                </a:path>
                <a:path w="478789" h="76200">
                  <a:moveTo>
                    <a:pt x="365633" y="31623"/>
                  </a:moveTo>
                  <a:lnTo>
                    <a:pt x="358648" y="31623"/>
                  </a:lnTo>
                  <a:lnTo>
                    <a:pt x="355727" y="34417"/>
                  </a:lnTo>
                  <a:lnTo>
                    <a:pt x="355854" y="41529"/>
                  </a:lnTo>
                  <a:lnTo>
                    <a:pt x="358648" y="44323"/>
                  </a:lnTo>
                  <a:lnTo>
                    <a:pt x="365633" y="44323"/>
                  </a:lnTo>
                  <a:lnTo>
                    <a:pt x="368427" y="41529"/>
                  </a:lnTo>
                  <a:lnTo>
                    <a:pt x="368554" y="34544"/>
                  </a:lnTo>
                  <a:lnTo>
                    <a:pt x="365633" y="31623"/>
                  </a:lnTo>
                  <a:close/>
                </a:path>
                <a:path w="478789" h="76200">
                  <a:moveTo>
                    <a:pt x="391033" y="31750"/>
                  </a:moveTo>
                  <a:lnTo>
                    <a:pt x="384048" y="31750"/>
                  </a:lnTo>
                  <a:lnTo>
                    <a:pt x="381254" y="34544"/>
                  </a:lnTo>
                  <a:lnTo>
                    <a:pt x="381127" y="41529"/>
                  </a:lnTo>
                  <a:lnTo>
                    <a:pt x="384048" y="44450"/>
                  </a:lnTo>
                  <a:lnTo>
                    <a:pt x="391033" y="44450"/>
                  </a:lnTo>
                  <a:lnTo>
                    <a:pt x="393827" y="41529"/>
                  </a:lnTo>
                  <a:lnTo>
                    <a:pt x="393954" y="34544"/>
                  </a:lnTo>
                  <a:lnTo>
                    <a:pt x="391033" y="31750"/>
                  </a:lnTo>
                  <a:close/>
                </a:path>
                <a:path w="478789" h="76200">
                  <a:moveTo>
                    <a:pt x="402717" y="0"/>
                  </a:moveTo>
                  <a:lnTo>
                    <a:pt x="402611" y="31750"/>
                  </a:lnTo>
                  <a:lnTo>
                    <a:pt x="402589" y="38354"/>
                  </a:lnTo>
                  <a:lnTo>
                    <a:pt x="402463" y="76200"/>
                  </a:lnTo>
                  <a:lnTo>
                    <a:pt x="466495" y="44450"/>
                  </a:lnTo>
                  <a:lnTo>
                    <a:pt x="409448" y="44450"/>
                  </a:lnTo>
                  <a:lnTo>
                    <a:pt x="406527" y="41656"/>
                  </a:lnTo>
                  <a:lnTo>
                    <a:pt x="406654" y="34671"/>
                  </a:lnTo>
                  <a:lnTo>
                    <a:pt x="409448" y="31750"/>
                  </a:lnTo>
                  <a:lnTo>
                    <a:pt x="465691" y="31750"/>
                  </a:lnTo>
                  <a:lnTo>
                    <a:pt x="402717" y="0"/>
                  </a:lnTo>
                  <a:close/>
                </a:path>
                <a:path w="478789" h="76200">
                  <a:moveTo>
                    <a:pt x="416433" y="31750"/>
                  </a:moveTo>
                  <a:lnTo>
                    <a:pt x="409448" y="31750"/>
                  </a:lnTo>
                  <a:lnTo>
                    <a:pt x="406654" y="34671"/>
                  </a:lnTo>
                  <a:lnTo>
                    <a:pt x="406527" y="41656"/>
                  </a:lnTo>
                  <a:lnTo>
                    <a:pt x="409448" y="44450"/>
                  </a:lnTo>
                  <a:lnTo>
                    <a:pt x="416433" y="44450"/>
                  </a:lnTo>
                  <a:lnTo>
                    <a:pt x="419354" y="41656"/>
                  </a:lnTo>
                  <a:lnTo>
                    <a:pt x="419354" y="34671"/>
                  </a:lnTo>
                  <a:lnTo>
                    <a:pt x="416433" y="31750"/>
                  </a:lnTo>
                  <a:close/>
                </a:path>
                <a:path w="478789" h="76200">
                  <a:moveTo>
                    <a:pt x="465691" y="31750"/>
                  </a:moveTo>
                  <a:lnTo>
                    <a:pt x="416433" y="31750"/>
                  </a:lnTo>
                  <a:lnTo>
                    <a:pt x="419354" y="34671"/>
                  </a:lnTo>
                  <a:lnTo>
                    <a:pt x="419354" y="41656"/>
                  </a:lnTo>
                  <a:lnTo>
                    <a:pt x="416433" y="44450"/>
                  </a:lnTo>
                  <a:lnTo>
                    <a:pt x="466495" y="44450"/>
                  </a:lnTo>
                  <a:lnTo>
                    <a:pt x="478790" y="38354"/>
                  </a:lnTo>
                  <a:lnTo>
                    <a:pt x="465691" y="31750"/>
                  </a:lnTo>
                  <a:close/>
                </a:path>
              </a:pathLst>
            </a:custGeom>
            <a:solidFill>
              <a:srgbClr val="34352F"/>
            </a:solidFill>
          </p:spPr>
          <p:txBody>
            <a:bodyPr wrap="square" lIns="0" tIns="0" rIns="0" bIns="0" rtlCol="0"/>
            <a:lstStyle/>
            <a:p/>
          </p:txBody>
        </p:sp>
        <p:sp>
          <p:nvSpPr>
            <p:cNvPr id="24" name="object 24"/>
            <p:cNvSpPr/>
            <p:nvPr/>
          </p:nvSpPr>
          <p:spPr>
            <a:xfrm>
              <a:off x="2641853" y="2007870"/>
              <a:ext cx="0" cy="172720"/>
            </a:xfrm>
            <a:custGeom>
              <a:avLst/>
              <a:gdLst/>
              <a:ahLst/>
              <a:cxnLst/>
              <a:rect l="l" t="t" r="r" b="b"/>
              <a:pathLst>
                <a:path h="172719">
                  <a:moveTo>
                    <a:pt x="0" y="0"/>
                  </a:moveTo>
                  <a:lnTo>
                    <a:pt x="0" y="172212"/>
                  </a:lnTo>
                </a:path>
              </a:pathLst>
            </a:custGeom>
            <a:ln w="38100">
              <a:solidFill>
                <a:srgbClr val="34352F"/>
              </a:solidFill>
            </a:ln>
          </p:spPr>
          <p:txBody>
            <a:bodyPr wrap="square" lIns="0" tIns="0" rIns="0" bIns="0" rtlCol="0"/>
            <a:lstStyle/>
            <a:p/>
          </p:txBody>
        </p:sp>
        <p:sp>
          <p:nvSpPr>
            <p:cNvPr id="25" name="object 25"/>
            <p:cNvSpPr/>
            <p:nvPr/>
          </p:nvSpPr>
          <p:spPr>
            <a:xfrm>
              <a:off x="2641091" y="2142744"/>
              <a:ext cx="0" cy="134620"/>
            </a:xfrm>
            <a:custGeom>
              <a:avLst/>
              <a:gdLst/>
              <a:ahLst/>
              <a:cxnLst/>
              <a:rect l="l" t="t" r="r" b="b"/>
              <a:pathLst>
                <a:path h="134619">
                  <a:moveTo>
                    <a:pt x="0" y="0"/>
                  </a:moveTo>
                  <a:lnTo>
                    <a:pt x="0" y="134112"/>
                  </a:lnTo>
                </a:path>
              </a:pathLst>
            </a:custGeom>
            <a:ln w="9525">
              <a:solidFill>
                <a:srgbClr val="34352F"/>
              </a:solidFill>
            </a:ln>
          </p:spPr>
          <p:txBody>
            <a:bodyPr wrap="square" lIns="0" tIns="0" rIns="0" bIns="0" rtlCol="0"/>
            <a:lstStyle/>
            <a:p/>
          </p:txBody>
        </p:sp>
      </p:grpSp>
      <p:sp>
        <p:nvSpPr>
          <p:cNvPr id="26" name="object 26"/>
          <p:cNvSpPr txBox="1"/>
          <p:nvPr/>
        </p:nvSpPr>
        <p:spPr>
          <a:xfrm>
            <a:off x="2844165" y="1650237"/>
            <a:ext cx="464820" cy="208279"/>
          </a:xfrm>
          <a:prstGeom prst="rect">
            <a:avLst/>
          </a:prstGeom>
        </p:spPr>
        <p:txBody>
          <a:bodyPr vert="horz" wrap="square" lIns="0" tIns="12700" rIns="0" bIns="0" rtlCol="0">
            <a:spAutoFit/>
          </a:bodyPr>
          <a:lstStyle/>
          <a:p>
            <a:pPr marL="12700">
              <a:lnSpc>
                <a:spcPct val="100000"/>
              </a:lnSpc>
              <a:spcBef>
                <a:spcPts val="100"/>
              </a:spcBef>
            </a:pPr>
            <a:r>
              <a:rPr sz="1200" spc="-10" dirty="0">
                <a:solidFill>
                  <a:srgbClr val="34352F"/>
                </a:solidFill>
                <a:latin typeface="Calibri" panose="020F0502020204030204"/>
                <a:cs typeface="Calibri" panose="020F0502020204030204"/>
              </a:rPr>
              <a:t>pd1_sx</a:t>
            </a:r>
            <a:endParaRPr sz="1200">
              <a:latin typeface="Calibri" panose="020F0502020204030204"/>
              <a:cs typeface="Calibri" panose="020F0502020204030204"/>
            </a:endParaRPr>
          </a:p>
        </p:txBody>
      </p:sp>
      <p:sp>
        <p:nvSpPr>
          <p:cNvPr id="27" name="object 27"/>
          <p:cNvSpPr/>
          <p:nvPr/>
        </p:nvSpPr>
        <p:spPr>
          <a:xfrm>
            <a:off x="2620899" y="2602166"/>
            <a:ext cx="0" cy="285115"/>
          </a:xfrm>
          <a:custGeom>
            <a:avLst/>
            <a:gdLst/>
            <a:ahLst/>
            <a:cxnLst/>
            <a:rect l="l" t="t" r="r" b="b"/>
            <a:pathLst>
              <a:path h="285114">
                <a:moveTo>
                  <a:pt x="0" y="0"/>
                </a:moveTo>
                <a:lnTo>
                  <a:pt x="0" y="284797"/>
                </a:lnTo>
              </a:path>
            </a:pathLst>
          </a:custGeom>
          <a:ln w="30099">
            <a:solidFill>
              <a:srgbClr val="34352F"/>
            </a:solidFill>
          </a:ln>
        </p:spPr>
        <p:txBody>
          <a:bodyPr wrap="square" lIns="0" tIns="0" rIns="0" bIns="0" rtlCol="0"/>
          <a:lstStyle/>
          <a:p/>
        </p:txBody>
      </p:sp>
      <p:sp>
        <p:nvSpPr>
          <p:cNvPr id="28" name="object 28"/>
          <p:cNvSpPr txBox="1"/>
          <p:nvPr/>
        </p:nvSpPr>
        <p:spPr>
          <a:xfrm>
            <a:off x="2126868" y="2517394"/>
            <a:ext cx="372745" cy="208279"/>
          </a:xfrm>
          <a:prstGeom prst="rect">
            <a:avLst/>
          </a:prstGeom>
        </p:spPr>
        <p:txBody>
          <a:bodyPr vert="horz" wrap="square" lIns="0" tIns="12700" rIns="0" bIns="0" rtlCol="0">
            <a:spAutoFit/>
          </a:bodyPr>
          <a:lstStyle/>
          <a:p>
            <a:pPr marL="12700">
              <a:lnSpc>
                <a:spcPct val="100000"/>
              </a:lnSpc>
              <a:spcBef>
                <a:spcPts val="100"/>
              </a:spcBef>
            </a:pPr>
            <a:r>
              <a:rPr sz="1200" b="1" spc="-20" dirty="0">
                <a:solidFill>
                  <a:srgbClr val="34352F"/>
                </a:solidFill>
                <a:latin typeface="Calibri" panose="020F0502020204030204"/>
                <a:cs typeface="Calibri" panose="020F0502020204030204"/>
              </a:rPr>
              <a:t>VDDL</a:t>
            </a:r>
            <a:endParaRPr sz="1200">
              <a:latin typeface="Calibri" panose="020F0502020204030204"/>
              <a:cs typeface="Calibri" panose="020F0502020204030204"/>
            </a:endParaRPr>
          </a:p>
        </p:txBody>
      </p:sp>
      <p:sp>
        <p:nvSpPr>
          <p:cNvPr id="29" name="object 29"/>
          <p:cNvSpPr/>
          <p:nvPr/>
        </p:nvSpPr>
        <p:spPr>
          <a:xfrm>
            <a:off x="998651" y="1366138"/>
            <a:ext cx="792480" cy="432434"/>
          </a:xfrm>
          <a:custGeom>
            <a:avLst/>
            <a:gdLst/>
            <a:ahLst/>
            <a:cxnLst/>
            <a:rect l="l" t="t" r="r" b="b"/>
            <a:pathLst>
              <a:path w="792480" h="432435">
                <a:moveTo>
                  <a:pt x="791997" y="0"/>
                </a:moveTo>
                <a:lnTo>
                  <a:pt x="0" y="0"/>
                </a:lnTo>
                <a:lnTo>
                  <a:pt x="0" y="432054"/>
                </a:lnTo>
                <a:lnTo>
                  <a:pt x="791997" y="432054"/>
                </a:lnTo>
                <a:lnTo>
                  <a:pt x="791997" y="0"/>
                </a:lnTo>
                <a:close/>
              </a:path>
            </a:pathLst>
          </a:custGeom>
          <a:solidFill>
            <a:srgbClr val="2CB5B2"/>
          </a:solidFill>
        </p:spPr>
        <p:txBody>
          <a:bodyPr wrap="square" lIns="0" tIns="0" rIns="0" bIns="0" rtlCol="0"/>
          <a:lstStyle/>
          <a:p/>
        </p:txBody>
      </p:sp>
      <p:sp>
        <p:nvSpPr>
          <p:cNvPr id="30" name="object 30"/>
          <p:cNvSpPr txBox="1"/>
          <p:nvPr/>
        </p:nvSpPr>
        <p:spPr>
          <a:xfrm>
            <a:off x="1017447" y="1331341"/>
            <a:ext cx="755015" cy="476884"/>
          </a:xfrm>
          <a:prstGeom prst="rect">
            <a:avLst/>
          </a:prstGeom>
        </p:spPr>
        <p:txBody>
          <a:bodyPr vert="horz" wrap="square" lIns="0" tIns="22225" rIns="0" bIns="0" rtlCol="0">
            <a:spAutoFit/>
          </a:bodyPr>
          <a:lstStyle/>
          <a:p>
            <a:pPr marL="12700" marR="5080" indent="-1905" algn="ctr">
              <a:lnSpc>
                <a:spcPct val="107000"/>
              </a:lnSpc>
              <a:spcBef>
                <a:spcPts val="175"/>
              </a:spcBef>
            </a:pPr>
            <a:r>
              <a:rPr sz="900" b="1" spc="-10" dirty="0">
                <a:solidFill>
                  <a:srgbClr val="FEFEFE"/>
                </a:solidFill>
                <a:latin typeface="Arial" panose="020B0604020202020204"/>
                <a:cs typeface="Arial" panose="020B0604020202020204"/>
              </a:rPr>
              <a:t>u_dhm_core </a:t>
            </a:r>
            <a:r>
              <a:rPr sz="900" b="1" dirty="0">
                <a:solidFill>
                  <a:srgbClr val="FEFEFE"/>
                </a:solidFill>
                <a:latin typeface="Arial" panose="020B0604020202020204"/>
                <a:cs typeface="Arial" panose="020B0604020202020204"/>
              </a:rPr>
              <a:t>(1.08V</a:t>
            </a:r>
            <a:r>
              <a:rPr sz="900" b="1" spc="-15" dirty="0">
                <a:solidFill>
                  <a:srgbClr val="FEFEFE"/>
                </a:solidFill>
                <a:latin typeface="Arial" panose="020B0604020202020204"/>
                <a:cs typeface="Arial" panose="020B0604020202020204"/>
              </a:rPr>
              <a:t> </a:t>
            </a:r>
            <a:r>
              <a:rPr sz="900" b="1" dirty="0">
                <a:solidFill>
                  <a:srgbClr val="FEFEFE"/>
                </a:solidFill>
                <a:latin typeface="Arial" panose="020B0604020202020204"/>
                <a:cs typeface="Arial" panose="020B0604020202020204"/>
              </a:rPr>
              <a:t>/</a:t>
            </a:r>
            <a:r>
              <a:rPr sz="900" b="1" spc="-10" dirty="0">
                <a:solidFill>
                  <a:srgbClr val="FEFEFE"/>
                </a:solidFill>
                <a:latin typeface="Arial" panose="020B0604020202020204"/>
                <a:cs typeface="Arial" panose="020B0604020202020204"/>
              </a:rPr>
              <a:t> </a:t>
            </a:r>
            <a:r>
              <a:rPr sz="900" b="1" dirty="0">
                <a:solidFill>
                  <a:srgbClr val="FEFEFE"/>
                </a:solidFill>
                <a:latin typeface="Arial" panose="020B0604020202020204"/>
                <a:cs typeface="Arial" panose="020B0604020202020204"/>
              </a:rPr>
              <a:t>0.7V</a:t>
            </a:r>
            <a:r>
              <a:rPr sz="900" b="1" spc="-15" dirty="0">
                <a:solidFill>
                  <a:srgbClr val="FEFEFE"/>
                </a:solidFill>
                <a:latin typeface="Arial" panose="020B0604020202020204"/>
                <a:cs typeface="Arial" panose="020B0604020202020204"/>
              </a:rPr>
              <a:t> </a:t>
            </a:r>
            <a:r>
              <a:rPr sz="900" b="1" spc="-50" dirty="0">
                <a:solidFill>
                  <a:srgbClr val="FEFEFE"/>
                </a:solidFill>
                <a:latin typeface="Arial" panose="020B0604020202020204"/>
                <a:cs typeface="Arial" panose="020B0604020202020204"/>
              </a:rPr>
              <a:t>/</a:t>
            </a:r>
            <a:r>
              <a:rPr sz="900" b="1" spc="-20" dirty="0">
                <a:solidFill>
                  <a:srgbClr val="FEFEFE"/>
                </a:solidFill>
                <a:latin typeface="Arial" panose="020B0604020202020204"/>
                <a:cs typeface="Arial" panose="020B0604020202020204"/>
              </a:rPr>
              <a:t> OFF)</a:t>
            </a:r>
            <a:endParaRPr sz="900">
              <a:latin typeface="Arial" panose="020B0604020202020204"/>
              <a:cs typeface="Arial" panose="020B0604020202020204"/>
            </a:endParaRPr>
          </a:p>
        </p:txBody>
      </p:sp>
      <p:sp>
        <p:nvSpPr>
          <p:cNvPr id="31" name="object 31"/>
          <p:cNvSpPr txBox="1"/>
          <p:nvPr/>
        </p:nvSpPr>
        <p:spPr>
          <a:xfrm>
            <a:off x="481444" y="722249"/>
            <a:ext cx="688975" cy="295275"/>
          </a:xfrm>
          <a:prstGeom prst="rect">
            <a:avLst/>
          </a:prstGeom>
          <a:solidFill>
            <a:srgbClr val="D37600"/>
          </a:solidFill>
        </p:spPr>
        <p:txBody>
          <a:bodyPr vert="horz" wrap="square" lIns="0" tIns="0" rIns="0" bIns="0" rtlCol="0">
            <a:spAutoFit/>
          </a:bodyPr>
          <a:lstStyle/>
          <a:p>
            <a:pPr marL="100965">
              <a:lnSpc>
                <a:spcPts val="1060"/>
              </a:lnSpc>
            </a:pPr>
            <a:r>
              <a:rPr sz="900" b="1" spc="-10" dirty="0">
                <a:solidFill>
                  <a:srgbClr val="FEFEFE"/>
                </a:solidFill>
                <a:latin typeface="Arial" panose="020B0604020202020204"/>
                <a:cs typeface="Arial" panose="020B0604020202020204"/>
              </a:rPr>
              <a:t>dhm_top</a:t>
            </a:r>
            <a:endParaRPr sz="900">
              <a:latin typeface="Arial" panose="020B0604020202020204"/>
              <a:cs typeface="Arial" panose="020B0604020202020204"/>
            </a:endParaRPr>
          </a:p>
          <a:p>
            <a:pPr marL="155575">
              <a:lnSpc>
                <a:spcPct val="100000"/>
              </a:lnSpc>
              <a:spcBef>
                <a:spcPts val="155"/>
              </a:spcBef>
            </a:pPr>
            <a:r>
              <a:rPr sz="900" b="1" spc="-10" dirty="0">
                <a:solidFill>
                  <a:srgbClr val="FEFEFE"/>
                </a:solidFill>
                <a:latin typeface="Arial" panose="020B0604020202020204"/>
                <a:cs typeface="Arial" panose="020B0604020202020204"/>
              </a:rPr>
              <a:t>(1.08V)</a:t>
            </a:r>
            <a:endParaRPr sz="900">
              <a:latin typeface="Arial" panose="020B0604020202020204"/>
              <a:cs typeface="Arial" panose="020B0604020202020204"/>
            </a:endParaRPr>
          </a:p>
        </p:txBody>
      </p:sp>
      <p:grpSp>
        <p:nvGrpSpPr>
          <p:cNvPr id="32" name="object 32"/>
          <p:cNvGrpSpPr/>
          <p:nvPr/>
        </p:nvGrpSpPr>
        <p:grpSpPr>
          <a:xfrm>
            <a:off x="1491424" y="612965"/>
            <a:ext cx="2062480" cy="842644"/>
            <a:chOff x="1417129" y="1179385"/>
            <a:chExt cx="2062480" cy="842644"/>
          </a:xfrm>
        </p:grpSpPr>
        <p:pic>
          <p:nvPicPr>
            <p:cNvPr id="33" name="object 33"/>
            <p:cNvPicPr/>
            <p:nvPr/>
          </p:nvPicPr>
          <p:blipFill>
            <a:blip r:embed="rId5" cstate="print"/>
            <a:stretch>
              <a:fillRect/>
            </a:stretch>
          </p:blipFill>
          <p:spPr>
            <a:xfrm>
              <a:off x="1421891" y="1184147"/>
              <a:ext cx="114300" cy="114300"/>
            </a:xfrm>
            <a:prstGeom prst="rect">
              <a:avLst/>
            </a:prstGeom>
          </p:spPr>
        </p:pic>
        <p:sp>
          <p:nvSpPr>
            <p:cNvPr id="34" name="object 34"/>
            <p:cNvSpPr/>
            <p:nvPr/>
          </p:nvSpPr>
          <p:spPr>
            <a:xfrm>
              <a:off x="1421891" y="1184147"/>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4352F"/>
              </a:solidFill>
            </a:ln>
          </p:spPr>
          <p:txBody>
            <a:bodyPr wrap="square" lIns="0" tIns="0" rIns="0" bIns="0" rtlCol="0"/>
            <a:lstStyle/>
            <a:p/>
          </p:txBody>
        </p:sp>
        <p:pic>
          <p:nvPicPr>
            <p:cNvPr id="35" name="object 35"/>
            <p:cNvPicPr/>
            <p:nvPr/>
          </p:nvPicPr>
          <p:blipFill>
            <a:blip r:embed="rId6" cstate="print"/>
            <a:stretch>
              <a:fillRect/>
            </a:stretch>
          </p:blipFill>
          <p:spPr>
            <a:xfrm>
              <a:off x="2577083" y="1187195"/>
              <a:ext cx="114300" cy="114300"/>
            </a:xfrm>
            <a:prstGeom prst="rect">
              <a:avLst/>
            </a:prstGeom>
          </p:spPr>
        </p:pic>
        <p:sp>
          <p:nvSpPr>
            <p:cNvPr id="36" name="object 36"/>
            <p:cNvSpPr/>
            <p:nvPr/>
          </p:nvSpPr>
          <p:spPr>
            <a:xfrm>
              <a:off x="2577083" y="1187195"/>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4352F"/>
              </a:solidFill>
            </a:ln>
          </p:spPr>
          <p:txBody>
            <a:bodyPr wrap="square" lIns="0" tIns="0" rIns="0" bIns="0" rtlCol="0"/>
            <a:lstStyle/>
            <a:p/>
          </p:txBody>
        </p:sp>
        <p:pic>
          <p:nvPicPr>
            <p:cNvPr id="37" name="object 37"/>
            <p:cNvPicPr/>
            <p:nvPr/>
          </p:nvPicPr>
          <p:blipFill>
            <a:blip r:embed="rId7" cstate="print"/>
            <a:stretch>
              <a:fillRect/>
            </a:stretch>
          </p:blipFill>
          <p:spPr>
            <a:xfrm>
              <a:off x="3360419" y="1199387"/>
              <a:ext cx="114300" cy="114300"/>
            </a:xfrm>
            <a:prstGeom prst="rect">
              <a:avLst/>
            </a:prstGeom>
          </p:spPr>
        </p:pic>
        <p:sp>
          <p:nvSpPr>
            <p:cNvPr id="38" name="object 38"/>
            <p:cNvSpPr/>
            <p:nvPr/>
          </p:nvSpPr>
          <p:spPr>
            <a:xfrm>
              <a:off x="3360419" y="1199387"/>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4352F"/>
              </a:solidFill>
            </a:ln>
          </p:spPr>
          <p:txBody>
            <a:bodyPr wrap="square" lIns="0" tIns="0" rIns="0" bIns="0" rtlCol="0"/>
            <a:lstStyle/>
            <a:p/>
          </p:txBody>
        </p:sp>
        <p:sp>
          <p:nvSpPr>
            <p:cNvPr id="39" name="object 39"/>
            <p:cNvSpPr/>
            <p:nvPr/>
          </p:nvSpPr>
          <p:spPr>
            <a:xfrm>
              <a:off x="2641853" y="1479041"/>
              <a:ext cx="5080" cy="528955"/>
            </a:xfrm>
            <a:custGeom>
              <a:avLst/>
              <a:gdLst/>
              <a:ahLst/>
              <a:cxnLst/>
              <a:rect l="l" t="t" r="r" b="b"/>
              <a:pathLst>
                <a:path w="5080" h="528955">
                  <a:moveTo>
                    <a:pt x="4825" y="0"/>
                  </a:moveTo>
                  <a:lnTo>
                    <a:pt x="0" y="528574"/>
                  </a:lnTo>
                </a:path>
              </a:pathLst>
            </a:custGeom>
            <a:ln w="28575">
              <a:solidFill>
                <a:srgbClr val="34352F"/>
              </a:solidFill>
            </a:ln>
          </p:spPr>
          <p:txBody>
            <a:bodyPr wrap="square" lIns="0" tIns="0" rIns="0" bIns="0" rtlCol="0"/>
            <a:lstStyle/>
            <a:p/>
          </p:txBody>
        </p:sp>
      </p:grpSp>
      <p:sp>
        <p:nvSpPr>
          <p:cNvPr id="40" name="object 40"/>
          <p:cNvSpPr txBox="1"/>
          <p:nvPr/>
        </p:nvSpPr>
        <p:spPr>
          <a:xfrm>
            <a:off x="503859" y="2702001"/>
            <a:ext cx="361950" cy="277495"/>
          </a:xfrm>
          <a:prstGeom prst="rect">
            <a:avLst/>
          </a:prstGeom>
        </p:spPr>
        <p:txBody>
          <a:bodyPr vert="horz" wrap="square" lIns="0" tIns="12700" rIns="0" bIns="0" rtlCol="0">
            <a:spAutoFit/>
          </a:bodyPr>
          <a:lstStyle/>
          <a:p>
            <a:pPr marL="17145">
              <a:lnSpc>
                <a:spcPts val="990"/>
              </a:lnSpc>
              <a:spcBef>
                <a:spcPts val="100"/>
              </a:spcBef>
            </a:pPr>
            <a:r>
              <a:rPr sz="900" spc="-20" dirty="0">
                <a:solidFill>
                  <a:srgbClr val="34352F"/>
                </a:solidFill>
                <a:latin typeface="Calibri" panose="020F0502020204030204"/>
                <a:cs typeface="Calibri" panose="020F0502020204030204"/>
              </a:rPr>
              <a:t>save</a:t>
            </a:r>
            <a:endParaRPr sz="900">
              <a:latin typeface="Calibri" panose="020F0502020204030204"/>
              <a:cs typeface="Calibri" panose="020F0502020204030204"/>
            </a:endParaRPr>
          </a:p>
          <a:p>
            <a:pPr marL="12700">
              <a:lnSpc>
                <a:spcPts val="990"/>
              </a:lnSpc>
            </a:pPr>
            <a:r>
              <a:rPr sz="900" spc="-10" dirty="0">
                <a:solidFill>
                  <a:srgbClr val="34352F"/>
                </a:solidFill>
                <a:latin typeface="Calibri" panose="020F0502020204030204"/>
                <a:cs typeface="Calibri" panose="020F0502020204030204"/>
              </a:rPr>
              <a:t>restore</a:t>
            </a:r>
            <a:endParaRPr sz="900">
              <a:latin typeface="Calibri" panose="020F0502020204030204"/>
              <a:cs typeface="Calibri" panose="020F0502020204030204"/>
            </a:endParaRPr>
          </a:p>
        </p:txBody>
      </p:sp>
      <p:grpSp>
        <p:nvGrpSpPr>
          <p:cNvPr id="41" name="object 41"/>
          <p:cNvGrpSpPr/>
          <p:nvPr/>
        </p:nvGrpSpPr>
        <p:grpSpPr>
          <a:xfrm>
            <a:off x="383476" y="2802953"/>
            <a:ext cx="100965" cy="66040"/>
            <a:chOff x="309181" y="3369373"/>
            <a:chExt cx="100965" cy="66040"/>
          </a:xfrm>
        </p:grpSpPr>
        <p:sp>
          <p:nvSpPr>
            <p:cNvPr id="42" name="object 42"/>
            <p:cNvSpPr/>
            <p:nvPr/>
          </p:nvSpPr>
          <p:spPr>
            <a:xfrm>
              <a:off x="313943" y="3374135"/>
              <a:ext cx="91440" cy="56515"/>
            </a:xfrm>
            <a:custGeom>
              <a:avLst/>
              <a:gdLst/>
              <a:ahLst/>
              <a:cxnLst/>
              <a:rect l="l" t="t" r="r" b="b"/>
              <a:pathLst>
                <a:path w="91439" h="56514">
                  <a:moveTo>
                    <a:pt x="91439" y="0"/>
                  </a:moveTo>
                  <a:lnTo>
                    <a:pt x="0" y="0"/>
                  </a:lnTo>
                  <a:lnTo>
                    <a:pt x="0" y="56387"/>
                  </a:lnTo>
                  <a:lnTo>
                    <a:pt x="91439" y="56387"/>
                  </a:lnTo>
                  <a:lnTo>
                    <a:pt x="91439" y="0"/>
                  </a:lnTo>
                  <a:close/>
                </a:path>
              </a:pathLst>
            </a:custGeom>
            <a:solidFill>
              <a:srgbClr val="FEFEFE"/>
            </a:solidFill>
          </p:spPr>
          <p:txBody>
            <a:bodyPr wrap="square" lIns="0" tIns="0" rIns="0" bIns="0" rtlCol="0"/>
            <a:lstStyle/>
            <a:p/>
          </p:txBody>
        </p:sp>
        <p:sp>
          <p:nvSpPr>
            <p:cNvPr id="43" name="object 43"/>
            <p:cNvSpPr/>
            <p:nvPr/>
          </p:nvSpPr>
          <p:spPr>
            <a:xfrm>
              <a:off x="313943" y="3374135"/>
              <a:ext cx="91440" cy="56515"/>
            </a:xfrm>
            <a:custGeom>
              <a:avLst/>
              <a:gdLst/>
              <a:ahLst/>
              <a:cxnLst/>
              <a:rect l="l" t="t" r="r" b="b"/>
              <a:pathLst>
                <a:path w="91439" h="56514">
                  <a:moveTo>
                    <a:pt x="0" y="56387"/>
                  </a:moveTo>
                  <a:lnTo>
                    <a:pt x="91439" y="56387"/>
                  </a:lnTo>
                  <a:lnTo>
                    <a:pt x="91439" y="0"/>
                  </a:lnTo>
                  <a:lnTo>
                    <a:pt x="0" y="0"/>
                  </a:lnTo>
                  <a:lnTo>
                    <a:pt x="0" y="56387"/>
                  </a:lnTo>
                  <a:close/>
                </a:path>
              </a:pathLst>
            </a:custGeom>
            <a:ln w="9525">
              <a:solidFill>
                <a:srgbClr val="34352F"/>
              </a:solidFill>
            </a:ln>
          </p:spPr>
          <p:txBody>
            <a:bodyPr wrap="square" lIns="0" tIns="0" rIns="0" bIns="0" rtlCol="0"/>
            <a:lstStyle/>
            <a:p/>
          </p:txBody>
        </p:sp>
      </p:grpSp>
      <p:grpSp>
        <p:nvGrpSpPr>
          <p:cNvPr id="44" name="object 44"/>
          <p:cNvGrpSpPr/>
          <p:nvPr/>
        </p:nvGrpSpPr>
        <p:grpSpPr>
          <a:xfrm>
            <a:off x="380428" y="2912681"/>
            <a:ext cx="102870" cy="66040"/>
            <a:chOff x="306133" y="3479101"/>
            <a:chExt cx="102870" cy="66040"/>
          </a:xfrm>
        </p:grpSpPr>
        <p:sp>
          <p:nvSpPr>
            <p:cNvPr id="45" name="object 45"/>
            <p:cNvSpPr/>
            <p:nvPr/>
          </p:nvSpPr>
          <p:spPr>
            <a:xfrm>
              <a:off x="310895" y="3483864"/>
              <a:ext cx="93345" cy="56515"/>
            </a:xfrm>
            <a:custGeom>
              <a:avLst/>
              <a:gdLst/>
              <a:ahLst/>
              <a:cxnLst/>
              <a:rect l="l" t="t" r="r" b="b"/>
              <a:pathLst>
                <a:path w="93345" h="56514">
                  <a:moveTo>
                    <a:pt x="92964" y="0"/>
                  </a:moveTo>
                  <a:lnTo>
                    <a:pt x="0" y="0"/>
                  </a:lnTo>
                  <a:lnTo>
                    <a:pt x="0" y="56387"/>
                  </a:lnTo>
                  <a:lnTo>
                    <a:pt x="92964" y="56387"/>
                  </a:lnTo>
                  <a:lnTo>
                    <a:pt x="92964" y="0"/>
                  </a:lnTo>
                  <a:close/>
                </a:path>
              </a:pathLst>
            </a:custGeom>
            <a:solidFill>
              <a:srgbClr val="FEFEFE"/>
            </a:solidFill>
          </p:spPr>
          <p:txBody>
            <a:bodyPr wrap="square" lIns="0" tIns="0" rIns="0" bIns="0" rtlCol="0"/>
            <a:lstStyle/>
            <a:p/>
          </p:txBody>
        </p:sp>
        <p:sp>
          <p:nvSpPr>
            <p:cNvPr id="46" name="object 46"/>
            <p:cNvSpPr/>
            <p:nvPr/>
          </p:nvSpPr>
          <p:spPr>
            <a:xfrm>
              <a:off x="310895" y="3483864"/>
              <a:ext cx="93345" cy="56515"/>
            </a:xfrm>
            <a:custGeom>
              <a:avLst/>
              <a:gdLst/>
              <a:ahLst/>
              <a:cxnLst/>
              <a:rect l="l" t="t" r="r" b="b"/>
              <a:pathLst>
                <a:path w="93345" h="56514">
                  <a:moveTo>
                    <a:pt x="0" y="56387"/>
                  </a:moveTo>
                  <a:lnTo>
                    <a:pt x="92964" y="56387"/>
                  </a:lnTo>
                  <a:lnTo>
                    <a:pt x="92964" y="0"/>
                  </a:lnTo>
                  <a:lnTo>
                    <a:pt x="0" y="0"/>
                  </a:lnTo>
                  <a:lnTo>
                    <a:pt x="0" y="56387"/>
                  </a:lnTo>
                  <a:close/>
                </a:path>
              </a:pathLst>
            </a:custGeom>
            <a:ln w="9525">
              <a:solidFill>
                <a:srgbClr val="34352F"/>
              </a:solidFill>
            </a:ln>
          </p:spPr>
          <p:txBody>
            <a:bodyPr wrap="square" lIns="0" tIns="0" rIns="0" bIns="0" rtlCol="0"/>
            <a:lstStyle/>
            <a:p/>
          </p:txBody>
        </p:sp>
      </p:grpSp>
      <p:grpSp>
        <p:nvGrpSpPr>
          <p:cNvPr id="47" name="object 47"/>
          <p:cNvGrpSpPr/>
          <p:nvPr/>
        </p:nvGrpSpPr>
        <p:grpSpPr>
          <a:xfrm>
            <a:off x="433958" y="2828797"/>
            <a:ext cx="2385695" cy="462280"/>
            <a:chOff x="359663" y="3395217"/>
            <a:chExt cx="2385695" cy="462280"/>
          </a:xfrm>
        </p:grpSpPr>
        <p:sp>
          <p:nvSpPr>
            <p:cNvPr id="48" name="object 48"/>
            <p:cNvSpPr/>
            <p:nvPr/>
          </p:nvSpPr>
          <p:spPr>
            <a:xfrm>
              <a:off x="359664" y="3395217"/>
              <a:ext cx="2094864" cy="367665"/>
            </a:xfrm>
            <a:custGeom>
              <a:avLst/>
              <a:gdLst/>
              <a:ahLst/>
              <a:cxnLst/>
              <a:rect l="l" t="t" r="r" b="b"/>
              <a:pathLst>
                <a:path w="2094864" h="367664">
                  <a:moveTo>
                    <a:pt x="2091436" y="329311"/>
                  </a:moveTo>
                  <a:lnTo>
                    <a:pt x="2078736" y="322961"/>
                  </a:lnTo>
                  <a:lnTo>
                    <a:pt x="2015236" y="291211"/>
                  </a:lnTo>
                  <a:lnTo>
                    <a:pt x="2015236" y="322961"/>
                  </a:lnTo>
                  <a:lnTo>
                    <a:pt x="973455" y="322961"/>
                  </a:lnTo>
                  <a:lnTo>
                    <a:pt x="973455" y="127000"/>
                  </a:lnTo>
                  <a:lnTo>
                    <a:pt x="973455" y="120650"/>
                  </a:lnTo>
                  <a:lnTo>
                    <a:pt x="973455" y="114300"/>
                  </a:lnTo>
                  <a:lnTo>
                    <a:pt x="0" y="114300"/>
                  </a:lnTo>
                  <a:lnTo>
                    <a:pt x="0" y="127000"/>
                  </a:lnTo>
                  <a:lnTo>
                    <a:pt x="960755" y="127000"/>
                  </a:lnTo>
                  <a:lnTo>
                    <a:pt x="960755" y="335661"/>
                  </a:lnTo>
                  <a:lnTo>
                    <a:pt x="2015236" y="335661"/>
                  </a:lnTo>
                  <a:lnTo>
                    <a:pt x="2015236" y="367411"/>
                  </a:lnTo>
                  <a:lnTo>
                    <a:pt x="2078736" y="335661"/>
                  </a:lnTo>
                  <a:lnTo>
                    <a:pt x="2091436" y="329311"/>
                  </a:lnTo>
                  <a:close/>
                </a:path>
                <a:path w="2094864" h="367664">
                  <a:moveTo>
                    <a:pt x="2094484" y="227457"/>
                  </a:moveTo>
                  <a:lnTo>
                    <a:pt x="2081784" y="221107"/>
                  </a:lnTo>
                  <a:lnTo>
                    <a:pt x="2018284" y="189357"/>
                  </a:lnTo>
                  <a:lnTo>
                    <a:pt x="2018284" y="221107"/>
                  </a:lnTo>
                  <a:lnTo>
                    <a:pt x="1076452" y="221107"/>
                  </a:lnTo>
                  <a:lnTo>
                    <a:pt x="1076452" y="12700"/>
                  </a:lnTo>
                  <a:lnTo>
                    <a:pt x="1076452" y="6350"/>
                  </a:lnTo>
                  <a:lnTo>
                    <a:pt x="1076452" y="0"/>
                  </a:lnTo>
                  <a:lnTo>
                    <a:pt x="45720" y="0"/>
                  </a:lnTo>
                  <a:lnTo>
                    <a:pt x="45720" y="12700"/>
                  </a:lnTo>
                  <a:lnTo>
                    <a:pt x="1063752" y="12700"/>
                  </a:lnTo>
                  <a:lnTo>
                    <a:pt x="1063752" y="233807"/>
                  </a:lnTo>
                  <a:lnTo>
                    <a:pt x="2018284" y="233807"/>
                  </a:lnTo>
                  <a:lnTo>
                    <a:pt x="2018284" y="265557"/>
                  </a:lnTo>
                  <a:lnTo>
                    <a:pt x="2081784" y="233807"/>
                  </a:lnTo>
                  <a:lnTo>
                    <a:pt x="2094484" y="227457"/>
                  </a:lnTo>
                  <a:close/>
                </a:path>
              </a:pathLst>
            </a:custGeom>
            <a:solidFill>
              <a:srgbClr val="34352F"/>
            </a:solidFill>
          </p:spPr>
          <p:txBody>
            <a:bodyPr wrap="square" lIns="0" tIns="0" rIns="0" bIns="0" rtlCol="0"/>
            <a:lstStyle/>
            <a:p/>
          </p:txBody>
        </p:sp>
        <p:pic>
          <p:nvPicPr>
            <p:cNvPr id="49" name="object 49"/>
            <p:cNvPicPr/>
            <p:nvPr/>
          </p:nvPicPr>
          <p:blipFill>
            <a:blip r:embed="rId8" cstate="print"/>
            <a:stretch>
              <a:fillRect/>
            </a:stretch>
          </p:blipFill>
          <p:spPr>
            <a:xfrm>
              <a:off x="2462784" y="3453383"/>
              <a:ext cx="216407" cy="329183"/>
            </a:xfrm>
            <a:prstGeom prst="rect">
              <a:avLst/>
            </a:prstGeom>
          </p:spPr>
        </p:pic>
        <p:pic>
          <p:nvPicPr>
            <p:cNvPr id="50" name="object 50"/>
            <p:cNvPicPr/>
            <p:nvPr/>
          </p:nvPicPr>
          <p:blipFill>
            <a:blip r:embed="rId9" cstate="print"/>
            <a:stretch>
              <a:fillRect/>
            </a:stretch>
          </p:blipFill>
          <p:spPr>
            <a:xfrm>
              <a:off x="2453640" y="3448621"/>
              <a:ext cx="288226" cy="398144"/>
            </a:xfrm>
            <a:prstGeom prst="rect">
              <a:avLst/>
            </a:prstGeom>
          </p:spPr>
        </p:pic>
        <p:sp>
          <p:nvSpPr>
            <p:cNvPr id="51" name="object 51"/>
            <p:cNvSpPr/>
            <p:nvPr/>
          </p:nvSpPr>
          <p:spPr>
            <a:xfrm>
              <a:off x="2453640" y="3451859"/>
              <a:ext cx="228600" cy="342900"/>
            </a:xfrm>
            <a:custGeom>
              <a:avLst/>
              <a:gdLst/>
              <a:ahLst/>
              <a:cxnLst/>
              <a:rect l="l" t="t" r="r" b="b"/>
              <a:pathLst>
                <a:path w="228600" h="342900">
                  <a:moveTo>
                    <a:pt x="0" y="342899"/>
                  </a:moveTo>
                  <a:lnTo>
                    <a:pt x="228600" y="342899"/>
                  </a:lnTo>
                  <a:lnTo>
                    <a:pt x="228600" y="0"/>
                  </a:lnTo>
                  <a:lnTo>
                    <a:pt x="0" y="0"/>
                  </a:lnTo>
                  <a:lnTo>
                    <a:pt x="0" y="342899"/>
                  </a:lnTo>
                  <a:close/>
                </a:path>
              </a:pathLst>
            </a:custGeom>
            <a:ln w="9525">
              <a:solidFill>
                <a:srgbClr val="00A0DD"/>
              </a:solidFill>
            </a:ln>
          </p:spPr>
          <p:txBody>
            <a:bodyPr wrap="square" lIns="0" tIns="0" rIns="0" bIns="0" rtlCol="0"/>
            <a:lstStyle/>
            <a:p/>
          </p:txBody>
        </p:sp>
        <p:pic>
          <p:nvPicPr>
            <p:cNvPr id="52" name="object 52"/>
            <p:cNvPicPr/>
            <p:nvPr/>
          </p:nvPicPr>
          <p:blipFill>
            <a:blip r:embed="rId10" cstate="print"/>
            <a:stretch>
              <a:fillRect/>
            </a:stretch>
          </p:blipFill>
          <p:spPr>
            <a:xfrm>
              <a:off x="2511552" y="3509771"/>
              <a:ext cx="228600" cy="342899"/>
            </a:xfrm>
            <a:prstGeom prst="rect">
              <a:avLst/>
            </a:prstGeom>
          </p:spPr>
        </p:pic>
        <p:sp>
          <p:nvSpPr>
            <p:cNvPr id="53" name="object 53"/>
            <p:cNvSpPr/>
            <p:nvPr/>
          </p:nvSpPr>
          <p:spPr>
            <a:xfrm>
              <a:off x="2511552" y="3509771"/>
              <a:ext cx="228600" cy="342900"/>
            </a:xfrm>
            <a:custGeom>
              <a:avLst/>
              <a:gdLst/>
              <a:ahLst/>
              <a:cxnLst/>
              <a:rect l="l" t="t" r="r" b="b"/>
              <a:pathLst>
                <a:path w="228600" h="342900">
                  <a:moveTo>
                    <a:pt x="0" y="342899"/>
                  </a:moveTo>
                  <a:lnTo>
                    <a:pt x="228600" y="342899"/>
                  </a:lnTo>
                  <a:lnTo>
                    <a:pt x="228600" y="0"/>
                  </a:lnTo>
                  <a:lnTo>
                    <a:pt x="0" y="0"/>
                  </a:lnTo>
                  <a:lnTo>
                    <a:pt x="0" y="342899"/>
                  </a:lnTo>
                  <a:close/>
                </a:path>
              </a:pathLst>
            </a:custGeom>
            <a:ln w="9525">
              <a:solidFill>
                <a:srgbClr val="00A0DD"/>
              </a:solidFill>
            </a:ln>
          </p:spPr>
          <p:txBody>
            <a:bodyPr wrap="square" lIns="0" tIns="0" rIns="0" bIns="0" rtlCol="0"/>
            <a:lstStyle/>
            <a:p/>
          </p:txBody>
        </p:sp>
      </p:grpSp>
      <p:sp>
        <p:nvSpPr>
          <p:cNvPr id="54" name="object 54"/>
          <p:cNvSpPr txBox="1"/>
          <p:nvPr/>
        </p:nvSpPr>
        <p:spPr>
          <a:xfrm>
            <a:off x="2624074" y="3026105"/>
            <a:ext cx="153670" cy="163195"/>
          </a:xfrm>
          <a:prstGeom prst="rect">
            <a:avLst/>
          </a:prstGeom>
        </p:spPr>
        <p:txBody>
          <a:bodyPr vert="horz" wrap="square" lIns="0" tIns="12700" rIns="0" bIns="0" rtlCol="0">
            <a:spAutoFit/>
          </a:bodyPr>
          <a:lstStyle/>
          <a:p>
            <a:pPr marL="12700">
              <a:lnSpc>
                <a:spcPct val="100000"/>
              </a:lnSpc>
              <a:spcBef>
                <a:spcPts val="100"/>
              </a:spcBef>
            </a:pPr>
            <a:r>
              <a:rPr sz="900" b="1" spc="-204" dirty="0">
                <a:solidFill>
                  <a:srgbClr val="34352F"/>
                </a:solidFill>
                <a:latin typeface="Calibri" panose="020F0502020204030204"/>
                <a:cs typeface="Calibri" panose="020F0502020204030204"/>
              </a:rPr>
              <a:t>RFFR</a:t>
            </a:r>
            <a:endParaRPr sz="900">
              <a:latin typeface="Calibri" panose="020F0502020204030204"/>
              <a:cs typeface="Calibri" panose="020F0502020204030204"/>
            </a:endParaRPr>
          </a:p>
        </p:txBody>
      </p:sp>
      <p:grpSp>
        <p:nvGrpSpPr>
          <p:cNvPr id="55" name="object 55"/>
          <p:cNvGrpSpPr/>
          <p:nvPr/>
        </p:nvGrpSpPr>
        <p:grpSpPr>
          <a:xfrm>
            <a:off x="2701861" y="1898078"/>
            <a:ext cx="1315085" cy="1581785"/>
            <a:chOff x="2627566" y="2464498"/>
            <a:chExt cx="1315085" cy="1581785"/>
          </a:xfrm>
        </p:grpSpPr>
        <p:sp>
          <p:nvSpPr>
            <p:cNvPr id="56" name="object 56"/>
            <p:cNvSpPr/>
            <p:nvPr/>
          </p:nvSpPr>
          <p:spPr>
            <a:xfrm>
              <a:off x="2641854" y="2478785"/>
              <a:ext cx="7620" cy="1047115"/>
            </a:xfrm>
            <a:custGeom>
              <a:avLst/>
              <a:gdLst/>
              <a:ahLst/>
              <a:cxnLst/>
              <a:rect l="l" t="t" r="r" b="b"/>
              <a:pathLst>
                <a:path w="7619" h="1047114">
                  <a:moveTo>
                    <a:pt x="0" y="0"/>
                  </a:moveTo>
                  <a:lnTo>
                    <a:pt x="7619" y="1046988"/>
                  </a:lnTo>
                </a:path>
              </a:pathLst>
            </a:custGeom>
            <a:ln w="28575">
              <a:solidFill>
                <a:srgbClr val="34352F"/>
              </a:solidFill>
            </a:ln>
          </p:spPr>
          <p:txBody>
            <a:bodyPr wrap="square" lIns="0" tIns="0" rIns="0" bIns="0" rtlCol="0"/>
            <a:lstStyle/>
            <a:p/>
          </p:txBody>
        </p:sp>
        <p:sp>
          <p:nvSpPr>
            <p:cNvPr id="57" name="object 57"/>
            <p:cNvSpPr/>
            <p:nvPr/>
          </p:nvSpPr>
          <p:spPr>
            <a:xfrm>
              <a:off x="3523488" y="3806951"/>
              <a:ext cx="417830" cy="238125"/>
            </a:xfrm>
            <a:custGeom>
              <a:avLst/>
              <a:gdLst/>
              <a:ahLst/>
              <a:cxnLst/>
              <a:rect l="l" t="t" r="r" b="b"/>
              <a:pathLst>
                <a:path w="417829" h="238125">
                  <a:moveTo>
                    <a:pt x="208787" y="0"/>
                  </a:moveTo>
                  <a:lnTo>
                    <a:pt x="0" y="0"/>
                  </a:lnTo>
                  <a:lnTo>
                    <a:pt x="0" y="237744"/>
                  </a:lnTo>
                  <a:lnTo>
                    <a:pt x="208787" y="237744"/>
                  </a:lnTo>
                  <a:lnTo>
                    <a:pt x="264294" y="233497"/>
                  </a:lnTo>
                  <a:lnTo>
                    <a:pt x="314169" y="221513"/>
                  </a:lnTo>
                  <a:lnTo>
                    <a:pt x="356425" y="202925"/>
                  </a:lnTo>
                  <a:lnTo>
                    <a:pt x="389071" y="178866"/>
                  </a:lnTo>
                  <a:lnTo>
                    <a:pt x="417575" y="118872"/>
                  </a:lnTo>
                  <a:lnTo>
                    <a:pt x="410118" y="87268"/>
                  </a:lnTo>
                  <a:lnTo>
                    <a:pt x="356425" y="34813"/>
                  </a:lnTo>
                  <a:lnTo>
                    <a:pt x="314169" y="16227"/>
                  </a:lnTo>
                  <a:lnTo>
                    <a:pt x="264294" y="4245"/>
                  </a:lnTo>
                  <a:lnTo>
                    <a:pt x="208787" y="0"/>
                  </a:lnTo>
                  <a:close/>
                </a:path>
              </a:pathLst>
            </a:custGeom>
            <a:solidFill>
              <a:srgbClr val="0B0B51"/>
            </a:solidFill>
          </p:spPr>
          <p:txBody>
            <a:bodyPr wrap="square" lIns="0" tIns="0" rIns="0" bIns="0" rtlCol="0"/>
            <a:lstStyle/>
            <a:p/>
          </p:txBody>
        </p:sp>
        <p:sp>
          <p:nvSpPr>
            <p:cNvPr id="58" name="object 58"/>
            <p:cNvSpPr/>
            <p:nvPr/>
          </p:nvSpPr>
          <p:spPr>
            <a:xfrm>
              <a:off x="3523488" y="3806951"/>
              <a:ext cx="417830" cy="238125"/>
            </a:xfrm>
            <a:custGeom>
              <a:avLst/>
              <a:gdLst/>
              <a:ahLst/>
              <a:cxnLst/>
              <a:rect l="l" t="t" r="r" b="b"/>
              <a:pathLst>
                <a:path w="417829" h="238125">
                  <a:moveTo>
                    <a:pt x="0" y="0"/>
                  </a:moveTo>
                  <a:lnTo>
                    <a:pt x="208787" y="0"/>
                  </a:lnTo>
                  <a:lnTo>
                    <a:pt x="264294" y="4245"/>
                  </a:lnTo>
                  <a:lnTo>
                    <a:pt x="314169" y="16227"/>
                  </a:lnTo>
                  <a:lnTo>
                    <a:pt x="356425" y="34813"/>
                  </a:lnTo>
                  <a:lnTo>
                    <a:pt x="389071" y="58871"/>
                  </a:lnTo>
                  <a:lnTo>
                    <a:pt x="417575" y="118872"/>
                  </a:lnTo>
                  <a:lnTo>
                    <a:pt x="410118" y="150471"/>
                  </a:lnTo>
                  <a:lnTo>
                    <a:pt x="356425" y="202925"/>
                  </a:lnTo>
                  <a:lnTo>
                    <a:pt x="314169" y="221513"/>
                  </a:lnTo>
                  <a:lnTo>
                    <a:pt x="264294" y="233497"/>
                  </a:lnTo>
                  <a:lnTo>
                    <a:pt x="208787" y="237744"/>
                  </a:lnTo>
                  <a:lnTo>
                    <a:pt x="0" y="237744"/>
                  </a:lnTo>
                  <a:lnTo>
                    <a:pt x="0" y="0"/>
                  </a:lnTo>
                  <a:close/>
                </a:path>
              </a:pathLst>
            </a:custGeom>
            <a:ln w="3175">
              <a:solidFill>
                <a:srgbClr val="34352F"/>
              </a:solidFill>
            </a:ln>
          </p:spPr>
          <p:txBody>
            <a:bodyPr wrap="square" lIns="0" tIns="0" rIns="0" bIns="0" rtlCol="0"/>
            <a:lstStyle/>
            <a:p/>
          </p:txBody>
        </p:sp>
      </p:grpSp>
      <p:sp>
        <p:nvSpPr>
          <p:cNvPr id="59" name="object 59"/>
          <p:cNvSpPr txBox="1"/>
          <p:nvPr/>
        </p:nvSpPr>
        <p:spPr>
          <a:xfrm>
            <a:off x="3695446" y="3279647"/>
            <a:ext cx="163195" cy="146685"/>
          </a:xfrm>
          <a:prstGeom prst="rect">
            <a:avLst/>
          </a:prstGeom>
        </p:spPr>
        <p:txBody>
          <a:bodyPr vert="horz" wrap="square" lIns="0" tIns="12065" rIns="0" bIns="0" rtlCol="0">
            <a:spAutoFit/>
          </a:bodyPr>
          <a:lstStyle/>
          <a:p>
            <a:pPr marL="12700">
              <a:lnSpc>
                <a:spcPct val="100000"/>
              </a:lnSpc>
              <a:spcBef>
                <a:spcPts val="95"/>
              </a:spcBef>
            </a:pPr>
            <a:r>
              <a:rPr sz="800" spc="-25" dirty="0">
                <a:solidFill>
                  <a:srgbClr val="FEFEFE"/>
                </a:solidFill>
                <a:latin typeface="Calibri" panose="020F0502020204030204"/>
                <a:cs typeface="Calibri" panose="020F0502020204030204"/>
              </a:rPr>
              <a:t>ELS</a:t>
            </a:r>
            <a:endParaRPr sz="800">
              <a:latin typeface="Calibri" panose="020F0502020204030204"/>
              <a:cs typeface="Calibri" panose="020F0502020204030204"/>
            </a:endParaRPr>
          </a:p>
        </p:txBody>
      </p:sp>
      <p:grpSp>
        <p:nvGrpSpPr>
          <p:cNvPr id="60" name="object 60"/>
          <p:cNvGrpSpPr/>
          <p:nvPr/>
        </p:nvGrpSpPr>
        <p:grpSpPr>
          <a:xfrm>
            <a:off x="968819" y="1745487"/>
            <a:ext cx="2639695" cy="2279015"/>
            <a:chOff x="894524" y="2311907"/>
            <a:chExt cx="2639695" cy="2279015"/>
          </a:xfrm>
        </p:grpSpPr>
        <p:sp>
          <p:nvSpPr>
            <p:cNvPr id="61" name="object 61"/>
            <p:cNvSpPr/>
            <p:nvPr/>
          </p:nvSpPr>
          <p:spPr>
            <a:xfrm>
              <a:off x="1729486" y="2311907"/>
              <a:ext cx="393065" cy="2018030"/>
            </a:xfrm>
            <a:custGeom>
              <a:avLst/>
              <a:gdLst/>
              <a:ahLst/>
              <a:cxnLst/>
              <a:rect l="l" t="t" r="r" b="b"/>
              <a:pathLst>
                <a:path w="393064" h="2018029">
                  <a:moveTo>
                    <a:pt x="348361" y="375919"/>
                  </a:moveTo>
                  <a:lnTo>
                    <a:pt x="0" y="375919"/>
                  </a:lnTo>
                  <a:lnTo>
                    <a:pt x="0" y="2017903"/>
                  </a:lnTo>
                  <a:lnTo>
                    <a:pt x="12700" y="2017903"/>
                  </a:lnTo>
                  <a:lnTo>
                    <a:pt x="12700" y="388619"/>
                  </a:lnTo>
                  <a:lnTo>
                    <a:pt x="6350" y="388619"/>
                  </a:lnTo>
                  <a:lnTo>
                    <a:pt x="12700" y="382269"/>
                  </a:lnTo>
                  <a:lnTo>
                    <a:pt x="348361" y="382269"/>
                  </a:lnTo>
                  <a:lnTo>
                    <a:pt x="348361" y="375919"/>
                  </a:lnTo>
                  <a:close/>
                </a:path>
                <a:path w="393064" h="2018029">
                  <a:moveTo>
                    <a:pt x="12700" y="382269"/>
                  </a:moveTo>
                  <a:lnTo>
                    <a:pt x="6350" y="388619"/>
                  </a:lnTo>
                  <a:lnTo>
                    <a:pt x="12700" y="388619"/>
                  </a:lnTo>
                  <a:lnTo>
                    <a:pt x="12700" y="382269"/>
                  </a:lnTo>
                  <a:close/>
                </a:path>
                <a:path w="393064" h="2018029">
                  <a:moveTo>
                    <a:pt x="361061" y="375919"/>
                  </a:moveTo>
                  <a:lnTo>
                    <a:pt x="354711" y="375919"/>
                  </a:lnTo>
                  <a:lnTo>
                    <a:pt x="348361" y="382269"/>
                  </a:lnTo>
                  <a:lnTo>
                    <a:pt x="12700" y="382269"/>
                  </a:lnTo>
                  <a:lnTo>
                    <a:pt x="12700" y="388619"/>
                  </a:lnTo>
                  <a:lnTo>
                    <a:pt x="361061" y="388619"/>
                  </a:lnTo>
                  <a:lnTo>
                    <a:pt x="361061" y="375919"/>
                  </a:lnTo>
                  <a:close/>
                </a:path>
                <a:path w="393064" h="2018029">
                  <a:moveTo>
                    <a:pt x="361061" y="63500"/>
                  </a:moveTo>
                  <a:lnTo>
                    <a:pt x="348361" y="63500"/>
                  </a:lnTo>
                  <a:lnTo>
                    <a:pt x="348361" y="382269"/>
                  </a:lnTo>
                  <a:lnTo>
                    <a:pt x="354711" y="375919"/>
                  </a:lnTo>
                  <a:lnTo>
                    <a:pt x="361061" y="375919"/>
                  </a:lnTo>
                  <a:lnTo>
                    <a:pt x="361061" y="63500"/>
                  </a:lnTo>
                  <a:close/>
                </a:path>
                <a:path w="393064" h="2018029">
                  <a:moveTo>
                    <a:pt x="354711" y="0"/>
                  </a:moveTo>
                  <a:lnTo>
                    <a:pt x="316611" y="76200"/>
                  </a:lnTo>
                  <a:lnTo>
                    <a:pt x="348361" y="76200"/>
                  </a:lnTo>
                  <a:lnTo>
                    <a:pt x="348361" y="63500"/>
                  </a:lnTo>
                  <a:lnTo>
                    <a:pt x="386461" y="63500"/>
                  </a:lnTo>
                  <a:lnTo>
                    <a:pt x="354711" y="0"/>
                  </a:lnTo>
                  <a:close/>
                </a:path>
                <a:path w="393064" h="2018029">
                  <a:moveTo>
                    <a:pt x="386461" y="63500"/>
                  </a:moveTo>
                  <a:lnTo>
                    <a:pt x="361061" y="63500"/>
                  </a:lnTo>
                  <a:lnTo>
                    <a:pt x="361061" y="76200"/>
                  </a:lnTo>
                  <a:lnTo>
                    <a:pt x="392811" y="76200"/>
                  </a:lnTo>
                  <a:lnTo>
                    <a:pt x="386461" y="63500"/>
                  </a:lnTo>
                  <a:close/>
                </a:path>
              </a:pathLst>
            </a:custGeom>
            <a:solidFill>
              <a:srgbClr val="34352F"/>
            </a:solidFill>
          </p:spPr>
          <p:txBody>
            <a:bodyPr wrap="square" lIns="0" tIns="0" rIns="0" bIns="0" rtlCol="0"/>
            <a:lstStyle/>
            <a:p/>
          </p:txBody>
        </p:sp>
        <p:sp>
          <p:nvSpPr>
            <p:cNvPr id="62" name="object 62"/>
            <p:cNvSpPr/>
            <p:nvPr/>
          </p:nvSpPr>
          <p:spPr>
            <a:xfrm>
              <a:off x="896111" y="4340351"/>
              <a:ext cx="2636520" cy="248920"/>
            </a:xfrm>
            <a:custGeom>
              <a:avLst/>
              <a:gdLst/>
              <a:ahLst/>
              <a:cxnLst/>
              <a:rect l="l" t="t" r="r" b="b"/>
              <a:pathLst>
                <a:path w="2636520" h="248920">
                  <a:moveTo>
                    <a:pt x="2636519" y="0"/>
                  </a:moveTo>
                  <a:lnTo>
                    <a:pt x="0" y="0"/>
                  </a:lnTo>
                  <a:lnTo>
                    <a:pt x="0" y="248412"/>
                  </a:lnTo>
                  <a:lnTo>
                    <a:pt x="2636519" y="248412"/>
                  </a:lnTo>
                  <a:lnTo>
                    <a:pt x="2636519" y="0"/>
                  </a:lnTo>
                  <a:close/>
                </a:path>
              </a:pathLst>
            </a:custGeom>
            <a:solidFill>
              <a:srgbClr val="EF8600"/>
            </a:solidFill>
          </p:spPr>
          <p:txBody>
            <a:bodyPr wrap="square" lIns="0" tIns="0" rIns="0" bIns="0" rtlCol="0"/>
            <a:lstStyle/>
            <a:p/>
          </p:txBody>
        </p:sp>
        <p:sp>
          <p:nvSpPr>
            <p:cNvPr id="63" name="object 63"/>
            <p:cNvSpPr/>
            <p:nvPr/>
          </p:nvSpPr>
          <p:spPr>
            <a:xfrm>
              <a:off x="896111" y="4340351"/>
              <a:ext cx="2636520" cy="248920"/>
            </a:xfrm>
            <a:custGeom>
              <a:avLst/>
              <a:gdLst/>
              <a:ahLst/>
              <a:cxnLst/>
              <a:rect l="l" t="t" r="r" b="b"/>
              <a:pathLst>
                <a:path w="2636520" h="248920">
                  <a:moveTo>
                    <a:pt x="0" y="248412"/>
                  </a:moveTo>
                  <a:lnTo>
                    <a:pt x="2636519" y="248412"/>
                  </a:lnTo>
                  <a:lnTo>
                    <a:pt x="2636519" y="0"/>
                  </a:lnTo>
                  <a:lnTo>
                    <a:pt x="0" y="0"/>
                  </a:lnTo>
                  <a:lnTo>
                    <a:pt x="0" y="248412"/>
                  </a:lnTo>
                  <a:close/>
                </a:path>
              </a:pathLst>
            </a:custGeom>
            <a:ln w="3175">
              <a:solidFill>
                <a:srgbClr val="B76600"/>
              </a:solidFill>
            </a:ln>
          </p:spPr>
          <p:txBody>
            <a:bodyPr wrap="square" lIns="0" tIns="0" rIns="0" bIns="0" rtlCol="0"/>
            <a:lstStyle/>
            <a:p/>
          </p:txBody>
        </p:sp>
        <p:sp>
          <p:nvSpPr>
            <p:cNvPr id="64" name="object 64"/>
            <p:cNvSpPr/>
            <p:nvPr/>
          </p:nvSpPr>
          <p:spPr>
            <a:xfrm>
              <a:off x="1694687" y="4315967"/>
              <a:ext cx="91440" cy="58419"/>
            </a:xfrm>
            <a:custGeom>
              <a:avLst/>
              <a:gdLst/>
              <a:ahLst/>
              <a:cxnLst/>
              <a:rect l="l" t="t" r="r" b="b"/>
              <a:pathLst>
                <a:path w="91439" h="58420">
                  <a:moveTo>
                    <a:pt x="91439" y="0"/>
                  </a:moveTo>
                  <a:lnTo>
                    <a:pt x="0" y="0"/>
                  </a:lnTo>
                  <a:lnTo>
                    <a:pt x="0" y="57911"/>
                  </a:lnTo>
                  <a:lnTo>
                    <a:pt x="91439" y="57911"/>
                  </a:lnTo>
                  <a:lnTo>
                    <a:pt x="91439" y="0"/>
                  </a:lnTo>
                  <a:close/>
                </a:path>
              </a:pathLst>
            </a:custGeom>
            <a:solidFill>
              <a:srgbClr val="FEFEFE"/>
            </a:solidFill>
          </p:spPr>
          <p:txBody>
            <a:bodyPr wrap="square" lIns="0" tIns="0" rIns="0" bIns="0" rtlCol="0"/>
            <a:lstStyle/>
            <a:p/>
          </p:txBody>
        </p:sp>
        <p:sp>
          <p:nvSpPr>
            <p:cNvPr id="65" name="object 65"/>
            <p:cNvSpPr/>
            <p:nvPr/>
          </p:nvSpPr>
          <p:spPr>
            <a:xfrm>
              <a:off x="1694687" y="4315967"/>
              <a:ext cx="91440" cy="58419"/>
            </a:xfrm>
            <a:custGeom>
              <a:avLst/>
              <a:gdLst/>
              <a:ahLst/>
              <a:cxnLst/>
              <a:rect l="l" t="t" r="r" b="b"/>
              <a:pathLst>
                <a:path w="91439" h="58420">
                  <a:moveTo>
                    <a:pt x="0" y="57911"/>
                  </a:moveTo>
                  <a:lnTo>
                    <a:pt x="91439" y="57911"/>
                  </a:lnTo>
                  <a:lnTo>
                    <a:pt x="91439" y="0"/>
                  </a:lnTo>
                  <a:lnTo>
                    <a:pt x="0" y="0"/>
                  </a:lnTo>
                  <a:lnTo>
                    <a:pt x="0" y="57911"/>
                  </a:lnTo>
                  <a:close/>
                </a:path>
              </a:pathLst>
            </a:custGeom>
            <a:ln w="9525">
              <a:solidFill>
                <a:srgbClr val="34352F"/>
              </a:solidFill>
            </a:ln>
          </p:spPr>
          <p:txBody>
            <a:bodyPr wrap="square" lIns="0" tIns="0" rIns="0" bIns="0" rtlCol="0"/>
            <a:lstStyle/>
            <a:p/>
          </p:txBody>
        </p:sp>
      </p:grpSp>
      <p:sp>
        <p:nvSpPr>
          <p:cNvPr id="66" name="object 66"/>
          <p:cNvSpPr txBox="1"/>
          <p:nvPr/>
        </p:nvSpPr>
        <p:spPr>
          <a:xfrm>
            <a:off x="529666" y="3611880"/>
            <a:ext cx="1600200" cy="556260"/>
          </a:xfrm>
          <a:prstGeom prst="rect">
            <a:avLst/>
          </a:prstGeom>
        </p:spPr>
        <p:txBody>
          <a:bodyPr vert="horz" wrap="square" lIns="0" tIns="12700" rIns="0" bIns="0" rtlCol="0">
            <a:spAutoFit/>
          </a:bodyPr>
          <a:lstStyle/>
          <a:p>
            <a:pPr marL="532130" marR="5080" indent="812800">
              <a:lnSpc>
                <a:spcPct val="116000"/>
              </a:lnSpc>
              <a:spcBef>
                <a:spcPts val="100"/>
              </a:spcBef>
            </a:pPr>
            <a:r>
              <a:rPr sz="900" spc="-20" dirty="0">
                <a:solidFill>
                  <a:srgbClr val="34352F"/>
                </a:solidFill>
                <a:latin typeface="Calibri" panose="020F0502020204030204"/>
                <a:cs typeface="Calibri" panose="020F0502020204030204"/>
              </a:rPr>
              <a:t>sleep</a:t>
            </a:r>
            <a:r>
              <a:rPr sz="900" spc="500" dirty="0">
                <a:solidFill>
                  <a:srgbClr val="34352F"/>
                </a:solidFill>
                <a:latin typeface="Calibri" panose="020F0502020204030204"/>
                <a:cs typeface="Calibri" panose="020F0502020204030204"/>
              </a:rPr>
              <a:t> </a:t>
            </a:r>
            <a:r>
              <a:rPr sz="900" spc="-10" dirty="0">
                <a:solidFill>
                  <a:srgbClr val="34352F"/>
                </a:solidFill>
                <a:latin typeface="Calibri" panose="020F0502020204030204"/>
                <a:cs typeface="Calibri" panose="020F0502020204030204"/>
              </a:rPr>
              <a:t>u_dhm_sleep_logic</a:t>
            </a:r>
            <a:endParaRPr sz="900">
              <a:latin typeface="Calibri" panose="020F0502020204030204"/>
              <a:cs typeface="Calibri" panose="020F0502020204030204"/>
            </a:endParaRPr>
          </a:p>
          <a:p>
            <a:pPr>
              <a:lnSpc>
                <a:spcPct val="100000"/>
              </a:lnSpc>
              <a:spcBef>
                <a:spcPts val="600"/>
              </a:spcBef>
            </a:pPr>
            <a:r>
              <a:rPr sz="900" spc="-10" dirty="0">
                <a:solidFill>
                  <a:srgbClr val="34352F"/>
                </a:solidFill>
                <a:latin typeface="Calibri" panose="020F0502020204030204"/>
                <a:cs typeface="Calibri" panose="020F0502020204030204"/>
              </a:rPr>
              <a:t>pd_iso</a:t>
            </a:r>
            <a:endParaRPr sz="900">
              <a:latin typeface="Calibri" panose="020F0502020204030204"/>
              <a:cs typeface="Calibri" panose="020F0502020204030204"/>
            </a:endParaRPr>
          </a:p>
        </p:txBody>
      </p:sp>
      <p:grpSp>
        <p:nvGrpSpPr>
          <p:cNvPr id="67" name="object 67"/>
          <p:cNvGrpSpPr/>
          <p:nvPr/>
        </p:nvGrpSpPr>
        <p:grpSpPr>
          <a:xfrm>
            <a:off x="380428" y="898334"/>
            <a:ext cx="3417570" cy="3281679"/>
            <a:chOff x="306133" y="1464754"/>
            <a:chExt cx="3417570" cy="3281679"/>
          </a:xfrm>
        </p:grpSpPr>
        <p:sp>
          <p:nvSpPr>
            <p:cNvPr id="68" name="object 68"/>
            <p:cNvSpPr/>
            <p:nvPr/>
          </p:nvSpPr>
          <p:spPr>
            <a:xfrm>
              <a:off x="403859" y="4050791"/>
              <a:ext cx="3319779" cy="668655"/>
            </a:xfrm>
            <a:custGeom>
              <a:avLst/>
              <a:gdLst/>
              <a:ahLst/>
              <a:cxnLst/>
              <a:rect l="l" t="t" r="r" b="b"/>
              <a:pathLst>
                <a:path w="3319779" h="668654">
                  <a:moveTo>
                    <a:pt x="3275076" y="655701"/>
                  </a:moveTo>
                  <a:lnTo>
                    <a:pt x="0" y="655701"/>
                  </a:lnTo>
                  <a:lnTo>
                    <a:pt x="0" y="668401"/>
                  </a:lnTo>
                  <a:lnTo>
                    <a:pt x="3287776" y="668401"/>
                  </a:lnTo>
                  <a:lnTo>
                    <a:pt x="3287776" y="662051"/>
                  </a:lnTo>
                  <a:lnTo>
                    <a:pt x="3275076" y="662051"/>
                  </a:lnTo>
                  <a:lnTo>
                    <a:pt x="3275076" y="655701"/>
                  </a:lnTo>
                  <a:close/>
                </a:path>
                <a:path w="3319779" h="668654">
                  <a:moveTo>
                    <a:pt x="3287776" y="63500"/>
                  </a:moveTo>
                  <a:lnTo>
                    <a:pt x="3275076" y="63500"/>
                  </a:lnTo>
                  <a:lnTo>
                    <a:pt x="3275076" y="662051"/>
                  </a:lnTo>
                  <a:lnTo>
                    <a:pt x="3281426" y="655701"/>
                  </a:lnTo>
                  <a:lnTo>
                    <a:pt x="3287776" y="655701"/>
                  </a:lnTo>
                  <a:lnTo>
                    <a:pt x="3287776" y="63500"/>
                  </a:lnTo>
                  <a:close/>
                </a:path>
                <a:path w="3319779" h="668654">
                  <a:moveTo>
                    <a:pt x="3287776" y="655701"/>
                  </a:moveTo>
                  <a:lnTo>
                    <a:pt x="3281426" y="655701"/>
                  </a:lnTo>
                  <a:lnTo>
                    <a:pt x="3275076" y="662051"/>
                  </a:lnTo>
                  <a:lnTo>
                    <a:pt x="3287776" y="662051"/>
                  </a:lnTo>
                  <a:lnTo>
                    <a:pt x="3287776" y="655701"/>
                  </a:lnTo>
                  <a:close/>
                </a:path>
                <a:path w="3319779" h="668654">
                  <a:moveTo>
                    <a:pt x="3281426" y="0"/>
                  </a:moveTo>
                  <a:lnTo>
                    <a:pt x="3243326" y="76200"/>
                  </a:lnTo>
                  <a:lnTo>
                    <a:pt x="3275076" y="76200"/>
                  </a:lnTo>
                  <a:lnTo>
                    <a:pt x="3275076" y="63500"/>
                  </a:lnTo>
                  <a:lnTo>
                    <a:pt x="3313176" y="63500"/>
                  </a:lnTo>
                  <a:lnTo>
                    <a:pt x="3281426" y="0"/>
                  </a:lnTo>
                  <a:close/>
                </a:path>
                <a:path w="3319779" h="668654">
                  <a:moveTo>
                    <a:pt x="3313176" y="63500"/>
                  </a:moveTo>
                  <a:lnTo>
                    <a:pt x="3287776" y="63500"/>
                  </a:lnTo>
                  <a:lnTo>
                    <a:pt x="3287776" y="76200"/>
                  </a:lnTo>
                  <a:lnTo>
                    <a:pt x="3319526" y="76200"/>
                  </a:lnTo>
                  <a:lnTo>
                    <a:pt x="3313176" y="63500"/>
                  </a:lnTo>
                  <a:close/>
                </a:path>
              </a:pathLst>
            </a:custGeom>
            <a:solidFill>
              <a:srgbClr val="34352F"/>
            </a:solidFill>
          </p:spPr>
          <p:txBody>
            <a:bodyPr wrap="square" lIns="0" tIns="0" rIns="0" bIns="0" rtlCol="0"/>
            <a:lstStyle/>
            <a:p/>
          </p:txBody>
        </p:sp>
        <p:sp>
          <p:nvSpPr>
            <p:cNvPr id="69" name="object 69"/>
            <p:cNvSpPr/>
            <p:nvPr/>
          </p:nvSpPr>
          <p:spPr>
            <a:xfrm>
              <a:off x="310895" y="4683252"/>
              <a:ext cx="93345" cy="58419"/>
            </a:xfrm>
            <a:custGeom>
              <a:avLst/>
              <a:gdLst/>
              <a:ahLst/>
              <a:cxnLst/>
              <a:rect l="l" t="t" r="r" b="b"/>
              <a:pathLst>
                <a:path w="93345" h="58420">
                  <a:moveTo>
                    <a:pt x="92964" y="0"/>
                  </a:moveTo>
                  <a:lnTo>
                    <a:pt x="0" y="0"/>
                  </a:lnTo>
                  <a:lnTo>
                    <a:pt x="0" y="57912"/>
                  </a:lnTo>
                  <a:lnTo>
                    <a:pt x="92964" y="57912"/>
                  </a:lnTo>
                  <a:lnTo>
                    <a:pt x="92964" y="0"/>
                  </a:lnTo>
                  <a:close/>
                </a:path>
              </a:pathLst>
            </a:custGeom>
            <a:solidFill>
              <a:srgbClr val="FEFEFE"/>
            </a:solidFill>
          </p:spPr>
          <p:txBody>
            <a:bodyPr wrap="square" lIns="0" tIns="0" rIns="0" bIns="0" rtlCol="0"/>
            <a:lstStyle/>
            <a:p/>
          </p:txBody>
        </p:sp>
        <p:sp>
          <p:nvSpPr>
            <p:cNvPr id="70" name="object 70"/>
            <p:cNvSpPr/>
            <p:nvPr/>
          </p:nvSpPr>
          <p:spPr>
            <a:xfrm>
              <a:off x="310895" y="4683252"/>
              <a:ext cx="93345" cy="58419"/>
            </a:xfrm>
            <a:custGeom>
              <a:avLst/>
              <a:gdLst/>
              <a:ahLst/>
              <a:cxnLst/>
              <a:rect l="l" t="t" r="r" b="b"/>
              <a:pathLst>
                <a:path w="93345" h="58420">
                  <a:moveTo>
                    <a:pt x="0" y="57912"/>
                  </a:moveTo>
                  <a:lnTo>
                    <a:pt x="92964" y="57912"/>
                  </a:lnTo>
                  <a:lnTo>
                    <a:pt x="92964" y="0"/>
                  </a:lnTo>
                  <a:lnTo>
                    <a:pt x="0" y="0"/>
                  </a:lnTo>
                  <a:lnTo>
                    <a:pt x="0" y="57912"/>
                  </a:lnTo>
                  <a:close/>
                </a:path>
              </a:pathLst>
            </a:custGeom>
            <a:ln w="9524">
              <a:solidFill>
                <a:srgbClr val="34352F"/>
              </a:solidFill>
            </a:ln>
          </p:spPr>
          <p:txBody>
            <a:bodyPr wrap="square" lIns="0" tIns="0" rIns="0" bIns="0" rtlCol="0"/>
            <a:lstStyle/>
            <a:p/>
          </p:txBody>
        </p:sp>
        <p:sp>
          <p:nvSpPr>
            <p:cNvPr id="71" name="object 71"/>
            <p:cNvSpPr/>
            <p:nvPr/>
          </p:nvSpPr>
          <p:spPr>
            <a:xfrm>
              <a:off x="3412997" y="1479041"/>
              <a:ext cx="5080" cy="528955"/>
            </a:xfrm>
            <a:custGeom>
              <a:avLst/>
              <a:gdLst/>
              <a:ahLst/>
              <a:cxnLst/>
              <a:rect l="l" t="t" r="r" b="b"/>
              <a:pathLst>
                <a:path w="5079" h="528955">
                  <a:moveTo>
                    <a:pt x="4825" y="0"/>
                  </a:moveTo>
                  <a:lnTo>
                    <a:pt x="0" y="528574"/>
                  </a:lnTo>
                </a:path>
              </a:pathLst>
            </a:custGeom>
            <a:ln w="28575">
              <a:solidFill>
                <a:srgbClr val="34352F"/>
              </a:solidFill>
            </a:ln>
          </p:spPr>
          <p:txBody>
            <a:bodyPr wrap="square" lIns="0" tIns="0" rIns="0" bIns="0" rtlCol="0"/>
            <a:lstStyle/>
            <a:p/>
          </p:txBody>
        </p:sp>
        <p:sp>
          <p:nvSpPr>
            <p:cNvPr id="72" name="object 72"/>
            <p:cNvSpPr/>
            <p:nvPr/>
          </p:nvSpPr>
          <p:spPr>
            <a:xfrm>
              <a:off x="940308" y="2267711"/>
              <a:ext cx="228600" cy="342900"/>
            </a:xfrm>
            <a:custGeom>
              <a:avLst/>
              <a:gdLst/>
              <a:ahLst/>
              <a:cxnLst/>
              <a:rect l="l" t="t" r="r" b="b"/>
              <a:pathLst>
                <a:path w="228600" h="342900">
                  <a:moveTo>
                    <a:pt x="0" y="0"/>
                  </a:moveTo>
                  <a:lnTo>
                    <a:pt x="0" y="342900"/>
                  </a:lnTo>
                  <a:lnTo>
                    <a:pt x="228600" y="171450"/>
                  </a:lnTo>
                  <a:lnTo>
                    <a:pt x="0" y="0"/>
                  </a:lnTo>
                  <a:close/>
                </a:path>
              </a:pathLst>
            </a:custGeom>
            <a:solidFill>
              <a:srgbClr val="9832FE"/>
            </a:solidFill>
          </p:spPr>
          <p:txBody>
            <a:bodyPr wrap="square" lIns="0" tIns="0" rIns="0" bIns="0" rtlCol="0"/>
            <a:lstStyle/>
            <a:p/>
          </p:txBody>
        </p:sp>
        <p:sp>
          <p:nvSpPr>
            <p:cNvPr id="73" name="object 73"/>
            <p:cNvSpPr/>
            <p:nvPr/>
          </p:nvSpPr>
          <p:spPr>
            <a:xfrm>
              <a:off x="940308" y="2267711"/>
              <a:ext cx="228600" cy="342900"/>
            </a:xfrm>
            <a:custGeom>
              <a:avLst/>
              <a:gdLst/>
              <a:ahLst/>
              <a:cxnLst/>
              <a:rect l="l" t="t" r="r" b="b"/>
              <a:pathLst>
                <a:path w="228600" h="342900">
                  <a:moveTo>
                    <a:pt x="0" y="0"/>
                  </a:moveTo>
                  <a:lnTo>
                    <a:pt x="228600" y="171450"/>
                  </a:lnTo>
                  <a:lnTo>
                    <a:pt x="0" y="342900"/>
                  </a:lnTo>
                  <a:lnTo>
                    <a:pt x="0" y="0"/>
                  </a:lnTo>
                  <a:close/>
                </a:path>
              </a:pathLst>
            </a:custGeom>
            <a:ln w="9525">
              <a:solidFill>
                <a:srgbClr val="9832FE"/>
              </a:solidFill>
            </a:ln>
          </p:spPr>
          <p:txBody>
            <a:bodyPr wrap="square" lIns="0" tIns="0" rIns="0" bIns="0" rtlCol="0"/>
            <a:lstStyle/>
            <a:p/>
          </p:txBody>
        </p:sp>
      </p:grpSp>
      <p:sp>
        <p:nvSpPr>
          <p:cNvPr id="74" name="object 74"/>
          <p:cNvSpPr txBox="1"/>
          <p:nvPr/>
        </p:nvSpPr>
        <p:spPr>
          <a:xfrm>
            <a:off x="4521454" y="745566"/>
            <a:ext cx="2952115" cy="1489075"/>
          </a:xfrm>
          <a:prstGeom prst="rect">
            <a:avLst/>
          </a:prstGeom>
        </p:spPr>
        <p:txBody>
          <a:bodyPr vert="horz" wrap="square" lIns="0" tIns="12065" rIns="0" bIns="0" rtlCol="0">
            <a:spAutoFit/>
          </a:bodyPr>
          <a:lstStyle/>
          <a:p>
            <a:pPr marL="12700">
              <a:lnSpc>
                <a:spcPct val="100000"/>
              </a:lnSpc>
              <a:spcBef>
                <a:spcPts val="95"/>
              </a:spcBef>
            </a:pPr>
            <a:r>
              <a:rPr sz="1600" i="1" spc="-10" dirty="0">
                <a:solidFill>
                  <a:srgbClr val="0000FE"/>
                </a:solidFill>
                <a:latin typeface="Calibri" panose="020F0502020204030204"/>
                <a:cs typeface="Calibri" panose="020F0502020204030204"/>
              </a:rPr>
              <a:t>set_retention</a:t>
            </a:r>
            <a:r>
              <a:rPr sz="1600" i="1" spc="-5" dirty="0">
                <a:solidFill>
                  <a:srgbClr val="0000FE"/>
                </a:solidFill>
                <a:latin typeface="Calibri" panose="020F0502020204030204"/>
                <a:cs typeface="Calibri" panose="020F0502020204030204"/>
              </a:rPr>
              <a:t> </a:t>
            </a:r>
            <a:r>
              <a:rPr sz="1600" i="1" spc="-10" dirty="0">
                <a:solidFill>
                  <a:srgbClr val="0000FE"/>
                </a:solidFill>
                <a:latin typeface="Calibri" panose="020F0502020204030204"/>
                <a:cs typeface="Calibri" panose="020F0502020204030204"/>
              </a:rPr>
              <a:t>pd1_ret</a:t>
            </a:r>
            <a:endParaRPr sz="1600">
              <a:latin typeface="Calibri" panose="020F0502020204030204"/>
              <a:cs typeface="Calibri" panose="020F0502020204030204"/>
            </a:endParaRPr>
          </a:p>
          <a:p>
            <a:pPr marL="12700">
              <a:lnSpc>
                <a:spcPct val="100000"/>
              </a:lnSpc>
              <a:spcBef>
                <a:spcPts val="5"/>
              </a:spcBef>
            </a:pPr>
            <a:r>
              <a:rPr sz="1600" i="1" dirty="0">
                <a:solidFill>
                  <a:srgbClr val="FD9A1D"/>
                </a:solidFill>
                <a:latin typeface="Calibri" panose="020F0502020204030204"/>
                <a:cs typeface="Calibri" panose="020F0502020204030204"/>
              </a:rPr>
              <a:t>-domain</a:t>
            </a:r>
            <a:r>
              <a:rPr sz="1600" i="1" spc="-60" dirty="0">
                <a:solidFill>
                  <a:srgbClr val="FD9A1D"/>
                </a:solidFill>
                <a:latin typeface="Calibri" panose="020F0502020204030204"/>
                <a:cs typeface="Calibri" panose="020F0502020204030204"/>
              </a:rPr>
              <a:t> </a:t>
            </a:r>
            <a:r>
              <a:rPr sz="1600" i="1" spc="-25" dirty="0">
                <a:solidFill>
                  <a:srgbClr val="FD9A1D"/>
                </a:solidFill>
                <a:latin typeface="Calibri" panose="020F0502020204030204"/>
                <a:cs typeface="Calibri" panose="020F0502020204030204"/>
              </a:rPr>
              <a:t>pd1</a:t>
            </a:r>
            <a:endParaRPr sz="1600">
              <a:latin typeface="Calibri" panose="020F0502020204030204"/>
              <a:cs typeface="Calibri" panose="020F0502020204030204"/>
            </a:endParaRPr>
          </a:p>
          <a:p>
            <a:pPr marL="12700">
              <a:lnSpc>
                <a:spcPct val="100000"/>
              </a:lnSpc>
            </a:pPr>
            <a:r>
              <a:rPr sz="1600" i="1" dirty="0">
                <a:solidFill>
                  <a:srgbClr val="A5A5A5"/>
                </a:solidFill>
                <a:latin typeface="Calibri" panose="020F0502020204030204"/>
                <a:cs typeface="Calibri" panose="020F0502020204030204"/>
              </a:rPr>
              <a:t>-</a:t>
            </a:r>
            <a:r>
              <a:rPr sz="1600" i="1" spc="-10" dirty="0">
                <a:solidFill>
                  <a:srgbClr val="A5A5A5"/>
                </a:solidFill>
                <a:latin typeface="Calibri" panose="020F0502020204030204"/>
                <a:cs typeface="Calibri" panose="020F0502020204030204"/>
              </a:rPr>
              <a:t>elements</a:t>
            </a:r>
            <a:r>
              <a:rPr sz="1600" i="1" spc="-45" dirty="0">
                <a:solidFill>
                  <a:srgbClr val="A5A5A5"/>
                </a:solidFill>
                <a:latin typeface="Calibri" panose="020F0502020204030204"/>
                <a:cs typeface="Calibri" panose="020F0502020204030204"/>
              </a:rPr>
              <a:t> </a:t>
            </a:r>
            <a:r>
              <a:rPr sz="1600" i="1" dirty="0">
                <a:solidFill>
                  <a:srgbClr val="A5A5A5"/>
                </a:solidFill>
                <a:latin typeface="Calibri" panose="020F0502020204030204"/>
                <a:cs typeface="Calibri" panose="020F0502020204030204"/>
              </a:rPr>
              <a:t>&lt;insts</a:t>
            </a:r>
            <a:r>
              <a:rPr sz="1600" i="1" spc="-15" dirty="0">
                <a:solidFill>
                  <a:srgbClr val="A5A5A5"/>
                </a:solidFill>
                <a:latin typeface="Calibri" panose="020F0502020204030204"/>
                <a:cs typeface="Calibri" panose="020F0502020204030204"/>
              </a:rPr>
              <a:t> </a:t>
            </a:r>
            <a:r>
              <a:rPr sz="1600" i="1" dirty="0">
                <a:solidFill>
                  <a:srgbClr val="A5A5A5"/>
                </a:solidFill>
                <a:latin typeface="Calibri" panose="020F0502020204030204"/>
                <a:cs typeface="Calibri" panose="020F0502020204030204"/>
              </a:rPr>
              <a:t>|</a:t>
            </a:r>
            <a:r>
              <a:rPr sz="1600" i="1" spc="-10" dirty="0">
                <a:solidFill>
                  <a:srgbClr val="A5A5A5"/>
                </a:solidFill>
                <a:latin typeface="Calibri" panose="020F0502020204030204"/>
                <a:cs typeface="Calibri" panose="020F0502020204030204"/>
              </a:rPr>
              <a:t> regs&gt;</a:t>
            </a:r>
            <a:endParaRPr sz="1600">
              <a:latin typeface="Calibri" panose="020F0502020204030204"/>
              <a:cs typeface="Calibri" panose="020F0502020204030204"/>
            </a:endParaRPr>
          </a:p>
          <a:p>
            <a:pPr marL="12700">
              <a:lnSpc>
                <a:spcPct val="100000"/>
              </a:lnSpc>
            </a:pPr>
            <a:r>
              <a:rPr sz="1600" i="1" dirty="0">
                <a:solidFill>
                  <a:srgbClr val="006FBF"/>
                </a:solidFill>
                <a:latin typeface="Calibri" panose="020F0502020204030204"/>
                <a:cs typeface="Calibri" panose="020F0502020204030204"/>
              </a:rPr>
              <a:t>-save_signal</a:t>
            </a:r>
            <a:r>
              <a:rPr sz="1600" i="1" spc="-35" dirty="0">
                <a:solidFill>
                  <a:srgbClr val="006FBF"/>
                </a:solidFill>
                <a:latin typeface="Calibri" panose="020F0502020204030204"/>
                <a:cs typeface="Calibri" panose="020F0502020204030204"/>
              </a:rPr>
              <a:t> </a:t>
            </a:r>
            <a:r>
              <a:rPr sz="1600" i="1" dirty="0">
                <a:solidFill>
                  <a:srgbClr val="006FBF"/>
                </a:solidFill>
                <a:latin typeface="Calibri" panose="020F0502020204030204"/>
                <a:cs typeface="Calibri" panose="020F0502020204030204"/>
              </a:rPr>
              <a:t>{save</a:t>
            </a:r>
            <a:r>
              <a:rPr sz="1600" i="1" spc="-40" dirty="0">
                <a:solidFill>
                  <a:srgbClr val="006FBF"/>
                </a:solidFill>
                <a:latin typeface="Calibri" panose="020F0502020204030204"/>
                <a:cs typeface="Calibri" panose="020F0502020204030204"/>
              </a:rPr>
              <a:t> </a:t>
            </a:r>
            <a:r>
              <a:rPr sz="1600" i="1" dirty="0">
                <a:solidFill>
                  <a:srgbClr val="006FBF"/>
                </a:solidFill>
                <a:latin typeface="Calibri" panose="020F0502020204030204"/>
                <a:cs typeface="Calibri" panose="020F0502020204030204"/>
              </a:rPr>
              <a:t>&lt;</a:t>
            </a:r>
            <a:r>
              <a:rPr sz="1600" i="1" dirty="0">
                <a:solidFill>
                  <a:srgbClr val="FE0000"/>
                </a:solidFill>
                <a:latin typeface="Calibri" panose="020F0502020204030204"/>
                <a:cs typeface="Calibri" panose="020F0502020204030204"/>
              </a:rPr>
              <a:t>high</a:t>
            </a:r>
            <a:r>
              <a:rPr sz="1600" i="1" spc="-35" dirty="0">
                <a:solidFill>
                  <a:srgbClr val="FE0000"/>
                </a:solidFill>
                <a:latin typeface="Calibri" panose="020F0502020204030204"/>
                <a:cs typeface="Calibri" panose="020F0502020204030204"/>
              </a:rPr>
              <a:t> </a:t>
            </a:r>
            <a:r>
              <a:rPr sz="1600" i="1" dirty="0">
                <a:solidFill>
                  <a:srgbClr val="006FBF"/>
                </a:solidFill>
                <a:latin typeface="Calibri" panose="020F0502020204030204"/>
                <a:cs typeface="Calibri" panose="020F0502020204030204"/>
              </a:rPr>
              <a:t>|</a:t>
            </a:r>
            <a:r>
              <a:rPr sz="1600" i="1" spc="-45" dirty="0">
                <a:solidFill>
                  <a:srgbClr val="006FBF"/>
                </a:solidFill>
                <a:latin typeface="Calibri" panose="020F0502020204030204"/>
                <a:cs typeface="Calibri" panose="020F0502020204030204"/>
              </a:rPr>
              <a:t> </a:t>
            </a:r>
            <a:r>
              <a:rPr sz="1600" i="1" spc="-10" dirty="0">
                <a:solidFill>
                  <a:srgbClr val="006FBF"/>
                </a:solidFill>
                <a:latin typeface="Calibri" panose="020F0502020204030204"/>
                <a:cs typeface="Calibri" panose="020F0502020204030204"/>
              </a:rPr>
              <a:t>low&gt;}</a:t>
            </a:r>
            <a:endParaRPr sz="1600">
              <a:latin typeface="Calibri" panose="020F0502020204030204"/>
              <a:cs typeface="Calibri" panose="020F0502020204030204"/>
            </a:endParaRPr>
          </a:p>
          <a:p>
            <a:pPr marL="12700">
              <a:lnSpc>
                <a:spcPct val="100000"/>
              </a:lnSpc>
            </a:pPr>
            <a:r>
              <a:rPr sz="1600" i="1" dirty="0">
                <a:solidFill>
                  <a:srgbClr val="006FBF"/>
                </a:solidFill>
                <a:latin typeface="Calibri" panose="020F0502020204030204"/>
                <a:cs typeface="Calibri" panose="020F0502020204030204"/>
              </a:rPr>
              <a:t>-</a:t>
            </a:r>
            <a:r>
              <a:rPr sz="1600" i="1" spc="-10" dirty="0">
                <a:solidFill>
                  <a:srgbClr val="006FBF"/>
                </a:solidFill>
                <a:latin typeface="Calibri" panose="020F0502020204030204"/>
                <a:cs typeface="Calibri" panose="020F0502020204030204"/>
              </a:rPr>
              <a:t>restore_signal</a:t>
            </a:r>
            <a:r>
              <a:rPr sz="1600" i="1" spc="-40" dirty="0">
                <a:solidFill>
                  <a:srgbClr val="006FBF"/>
                </a:solidFill>
                <a:latin typeface="Calibri" panose="020F0502020204030204"/>
                <a:cs typeface="Calibri" panose="020F0502020204030204"/>
              </a:rPr>
              <a:t> </a:t>
            </a:r>
            <a:r>
              <a:rPr sz="1600" i="1" dirty="0">
                <a:solidFill>
                  <a:srgbClr val="006FBF"/>
                </a:solidFill>
                <a:latin typeface="Calibri" panose="020F0502020204030204"/>
                <a:cs typeface="Calibri" panose="020F0502020204030204"/>
              </a:rPr>
              <a:t>{restore</a:t>
            </a:r>
            <a:r>
              <a:rPr sz="1600" i="1" spc="-40" dirty="0">
                <a:solidFill>
                  <a:srgbClr val="006FBF"/>
                </a:solidFill>
                <a:latin typeface="Calibri" panose="020F0502020204030204"/>
                <a:cs typeface="Calibri" panose="020F0502020204030204"/>
              </a:rPr>
              <a:t> </a:t>
            </a:r>
            <a:r>
              <a:rPr sz="1600" i="1" dirty="0">
                <a:solidFill>
                  <a:srgbClr val="006FBF"/>
                </a:solidFill>
                <a:latin typeface="Calibri" panose="020F0502020204030204"/>
                <a:cs typeface="Calibri" panose="020F0502020204030204"/>
              </a:rPr>
              <a:t>&lt;</a:t>
            </a:r>
            <a:r>
              <a:rPr sz="1600" i="1" dirty="0">
                <a:solidFill>
                  <a:srgbClr val="FE0000"/>
                </a:solidFill>
                <a:latin typeface="Calibri" panose="020F0502020204030204"/>
                <a:cs typeface="Calibri" panose="020F0502020204030204"/>
              </a:rPr>
              <a:t>high</a:t>
            </a:r>
            <a:r>
              <a:rPr sz="1600" i="1" spc="-20" dirty="0">
                <a:solidFill>
                  <a:srgbClr val="FE0000"/>
                </a:solidFill>
                <a:latin typeface="Calibri" panose="020F0502020204030204"/>
                <a:cs typeface="Calibri" panose="020F0502020204030204"/>
              </a:rPr>
              <a:t> </a:t>
            </a:r>
            <a:r>
              <a:rPr sz="1600" i="1" spc="-20" dirty="0">
                <a:solidFill>
                  <a:srgbClr val="006FBF"/>
                </a:solidFill>
                <a:latin typeface="Calibri" panose="020F0502020204030204"/>
                <a:cs typeface="Calibri" panose="020F0502020204030204"/>
              </a:rPr>
              <a:t>|low}</a:t>
            </a:r>
            <a:endParaRPr sz="1600">
              <a:latin typeface="Calibri" panose="020F0502020204030204"/>
              <a:cs typeface="Calibri" panose="020F0502020204030204"/>
            </a:endParaRPr>
          </a:p>
          <a:p>
            <a:pPr marL="12700">
              <a:lnSpc>
                <a:spcPct val="100000"/>
              </a:lnSpc>
            </a:pPr>
            <a:r>
              <a:rPr sz="1600" i="1" dirty="0">
                <a:solidFill>
                  <a:srgbClr val="006FBF"/>
                </a:solidFill>
                <a:latin typeface="Calibri" panose="020F0502020204030204"/>
                <a:cs typeface="Calibri" panose="020F0502020204030204"/>
              </a:rPr>
              <a:t>-</a:t>
            </a:r>
            <a:r>
              <a:rPr sz="1600" i="1" spc="-10" dirty="0">
                <a:solidFill>
                  <a:srgbClr val="006FBF"/>
                </a:solidFill>
                <a:latin typeface="Calibri" panose="020F0502020204030204"/>
                <a:cs typeface="Calibri" panose="020F0502020204030204"/>
              </a:rPr>
              <a:t>retention_supply_set</a:t>
            </a:r>
            <a:r>
              <a:rPr sz="1600" i="1" spc="20" dirty="0">
                <a:solidFill>
                  <a:srgbClr val="006FBF"/>
                </a:solidFill>
                <a:latin typeface="Calibri" panose="020F0502020204030204"/>
                <a:cs typeface="Calibri" panose="020F0502020204030204"/>
              </a:rPr>
              <a:t> </a:t>
            </a:r>
            <a:r>
              <a:rPr sz="1600" i="1" spc="-10" dirty="0">
                <a:solidFill>
                  <a:srgbClr val="006FBF"/>
                </a:solidFill>
                <a:latin typeface="Calibri" panose="020F0502020204030204"/>
                <a:cs typeface="Calibri" panose="020F0502020204030204"/>
              </a:rPr>
              <a:t>SS_VDDL</a:t>
            </a:r>
            <a:endParaRPr sz="1600">
              <a:latin typeface="Calibri" panose="020F0502020204030204"/>
              <a:cs typeface="Calibri" panose="020F0502020204030204"/>
            </a:endParaRPr>
          </a:p>
        </p:txBody>
      </p:sp>
      <p:sp>
        <p:nvSpPr>
          <p:cNvPr id="75" name="object 75"/>
          <p:cNvSpPr txBox="1"/>
          <p:nvPr/>
        </p:nvSpPr>
        <p:spPr>
          <a:xfrm>
            <a:off x="1029944" y="1771218"/>
            <a:ext cx="145415" cy="187325"/>
          </a:xfrm>
          <a:prstGeom prst="rect">
            <a:avLst/>
          </a:prstGeom>
        </p:spPr>
        <p:txBody>
          <a:bodyPr vert="horz" wrap="square" lIns="0" tIns="13335" rIns="0" bIns="0" rtlCol="0">
            <a:spAutoFit/>
          </a:bodyPr>
          <a:lstStyle/>
          <a:p>
            <a:pPr marL="12700">
              <a:lnSpc>
                <a:spcPct val="100000"/>
              </a:lnSpc>
              <a:spcBef>
                <a:spcPts val="105"/>
              </a:spcBef>
            </a:pPr>
            <a:r>
              <a:rPr sz="1050" b="1" spc="-25" dirty="0">
                <a:solidFill>
                  <a:srgbClr val="34352F"/>
                </a:solidFill>
                <a:latin typeface="Calibri" panose="020F0502020204030204"/>
                <a:cs typeface="Calibri" panose="020F0502020204030204"/>
              </a:rPr>
              <a:t>LS</a:t>
            </a:r>
            <a:endParaRPr sz="1050">
              <a:latin typeface="Calibri" panose="020F0502020204030204"/>
              <a:cs typeface="Calibri" panose="020F0502020204030204"/>
            </a:endParaRPr>
          </a:p>
        </p:txBody>
      </p:sp>
      <p:grpSp>
        <p:nvGrpSpPr>
          <p:cNvPr id="76" name="object 76"/>
          <p:cNvGrpSpPr/>
          <p:nvPr/>
        </p:nvGrpSpPr>
        <p:grpSpPr>
          <a:xfrm>
            <a:off x="1014412" y="2074481"/>
            <a:ext cx="238125" cy="352425"/>
            <a:chOff x="940117" y="2640901"/>
            <a:chExt cx="238125" cy="352425"/>
          </a:xfrm>
        </p:grpSpPr>
        <p:sp>
          <p:nvSpPr>
            <p:cNvPr id="77" name="object 77"/>
            <p:cNvSpPr/>
            <p:nvPr/>
          </p:nvSpPr>
          <p:spPr>
            <a:xfrm>
              <a:off x="944880" y="2645664"/>
              <a:ext cx="228600" cy="342900"/>
            </a:xfrm>
            <a:custGeom>
              <a:avLst/>
              <a:gdLst/>
              <a:ahLst/>
              <a:cxnLst/>
              <a:rect l="l" t="t" r="r" b="b"/>
              <a:pathLst>
                <a:path w="228600" h="342900">
                  <a:moveTo>
                    <a:pt x="0" y="0"/>
                  </a:moveTo>
                  <a:lnTo>
                    <a:pt x="0" y="342900"/>
                  </a:lnTo>
                  <a:lnTo>
                    <a:pt x="228600" y="171450"/>
                  </a:lnTo>
                  <a:lnTo>
                    <a:pt x="0" y="0"/>
                  </a:lnTo>
                  <a:close/>
                </a:path>
              </a:pathLst>
            </a:custGeom>
            <a:solidFill>
              <a:srgbClr val="9832FE"/>
            </a:solidFill>
          </p:spPr>
          <p:txBody>
            <a:bodyPr wrap="square" lIns="0" tIns="0" rIns="0" bIns="0" rtlCol="0"/>
            <a:lstStyle/>
            <a:p/>
          </p:txBody>
        </p:sp>
        <p:sp>
          <p:nvSpPr>
            <p:cNvPr id="78" name="object 78"/>
            <p:cNvSpPr/>
            <p:nvPr/>
          </p:nvSpPr>
          <p:spPr>
            <a:xfrm>
              <a:off x="944880" y="2645664"/>
              <a:ext cx="228600" cy="342900"/>
            </a:xfrm>
            <a:custGeom>
              <a:avLst/>
              <a:gdLst/>
              <a:ahLst/>
              <a:cxnLst/>
              <a:rect l="l" t="t" r="r" b="b"/>
              <a:pathLst>
                <a:path w="228600" h="342900">
                  <a:moveTo>
                    <a:pt x="0" y="0"/>
                  </a:moveTo>
                  <a:lnTo>
                    <a:pt x="228600" y="171450"/>
                  </a:lnTo>
                  <a:lnTo>
                    <a:pt x="0" y="342900"/>
                  </a:lnTo>
                  <a:lnTo>
                    <a:pt x="0" y="0"/>
                  </a:lnTo>
                  <a:close/>
                </a:path>
              </a:pathLst>
            </a:custGeom>
            <a:ln w="9525">
              <a:solidFill>
                <a:srgbClr val="9832FE"/>
              </a:solidFill>
            </a:ln>
          </p:spPr>
          <p:txBody>
            <a:bodyPr wrap="square" lIns="0" tIns="0" rIns="0" bIns="0" rtlCol="0"/>
            <a:lstStyle/>
            <a:p/>
          </p:txBody>
        </p:sp>
      </p:grpSp>
      <p:sp>
        <p:nvSpPr>
          <p:cNvPr id="79" name="object 79"/>
          <p:cNvSpPr txBox="1"/>
          <p:nvPr/>
        </p:nvSpPr>
        <p:spPr>
          <a:xfrm>
            <a:off x="1033906" y="2149475"/>
            <a:ext cx="145415" cy="186690"/>
          </a:xfrm>
          <a:prstGeom prst="rect">
            <a:avLst/>
          </a:prstGeom>
        </p:spPr>
        <p:txBody>
          <a:bodyPr vert="horz" wrap="square" lIns="0" tIns="13335" rIns="0" bIns="0" rtlCol="0">
            <a:spAutoFit/>
          </a:bodyPr>
          <a:lstStyle/>
          <a:p>
            <a:pPr marL="12700">
              <a:lnSpc>
                <a:spcPct val="100000"/>
              </a:lnSpc>
              <a:spcBef>
                <a:spcPts val="105"/>
              </a:spcBef>
            </a:pPr>
            <a:r>
              <a:rPr sz="1050" b="1" spc="-25" dirty="0">
                <a:solidFill>
                  <a:srgbClr val="34352F"/>
                </a:solidFill>
                <a:latin typeface="Calibri" panose="020F0502020204030204"/>
                <a:cs typeface="Calibri" panose="020F0502020204030204"/>
              </a:rPr>
              <a:t>LS</a:t>
            </a:r>
            <a:endParaRPr sz="1050">
              <a:latin typeface="Calibri" panose="020F0502020204030204"/>
              <a:cs typeface="Calibri" panose="020F0502020204030204"/>
            </a:endParaRPr>
          </a:p>
        </p:txBody>
      </p:sp>
      <p:sp>
        <p:nvSpPr>
          <p:cNvPr id="82" name="Text 0"/>
          <p:cNvSpPr/>
          <p:nvPr/>
        </p:nvSpPr>
        <p:spPr>
          <a:xfrm>
            <a:off x="284480" y="10922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保持</a:t>
            </a:r>
            <a:r>
              <a:rPr lang="zh-CN" altLang="en-US" sz="1730" b="1" dirty="0">
                <a:latin typeface="微软雅黑" panose="020B0503020204020204" pitchFamily="34" charset="-122"/>
                <a:ea typeface="微软雅黑" panose="020B0503020204020204" pitchFamily="34" charset="-122"/>
                <a:sym typeface="+mn-ea"/>
              </a:rPr>
              <a:t>单元</a:t>
            </a:r>
            <a:endParaRPr lang="zh-CN" altLang="en-US" sz="1730" b="1"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grpSp>
        <p:nvGrpSpPr>
          <p:cNvPr id="3" name="object 3"/>
          <p:cNvGrpSpPr/>
          <p:nvPr/>
        </p:nvGrpSpPr>
        <p:grpSpPr>
          <a:xfrm>
            <a:off x="417639" y="817181"/>
            <a:ext cx="3315970" cy="3509645"/>
            <a:chOff x="342709" y="1330261"/>
            <a:chExt cx="3315970" cy="3509645"/>
          </a:xfrm>
        </p:grpSpPr>
        <p:pic>
          <p:nvPicPr>
            <p:cNvPr id="4" name="object 4"/>
            <p:cNvPicPr/>
            <p:nvPr/>
          </p:nvPicPr>
          <p:blipFill>
            <a:blip r:embed="rId2" cstate="print"/>
            <a:stretch>
              <a:fillRect/>
            </a:stretch>
          </p:blipFill>
          <p:spPr>
            <a:xfrm>
              <a:off x="417576" y="1405128"/>
              <a:ext cx="3240786" cy="3434334"/>
            </a:xfrm>
            <a:prstGeom prst="rect">
              <a:avLst/>
            </a:prstGeom>
          </p:spPr>
        </p:pic>
        <p:sp>
          <p:nvSpPr>
            <p:cNvPr id="5" name="object 5"/>
            <p:cNvSpPr/>
            <p:nvPr/>
          </p:nvSpPr>
          <p:spPr>
            <a:xfrm>
              <a:off x="347472" y="1335024"/>
              <a:ext cx="3230880" cy="3424554"/>
            </a:xfrm>
            <a:custGeom>
              <a:avLst/>
              <a:gdLst/>
              <a:ahLst/>
              <a:cxnLst/>
              <a:rect l="l" t="t" r="r" b="b"/>
              <a:pathLst>
                <a:path w="3230879" h="3424554">
                  <a:moveTo>
                    <a:pt x="3230879" y="0"/>
                  </a:moveTo>
                  <a:lnTo>
                    <a:pt x="0" y="0"/>
                  </a:lnTo>
                  <a:lnTo>
                    <a:pt x="0" y="3424428"/>
                  </a:lnTo>
                  <a:lnTo>
                    <a:pt x="3230879" y="3424428"/>
                  </a:lnTo>
                  <a:lnTo>
                    <a:pt x="3230879" y="0"/>
                  </a:lnTo>
                  <a:close/>
                </a:path>
              </a:pathLst>
            </a:custGeom>
            <a:solidFill>
              <a:srgbClr val="FEFEFE"/>
            </a:solidFill>
          </p:spPr>
          <p:txBody>
            <a:bodyPr wrap="square" lIns="0" tIns="0" rIns="0" bIns="0" rtlCol="0"/>
            <a:lstStyle/>
            <a:p/>
          </p:txBody>
        </p:sp>
        <p:sp>
          <p:nvSpPr>
            <p:cNvPr id="6" name="object 6"/>
            <p:cNvSpPr/>
            <p:nvPr/>
          </p:nvSpPr>
          <p:spPr>
            <a:xfrm>
              <a:off x="347472" y="1335024"/>
              <a:ext cx="3230880" cy="3424554"/>
            </a:xfrm>
            <a:custGeom>
              <a:avLst/>
              <a:gdLst/>
              <a:ahLst/>
              <a:cxnLst/>
              <a:rect l="l" t="t" r="r" b="b"/>
              <a:pathLst>
                <a:path w="3230879" h="3424554">
                  <a:moveTo>
                    <a:pt x="0" y="3424428"/>
                  </a:moveTo>
                  <a:lnTo>
                    <a:pt x="3230879" y="3424428"/>
                  </a:lnTo>
                  <a:lnTo>
                    <a:pt x="3230879" y="0"/>
                  </a:lnTo>
                  <a:lnTo>
                    <a:pt x="0" y="0"/>
                  </a:lnTo>
                  <a:lnTo>
                    <a:pt x="0" y="3424428"/>
                  </a:lnTo>
                  <a:close/>
                </a:path>
              </a:pathLst>
            </a:custGeom>
            <a:ln w="9525">
              <a:solidFill>
                <a:srgbClr val="959595"/>
              </a:solidFill>
            </a:ln>
          </p:spPr>
          <p:txBody>
            <a:bodyPr wrap="square" lIns="0" tIns="0" rIns="0" bIns="0" rtlCol="0"/>
            <a:lstStyle/>
            <a:p/>
          </p:txBody>
        </p:sp>
        <p:pic>
          <p:nvPicPr>
            <p:cNvPr id="7" name="object 7"/>
            <p:cNvPicPr/>
            <p:nvPr/>
          </p:nvPicPr>
          <p:blipFill>
            <a:blip r:embed="rId3" cstate="print"/>
            <a:stretch>
              <a:fillRect/>
            </a:stretch>
          </p:blipFill>
          <p:spPr>
            <a:xfrm>
              <a:off x="632460" y="2002536"/>
              <a:ext cx="2646426" cy="2283714"/>
            </a:xfrm>
            <a:prstGeom prst="rect">
              <a:avLst/>
            </a:prstGeom>
          </p:spPr>
        </p:pic>
        <p:sp>
          <p:nvSpPr>
            <p:cNvPr id="8" name="object 8"/>
            <p:cNvSpPr/>
            <p:nvPr/>
          </p:nvSpPr>
          <p:spPr>
            <a:xfrm>
              <a:off x="600456" y="1970532"/>
              <a:ext cx="2636520" cy="2273935"/>
            </a:xfrm>
            <a:custGeom>
              <a:avLst/>
              <a:gdLst/>
              <a:ahLst/>
              <a:cxnLst/>
              <a:rect l="l" t="t" r="r" b="b"/>
              <a:pathLst>
                <a:path w="2636520" h="2273935">
                  <a:moveTo>
                    <a:pt x="2636520" y="0"/>
                  </a:moveTo>
                  <a:lnTo>
                    <a:pt x="0" y="0"/>
                  </a:lnTo>
                  <a:lnTo>
                    <a:pt x="0" y="2273807"/>
                  </a:lnTo>
                  <a:lnTo>
                    <a:pt x="2636520" y="2273807"/>
                  </a:lnTo>
                  <a:lnTo>
                    <a:pt x="2636520" y="0"/>
                  </a:lnTo>
                  <a:close/>
                </a:path>
              </a:pathLst>
            </a:custGeom>
            <a:solidFill>
              <a:srgbClr val="CBFEFE"/>
            </a:solidFill>
          </p:spPr>
          <p:txBody>
            <a:bodyPr wrap="square" lIns="0" tIns="0" rIns="0" bIns="0" rtlCol="0"/>
            <a:lstStyle/>
            <a:p/>
          </p:txBody>
        </p:sp>
        <p:sp>
          <p:nvSpPr>
            <p:cNvPr id="9" name="object 9"/>
            <p:cNvSpPr/>
            <p:nvPr/>
          </p:nvSpPr>
          <p:spPr>
            <a:xfrm>
              <a:off x="600456" y="1970532"/>
              <a:ext cx="2636520" cy="2273935"/>
            </a:xfrm>
            <a:custGeom>
              <a:avLst/>
              <a:gdLst/>
              <a:ahLst/>
              <a:cxnLst/>
              <a:rect l="l" t="t" r="r" b="b"/>
              <a:pathLst>
                <a:path w="2636520" h="2273935">
                  <a:moveTo>
                    <a:pt x="0" y="2273807"/>
                  </a:moveTo>
                  <a:lnTo>
                    <a:pt x="2636520" y="2273807"/>
                  </a:lnTo>
                  <a:lnTo>
                    <a:pt x="2636520" y="0"/>
                  </a:lnTo>
                  <a:lnTo>
                    <a:pt x="0" y="0"/>
                  </a:lnTo>
                  <a:lnTo>
                    <a:pt x="0" y="2273807"/>
                  </a:lnTo>
                  <a:close/>
                </a:path>
              </a:pathLst>
            </a:custGeom>
            <a:ln w="9525">
              <a:solidFill>
                <a:srgbClr val="68BD27"/>
              </a:solidFill>
            </a:ln>
          </p:spPr>
          <p:txBody>
            <a:bodyPr wrap="square" lIns="0" tIns="0" rIns="0" bIns="0" rtlCol="0"/>
            <a:lstStyle/>
            <a:p/>
          </p:txBody>
        </p:sp>
      </p:grpSp>
      <p:sp>
        <p:nvSpPr>
          <p:cNvPr id="10" name="object 10"/>
          <p:cNvSpPr txBox="1"/>
          <p:nvPr/>
        </p:nvSpPr>
        <p:spPr>
          <a:xfrm>
            <a:off x="716203" y="1499615"/>
            <a:ext cx="829944" cy="432434"/>
          </a:xfrm>
          <a:prstGeom prst="rect">
            <a:avLst/>
          </a:prstGeom>
          <a:solidFill>
            <a:srgbClr val="2CB5B2"/>
          </a:solidFill>
        </p:spPr>
        <p:txBody>
          <a:bodyPr vert="horz" wrap="square" lIns="0" tIns="0" rIns="0" bIns="0" rtlCol="0">
            <a:spAutoFit/>
          </a:bodyPr>
          <a:lstStyle/>
          <a:p>
            <a:pPr marL="73660">
              <a:lnSpc>
                <a:spcPts val="1060"/>
              </a:lnSpc>
            </a:pPr>
            <a:r>
              <a:rPr sz="900" b="1" spc="-10" dirty="0">
                <a:solidFill>
                  <a:srgbClr val="FEFEFE"/>
                </a:solidFill>
                <a:latin typeface="Arial" panose="020B0604020202020204"/>
                <a:cs typeface="Arial" panose="020B0604020202020204"/>
              </a:rPr>
              <a:t>u_dhm_core</a:t>
            </a:r>
            <a:endParaRPr sz="900">
              <a:latin typeface="Arial" panose="020B0604020202020204"/>
              <a:cs typeface="Arial" panose="020B0604020202020204"/>
            </a:endParaRPr>
          </a:p>
          <a:p>
            <a:pPr marL="280670" marR="43180" indent="-231775">
              <a:lnSpc>
                <a:spcPct val="100000"/>
              </a:lnSpc>
              <a:spcBef>
                <a:spcPts val="155"/>
              </a:spcBef>
            </a:pPr>
            <a:r>
              <a:rPr sz="900" b="1" dirty="0">
                <a:solidFill>
                  <a:srgbClr val="FEFEFE"/>
                </a:solidFill>
                <a:latin typeface="Arial" panose="020B0604020202020204"/>
                <a:cs typeface="Arial" panose="020B0604020202020204"/>
              </a:rPr>
              <a:t>(1.08V</a:t>
            </a:r>
            <a:r>
              <a:rPr sz="900" b="1" spc="-15" dirty="0">
                <a:solidFill>
                  <a:srgbClr val="FEFEFE"/>
                </a:solidFill>
                <a:latin typeface="Arial" panose="020B0604020202020204"/>
                <a:cs typeface="Arial" panose="020B0604020202020204"/>
              </a:rPr>
              <a:t> </a:t>
            </a:r>
            <a:r>
              <a:rPr sz="900" b="1" dirty="0">
                <a:solidFill>
                  <a:srgbClr val="FEFEFE"/>
                </a:solidFill>
                <a:latin typeface="Arial" panose="020B0604020202020204"/>
                <a:cs typeface="Arial" panose="020B0604020202020204"/>
              </a:rPr>
              <a:t>/</a:t>
            </a:r>
            <a:r>
              <a:rPr sz="900" b="1" spc="-10" dirty="0">
                <a:solidFill>
                  <a:srgbClr val="FEFEFE"/>
                </a:solidFill>
                <a:latin typeface="Arial" panose="020B0604020202020204"/>
                <a:cs typeface="Arial" panose="020B0604020202020204"/>
              </a:rPr>
              <a:t> </a:t>
            </a:r>
            <a:r>
              <a:rPr sz="900" b="1" dirty="0">
                <a:solidFill>
                  <a:srgbClr val="FEFEFE"/>
                </a:solidFill>
                <a:latin typeface="Arial" panose="020B0604020202020204"/>
                <a:cs typeface="Arial" panose="020B0604020202020204"/>
              </a:rPr>
              <a:t>0.7V</a:t>
            </a:r>
            <a:r>
              <a:rPr sz="900" b="1" spc="-15" dirty="0">
                <a:solidFill>
                  <a:srgbClr val="FEFEFE"/>
                </a:solidFill>
                <a:latin typeface="Arial" panose="020B0604020202020204"/>
                <a:cs typeface="Arial" panose="020B0604020202020204"/>
              </a:rPr>
              <a:t> </a:t>
            </a:r>
            <a:r>
              <a:rPr sz="900" b="1" spc="-50" dirty="0">
                <a:solidFill>
                  <a:srgbClr val="FEFEFE"/>
                </a:solidFill>
                <a:latin typeface="Arial" panose="020B0604020202020204"/>
                <a:cs typeface="Arial" panose="020B0604020202020204"/>
              </a:rPr>
              <a:t>/</a:t>
            </a:r>
            <a:r>
              <a:rPr sz="900" b="1" spc="-20" dirty="0">
                <a:solidFill>
                  <a:srgbClr val="FEFEFE"/>
                </a:solidFill>
                <a:latin typeface="Arial" panose="020B0604020202020204"/>
                <a:cs typeface="Arial" panose="020B0604020202020204"/>
              </a:rPr>
              <a:t> OFF)</a:t>
            </a:r>
            <a:endParaRPr sz="900">
              <a:latin typeface="Arial" panose="020B0604020202020204"/>
              <a:cs typeface="Arial" panose="020B0604020202020204"/>
            </a:endParaRPr>
          </a:p>
        </p:txBody>
      </p:sp>
      <p:sp>
        <p:nvSpPr>
          <p:cNvPr id="11" name="object 11"/>
          <p:cNvSpPr txBox="1"/>
          <p:nvPr/>
        </p:nvSpPr>
        <p:spPr>
          <a:xfrm>
            <a:off x="460705" y="855853"/>
            <a:ext cx="688975" cy="295275"/>
          </a:xfrm>
          <a:prstGeom prst="rect">
            <a:avLst/>
          </a:prstGeom>
          <a:solidFill>
            <a:srgbClr val="D37600"/>
          </a:solidFill>
        </p:spPr>
        <p:txBody>
          <a:bodyPr vert="horz" wrap="square" lIns="0" tIns="0" rIns="0" bIns="0" rtlCol="0">
            <a:spAutoFit/>
          </a:bodyPr>
          <a:lstStyle/>
          <a:p>
            <a:pPr marL="100965">
              <a:lnSpc>
                <a:spcPts val="1060"/>
              </a:lnSpc>
            </a:pPr>
            <a:r>
              <a:rPr sz="900" b="1" spc="-10" dirty="0">
                <a:solidFill>
                  <a:srgbClr val="FEFEFE"/>
                </a:solidFill>
                <a:latin typeface="Arial" panose="020B0604020202020204"/>
                <a:cs typeface="Arial" panose="020B0604020202020204"/>
              </a:rPr>
              <a:t>dhm_top</a:t>
            </a:r>
            <a:endParaRPr sz="900">
              <a:latin typeface="Arial" panose="020B0604020202020204"/>
              <a:cs typeface="Arial" panose="020B0604020202020204"/>
            </a:endParaRPr>
          </a:p>
          <a:p>
            <a:pPr marL="155575">
              <a:lnSpc>
                <a:spcPct val="100000"/>
              </a:lnSpc>
              <a:spcBef>
                <a:spcPts val="155"/>
              </a:spcBef>
            </a:pPr>
            <a:r>
              <a:rPr sz="900" b="1" spc="-10" dirty="0">
                <a:solidFill>
                  <a:srgbClr val="FEFEFE"/>
                </a:solidFill>
                <a:latin typeface="Arial" panose="020B0604020202020204"/>
                <a:cs typeface="Arial" panose="020B0604020202020204"/>
              </a:rPr>
              <a:t>(1.08V)</a:t>
            </a:r>
            <a:endParaRPr sz="900">
              <a:latin typeface="Arial" panose="020B0604020202020204"/>
              <a:cs typeface="Arial" panose="020B0604020202020204"/>
            </a:endParaRPr>
          </a:p>
        </p:txBody>
      </p:sp>
      <p:sp>
        <p:nvSpPr>
          <p:cNvPr id="12" name="object 12"/>
          <p:cNvSpPr txBox="1"/>
          <p:nvPr/>
        </p:nvSpPr>
        <p:spPr>
          <a:xfrm>
            <a:off x="687578" y="3908043"/>
            <a:ext cx="2636520" cy="248920"/>
          </a:xfrm>
          <a:prstGeom prst="rect">
            <a:avLst/>
          </a:prstGeom>
          <a:solidFill>
            <a:srgbClr val="EF8600"/>
          </a:solidFill>
          <a:ln w="3175">
            <a:solidFill>
              <a:srgbClr val="B76600"/>
            </a:solidFill>
          </a:ln>
        </p:spPr>
        <p:txBody>
          <a:bodyPr vert="horz" wrap="square" lIns="0" tIns="29845" rIns="0" bIns="0" rtlCol="0">
            <a:spAutoFit/>
          </a:bodyPr>
          <a:lstStyle/>
          <a:p>
            <a:pPr marL="91440">
              <a:lnSpc>
                <a:spcPct val="100000"/>
              </a:lnSpc>
              <a:spcBef>
                <a:spcPts val="235"/>
              </a:spcBef>
            </a:pPr>
            <a:r>
              <a:rPr sz="900" spc="-10" dirty="0">
                <a:solidFill>
                  <a:srgbClr val="34352F"/>
                </a:solidFill>
                <a:latin typeface="Calibri" panose="020F0502020204030204"/>
                <a:cs typeface="Calibri" panose="020F0502020204030204"/>
              </a:rPr>
              <a:t>u_dhm_sleep_logic</a:t>
            </a:r>
            <a:endParaRPr sz="900">
              <a:latin typeface="Calibri" panose="020F0502020204030204"/>
              <a:cs typeface="Calibri" panose="020F0502020204030204"/>
            </a:endParaRPr>
          </a:p>
        </p:txBody>
      </p:sp>
      <p:sp>
        <p:nvSpPr>
          <p:cNvPr id="13" name="object 13"/>
          <p:cNvSpPr/>
          <p:nvPr/>
        </p:nvSpPr>
        <p:spPr>
          <a:xfrm>
            <a:off x="385825" y="788416"/>
            <a:ext cx="3295015" cy="3493135"/>
          </a:xfrm>
          <a:custGeom>
            <a:avLst/>
            <a:gdLst/>
            <a:ahLst/>
            <a:cxnLst/>
            <a:rect l="l" t="t" r="r" b="b"/>
            <a:pathLst>
              <a:path w="3295015" h="3493135">
                <a:moveTo>
                  <a:pt x="0" y="3493008"/>
                </a:moveTo>
                <a:lnTo>
                  <a:pt x="3294888" y="3493008"/>
                </a:lnTo>
                <a:lnTo>
                  <a:pt x="3294888" y="0"/>
                </a:lnTo>
                <a:lnTo>
                  <a:pt x="0" y="0"/>
                </a:lnTo>
                <a:lnTo>
                  <a:pt x="0" y="3493008"/>
                </a:lnTo>
                <a:close/>
              </a:path>
            </a:pathLst>
          </a:custGeom>
          <a:ln w="12700">
            <a:solidFill>
              <a:srgbClr val="6F2F9F"/>
            </a:solidFill>
            <a:prstDash val="sysDash"/>
          </a:ln>
        </p:spPr>
        <p:txBody>
          <a:bodyPr wrap="square" lIns="0" tIns="0" rIns="0" bIns="0" rtlCol="0"/>
          <a:lstStyle/>
          <a:p/>
        </p:txBody>
      </p:sp>
      <p:sp>
        <p:nvSpPr>
          <p:cNvPr id="14" name="object 14"/>
          <p:cNvSpPr txBox="1"/>
          <p:nvPr/>
        </p:nvSpPr>
        <p:spPr>
          <a:xfrm>
            <a:off x="388975" y="562991"/>
            <a:ext cx="337185" cy="254000"/>
          </a:xfrm>
          <a:prstGeom prst="rect">
            <a:avLst/>
          </a:prstGeom>
        </p:spPr>
        <p:txBody>
          <a:bodyPr vert="horz" wrap="square" lIns="0" tIns="12700" rIns="0" bIns="0" rtlCol="0">
            <a:spAutoFit/>
          </a:bodyPr>
          <a:lstStyle/>
          <a:p>
            <a:pPr marL="12700">
              <a:lnSpc>
                <a:spcPct val="100000"/>
              </a:lnSpc>
              <a:spcBef>
                <a:spcPts val="100"/>
              </a:spcBef>
            </a:pPr>
            <a:r>
              <a:rPr sz="1500" i="1" spc="-25" dirty="0">
                <a:solidFill>
                  <a:srgbClr val="6F2F9F"/>
                </a:solidFill>
                <a:latin typeface="Calibri" panose="020F0502020204030204"/>
                <a:cs typeface="Calibri" panose="020F0502020204030204"/>
              </a:rPr>
              <a:t>TOP</a:t>
            </a:r>
            <a:endParaRPr sz="1500">
              <a:latin typeface="Calibri" panose="020F0502020204030204"/>
              <a:cs typeface="Calibri" panose="020F0502020204030204"/>
            </a:endParaRPr>
          </a:p>
        </p:txBody>
      </p:sp>
      <p:sp>
        <p:nvSpPr>
          <p:cNvPr id="15" name="object 15"/>
          <p:cNvSpPr txBox="1"/>
          <p:nvPr/>
        </p:nvSpPr>
        <p:spPr>
          <a:xfrm>
            <a:off x="676097" y="1181353"/>
            <a:ext cx="318135" cy="254000"/>
          </a:xfrm>
          <a:prstGeom prst="rect">
            <a:avLst/>
          </a:prstGeom>
        </p:spPr>
        <p:txBody>
          <a:bodyPr vert="horz" wrap="square" lIns="0" tIns="12700" rIns="0" bIns="0" rtlCol="0">
            <a:spAutoFit/>
          </a:bodyPr>
          <a:lstStyle/>
          <a:p>
            <a:pPr marL="12700">
              <a:lnSpc>
                <a:spcPct val="100000"/>
              </a:lnSpc>
              <a:spcBef>
                <a:spcPts val="100"/>
              </a:spcBef>
            </a:pPr>
            <a:r>
              <a:rPr sz="1500" i="1" spc="-25" dirty="0">
                <a:solidFill>
                  <a:srgbClr val="FE6500"/>
                </a:solidFill>
                <a:latin typeface="Calibri" panose="020F0502020204030204"/>
                <a:cs typeface="Calibri" panose="020F0502020204030204"/>
              </a:rPr>
              <a:t>pd1</a:t>
            </a:r>
            <a:endParaRPr sz="1500">
              <a:latin typeface="Calibri" panose="020F0502020204030204"/>
              <a:cs typeface="Calibri" panose="020F0502020204030204"/>
            </a:endParaRPr>
          </a:p>
        </p:txBody>
      </p:sp>
      <p:grpSp>
        <p:nvGrpSpPr>
          <p:cNvPr id="16" name="object 16"/>
          <p:cNvGrpSpPr/>
          <p:nvPr/>
        </p:nvGrpSpPr>
        <p:grpSpPr>
          <a:xfrm>
            <a:off x="643128" y="1033970"/>
            <a:ext cx="2724150" cy="2751455"/>
            <a:chOff x="568198" y="1547050"/>
            <a:chExt cx="2724150" cy="2751455"/>
          </a:xfrm>
        </p:grpSpPr>
        <p:sp>
          <p:nvSpPr>
            <p:cNvPr id="17" name="object 17"/>
            <p:cNvSpPr/>
            <p:nvPr/>
          </p:nvSpPr>
          <p:spPr>
            <a:xfrm>
              <a:off x="574548" y="1944624"/>
              <a:ext cx="2711450" cy="2346960"/>
            </a:xfrm>
            <a:custGeom>
              <a:avLst/>
              <a:gdLst/>
              <a:ahLst/>
              <a:cxnLst/>
              <a:rect l="l" t="t" r="r" b="b"/>
              <a:pathLst>
                <a:path w="2711450" h="2346960">
                  <a:moveTo>
                    <a:pt x="0" y="2346960"/>
                  </a:moveTo>
                  <a:lnTo>
                    <a:pt x="2711195" y="2346960"/>
                  </a:lnTo>
                  <a:lnTo>
                    <a:pt x="2711195" y="0"/>
                  </a:lnTo>
                  <a:lnTo>
                    <a:pt x="0" y="0"/>
                  </a:lnTo>
                  <a:lnTo>
                    <a:pt x="0" y="2346960"/>
                  </a:lnTo>
                  <a:close/>
                </a:path>
              </a:pathLst>
            </a:custGeom>
            <a:ln w="12699">
              <a:solidFill>
                <a:srgbClr val="FE6500"/>
              </a:solidFill>
              <a:prstDash val="sysDash"/>
            </a:ln>
          </p:spPr>
          <p:txBody>
            <a:bodyPr wrap="square" lIns="0" tIns="0" rIns="0" bIns="0" rtlCol="0"/>
            <a:lstStyle/>
            <a:p/>
          </p:txBody>
        </p:sp>
        <p:sp>
          <p:nvSpPr>
            <p:cNvPr id="18" name="object 18"/>
            <p:cNvSpPr/>
            <p:nvPr/>
          </p:nvSpPr>
          <p:spPr>
            <a:xfrm>
              <a:off x="1197102" y="1561338"/>
              <a:ext cx="1082040" cy="1356360"/>
            </a:xfrm>
            <a:custGeom>
              <a:avLst/>
              <a:gdLst/>
              <a:ahLst/>
              <a:cxnLst/>
              <a:rect l="l" t="t" r="r" b="b"/>
              <a:pathLst>
                <a:path w="1082039" h="1356360">
                  <a:moveTo>
                    <a:pt x="0" y="0"/>
                  </a:moveTo>
                  <a:lnTo>
                    <a:pt x="0" y="298703"/>
                  </a:lnTo>
                </a:path>
                <a:path w="1082039" h="1356360">
                  <a:moveTo>
                    <a:pt x="1069848" y="960119"/>
                  </a:moveTo>
                  <a:lnTo>
                    <a:pt x="1082040" y="1356360"/>
                  </a:lnTo>
                </a:path>
              </a:pathLst>
            </a:custGeom>
            <a:ln w="28575">
              <a:solidFill>
                <a:srgbClr val="34352F"/>
              </a:solidFill>
            </a:ln>
          </p:spPr>
          <p:txBody>
            <a:bodyPr wrap="square" lIns="0" tIns="0" rIns="0" bIns="0" rtlCol="0"/>
            <a:lstStyle/>
            <a:p/>
          </p:txBody>
        </p:sp>
      </p:grpSp>
      <p:sp>
        <p:nvSpPr>
          <p:cNvPr id="21" name="object 21"/>
          <p:cNvSpPr txBox="1"/>
          <p:nvPr/>
        </p:nvSpPr>
        <p:spPr>
          <a:xfrm>
            <a:off x="2431160" y="2120468"/>
            <a:ext cx="520700" cy="208915"/>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34352F"/>
                </a:solidFill>
                <a:latin typeface="Calibri" panose="020F0502020204030204"/>
                <a:cs typeface="Calibri" panose="020F0502020204030204"/>
              </a:rPr>
              <a:t>VDDLS1</a:t>
            </a:r>
            <a:endParaRPr sz="1200">
              <a:latin typeface="Calibri" panose="020F0502020204030204"/>
              <a:cs typeface="Calibri" panose="020F0502020204030204"/>
            </a:endParaRPr>
          </a:p>
        </p:txBody>
      </p:sp>
      <p:grpSp>
        <p:nvGrpSpPr>
          <p:cNvPr id="22" name="object 22"/>
          <p:cNvGrpSpPr/>
          <p:nvPr/>
        </p:nvGrpSpPr>
        <p:grpSpPr>
          <a:xfrm>
            <a:off x="1831847" y="1556512"/>
            <a:ext cx="627380" cy="575310"/>
            <a:chOff x="1756917" y="2069592"/>
            <a:chExt cx="627380" cy="575310"/>
          </a:xfrm>
        </p:grpSpPr>
        <p:pic>
          <p:nvPicPr>
            <p:cNvPr id="23" name="object 23"/>
            <p:cNvPicPr/>
            <p:nvPr/>
          </p:nvPicPr>
          <p:blipFill>
            <a:blip r:embed="rId4" cstate="print"/>
            <a:stretch>
              <a:fillRect/>
            </a:stretch>
          </p:blipFill>
          <p:spPr>
            <a:xfrm>
              <a:off x="2092451" y="2279904"/>
              <a:ext cx="286512" cy="284988"/>
            </a:xfrm>
            <a:prstGeom prst="rect">
              <a:avLst/>
            </a:prstGeom>
          </p:spPr>
        </p:pic>
        <p:sp>
          <p:nvSpPr>
            <p:cNvPr id="24" name="object 24"/>
            <p:cNvSpPr/>
            <p:nvPr/>
          </p:nvSpPr>
          <p:spPr>
            <a:xfrm>
              <a:off x="2092451" y="2279904"/>
              <a:ext cx="287020" cy="285115"/>
            </a:xfrm>
            <a:custGeom>
              <a:avLst/>
              <a:gdLst/>
              <a:ahLst/>
              <a:cxnLst/>
              <a:rect l="l" t="t" r="r" b="b"/>
              <a:pathLst>
                <a:path w="287019" h="285114">
                  <a:moveTo>
                    <a:pt x="0" y="142494"/>
                  </a:moveTo>
                  <a:lnTo>
                    <a:pt x="7303" y="97438"/>
                  </a:lnTo>
                  <a:lnTo>
                    <a:pt x="27639" y="58320"/>
                  </a:lnTo>
                  <a:lnTo>
                    <a:pt x="58649" y="27480"/>
                  </a:lnTo>
                  <a:lnTo>
                    <a:pt x="97974" y="7260"/>
                  </a:lnTo>
                  <a:lnTo>
                    <a:pt x="143256" y="0"/>
                  </a:lnTo>
                  <a:lnTo>
                    <a:pt x="188537" y="7260"/>
                  </a:lnTo>
                  <a:lnTo>
                    <a:pt x="227862" y="27480"/>
                  </a:lnTo>
                  <a:lnTo>
                    <a:pt x="258872" y="58320"/>
                  </a:lnTo>
                  <a:lnTo>
                    <a:pt x="279208" y="97438"/>
                  </a:lnTo>
                  <a:lnTo>
                    <a:pt x="286512" y="142494"/>
                  </a:lnTo>
                  <a:lnTo>
                    <a:pt x="279208" y="187549"/>
                  </a:lnTo>
                  <a:lnTo>
                    <a:pt x="258872" y="226667"/>
                  </a:lnTo>
                  <a:lnTo>
                    <a:pt x="227862" y="257507"/>
                  </a:lnTo>
                  <a:lnTo>
                    <a:pt x="188537" y="277727"/>
                  </a:lnTo>
                  <a:lnTo>
                    <a:pt x="143256" y="284988"/>
                  </a:lnTo>
                  <a:lnTo>
                    <a:pt x="97974" y="277727"/>
                  </a:lnTo>
                  <a:lnTo>
                    <a:pt x="58649" y="257507"/>
                  </a:lnTo>
                  <a:lnTo>
                    <a:pt x="27639" y="226667"/>
                  </a:lnTo>
                  <a:lnTo>
                    <a:pt x="7303" y="187549"/>
                  </a:lnTo>
                  <a:lnTo>
                    <a:pt x="0" y="142494"/>
                  </a:lnTo>
                  <a:close/>
                </a:path>
              </a:pathLst>
            </a:custGeom>
            <a:ln w="9525">
              <a:solidFill>
                <a:srgbClr val="007F00"/>
              </a:solidFill>
            </a:ln>
          </p:spPr>
          <p:txBody>
            <a:bodyPr wrap="square" lIns="0" tIns="0" rIns="0" bIns="0" rtlCol="0"/>
            <a:lstStyle/>
            <a:p/>
          </p:txBody>
        </p:sp>
        <p:sp>
          <p:nvSpPr>
            <p:cNvPr id="25" name="object 25"/>
            <p:cNvSpPr/>
            <p:nvPr/>
          </p:nvSpPr>
          <p:spPr>
            <a:xfrm>
              <a:off x="2273807" y="2503932"/>
              <a:ext cx="0" cy="135890"/>
            </a:xfrm>
            <a:custGeom>
              <a:avLst/>
              <a:gdLst/>
              <a:ahLst/>
              <a:cxnLst/>
              <a:rect l="l" t="t" r="r" b="b"/>
              <a:pathLst>
                <a:path h="135889">
                  <a:moveTo>
                    <a:pt x="0" y="0"/>
                  </a:moveTo>
                  <a:lnTo>
                    <a:pt x="0" y="135636"/>
                  </a:lnTo>
                </a:path>
              </a:pathLst>
            </a:custGeom>
            <a:ln w="9525">
              <a:solidFill>
                <a:srgbClr val="34352F"/>
              </a:solidFill>
            </a:ln>
          </p:spPr>
          <p:txBody>
            <a:bodyPr wrap="square" lIns="0" tIns="0" rIns="0" bIns="0" rtlCol="0"/>
            <a:lstStyle/>
            <a:p/>
          </p:txBody>
        </p:sp>
        <p:sp>
          <p:nvSpPr>
            <p:cNvPr id="26" name="object 26"/>
            <p:cNvSpPr/>
            <p:nvPr/>
          </p:nvSpPr>
          <p:spPr>
            <a:xfrm>
              <a:off x="2194559" y="2336292"/>
              <a:ext cx="91440" cy="180340"/>
            </a:xfrm>
            <a:custGeom>
              <a:avLst/>
              <a:gdLst/>
              <a:ahLst/>
              <a:cxnLst/>
              <a:rect l="l" t="t" r="r" b="b"/>
              <a:pathLst>
                <a:path w="91439" h="180339">
                  <a:moveTo>
                    <a:pt x="0" y="0"/>
                  </a:moveTo>
                  <a:lnTo>
                    <a:pt x="91439" y="179831"/>
                  </a:lnTo>
                </a:path>
              </a:pathLst>
            </a:custGeom>
            <a:ln w="57150">
              <a:solidFill>
                <a:srgbClr val="34352F"/>
              </a:solidFill>
            </a:ln>
          </p:spPr>
          <p:txBody>
            <a:bodyPr wrap="square" lIns="0" tIns="0" rIns="0" bIns="0" rtlCol="0"/>
            <a:lstStyle/>
            <a:p/>
          </p:txBody>
        </p:sp>
        <p:sp>
          <p:nvSpPr>
            <p:cNvPr id="27" name="object 27"/>
            <p:cNvSpPr/>
            <p:nvPr/>
          </p:nvSpPr>
          <p:spPr>
            <a:xfrm>
              <a:off x="1756917" y="2400046"/>
              <a:ext cx="480695" cy="76200"/>
            </a:xfrm>
            <a:custGeom>
              <a:avLst/>
              <a:gdLst/>
              <a:ahLst/>
              <a:cxnLst/>
              <a:rect l="l" t="t" r="r" b="b"/>
              <a:pathLst>
                <a:path w="480694" h="76200">
                  <a:moveTo>
                    <a:pt x="9906" y="30480"/>
                  </a:moveTo>
                  <a:lnTo>
                    <a:pt x="2920" y="30480"/>
                  </a:lnTo>
                  <a:lnTo>
                    <a:pt x="0" y="33274"/>
                  </a:lnTo>
                  <a:lnTo>
                    <a:pt x="121" y="40386"/>
                  </a:lnTo>
                  <a:lnTo>
                    <a:pt x="2793" y="43180"/>
                  </a:lnTo>
                  <a:lnTo>
                    <a:pt x="9906" y="43180"/>
                  </a:lnTo>
                  <a:lnTo>
                    <a:pt x="12700" y="40386"/>
                  </a:lnTo>
                  <a:lnTo>
                    <a:pt x="12578" y="33274"/>
                  </a:lnTo>
                  <a:lnTo>
                    <a:pt x="9906" y="30480"/>
                  </a:lnTo>
                  <a:close/>
                </a:path>
                <a:path w="480694" h="76200">
                  <a:moveTo>
                    <a:pt x="35306" y="30606"/>
                  </a:moveTo>
                  <a:lnTo>
                    <a:pt x="28320" y="30606"/>
                  </a:lnTo>
                  <a:lnTo>
                    <a:pt x="25400" y="33401"/>
                  </a:lnTo>
                  <a:lnTo>
                    <a:pt x="25400" y="40386"/>
                  </a:lnTo>
                  <a:lnTo>
                    <a:pt x="28193" y="43306"/>
                  </a:lnTo>
                  <a:lnTo>
                    <a:pt x="35306" y="43306"/>
                  </a:lnTo>
                  <a:lnTo>
                    <a:pt x="38100" y="40386"/>
                  </a:lnTo>
                  <a:lnTo>
                    <a:pt x="38100" y="33401"/>
                  </a:lnTo>
                  <a:lnTo>
                    <a:pt x="35306" y="30606"/>
                  </a:lnTo>
                  <a:close/>
                </a:path>
                <a:path w="480694" h="76200">
                  <a:moveTo>
                    <a:pt x="60706" y="30606"/>
                  </a:moveTo>
                  <a:lnTo>
                    <a:pt x="53720" y="30606"/>
                  </a:lnTo>
                  <a:lnTo>
                    <a:pt x="50800" y="33528"/>
                  </a:lnTo>
                  <a:lnTo>
                    <a:pt x="50800" y="40512"/>
                  </a:lnTo>
                  <a:lnTo>
                    <a:pt x="53593" y="43306"/>
                  </a:lnTo>
                  <a:lnTo>
                    <a:pt x="60706" y="43306"/>
                  </a:lnTo>
                  <a:lnTo>
                    <a:pt x="63500" y="40512"/>
                  </a:lnTo>
                  <a:lnTo>
                    <a:pt x="63500" y="33528"/>
                  </a:lnTo>
                  <a:lnTo>
                    <a:pt x="60706" y="30606"/>
                  </a:lnTo>
                  <a:close/>
                </a:path>
                <a:path w="480694" h="76200">
                  <a:moveTo>
                    <a:pt x="86106" y="30734"/>
                  </a:moveTo>
                  <a:lnTo>
                    <a:pt x="79120" y="30734"/>
                  </a:lnTo>
                  <a:lnTo>
                    <a:pt x="76200" y="33528"/>
                  </a:lnTo>
                  <a:lnTo>
                    <a:pt x="76200" y="40512"/>
                  </a:lnTo>
                  <a:lnTo>
                    <a:pt x="79120" y="43434"/>
                  </a:lnTo>
                  <a:lnTo>
                    <a:pt x="86106" y="43434"/>
                  </a:lnTo>
                  <a:lnTo>
                    <a:pt x="88900" y="40640"/>
                  </a:lnTo>
                  <a:lnTo>
                    <a:pt x="88900" y="33528"/>
                  </a:lnTo>
                  <a:lnTo>
                    <a:pt x="86106" y="30734"/>
                  </a:lnTo>
                  <a:close/>
                </a:path>
                <a:path w="480694" h="76200">
                  <a:moveTo>
                    <a:pt x="111506" y="30861"/>
                  </a:moveTo>
                  <a:lnTo>
                    <a:pt x="104393" y="30861"/>
                  </a:lnTo>
                  <a:lnTo>
                    <a:pt x="101600" y="33655"/>
                  </a:lnTo>
                  <a:lnTo>
                    <a:pt x="101600" y="40640"/>
                  </a:lnTo>
                  <a:lnTo>
                    <a:pt x="104653" y="43561"/>
                  </a:lnTo>
                  <a:lnTo>
                    <a:pt x="111506" y="43561"/>
                  </a:lnTo>
                  <a:lnTo>
                    <a:pt x="114300" y="40640"/>
                  </a:lnTo>
                  <a:lnTo>
                    <a:pt x="114426" y="33655"/>
                  </a:lnTo>
                  <a:lnTo>
                    <a:pt x="111506" y="30861"/>
                  </a:lnTo>
                  <a:close/>
                </a:path>
                <a:path w="480694" h="76200">
                  <a:moveTo>
                    <a:pt x="136906" y="30861"/>
                  </a:moveTo>
                  <a:lnTo>
                    <a:pt x="129920" y="30861"/>
                  </a:lnTo>
                  <a:lnTo>
                    <a:pt x="127124" y="33781"/>
                  </a:lnTo>
                  <a:lnTo>
                    <a:pt x="127000" y="40767"/>
                  </a:lnTo>
                  <a:lnTo>
                    <a:pt x="129920" y="43561"/>
                  </a:lnTo>
                  <a:lnTo>
                    <a:pt x="136906" y="43561"/>
                  </a:lnTo>
                  <a:lnTo>
                    <a:pt x="139826" y="40767"/>
                  </a:lnTo>
                  <a:lnTo>
                    <a:pt x="139826" y="33781"/>
                  </a:lnTo>
                  <a:lnTo>
                    <a:pt x="136906" y="30861"/>
                  </a:lnTo>
                  <a:close/>
                </a:path>
                <a:path w="480694" h="76200">
                  <a:moveTo>
                    <a:pt x="162306" y="30987"/>
                  </a:moveTo>
                  <a:lnTo>
                    <a:pt x="155320" y="30987"/>
                  </a:lnTo>
                  <a:lnTo>
                    <a:pt x="152526" y="33781"/>
                  </a:lnTo>
                  <a:lnTo>
                    <a:pt x="152648" y="40893"/>
                  </a:lnTo>
                  <a:lnTo>
                    <a:pt x="155320" y="43687"/>
                  </a:lnTo>
                  <a:lnTo>
                    <a:pt x="162306" y="43687"/>
                  </a:lnTo>
                  <a:lnTo>
                    <a:pt x="165226" y="40893"/>
                  </a:lnTo>
                  <a:lnTo>
                    <a:pt x="165226" y="33781"/>
                  </a:lnTo>
                  <a:lnTo>
                    <a:pt x="162306" y="30987"/>
                  </a:lnTo>
                  <a:close/>
                </a:path>
                <a:path w="480694" h="76200">
                  <a:moveTo>
                    <a:pt x="184276" y="30987"/>
                  </a:moveTo>
                  <a:lnTo>
                    <a:pt x="180720" y="30987"/>
                  </a:lnTo>
                  <a:lnTo>
                    <a:pt x="177926" y="33909"/>
                  </a:lnTo>
                  <a:lnTo>
                    <a:pt x="177926" y="40893"/>
                  </a:lnTo>
                  <a:lnTo>
                    <a:pt x="180720" y="43687"/>
                  </a:lnTo>
                  <a:lnTo>
                    <a:pt x="184276" y="43687"/>
                  </a:lnTo>
                  <a:lnTo>
                    <a:pt x="187706" y="43815"/>
                  </a:lnTo>
                  <a:lnTo>
                    <a:pt x="190626" y="40893"/>
                  </a:lnTo>
                  <a:lnTo>
                    <a:pt x="190626" y="33909"/>
                  </a:lnTo>
                  <a:lnTo>
                    <a:pt x="187832" y="31115"/>
                  </a:lnTo>
                  <a:lnTo>
                    <a:pt x="184276" y="30987"/>
                  </a:lnTo>
                  <a:close/>
                </a:path>
                <a:path w="480694" h="76200">
                  <a:moveTo>
                    <a:pt x="213232" y="31115"/>
                  </a:moveTo>
                  <a:lnTo>
                    <a:pt x="206120" y="31115"/>
                  </a:lnTo>
                  <a:lnTo>
                    <a:pt x="203326" y="34036"/>
                  </a:lnTo>
                  <a:lnTo>
                    <a:pt x="203326" y="41021"/>
                  </a:lnTo>
                  <a:lnTo>
                    <a:pt x="206120" y="43815"/>
                  </a:lnTo>
                  <a:lnTo>
                    <a:pt x="213106" y="43815"/>
                  </a:lnTo>
                  <a:lnTo>
                    <a:pt x="216026" y="41021"/>
                  </a:lnTo>
                  <a:lnTo>
                    <a:pt x="216026" y="34036"/>
                  </a:lnTo>
                  <a:lnTo>
                    <a:pt x="213232" y="31115"/>
                  </a:lnTo>
                  <a:close/>
                </a:path>
                <a:path w="480694" h="76200">
                  <a:moveTo>
                    <a:pt x="238632" y="31242"/>
                  </a:moveTo>
                  <a:lnTo>
                    <a:pt x="231520" y="31242"/>
                  </a:lnTo>
                  <a:lnTo>
                    <a:pt x="228726" y="34036"/>
                  </a:lnTo>
                  <a:lnTo>
                    <a:pt x="228848" y="41148"/>
                  </a:lnTo>
                  <a:lnTo>
                    <a:pt x="231520" y="43942"/>
                  </a:lnTo>
                  <a:lnTo>
                    <a:pt x="238506" y="43942"/>
                  </a:lnTo>
                  <a:lnTo>
                    <a:pt x="241426" y="41148"/>
                  </a:lnTo>
                  <a:lnTo>
                    <a:pt x="241426" y="34036"/>
                  </a:lnTo>
                  <a:lnTo>
                    <a:pt x="238632" y="31242"/>
                  </a:lnTo>
                  <a:close/>
                </a:path>
                <a:path w="480694" h="76200">
                  <a:moveTo>
                    <a:pt x="264032" y="31368"/>
                  </a:moveTo>
                  <a:lnTo>
                    <a:pt x="256921" y="31368"/>
                  </a:lnTo>
                  <a:lnTo>
                    <a:pt x="254126" y="34162"/>
                  </a:lnTo>
                  <a:lnTo>
                    <a:pt x="254126" y="41148"/>
                  </a:lnTo>
                  <a:lnTo>
                    <a:pt x="257047" y="44068"/>
                  </a:lnTo>
                  <a:lnTo>
                    <a:pt x="264032" y="44068"/>
                  </a:lnTo>
                  <a:lnTo>
                    <a:pt x="266826" y="41148"/>
                  </a:lnTo>
                  <a:lnTo>
                    <a:pt x="266826" y="34162"/>
                  </a:lnTo>
                  <a:lnTo>
                    <a:pt x="264032" y="31368"/>
                  </a:lnTo>
                  <a:close/>
                </a:path>
                <a:path w="480694" h="76200">
                  <a:moveTo>
                    <a:pt x="289432" y="31368"/>
                  </a:moveTo>
                  <a:lnTo>
                    <a:pt x="282448" y="31368"/>
                  </a:lnTo>
                  <a:lnTo>
                    <a:pt x="279526" y="34162"/>
                  </a:lnTo>
                  <a:lnTo>
                    <a:pt x="279526" y="41275"/>
                  </a:lnTo>
                  <a:lnTo>
                    <a:pt x="282320" y="44068"/>
                  </a:lnTo>
                  <a:lnTo>
                    <a:pt x="289432" y="44068"/>
                  </a:lnTo>
                  <a:lnTo>
                    <a:pt x="292226" y="41275"/>
                  </a:lnTo>
                  <a:lnTo>
                    <a:pt x="292105" y="34162"/>
                  </a:lnTo>
                  <a:lnTo>
                    <a:pt x="289432" y="31368"/>
                  </a:lnTo>
                  <a:close/>
                </a:path>
                <a:path w="480694" h="76200">
                  <a:moveTo>
                    <a:pt x="314832" y="31496"/>
                  </a:moveTo>
                  <a:lnTo>
                    <a:pt x="307848" y="31496"/>
                  </a:lnTo>
                  <a:lnTo>
                    <a:pt x="304926" y="34290"/>
                  </a:lnTo>
                  <a:lnTo>
                    <a:pt x="304926" y="41275"/>
                  </a:lnTo>
                  <a:lnTo>
                    <a:pt x="307720" y="44196"/>
                  </a:lnTo>
                  <a:lnTo>
                    <a:pt x="314832" y="44196"/>
                  </a:lnTo>
                  <a:lnTo>
                    <a:pt x="317626" y="41275"/>
                  </a:lnTo>
                  <a:lnTo>
                    <a:pt x="317626" y="34290"/>
                  </a:lnTo>
                  <a:lnTo>
                    <a:pt x="314832" y="31496"/>
                  </a:lnTo>
                  <a:close/>
                </a:path>
                <a:path w="480694" h="76200">
                  <a:moveTo>
                    <a:pt x="340232" y="31496"/>
                  </a:moveTo>
                  <a:lnTo>
                    <a:pt x="333248" y="31496"/>
                  </a:lnTo>
                  <a:lnTo>
                    <a:pt x="330326" y="34417"/>
                  </a:lnTo>
                  <a:lnTo>
                    <a:pt x="330326" y="41402"/>
                  </a:lnTo>
                  <a:lnTo>
                    <a:pt x="333248" y="44196"/>
                  </a:lnTo>
                  <a:lnTo>
                    <a:pt x="340232" y="44196"/>
                  </a:lnTo>
                  <a:lnTo>
                    <a:pt x="343026" y="41402"/>
                  </a:lnTo>
                  <a:lnTo>
                    <a:pt x="343026" y="34417"/>
                  </a:lnTo>
                  <a:lnTo>
                    <a:pt x="340232" y="31496"/>
                  </a:lnTo>
                  <a:close/>
                </a:path>
                <a:path w="480694" h="76200">
                  <a:moveTo>
                    <a:pt x="365632" y="31623"/>
                  </a:moveTo>
                  <a:lnTo>
                    <a:pt x="358648" y="31623"/>
                  </a:lnTo>
                  <a:lnTo>
                    <a:pt x="355594" y="34543"/>
                  </a:lnTo>
                  <a:lnTo>
                    <a:pt x="355726" y="34543"/>
                  </a:lnTo>
                  <a:lnTo>
                    <a:pt x="355853" y="41529"/>
                  </a:lnTo>
                  <a:lnTo>
                    <a:pt x="358648" y="44323"/>
                  </a:lnTo>
                  <a:lnTo>
                    <a:pt x="365632" y="44323"/>
                  </a:lnTo>
                  <a:lnTo>
                    <a:pt x="368426" y="41529"/>
                  </a:lnTo>
                  <a:lnTo>
                    <a:pt x="368426" y="37973"/>
                  </a:lnTo>
                  <a:lnTo>
                    <a:pt x="368554" y="34543"/>
                  </a:lnTo>
                  <a:lnTo>
                    <a:pt x="365632" y="31623"/>
                  </a:lnTo>
                  <a:close/>
                </a:path>
                <a:path w="480694" h="76200">
                  <a:moveTo>
                    <a:pt x="391032" y="31750"/>
                  </a:moveTo>
                  <a:lnTo>
                    <a:pt x="384048" y="31750"/>
                  </a:lnTo>
                  <a:lnTo>
                    <a:pt x="381254" y="34543"/>
                  </a:lnTo>
                  <a:lnTo>
                    <a:pt x="381126" y="38100"/>
                  </a:lnTo>
                  <a:lnTo>
                    <a:pt x="381126" y="41529"/>
                  </a:lnTo>
                  <a:lnTo>
                    <a:pt x="384048" y="44450"/>
                  </a:lnTo>
                  <a:lnTo>
                    <a:pt x="391032" y="44450"/>
                  </a:lnTo>
                  <a:lnTo>
                    <a:pt x="393826" y="41529"/>
                  </a:lnTo>
                  <a:lnTo>
                    <a:pt x="393954" y="38100"/>
                  </a:lnTo>
                  <a:lnTo>
                    <a:pt x="393954" y="34543"/>
                  </a:lnTo>
                  <a:lnTo>
                    <a:pt x="391032" y="31750"/>
                  </a:lnTo>
                  <a:close/>
                </a:path>
                <a:path w="480694" h="76200">
                  <a:moveTo>
                    <a:pt x="404240" y="0"/>
                  </a:moveTo>
                  <a:lnTo>
                    <a:pt x="404113" y="38100"/>
                  </a:lnTo>
                  <a:lnTo>
                    <a:pt x="403987" y="76200"/>
                  </a:lnTo>
                  <a:lnTo>
                    <a:pt x="468019" y="44450"/>
                  </a:lnTo>
                  <a:lnTo>
                    <a:pt x="409448" y="44450"/>
                  </a:lnTo>
                  <a:lnTo>
                    <a:pt x="406526" y="41656"/>
                  </a:lnTo>
                  <a:lnTo>
                    <a:pt x="406644" y="38354"/>
                  </a:lnTo>
                  <a:lnTo>
                    <a:pt x="406654" y="34671"/>
                  </a:lnTo>
                  <a:lnTo>
                    <a:pt x="409448" y="31750"/>
                  </a:lnTo>
                  <a:lnTo>
                    <a:pt x="467215" y="31750"/>
                  </a:lnTo>
                  <a:lnTo>
                    <a:pt x="404240" y="0"/>
                  </a:lnTo>
                  <a:close/>
                </a:path>
                <a:path w="480694" h="76200">
                  <a:moveTo>
                    <a:pt x="416432" y="31750"/>
                  </a:moveTo>
                  <a:lnTo>
                    <a:pt x="409448" y="31750"/>
                  </a:lnTo>
                  <a:lnTo>
                    <a:pt x="406654" y="34671"/>
                  </a:lnTo>
                  <a:lnTo>
                    <a:pt x="406644" y="38354"/>
                  </a:lnTo>
                  <a:lnTo>
                    <a:pt x="406526" y="41656"/>
                  </a:lnTo>
                  <a:lnTo>
                    <a:pt x="409448" y="44450"/>
                  </a:lnTo>
                  <a:lnTo>
                    <a:pt x="416432" y="44450"/>
                  </a:lnTo>
                  <a:lnTo>
                    <a:pt x="419354" y="41656"/>
                  </a:lnTo>
                  <a:lnTo>
                    <a:pt x="419354" y="34671"/>
                  </a:lnTo>
                  <a:lnTo>
                    <a:pt x="416432" y="31750"/>
                  </a:lnTo>
                  <a:close/>
                </a:path>
                <a:path w="480694" h="76200">
                  <a:moveTo>
                    <a:pt x="467215" y="31750"/>
                  </a:moveTo>
                  <a:lnTo>
                    <a:pt x="416432" y="31750"/>
                  </a:lnTo>
                  <a:lnTo>
                    <a:pt x="419354" y="34671"/>
                  </a:lnTo>
                  <a:lnTo>
                    <a:pt x="419354" y="41656"/>
                  </a:lnTo>
                  <a:lnTo>
                    <a:pt x="416432" y="44450"/>
                  </a:lnTo>
                  <a:lnTo>
                    <a:pt x="468019" y="44450"/>
                  </a:lnTo>
                  <a:lnTo>
                    <a:pt x="480313" y="38354"/>
                  </a:lnTo>
                  <a:lnTo>
                    <a:pt x="467215" y="31750"/>
                  </a:lnTo>
                  <a:close/>
                </a:path>
              </a:pathLst>
            </a:custGeom>
            <a:solidFill>
              <a:srgbClr val="34352F"/>
            </a:solidFill>
          </p:spPr>
          <p:txBody>
            <a:bodyPr wrap="square" lIns="0" tIns="0" rIns="0" bIns="0" rtlCol="0"/>
            <a:lstStyle/>
            <a:p/>
          </p:txBody>
        </p:sp>
        <p:sp>
          <p:nvSpPr>
            <p:cNvPr id="28" name="object 28"/>
            <p:cNvSpPr/>
            <p:nvPr/>
          </p:nvSpPr>
          <p:spPr>
            <a:xfrm>
              <a:off x="2268473" y="2088642"/>
              <a:ext cx="0" cy="170815"/>
            </a:xfrm>
            <a:custGeom>
              <a:avLst/>
              <a:gdLst/>
              <a:ahLst/>
              <a:cxnLst/>
              <a:rect l="l" t="t" r="r" b="b"/>
              <a:pathLst>
                <a:path h="170814">
                  <a:moveTo>
                    <a:pt x="0" y="0"/>
                  </a:moveTo>
                  <a:lnTo>
                    <a:pt x="0" y="170687"/>
                  </a:lnTo>
                </a:path>
              </a:pathLst>
            </a:custGeom>
            <a:ln w="38100">
              <a:solidFill>
                <a:srgbClr val="34352F"/>
              </a:solidFill>
            </a:ln>
          </p:spPr>
          <p:txBody>
            <a:bodyPr wrap="square" lIns="0" tIns="0" rIns="0" bIns="0" rtlCol="0"/>
            <a:lstStyle/>
            <a:p/>
          </p:txBody>
        </p:sp>
        <p:sp>
          <p:nvSpPr>
            <p:cNvPr id="29" name="object 29"/>
            <p:cNvSpPr/>
            <p:nvPr/>
          </p:nvSpPr>
          <p:spPr>
            <a:xfrm>
              <a:off x="2267711" y="2221992"/>
              <a:ext cx="0" cy="135890"/>
            </a:xfrm>
            <a:custGeom>
              <a:avLst/>
              <a:gdLst/>
              <a:ahLst/>
              <a:cxnLst/>
              <a:rect l="l" t="t" r="r" b="b"/>
              <a:pathLst>
                <a:path h="135889">
                  <a:moveTo>
                    <a:pt x="0" y="0"/>
                  </a:moveTo>
                  <a:lnTo>
                    <a:pt x="0" y="135635"/>
                  </a:lnTo>
                </a:path>
              </a:pathLst>
            </a:custGeom>
            <a:ln w="9525">
              <a:solidFill>
                <a:srgbClr val="34352F"/>
              </a:solidFill>
            </a:ln>
          </p:spPr>
          <p:txBody>
            <a:bodyPr wrap="square" lIns="0" tIns="0" rIns="0" bIns="0" rtlCol="0"/>
            <a:lstStyle/>
            <a:p/>
          </p:txBody>
        </p:sp>
      </p:grpSp>
      <p:sp>
        <p:nvSpPr>
          <p:cNvPr id="30" name="object 30"/>
          <p:cNvSpPr txBox="1"/>
          <p:nvPr/>
        </p:nvSpPr>
        <p:spPr>
          <a:xfrm>
            <a:off x="1310081" y="830021"/>
            <a:ext cx="308610" cy="208915"/>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34352F"/>
                </a:solidFill>
                <a:latin typeface="Calibri" panose="020F0502020204030204"/>
                <a:cs typeface="Calibri" panose="020F0502020204030204"/>
              </a:rPr>
              <a:t>VDD</a:t>
            </a:r>
            <a:endParaRPr sz="1200">
              <a:latin typeface="Calibri" panose="020F0502020204030204"/>
              <a:cs typeface="Calibri" panose="020F0502020204030204"/>
            </a:endParaRPr>
          </a:p>
        </p:txBody>
      </p:sp>
      <p:grpSp>
        <p:nvGrpSpPr>
          <p:cNvPr id="31" name="object 31"/>
          <p:cNvGrpSpPr/>
          <p:nvPr/>
        </p:nvGrpSpPr>
        <p:grpSpPr>
          <a:xfrm>
            <a:off x="1213357" y="750316"/>
            <a:ext cx="114300" cy="306705"/>
            <a:chOff x="1138427" y="1263396"/>
            <a:chExt cx="114300" cy="306705"/>
          </a:xfrm>
        </p:grpSpPr>
        <p:sp>
          <p:nvSpPr>
            <p:cNvPr id="32" name="object 32"/>
            <p:cNvSpPr/>
            <p:nvPr/>
          </p:nvSpPr>
          <p:spPr>
            <a:xfrm>
              <a:off x="1187957" y="1319022"/>
              <a:ext cx="12700" cy="236220"/>
            </a:xfrm>
            <a:custGeom>
              <a:avLst/>
              <a:gdLst/>
              <a:ahLst/>
              <a:cxnLst/>
              <a:rect l="l" t="t" r="r" b="b"/>
              <a:pathLst>
                <a:path w="12700" h="236219">
                  <a:moveTo>
                    <a:pt x="0" y="0"/>
                  </a:moveTo>
                  <a:lnTo>
                    <a:pt x="12191" y="236219"/>
                  </a:lnTo>
                </a:path>
              </a:pathLst>
            </a:custGeom>
            <a:ln w="28575">
              <a:solidFill>
                <a:srgbClr val="34352F"/>
              </a:solidFill>
            </a:ln>
          </p:spPr>
          <p:txBody>
            <a:bodyPr wrap="square" lIns="0" tIns="0" rIns="0" bIns="0" rtlCol="0"/>
            <a:lstStyle/>
            <a:p/>
          </p:txBody>
        </p:sp>
        <p:pic>
          <p:nvPicPr>
            <p:cNvPr id="33" name="object 33"/>
            <p:cNvPicPr/>
            <p:nvPr/>
          </p:nvPicPr>
          <p:blipFill>
            <a:blip r:embed="rId5" cstate="print"/>
            <a:stretch>
              <a:fillRect/>
            </a:stretch>
          </p:blipFill>
          <p:spPr>
            <a:xfrm>
              <a:off x="1138427" y="1263396"/>
              <a:ext cx="114300" cy="114300"/>
            </a:xfrm>
            <a:prstGeom prst="rect">
              <a:avLst/>
            </a:prstGeom>
          </p:spPr>
        </p:pic>
      </p:grpSp>
      <p:sp>
        <p:nvSpPr>
          <p:cNvPr id="34" name="object 34"/>
          <p:cNvSpPr/>
          <p:nvPr/>
        </p:nvSpPr>
        <p:spPr>
          <a:xfrm>
            <a:off x="1213357" y="750316"/>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4352F"/>
            </a:solidFill>
          </a:ln>
        </p:spPr>
        <p:txBody>
          <a:bodyPr wrap="square" lIns="0" tIns="0" rIns="0" bIns="0" rtlCol="0"/>
          <a:lstStyle/>
          <a:p/>
        </p:txBody>
      </p:sp>
      <p:sp>
        <p:nvSpPr>
          <p:cNvPr id="35" name="object 35"/>
          <p:cNvSpPr txBox="1"/>
          <p:nvPr/>
        </p:nvSpPr>
        <p:spPr>
          <a:xfrm>
            <a:off x="2366327" y="852804"/>
            <a:ext cx="819785" cy="208279"/>
          </a:xfrm>
          <a:prstGeom prst="rect">
            <a:avLst/>
          </a:prstGeom>
        </p:spPr>
        <p:txBody>
          <a:bodyPr vert="horz" wrap="square" lIns="0" tIns="12700" rIns="0" bIns="0" rtlCol="0">
            <a:spAutoFit/>
          </a:bodyPr>
          <a:lstStyle/>
          <a:p>
            <a:pPr marL="15240">
              <a:lnSpc>
                <a:spcPct val="100000"/>
              </a:lnSpc>
              <a:spcBef>
                <a:spcPts val="100"/>
              </a:spcBef>
            </a:pPr>
            <a:r>
              <a:rPr sz="1200" b="1" spc="-20" dirty="0">
                <a:solidFill>
                  <a:srgbClr val="34352F"/>
                </a:solidFill>
                <a:latin typeface="Calibri" panose="020F0502020204030204"/>
                <a:cs typeface="Calibri" panose="020F0502020204030204"/>
              </a:rPr>
              <a:t>VDDL</a:t>
            </a:r>
            <a:endParaRPr sz="1200">
              <a:latin typeface="Calibri" panose="020F0502020204030204"/>
              <a:cs typeface="Calibri" panose="020F0502020204030204"/>
            </a:endParaRPr>
          </a:p>
        </p:txBody>
      </p:sp>
      <p:grpSp>
        <p:nvGrpSpPr>
          <p:cNvPr id="36" name="object 36"/>
          <p:cNvGrpSpPr/>
          <p:nvPr/>
        </p:nvGrpSpPr>
        <p:grpSpPr>
          <a:xfrm>
            <a:off x="2278634" y="754887"/>
            <a:ext cx="114300" cy="306705"/>
            <a:chOff x="2203704" y="1267967"/>
            <a:chExt cx="114300" cy="306705"/>
          </a:xfrm>
        </p:grpSpPr>
        <p:sp>
          <p:nvSpPr>
            <p:cNvPr id="37" name="object 37"/>
            <p:cNvSpPr/>
            <p:nvPr/>
          </p:nvSpPr>
          <p:spPr>
            <a:xfrm>
              <a:off x="2260854" y="1323593"/>
              <a:ext cx="12700" cy="236220"/>
            </a:xfrm>
            <a:custGeom>
              <a:avLst/>
              <a:gdLst/>
              <a:ahLst/>
              <a:cxnLst/>
              <a:rect l="l" t="t" r="r" b="b"/>
              <a:pathLst>
                <a:path w="12700" h="236219">
                  <a:moveTo>
                    <a:pt x="0" y="0"/>
                  </a:moveTo>
                  <a:lnTo>
                    <a:pt x="12191" y="236219"/>
                  </a:lnTo>
                </a:path>
              </a:pathLst>
            </a:custGeom>
            <a:ln w="28575">
              <a:solidFill>
                <a:srgbClr val="34352F"/>
              </a:solidFill>
            </a:ln>
          </p:spPr>
          <p:txBody>
            <a:bodyPr wrap="square" lIns="0" tIns="0" rIns="0" bIns="0" rtlCol="0"/>
            <a:lstStyle/>
            <a:p/>
          </p:txBody>
        </p:sp>
        <p:pic>
          <p:nvPicPr>
            <p:cNvPr id="38" name="object 38"/>
            <p:cNvPicPr/>
            <p:nvPr/>
          </p:nvPicPr>
          <p:blipFill>
            <a:blip r:embed="rId6" cstate="print"/>
            <a:stretch>
              <a:fillRect/>
            </a:stretch>
          </p:blipFill>
          <p:spPr>
            <a:xfrm>
              <a:off x="2203704" y="1267967"/>
              <a:ext cx="114300" cy="114300"/>
            </a:xfrm>
            <a:prstGeom prst="rect">
              <a:avLst/>
            </a:prstGeom>
          </p:spPr>
        </p:pic>
      </p:grpSp>
      <p:sp>
        <p:nvSpPr>
          <p:cNvPr id="39" name="object 39"/>
          <p:cNvSpPr/>
          <p:nvPr/>
        </p:nvSpPr>
        <p:spPr>
          <a:xfrm>
            <a:off x="2278634" y="754887"/>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4352F"/>
            </a:solidFill>
          </a:ln>
        </p:spPr>
        <p:txBody>
          <a:bodyPr wrap="square" lIns="0" tIns="0" rIns="0" bIns="0" rtlCol="0"/>
          <a:lstStyle/>
          <a:p/>
        </p:txBody>
      </p:sp>
      <p:sp>
        <p:nvSpPr>
          <p:cNvPr id="40" name="object 40"/>
          <p:cNvSpPr txBox="1"/>
          <p:nvPr/>
        </p:nvSpPr>
        <p:spPr>
          <a:xfrm>
            <a:off x="3228149" y="862584"/>
            <a:ext cx="433705" cy="208279"/>
          </a:xfrm>
          <a:prstGeom prst="rect">
            <a:avLst/>
          </a:prstGeom>
        </p:spPr>
        <p:txBody>
          <a:bodyPr vert="horz" wrap="square" lIns="0" tIns="12700" rIns="0" bIns="0" rtlCol="0">
            <a:spAutoFit/>
          </a:bodyPr>
          <a:lstStyle/>
          <a:p>
            <a:pPr marL="17780">
              <a:lnSpc>
                <a:spcPct val="100000"/>
              </a:lnSpc>
              <a:spcBef>
                <a:spcPts val="100"/>
              </a:spcBef>
            </a:pPr>
            <a:r>
              <a:rPr sz="1200" b="1" spc="-25" dirty="0">
                <a:solidFill>
                  <a:srgbClr val="34352F"/>
                </a:solidFill>
                <a:latin typeface="Calibri" panose="020F0502020204030204"/>
                <a:cs typeface="Calibri" panose="020F0502020204030204"/>
              </a:rPr>
              <a:t>VSS</a:t>
            </a:r>
            <a:endParaRPr sz="1200">
              <a:latin typeface="Calibri" panose="020F0502020204030204"/>
              <a:cs typeface="Calibri" panose="020F0502020204030204"/>
            </a:endParaRPr>
          </a:p>
        </p:txBody>
      </p:sp>
      <p:grpSp>
        <p:nvGrpSpPr>
          <p:cNvPr id="41" name="object 41"/>
          <p:cNvGrpSpPr/>
          <p:nvPr/>
        </p:nvGrpSpPr>
        <p:grpSpPr>
          <a:xfrm>
            <a:off x="2329116" y="762317"/>
            <a:ext cx="943610" cy="827405"/>
            <a:chOff x="2254186" y="1275397"/>
            <a:chExt cx="943610" cy="827405"/>
          </a:xfrm>
        </p:grpSpPr>
        <p:sp>
          <p:nvSpPr>
            <p:cNvPr id="42" name="object 42"/>
            <p:cNvSpPr/>
            <p:nvPr/>
          </p:nvSpPr>
          <p:spPr>
            <a:xfrm>
              <a:off x="3120389" y="1346454"/>
              <a:ext cx="10795" cy="236220"/>
            </a:xfrm>
            <a:custGeom>
              <a:avLst/>
              <a:gdLst/>
              <a:ahLst/>
              <a:cxnLst/>
              <a:rect l="l" t="t" r="r" b="b"/>
              <a:pathLst>
                <a:path w="10794" h="236219">
                  <a:moveTo>
                    <a:pt x="0" y="0"/>
                  </a:moveTo>
                  <a:lnTo>
                    <a:pt x="10668" y="236220"/>
                  </a:lnTo>
                </a:path>
              </a:pathLst>
            </a:custGeom>
            <a:ln w="28575">
              <a:solidFill>
                <a:srgbClr val="34352F"/>
              </a:solidFill>
            </a:ln>
          </p:spPr>
          <p:txBody>
            <a:bodyPr wrap="square" lIns="0" tIns="0" rIns="0" bIns="0" rtlCol="0"/>
            <a:lstStyle/>
            <a:p/>
          </p:txBody>
        </p:sp>
        <p:pic>
          <p:nvPicPr>
            <p:cNvPr id="43" name="object 43"/>
            <p:cNvPicPr/>
            <p:nvPr/>
          </p:nvPicPr>
          <p:blipFill>
            <a:blip r:embed="rId7" cstate="print"/>
            <a:stretch>
              <a:fillRect/>
            </a:stretch>
          </p:blipFill>
          <p:spPr>
            <a:xfrm>
              <a:off x="3078479" y="1280160"/>
              <a:ext cx="114300" cy="114300"/>
            </a:xfrm>
            <a:prstGeom prst="rect">
              <a:avLst/>
            </a:prstGeom>
          </p:spPr>
        </p:pic>
        <p:sp>
          <p:nvSpPr>
            <p:cNvPr id="44" name="object 44"/>
            <p:cNvSpPr/>
            <p:nvPr/>
          </p:nvSpPr>
          <p:spPr>
            <a:xfrm>
              <a:off x="3078479" y="1280160"/>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4352F"/>
              </a:solidFill>
            </a:ln>
          </p:spPr>
          <p:txBody>
            <a:bodyPr wrap="square" lIns="0" tIns="0" rIns="0" bIns="0" rtlCol="0"/>
            <a:lstStyle/>
            <a:p/>
          </p:txBody>
        </p:sp>
        <p:sp>
          <p:nvSpPr>
            <p:cNvPr id="45" name="object 45"/>
            <p:cNvSpPr/>
            <p:nvPr/>
          </p:nvSpPr>
          <p:spPr>
            <a:xfrm>
              <a:off x="2268473" y="1559814"/>
              <a:ext cx="866140" cy="528955"/>
            </a:xfrm>
            <a:custGeom>
              <a:avLst/>
              <a:gdLst/>
              <a:ahLst/>
              <a:cxnLst/>
              <a:rect l="l" t="t" r="r" b="b"/>
              <a:pathLst>
                <a:path w="866139" h="528955">
                  <a:moveTo>
                    <a:pt x="4825" y="0"/>
                  </a:moveTo>
                  <a:lnTo>
                    <a:pt x="0" y="528574"/>
                  </a:lnTo>
                </a:path>
                <a:path w="866139" h="528955">
                  <a:moveTo>
                    <a:pt x="865886" y="0"/>
                  </a:moveTo>
                  <a:lnTo>
                    <a:pt x="861059" y="528574"/>
                  </a:lnTo>
                </a:path>
              </a:pathLst>
            </a:custGeom>
            <a:ln w="28575">
              <a:solidFill>
                <a:srgbClr val="34352F"/>
              </a:solidFill>
            </a:ln>
          </p:spPr>
          <p:txBody>
            <a:bodyPr wrap="square" lIns="0" tIns="0" rIns="0" bIns="0" rtlCol="0"/>
            <a:lstStyle/>
            <a:p/>
          </p:txBody>
        </p:sp>
      </p:grpSp>
      <p:sp>
        <p:nvSpPr>
          <p:cNvPr id="46" name="object 46"/>
          <p:cNvSpPr txBox="1"/>
          <p:nvPr/>
        </p:nvSpPr>
        <p:spPr>
          <a:xfrm>
            <a:off x="2480182" y="1792859"/>
            <a:ext cx="465455" cy="208279"/>
          </a:xfrm>
          <a:prstGeom prst="rect">
            <a:avLst/>
          </a:prstGeom>
        </p:spPr>
        <p:txBody>
          <a:bodyPr vert="horz" wrap="square" lIns="0" tIns="12700" rIns="0" bIns="0" rtlCol="0">
            <a:spAutoFit/>
          </a:bodyPr>
          <a:lstStyle/>
          <a:p>
            <a:pPr marL="12700">
              <a:lnSpc>
                <a:spcPct val="100000"/>
              </a:lnSpc>
              <a:spcBef>
                <a:spcPts val="100"/>
              </a:spcBef>
            </a:pPr>
            <a:r>
              <a:rPr sz="1200" spc="-10" dirty="0">
                <a:solidFill>
                  <a:srgbClr val="34352F"/>
                </a:solidFill>
                <a:latin typeface="Calibri" panose="020F0502020204030204"/>
                <a:cs typeface="Calibri" panose="020F0502020204030204"/>
              </a:rPr>
              <a:t>pd1_sx</a:t>
            </a:r>
            <a:endParaRPr sz="1200">
              <a:latin typeface="Calibri" panose="020F0502020204030204"/>
              <a:cs typeface="Calibri" panose="020F0502020204030204"/>
            </a:endParaRPr>
          </a:p>
        </p:txBody>
      </p:sp>
      <p:sp>
        <p:nvSpPr>
          <p:cNvPr id="47" name="object 47"/>
          <p:cNvSpPr txBox="1"/>
          <p:nvPr/>
        </p:nvSpPr>
        <p:spPr>
          <a:xfrm>
            <a:off x="4013708" y="627620"/>
            <a:ext cx="3964940" cy="561975"/>
          </a:xfrm>
          <a:prstGeom prst="rect">
            <a:avLst/>
          </a:prstGeom>
        </p:spPr>
        <p:txBody>
          <a:bodyPr vert="horz" wrap="square" lIns="0" tIns="36830" rIns="0" bIns="0" rtlCol="0">
            <a:spAutoFit/>
          </a:bodyPr>
          <a:lstStyle/>
          <a:p>
            <a:pPr marL="299085" indent="-286385">
              <a:lnSpc>
                <a:spcPct val="100000"/>
              </a:lnSpc>
              <a:spcBef>
                <a:spcPts val="290"/>
              </a:spcBef>
              <a:buFont typeface="Arial" panose="020B0604020202020204"/>
              <a:buChar char="•"/>
              <a:tabLst>
                <a:tab pos="299085" algn="l"/>
              </a:tabLst>
            </a:pPr>
            <a:r>
              <a:rPr sz="1600" dirty="0">
                <a:solidFill>
                  <a:srgbClr val="34352F"/>
                </a:solidFill>
                <a:latin typeface="Calibri" panose="020F0502020204030204"/>
                <a:cs typeface="Calibri" panose="020F0502020204030204"/>
              </a:rPr>
              <a:t>Two</a:t>
            </a:r>
            <a:r>
              <a:rPr sz="1600" spc="-75" dirty="0">
                <a:solidFill>
                  <a:srgbClr val="34352F"/>
                </a:solidFill>
                <a:latin typeface="Calibri" panose="020F0502020204030204"/>
                <a:cs typeface="Calibri" panose="020F0502020204030204"/>
              </a:rPr>
              <a:t> </a:t>
            </a:r>
            <a:r>
              <a:rPr sz="1600" dirty="0">
                <a:solidFill>
                  <a:srgbClr val="34352F"/>
                </a:solidFill>
                <a:latin typeface="Calibri" panose="020F0502020204030204"/>
                <a:cs typeface="Calibri" panose="020F0502020204030204"/>
              </a:rPr>
              <a:t>power</a:t>
            </a:r>
            <a:r>
              <a:rPr sz="1600" spc="-35" dirty="0">
                <a:solidFill>
                  <a:srgbClr val="34352F"/>
                </a:solidFill>
                <a:latin typeface="Calibri" panose="020F0502020204030204"/>
                <a:cs typeface="Calibri" panose="020F0502020204030204"/>
              </a:rPr>
              <a:t> </a:t>
            </a:r>
            <a:r>
              <a:rPr sz="1600" dirty="0">
                <a:solidFill>
                  <a:srgbClr val="34352F"/>
                </a:solidFill>
                <a:latin typeface="Calibri" panose="020F0502020204030204"/>
                <a:cs typeface="Calibri" panose="020F0502020204030204"/>
              </a:rPr>
              <a:t>domains:</a:t>
            </a:r>
            <a:r>
              <a:rPr sz="1600" spc="-70" dirty="0">
                <a:solidFill>
                  <a:srgbClr val="34352F"/>
                </a:solidFill>
                <a:latin typeface="Calibri" panose="020F0502020204030204"/>
                <a:cs typeface="Calibri" panose="020F0502020204030204"/>
              </a:rPr>
              <a:t> </a:t>
            </a:r>
            <a:r>
              <a:rPr sz="1600" spc="-65" dirty="0">
                <a:solidFill>
                  <a:srgbClr val="34352F"/>
                </a:solidFill>
                <a:latin typeface="Calibri" panose="020F0502020204030204"/>
                <a:cs typeface="Calibri" panose="020F0502020204030204"/>
              </a:rPr>
              <a:t>TOP,</a:t>
            </a:r>
            <a:r>
              <a:rPr sz="1600" spc="-25" dirty="0">
                <a:solidFill>
                  <a:srgbClr val="34352F"/>
                </a:solidFill>
                <a:latin typeface="Calibri" panose="020F0502020204030204"/>
                <a:cs typeface="Calibri" panose="020F0502020204030204"/>
              </a:rPr>
              <a:t> pd1</a:t>
            </a:r>
            <a:endParaRPr sz="1600">
              <a:latin typeface="Calibri" panose="020F0502020204030204"/>
              <a:cs typeface="Calibri" panose="020F0502020204030204"/>
            </a:endParaRPr>
          </a:p>
          <a:p>
            <a:pPr marL="299085" indent="-286385">
              <a:lnSpc>
                <a:spcPct val="100000"/>
              </a:lnSpc>
              <a:spcBef>
                <a:spcPts val="190"/>
              </a:spcBef>
              <a:buFont typeface="Arial" panose="020B0604020202020204"/>
              <a:buChar char="•"/>
              <a:tabLst>
                <a:tab pos="299085" algn="l"/>
              </a:tabLst>
            </a:pPr>
            <a:r>
              <a:rPr sz="1600" dirty="0">
                <a:solidFill>
                  <a:srgbClr val="34352F"/>
                </a:solidFill>
                <a:latin typeface="Calibri" panose="020F0502020204030204"/>
                <a:cs typeface="Calibri" panose="020F0502020204030204"/>
              </a:rPr>
              <a:t>Three</a:t>
            </a:r>
            <a:r>
              <a:rPr sz="1600" spc="-20" dirty="0">
                <a:solidFill>
                  <a:srgbClr val="34352F"/>
                </a:solidFill>
                <a:latin typeface="Calibri" panose="020F0502020204030204"/>
                <a:cs typeface="Calibri" panose="020F0502020204030204"/>
              </a:rPr>
              <a:t> </a:t>
            </a:r>
            <a:r>
              <a:rPr sz="1600" dirty="0">
                <a:solidFill>
                  <a:srgbClr val="34352F"/>
                </a:solidFill>
                <a:latin typeface="Calibri" panose="020F0502020204030204"/>
                <a:cs typeface="Calibri" panose="020F0502020204030204"/>
              </a:rPr>
              <a:t>supply</a:t>
            </a:r>
            <a:r>
              <a:rPr sz="1600" spc="-45" dirty="0">
                <a:solidFill>
                  <a:srgbClr val="34352F"/>
                </a:solidFill>
                <a:latin typeface="Calibri" panose="020F0502020204030204"/>
                <a:cs typeface="Calibri" panose="020F0502020204030204"/>
              </a:rPr>
              <a:t> </a:t>
            </a:r>
            <a:r>
              <a:rPr sz="1600" dirty="0">
                <a:solidFill>
                  <a:srgbClr val="34352F"/>
                </a:solidFill>
                <a:latin typeface="Calibri" panose="020F0502020204030204"/>
                <a:cs typeface="Calibri" panose="020F0502020204030204"/>
              </a:rPr>
              <a:t>sets,</a:t>
            </a:r>
            <a:r>
              <a:rPr sz="1600" spc="-5" dirty="0">
                <a:solidFill>
                  <a:srgbClr val="34352F"/>
                </a:solidFill>
                <a:latin typeface="Calibri" panose="020F0502020204030204"/>
                <a:cs typeface="Calibri" panose="020F0502020204030204"/>
              </a:rPr>
              <a:t> </a:t>
            </a:r>
            <a:r>
              <a:rPr sz="1600" dirty="0">
                <a:solidFill>
                  <a:srgbClr val="34352F"/>
                </a:solidFill>
                <a:latin typeface="Calibri" panose="020F0502020204030204"/>
                <a:cs typeface="Calibri" panose="020F0502020204030204"/>
              </a:rPr>
              <a:t>with</a:t>
            </a:r>
            <a:r>
              <a:rPr sz="1600" spc="-35" dirty="0">
                <a:solidFill>
                  <a:srgbClr val="34352F"/>
                </a:solidFill>
                <a:latin typeface="Calibri" panose="020F0502020204030204"/>
                <a:cs typeface="Calibri" panose="020F0502020204030204"/>
              </a:rPr>
              <a:t> </a:t>
            </a:r>
            <a:r>
              <a:rPr sz="1600" dirty="0">
                <a:solidFill>
                  <a:srgbClr val="34352F"/>
                </a:solidFill>
                <a:latin typeface="Calibri" panose="020F0502020204030204"/>
                <a:cs typeface="Calibri" panose="020F0502020204030204"/>
              </a:rPr>
              <a:t>these</a:t>
            </a:r>
            <a:r>
              <a:rPr sz="1600" spc="-20" dirty="0">
                <a:solidFill>
                  <a:srgbClr val="34352F"/>
                </a:solidFill>
                <a:latin typeface="Calibri" panose="020F0502020204030204"/>
                <a:cs typeface="Calibri" panose="020F0502020204030204"/>
              </a:rPr>
              <a:t> </a:t>
            </a:r>
            <a:r>
              <a:rPr sz="1600" dirty="0">
                <a:solidFill>
                  <a:srgbClr val="34352F"/>
                </a:solidFill>
                <a:latin typeface="Calibri" panose="020F0502020204030204"/>
                <a:cs typeface="Calibri" panose="020F0502020204030204"/>
              </a:rPr>
              <a:t>possible</a:t>
            </a:r>
            <a:r>
              <a:rPr sz="1600" spc="-30" dirty="0">
                <a:solidFill>
                  <a:srgbClr val="34352F"/>
                </a:solidFill>
                <a:latin typeface="Calibri" panose="020F0502020204030204"/>
                <a:cs typeface="Calibri" panose="020F0502020204030204"/>
              </a:rPr>
              <a:t> </a:t>
            </a:r>
            <a:r>
              <a:rPr sz="1600" spc="-10" dirty="0">
                <a:solidFill>
                  <a:srgbClr val="34352F"/>
                </a:solidFill>
                <a:latin typeface="Calibri" panose="020F0502020204030204"/>
                <a:cs typeface="Calibri" panose="020F0502020204030204"/>
              </a:rPr>
              <a:t>states</a:t>
            </a:r>
            <a:endParaRPr sz="1600">
              <a:latin typeface="Calibri" panose="020F0502020204030204"/>
              <a:cs typeface="Calibri" panose="020F0502020204030204"/>
            </a:endParaRPr>
          </a:p>
        </p:txBody>
      </p:sp>
      <p:sp>
        <p:nvSpPr>
          <p:cNvPr id="48" name="object 48"/>
          <p:cNvSpPr txBox="1"/>
          <p:nvPr/>
        </p:nvSpPr>
        <p:spPr>
          <a:xfrm>
            <a:off x="5842762" y="1166114"/>
            <a:ext cx="2586990" cy="683895"/>
          </a:xfrm>
          <a:prstGeom prst="rect">
            <a:avLst/>
          </a:prstGeom>
        </p:spPr>
        <p:txBody>
          <a:bodyPr vert="horz" wrap="square" lIns="0" tIns="12700" rIns="0" bIns="0" rtlCol="0">
            <a:spAutoFit/>
          </a:bodyPr>
          <a:lstStyle/>
          <a:p>
            <a:pPr marL="12700" marR="767080">
              <a:lnSpc>
                <a:spcPct val="120000"/>
              </a:lnSpc>
              <a:spcBef>
                <a:spcPts val="100"/>
              </a:spcBef>
            </a:pPr>
            <a:r>
              <a:rPr sz="1200" spc="-10" dirty="0">
                <a:solidFill>
                  <a:srgbClr val="FE0000"/>
                </a:solidFill>
                <a:latin typeface="Calibri" panose="020F0502020204030204"/>
                <a:cs typeface="Calibri" panose="020F0502020204030204"/>
              </a:rPr>
              <a:t>high</a:t>
            </a:r>
            <a:r>
              <a:rPr sz="1200" spc="-10" dirty="0">
                <a:solidFill>
                  <a:srgbClr val="34352F"/>
                </a:solidFill>
                <a:latin typeface="Calibri" panose="020F0502020204030204"/>
                <a:cs typeface="Calibri" panose="020F0502020204030204"/>
              </a:rPr>
              <a:t>(1.08V,0V) </a:t>
            </a:r>
            <a:r>
              <a:rPr sz="1200" dirty="0">
                <a:solidFill>
                  <a:srgbClr val="FE0000"/>
                </a:solidFill>
                <a:latin typeface="Calibri" panose="020F0502020204030204"/>
                <a:cs typeface="Calibri" panose="020F0502020204030204"/>
              </a:rPr>
              <a:t>high</a:t>
            </a:r>
            <a:r>
              <a:rPr sz="1200" dirty="0">
                <a:solidFill>
                  <a:srgbClr val="34352F"/>
                </a:solidFill>
                <a:latin typeface="Calibri" panose="020F0502020204030204"/>
                <a:cs typeface="Calibri" panose="020F0502020204030204"/>
              </a:rPr>
              <a:t>(1.08V,0V),</a:t>
            </a:r>
            <a:r>
              <a:rPr sz="1200" spc="114" dirty="0">
                <a:solidFill>
                  <a:srgbClr val="34352F"/>
                </a:solidFill>
                <a:latin typeface="Calibri" panose="020F0502020204030204"/>
                <a:cs typeface="Calibri" panose="020F0502020204030204"/>
              </a:rPr>
              <a:t> </a:t>
            </a:r>
            <a:r>
              <a:rPr sz="1200" spc="-10" dirty="0">
                <a:solidFill>
                  <a:srgbClr val="FE0000"/>
                </a:solidFill>
                <a:latin typeface="Calibri" panose="020F0502020204030204"/>
                <a:cs typeface="Calibri" panose="020F0502020204030204"/>
              </a:rPr>
              <a:t>low</a:t>
            </a:r>
            <a:r>
              <a:rPr sz="1200" spc="-10" dirty="0">
                <a:solidFill>
                  <a:srgbClr val="34352F"/>
                </a:solidFill>
                <a:latin typeface="Calibri" panose="020F0502020204030204"/>
                <a:cs typeface="Calibri" panose="020F0502020204030204"/>
              </a:rPr>
              <a:t>(0.7V,0V)</a:t>
            </a:r>
            <a:endParaRPr sz="1200">
              <a:latin typeface="Calibri" panose="020F0502020204030204"/>
              <a:cs typeface="Calibri" panose="020F0502020204030204"/>
            </a:endParaRPr>
          </a:p>
          <a:p>
            <a:pPr marL="12700">
              <a:lnSpc>
                <a:spcPct val="100000"/>
              </a:lnSpc>
              <a:spcBef>
                <a:spcPts val="285"/>
              </a:spcBef>
            </a:pPr>
            <a:r>
              <a:rPr sz="1200" dirty="0">
                <a:solidFill>
                  <a:srgbClr val="FE0000"/>
                </a:solidFill>
                <a:latin typeface="Calibri" panose="020F0502020204030204"/>
                <a:cs typeface="Calibri" panose="020F0502020204030204"/>
              </a:rPr>
              <a:t>high</a:t>
            </a:r>
            <a:r>
              <a:rPr sz="1200" dirty="0">
                <a:solidFill>
                  <a:srgbClr val="34352F"/>
                </a:solidFill>
                <a:latin typeface="Calibri" panose="020F0502020204030204"/>
                <a:cs typeface="Calibri" panose="020F0502020204030204"/>
              </a:rPr>
              <a:t>(1.08V,0V),</a:t>
            </a:r>
            <a:r>
              <a:rPr sz="1200" spc="155" dirty="0">
                <a:solidFill>
                  <a:srgbClr val="34352F"/>
                </a:solidFill>
                <a:latin typeface="Calibri" panose="020F0502020204030204"/>
                <a:cs typeface="Calibri" panose="020F0502020204030204"/>
              </a:rPr>
              <a:t> </a:t>
            </a:r>
            <a:r>
              <a:rPr sz="1200" spc="-10" dirty="0">
                <a:solidFill>
                  <a:srgbClr val="FE0000"/>
                </a:solidFill>
                <a:latin typeface="Calibri" panose="020F0502020204030204"/>
                <a:cs typeface="Calibri" panose="020F0502020204030204"/>
              </a:rPr>
              <a:t>low</a:t>
            </a:r>
            <a:r>
              <a:rPr sz="1200" spc="-10" dirty="0">
                <a:solidFill>
                  <a:srgbClr val="34352F"/>
                </a:solidFill>
                <a:latin typeface="Calibri" panose="020F0502020204030204"/>
                <a:cs typeface="Calibri" panose="020F0502020204030204"/>
              </a:rPr>
              <a:t>(0.7V,</a:t>
            </a:r>
            <a:r>
              <a:rPr sz="1200" spc="-50" dirty="0">
                <a:solidFill>
                  <a:srgbClr val="34352F"/>
                </a:solidFill>
                <a:latin typeface="Calibri" panose="020F0502020204030204"/>
                <a:cs typeface="Calibri" panose="020F0502020204030204"/>
              </a:rPr>
              <a:t> </a:t>
            </a:r>
            <a:r>
              <a:rPr sz="1200" dirty="0">
                <a:solidFill>
                  <a:srgbClr val="34352F"/>
                </a:solidFill>
                <a:latin typeface="Calibri" panose="020F0502020204030204"/>
                <a:cs typeface="Calibri" panose="020F0502020204030204"/>
              </a:rPr>
              <a:t>0V)</a:t>
            </a:r>
            <a:r>
              <a:rPr sz="1200" spc="-55" dirty="0">
                <a:solidFill>
                  <a:srgbClr val="34352F"/>
                </a:solidFill>
                <a:latin typeface="Calibri" panose="020F0502020204030204"/>
                <a:cs typeface="Calibri" panose="020F0502020204030204"/>
              </a:rPr>
              <a:t> </a:t>
            </a:r>
            <a:r>
              <a:rPr sz="1200" spc="-10" dirty="0">
                <a:solidFill>
                  <a:srgbClr val="FE0000"/>
                </a:solidFill>
                <a:latin typeface="Calibri" panose="020F0502020204030204"/>
                <a:cs typeface="Calibri" panose="020F0502020204030204"/>
              </a:rPr>
              <a:t>off</a:t>
            </a:r>
            <a:r>
              <a:rPr sz="1200" spc="-10" dirty="0">
                <a:solidFill>
                  <a:srgbClr val="34352F"/>
                </a:solidFill>
                <a:latin typeface="Calibri" panose="020F0502020204030204"/>
                <a:cs typeface="Calibri" panose="020F0502020204030204"/>
              </a:rPr>
              <a:t>(OFF,0V)</a:t>
            </a:r>
            <a:endParaRPr sz="1200">
              <a:latin typeface="Calibri" panose="020F0502020204030204"/>
              <a:cs typeface="Calibri" panose="020F0502020204030204"/>
            </a:endParaRPr>
          </a:p>
        </p:txBody>
      </p:sp>
      <p:sp>
        <p:nvSpPr>
          <p:cNvPr id="49" name="object 49"/>
          <p:cNvSpPr txBox="1"/>
          <p:nvPr/>
        </p:nvSpPr>
        <p:spPr>
          <a:xfrm>
            <a:off x="4013708" y="1166114"/>
            <a:ext cx="1704339" cy="996315"/>
          </a:xfrm>
          <a:prstGeom prst="rect">
            <a:avLst/>
          </a:prstGeom>
        </p:spPr>
        <p:txBody>
          <a:bodyPr vert="horz" wrap="square" lIns="0" tIns="12700" rIns="0" bIns="0" rtlCol="0">
            <a:spAutoFit/>
          </a:bodyPr>
          <a:lstStyle/>
          <a:p>
            <a:pPr marL="355600" marR="637540">
              <a:lnSpc>
                <a:spcPct val="120000"/>
              </a:lnSpc>
              <a:spcBef>
                <a:spcPts val="100"/>
              </a:spcBef>
            </a:pPr>
            <a:r>
              <a:rPr sz="1200" spc="-10" dirty="0">
                <a:solidFill>
                  <a:srgbClr val="0000FE"/>
                </a:solidFill>
                <a:latin typeface="Calibri" panose="020F0502020204030204"/>
                <a:cs typeface="Calibri" panose="020F0502020204030204"/>
              </a:rPr>
              <a:t>SS_VDD SS_VDDL SS_VDDLS1</a:t>
            </a:r>
            <a:endParaRPr sz="1200">
              <a:latin typeface="Calibri" panose="020F0502020204030204"/>
              <a:cs typeface="Calibri" panose="020F0502020204030204"/>
            </a:endParaRPr>
          </a:p>
          <a:p>
            <a:pPr marL="12700">
              <a:lnSpc>
                <a:spcPct val="100000"/>
              </a:lnSpc>
              <a:spcBef>
                <a:spcPts val="335"/>
              </a:spcBef>
            </a:pPr>
            <a:endParaRPr sz="1800">
              <a:latin typeface="Calibri" panose="020F0502020204030204"/>
              <a:cs typeface="Calibri" panose="020F0502020204030204"/>
            </a:endParaRPr>
          </a:p>
        </p:txBody>
      </p:sp>
      <p:sp>
        <p:nvSpPr>
          <p:cNvPr id="51" name="Text 0"/>
          <p:cNvSpPr/>
          <p:nvPr/>
        </p:nvSpPr>
        <p:spPr>
          <a:xfrm>
            <a:off x="284480" y="10922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电源</a:t>
            </a:r>
            <a:r>
              <a:rPr lang="zh-CN" altLang="en-US" sz="1730" b="1" dirty="0">
                <a:latin typeface="微软雅黑" panose="020B0503020204020204" pitchFamily="34" charset="-122"/>
                <a:ea typeface="微软雅黑" panose="020B0503020204020204" pitchFamily="34" charset="-122"/>
                <a:sym typeface="+mn-ea"/>
              </a:rPr>
              <a:t>状态表</a:t>
            </a:r>
            <a:endParaRPr lang="zh-CN" altLang="en-US" sz="1730" b="1"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3" name="object 3"/>
          <p:cNvSpPr txBox="1"/>
          <p:nvPr/>
        </p:nvSpPr>
        <p:spPr>
          <a:xfrm>
            <a:off x="305511" y="2076958"/>
            <a:ext cx="8279130" cy="2032635"/>
          </a:xfrm>
          <a:prstGeom prst="rect">
            <a:avLst/>
          </a:prstGeom>
        </p:spPr>
        <p:txBody>
          <a:bodyPr vert="horz" wrap="square" lIns="0" tIns="12700" rIns="0" bIns="0" rtlCol="0">
            <a:spAutoFit/>
          </a:bodyPr>
          <a:lstStyle/>
          <a:p>
            <a:pPr marL="12700">
              <a:lnSpc>
                <a:spcPct val="100000"/>
              </a:lnSpc>
              <a:spcBef>
                <a:spcPts val="100"/>
              </a:spcBef>
            </a:pPr>
            <a:r>
              <a:rPr sz="1400" i="1" spc="-10" dirty="0">
                <a:solidFill>
                  <a:srgbClr val="153AF1"/>
                </a:solidFill>
                <a:latin typeface="Calibri" panose="020F0502020204030204"/>
                <a:cs typeface="Calibri" panose="020F0502020204030204"/>
              </a:rPr>
              <a:t>add_power_state</a:t>
            </a:r>
            <a:r>
              <a:rPr sz="1400" i="1" spc="-5" dirty="0">
                <a:solidFill>
                  <a:srgbClr val="153AF1"/>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SS_VDD</a:t>
            </a:r>
            <a:r>
              <a:rPr sz="1400" i="1" spc="-10" dirty="0">
                <a:solidFill>
                  <a:srgbClr val="34352F"/>
                </a:solidFill>
                <a:latin typeface="Calibri" panose="020F0502020204030204"/>
                <a:cs typeface="Calibri" panose="020F0502020204030204"/>
              </a:rPr>
              <a:t> –state </a:t>
            </a:r>
            <a:r>
              <a:rPr sz="1400" i="1" dirty="0">
                <a:solidFill>
                  <a:srgbClr val="FE0000"/>
                </a:solidFill>
                <a:latin typeface="Calibri" panose="020F0502020204030204"/>
                <a:cs typeface="Calibri" panose="020F0502020204030204"/>
              </a:rPr>
              <a:t>high</a:t>
            </a:r>
            <a:r>
              <a:rPr sz="1400" i="1" spc="-10" dirty="0">
                <a:solidFill>
                  <a:srgbClr val="FE0000"/>
                </a:solidFill>
                <a:latin typeface="Calibri" panose="020F0502020204030204"/>
                <a:cs typeface="Calibri" panose="020F0502020204030204"/>
              </a:rPr>
              <a:t> </a:t>
            </a:r>
            <a:r>
              <a:rPr sz="1400" i="1" dirty="0">
                <a:solidFill>
                  <a:srgbClr val="153AF1"/>
                </a:solidFill>
                <a:latin typeface="Calibri" panose="020F0502020204030204"/>
                <a:cs typeface="Calibri" panose="020F0502020204030204"/>
              </a:rPr>
              <a:t>{-</a:t>
            </a:r>
            <a:r>
              <a:rPr sz="1400" i="1" spc="-10" dirty="0">
                <a:solidFill>
                  <a:srgbClr val="153AF1"/>
                </a:solidFill>
                <a:latin typeface="Calibri" panose="020F0502020204030204"/>
                <a:cs typeface="Calibri" panose="020F0502020204030204"/>
              </a:rPr>
              <a:t>supply_expr</a:t>
            </a:r>
            <a:r>
              <a:rPr sz="1400" i="1" spc="-25" dirty="0">
                <a:solidFill>
                  <a:srgbClr val="153AF1"/>
                </a:solidFill>
                <a:latin typeface="Calibri" panose="020F0502020204030204"/>
                <a:cs typeface="Calibri" panose="020F0502020204030204"/>
              </a:rPr>
              <a:t> </a:t>
            </a:r>
            <a:r>
              <a:rPr sz="1400" i="1" spc="-10" dirty="0">
                <a:solidFill>
                  <a:srgbClr val="34352F"/>
                </a:solidFill>
                <a:latin typeface="Calibri" panose="020F0502020204030204"/>
                <a:cs typeface="Calibri" panose="020F0502020204030204"/>
              </a:rPr>
              <a:t>{power==`{FULL_ON,</a:t>
            </a:r>
            <a:r>
              <a:rPr sz="1400" i="1" spc="-55"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1.08}</a:t>
            </a:r>
            <a:r>
              <a:rPr sz="1400" i="1" spc="-15"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&amp;&amp;</a:t>
            </a:r>
            <a:r>
              <a:rPr sz="1400" i="1" spc="-30"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ground</a:t>
            </a:r>
            <a:r>
              <a:rPr sz="1400" i="1" spc="-20"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a:t>
            </a:r>
            <a:r>
              <a:rPr sz="1400" i="1" spc="-20"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`{FULL_ON,</a:t>
            </a:r>
            <a:r>
              <a:rPr sz="1400" i="1" spc="-45" dirty="0">
                <a:solidFill>
                  <a:srgbClr val="34352F"/>
                </a:solidFill>
                <a:latin typeface="Calibri" panose="020F0502020204030204"/>
                <a:cs typeface="Calibri" panose="020F0502020204030204"/>
              </a:rPr>
              <a:t> </a:t>
            </a:r>
            <a:r>
              <a:rPr sz="1400" i="1" spc="-10" dirty="0">
                <a:solidFill>
                  <a:srgbClr val="34352F"/>
                </a:solidFill>
                <a:latin typeface="Calibri" panose="020F0502020204030204"/>
                <a:cs typeface="Calibri" panose="020F0502020204030204"/>
              </a:rPr>
              <a:t>0.0}}</a:t>
            </a:r>
            <a:r>
              <a:rPr sz="1400" i="1" spc="-10" dirty="0">
                <a:solidFill>
                  <a:srgbClr val="153AF1"/>
                </a:solidFill>
                <a:latin typeface="Calibri" panose="020F0502020204030204"/>
                <a:cs typeface="Calibri" panose="020F0502020204030204"/>
              </a:rPr>
              <a:t>}</a:t>
            </a:r>
            <a:endParaRPr sz="1400">
              <a:latin typeface="Calibri" panose="020F0502020204030204"/>
              <a:cs typeface="Calibri" panose="020F0502020204030204"/>
            </a:endParaRPr>
          </a:p>
          <a:p>
            <a:pPr>
              <a:lnSpc>
                <a:spcPct val="100000"/>
              </a:lnSpc>
              <a:spcBef>
                <a:spcPts val="650"/>
              </a:spcBef>
            </a:pPr>
            <a:endParaRPr sz="1400">
              <a:latin typeface="Calibri" panose="020F0502020204030204"/>
              <a:cs typeface="Calibri" panose="020F0502020204030204"/>
            </a:endParaRPr>
          </a:p>
          <a:p>
            <a:pPr marL="12700">
              <a:lnSpc>
                <a:spcPct val="100000"/>
              </a:lnSpc>
            </a:pPr>
            <a:r>
              <a:rPr sz="1400" i="1" spc="-10" dirty="0">
                <a:solidFill>
                  <a:srgbClr val="153AF1"/>
                </a:solidFill>
                <a:latin typeface="Calibri" panose="020F0502020204030204"/>
                <a:cs typeface="Calibri" panose="020F0502020204030204"/>
              </a:rPr>
              <a:t>add_power_state</a:t>
            </a:r>
            <a:r>
              <a:rPr sz="1400" i="1" spc="-5" dirty="0">
                <a:solidFill>
                  <a:srgbClr val="153AF1"/>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SS_VDDL</a:t>
            </a:r>
            <a:r>
              <a:rPr sz="1400" i="1" spc="-10" dirty="0">
                <a:solidFill>
                  <a:srgbClr val="34352F"/>
                </a:solidFill>
                <a:latin typeface="Calibri" panose="020F0502020204030204"/>
                <a:cs typeface="Calibri" panose="020F0502020204030204"/>
              </a:rPr>
              <a:t> –state </a:t>
            </a:r>
            <a:r>
              <a:rPr sz="1400" i="1" dirty="0">
                <a:solidFill>
                  <a:srgbClr val="FE0000"/>
                </a:solidFill>
                <a:latin typeface="Calibri" panose="020F0502020204030204"/>
                <a:cs typeface="Calibri" panose="020F0502020204030204"/>
              </a:rPr>
              <a:t>high</a:t>
            </a:r>
            <a:r>
              <a:rPr sz="1400" i="1" spc="-10" dirty="0">
                <a:solidFill>
                  <a:srgbClr val="FE0000"/>
                </a:solidFill>
                <a:latin typeface="Calibri" panose="020F0502020204030204"/>
                <a:cs typeface="Calibri" panose="020F0502020204030204"/>
              </a:rPr>
              <a:t> </a:t>
            </a:r>
            <a:r>
              <a:rPr sz="1400" i="1" dirty="0">
                <a:solidFill>
                  <a:srgbClr val="153AF1"/>
                </a:solidFill>
                <a:latin typeface="Calibri" panose="020F0502020204030204"/>
                <a:cs typeface="Calibri" panose="020F0502020204030204"/>
              </a:rPr>
              <a:t>{-</a:t>
            </a:r>
            <a:r>
              <a:rPr sz="1400" i="1" spc="-10" dirty="0">
                <a:solidFill>
                  <a:srgbClr val="153AF1"/>
                </a:solidFill>
                <a:latin typeface="Calibri" panose="020F0502020204030204"/>
                <a:cs typeface="Calibri" panose="020F0502020204030204"/>
              </a:rPr>
              <a:t>supply_expr</a:t>
            </a:r>
            <a:r>
              <a:rPr sz="1400" i="1" spc="-30" dirty="0">
                <a:solidFill>
                  <a:srgbClr val="153AF1"/>
                </a:solidFill>
                <a:latin typeface="Calibri" panose="020F0502020204030204"/>
                <a:cs typeface="Calibri" panose="020F0502020204030204"/>
              </a:rPr>
              <a:t> </a:t>
            </a:r>
            <a:r>
              <a:rPr sz="1400" i="1" spc="-10" dirty="0">
                <a:solidFill>
                  <a:srgbClr val="34352F"/>
                </a:solidFill>
                <a:latin typeface="Calibri" panose="020F0502020204030204"/>
                <a:cs typeface="Calibri" panose="020F0502020204030204"/>
              </a:rPr>
              <a:t>{power==`{FULL_ON,</a:t>
            </a:r>
            <a:r>
              <a:rPr sz="1400" i="1" spc="-55"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1.08}</a:t>
            </a:r>
            <a:r>
              <a:rPr sz="1400" i="1" spc="-15"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&amp;&amp;</a:t>
            </a:r>
            <a:r>
              <a:rPr sz="1400" i="1" spc="-25"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ground</a:t>
            </a:r>
            <a:r>
              <a:rPr sz="1400" i="1" spc="-25"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a:t>
            </a:r>
            <a:r>
              <a:rPr sz="1400" i="1" spc="-20"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`{FULL_ON,</a:t>
            </a:r>
            <a:r>
              <a:rPr sz="1400" i="1" spc="-45" dirty="0">
                <a:solidFill>
                  <a:srgbClr val="34352F"/>
                </a:solidFill>
                <a:latin typeface="Calibri" panose="020F0502020204030204"/>
                <a:cs typeface="Calibri" panose="020F0502020204030204"/>
              </a:rPr>
              <a:t> </a:t>
            </a:r>
            <a:r>
              <a:rPr sz="1400" i="1" spc="-10" dirty="0">
                <a:solidFill>
                  <a:srgbClr val="34352F"/>
                </a:solidFill>
                <a:latin typeface="Calibri" panose="020F0502020204030204"/>
                <a:cs typeface="Calibri" panose="020F0502020204030204"/>
              </a:rPr>
              <a:t>0.0}}</a:t>
            </a:r>
            <a:r>
              <a:rPr sz="1400" i="1" spc="-10" dirty="0">
                <a:solidFill>
                  <a:srgbClr val="153AF1"/>
                </a:solidFill>
                <a:latin typeface="Calibri" panose="020F0502020204030204"/>
                <a:cs typeface="Calibri" panose="020F0502020204030204"/>
              </a:rPr>
              <a:t>}</a:t>
            </a:r>
            <a:endParaRPr sz="1400">
              <a:latin typeface="Calibri" panose="020F0502020204030204"/>
              <a:cs typeface="Calibri" panose="020F0502020204030204"/>
            </a:endParaRPr>
          </a:p>
          <a:p>
            <a:pPr marL="1838325">
              <a:lnSpc>
                <a:spcPct val="100000"/>
              </a:lnSpc>
              <a:spcBef>
                <a:spcPts val="335"/>
              </a:spcBef>
            </a:pPr>
            <a:r>
              <a:rPr sz="1400" i="1" spc="-10" dirty="0">
                <a:solidFill>
                  <a:srgbClr val="34352F"/>
                </a:solidFill>
                <a:latin typeface="Calibri" panose="020F0502020204030204"/>
                <a:cs typeface="Calibri" panose="020F0502020204030204"/>
              </a:rPr>
              <a:t>–state</a:t>
            </a:r>
            <a:r>
              <a:rPr sz="1400" i="1" spc="-5" dirty="0">
                <a:solidFill>
                  <a:srgbClr val="34352F"/>
                </a:solidFill>
                <a:latin typeface="Calibri" panose="020F0502020204030204"/>
                <a:cs typeface="Calibri" panose="020F0502020204030204"/>
              </a:rPr>
              <a:t> </a:t>
            </a:r>
            <a:r>
              <a:rPr sz="1400" i="1" dirty="0">
                <a:solidFill>
                  <a:srgbClr val="FE0000"/>
                </a:solidFill>
                <a:latin typeface="Calibri" panose="020F0502020204030204"/>
                <a:cs typeface="Calibri" panose="020F0502020204030204"/>
              </a:rPr>
              <a:t>low</a:t>
            </a:r>
            <a:r>
              <a:rPr sz="1400" i="1" spc="-25" dirty="0">
                <a:solidFill>
                  <a:srgbClr val="FE0000"/>
                </a:solidFill>
                <a:latin typeface="Calibri" panose="020F0502020204030204"/>
                <a:cs typeface="Calibri" panose="020F0502020204030204"/>
              </a:rPr>
              <a:t> </a:t>
            </a:r>
            <a:r>
              <a:rPr sz="1400" i="1" dirty="0">
                <a:solidFill>
                  <a:srgbClr val="153AF1"/>
                </a:solidFill>
                <a:latin typeface="Calibri" panose="020F0502020204030204"/>
                <a:cs typeface="Calibri" panose="020F0502020204030204"/>
              </a:rPr>
              <a:t>{-</a:t>
            </a:r>
            <a:r>
              <a:rPr sz="1400" i="1" spc="-10" dirty="0">
                <a:solidFill>
                  <a:srgbClr val="153AF1"/>
                </a:solidFill>
                <a:latin typeface="Calibri" panose="020F0502020204030204"/>
                <a:cs typeface="Calibri" panose="020F0502020204030204"/>
              </a:rPr>
              <a:t>supply_expr</a:t>
            </a:r>
            <a:r>
              <a:rPr sz="1400" i="1" spc="-25" dirty="0">
                <a:solidFill>
                  <a:srgbClr val="153AF1"/>
                </a:solidFill>
                <a:latin typeface="Calibri" panose="020F0502020204030204"/>
                <a:cs typeface="Calibri" panose="020F0502020204030204"/>
              </a:rPr>
              <a:t> </a:t>
            </a:r>
            <a:r>
              <a:rPr sz="1400" i="1" spc="-10" dirty="0">
                <a:solidFill>
                  <a:srgbClr val="34352F"/>
                </a:solidFill>
                <a:latin typeface="Calibri" panose="020F0502020204030204"/>
                <a:cs typeface="Calibri" panose="020F0502020204030204"/>
              </a:rPr>
              <a:t>{power==`{FULL_ON,</a:t>
            </a:r>
            <a:r>
              <a:rPr sz="1400" i="1" spc="-50"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0.7}</a:t>
            </a:r>
            <a:r>
              <a:rPr sz="1400" i="1" spc="-10"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&amp;&amp;</a:t>
            </a:r>
            <a:r>
              <a:rPr sz="1400" i="1" spc="-40"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ground</a:t>
            </a:r>
            <a:r>
              <a:rPr sz="1400" i="1" spc="-10"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a:t>
            </a:r>
            <a:r>
              <a:rPr sz="1400" i="1" spc="-5"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`{FULL_ON,</a:t>
            </a:r>
            <a:r>
              <a:rPr sz="1400" i="1" spc="-45" dirty="0">
                <a:solidFill>
                  <a:srgbClr val="34352F"/>
                </a:solidFill>
                <a:latin typeface="Calibri" panose="020F0502020204030204"/>
                <a:cs typeface="Calibri" panose="020F0502020204030204"/>
              </a:rPr>
              <a:t> </a:t>
            </a:r>
            <a:r>
              <a:rPr sz="1400" i="1" spc="-10" dirty="0">
                <a:solidFill>
                  <a:srgbClr val="34352F"/>
                </a:solidFill>
                <a:latin typeface="Calibri" panose="020F0502020204030204"/>
                <a:cs typeface="Calibri" panose="020F0502020204030204"/>
              </a:rPr>
              <a:t>0.0}}</a:t>
            </a:r>
            <a:r>
              <a:rPr sz="1400" i="1" spc="-10" dirty="0">
                <a:solidFill>
                  <a:srgbClr val="153AF1"/>
                </a:solidFill>
                <a:latin typeface="Calibri" panose="020F0502020204030204"/>
                <a:cs typeface="Calibri" panose="020F0502020204030204"/>
              </a:rPr>
              <a:t>}</a:t>
            </a:r>
            <a:endParaRPr sz="1400">
              <a:latin typeface="Calibri" panose="020F0502020204030204"/>
              <a:cs typeface="Calibri" panose="020F0502020204030204"/>
            </a:endParaRPr>
          </a:p>
          <a:p>
            <a:pPr>
              <a:lnSpc>
                <a:spcPct val="100000"/>
              </a:lnSpc>
              <a:spcBef>
                <a:spcPts val="640"/>
              </a:spcBef>
            </a:pPr>
            <a:endParaRPr sz="1400">
              <a:latin typeface="Calibri" panose="020F0502020204030204"/>
              <a:cs typeface="Calibri" panose="020F0502020204030204"/>
            </a:endParaRPr>
          </a:p>
          <a:p>
            <a:pPr marL="12700">
              <a:lnSpc>
                <a:spcPct val="100000"/>
              </a:lnSpc>
              <a:spcBef>
                <a:spcPts val="5"/>
              </a:spcBef>
            </a:pPr>
            <a:r>
              <a:rPr sz="1400" i="1" spc="-10" dirty="0">
                <a:solidFill>
                  <a:srgbClr val="153AF1"/>
                </a:solidFill>
                <a:latin typeface="Calibri" panose="020F0502020204030204"/>
                <a:cs typeface="Calibri" panose="020F0502020204030204"/>
              </a:rPr>
              <a:t>add_power_state</a:t>
            </a:r>
            <a:r>
              <a:rPr sz="1400" i="1" spc="-5" dirty="0">
                <a:solidFill>
                  <a:srgbClr val="153AF1"/>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SS_VDDLS1</a:t>
            </a:r>
            <a:r>
              <a:rPr sz="1400" i="1" spc="-10"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a:t>
            </a:r>
            <a:r>
              <a:rPr sz="1400" i="1" spc="-10" dirty="0">
                <a:solidFill>
                  <a:srgbClr val="34352F"/>
                </a:solidFill>
                <a:latin typeface="Calibri" panose="020F0502020204030204"/>
                <a:cs typeface="Calibri" panose="020F0502020204030204"/>
              </a:rPr>
              <a:t>state</a:t>
            </a:r>
            <a:r>
              <a:rPr sz="1400" i="1" spc="-15" dirty="0">
                <a:solidFill>
                  <a:srgbClr val="34352F"/>
                </a:solidFill>
                <a:latin typeface="Calibri" panose="020F0502020204030204"/>
                <a:cs typeface="Calibri" panose="020F0502020204030204"/>
              </a:rPr>
              <a:t> </a:t>
            </a:r>
            <a:r>
              <a:rPr sz="1400" i="1" dirty="0">
                <a:solidFill>
                  <a:srgbClr val="FE0000"/>
                </a:solidFill>
                <a:latin typeface="Calibri" panose="020F0502020204030204"/>
                <a:cs typeface="Calibri" panose="020F0502020204030204"/>
              </a:rPr>
              <a:t>high</a:t>
            </a:r>
            <a:r>
              <a:rPr sz="1400" i="1" spc="5" dirty="0">
                <a:solidFill>
                  <a:srgbClr val="FE0000"/>
                </a:solidFill>
                <a:latin typeface="Calibri" panose="020F0502020204030204"/>
                <a:cs typeface="Calibri" panose="020F0502020204030204"/>
              </a:rPr>
              <a:t> </a:t>
            </a:r>
            <a:r>
              <a:rPr sz="1400" i="1" dirty="0">
                <a:solidFill>
                  <a:srgbClr val="153AF1"/>
                </a:solidFill>
                <a:latin typeface="Calibri" panose="020F0502020204030204"/>
                <a:cs typeface="Calibri" panose="020F0502020204030204"/>
              </a:rPr>
              <a:t>{-</a:t>
            </a:r>
            <a:r>
              <a:rPr sz="1400" i="1" spc="-10" dirty="0">
                <a:solidFill>
                  <a:srgbClr val="153AF1"/>
                </a:solidFill>
                <a:latin typeface="Calibri" panose="020F0502020204030204"/>
                <a:cs typeface="Calibri" panose="020F0502020204030204"/>
              </a:rPr>
              <a:t>supply_expr</a:t>
            </a:r>
            <a:r>
              <a:rPr sz="1400" i="1" spc="-30" dirty="0">
                <a:solidFill>
                  <a:srgbClr val="153AF1"/>
                </a:solidFill>
                <a:latin typeface="Calibri" panose="020F0502020204030204"/>
                <a:cs typeface="Calibri" panose="020F0502020204030204"/>
              </a:rPr>
              <a:t> </a:t>
            </a:r>
            <a:r>
              <a:rPr sz="1400" i="1" spc="-10" dirty="0">
                <a:solidFill>
                  <a:srgbClr val="34352F"/>
                </a:solidFill>
                <a:latin typeface="Calibri" panose="020F0502020204030204"/>
                <a:cs typeface="Calibri" panose="020F0502020204030204"/>
              </a:rPr>
              <a:t>{power==`{FULL_ON,</a:t>
            </a:r>
            <a:r>
              <a:rPr sz="1400" i="1" spc="-50"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1.08}</a:t>
            </a:r>
            <a:r>
              <a:rPr sz="1400" i="1" spc="-15"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&amp;&amp;</a:t>
            </a:r>
            <a:r>
              <a:rPr sz="1400" i="1" spc="-40"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ground</a:t>
            </a:r>
            <a:r>
              <a:rPr sz="1400" i="1" spc="-10"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a:t>
            </a:r>
            <a:r>
              <a:rPr sz="1400" i="1" spc="-20"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`{FULL_ON,</a:t>
            </a:r>
            <a:r>
              <a:rPr sz="1400" i="1" spc="-35" dirty="0">
                <a:solidFill>
                  <a:srgbClr val="34352F"/>
                </a:solidFill>
                <a:latin typeface="Calibri" panose="020F0502020204030204"/>
                <a:cs typeface="Calibri" panose="020F0502020204030204"/>
              </a:rPr>
              <a:t> </a:t>
            </a:r>
            <a:r>
              <a:rPr sz="1400" i="1" spc="-10" dirty="0">
                <a:solidFill>
                  <a:srgbClr val="34352F"/>
                </a:solidFill>
                <a:latin typeface="Calibri" panose="020F0502020204030204"/>
                <a:cs typeface="Calibri" panose="020F0502020204030204"/>
              </a:rPr>
              <a:t>0.0}}</a:t>
            </a:r>
            <a:r>
              <a:rPr sz="1400" i="1" spc="-10" dirty="0">
                <a:solidFill>
                  <a:srgbClr val="153AF1"/>
                </a:solidFill>
                <a:latin typeface="Calibri" panose="020F0502020204030204"/>
                <a:cs typeface="Calibri" panose="020F0502020204030204"/>
              </a:rPr>
              <a:t>}</a:t>
            </a:r>
            <a:endParaRPr sz="1400">
              <a:latin typeface="Calibri" panose="020F0502020204030204"/>
              <a:cs typeface="Calibri" panose="020F0502020204030204"/>
            </a:endParaRPr>
          </a:p>
          <a:p>
            <a:pPr marL="1997075">
              <a:lnSpc>
                <a:spcPct val="100000"/>
              </a:lnSpc>
              <a:spcBef>
                <a:spcPts val="335"/>
              </a:spcBef>
            </a:pPr>
            <a:r>
              <a:rPr sz="1400" i="1" dirty="0">
                <a:solidFill>
                  <a:srgbClr val="34352F"/>
                </a:solidFill>
                <a:latin typeface="Calibri" panose="020F0502020204030204"/>
                <a:cs typeface="Calibri" panose="020F0502020204030204"/>
              </a:rPr>
              <a:t>-</a:t>
            </a:r>
            <a:r>
              <a:rPr sz="1400" i="1" spc="-10" dirty="0">
                <a:solidFill>
                  <a:srgbClr val="34352F"/>
                </a:solidFill>
                <a:latin typeface="Calibri" panose="020F0502020204030204"/>
                <a:cs typeface="Calibri" panose="020F0502020204030204"/>
              </a:rPr>
              <a:t>state </a:t>
            </a:r>
            <a:r>
              <a:rPr sz="1400" i="1" dirty="0">
                <a:solidFill>
                  <a:srgbClr val="FE0000"/>
                </a:solidFill>
                <a:latin typeface="Calibri" panose="020F0502020204030204"/>
                <a:cs typeface="Calibri" panose="020F0502020204030204"/>
              </a:rPr>
              <a:t>low</a:t>
            </a:r>
            <a:r>
              <a:rPr sz="1400" i="1" spc="-20" dirty="0">
                <a:solidFill>
                  <a:srgbClr val="FE0000"/>
                </a:solidFill>
                <a:latin typeface="Calibri" panose="020F0502020204030204"/>
                <a:cs typeface="Calibri" panose="020F0502020204030204"/>
              </a:rPr>
              <a:t> </a:t>
            </a:r>
            <a:r>
              <a:rPr sz="1400" i="1" dirty="0">
                <a:solidFill>
                  <a:srgbClr val="153AF1"/>
                </a:solidFill>
                <a:latin typeface="Calibri" panose="020F0502020204030204"/>
                <a:cs typeface="Calibri" panose="020F0502020204030204"/>
              </a:rPr>
              <a:t>{-</a:t>
            </a:r>
            <a:r>
              <a:rPr sz="1400" i="1" spc="-10" dirty="0">
                <a:solidFill>
                  <a:srgbClr val="153AF1"/>
                </a:solidFill>
                <a:latin typeface="Calibri" panose="020F0502020204030204"/>
                <a:cs typeface="Calibri" panose="020F0502020204030204"/>
              </a:rPr>
              <a:t>supply_expr </a:t>
            </a:r>
            <a:r>
              <a:rPr sz="1400" i="1" spc="-10" dirty="0">
                <a:solidFill>
                  <a:srgbClr val="34352F"/>
                </a:solidFill>
                <a:latin typeface="Calibri" panose="020F0502020204030204"/>
                <a:cs typeface="Calibri" panose="020F0502020204030204"/>
              </a:rPr>
              <a:t>{power==`{FULL_ON,</a:t>
            </a:r>
            <a:r>
              <a:rPr sz="1400" i="1" spc="-40"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0.7}</a:t>
            </a:r>
            <a:r>
              <a:rPr sz="1400" i="1" spc="-20"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&amp;&amp;</a:t>
            </a:r>
            <a:r>
              <a:rPr sz="1400" i="1" spc="-35"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ground</a:t>
            </a:r>
            <a:r>
              <a:rPr sz="1400" i="1" spc="-10"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a:t>
            </a:r>
            <a:r>
              <a:rPr sz="1400" i="1" spc="-5"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`{FULL_ON,</a:t>
            </a:r>
            <a:r>
              <a:rPr sz="1400" i="1" spc="-35" dirty="0">
                <a:solidFill>
                  <a:srgbClr val="34352F"/>
                </a:solidFill>
                <a:latin typeface="Calibri" panose="020F0502020204030204"/>
                <a:cs typeface="Calibri" panose="020F0502020204030204"/>
              </a:rPr>
              <a:t> </a:t>
            </a:r>
            <a:r>
              <a:rPr sz="1400" i="1" spc="-10" dirty="0">
                <a:solidFill>
                  <a:srgbClr val="34352F"/>
                </a:solidFill>
                <a:latin typeface="Calibri" panose="020F0502020204030204"/>
                <a:cs typeface="Calibri" panose="020F0502020204030204"/>
              </a:rPr>
              <a:t>0.0}}</a:t>
            </a:r>
            <a:r>
              <a:rPr sz="1400" i="1" spc="-10" dirty="0">
                <a:solidFill>
                  <a:srgbClr val="153AF1"/>
                </a:solidFill>
                <a:latin typeface="Calibri" panose="020F0502020204030204"/>
                <a:cs typeface="Calibri" panose="020F0502020204030204"/>
              </a:rPr>
              <a:t>}</a:t>
            </a:r>
            <a:endParaRPr sz="1400">
              <a:latin typeface="Calibri" panose="020F0502020204030204"/>
              <a:cs typeface="Calibri" panose="020F0502020204030204"/>
            </a:endParaRPr>
          </a:p>
          <a:p>
            <a:pPr marL="1997075">
              <a:lnSpc>
                <a:spcPct val="100000"/>
              </a:lnSpc>
              <a:spcBef>
                <a:spcPts val="335"/>
              </a:spcBef>
            </a:pPr>
            <a:r>
              <a:rPr sz="1400" i="1" dirty="0">
                <a:solidFill>
                  <a:srgbClr val="34352F"/>
                </a:solidFill>
                <a:latin typeface="Calibri" panose="020F0502020204030204"/>
                <a:cs typeface="Calibri" panose="020F0502020204030204"/>
              </a:rPr>
              <a:t>-</a:t>
            </a:r>
            <a:r>
              <a:rPr sz="1400" i="1" spc="-10" dirty="0">
                <a:solidFill>
                  <a:srgbClr val="34352F"/>
                </a:solidFill>
                <a:latin typeface="Calibri" panose="020F0502020204030204"/>
                <a:cs typeface="Calibri" panose="020F0502020204030204"/>
              </a:rPr>
              <a:t>state</a:t>
            </a:r>
            <a:r>
              <a:rPr sz="1400" i="1" spc="-15" dirty="0">
                <a:solidFill>
                  <a:srgbClr val="34352F"/>
                </a:solidFill>
                <a:latin typeface="Calibri" panose="020F0502020204030204"/>
                <a:cs typeface="Calibri" panose="020F0502020204030204"/>
              </a:rPr>
              <a:t> </a:t>
            </a:r>
            <a:r>
              <a:rPr sz="1400" i="1" dirty="0">
                <a:solidFill>
                  <a:srgbClr val="FE0000"/>
                </a:solidFill>
                <a:latin typeface="Calibri" panose="020F0502020204030204"/>
                <a:cs typeface="Calibri" panose="020F0502020204030204"/>
              </a:rPr>
              <a:t>off</a:t>
            </a:r>
            <a:r>
              <a:rPr sz="1400" i="1" spc="-15" dirty="0">
                <a:solidFill>
                  <a:srgbClr val="FE0000"/>
                </a:solidFill>
                <a:latin typeface="Calibri" panose="020F0502020204030204"/>
                <a:cs typeface="Calibri" panose="020F0502020204030204"/>
              </a:rPr>
              <a:t> </a:t>
            </a:r>
            <a:r>
              <a:rPr sz="1400" i="1" dirty="0">
                <a:solidFill>
                  <a:srgbClr val="153AF1"/>
                </a:solidFill>
                <a:latin typeface="Calibri" panose="020F0502020204030204"/>
                <a:cs typeface="Calibri" panose="020F0502020204030204"/>
              </a:rPr>
              <a:t>{-</a:t>
            </a:r>
            <a:r>
              <a:rPr sz="1400" i="1" spc="-10" dirty="0">
                <a:solidFill>
                  <a:srgbClr val="153AF1"/>
                </a:solidFill>
                <a:latin typeface="Calibri" panose="020F0502020204030204"/>
                <a:cs typeface="Calibri" panose="020F0502020204030204"/>
              </a:rPr>
              <a:t>supply_expr</a:t>
            </a:r>
            <a:r>
              <a:rPr sz="1400" i="1" spc="-20" dirty="0">
                <a:solidFill>
                  <a:srgbClr val="153AF1"/>
                </a:solidFill>
                <a:latin typeface="Calibri" panose="020F0502020204030204"/>
                <a:cs typeface="Calibri" panose="020F0502020204030204"/>
              </a:rPr>
              <a:t> </a:t>
            </a:r>
            <a:r>
              <a:rPr sz="1400" i="1" spc="-10" dirty="0">
                <a:solidFill>
                  <a:srgbClr val="34352F"/>
                </a:solidFill>
                <a:latin typeface="Calibri" panose="020F0502020204030204"/>
                <a:cs typeface="Calibri" panose="020F0502020204030204"/>
              </a:rPr>
              <a:t>{power==`{OFF}</a:t>
            </a:r>
            <a:r>
              <a:rPr sz="1400" i="1" spc="-55"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&amp;&amp;</a:t>
            </a:r>
            <a:r>
              <a:rPr sz="1400" i="1" spc="-35"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ground</a:t>
            </a:r>
            <a:r>
              <a:rPr sz="1400" i="1" spc="-5"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a:t>
            </a:r>
            <a:r>
              <a:rPr sz="1400" i="1" spc="-5" dirty="0">
                <a:solidFill>
                  <a:srgbClr val="34352F"/>
                </a:solidFill>
                <a:latin typeface="Calibri" panose="020F0502020204030204"/>
                <a:cs typeface="Calibri" panose="020F0502020204030204"/>
              </a:rPr>
              <a:t> </a:t>
            </a:r>
            <a:r>
              <a:rPr sz="1400" i="1" dirty="0">
                <a:solidFill>
                  <a:srgbClr val="34352F"/>
                </a:solidFill>
                <a:latin typeface="Calibri" panose="020F0502020204030204"/>
                <a:cs typeface="Calibri" panose="020F0502020204030204"/>
              </a:rPr>
              <a:t>`{FULL_ON,</a:t>
            </a:r>
            <a:r>
              <a:rPr sz="1400" i="1" spc="-40" dirty="0">
                <a:solidFill>
                  <a:srgbClr val="34352F"/>
                </a:solidFill>
                <a:latin typeface="Calibri" panose="020F0502020204030204"/>
                <a:cs typeface="Calibri" panose="020F0502020204030204"/>
              </a:rPr>
              <a:t> </a:t>
            </a:r>
            <a:r>
              <a:rPr sz="1400" i="1" spc="-10" dirty="0">
                <a:solidFill>
                  <a:srgbClr val="34352F"/>
                </a:solidFill>
                <a:latin typeface="Calibri" panose="020F0502020204030204"/>
                <a:cs typeface="Calibri" panose="020F0502020204030204"/>
              </a:rPr>
              <a:t>0.0}}</a:t>
            </a:r>
            <a:r>
              <a:rPr sz="1400" i="1" spc="-10" dirty="0">
                <a:solidFill>
                  <a:srgbClr val="153AF1"/>
                </a:solidFill>
                <a:latin typeface="Calibri" panose="020F0502020204030204"/>
                <a:cs typeface="Calibri" panose="020F0502020204030204"/>
              </a:rPr>
              <a:t>}</a:t>
            </a:r>
            <a:endParaRPr sz="1400">
              <a:latin typeface="Calibri" panose="020F0502020204030204"/>
              <a:cs typeface="Calibri" panose="020F0502020204030204"/>
            </a:endParaRPr>
          </a:p>
        </p:txBody>
      </p:sp>
      <p:sp>
        <p:nvSpPr>
          <p:cNvPr id="4" name="object 4"/>
          <p:cNvSpPr txBox="1"/>
          <p:nvPr/>
        </p:nvSpPr>
        <p:spPr>
          <a:xfrm>
            <a:off x="390245" y="572261"/>
            <a:ext cx="4215130" cy="29972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34352F"/>
                </a:solidFill>
                <a:latin typeface="Calibri" panose="020F0502020204030204"/>
                <a:cs typeface="Calibri" panose="020F0502020204030204"/>
              </a:rPr>
              <a:t>Three</a:t>
            </a:r>
            <a:r>
              <a:rPr sz="1800" b="1" spc="-35" dirty="0">
                <a:solidFill>
                  <a:srgbClr val="34352F"/>
                </a:solidFill>
                <a:latin typeface="Calibri" panose="020F0502020204030204"/>
                <a:cs typeface="Calibri" panose="020F0502020204030204"/>
              </a:rPr>
              <a:t> </a:t>
            </a:r>
            <a:r>
              <a:rPr sz="1800" b="1" dirty="0">
                <a:solidFill>
                  <a:srgbClr val="34352F"/>
                </a:solidFill>
                <a:latin typeface="Calibri" panose="020F0502020204030204"/>
                <a:cs typeface="Calibri" panose="020F0502020204030204"/>
              </a:rPr>
              <a:t>supply</a:t>
            </a:r>
            <a:r>
              <a:rPr sz="1800" b="1" spc="-35" dirty="0">
                <a:solidFill>
                  <a:srgbClr val="34352F"/>
                </a:solidFill>
                <a:latin typeface="Calibri" panose="020F0502020204030204"/>
                <a:cs typeface="Calibri" panose="020F0502020204030204"/>
              </a:rPr>
              <a:t> </a:t>
            </a:r>
            <a:r>
              <a:rPr sz="1800" b="1" dirty="0">
                <a:solidFill>
                  <a:srgbClr val="34352F"/>
                </a:solidFill>
                <a:latin typeface="Calibri" panose="020F0502020204030204"/>
                <a:cs typeface="Calibri" panose="020F0502020204030204"/>
              </a:rPr>
              <a:t>sets,</a:t>
            </a:r>
            <a:r>
              <a:rPr sz="1800" b="1" spc="-45" dirty="0">
                <a:solidFill>
                  <a:srgbClr val="34352F"/>
                </a:solidFill>
                <a:latin typeface="Calibri" panose="020F0502020204030204"/>
                <a:cs typeface="Calibri" panose="020F0502020204030204"/>
              </a:rPr>
              <a:t> </a:t>
            </a:r>
            <a:r>
              <a:rPr sz="1800" b="1" dirty="0">
                <a:solidFill>
                  <a:srgbClr val="34352F"/>
                </a:solidFill>
                <a:latin typeface="Calibri" panose="020F0502020204030204"/>
                <a:cs typeface="Calibri" panose="020F0502020204030204"/>
              </a:rPr>
              <a:t>with</a:t>
            </a:r>
            <a:r>
              <a:rPr sz="1800" b="1" spc="-20" dirty="0">
                <a:solidFill>
                  <a:srgbClr val="34352F"/>
                </a:solidFill>
                <a:latin typeface="Calibri" panose="020F0502020204030204"/>
                <a:cs typeface="Calibri" panose="020F0502020204030204"/>
              </a:rPr>
              <a:t> </a:t>
            </a:r>
            <a:r>
              <a:rPr sz="1800" b="1" dirty="0">
                <a:solidFill>
                  <a:srgbClr val="34352F"/>
                </a:solidFill>
                <a:latin typeface="Calibri" panose="020F0502020204030204"/>
                <a:cs typeface="Calibri" panose="020F0502020204030204"/>
              </a:rPr>
              <a:t>these</a:t>
            </a:r>
            <a:r>
              <a:rPr sz="1800" b="1" spc="-40" dirty="0">
                <a:solidFill>
                  <a:srgbClr val="34352F"/>
                </a:solidFill>
                <a:latin typeface="Calibri" panose="020F0502020204030204"/>
                <a:cs typeface="Calibri" panose="020F0502020204030204"/>
              </a:rPr>
              <a:t> </a:t>
            </a:r>
            <a:r>
              <a:rPr sz="1800" b="1" dirty="0">
                <a:solidFill>
                  <a:srgbClr val="34352F"/>
                </a:solidFill>
                <a:latin typeface="Calibri" panose="020F0502020204030204"/>
                <a:cs typeface="Calibri" panose="020F0502020204030204"/>
              </a:rPr>
              <a:t>possible</a:t>
            </a:r>
            <a:r>
              <a:rPr sz="1800" b="1" spc="-25" dirty="0">
                <a:solidFill>
                  <a:srgbClr val="34352F"/>
                </a:solidFill>
                <a:latin typeface="Calibri" panose="020F0502020204030204"/>
                <a:cs typeface="Calibri" panose="020F0502020204030204"/>
              </a:rPr>
              <a:t> </a:t>
            </a:r>
            <a:r>
              <a:rPr sz="1800" b="1" spc="-10" dirty="0">
                <a:solidFill>
                  <a:srgbClr val="34352F"/>
                </a:solidFill>
                <a:latin typeface="Calibri" panose="020F0502020204030204"/>
                <a:cs typeface="Calibri" panose="020F0502020204030204"/>
              </a:rPr>
              <a:t>states</a:t>
            </a:r>
            <a:endParaRPr sz="1800">
              <a:latin typeface="Calibri" panose="020F0502020204030204"/>
              <a:cs typeface="Calibri" panose="020F0502020204030204"/>
            </a:endParaRPr>
          </a:p>
        </p:txBody>
      </p:sp>
      <p:graphicFrame>
        <p:nvGraphicFramePr>
          <p:cNvPr id="5" name="object 5"/>
          <p:cNvGraphicFramePr>
            <a:graphicFrameLocks noGrp="1"/>
          </p:cNvGraphicFramePr>
          <p:nvPr/>
        </p:nvGraphicFramePr>
        <p:xfrm>
          <a:off x="714400" y="955675"/>
          <a:ext cx="5951855" cy="787400"/>
        </p:xfrm>
        <a:graphic>
          <a:graphicData uri="http://schemas.openxmlformats.org/drawingml/2006/table">
            <a:tbl>
              <a:tblPr firstRow="1" bandRow="1">
                <a:tableStyleId>{2D5ABB26-0587-4C30-8999-92F81FD0307C}</a:tableStyleId>
              </a:tblPr>
              <a:tblGrid>
                <a:gridCol w="271780"/>
                <a:gridCol w="1616075"/>
                <a:gridCol w="3989070"/>
              </a:tblGrid>
              <a:tr h="247650">
                <a:tc>
                  <a:txBody>
                    <a:bodyPr/>
                    <a:lstStyle/>
                    <a:p>
                      <a:pPr marR="98425" algn="ctr">
                        <a:lnSpc>
                          <a:spcPts val="1515"/>
                        </a:lnSpc>
                      </a:pPr>
                      <a:r>
                        <a:rPr sz="1600" spc="-50" dirty="0">
                          <a:solidFill>
                            <a:srgbClr val="0000FE"/>
                          </a:solidFill>
                          <a:latin typeface="Calibri" panose="020F0502020204030204"/>
                          <a:cs typeface="Calibri" panose="020F0502020204030204"/>
                        </a:rPr>
                        <a:t>–</a:t>
                      </a:r>
                      <a:endParaRPr sz="1600">
                        <a:latin typeface="Calibri" panose="020F0502020204030204"/>
                        <a:cs typeface="Calibri" panose="020F0502020204030204"/>
                      </a:endParaRPr>
                    </a:p>
                  </a:txBody>
                  <a:tcPr marL="0" marR="0" marT="0" marB="0"/>
                </a:tc>
                <a:tc>
                  <a:txBody>
                    <a:bodyPr/>
                    <a:lstStyle/>
                    <a:p>
                      <a:pPr marL="137795">
                        <a:lnSpc>
                          <a:spcPts val="1515"/>
                        </a:lnSpc>
                      </a:pPr>
                      <a:r>
                        <a:rPr sz="1600" spc="-10" dirty="0">
                          <a:solidFill>
                            <a:srgbClr val="0000FE"/>
                          </a:solidFill>
                          <a:latin typeface="Calibri" panose="020F0502020204030204"/>
                          <a:cs typeface="Calibri" panose="020F0502020204030204"/>
                        </a:rPr>
                        <a:t>SS_VDD</a:t>
                      </a:r>
                      <a:endParaRPr sz="1600">
                        <a:latin typeface="Calibri" panose="020F0502020204030204"/>
                        <a:cs typeface="Calibri" panose="020F0502020204030204"/>
                      </a:endParaRPr>
                    </a:p>
                  </a:txBody>
                  <a:tcPr marL="0" marR="0" marT="0" marB="0"/>
                </a:tc>
                <a:tc>
                  <a:txBody>
                    <a:bodyPr/>
                    <a:lstStyle/>
                    <a:p>
                      <a:pPr marL="544830">
                        <a:lnSpc>
                          <a:spcPts val="1515"/>
                        </a:lnSpc>
                      </a:pPr>
                      <a:r>
                        <a:rPr sz="1600" spc="-10" dirty="0">
                          <a:solidFill>
                            <a:srgbClr val="FE0000"/>
                          </a:solidFill>
                          <a:latin typeface="Calibri" panose="020F0502020204030204"/>
                          <a:cs typeface="Calibri" panose="020F0502020204030204"/>
                        </a:rPr>
                        <a:t>high</a:t>
                      </a:r>
                      <a:r>
                        <a:rPr sz="1600" spc="-10" dirty="0">
                          <a:solidFill>
                            <a:srgbClr val="34352F"/>
                          </a:solidFill>
                          <a:latin typeface="Calibri" panose="020F0502020204030204"/>
                          <a:cs typeface="Calibri" panose="020F0502020204030204"/>
                        </a:rPr>
                        <a:t>(1.08V,0V)</a:t>
                      </a:r>
                      <a:endParaRPr sz="1600">
                        <a:latin typeface="Calibri" panose="020F0502020204030204"/>
                        <a:cs typeface="Calibri" panose="020F0502020204030204"/>
                      </a:endParaRPr>
                    </a:p>
                  </a:txBody>
                  <a:tcPr marL="0" marR="0" marT="0" marB="0"/>
                </a:tc>
              </a:tr>
              <a:tr h="292100">
                <a:tc>
                  <a:txBody>
                    <a:bodyPr/>
                    <a:lstStyle/>
                    <a:p>
                      <a:pPr marR="98425" algn="ctr">
                        <a:lnSpc>
                          <a:spcPts val="1870"/>
                        </a:lnSpc>
                      </a:pPr>
                      <a:r>
                        <a:rPr sz="1600" spc="-50" dirty="0">
                          <a:solidFill>
                            <a:srgbClr val="0000FE"/>
                          </a:solidFill>
                          <a:latin typeface="Calibri" panose="020F0502020204030204"/>
                          <a:cs typeface="Calibri" panose="020F0502020204030204"/>
                        </a:rPr>
                        <a:t>–</a:t>
                      </a:r>
                      <a:endParaRPr sz="1600">
                        <a:latin typeface="Calibri" panose="020F0502020204030204"/>
                        <a:cs typeface="Calibri" panose="020F0502020204030204"/>
                      </a:endParaRPr>
                    </a:p>
                  </a:txBody>
                  <a:tcPr marL="0" marR="0" marT="0" marB="0"/>
                </a:tc>
                <a:tc>
                  <a:txBody>
                    <a:bodyPr/>
                    <a:lstStyle/>
                    <a:p>
                      <a:pPr marL="137795">
                        <a:lnSpc>
                          <a:spcPts val="1870"/>
                        </a:lnSpc>
                      </a:pPr>
                      <a:r>
                        <a:rPr sz="1600" spc="-10" dirty="0">
                          <a:solidFill>
                            <a:srgbClr val="0000FE"/>
                          </a:solidFill>
                          <a:latin typeface="Calibri" panose="020F0502020204030204"/>
                          <a:cs typeface="Calibri" panose="020F0502020204030204"/>
                        </a:rPr>
                        <a:t>SS_VDDL</a:t>
                      </a:r>
                      <a:endParaRPr sz="1600">
                        <a:latin typeface="Calibri" panose="020F0502020204030204"/>
                        <a:cs typeface="Calibri" panose="020F0502020204030204"/>
                      </a:endParaRPr>
                    </a:p>
                  </a:txBody>
                  <a:tcPr marL="0" marR="0" marT="0" marB="0"/>
                </a:tc>
                <a:tc>
                  <a:txBody>
                    <a:bodyPr/>
                    <a:lstStyle/>
                    <a:p>
                      <a:pPr marL="544830">
                        <a:lnSpc>
                          <a:spcPts val="1870"/>
                        </a:lnSpc>
                      </a:pPr>
                      <a:r>
                        <a:rPr sz="1600" dirty="0">
                          <a:solidFill>
                            <a:srgbClr val="FE0000"/>
                          </a:solidFill>
                          <a:latin typeface="Calibri" panose="020F0502020204030204"/>
                          <a:cs typeface="Calibri" panose="020F0502020204030204"/>
                        </a:rPr>
                        <a:t>high</a:t>
                      </a:r>
                      <a:r>
                        <a:rPr sz="1600" dirty="0">
                          <a:solidFill>
                            <a:srgbClr val="34352F"/>
                          </a:solidFill>
                          <a:latin typeface="Calibri" panose="020F0502020204030204"/>
                          <a:cs typeface="Calibri" panose="020F0502020204030204"/>
                        </a:rPr>
                        <a:t>(1.08V,0V),</a:t>
                      </a:r>
                      <a:r>
                        <a:rPr sz="1600" spc="165" dirty="0">
                          <a:solidFill>
                            <a:srgbClr val="34352F"/>
                          </a:solidFill>
                          <a:latin typeface="Calibri" panose="020F0502020204030204"/>
                          <a:cs typeface="Calibri" panose="020F0502020204030204"/>
                        </a:rPr>
                        <a:t> </a:t>
                      </a:r>
                      <a:r>
                        <a:rPr sz="1600" spc="-10" dirty="0">
                          <a:solidFill>
                            <a:srgbClr val="FE0000"/>
                          </a:solidFill>
                          <a:latin typeface="Calibri" panose="020F0502020204030204"/>
                          <a:cs typeface="Calibri" panose="020F0502020204030204"/>
                        </a:rPr>
                        <a:t>low</a:t>
                      </a:r>
                      <a:r>
                        <a:rPr sz="1600" spc="-10" dirty="0">
                          <a:solidFill>
                            <a:srgbClr val="34352F"/>
                          </a:solidFill>
                          <a:latin typeface="Calibri" panose="020F0502020204030204"/>
                          <a:cs typeface="Calibri" panose="020F0502020204030204"/>
                        </a:rPr>
                        <a:t>(0.7V,0V)</a:t>
                      </a:r>
                      <a:endParaRPr sz="1600">
                        <a:latin typeface="Calibri" panose="020F0502020204030204"/>
                        <a:cs typeface="Calibri" panose="020F0502020204030204"/>
                      </a:endParaRPr>
                    </a:p>
                  </a:txBody>
                  <a:tcPr marL="0" marR="0" marT="0" marB="0"/>
                </a:tc>
              </a:tr>
              <a:tr h="247650">
                <a:tc>
                  <a:txBody>
                    <a:bodyPr/>
                    <a:lstStyle/>
                    <a:p>
                      <a:pPr marR="98425" algn="ctr">
                        <a:lnSpc>
                          <a:spcPts val="1850"/>
                        </a:lnSpc>
                      </a:pPr>
                      <a:r>
                        <a:rPr sz="1600" spc="-50" dirty="0">
                          <a:solidFill>
                            <a:srgbClr val="0000FE"/>
                          </a:solidFill>
                          <a:latin typeface="Calibri" panose="020F0502020204030204"/>
                          <a:cs typeface="Calibri" panose="020F0502020204030204"/>
                        </a:rPr>
                        <a:t>–</a:t>
                      </a:r>
                      <a:endParaRPr sz="1600">
                        <a:latin typeface="Calibri" panose="020F0502020204030204"/>
                        <a:cs typeface="Calibri" panose="020F0502020204030204"/>
                      </a:endParaRPr>
                    </a:p>
                  </a:txBody>
                  <a:tcPr marL="0" marR="0" marT="0" marB="0"/>
                </a:tc>
                <a:tc>
                  <a:txBody>
                    <a:bodyPr/>
                    <a:lstStyle/>
                    <a:p>
                      <a:pPr marL="137795">
                        <a:lnSpc>
                          <a:spcPts val="1850"/>
                        </a:lnSpc>
                      </a:pPr>
                      <a:r>
                        <a:rPr sz="1600" spc="-10" dirty="0">
                          <a:solidFill>
                            <a:srgbClr val="0000FE"/>
                          </a:solidFill>
                          <a:latin typeface="Calibri" panose="020F0502020204030204"/>
                          <a:cs typeface="Calibri" panose="020F0502020204030204"/>
                        </a:rPr>
                        <a:t>SS_VDDLS1</a:t>
                      </a:r>
                      <a:endParaRPr sz="1600">
                        <a:latin typeface="Calibri" panose="020F0502020204030204"/>
                        <a:cs typeface="Calibri" panose="020F0502020204030204"/>
                      </a:endParaRPr>
                    </a:p>
                  </a:txBody>
                  <a:tcPr marL="0" marR="0" marT="0" marB="0"/>
                </a:tc>
                <a:tc>
                  <a:txBody>
                    <a:bodyPr/>
                    <a:lstStyle/>
                    <a:p>
                      <a:pPr marL="544830">
                        <a:lnSpc>
                          <a:spcPts val="1850"/>
                        </a:lnSpc>
                      </a:pPr>
                      <a:r>
                        <a:rPr sz="1600" dirty="0">
                          <a:solidFill>
                            <a:srgbClr val="FE0000"/>
                          </a:solidFill>
                          <a:latin typeface="Calibri" panose="020F0502020204030204"/>
                          <a:cs typeface="Calibri" panose="020F0502020204030204"/>
                        </a:rPr>
                        <a:t>high</a:t>
                      </a:r>
                      <a:r>
                        <a:rPr sz="1600" dirty="0">
                          <a:solidFill>
                            <a:srgbClr val="34352F"/>
                          </a:solidFill>
                          <a:latin typeface="Calibri" panose="020F0502020204030204"/>
                          <a:cs typeface="Calibri" panose="020F0502020204030204"/>
                        </a:rPr>
                        <a:t>(1.08V,0V),</a:t>
                      </a:r>
                      <a:r>
                        <a:rPr sz="1600" spc="225" dirty="0">
                          <a:solidFill>
                            <a:srgbClr val="34352F"/>
                          </a:solidFill>
                          <a:latin typeface="Calibri" panose="020F0502020204030204"/>
                          <a:cs typeface="Calibri" panose="020F0502020204030204"/>
                        </a:rPr>
                        <a:t> </a:t>
                      </a:r>
                      <a:r>
                        <a:rPr sz="1600" spc="-20" dirty="0">
                          <a:solidFill>
                            <a:srgbClr val="FE0000"/>
                          </a:solidFill>
                          <a:latin typeface="Calibri" panose="020F0502020204030204"/>
                          <a:cs typeface="Calibri" panose="020F0502020204030204"/>
                        </a:rPr>
                        <a:t>low</a:t>
                      </a:r>
                      <a:r>
                        <a:rPr sz="1600" spc="-20" dirty="0">
                          <a:solidFill>
                            <a:srgbClr val="34352F"/>
                          </a:solidFill>
                          <a:latin typeface="Calibri" panose="020F0502020204030204"/>
                          <a:cs typeface="Calibri" panose="020F0502020204030204"/>
                        </a:rPr>
                        <a:t>(0.7V,</a:t>
                      </a:r>
                      <a:r>
                        <a:rPr sz="1600" spc="-50" dirty="0">
                          <a:solidFill>
                            <a:srgbClr val="34352F"/>
                          </a:solidFill>
                          <a:latin typeface="Calibri" panose="020F0502020204030204"/>
                          <a:cs typeface="Calibri" panose="020F0502020204030204"/>
                        </a:rPr>
                        <a:t> </a:t>
                      </a:r>
                      <a:r>
                        <a:rPr sz="1600" dirty="0">
                          <a:solidFill>
                            <a:srgbClr val="34352F"/>
                          </a:solidFill>
                          <a:latin typeface="Calibri" panose="020F0502020204030204"/>
                          <a:cs typeface="Calibri" panose="020F0502020204030204"/>
                        </a:rPr>
                        <a:t>0V)</a:t>
                      </a:r>
                      <a:r>
                        <a:rPr sz="1600" spc="-70" dirty="0">
                          <a:solidFill>
                            <a:srgbClr val="34352F"/>
                          </a:solidFill>
                          <a:latin typeface="Calibri" panose="020F0502020204030204"/>
                          <a:cs typeface="Calibri" panose="020F0502020204030204"/>
                        </a:rPr>
                        <a:t> </a:t>
                      </a:r>
                      <a:r>
                        <a:rPr sz="1600" spc="-10" dirty="0">
                          <a:solidFill>
                            <a:srgbClr val="FE0000"/>
                          </a:solidFill>
                          <a:latin typeface="Calibri" panose="020F0502020204030204"/>
                          <a:cs typeface="Calibri" panose="020F0502020204030204"/>
                        </a:rPr>
                        <a:t>off</a:t>
                      </a:r>
                      <a:r>
                        <a:rPr sz="1600" spc="-10" dirty="0">
                          <a:solidFill>
                            <a:srgbClr val="34352F"/>
                          </a:solidFill>
                          <a:latin typeface="Calibri" panose="020F0502020204030204"/>
                          <a:cs typeface="Calibri" panose="020F0502020204030204"/>
                        </a:rPr>
                        <a:t>(OFF,0V)</a:t>
                      </a:r>
                      <a:endParaRPr sz="1600">
                        <a:latin typeface="Calibri" panose="020F0502020204030204"/>
                        <a:cs typeface="Calibri" panose="020F0502020204030204"/>
                      </a:endParaRPr>
                    </a:p>
                  </a:txBody>
                  <a:tcPr marL="0" marR="0" marT="0" marB="0"/>
                </a:tc>
              </a:tr>
            </a:tbl>
          </a:graphicData>
        </a:graphic>
      </p:graphicFrame>
      <p:sp>
        <p:nvSpPr>
          <p:cNvPr id="51" name="Text 0"/>
          <p:cNvSpPr/>
          <p:nvPr/>
        </p:nvSpPr>
        <p:spPr>
          <a:xfrm>
            <a:off x="284480" y="10922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电源</a:t>
            </a:r>
            <a:r>
              <a:rPr lang="zh-CN" altLang="en-US" sz="1730" b="1" dirty="0">
                <a:latin typeface="微软雅黑" panose="020B0503020204020204" pitchFamily="34" charset="-122"/>
                <a:ea typeface="微软雅黑" panose="020B0503020204020204" pitchFamily="34" charset="-122"/>
                <a:sym typeface="+mn-ea"/>
              </a:rPr>
              <a:t>状态表</a:t>
            </a:r>
            <a:endParaRPr lang="zh-CN" altLang="en-US" sz="1730" b="1" dirty="0">
              <a:latin typeface="微软雅黑" panose="020B0503020204020204" pitchFamily="34" charset="-122"/>
              <a:ea typeface="微软雅黑" panose="020B0503020204020204" pitchFamily="34" charset="-122"/>
              <a:sym typeface="+mn-ea"/>
            </a:endParaRPr>
          </a:p>
        </p:txBody>
      </p:sp>
      <p:sp>
        <p:nvSpPr>
          <p:cNvPr id="8" name="Text 0"/>
          <p:cNvSpPr/>
          <p:nvPr/>
        </p:nvSpPr>
        <p:spPr>
          <a:xfrm>
            <a:off x="284480" y="10922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电源</a:t>
            </a:r>
            <a:r>
              <a:rPr lang="zh-CN" altLang="en-US" sz="1730" b="1" dirty="0">
                <a:latin typeface="微软雅黑" panose="020B0503020204020204" pitchFamily="34" charset="-122"/>
                <a:ea typeface="微软雅黑" panose="020B0503020204020204" pitchFamily="34" charset="-122"/>
                <a:sym typeface="+mn-ea"/>
              </a:rPr>
              <a:t>状态表</a:t>
            </a:r>
            <a:endParaRPr lang="zh-CN" altLang="en-US" sz="1730" b="1"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3" name="object 3"/>
          <p:cNvSpPr txBox="1"/>
          <p:nvPr/>
        </p:nvSpPr>
        <p:spPr>
          <a:xfrm>
            <a:off x="382168" y="2810002"/>
            <a:ext cx="7906384" cy="1244600"/>
          </a:xfrm>
          <a:prstGeom prst="rect">
            <a:avLst/>
          </a:prstGeom>
        </p:spPr>
        <p:txBody>
          <a:bodyPr vert="horz" wrap="square" lIns="0" tIns="12065" rIns="0" bIns="0" rtlCol="0">
            <a:spAutoFit/>
          </a:bodyPr>
          <a:lstStyle/>
          <a:p>
            <a:pPr marL="12700">
              <a:lnSpc>
                <a:spcPct val="100000"/>
              </a:lnSpc>
              <a:spcBef>
                <a:spcPts val="95"/>
              </a:spcBef>
            </a:pPr>
            <a:r>
              <a:rPr sz="1600" i="1" spc="-10" dirty="0">
                <a:solidFill>
                  <a:srgbClr val="0000FE"/>
                </a:solidFill>
                <a:latin typeface="Calibri" panose="020F0502020204030204"/>
                <a:cs typeface="Calibri" panose="020F0502020204030204"/>
              </a:rPr>
              <a:t>add_power_state </a:t>
            </a:r>
            <a:r>
              <a:rPr sz="1600" i="1" dirty="0">
                <a:solidFill>
                  <a:srgbClr val="34352F"/>
                </a:solidFill>
                <a:latin typeface="Calibri" panose="020F0502020204030204"/>
                <a:cs typeface="Calibri" panose="020F0502020204030204"/>
              </a:rPr>
              <a:t>pd1</a:t>
            </a:r>
            <a:r>
              <a:rPr sz="1600" i="1" spc="-10" dirty="0">
                <a:solidFill>
                  <a:srgbClr val="34352F"/>
                </a:solidFill>
                <a:latin typeface="Calibri" panose="020F0502020204030204"/>
                <a:cs typeface="Calibri" panose="020F0502020204030204"/>
              </a:rPr>
              <a:t> </a:t>
            </a:r>
            <a:r>
              <a:rPr sz="1600" i="1" spc="-50" dirty="0">
                <a:solidFill>
                  <a:srgbClr val="34352F"/>
                </a:solidFill>
                <a:latin typeface="Calibri" panose="020F0502020204030204"/>
                <a:cs typeface="Calibri" panose="020F0502020204030204"/>
              </a:rPr>
              <a:t>\</a:t>
            </a:r>
            <a:endParaRPr sz="1600">
              <a:latin typeface="Calibri" panose="020F0502020204030204"/>
              <a:cs typeface="Calibri" panose="020F0502020204030204"/>
            </a:endParaRPr>
          </a:p>
          <a:p>
            <a:pPr marL="242570">
              <a:lnSpc>
                <a:spcPct val="100000"/>
              </a:lnSpc>
              <a:tabLst>
                <a:tab pos="1477645" algn="l"/>
              </a:tabLst>
            </a:pPr>
            <a:r>
              <a:rPr sz="1600" i="1" dirty="0">
                <a:solidFill>
                  <a:srgbClr val="34352F"/>
                </a:solidFill>
                <a:latin typeface="Calibri" panose="020F0502020204030204"/>
                <a:cs typeface="Calibri" panose="020F0502020204030204"/>
              </a:rPr>
              <a:t>-state</a:t>
            </a:r>
            <a:r>
              <a:rPr sz="1600" i="1" spc="-90" dirty="0">
                <a:solidFill>
                  <a:srgbClr val="34352F"/>
                </a:solidFill>
                <a:latin typeface="Calibri" panose="020F0502020204030204"/>
                <a:cs typeface="Calibri" panose="020F0502020204030204"/>
              </a:rPr>
              <a:t> </a:t>
            </a:r>
            <a:r>
              <a:rPr sz="1600" i="1" spc="-20" dirty="0">
                <a:solidFill>
                  <a:srgbClr val="34352F"/>
                </a:solidFill>
                <a:latin typeface="Calibri" panose="020F0502020204030204"/>
                <a:cs typeface="Calibri" panose="020F0502020204030204"/>
              </a:rPr>
              <a:t>ON_LO</a:t>
            </a:r>
            <a:r>
              <a:rPr sz="1600" i="1" dirty="0">
                <a:solidFill>
                  <a:srgbClr val="34352F"/>
                </a:solidFill>
                <a:latin typeface="Calibri" panose="020F0502020204030204"/>
                <a:cs typeface="Calibri" panose="020F0502020204030204"/>
              </a:rPr>
              <a:t>	{</a:t>
            </a:r>
            <a:r>
              <a:rPr sz="1600" i="1" spc="-35" dirty="0">
                <a:solidFill>
                  <a:srgbClr val="34352F"/>
                </a:solidFill>
                <a:latin typeface="Calibri" panose="020F0502020204030204"/>
                <a:cs typeface="Calibri" panose="020F0502020204030204"/>
              </a:rPr>
              <a:t> </a:t>
            </a:r>
            <a:r>
              <a:rPr sz="1600" i="1" dirty="0">
                <a:solidFill>
                  <a:srgbClr val="0000FE"/>
                </a:solidFill>
                <a:latin typeface="Calibri" panose="020F0502020204030204"/>
                <a:cs typeface="Calibri" panose="020F0502020204030204"/>
              </a:rPr>
              <a:t>-</a:t>
            </a:r>
            <a:r>
              <a:rPr sz="1600" i="1" spc="-10" dirty="0">
                <a:solidFill>
                  <a:srgbClr val="0000FE"/>
                </a:solidFill>
                <a:latin typeface="Calibri" panose="020F0502020204030204"/>
                <a:cs typeface="Calibri" panose="020F0502020204030204"/>
              </a:rPr>
              <a:t>logic_expr</a:t>
            </a:r>
            <a:r>
              <a:rPr sz="1600" i="1" spc="-35" dirty="0">
                <a:solidFill>
                  <a:srgbClr val="0000FE"/>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{SS_VDD</a:t>
            </a:r>
            <a:r>
              <a:rPr sz="1600" i="1" spc="-5"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a:t>
            </a:r>
            <a:r>
              <a:rPr sz="1600" i="1" spc="-40"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high</a:t>
            </a:r>
            <a:r>
              <a:rPr sz="1600" i="1" spc="-25"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&amp;&amp;</a:t>
            </a:r>
            <a:r>
              <a:rPr sz="1600" i="1" spc="-40"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SS_VDDL</a:t>
            </a:r>
            <a:r>
              <a:rPr sz="1600" i="1" spc="-10"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a:t>
            </a:r>
            <a:r>
              <a:rPr sz="1600" i="1" spc="-25"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low</a:t>
            </a:r>
            <a:r>
              <a:rPr sz="1600" i="1" spc="-35"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&amp;&amp;</a:t>
            </a:r>
            <a:r>
              <a:rPr sz="1600" i="1" spc="-45"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SS_VDDLS1</a:t>
            </a:r>
            <a:r>
              <a:rPr sz="1600" i="1" spc="10"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a:t>
            </a:r>
            <a:r>
              <a:rPr sz="1600" i="1" spc="-30"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low}}</a:t>
            </a:r>
            <a:r>
              <a:rPr sz="1600" i="1" spc="-5" dirty="0">
                <a:solidFill>
                  <a:srgbClr val="34352F"/>
                </a:solidFill>
                <a:latin typeface="Calibri" panose="020F0502020204030204"/>
                <a:cs typeface="Calibri" panose="020F0502020204030204"/>
              </a:rPr>
              <a:t> </a:t>
            </a:r>
            <a:r>
              <a:rPr sz="1600" i="1" spc="-50" dirty="0">
                <a:solidFill>
                  <a:srgbClr val="34352F"/>
                </a:solidFill>
                <a:latin typeface="Calibri" panose="020F0502020204030204"/>
                <a:cs typeface="Calibri" panose="020F0502020204030204"/>
              </a:rPr>
              <a:t>\</a:t>
            </a:r>
            <a:endParaRPr sz="1600">
              <a:latin typeface="Calibri" panose="020F0502020204030204"/>
              <a:cs typeface="Calibri" panose="020F0502020204030204"/>
            </a:endParaRPr>
          </a:p>
          <a:p>
            <a:pPr marL="242570">
              <a:lnSpc>
                <a:spcPct val="100000"/>
              </a:lnSpc>
              <a:tabLst>
                <a:tab pos="1489075" algn="l"/>
              </a:tabLst>
            </a:pPr>
            <a:r>
              <a:rPr sz="1600" i="1" dirty="0">
                <a:solidFill>
                  <a:srgbClr val="34352F"/>
                </a:solidFill>
                <a:latin typeface="Calibri" panose="020F0502020204030204"/>
                <a:cs typeface="Calibri" panose="020F0502020204030204"/>
              </a:rPr>
              <a:t>-state</a:t>
            </a:r>
            <a:r>
              <a:rPr sz="1600" i="1" spc="-90" dirty="0">
                <a:solidFill>
                  <a:srgbClr val="34352F"/>
                </a:solidFill>
                <a:latin typeface="Calibri" panose="020F0502020204030204"/>
                <a:cs typeface="Calibri" panose="020F0502020204030204"/>
              </a:rPr>
              <a:t> </a:t>
            </a:r>
            <a:r>
              <a:rPr sz="1600" i="1" spc="-10" dirty="0">
                <a:solidFill>
                  <a:srgbClr val="34352F"/>
                </a:solidFill>
                <a:latin typeface="Calibri" panose="020F0502020204030204"/>
                <a:cs typeface="Calibri" panose="020F0502020204030204"/>
              </a:rPr>
              <a:t>ON_HI</a:t>
            </a:r>
            <a:r>
              <a:rPr sz="1600" i="1" dirty="0">
                <a:solidFill>
                  <a:srgbClr val="34352F"/>
                </a:solidFill>
                <a:latin typeface="Calibri" panose="020F0502020204030204"/>
                <a:cs typeface="Calibri" panose="020F0502020204030204"/>
              </a:rPr>
              <a:t>	{</a:t>
            </a:r>
            <a:r>
              <a:rPr sz="1600" i="1" spc="-40" dirty="0">
                <a:solidFill>
                  <a:srgbClr val="34352F"/>
                </a:solidFill>
                <a:latin typeface="Calibri" panose="020F0502020204030204"/>
                <a:cs typeface="Calibri" panose="020F0502020204030204"/>
              </a:rPr>
              <a:t> </a:t>
            </a:r>
            <a:r>
              <a:rPr sz="1600" i="1" dirty="0">
                <a:solidFill>
                  <a:srgbClr val="0000FE"/>
                </a:solidFill>
                <a:latin typeface="Calibri" panose="020F0502020204030204"/>
                <a:cs typeface="Calibri" panose="020F0502020204030204"/>
              </a:rPr>
              <a:t>-</a:t>
            </a:r>
            <a:r>
              <a:rPr sz="1600" i="1" spc="-10" dirty="0">
                <a:solidFill>
                  <a:srgbClr val="0000FE"/>
                </a:solidFill>
                <a:latin typeface="Calibri" panose="020F0502020204030204"/>
                <a:cs typeface="Calibri" panose="020F0502020204030204"/>
              </a:rPr>
              <a:t>logic_expr</a:t>
            </a:r>
            <a:r>
              <a:rPr sz="1600" i="1" spc="-40" dirty="0">
                <a:solidFill>
                  <a:srgbClr val="0000FE"/>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{SS_VDD</a:t>
            </a:r>
            <a:r>
              <a:rPr sz="1600" i="1" spc="-5"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a:t>
            </a:r>
            <a:r>
              <a:rPr sz="1600" i="1" spc="-30"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high</a:t>
            </a:r>
            <a:r>
              <a:rPr sz="1600" i="1" spc="-30"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&amp;&amp;</a:t>
            </a:r>
            <a:r>
              <a:rPr sz="1600" i="1" spc="-45"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SS_VDDL ==</a:t>
            </a:r>
            <a:r>
              <a:rPr sz="1600" i="1" spc="-35"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high</a:t>
            </a:r>
            <a:r>
              <a:rPr sz="1600" i="1" spc="-30"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&amp;&amp;</a:t>
            </a:r>
            <a:r>
              <a:rPr sz="1600" i="1" spc="-50"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SS_VDDLS1</a:t>
            </a:r>
            <a:r>
              <a:rPr sz="1600" i="1" spc="10"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a:t>
            </a:r>
            <a:r>
              <a:rPr sz="1600" i="1" spc="-30"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high}} </a:t>
            </a:r>
            <a:r>
              <a:rPr sz="1600" i="1" spc="-50" dirty="0">
                <a:solidFill>
                  <a:srgbClr val="34352F"/>
                </a:solidFill>
                <a:latin typeface="Calibri" panose="020F0502020204030204"/>
                <a:cs typeface="Calibri" panose="020F0502020204030204"/>
              </a:rPr>
              <a:t>\</a:t>
            </a:r>
            <a:endParaRPr sz="1600">
              <a:latin typeface="Calibri" panose="020F0502020204030204"/>
              <a:cs typeface="Calibri" panose="020F0502020204030204"/>
            </a:endParaRPr>
          </a:p>
          <a:p>
            <a:pPr marL="242570">
              <a:lnSpc>
                <a:spcPct val="100000"/>
              </a:lnSpc>
            </a:pPr>
            <a:r>
              <a:rPr sz="1600" i="1" dirty="0">
                <a:solidFill>
                  <a:srgbClr val="34352F"/>
                </a:solidFill>
                <a:latin typeface="Calibri" panose="020F0502020204030204"/>
                <a:cs typeface="Calibri" panose="020F0502020204030204"/>
              </a:rPr>
              <a:t>-state</a:t>
            </a:r>
            <a:r>
              <a:rPr sz="1600" i="1" spc="-50"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OFF_LO</a:t>
            </a:r>
            <a:r>
              <a:rPr sz="1600" i="1" spc="305"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a:t>
            </a:r>
            <a:r>
              <a:rPr sz="1600" i="1" spc="-40" dirty="0">
                <a:solidFill>
                  <a:srgbClr val="34352F"/>
                </a:solidFill>
                <a:latin typeface="Calibri" panose="020F0502020204030204"/>
                <a:cs typeface="Calibri" panose="020F0502020204030204"/>
              </a:rPr>
              <a:t> </a:t>
            </a:r>
            <a:r>
              <a:rPr sz="1600" i="1" dirty="0">
                <a:solidFill>
                  <a:srgbClr val="0000FE"/>
                </a:solidFill>
                <a:latin typeface="Calibri" panose="020F0502020204030204"/>
                <a:cs typeface="Calibri" panose="020F0502020204030204"/>
              </a:rPr>
              <a:t>-</a:t>
            </a:r>
            <a:r>
              <a:rPr sz="1600" i="1" spc="-10" dirty="0">
                <a:solidFill>
                  <a:srgbClr val="0000FE"/>
                </a:solidFill>
                <a:latin typeface="Calibri" panose="020F0502020204030204"/>
                <a:cs typeface="Calibri" panose="020F0502020204030204"/>
              </a:rPr>
              <a:t>logic_expr</a:t>
            </a:r>
            <a:r>
              <a:rPr sz="1600" i="1" spc="-40" dirty="0">
                <a:solidFill>
                  <a:srgbClr val="0000FE"/>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{SS_VDD</a:t>
            </a:r>
            <a:r>
              <a:rPr sz="1600" i="1" spc="-10"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a:t>
            </a:r>
            <a:r>
              <a:rPr sz="1600" i="1" spc="-30"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high</a:t>
            </a:r>
            <a:r>
              <a:rPr sz="1600" i="1" spc="-40"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&amp;&amp;</a:t>
            </a:r>
            <a:r>
              <a:rPr sz="1600" i="1" spc="-45"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SS_VDDL</a:t>
            </a:r>
            <a:r>
              <a:rPr sz="1600" i="1" spc="-15"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a:t>
            </a:r>
            <a:r>
              <a:rPr sz="1600" i="1" spc="-30"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low</a:t>
            </a:r>
            <a:r>
              <a:rPr sz="1600" i="1" spc="-35"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&amp;&amp;</a:t>
            </a:r>
            <a:r>
              <a:rPr sz="1600" i="1" spc="-40"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SS_VDDLS1</a:t>
            </a:r>
            <a:r>
              <a:rPr sz="1600" i="1" spc="-10"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a:t>
            </a:r>
            <a:r>
              <a:rPr sz="1600" i="1" spc="-30"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off}}</a:t>
            </a:r>
            <a:r>
              <a:rPr sz="1600" i="1" spc="-10" dirty="0">
                <a:solidFill>
                  <a:srgbClr val="34352F"/>
                </a:solidFill>
                <a:latin typeface="Calibri" panose="020F0502020204030204"/>
                <a:cs typeface="Calibri" panose="020F0502020204030204"/>
              </a:rPr>
              <a:t> </a:t>
            </a:r>
            <a:r>
              <a:rPr sz="1600" i="1" spc="-50" dirty="0">
                <a:solidFill>
                  <a:srgbClr val="34352F"/>
                </a:solidFill>
                <a:latin typeface="Calibri" panose="020F0502020204030204"/>
                <a:cs typeface="Calibri" panose="020F0502020204030204"/>
              </a:rPr>
              <a:t>\</a:t>
            </a:r>
            <a:endParaRPr sz="1600">
              <a:latin typeface="Calibri" panose="020F0502020204030204"/>
              <a:cs typeface="Calibri" panose="020F0502020204030204"/>
            </a:endParaRPr>
          </a:p>
          <a:p>
            <a:pPr marL="242570">
              <a:lnSpc>
                <a:spcPct val="100000"/>
              </a:lnSpc>
              <a:tabLst>
                <a:tab pos="1498600" algn="l"/>
              </a:tabLst>
            </a:pPr>
            <a:r>
              <a:rPr sz="1600" i="1" dirty="0">
                <a:solidFill>
                  <a:srgbClr val="34352F"/>
                </a:solidFill>
                <a:latin typeface="Calibri" panose="020F0502020204030204"/>
                <a:cs typeface="Calibri" panose="020F0502020204030204"/>
              </a:rPr>
              <a:t>-state</a:t>
            </a:r>
            <a:r>
              <a:rPr sz="1600" i="1" spc="-90" dirty="0">
                <a:solidFill>
                  <a:srgbClr val="34352F"/>
                </a:solidFill>
                <a:latin typeface="Calibri" panose="020F0502020204030204"/>
                <a:cs typeface="Calibri" panose="020F0502020204030204"/>
              </a:rPr>
              <a:t> </a:t>
            </a:r>
            <a:r>
              <a:rPr sz="1600" i="1" spc="-10" dirty="0">
                <a:solidFill>
                  <a:srgbClr val="34352F"/>
                </a:solidFill>
                <a:latin typeface="Calibri" panose="020F0502020204030204"/>
                <a:cs typeface="Calibri" panose="020F0502020204030204"/>
              </a:rPr>
              <a:t>OFF_HI</a:t>
            </a:r>
            <a:r>
              <a:rPr sz="1600" i="1" dirty="0">
                <a:solidFill>
                  <a:srgbClr val="34352F"/>
                </a:solidFill>
                <a:latin typeface="Calibri" panose="020F0502020204030204"/>
                <a:cs typeface="Calibri" panose="020F0502020204030204"/>
              </a:rPr>
              <a:t>	{</a:t>
            </a:r>
            <a:r>
              <a:rPr sz="1600" i="1" spc="-45" dirty="0">
                <a:solidFill>
                  <a:srgbClr val="34352F"/>
                </a:solidFill>
                <a:latin typeface="Calibri" panose="020F0502020204030204"/>
                <a:cs typeface="Calibri" panose="020F0502020204030204"/>
              </a:rPr>
              <a:t> </a:t>
            </a:r>
            <a:r>
              <a:rPr sz="1600" i="1" dirty="0">
                <a:solidFill>
                  <a:srgbClr val="0000FE"/>
                </a:solidFill>
                <a:latin typeface="Calibri" panose="020F0502020204030204"/>
                <a:cs typeface="Calibri" panose="020F0502020204030204"/>
              </a:rPr>
              <a:t>-logic_expr</a:t>
            </a:r>
            <a:r>
              <a:rPr sz="1600" i="1" spc="-35" dirty="0">
                <a:solidFill>
                  <a:srgbClr val="0000FE"/>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{SS_VDD</a:t>
            </a:r>
            <a:r>
              <a:rPr sz="1600" i="1" spc="-15"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a:t>
            </a:r>
            <a:r>
              <a:rPr sz="1600" i="1" spc="-45"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high</a:t>
            </a:r>
            <a:r>
              <a:rPr sz="1600" i="1" spc="-35"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&amp;&amp;</a:t>
            </a:r>
            <a:r>
              <a:rPr sz="1600" i="1" spc="-55"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SS_VDDL</a:t>
            </a:r>
            <a:r>
              <a:rPr sz="1600" i="1" spc="-5"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a:t>
            </a:r>
            <a:r>
              <a:rPr sz="1600" i="1" spc="-45"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high</a:t>
            </a:r>
            <a:r>
              <a:rPr sz="1600" i="1" spc="-35"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&amp;&amp;</a:t>
            </a:r>
            <a:r>
              <a:rPr sz="1600" i="1" spc="-45"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SS_VDDLS1</a:t>
            </a:r>
            <a:r>
              <a:rPr sz="1600" i="1" spc="-10" dirty="0">
                <a:solidFill>
                  <a:srgbClr val="34352F"/>
                </a:solidFill>
                <a:latin typeface="Calibri" panose="020F0502020204030204"/>
                <a:cs typeface="Calibri" panose="020F0502020204030204"/>
              </a:rPr>
              <a:t> </a:t>
            </a:r>
            <a:r>
              <a:rPr sz="1600" i="1" dirty="0">
                <a:solidFill>
                  <a:srgbClr val="34352F"/>
                </a:solidFill>
                <a:latin typeface="Calibri" panose="020F0502020204030204"/>
                <a:cs typeface="Calibri" panose="020F0502020204030204"/>
              </a:rPr>
              <a:t>==</a:t>
            </a:r>
            <a:r>
              <a:rPr sz="1600" i="1" spc="-35" dirty="0">
                <a:solidFill>
                  <a:srgbClr val="34352F"/>
                </a:solidFill>
                <a:latin typeface="Calibri" panose="020F0502020204030204"/>
                <a:cs typeface="Calibri" panose="020F0502020204030204"/>
              </a:rPr>
              <a:t> </a:t>
            </a:r>
            <a:r>
              <a:rPr sz="1600" i="1" spc="-10" dirty="0">
                <a:solidFill>
                  <a:srgbClr val="34352F"/>
                </a:solidFill>
                <a:latin typeface="Calibri" panose="020F0502020204030204"/>
                <a:cs typeface="Calibri" panose="020F0502020204030204"/>
              </a:rPr>
              <a:t>off}}</a:t>
            </a:r>
            <a:endParaRPr sz="16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2154153" y="721957"/>
            <a:ext cx="4105736" cy="1821329"/>
          </a:xfrm>
          <a:prstGeom prst="rect">
            <a:avLst/>
          </a:prstGeom>
        </p:spPr>
      </p:pic>
      <p:graphicFrame>
        <p:nvGraphicFramePr>
          <p:cNvPr id="5" name="object 5"/>
          <p:cNvGraphicFramePr>
            <a:graphicFrameLocks noGrp="1"/>
          </p:cNvGraphicFramePr>
          <p:nvPr/>
        </p:nvGraphicFramePr>
        <p:xfrm>
          <a:off x="2198458" y="728281"/>
          <a:ext cx="4109720" cy="1710055"/>
        </p:xfrm>
        <a:graphic>
          <a:graphicData uri="http://schemas.openxmlformats.org/drawingml/2006/table">
            <a:tbl>
              <a:tblPr firstRow="1" bandRow="1">
                <a:tableStyleId>{2D5ABB26-0587-4C30-8999-92F81FD0307C}</a:tableStyleId>
              </a:tblPr>
              <a:tblGrid>
                <a:gridCol w="1010919"/>
                <a:gridCol w="889634"/>
                <a:gridCol w="970280"/>
                <a:gridCol w="1133474"/>
              </a:tblGrid>
              <a:tr h="629920">
                <a:tc>
                  <a:txBody>
                    <a:bodyPr/>
                    <a:lstStyle/>
                    <a:p>
                      <a:pPr>
                        <a:lnSpc>
                          <a:spcPct val="100000"/>
                        </a:lnSpc>
                        <a:spcBef>
                          <a:spcPts val="345"/>
                        </a:spcBef>
                      </a:pPr>
                      <a:endParaRPr sz="1200">
                        <a:latin typeface="Times New Roman" panose="02020603050405020304"/>
                        <a:cs typeface="Times New Roman" panose="02020603050405020304"/>
                      </a:endParaRPr>
                    </a:p>
                    <a:p>
                      <a:pPr algn="ctr">
                        <a:lnSpc>
                          <a:spcPct val="100000"/>
                        </a:lnSpc>
                        <a:spcBef>
                          <a:spcPts val="5"/>
                        </a:spcBef>
                      </a:pPr>
                      <a:r>
                        <a:rPr sz="1200" b="1" dirty="0">
                          <a:latin typeface="Arial" panose="020B0604020202020204"/>
                          <a:cs typeface="Arial" panose="020B0604020202020204"/>
                        </a:rPr>
                        <a:t>Power</a:t>
                      </a:r>
                      <a:r>
                        <a:rPr sz="1200" b="1" spc="-35" dirty="0">
                          <a:latin typeface="Arial" panose="020B0604020202020204"/>
                          <a:cs typeface="Arial" panose="020B0604020202020204"/>
                        </a:rPr>
                        <a:t> </a:t>
                      </a:r>
                      <a:r>
                        <a:rPr sz="1200" b="1" spc="-10" dirty="0">
                          <a:latin typeface="Arial" panose="020B0604020202020204"/>
                          <a:cs typeface="Arial" panose="020B0604020202020204"/>
                        </a:rPr>
                        <a:t>State</a:t>
                      </a:r>
                      <a:endParaRPr sz="1200">
                        <a:latin typeface="Arial" panose="020B0604020202020204"/>
                        <a:cs typeface="Arial" panose="020B0604020202020204"/>
                      </a:endParaRPr>
                    </a:p>
                  </a:txBody>
                  <a:tcPr marL="0" marR="0" marT="43815" marB="0">
                    <a:lnL w="28575">
                      <a:solidFill>
                        <a:srgbClr val="34352F"/>
                      </a:solidFill>
                      <a:prstDash val="solid"/>
                    </a:lnL>
                    <a:lnR w="12700">
                      <a:solidFill>
                        <a:srgbClr val="34352F"/>
                      </a:solidFill>
                      <a:prstDash val="solid"/>
                    </a:lnR>
                    <a:lnT w="28575">
                      <a:solidFill>
                        <a:srgbClr val="34352F"/>
                      </a:solidFill>
                      <a:prstDash val="solid"/>
                    </a:lnT>
                    <a:lnB w="12700">
                      <a:solidFill>
                        <a:srgbClr val="34352F"/>
                      </a:solidFill>
                      <a:prstDash val="solid"/>
                    </a:lnB>
                    <a:solidFill>
                      <a:srgbClr val="FEFEFE"/>
                    </a:solidFill>
                  </a:tcPr>
                </a:tc>
                <a:tc>
                  <a:txBody>
                    <a:bodyPr/>
                    <a:lstStyle/>
                    <a:p>
                      <a:pPr marL="1270" algn="ctr">
                        <a:lnSpc>
                          <a:spcPct val="100000"/>
                        </a:lnSpc>
                        <a:spcBef>
                          <a:spcPts val="240"/>
                        </a:spcBef>
                      </a:pPr>
                      <a:r>
                        <a:rPr sz="1100" b="1" spc="-10" dirty="0">
                          <a:solidFill>
                            <a:srgbClr val="34352F"/>
                          </a:solidFill>
                          <a:latin typeface="Arial" panose="020B0604020202020204"/>
                          <a:cs typeface="Arial" panose="020B0604020202020204"/>
                        </a:rPr>
                        <a:t>SS_VDD</a:t>
                      </a:r>
                      <a:endParaRPr sz="1100">
                        <a:latin typeface="Arial" panose="020B0604020202020204"/>
                        <a:cs typeface="Arial" panose="020B0604020202020204"/>
                      </a:endParaRPr>
                    </a:p>
                    <a:p>
                      <a:pPr algn="ctr">
                        <a:lnSpc>
                          <a:spcPct val="100000"/>
                        </a:lnSpc>
                        <a:spcBef>
                          <a:spcPts val="465"/>
                        </a:spcBef>
                      </a:pPr>
                      <a:r>
                        <a:rPr sz="1100" b="1" spc="-10" dirty="0">
                          <a:solidFill>
                            <a:srgbClr val="34352F"/>
                          </a:solidFill>
                          <a:latin typeface="Arial" panose="020B0604020202020204"/>
                          <a:cs typeface="Arial" panose="020B0604020202020204"/>
                        </a:rPr>
                        <a:t>(VDD+VSS)</a:t>
                      </a:r>
                      <a:endParaRPr sz="1100">
                        <a:latin typeface="Arial" panose="020B0604020202020204"/>
                        <a:cs typeface="Arial" panose="020B0604020202020204"/>
                      </a:endParaRPr>
                    </a:p>
                  </a:txBody>
                  <a:tcPr marL="0" marR="0" marT="30480" marB="0">
                    <a:lnL w="12700">
                      <a:solidFill>
                        <a:srgbClr val="34352F"/>
                      </a:solidFill>
                      <a:prstDash val="solid"/>
                    </a:lnL>
                    <a:lnR w="12700">
                      <a:solidFill>
                        <a:srgbClr val="34352F"/>
                      </a:solidFill>
                      <a:prstDash val="solid"/>
                    </a:lnR>
                    <a:lnT w="28575">
                      <a:solidFill>
                        <a:srgbClr val="34352F"/>
                      </a:solidFill>
                      <a:prstDash val="solid"/>
                    </a:lnT>
                    <a:lnB w="12700">
                      <a:solidFill>
                        <a:srgbClr val="34352F"/>
                      </a:solidFill>
                      <a:prstDash val="solid"/>
                    </a:lnB>
                    <a:solidFill>
                      <a:srgbClr val="FECBFE"/>
                    </a:solidFill>
                  </a:tcPr>
                </a:tc>
                <a:tc>
                  <a:txBody>
                    <a:bodyPr/>
                    <a:lstStyle/>
                    <a:p>
                      <a:pPr algn="ctr">
                        <a:lnSpc>
                          <a:spcPct val="100000"/>
                        </a:lnSpc>
                        <a:spcBef>
                          <a:spcPts val="240"/>
                        </a:spcBef>
                      </a:pPr>
                      <a:r>
                        <a:rPr sz="1100" b="1" spc="-10" dirty="0">
                          <a:solidFill>
                            <a:srgbClr val="34352F"/>
                          </a:solidFill>
                          <a:latin typeface="Arial" panose="020B0604020202020204"/>
                          <a:cs typeface="Arial" panose="020B0604020202020204"/>
                        </a:rPr>
                        <a:t>SS_VDDL</a:t>
                      </a:r>
                      <a:endParaRPr sz="1100">
                        <a:latin typeface="Arial" panose="020B0604020202020204"/>
                        <a:cs typeface="Arial" panose="020B0604020202020204"/>
                      </a:endParaRPr>
                    </a:p>
                    <a:p>
                      <a:pPr marL="1270" algn="ctr">
                        <a:lnSpc>
                          <a:spcPct val="100000"/>
                        </a:lnSpc>
                        <a:spcBef>
                          <a:spcPts val="465"/>
                        </a:spcBef>
                      </a:pPr>
                      <a:r>
                        <a:rPr sz="1100" b="1" spc="-10" dirty="0">
                          <a:solidFill>
                            <a:srgbClr val="34352F"/>
                          </a:solidFill>
                          <a:latin typeface="Arial" panose="020B0604020202020204"/>
                          <a:cs typeface="Arial" panose="020B0604020202020204"/>
                        </a:rPr>
                        <a:t>(VDDL+VSS</a:t>
                      </a:r>
                      <a:endParaRPr sz="1100">
                        <a:latin typeface="Arial" panose="020B0604020202020204"/>
                        <a:cs typeface="Arial" panose="020B0604020202020204"/>
                      </a:endParaRPr>
                    </a:p>
                    <a:p>
                      <a:pPr marL="635" algn="ctr">
                        <a:lnSpc>
                          <a:spcPct val="100000"/>
                        </a:lnSpc>
                      </a:pPr>
                      <a:r>
                        <a:rPr sz="1100" b="1" spc="-50" dirty="0">
                          <a:solidFill>
                            <a:srgbClr val="34352F"/>
                          </a:solidFill>
                          <a:latin typeface="Arial" panose="020B0604020202020204"/>
                          <a:cs typeface="Arial" panose="020B0604020202020204"/>
                        </a:rPr>
                        <a:t>)</a:t>
                      </a:r>
                      <a:endParaRPr sz="1100">
                        <a:latin typeface="Arial" panose="020B0604020202020204"/>
                        <a:cs typeface="Arial" panose="020B0604020202020204"/>
                      </a:endParaRPr>
                    </a:p>
                  </a:txBody>
                  <a:tcPr marL="0" marR="0" marT="30480" marB="0">
                    <a:lnL w="12700">
                      <a:solidFill>
                        <a:srgbClr val="34352F"/>
                      </a:solidFill>
                      <a:prstDash val="solid"/>
                    </a:lnL>
                    <a:lnR w="12700">
                      <a:solidFill>
                        <a:srgbClr val="34352F"/>
                      </a:solidFill>
                      <a:prstDash val="solid"/>
                    </a:lnR>
                    <a:lnT w="28575">
                      <a:solidFill>
                        <a:srgbClr val="34352F"/>
                      </a:solidFill>
                      <a:prstDash val="solid"/>
                    </a:lnT>
                    <a:lnB w="12700">
                      <a:solidFill>
                        <a:srgbClr val="34352F"/>
                      </a:solidFill>
                      <a:prstDash val="solid"/>
                    </a:lnB>
                    <a:solidFill>
                      <a:srgbClr val="52D4D1"/>
                    </a:solidFill>
                  </a:tcPr>
                </a:tc>
                <a:tc>
                  <a:txBody>
                    <a:bodyPr/>
                    <a:lstStyle/>
                    <a:p>
                      <a:pPr algn="ctr">
                        <a:lnSpc>
                          <a:spcPct val="100000"/>
                        </a:lnSpc>
                        <a:spcBef>
                          <a:spcPts val="240"/>
                        </a:spcBef>
                      </a:pPr>
                      <a:r>
                        <a:rPr sz="1100" b="1" spc="-10" dirty="0">
                          <a:solidFill>
                            <a:srgbClr val="34352F"/>
                          </a:solidFill>
                          <a:latin typeface="Arial" panose="020B0604020202020204"/>
                          <a:cs typeface="Arial" panose="020B0604020202020204"/>
                        </a:rPr>
                        <a:t>SS_VDDLS1</a:t>
                      </a:r>
                      <a:endParaRPr sz="1100">
                        <a:latin typeface="Arial" panose="020B0604020202020204"/>
                        <a:cs typeface="Arial" panose="020B0604020202020204"/>
                      </a:endParaRPr>
                    </a:p>
                    <a:p>
                      <a:pPr marL="1270" algn="ctr">
                        <a:lnSpc>
                          <a:spcPct val="100000"/>
                        </a:lnSpc>
                        <a:spcBef>
                          <a:spcPts val="465"/>
                        </a:spcBef>
                      </a:pPr>
                      <a:r>
                        <a:rPr sz="1100" b="1" spc="-10" dirty="0">
                          <a:solidFill>
                            <a:srgbClr val="34352F"/>
                          </a:solidFill>
                          <a:latin typeface="Arial" panose="020B0604020202020204"/>
                          <a:cs typeface="Arial" panose="020B0604020202020204"/>
                        </a:rPr>
                        <a:t>(VDDLS1+VSS</a:t>
                      </a:r>
                      <a:endParaRPr sz="1100">
                        <a:latin typeface="Arial" panose="020B0604020202020204"/>
                        <a:cs typeface="Arial" panose="020B0604020202020204"/>
                      </a:endParaRPr>
                    </a:p>
                    <a:p>
                      <a:pPr marL="635" algn="ctr">
                        <a:lnSpc>
                          <a:spcPct val="100000"/>
                        </a:lnSpc>
                      </a:pPr>
                      <a:r>
                        <a:rPr sz="1100" b="1" spc="-50" dirty="0">
                          <a:solidFill>
                            <a:srgbClr val="34352F"/>
                          </a:solidFill>
                          <a:latin typeface="Arial" panose="020B0604020202020204"/>
                          <a:cs typeface="Arial" panose="020B0604020202020204"/>
                        </a:rPr>
                        <a:t>)</a:t>
                      </a:r>
                      <a:endParaRPr sz="1100">
                        <a:latin typeface="Arial" panose="020B0604020202020204"/>
                        <a:cs typeface="Arial" panose="020B0604020202020204"/>
                      </a:endParaRPr>
                    </a:p>
                  </a:txBody>
                  <a:tcPr marL="0" marR="0" marT="30480" marB="0">
                    <a:lnL w="12700">
                      <a:solidFill>
                        <a:srgbClr val="34352F"/>
                      </a:solidFill>
                      <a:prstDash val="solid"/>
                    </a:lnL>
                    <a:lnR w="12700">
                      <a:solidFill>
                        <a:srgbClr val="34352F"/>
                      </a:solidFill>
                      <a:prstDash val="solid"/>
                    </a:lnR>
                    <a:lnT w="28575">
                      <a:solidFill>
                        <a:srgbClr val="34352F"/>
                      </a:solidFill>
                      <a:prstDash val="solid"/>
                    </a:lnT>
                    <a:lnB w="12700">
                      <a:solidFill>
                        <a:srgbClr val="34352F"/>
                      </a:solidFill>
                      <a:prstDash val="solid"/>
                    </a:lnB>
                    <a:solidFill>
                      <a:srgbClr val="9EEEF2"/>
                    </a:solidFill>
                  </a:tcPr>
                </a:tc>
              </a:tr>
              <a:tr h="269875">
                <a:tc>
                  <a:txBody>
                    <a:bodyPr/>
                    <a:lstStyle/>
                    <a:p>
                      <a:pPr algn="ctr">
                        <a:lnSpc>
                          <a:spcPct val="100000"/>
                        </a:lnSpc>
                        <a:spcBef>
                          <a:spcPts val="240"/>
                        </a:spcBef>
                      </a:pPr>
                      <a:r>
                        <a:rPr sz="1100" b="1" spc="-10" dirty="0">
                          <a:latin typeface="Arial" panose="020B0604020202020204"/>
                          <a:cs typeface="Arial" panose="020B0604020202020204"/>
                        </a:rPr>
                        <a:t>ON_LO</a:t>
                      </a:r>
                      <a:endParaRPr sz="1100">
                        <a:latin typeface="Arial" panose="020B0604020202020204"/>
                        <a:cs typeface="Arial" panose="020B0604020202020204"/>
                      </a:endParaRPr>
                    </a:p>
                  </a:txBody>
                  <a:tcPr marL="0" marR="0" marT="30480" marB="0">
                    <a:lnL w="28575">
                      <a:solidFill>
                        <a:srgbClr val="34352F"/>
                      </a:solidFill>
                      <a:prstDash val="solid"/>
                    </a:lnL>
                    <a:lnR w="12700">
                      <a:solidFill>
                        <a:srgbClr val="34352F"/>
                      </a:solidFill>
                      <a:prstDash val="solid"/>
                    </a:lnR>
                    <a:lnT w="12700">
                      <a:solidFill>
                        <a:srgbClr val="34352F"/>
                      </a:solidFill>
                      <a:prstDash val="solid"/>
                    </a:lnT>
                    <a:lnB w="12700">
                      <a:solidFill>
                        <a:srgbClr val="34352F"/>
                      </a:solidFill>
                      <a:prstDash val="solid"/>
                    </a:lnB>
                    <a:solidFill>
                      <a:srgbClr val="EF8600"/>
                    </a:solidFill>
                  </a:tcPr>
                </a:tc>
                <a:tc>
                  <a:txBody>
                    <a:bodyPr/>
                    <a:lstStyle/>
                    <a:p>
                      <a:pPr marL="1270" algn="ctr">
                        <a:lnSpc>
                          <a:spcPct val="100000"/>
                        </a:lnSpc>
                        <a:spcBef>
                          <a:spcPts val="240"/>
                        </a:spcBef>
                      </a:pPr>
                      <a:r>
                        <a:rPr sz="1100" b="1" spc="-20" dirty="0">
                          <a:latin typeface="Arial" panose="020B0604020202020204"/>
                          <a:cs typeface="Arial" panose="020B0604020202020204"/>
                        </a:rPr>
                        <a:t>high</a:t>
                      </a:r>
                      <a:endParaRPr sz="1100">
                        <a:latin typeface="Arial" panose="020B0604020202020204"/>
                        <a:cs typeface="Arial" panose="020B0604020202020204"/>
                      </a:endParaRPr>
                    </a:p>
                  </a:txBody>
                  <a:tcPr marL="0" marR="0" marT="30480" marB="0">
                    <a:lnL w="12700">
                      <a:solidFill>
                        <a:srgbClr val="34352F"/>
                      </a:solidFill>
                      <a:prstDash val="solid"/>
                    </a:lnL>
                    <a:lnR w="12700">
                      <a:solidFill>
                        <a:srgbClr val="34352F"/>
                      </a:solidFill>
                      <a:prstDash val="solid"/>
                    </a:lnR>
                    <a:lnT w="12700">
                      <a:solidFill>
                        <a:srgbClr val="34352F"/>
                      </a:solidFill>
                      <a:prstDash val="solid"/>
                    </a:lnT>
                    <a:lnB w="12700">
                      <a:solidFill>
                        <a:srgbClr val="34352F"/>
                      </a:solidFill>
                      <a:prstDash val="solid"/>
                    </a:lnB>
                    <a:solidFill>
                      <a:srgbClr val="EF8600"/>
                    </a:solidFill>
                  </a:tcPr>
                </a:tc>
                <a:tc>
                  <a:txBody>
                    <a:bodyPr/>
                    <a:lstStyle/>
                    <a:p>
                      <a:pPr algn="ctr">
                        <a:lnSpc>
                          <a:spcPct val="100000"/>
                        </a:lnSpc>
                        <a:spcBef>
                          <a:spcPts val="240"/>
                        </a:spcBef>
                      </a:pPr>
                      <a:r>
                        <a:rPr sz="1100" b="1" spc="-25" dirty="0">
                          <a:latin typeface="Arial" panose="020B0604020202020204"/>
                          <a:cs typeface="Arial" panose="020B0604020202020204"/>
                        </a:rPr>
                        <a:t>low</a:t>
                      </a:r>
                      <a:endParaRPr sz="1100">
                        <a:latin typeface="Arial" panose="020B0604020202020204"/>
                        <a:cs typeface="Arial" panose="020B0604020202020204"/>
                      </a:endParaRPr>
                    </a:p>
                  </a:txBody>
                  <a:tcPr marL="0" marR="0" marT="30480" marB="0">
                    <a:lnL w="12700">
                      <a:solidFill>
                        <a:srgbClr val="34352F"/>
                      </a:solidFill>
                      <a:prstDash val="solid"/>
                    </a:lnL>
                    <a:lnR w="12700">
                      <a:solidFill>
                        <a:srgbClr val="34352F"/>
                      </a:solidFill>
                      <a:prstDash val="solid"/>
                    </a:lnR>
                    <a:lnT w="12700">
                      <a:solidFill>
                        <a:srgbClr val="34352F"/>
                      </a:solidFill>
                      <a:prstDash val="solid"/>
                    </a:lnT>
                    <a:lnB w="12700">
                      <a:solidFill>
                        <a:srgbClr val="34352F"/>
                      </a:solidFill>
                      <a:prstDash val="solid"/>
                    </a:lnB>
                    <a:solidFill>
                      <a:srgbClr val="EF8600"/>
                    </a:solidFill>
                  </a:tcPr>
                </a:tc>
                <a:tc>
                  <a:txBody>
                    <a:bodyPr/>
                    <a:lstStyle/>
                    <a:p>
                      <a:pPr algn="ctr">
                        <a:lnSpc>
                          <a:spcPct val="100000"/>
                        </a:lnSpc>
                        <a:spcBef>
                          <a:spcPts val="240"/>
                        </a:spcBef>
                      </a:pPr>
                      <a:r>
                        <a:rPr sz="1100" b="1" spc="-25" dirty="0">
                          <a:latin typeface="Arial" panose="020B0604020202020204"/>
                          <a:cs typeface="Arial" panose="020B0604020202020204"/>
                        </a:rPr>
                        <a:t>low</a:t>
                      </a:r>
                      <a:endParaRPr sz="1100">
                        <a:latin typeface="Arial" panose="020B0604020202020204"/>
                        <a:cs typeface="Arial" panose="020B0604020202020204"/>
                      </a:endParaRPr>
                    </a:p>
                  </a:txBody>
                  <a:tcPr marL="0" marR="0" marT="30480" marB="0">
                    <a:lnL w="12700">
                      <a:solidFill>
                        <a:srgbClr val="34352F"/>
                      </a:solidFill>
                      <a:prstDash val="solid"/>
                    </a:lnL>
                    <a:lnR w="12700">
                      <a:solidFill>
                        <a:srgbClr val="34352F"/>
                      </a:solidFill>
                      <a:prstDash val="solid"/>
                    </a:lnR>
                    <a:lnT w="12700">
                      <a:solidFill>
                        <a:srgbClr val="34352F"/>
                      </a:solidFill>
                      <a:prstDash val="solid"/>
                    </a:lnT>
                    <a:lnB w="12700">
                      <a:solidFill>
                        <a:srgbClr val="34352F"/>
                      </a:solidFill>
                      <a:prstDash val="solid"/>
                    </a:lnB>
                    <a:solidFill>
                      <a:srgbClr val="EF8600"/>
                    </a:solidFill>
                  </a:tcPr>
                </a:tc>
              </a:tr>
              <a:tr h="270510">
                <a:tc>
                  <a:txBody>
                    <a:bodyPr/>
                    <a:lstStyle/>
                    <a:p>
                      <a:pPr algn="ctr">
                        <a:lnSpc>
                          <a:spcPct val="100000"/>
                        </a:lnSpc>
                        <a:spcBef>
                          <a:spcPts val="240"/>
                        </a:spcBef>
                      </a:pPr>
                      <a:r>
                        <a:rPr sz="1100" b="1" spc="-10" dirty="0">
                          <a:latin typeface="Arial" panose="020B0604020202020204"/>
                          <a:cs typeface="Arial" panose="020B0604020202020204"/>
                        </a:rPr>
                        <a:t>ON_HI</a:t>
                      </a:r>
                      <a:endParaRPr sz="1100">
                        <a:latin typeface="Arial" panose="020B0604020202020204"/>
                        <a:cs typeface="Arial" panose="020B0604020202020204"/>
                      </a:endParaRPr>
                    </a:p>
                  </a:txBody>
                  <a:tcPr marL="0" marR="0" marT="30480" marB="0">
                    <a:lnL w="28575">
                      <a:solidFill>
                        <a:srgbClr val="34352F"/>
                      </a:solidFill>
                      <a:prstDash val="solid"/>
                    </a:lnL>
                    <a:lnR w="12700">
                      <a:solidFill>
                        <a:srgbClr val="34352F"/>
                      </a:solidFill>
                      <a:prstDash val="solid"/>
                    </a:lnR>
                    <a:lnT w="12700">
                      <a:solidFill>
                        <a:srgbClr val="34352F"/>
                      </a:solidFill>
                      <a:prstDash val="solid"/>
                    </a:lnT>
                    <a:lnB w="12700">
                      <a:solidFill>
                        <a:srgbClr val="34352F"/>
                      </a:solidFill>
                      <a:prstDash val="solid"/>
                    </a:lnB>
                    <a:solidFill>
                      <a:srgbClr val="FEFEFE"/>
                    </a:solidFill>
                  </a:tcPr>
                </a:tc>
                <a:tc>
                  <a:txBody>
                    <a:bodyPr/>
                    <a:lstStyle/>
                    <a:p>
                      <a:pPr marL="1270" algn="ctr">
                        <a:lnSpc>
                          <a:spcPct val="100000"/>
                        </a:lnSpc>
                        <a:spcBef>
                          <a:spcPts val="240"/>
                        </a:spcBef>
                      </a:pPr>
                      <a:r>
                        <a:rPr sz="1100" b="1" spc="-20" dirty="0">
                          <a:latin typeface="Arial" panose="020B0604020202020204"/>
                          <a:cs typeface="Arial" panose="020B0604020202020204"/>
                        </a:rPr>
                        <a:t>high</a:t>
                      </a:r>
                      <a:endParaRPr sz="1100">
                        <a:latin typeface="Arial" panose="020B0604020202020204"/>
                        <a:cs typeface="Arial" panose="020B0604020202020204"/>
                      </a:endParaRPr>
                    </a:p>
                  </a:txBody>
                  <a:tcPr marL="0" marR="0" marT="30480" marB="0">
                    <a:lnL w="12700">
                      <a:solidFill>
                        <a:srgbClr val="34352F"/>
                      </a:solidFill>
                      <a:prstDash val="solid"/>
                    </a:lnL>
                    <a:lnR w="12700">
                      <a:solidFill>
                        <a:srgbClr val="34352F"/>
                      </a:solidFill>
                      <a:prstDash val="solid"/>
                    </a:lnR>
                    <a:lnT w="12700">
                      <a:solidFill>
                        <a:srgbClr val="34352F"/>
                      </a:solidFill>
                      <a:prstDash val="solid"/>
                    </a:lnT>
                    <a:lnB w="12700">
                      <a:solidFill>
                        <a:srgbClr val="34352F"/>
                      </a:solidFill>
                      <a:prstDash val="solid"/>
                    </a:lnB>
                    <a:solidFill>
                      <a:srgbClr val="FEFEFE"/>
                    </a:solidFill>
                  </a:tcPr>
                </a:tc>
                <a:tc>
                  <a:txBody>
                    <a:bodyPr/>
                    <a:lstStyle/>
                    <a:p>
                      <a:pPr algn="ctr">
                        <a:lnSpc>
                          <a:spcPct val="100000"/>
                        </a:lnSpc>
                        <a:spcBef>
                          <a:spcPts val="240"/>
                        </a:spcBef>
                      </a:pPr>
                      <a:r>
                        <a:rPr sz="1100" b="1" spc="-20" dirty="0">
                          <a:latin typeface="Arial" panose="020B0604020202020204"/>
                          <a:cs typeface="Arial" panose="020B0604020202020204"/>
                        </a:rPr>
                        <a:t>high</a:t>
                      </a:r>
                      <a:endParaRPr sz="1100">
                        <a:latin typeface="Arial" panose="020B0604020202020204"/>
                        <a:cs typeface="Arial" panose="020B0604020202020204"/>
                      </a:endParaRPr>
                    </a:p>
                  </a:txBody>
                  <a:tcPr marL="0" marR="0" marT="30480" marB="0">
                    <a:lnL w="12700">
                      <a:solidFill>
                        <a:srgbClr val="34352F"/>
                      </a:solidFill>
                      <a:prstDash val="solid"/>
                    </a:lnL>
                    <a:lnR w="12700">
                      <a:solidFill>
                        <a:srgbClr val="34352F"/>
                      </a:solidFill>
                      <a:prstDash val="solid"/>
                    </a:lnR>
                    <a:lnT w="12700">
                      <a:solidFill>
                        <a:srgbClr val="34352F"/>
                      </a:solidFill>
                      <a:prstDash val="solid"/>
                    </a:lnT>
                    <a:lnB w="12700">
                      <a:solidFill>
                        <a:srgbClr val="34352F"/>
                      </a:solidFill>
                      <a:prstDash val="solid"/>
                    </a:lnB>
                    <a:solidFill>
                      <a:srgbClr val="FEFEFE"/>
                    </a:solidFill>
                  </a:tcPr>
                </a:tc>
                <a:tc>
                  <a:txBody>
                    <a:bodyPr/>
                    <a:lstStyle/>
                    <a:p>
                      <a:pPr algn="ctr">
                        <a:lnSpc>
                          <a:spcPct val="100000"/>
                        </a:lnSpc>
                        <a:spcBef>
                          <a:spcPts val="240"/>
                        </a:spcBef>
                      </a:pPr>
                      <a:r>
                        <a:rPr sz="1100" b="1" spc="-20" dirty="0">
                          <a:latin typeface="Arial" panose="020B0604020202020204"/>
                          <a:cs typeface="Arial" panose="020B0604020202020204"/>
                        </a:rPr>
                        <a:t>high</a:t>
                      </a:r>
                      <a:endParaRPr sz="1100">
                        <a:latin typeface="Arial" panose="020B0604020202020204"/>
                        <a:cs typeface="Arial" panose="020B0604020202020204"/>
                      </a:endParaRPr>
                    </a:p>
                  </a:txBody>
                  <a:tcPr marL="0" marR="0" marT="30480" marB="0">
                    <a:lnL w="12700">
                      <a:solidFill>
                        <a:srgbClr val="34352F"/>
                      </a:solidFill>
                      <a:prstDash val="solid"/>
                    </a:lnL>
                    <a:lnR w="12700">
                      <a:solidFill>
                        <a:srgbClr val="34352F"/>
                      </a:solidFill>
                      <a:prstDash val="solid"/>
                    </a:lnR>
                    <a:lnT w="12700">
                      <a:solidFill>
                        <a:srgbClr val="34352F"/>
                      </a:solidFill>
                      <a:prstDash val="solid"/>
                    </a:lnT>
                    <a:lnB w="12700">
                      <a:solidFill>
                        <a:srgbClr val="34352F"/>
                      </a:solidFill>
                      <a:prstDash val="solid"/>
                    </a:lnB>
                    <a:solidFill>
                      <a:srgbClr val="FEFEFE"/>
                    </a:solidFill>
                  </a:tcPr>
                </a:tc>
              </a:tr>
              <a:tr h="269875">
                <a:tc>
                  <a:txBody>
                    <a:bodyPr/>
                    <a:lstStyle/>
                    <a:p>
                      <a:pPr algn="ctr">
                        <a:lnSpc>
                          <a:spcPct val="100000"/>
                        </a:lnSpc>
                        <a:spcBef>
                          <a:spcPts val="240"/>
                        </a:spcBef>
                      </a:pPr>
                      <a:r>
                        <a:rPr sz="1100" b="1" spc="-10" dirty="0">
                          <a:latin typeface="Arial" panose="020B0604020202020204"/>
                          <a:cs typeface="Arial" panose="020B0604020202020204"/>
                        </a:rPr>
                        <a:t>OFF_LO</a:t>
                      </a:r>
                      <a:endParaRPr sz="1100">
                        <a:latin typeface="Arial" panose="020B0604020202020204"/>
                        <a:cs typeface="Arial" panose="020B0604020202020204"/>
                      </a:endParaRPr>
                    </a:p>
                  </a:txBody>
                  <a:tcPr marL="0" marR="0" marT="30480" marB="0">
                    <a:lnL w="28575">
                      <a:solidFill>
                        <a:srgbClr val="34352F"/>
                      </a:solidFill>
                      <a:prstDash val="solid"/>
                    </a:lnL>
                    <a:lnR w="12700">
                      <a:solidFill>
                        <a:srgbClr val="34352F"/>
                      </a:solidFill>
                      <a:prstDash val="solid"/>
                    </a:lnR>
                    <a:lnT w="12700">
                      <a:solidFill>
                        <a:srgbClr val="34352F"/>
                      </a:solidFill>
                      <a:prstDash val="solid"/>
                    </a:lnT>
                    <a:lnB w="12700">
                      <a:solidFill>
                        <a:srgbClr val="34352F"/>
                      </a:solidFill>
                      <a:prstDash val="solid"/>
                    </a:lnB>
                    <a:solidFill>
                      <a:srgbClr val="EF8600"/>
                    </a:solidFill>
                  </a:tcPr>
                </a:tc>
                <a:tc>
                  <a:txBody>
                    <a:bodyPr/>
                    <a:lstStyle/>
                    <a:p>
                      <a:pPr marL="1270" algn="ctr">
                        <a:lnSpc>
                          <a:spcPct val="100000"/>
                        </a:lnSpc>
                        <a:spcBef>
                          <a:spcPts val="240"/>
                        </a:spcBef>
                      </a:pPr>
                      <a:r>
                        <a:rPr sz="1100" b="1" spc="-20" dirty="0">
                          <a:latin typeface="Arial" panose="020B0604020202020204"/>
                          <a:cs typeface="Arial" panose="020B0604020202020204"/>
                        </a:rPr>
                        <a:t>high</a:t>
                      </a:r>
                      <a:endParaRPr sz="1100">
                        <a:latin typeface="Arial" panose="020B0604020202020204"/>
                        <a:cs typeface="Arial" panose="020B0604020202020204"/>
                      </a:endParaRPr>
                    </a:p>
                  </a:txBody>
                  <a:tcPr marL="0" marR="0" marT="30480" marB="0">
                    <a:lnL w="12700">
                      <a:solidFill>
                        <a:srgbClr val="34352F"/>
                      </a:solidFill>
                      <a:prstDash val="solid"/>
                    </a:lnL>
                    <a:lnR w="12700">
                      <a:solidFill>
                        <a:srgbClr val="34352F"/>
                      </a:solidFill>
                      <a:prstDash val="solid"/>
                    </a:lnR>
                    <a:lnT w="12700">
                      <a:solidFill>
                        <a:srgbClr val="34352F"/>
                      </a:solidFill>
                      <a:prstDash val="solid"/>
                    </a:lnT>
                    <a:lnB w="12700">
                      <a:solidFill>
                        <a:srgbClr val="34352F"/>
                      </a:solidFill>
                      <a:prstDash val="solid"/>
                    </a:lnB>
                    <a:solidFill>
                      <a:srgbClr val="D8D8D8"/>
                    </a:solidFill>
                  </a:tcPr>
                </a:tc>
                <a:tc>
                  <a:txBody>
                    <a:bodyPr/>
                    <a:lstStyle/>
                    <a:p>
                      <a:pPr algn="ctr">
                        <a:lnSpc>
                          <a:spcPct val="100000"/>
                        </a:lnSpc>
                        <a:spcBef>
                          <a:spcPts val="240"/>
                        </a:spcBef>
                      </a:pPr>
                      <a:r>
                        <a:rPr sz="1100" b="1" spc="-25" dirty="0">
                          <a:latin typeface="Arial" panose="020B0604020202020204"/>
                          <a:cs typeface="Arial" panose="020B0604020202020204"/>
                        </a:rPr>
                        <a:t>low</a:t>
                      </a:r>
                      <a:endParaRPr sz="1100">
                        <a:latin typeface="Arial" panose="020B0604020202020204"/>
                        <a:cs typeface="Arial" panose="020B0604020202020204"/>
                      </a:endParaRPr>
                    </a:p>
                  </a:txBody>
                  <a:tcPr marL="0" marR="0" marT="30480" marB="0">
                    <a:lnL w="12700">
                      <a:solidFill>
                        <a:srgbClr val="34352F"/>
                      </a:solidFill>
                      <a:prstDash val="solid"/>
                    </a:lnL>
                    <a:lnR w="12700">
                      <a:solidFill>
                        <a:srgbClr val="34352F"/>
                      </a:solidFill>
                      <a:prstDash val="solid"/>
                    </a:lnR>
                    <a:lnT w="12700">
                      <a:solidFill>
                        <a:srgbClr val="34352F"/>
                      </a:solidFill>
                      <a:prstDash val="solid"/>
                    </a:lnT>
                    <a:lnB w="12700">
                      <a:solidFill>
                        <a:srgbClr val="34352F"/>
                      </a:solidFill>
                      <a:prstDash val="solid"/>
                    </a:lnB>
                    <a:solidFill>
                      <a:srgbClr val="D8D8D8"/>
                    </a:solidFill>
                  </a:tcPr>
                </a:tc>
                <a:tc>
                  <a:txBody>
                    <a:bodyPr/>
                    <a:lstStyle/>
                    <a:p>
                      <a:pPr algn="ctr">
                        <a:lnSpc>
                          <a:spcPct val="100000"/>
                        </a:lnSpc>
                        <a:spcBef>
                          <a:spcPts val="240"/>
                        </a:spcBef>
                      </a:pPr>
                      <a:r>
                        <a:rPr sz="1100" b="1" spc="-25" dirty="0">
                          <a:latin typeface="Arial" panose="020B0604020202020204"/>
                          <a:cs typeface="Arial" panose="020B0604020202020204"/>
                        </a:rPr>
                        <a:t>off</a:t>
                      </a:r>
                      <a:endParaRPr sz="1100">
                        <a:latin typeface="Arial" panose="020B0604020202020204"/>
                        <a:cs typeface="Arial" panose="020B0604020202020204"/>
                      </a:endParaRPr>
                    </a:p>
                  </a:txBody>
                  <a:tcPr marL="0" marR="0" marT="30480" marB="0">
                    <a:lnL w="12700">
                      <a:solidFill>
                        <a:srgbClr val="34352F"/>
                      </a:solidFill>
                      <a:prstDash val="solid"/>
                    </a:lnL>
                    <a:lnR w="12700">
                      <a:solidFill>
                        <a:srgbClr val="34352F"/>
                      </a:solidFill>
                      <a:prstDash val="solid"/>
                    </a:lnR>
                    <a:lnT w="12700">
                      <a:solidFill>
                        <a:srgbClr val="34352F"/>
                      </a:solidFill>
                      <a:prstDash val="solid"/>
                    </a:lnT>
                    <a:lnB w="12700">
                      <a:solidFill>
                        <a:srgbClr val="34352F"/>
                      </a:solidFill>
                      <a:prstDash val="solid"/>
                    </a:lnB>
                    <a:solidFill>
                      <a:srgbClr val="D8D8D8"/>
                    </a:solidFill>
                  </a:tcPr>
                </a:tc>
              </a:tr>
              <a:tr h="269875">
                <a:tc>
                  <a:txBody>
                    <a:bodyPr/>
                    <a:lstStyle/>
                    <a:p>
                      <a:pPr algn="ctr">
                        <a:lnSpc>
                          <a:spcPct val="100000"/>
                        </a:lnSpc>
                        <a:spcBef>
                          <a:spcPts val="245"/>
                        </a:spcBef>
                      </a:pPr>
                      <a:r>
                        <a:rPr sz="1100" b="1" spc="-10" dirty="0">
                          <a:latin typeface="Arial" panose="020B0604020202020204"/>
                          <a:cs typeface="Arial" panose="020B0604020202020204"/>
                        </a:rPr>
                        <a:t>OFF_HI</a:t>
                      </a:r>
                      <a:endParaRPr sz="1100">
                        <a:latin typeface="Arial" panose="020B0604020202020204"/>
                        <a:cs typeface="Arial" panose="020B0604020202020204"/>
                      </a:endParaRPr>
                    </a:p>
                  </a:txBody>
                  <a:tcPr marL="0" marR="0" marT="31115" marB="0">
                    <a:lnL w="28575">
                      <a:solidFill>
                        <a:srgbClr val="34352F"/>
                      </a:solidFill>
                      <a:prstDash val="solid"/>
                    </a:lnL>
                    <a:lnR w="12700">
                      <a:solidFill>
                        <a:srgbClr val="34352F"/>
                      </a:solidFill>
                      <a:prstDash val="solid"/>
                    </a:lnR>
                    <a:lnT w="12700">
                      <a:solidFill>
                        <a:srgbClr val="34352F"/>
                      </a:solidFill>
                      <a:prstDash val="solid"/>
                    </a:lnT>
                    <a:lnB w="28575">
                      <a:solidFill>
                        <a:srgbClr val="34352F"/>
                      </a:solidFill>
                      <a:prstDash val="solid"/>
                    </a:lnB>
                    <a:solidFill>
                      <a:srgbClr val="FEFEFE"/>
                    </a:solidFill>
                  </a:tcPr>
                </a:tc>
                <a:tc>
                  <a:txBody>
                    <a:bodyPr/>
                    <a:lstStyle/>
                    <a:p>
                      <a:pPr marL="1270" algn="ctr">
                        <a:lnSpc>
                          <a:spcPct val="100000"/>
                        </a:lnSpc>
                        <a:spcBef>
                          <a:spcPts val="245"/>
                        </a:spcBef>
                      </a:pPr>
                      <a:r>
                        <a:rPr sz="1100" b="1" spc="-20" dirty="0">
                          <a:latin typeface="Arial" panose="020B0604020202020204"/>
                          <a:cs typeface="Arial" panose="020B0604020202020204"/>
                        </a:rPr>
                        <a:t>high</a:t>
                      </a:r>
                      <a:endParaRPr sz="1100">
                        <a:latin typeface="Arial" panose="020B0604020202020204"/>
                        <a:cs typeface="Arial" panose="020B0604020202020204"/>
                      </a:endParaRPr>
                    </a:p>
                  </a:txBody>
                  <a:tcPr marL="0" marR="0" marT="31115" marB="0">
                    <a:lnL w="12700">
                      <a:solidFill>
                        <a:srgbClr val="34352F"/>
                      </a:solidFill>
                      <a:prstDash val="solid"/>
                    </a:lnL>
                    <a:lnR w="12700">
                      <a:solidFill>
                        <a:srgbClr val="34352F"/>
                      </a:solidFill>
                      <a:prstDash val="solid"/>
                    </a:lnR>
                    <a:lnT w="12700">
                      <a:solidFill>
                        <a:srgbClr val="34352F"/>
                      </a:solidFill>
                      <a:prstDash val="solid"/>
                    </a:lnT>
                    <a:lnB w="28575">
                      <a:solidFill>
                        <a:srgbClr val="34352F"/>
                      </a:solidFill>
                      <a:prstDash val="solid"/>
                    </a:lnB>
                    <a:solidFill>
                      <a:srgbClr val="FEFEFE"/>
                    </a:solidFill>
                  </a:tcPr>
                </a:tc>
                <a:tc>
                  <a:txBody>
                    <a:bodyPr/>
                    <a:lstStyle/>
                    <a:p>
                      <a:pPr algn="ctr">
                        <a:lnSpc>
                          <a:spcPct val="100000"/>
                        </a:lnSpc>
                        <a:spcBef>
                          <a:spcPts val="245"/>
                        </a:spcBef>
                      </a:pPr>
                      <a:r>
                        <a:rPr sz="1100" b="1" spc="-20" dirty="0">
                          <a:latin typeface="Arial" panose="020B0604020202020204"/>
                          <a:cs typeface="Arial" panose="020B0604020202020204"/>
                        </a:rPr>
                        <a:t>high</a:t>
                      </a:r>
                      <a:endParaRPr sz="1100">
                        <a:latin typeface="Arial" panose="020B0604020202020204"/>
                        <a:cs typeface="Arial" panose="020B0604020202020204"/>
                      </a:endParaRPr>
                    </a:p>
                  </a:txBody>
                  <a:tcPr marL="0" marR="0" marT="31115" marB="0">
                    <a:lnL w="12700">
                      <a:solidFill>
                        <a:srgbClr val="34352F"/>
                      </a:solidFill>
                      <a:prstDash val="solid"/>
                    </a:lnL>
                    <a:lnR w="12700">
                      <a:solidFill>
                        <a:srgbClr val="34352F"/>
                      </a:solidFill>
                      <a:prstDash val="solid"/>
                    </a:lnR>
                    <a:lnT w="12700">
                      <a:solidFill>
                        <a:srgbClr val="34352F"/>
                      </a:solidFill>
                      <a:prstDash val="solid"/>
                    </a:lnT>
                    <a:lnB w="28575">
                      <a:solidFill>
                        <a:srgbClr val="34352F"/>
                      </a:solidFill>
                      <a:prstDash val="solid"/>
                    </a:lnB>
                    <a:solidFill>
                      <a:srgbClr val="FEFEFE"/>
                    </a:solidFill>
                  </a:tcPr>
                </a:tc>
                <a:tc>
                  <a:txBody>
                    <a:bodyPr/>
                    <a:lstStyle/>
                    <a:p>
                      <a:pPr algn="ctr">
                        <a:lnSpc>
                          <a:spcPct val="100000"/>
                        </a:lnSpc>
                        <a:spcBef>
                          <a:spcPts val="245"/>
                        </a:spcBef>
                      </a:pPr>
                      <a:r>
                        <a:rPr sz="1100" b="1" spc="-25" dirty="0">
                          <a:latin typeface="Arial" panose="020B0604020202020204"/>
                          <a:cs typeface="Arial" panose="020B0604020202020204"/>
                        </a:rPr>
                        <a:t>off</a:t>
                      </a:r>
                      <a:endParaRPr sz="1100">
                        <a:latin typeface="Arial" panose="020B0604020202020204"/>
                        <a:cs typeface="Arial" panose="020B0604020202020204"/>
                      </a:endParaRPr>
                    </a:p>
                  </a:txBody>
                  <a:tcPr marL="0" marR="0" marT="31115" marB="0">
                    <a:lnL w="12700">
                      <a:solidFill>
                        <a:srgbClr val="34352F"/>
                      </a:solidFill>
                      <a:prstDash val="solid"/>
                    </a:lnL>
                    <a:lnR w="12700">
                      <a:solidFill>
                        <a:srgbClr val="34352F"/>
                      </a:solidFill>
                      <a:prstDash val="solid"/>
                    </a:lnR>
                    <a:lnT w="12700">
                      <a:solidFill>
                        <a:srgbClr val="34352F"/>
                      </a:solidFill>
                      <a:prstDash val="solid"/>
                    </a:lnT>
                    <a:lnB w="28575">
                      <a:solidFill>
                        <a:srgbClr val="34352F"/>
                      </a:solidFill>
                      <a:prstDash val="solid"/>
                    </a:lnB>
                    <a:solidFill>
                      <a:srgbClr val="FEFEFE"/>
                    </a:solidFill>
                  </a:tcPr>
                </a:tc>
              </a:tr>
            </a:tbl>
          </a:graphicData>
        </a:graphic>
      </p:graphicFrame>
      <p:sp>
        <p:nvSpPr>
          <p:cNvPr id="51" name="Text 0"/>
          <p:cNvSpPr/>
          <p:nvPr/>
        </p:nvSpPr>
        <p:spPr>
          <a:xfrm>
            <a:off x="284480" y="10922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电源</a:t>
            </a:r>
            <a:r>
              <a:rPr lang="zh-CN" altLang="en-US" sz="1730" b="1" dirty="0">
                <a:latin typeface="微软雅黑" panose="020B0503020204020204" pitchFamily="34" charset="-122"/>
                <a:ea typeface="微软雅黑" panose="020B0503020204020204" pitchFamily="34" charset="-122"/>
                <a:sym typeface="+mn-ea"/>
              </a:rPr>
              <a:t>状态表</a:t>
            </a:r>
            <a:endParaRPr lang="zh-CN" altLang="en-US" sz="1730" b="1"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grpSp>
        <p:nvGrpSpPr>
          <p:cNvPr id="3" name="object 3"/>
          <p:cNvGrpSpPr/>
          <p:nvPr/>
        </p:nvGrpSpPr>
        <p:grpSpPr>
          <a:xfrm>
            <a:off x="354901" y="827468"/>
            <a:ext cx="3754754" cy="3631565"/>
            <a:chOff x="354901" y="1197673"/>
            <a:chExt cx="3754754" cy="3631565"/>
          </a:xfrm>
        </p:grpSpPr>
        <p:pic>
          <p:nvPicPr>
            <p:cNvPr id="4" name="object 4"/>
            <p:cNvPicPr/>
            <p:nvPr/>
          </p:nvPicPr>
          <p:blipFill>
            <a:blip r:embed="rId2" cstate="print"/>
            <a:stretch>
              <a:fillRect/>
            </a:stretch>
          </p:blipFill>
          <p:spPr>
            <a:xfrm>
              <a:off x="429767" y="1272540"/>
              <a:ext cx="3679698" cy="3556254"/>
            </a:xfrm>
            <a:prstGeom prst="rect">
              <a:avLst/>
            </a:prstGeom>
          </p:spPr>
        </p:pic>
        <p:sp>
          <p:nvSpPr>
            <p:cNvPr id="5" name="object 5"/>
            <p:cNvSpPr/>
            <p:nvPr/>
          </p:nvSpPr>
          <p:spPr>
            <a:xfrm>
              <a:off x="359663" y="1202436"/>
              <a:ext cx="3670300" cy="3546475"/>
            </a:xfrm>
            <a:custGeom>
              <a:avLst/>
              <a:gdLst/>
              <a:ahLst/>
              <a:cxnLst/>
              <a:rect l="l" t="t" r="r" b="b"/>
              <a:pathLst>
                <a:path w="3670300" h="3546475">
                  <a:moveTo>
                    <a:pt x="3669791" y="0"/>
                  </a:moveTo>
                  <a:lnTo>
                    <a:pt x="0" y="0"/>
                  </a:lnTo>
                  <a:lnTo>
                    <a:pt x="0" y="3546348"/>
                  </a:lnTo>
                  <a:lnTo>
                    <a:pt x="3669791" y="3546348"/>
                  </a:lnTo>
                  <a:lnTo>
                    <a:pt x="3669791" y="0"/>
                  </a:lnTo>
                  <a:close/>
                </a:path>
              </a:pathLst>
            </a:custGeom>
            <a:solidFill>
              <a:srgbClr val="FEFEFE"/>
            </a:solidFill>
          </p:spPr>
          <p:txBody>
            <a:bodyPr wrap="square" lIns="0" tIns="0" rIns="0" bIns="0" rtlCol="0"/>
            <a:lstStyle/>
            <a:p/>
          </p:txBody>
        </p:sp>
        <p:sp>
          <p:nvSpPr>
            <p:cNvPr id="6" name="object 6"/>
            <p:cNvSpPr/>
            <p:nvPr/>
          </p:nvSpPr>
          <p:spPr>
            <a:xfrm>
              <a:off x="359663" y="1202436"/>
              <a:ext cx="3670300" cy="3546475"/>
            </a:xfrm>
            <a:custGeom>
              <a:avLst/>
              <a:gdLst/>
              <a:ahLst/>
              <a:cxnLst/>
              <a:rect l="l" t="t" r="r" b="b"/>
              <a:pathLst>
                <a:path w="3670300" h="3546475">
                  <a:moveTo>
                    <a:pt x="0" y="3546348"/>
                  </a:moveTo>
                  <a:lnTo>
                    <a:pt x="3669791" y="3546348"/>
                  </a:lnTo>
                  <a:lnTo>
                    <a:pt x="3669791" y="0"/>
                  </a:lnTo>
                  <a:lnTo>
                    <a:pt x="0" y="0"/>
                  </a:lnTo>
                  <a:lnTo>
                    <a:pt x="0" y="3546348"/>
                  </a:lnTo>
                  <a:close/>
                </a:path>
              </a:pathLst>
            </a:custGeom>
            <a:ln w="9524">
              <a:solidFill>
                <a:srgbClr val="959595"/>
              </a:solidFill>
            </a:ln>
          </p:spPr>
          <p:txBody>
            <a:bodyPr wrap="square" lIns="0" tIns="0" rIns="0" bIns="0" rtlCol="0"/>
            <a:lstStyle/>
            <a:p/>
          </p:txBody>
        </p:sp>
        <p:pic>
          <p:nvPicPr>
            <p:cNvPr id="7" name="object 7"/>
            <p:cNvPicPr/>
            <p:nvPr/>
          </p:nvPicPr>
          <p:blipFill>
            <a:blip r:embed="rId3" cstate="print"/>
            <a:stretch>
              <a:fillRect/>
            </a:stretch>
          </p:blipFill>
          <p:spPr>
            <a:xfrm>
              <a:off x="915923" y="1869948"/>
              <a:ext cx="2646426" cy="2282190"/>
            </a:xfrm>
            <a:prstGeom prst="rect">
              <a:avLst/>
            </a:prstGeom>
          </p:spPr>
        </p:pic>
        <p:sp>
          <p:nvSpPr>
            <p:cNvPr id="8" name="object 8"/>
            <p:cNvSpPr/>
            <p:nvPr/>
          </p:nvSpPr>
          <p:spPr>
            <a:xfrm>
              <a:off x="883919" y="1837944"/>
              <a:ext cx="2636520" cy="2272665"/>
            </a:xfrm>
            <a:custGeom>
              <a:avLst/>
              <a:gdLst/>
              <a:ahLst/>
              <a:cxnLst/>
              <a:rect l="l" t="t" r="r" b="b"/>
              <a:pathLst>
                <a:path w="2636520" h="2272665">
                  <a:moveTo>
                    <a:pt x="2636520" y="0"/>
                  </a:moveTo>
                  <a:lnTo>
                    <a:pt x="0" y="0"/>
                  </a:lnTo>
                  <a:lnTo>
                    <a:pt x="0" y="2272283"/>
                  </a:lnTo>
                  <a:lnTo>
                    <a:pt x="2636520" y="2272283"/>
                  </a:lnTo>
                  <a:lnTo>
                    <a:pt x="2636520" y="0"/>
                  </a:lnTo>
                  <a:close/>
                </a:path>
              </a:pathLst>
            </a:custGeom>
            <a:solidFill>
              <a:srgbClr val="CBFEFE"/>
            </a:solidFill>
          </p:spPr>
          <p:txBody>
            <a:bodyPr wrap="square" lIns="0" tIns="0" rIns="0" bIns="0" rtlCol="0"/>
            <a:lstStyle/>
            <a:p/>
          </p:txBody>
        </p:sp>
        <p:sp>
          <p:nvSpPr>
            <p:cNvPr id="9" name="object 9"/>
            <p:cNvSpPr/>
            <p:nvPr/>
          </p:nvSpPr>
          <p:spPr>
            <a:xfrm>
              <a:off x="883919" y="1837944"/>
              <a:ext cx="2636520" cy="2272665"/>
            </a:xfrm>
            <a:custGeom>
              <a:avLst/>
              <a:gdLst/>
              <a:ahLst/>
              <a:cxnLst/>
              <a:rect l="l" t="t" r="r" b="b"/>
              <a:pathLst>
                <a:path w="2636520" h="2272665">
                  <a:moveTo>
                    <a:pt x="0" y="2272283"/>
                  </a:moveTo>
                  <a:lnTo>
                    <a:pt x="2636520" y="2272283"/>
                  </a:lnTo>
                  <a:lnTo>
                    <a:pt x="2636520" y="0"/>
                  </a:lnTo>
                  <a:lnTo>
                    <a:pt x="0" y="0"/>
                  </a:lnTo>
                  <a:lnTo>
                    <a:pt x="0" y="2272283"/>
                  </a:lnTo>
                  <a:close/>
                </a:path>
              </a:pathLst>
            </a:custGeom>
            <a:ln w="9525">
              <a:solidFill>
                <a:srgbClr val="68BD27"/>
              </a:solidFill>
            </a:ln>
          </p:spPr>
          <p:txBody>
            <a:bodyPr wrap="square" lIns="0" tIns="0" rIns="0" bIns="0" rtlCol="0"/>
            <a:lstStyle/>
            <a:p/>
          </p:txBody>
        </p:sp>
      </p:grpSp>
      <p:sp>
        <p:nvSpPr>
          <p:cNvPr id="10" name="object 10"/>
          <p:cNvSpPr txBox="1"/>
          <p:nvPr/>
        </p:nvSpPr>
        <p:spPr>
          <a:xfrm>
            <a:off x="924356" y="1509014"/>
            <a:ext cx="792480" cy="432434"/>
          </a:xfrm>
          <a:prstGeom prst="rect">
            <a:avLst/>
          </a:prstGeom>
          <a:solidFill>
            <a:srgbClr val="2CB5B2"/>
          </a:solidFill>
        </p:spPr>
        <p:txBody>
          <a:bodyPr vert="horz" wrap="square" lIns="0" tIns="0" rIns="0" bIns="0" rtlCol="0">
            <a:spAutoFit/>
          </a:bodyPr>
          <a:lstStyle/>
          <a:p>
            <a:pPr algn="ctr">
              <a:lnSpc>
                <a:spcPts val="1060"/>
              </a:lnSpc>
            </a:pPr>
            <a:r>
              <a:rPr sz="900" b="1" spc="-10" dirty="0">
                <a:solidFill>
                  <a:srgbClr val="FEFEFE"/>
                </a:solidFill>
                <a:latin typeface="Arial" panose="020B0604020202020204"/>
                <a:cs typeface="Arial" panose="020B0604020202020204"/>
              </a:rPr>
              <a:t>u_dhm_core</a:t>
            </a:r>
            <a:endParaRPr sz="900">
              <a:latin typeface="Arial" panose="020B0604020202020204"/>
              <a:cs typeface="Arial" panose="020B0604020202020204"/>
            </a:endParaRPr>
          </a:p>
          <a:p>
            <a:pPr algn="ctr">
              <a:lnSpc>
                <a:spcPct val="100000"/>
              </a:lnSpc>
              <a:spcBef>
                <a:spcPts val="155"/>
              </a:spcBef>
            </a:pPr>
            <a:r>
              <a:rPr sz="900" b="1" dirty="0">
                <a:solidFill>
                  <a:srgbClr val="FEFEFE"/>
                </a:solidFill>
                <a:latin typeface="Arial" panose="020B0604020202020204"/>
                <a:cs typeface="Arial" panose="020B0604020202020204"/>
              </a:rPr>
              <a:t>(1.08V</a:t>
            </a:r>
            <a:r>
              <a:rPr sz="900" b="1" spc="-15" dirty="0">
                <a:solidFill>
                  <a:srgbClr val="FEFEFE"/>
                </a:solidFill>
                <a:latin typeface="Arial" panose="020B0604020202020204"/>
                <a:cs typeface="Arial" panose="020B0604020202020204"/>
              </a:rPr>
              <a:t> </a:t>
            </a:r>
            <a:r>
              <a:rPr sz="900" b="1" dirty="0">
                <a:solidFill>
                  <a:srgbClr val="FEFEFE"/>
                </a:solidFill>
                <a:latin typeface="Arial" panose="020B0604020202020204"/>
                <a:cs typeface="Arial" panose="020B0604020202020204"/>
              </a:rPr>
              <a:t>/</a:t>
            </a:r>
            <a:r>
              <a:rPr sz="900" b="1" spc="-10" dirty="0">
                <a:solidFill>
                  <a:srgbClr val="FEFEFE"/>
                </a:solidFill>
                <a:latin typeface="Arial" panose="020B0604020202020204"/>
                <a:cs typeface="Arial" panose="020B0604020202020204"/>
              </a:rPr>
              <a:t> </a:t>
            </a:r>
            <a:r>
              <a:rPr sz="900" b="1" dirty="0">
                <a:solidFill>
                  <a:srgbClr val="FEFEFE"/>
                </a:solidFill>
                <a:latin typeface="Arial" panose="020B0604020202020204"/>
                <a:cs typeface="Arial" panose="020B0604020202020204"/>
              </a:rPr>
              <a:t>0.7V</a:t>
            </a:r>
            <a:r>
              <a:rPr sz="900" b="1" spc="-15" dirty="0">
                <a:solidFill>
                  <a:srgbClr val="FEFEFE"/>
                </a:solidFill>
                <a:latin typeface="Arial" panose="020B0604020202020204"/>
                <a:cs typeface="Arial" panose="020B0604020202020204"/>
              </a:rPr>
              <a:t> </a:t>
            </a:r>
            <a:r>
              <a:rPr sz="900" b="1" spc="-50" dirty="0">
                <a:solidFill>
                  <a:srgbClr val="FEFEFE"/>
                </a:solidFill>
                <a:latin typeface="Arial" panose="020B0604020202020204"/>
                <a:cs typeface="Arial" panose="020B0604020202020204"/>
              </a:rPr>
              <a:t>/</a:t>
            </a:r>
            <a:endParaRPr sz="900">
              <a:latin typeface="Arial" panose="020B0604020202020204"/>
              <a:cs typeface="Arial" panose="020B0604020202020204"/>
            </a:endParaRPr>
          </a:p>
          <a:p>
            <a:pPr marL="635" algn="ctr">
              <a:lnSpc>
                <a:spcPct val="100000"/>
              </a:lnSpc>
            </a:pPr>
            <a:r>
              <a:rPr sz="900" b="1" spc="-20" dirty="0">
                <a:solidFill>
                  <a:srgbClr val="FEFEFE"/>
                </a:solidFill>
                <a:latin typeface="Arial" panose="020B0604020202020204"/>
                <a:cs typeface="Arial" panose="020B0604020202020204"/>
              </a:rPr>
              <a:t>OFF)</a:t>
            </a:r>
            <a:endParaRPr sz="900">
              <a:latin typeface="Arial" panose="020B0604020202020204"/>
              <a:cs typeface="Arial" panose="020B0604020202020204"/>
            </a:endParaRPr>
          </a:p>
        </p:txBody>
      </p:sp>
      <p:sp>
        <p:nvSpPr>
          <p:cNvPr id="11" name="object 11"/>
          <p:cNvSpPr txBox="1"/>
          <p:nvPr/>
        </p:nvSpPr>
        <p:spPr>
          <a:xfrm>
            <a:off x="407149" y="865123"/>
            <a:ext cx="688975" cy="295275"/>
          </a:xfrm>
          <a:prstGeom prst="rect">
            <a:avLst/>
          </a:prstGeom>
          <a:solidFill>
            <a:srgbClr val="D37600"/>
          </a:solidFill>
        </p:spPr>
        <p:txBody>
          <a:bodyPr vert="horz" wrap="square" lIns="0" tIns="0" rIns="0" bIns="0" rtlCol="0">
            <a:spAutoFit/>
          </a:bodyPr>
          <a:lstStyle/>
          <a:p>
            <a:pPr marL="100965">
              <a:lnSpc>
                <a:spcPts val="1060"/>
              </a:lnSpc>
            </a:pPr>
            <a:r>
              <a:rPr sz="900" b="1" spc="-10" dirty="0">
                <a:solidFill>
                  <a:srgbClr val="FEFEFE"/>
                </a:solidFill>
                <a:latin typeface="Arial" panose="020B0604020202020204"/>
                <a:cs typeface="Arial" panose="020B0604020202020204"/>
              </a:rPr>
              <a:t>dhm_top</a:t>
            </a:r>
            <a:endParaRPr sz="900">
              <a:latin typeface="Arial" panose="020B0604020202020204"/>
              <a:cs typeface="Arial" panose="020B0604020202020204"/>
            </a:endParaRPr>
          </a:p>
          <a:p>
            <a:pPr marL="155575">
              <a:lnSpc>
                <a:spcPct val="100000"/>
              </a:lnSpc>
              <a:spcBef>
                <a:spcPts val="155"/>
              </a:spcBef>
            </a:pPr>
            <a:r>
              <a:rPr sz="900" b="1" spc="-10" dirty="0">
                <a:solidFill>
                  <a:srgbClr val="FEFEFE"/>
                </a:solidFill>
                <a:latin typeface="Arial" panose="020B0604020202020204"/>
                <a:cs typeface="Arial" panose="020B0604020202020204"/>
              </a:rPr>
              <a:t>(1.08V)</a:t>
            </a:r>
            <a:endParaRPr sz="900">
              <a:latin typeface="Arial" panose="020B0604020202020204"/>
              <a:cs typeface="Arial" panose="020B0604020202020204"/>
            </a:endParaRPr>
          </a:p>
        </p:txBody>
      </p:sp>
      <p:sp>
        <p:nvSpPr>
          <p:cNvPr id="12" name="object 12"/>
          <p:cNvSpPr txBox="1"/>
          <p:nvPr/>
        </p:nvSpPr>
        <p:spPr>
          <a:xfrm>
            <a:off x="2632075" y="2733928"/>
            <a:ext cx="521334" cy="208279"/>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34352F"/>
                </a:solidFill>
                <a:latin typeface="Calibri" panose="020F0502020204030204"/>
                <a:cs typeface="Calibri" panose="020F0502020204030204"/>
              </a:rPr>
              <a:t>VDDLS1</a:t>
            </a:r>
            <a:endParaRPr sz="1200">
              <a:latin typeface="Calibri" panose="020F0502020204030204"/>
              <a:cs typeface="Calibri" panose="020F0502020204030204"/>
            </a:endParaRPr>
          </a:p>
        </p:txBody>
      </p:sp>
      <p:sp>
        <p:nvSpPr>
          <p:cNvPr id="13" name="object 13"/>
          <p:cNvSpPr txBox="1"/>
          <p:nvPr/>
        </p:nvSpPr>
        <p:spPr>
          <a:xfrm>
            <a:off x="2094992" y="1744599"/>
            <a:ext cx="275590" cy="162560"/>
          </a:xfrm>
          <a:prstGeom prst="rect">
            <a:avLst/>
          </a:prstGeom>
        </p:spPr>
        <p:txBody>
          <a:bodyPr vert="horz" wrap="square" lIns="0" tIns="12700" rIns="0" bIns="0" rtlCol="0">
            <a:spAutoFit/>
          </a:bodyPr>
          <a:lstStyle/>
          <a:p>
            <a:pPr marL="12700">
              <a:lnSpc>
                <a:spcPct val="100000"/>
              </a:lnSpc>
              <a:spcBef>
                <a:spcPts val="100"/>
              </a:spcBef>
            </a:pPr>
            <a:r>
              <a:rPr sz="900" b="1" spc="-10" dirty="0">
                <a:solidFill>
                  <a:srgbClr val="34352F"/>
                </a:solidFill>
                <a:latin typeface="Calibri" panose="020F0502020204030204"/>
                <a:cs typeface="Calibri" panose="020F0502020204030204"/>
              </a:rPr>
              <a:t>sleep</a:t>
            </a:r>
            <a:endParaRPr sz="900">
              <a:latin typeface="Calibri" panose="020F0502020204030204"/>
              <a:cs typeface="Calibri" panose="020F0502020204030204"/>
            </a:endParaRPr>
          </a:p>
        </p:txBody>
      </p:sp>
      <p:grpSp>
        <p:nvGrpSpPr>
          <p:cNvPr id="14" name="object 14"/>
          <p:cNvGrpSpPr/>
          <p:nvPr/>
        </p:nvGrpSpPr>
        <p:grpSpPr>
          <a:xfrm>
            <a:off x="2076825" y="1565274"/>
            <a:ext cx="680720" cy="576580"/>
            <a:chOff x="2076825" y="1935479"/>
            <a:chExt cx="680720" cy="576580"/>
          </a:xfrm>
        </p:grpSpPr>
        <p:pic>
          <p:nvPicPr>
            <p:cNvPr id="15" name="object 15"/>
            <p:cNvPicPr/>
            <p:nvPr/>
          </p:nvPicPr>
          <p:blipFill>
            <a:blip r:embed="rId4" cstate="print"/>
            <a:stretch>
              <a:fillRect/>
            </a:stretch>
          </p:blipFill>
          <p:spPr>
            <a:xfrm>
              <a:off x="2465831" y="2145791"/>
              <a:ext cx="286512" cy="286512"/>
            </a:xfrm>
            <a:prstGeom prst="rect">
              <a:avLst/>
            </a:prstGeom>
          </p:spPr>
        </p:pic>
        <p:sp>
          <p:nvSpPr>
            <p:cNvPr id="16" name="object 16"/>
            <p:cNvSpPr/>
            <p:nvPr/>
          </p:nvSpPr>
          <p:spPr>
            <a:xfrm>
              <a:off x="2465831" y="2145791"/>
              <a:ext cx="287020" cy="287020"/>
            </a:xfrm>
            <a:custGeom>
              <a:avLst/>
              <a:gdLst/>
              <a:ahLst/>
              <a:cxnLst/>
              <a:rect l="l" t="t" r="r" b="b"/>
              <a:pathLst>
                <a:path w="287019" h="287019">
                  <a:moveTo>
                    <a:pt x="0" y="143256"/>
                  </a:moveTo>
                  <a:lnTo>
                    <a:pt x="7303" y="97974"/>
                  </a:lnTo>
                  <a:lnTo>
                    <a:pt x="27639" y="58649"/>
                  </a:lnTo>
                  <a:lnTo>
                    <a:pt x="58649" y="27639"/>
                  </a:lnTo>
                  <a:lnTo>
                    <a:pt x="97974" y="7303"/>
                  </a:lnTo>
                  <a:lnTo>
                    <a:pt x="143256" y="0"/>
                  </a:lnTo>
                  <a:lnTo>
                    <a:pt x="188537" y="7303"/>
                  </a:lnTo>
                  <a:lnTo>
                    <a:pt x="227862" y="27639"/>
                  </a:lnTo>
                  <a:lnTo>
                    <a:pt x="258872" y="58649"/>
                  </a:lnTo>
                  <a:lnTo>
                    <a:pt x="279208" y="97974"/>
                  </a:lnTo>
                  <a:lnTo>
                    <a:pt x="286512" y="143256"/>
                  </a:lnTo>
                  <a:lnTo>
                    <a:pt x="279208" y="188537"/>
                  </a:lnTo>
                  <a:lnTo>
                    <a:pt x="258872" y="227862"/>
                  </a:lnTo>
                  <a:lnTo>
                    <a:pt x="227862" y="258872"/>
                  </a:lnTo>
                  <a:lnTo>
                    <a:pt x="188537" y="279208"/>
                  </a:lnTo>
                  <a:lnTo>
                    <a:pt x="143256" y="286512"/>
                  </a:lnTo>
                  <a:lnTo>
                    <a:pt x="97974" y="279208"/>
                  </a:lnTo>
                  <a:lnTo>
                    <a:pt x="58649" y="258872"/>
                  </a:lnTo>
                  <a:lnTo>
                    <a:pt x="27639" y="227862"/>
                  </a:lnTo>
                  <a:lnTo>
                    <a:pt x="7303" y="188537"/>
                  </a:lnTo>
                  <a:lnTo>
                    <a:pt x="0" y="143256"/>
                  </a:lnTo>
                  <a:close/>
                </a:path>
              </a:pathLst>
            </a:custGeom>
            <a:ln w="9525">
              <a:solidFill>
                <a:srgbClr val="007F00"/>
              </a:solidFill>
            </a:ln>
          </p:spPr>
          <p:txBody>
            <a:bodyPr wrap="square" lIns="0" tIns="0" rIns="0" bIns="0" rtlCol="0"/>
            <a:lstStyle/>
            <a:p/>
          </p:txBody>
        </p:sp>
        <p:sp>
          <p:nvSpPr>
            <p:cNvPr id="17" name="object 17"/>
            <p:cNvSpPr/>
            <p:nvPr/>
          </p:nvSpPr>
          <p:spPr>
            <a:xfrm>
              <a:off x="2647187" y="2371343"/>
              <a:ext cx="0" cy="135890"/>
            </a:xfrm>
            <a:custGeom>
              <a:avLst/>
              <a:gdLst/>
              <a:ahLst/>
              <a:cxnLst/>
              <a:rect l="l" t="t" r="r" b="b"/>
              <a:pathLst>
                <a:path h="135889">
                  <a:moveTo>
                    <a:pt x="0" y="0"/>
                  </a:moveTo>
                  <a:lnTo>
                    <a:pt x="0" y="135636"/>
                  </a:lnTo>
                </a:path>
              </a:pathLst>
            </a:custGeom>
            <a:ln w="9525">
              <a:solidFill>
                <a:srgbClr val="34352F"/>
              </a:solidFill>
            </a:ln>
          </p:spPr>
          <p:txBody>
            <a:bodyPr wrap="square" lIns="0" tIns="0" rIns="0" bIns="0" rtlCol="0"/>
            <a:lstStyle/>
            <a:p/>
          </p:txBody>
        </p:sp>
        <p:sp>
          <p:nvSpPr>
            <p:cNvPr id="18" name="object 18"/>
            <p:cNvSpPr/>
            <p:nvPr/>
          </p:nvSpPr>
          <p:spPr>
            <a:xfrm>
              <a:off x="2567939" y="2203703"/>
              <a:ext cx="91440" cy="180340"/>
            </a:xfrm>
            <a:custGeom>
              <a:avLst/>
              <a:gdLst/>
              <a:ahLst/>
              <a:cxnLst/>
              <a:rect l="l" t="t" r="r" b="b"/>
              <a:pathLst>
                <a:path w="91439" h="180339">
                  <a:moveTo>
                    <a:pt x="0" y="0"/>
                  </a:moveTo>
                  <a:lnTo>
                    <a:pt x="91440" y="179831"/>
                  </a:lnTo>
                </a:path>
              </a:pathLst>
            </a:custGeom>
            <a:ln w="57150">
              <a:solidFill>
                <a:srgbClr val="34352F"/>
              </a:solidFill>
            </a:ln>
          </p:spPr>
          <p:txBody>
            <a:bodyPr wrap="square" lIns="0" tIns="0" rIns="0" bIns="0" rtlCol="0"/>
            <a:lstStyle/>
            <a:p/>
          </p:txBody>
        </p:sp>
        <p:sp>
          <p:nvSpPr>
            <p:cNvPr id="19" name="object 19"/>
            <p:cNvSpPr/>
            <p:nvPr/>
          </p:nvSpPr>
          <p:spPr>
            <a:xfrm>
              <a:off x="2076825" y="2221737"/>
              <a:ext cx="479425" cy="76200"/>
            </a:xfrm>
            <a:custGeom>
              <a:avLst/>
              <a:gdLst/>
              <a:ahLst/>
              <a:cxnLst/>
              <a:rect l="l" t="t" r="r" b="b"/>
              <a:pathLst>
                <a:path w="479425" h="76200">
                  <a:moveTo>
                    <a:pt x="10038" y="30480"/>
                  </a:moveTo>
                  <a:lnTo>
                    <a:pt x="3053" y="30480"/>
                  </a:lnTo>
                  <a:lnTo>
                    <a:pt x="0" y="33400"/>
                  </a:lnTo>
                  <a:lnTo>
                    <a:pt x="132" y="33400"/>
                  </a:lnTo>
                  <a:lnTo>
                    <a:pt x="254" y="40386"/>
                  </a:lnTo>
                  <a:lnTo>
                    <a:pt x="2926" y="43180"/>
                  </a:lnTo>
                  <a:lnTo>
                    <a:pt x="10038" y="43180"/>
                  </a:lnTo>
                  <a:lnTo>
                    <a:pt x="12832" y="40386"/>
                  </a:lnTo>
                  <a:lnTo>
                    <a:pt x="12832" y="33400"/>
                  </a:lnTo>
                  <a:lnTo>
                    <a:pt x="10038" y="30480"/>
                  </a:lnTo>
                  <a:close/>
                </a:path>
                <a:path w="479425" h="76200">
                  <a:moveTo>
                    <a:pt x="35438" y="30606"/>
                  </a:moveTo>
                  <a:lnTo>
                    <a:pt x="28453" y="30606"/>
                  </a:lnTo>
                  <a:lnTo>
                    <a:pt x="25532" y="33400"/>
                  </a:lnTo>
                  <a:lnTo>
                    <a:pt x="25532" y="40386"/>
                  </a:lnTo>
                  <a:lnTo>
                    <a:pt x="28326" y="43306"/>
                  </a:lnTo>
                  <a:lnTo>
                    <a:pt x="35438" y="43306"/>
                  </a:lnTo>
                  <a:lnTo>
                    <a:pt x="38232" y="40386"/>
                  </a:lnTo>
                  <a:lnTo>
                    <a:pt x="38232" y="33400"/>
                  </a:lnTo>
                  <a:lnTo>
                    <a:pt x="35438" y="30606"/>
                  </a:lnTo>
                  <a:close/>
                </a:path>
                <a:path w="479425" h="76200">
                  <a:moveTo>
                    <a:pt x="60838" y="30606"/>
                  </a:moveTo>
                  <a:lnTo>
                    <a:pt x="53853" y="30606"/>
                  </a:lnTo>
                  <a:lnTo>
                    <a:pt x="50932" y="33528"/>
                  </a:lnTo>
                  <a:lnTo>
                    <a:pt x="50932" y="40512"/>
                  </a:lnTo>
                  <a:lnTo>
                    <a:pt x="53726" y="43306"/>
                  </a:lnTo>
                  <a:lnTo>
                    <a:pt x="60838" y="43306"/>
                  </a:lnTo>
                  <a:lnTo>
                    <a:pt x="63632" y="40512"/>
                  </a:lnTo>
                  <a:lnTo>
                    <a:pt x="63632" y="33528"/>
                  </a:lnTo>
                  <a:lnTo>
                    <a:pt x="60838" y="30606"/>
                  </a:lnTo>
                  <a:close/>
                </a:path>
                <a:path w="479425" h="76200">
                  <a:moveTo>
                    <a:pt x="86238" y="30734"/>
                  </a:moveTo>
                  <a:lnTo>
                    <a:pt x="79253" y="30734"/>
                  </a:lnTo>
                  <a:lnTo>
                    <a:pt x="76332" y="33528"/>
                  </a:lnTo>
                  <a:lnTo>
                    <a:pt x="76459" y="40639"/>
                  </a:lnTo>
                  <a:lnTo>
                    <a:pt x="79253" y="43434"/>
                  </a:lnTo>
                  <a:lnTo>
                    <a:pt x="86238" y="43434"/>
                  </a:lnTo>
                  <a:lnTo>
                    <a:pt x="89032" y="40639"/>
                  </a:lnTo>
                  <a:lnTo>
                    <a:pt x="89032" y="33528"/>
                  </a:lnTo>
                  <a:lnTo>
                    <a:pt x="86238" y="30734"/>
                  </a:lnTo>
                  <a:close/>
                </a:path>
                <a:path w="479425" h="76200">
                  <a:moveTo>
                    <a:pt x="111638" y="30861"/>
                  </a:moveTo>
                  <a:lnTo>
                    <a:pt x="104526" y="30861"/>
                  </a:lnTo>
                  <a:lnTo>
                    <a:pt x="101732" y="33655"/>
                  </a:lnTo>
                  <a:lnTo>
                    <a:pt x="101732" y="40639"/>
                  </a:lnTo>
                  <a:lnTo>
                    <a:pt x="104786" y="43561"/>
                  </a:lnTo>
                  <a:lnTo>
                    <a:pt x="111638" y="43561"/>
                  </a:lnTo>
                  <a:lnTo>
                    <a:pt x="114432" y="40639"/>
                  </a:lnTo>
                  <a:lnTo>
                    <a:pt x="114432" y="37211"/>
                  </a:lnTo>
                  <a:lnTo>
                    <a:pt x="114559" y="33655"/>
                  </a:lnTo>
                  <a:lnTo>
                    <a:pt x="111638" y="30861"/>
                  </a:lnTo>
                  <a:close/>
                </a:path>
                <a:path w="479425" h="76200">
                  <a:moveTo>
                    <a:pt x="137038" y="30861"/>
                  </a:moveTo>
                  <a:lnTo>
                    <a:pt x="130053" y="30861"/>
                  </a:lnTo>
                  <a:lnTo>
                    <a:pt x="127255" y="33781"/>
                  </a:lnTo>
                  <a:lnTo>
                    <a:pt x="127132" y="40767"/>
                  </a:lnTo>
                  <a:lnTo>
                    <a:pt x="130053" y="43561"/>
                  </a:lnTo>
                  <a:lnTo>
                    <a:pt x="137038" y="43561"/>
                  </a:lnTo>
                  <a:lnTo>
                    <a:pt x="139832" y="40767"/>
                  </a:lnTo>
                  <a:lnTo>
                    <a:pt x="139959" y="37211"/>
                  </a:lnTo>
                  <a:lnTo>
                    <a:pt x="139959" y="33781"/>
                  </a:lnTo>
                  <a:lnTo>
                    <a:pt x="137038" y="30861"/>
                  </a:lnTo>
                  <a:close/>
                </a:path>
                <a:path w="479425" h="76200">
                  <a:moveTo>
                    <a:pt x="162438" y="30987"/>
                  </a:moveTo>
                  <a:lnTo>
                    <a:pt x="155453" y="30987"/>
                  </a:lnTo>
                  <a:lnTo>
                    <a:pt x="152659" y="33781"/>
                  </a:lnTo>
                  <a:lnTo>
                    <a:pt x="152659" y="37337"/>
                  </a:lnTo>
                  <a:lnTo>
                    <a:pt x="152528" y="40893"/>
                  </a:lnTo>
                  <a:lnTo>
                    <a:pt x="152659" y="40893"/>
                  </a:lnTo>
                  <a:lnTo>
                    <a:pt x="155453" y="43687"/>
                  </a:lnTo>
                  <a:lnTo>
                    <a:pt x="162438" y="43687"/>
                  </a:lnTo>
                  <a:lnTo>
                    <a:pt x="165359" y="40893"/>
                  </a:lnTo>
                  <a:lnTo>
                    <a:pt x="165359" y="33781"/>
                  </a:lnTo>
                  <a:lnTo>
                    <a:pt x="162438" y="30987"/>
                  </a:lnTo>
                  <a:close/>
                </a:path>
                <a:path w="479425" h="76200">
                  <a:moveTo>
                    <a:pt x="187965" y="31114"/>
                  </a:moveTo>
                  <a:lnTo>
                    <a:pt x="180732" y="31114"/>
                  </a:lnTo>
                  <a:lnTo>
                    <a:pt x="178059" y="33909"/>
                  </a:lnTo>
                  <a:lnTo>
                    <a:pt x="178059" y="40893"/>
                  </a:lnTo>
                  <a:lnTo>
                    <a:pt x="180980" y="43814"/>
                  </a:lnTo>
                  <a:lnTo>
                    <a:pt x="187838" y="43814"/>
                  </a:lnTo>
                  <a:lnTo>
                    <a:pt x="190759" y="40893"/>
                  </a:lnTo>
                  <a:lnTo>
                    <a:pt x="190759" y="33909"/>
                  </a:lnTo>
                  <a:lnTo>
                    <a:pt x="187965" y="31114"/>
                  </a:lnTo>
                  <a:close/>
                </a:path>
                <a:path w="479425" h="76200">
                  <a:moveTo>
                    <a:pt x="213365" y="31114"/>
                  </a:moveTo>
                  <a:lnTo>
                    <a:pt x="206253" y="31114"/>
                  </a:lnTo>
                  <a:lnTo>
                    <a:pt x="203459" y="34036"/>
                  </a:lnTo>
                  <a:lnTo>
                    <a:pt x="203459" y="41020"/>
                  </a:lnTo>
                  <a:lnTo>
                    <a:pt x="206253" y="43814"/>
                  </a:lnTo>
                  <a:lnTo>
                    <a:pt x="213238" y="43814"/>
                  </a:lnTo>
                  <a:lnTo>
                    <a:pt x="216159" y="41020"/>
                  </a:lnTo>
                  <a:lnTo>
                    <a:pt x="216159" y="34036"/>
                  </a:lnTo>
                  <a:lnTo>
                    <a:pt x="213365" y="31114"/>
                  </a:lnTo>
                  <a:close/>
                </a:path>
                <a:path w="479425" h="76200">
                  <a:moveTo>
                    <a:pt x="238765" y="31242"/>
                  </a:moveTo>
                  <a:lnTo>
                    <a:pt x="231653" y="31242"/>
                  </a:lnTo>
                  <a:lnTo>
                    <a:pt x="228859" y="34036"/>
                  </a:lnTo>
                  <a:lnTo>
                    <a:pt x="228981" y="41148"/>
                  </a:lnTo>
                  <a:lnTo>
                    <a:pt x="231653" y="43942"/>
                  </a:lnTo>
                  <a:lnTo>
                    <a:pt x="238638" y="43942"/>
                  </a:lnTo>
                  <a:lnTo>
                    <a:pt x="241559" y="41148"/>
                  </a:lnTo>
                  <a:lnTo>
                    <a:pt x="241559" y="34036"/>
                  </a:lnTo>
                  <a:lnTo>
                    <a:pt x="238765" y="31242"/>
                  </a:lnTo>
                  <a:close/>
                </a:path>
                <a:path w="479425" h="76200">
                  <a:moveTo>
                    <a:pt x="264165" y="31368"/>
                  </a:moveTo>
                  <a:lnTo>
                    <a:pt x="257053" y="31368"/>
                  </a:lnTo>
                  <a:lnTo>
                    <a:pt x="254259" y="34162"/>
                  </a:lnTo>
                  <a:lnTo>
                    <a:pt x="254259" y="41148"/>
                  </a:lnTo>
                  <a:lnTo>
                    <a:pt x="257180" y="44068"/>
                  </a:lnTo>
                  <a:lnTo>
                    <a:pt x="264165" y="44068"/>
                  </a:lnTo>
                  <a:lnTo>
                    <a:pt x="266959" y="41148"/>
                  </a:lnTo>
                  <a:lnTo>
                    <a:pt x="266959" y="34162"/>
                  </a:lnTo>
                  <a:lnTo>
                    <a:pt x="264165" y="31368"/>
                  </a:lnTo>
                  <a:close/>
                </a:path>
                <a:path w="479425" h="76200">
                  <a:moveTo>
                    <a:pt x="289565" y="31368"/>
                  </a:moveTo>
                  <a:lnTo>
                    <a:pt x="282580" y="31368"/>
                  </a:lnTo>
                  <a:lnTo>
                    <a:pt x="279527" y="34289"/>
                  </a:lnTo>
                  <a:lnTo>
                    <a:pt x="279659" y="34289"/>
                  </a:lnTo>
                  <a:lnTo>
                    <a:pt x="279659" y="41275"/>
                  </a:lnTo>
                  <a:lnTo>
                    <a:pt x="282453" y="44068"/>
                  </a:lnTo>
                  <a:lnTo>
                    <a:pt x="289565" y="44068"/>
                  </a:lnTo>
                  <a:lnTo>
                    <a:pt x="292359" y="41275"/>
                  </a:lnTo>
                  <a:lnTo>
                    <a:pt x="292359" y="34289"/>
                  </a:lnTo>
                  <a:lnTo>
                    <a:pt x="289565" y="31368"/>
                  </a:lnTo>
                  <a:close/>
                </a:path>
                <a:path w="479425" h="76200">
                  <a:moveTo>
                    <a:pt x="314965" y="31495"/>
                  </a:moveTo>
                  <a:lnTo>
                    <a:pt x="307980" y="31495"/>
                  </a:lnTo>
                  <a:lnTo>
                    <a:pt x="305059" y="34289"/>
                  </a:lnTo>
                  <a:lnTo>
                    <a:pt x="305181" y="41401"/>
                  </a:lnTo>
                  <a:lnTo>
                    <a:pt x="307853" y="44195"/>
                  </a:lnTo>
                  <a:lnTo>
                    <a:pt x="314965" y="44195"/>
                  </a:lnTo>
                  <a:lnTo>
                    <a:pt x="317759" y="41401"/>
                  </a:lnTo>
                  <a:lnTo>
                    <a:pt x="317759" y="34289"/>
                  </a:lnTo>
                  <a:lnTo>
                    <a:pt x="314965" y="31495"/>
                  </a:lnTo>
                  <a:close/>
                </a:path>
                <a:path w="479425" h="76200">
                  <a:moveTo>
                    <a:pt x="340365" y="31495"/>
                  </a:moveTo>
                  <a:lnTo>
                    <a:pt x="333380" y="31495"/>
                  </a:lnTo>
                  <a:lnTo>
                    <a:pt x="330459" y="34417"/>
                  </a:lnTo>
                  <a:lnTo>
                    <a:pt x="330459" y="41401"/>
                  </a:lnTo>
                  <a:lnTo>
                    <a:pt x="333380" y="44195"/>
                  </a:lnTo>
                  <a:lnTo>
                    <a:pt x="340365" y="44195"/>
                  </a:lnTo>
                  <a:lnTo>
                    <a:pt x="343159" y="41401"/>
                  </a:lnTo>
                  <a:lnTo>
                    <a:pt x="343159" y="34417"/>
                  </a:lnTo>
                  <a:lnTo>
                    <a:pt x="340365" y="31495"/>
                  </a:lnTo>
                  <a:close/>
                </a:path>
                <a:path w="479425" h="76200">
                  <a:moveTo>
                    <a:pt x="365765" y="31623"/>
                  </a:moveTo>
                  <a:lnTo>
                    <a:pt x="358780" y="31623"/>
                  </a:lnTo>
                  <a:lnTo>
                    <a:pt x="355727" y="34543"/>
                  </a:lnTo>
                  <a:lnTo>
                    <a:pt x="355859" y="34543"/>
                  </a:lnTo>
                  <a:lnTo>
                    <a:pt x="355859" y="41401"/>
                  </a:lnTo>
                  <a:lnTo>
                    <a:pt x="358780" y="44323"/>
                  </a:lnTo>
                  <a:lnTo>
                    <a:pt x="365765" y="44323"/>
                  </a:lnTo>
                  <a:lnTo>
                    <a:pt x="368559" y="41529"/>
                  </a:lnTo>
                  <a:lnTo>
                    <a:pt x="368686" y="34543"/>
                  </a:lnTo>
                  <a:lnTo>
                    <a:pt x="365765" y="31623"/>
                  </a:lnTo>
                  <a:close/>
                </a:path>
                <a:path w="479425" h="76200">
                  <a:moveTo>
                    <a:pt x="391165" y="31750"/>
                  </a:moveTo>
                  <a:lnTo>
                    <a:pt x="384180" y="31750"/>
                  </a:lnTo>
                  <a:lnTo>
                    <a:pt x="381386" y="34543"/>
                  </a:lnTo>
                  <a:lnTo>
                    <a:pt x="381259" y="41529"/>
                  </a:lnTo>
                  <a:lnTo>
                    <a:pt x="384180" y="44450"/>
                  </a:lnTo>
                  <a:lnTo>
                    <a:pt x="391165" y="44450"/>
                  </a:lnTo>
                  <a:lnTo>
                    <a:pt x="393959" y="41529"/>
                  </a:lnTo>
                  <a:lnTo>
                    <a:pt x="394086" y="34543"/>
                  </a:lnTo>
                  <a:lnTo>
                    <a:pt x="391165" y="31750"/>
                  </a:lnTo>
                  <a:close/>
                </a:path>
                <a:path w="479425" h="76200">
                  <a:moveTo>
                    <a:pt x="402849" y="0"/>
                  </a:moveTo>
                  <a:lnTo>
                    <a:pt x="402743" y="31750"/>
                  </a:lnTo>
                  <a:lnTo>
                    <a:pt x="402721" y="38354"/>
                  </a:lnTo>
                  <a:lnTo>
                    <a:pt x="402595" y="76200"/>
                  </a:lnTo>
                  <a:lnTo>
                    <a:pt x="466628" y="44450"/>
                  </a:lnTo>
                  <a:lnTo>
                    <a:pt x="409580" y="44450"/>
                  </a:lnTo>
                  <a:lnTo>
                    <a:pt x="406659" y="41656"/>
                  </a:lnTo>
                  <a:lnTo>
                    <a:pt x="406786" y="34670"/>
                  </a:lnTo>
                  <a:lnTo>
                    <a:pt x="409580" y="31750"/>
                  </a:lnTo>
                  <a:lnTo>
                    <a:pt x="465824" y="31750"/>
                  </a:lnTo>
                  <a:lnTo>
                    <a:pt x="402849" y="0"/>
                  </a:lnTo>
                  <a:close/>
                </a:path>
                <a:path w="479425" h="76200">
                  <a:moveTo>
                    <a:pt x="416565" y="31750"/>
                  </a:moveTo>
                  <a:lnTo>
                    <a:pt x="409580" y="31750"/>
                  </a:lnTo>
                  <a:lnTo>
                    <a:pt x="406786" y="34670"/>
                  </a:lnTo>
                  <a:lnTo>
                    <a:pt x="406659" y="41656"/>
                  </a:lnTo>
                  <a:lnTo>
                    <a:pt x="409580" y="44450"/>
                  </a:lnTo>
                  <a:lnTo>
                    <a:pt x="416565" y="44450"/>
                  </a:lnTo>
                  <a:lnTo>
                    <a:pt x="419486" y="41656"/>
                  </a:lnTo>
                  <a:lnTo>
                    <a:pt x="419486" y="34670"/>
                  </a:lnTo>
                  <a:lnTo>
                    <a:pt x="416565" y="31750"/>
                  </a:lnTo>
                  <a:close/>
                </a:path>
                <a:path w="479425" h="76200">
                  <a:moveTo>
                    <a:pt x="465824" y="31750"/>
                  </a:moveTo>
                  <a:lnTo>
                    <a:pt x="416565" y="31750"/>
                  </a:lnTo>
                  <a:lnTo>
                    <a:pt x="419486" y="34670"/>
                  </a:lnTo>
                  <a:lnTo>
                    <a:pt x="419486" y="41656"/>
                  </a:lnTo>
                  <a:lnTo>
                    <a:pt x="416565" y="44450"/>
                  </a:lnTo>
                  <a:lnTo>
                    <a:pt x="466628" y="44450"/>
                  </a:lnTo>
                  <a:lnTo>
                    <a:pt x="478922" y="38354"/>
                  </a:lnTo>
                  <a:lnTo>
                    <a:pt x="465824" y="31750"/>
                  </a:lnTo>
                  <a:close/>
                </a:path>
              </a:pathLst>
            </a:custGeom>
            <a:solidFill>
              <a:srgbClr val="34352F"/>
            </a:solidFill>
          </p:spPr>
          <p:txBody>
            <a:bodyPr wrap="square" lIns="0" tIns="0" rIns="0" bIns="0" rtlCol="0"/>
            <a:lstStyle/>
            <a:p/>
          </p:txBody>
        </p:sp>
        <p:sp>
          <p:nvSpPr>
            <p:cNvPr id="20" name="object 20"/>
            <p:cNvSpPr/>
            <p:nvPr/>
          </p:nvSpPr>
          <p:spPr>
            <a:xfrm>
              <a:off x="2641853" y="1954529"/>
              <a:ext cx="0" cy="172720"/>
            </a:xfrm>
            <a:custGeom>
              <a:avLst/>
              <a:gdLst/>
              <a:ahLst/>
              <a:cxnLst/>
              <a:rect l="l" t="t" r="r" b="b"/>
              <a:pathLst>
                <a:path h="172719">
                  <a:moveTo>
                    <a:pt x="0" y="0"/>
                  </a:moveTo>
                  <a:lnTo>
                    <a:pt x="0" y="172212"/>
                  </a:lnTo>
                </a:path>
              </a:pathLst>
            </a:custGeom>
            <a:ln w="38100">
              <a:solidFill>
                <a:srgbClr val="34352F"/>
              </a:solidFill>
            </a:ln>
          </p:spPr>
          <p:txBody>
            <a:bodyPr wrap="square" lIns="0" tIns="0" rIns="0" bIns="0" rtlCol="0"/>
            <a:lstStyle/>
            <a:p/>
          </p:txBody>
        </p:sp>
        <p:sp>
          <p:nvSpPr>
            <p:cNvPr id="21" name="object 21"/>
            <p:cNvSpPr/>
            <p:nvPr/>
          </p:nvSpPr>
          <p:spPr>
            <a:xfrm>
              <a:off x="2641091" y="2089403"/>
              <a:ext cx="0" cy="134620"/>
            </a:xfrm>
            <a:custGeom>
              <a:avLst/>
              <a:gdLst/>
              <a:ahLst/>
              <a:cxnLst/>
              <a:rect l="l" t="t" r="r" b="b"/>
              <a:pathLst>
                <a:path h="134619">
                  <a:moveTo>
                    <a:pt x="0" y="0"/>
                  </a:moveTo>
                  <a:lnTo>
                    <a:pt x="0" y="134112"/>
                  </a:lnTo>
                </a:path>
              </a:pathLst>
            </a:custGeom>
            <a:ln w="9525">
              <a:solidFill>
                <a:srgbClr val="34352F"/>
              </a:solidFill>
            </a:ln>
          </p:spPr>
          <p:txBody>
            <a:bodyPr wrap="square" lIns="0" tIns="0" rIns="0" bIns="0" rtlCol="0"/>
            <a:lstStyle/>
            <a:p/>
          </p:txBody>
        </p:sp>
      </p:grpSp>
      <p:sp>
        <p:nvSpPr>
          <p:cNvPr id="22" name="object 22"/>
          <p:cNvSpPr txBox="1"/>
          <p:nvPr/>
        </p:nvSpPr>
        <p:spPr>
          <a:xfrm>
            <a:off x="1800732" y="3775786"/>
            <a:ext cx="255270" cy="162560"/>
          </a:xfrm>
          <a:prstGeom prst="rect">
            <a:avLst/>
          </a:prstGeom>
        </p:spPr>
        <p:txBody>
          <a:bodyPr vert="horz" wrap="square" lIns="0" tIns="12700" rIns="0" bIns="0" rtlCol="0">
            <a:spAutoFit/>
          </a:bodyPr>
          <a:lstStyle/>
          <a:p>
            <a:pPr>
              <a:lnSpc>
                <a:spcPct val="100000"/>
              </a:lnSpc>
              <a:spcBef>
                <a:spcPts val="100"/>
              </a:spcBef>
            </a:pPr>
            <a:r>
              <a:rPr sz="900" spc="-10" dirty="0">
                <a:solidFill>
                  <a:srgbClr val="34352F"/>
                </a:solidFill>
                <a:latin typeface="Calibri" panose="020F0502020204030204"/>
                <a:cs typeface="Calibri" panose="020F0502020204030204"/>
              </a:rPr>
              <a:t>sleep</a:t>
            </a:r>
            <a:endParaRPr sz="900">
              <a:latin typeface="Calibri" panose="020F0502020204030204"/>
              <a:cs typeface="Calibri" panose="020F0502020204030204"/>
            </a:endParaRPr>
          </a:p>
        </p:txBody>
      </p:sp>
      <p:grpSp>
        <p:nvGrpSpPr>
          <p:cNvPr id="23" name="object 23"/>
          <p:cNvGrpSpPr/>
          <p:nvPr/>
        </p:nvGrpSpPr>
        <p:grpSpPr>
          <a:xfrm>
            <a:off x="1689925" y="1888362"/>
            <a:ext cx="2252980" cy="2066925"/>
            <a:chOff x="1689925" y="2258567"/>
            <a:chExt cx="2252980" cy="2066925"/>
          </a:xfrm>
        </p:grpSpPr>
        <p:sp>
          <p:nvSpPr>
            <p:cNvPr id="24" name="object 24"/>
            <p:cNvSpPr/>
            <p:nvPr/>
          </p:nvSpPr>
          <p:spPr>
            <a:xfrm>
              <a:off x="1729486" y="2258567"/>
              <a:ext cx="393065" cy="2018030"/>
            </a:xfrm>
            <a:custGeom>
              <a:avLst/>
              <a:gdLst/>
              <a:ahLst/>
              <a:cxnLst/>
              <a:rect l="l" t="t" r="r" b="b"/>
              <a:pathLst>
                <a:path w="393064" h="2018029">
                  <a:moveTo>
                    <a:pt x="348361" y="375919"/>
                  </a:moveTo>
                  <a:lnTo>
                    <a:pt x="0" y="375919"/>
                  </a:lnTo>
                  <a:lnTo>
                    <a:pt x="0" y="2017902"/>
                  </a:lnTo>
                  <a:lnTo>
                    <a:pt x="12700" y="2017903"/>
                  </a:lnTo>
                  <a:lnTo>
                    <a:pt x="12700" y="388619"/>
                  </a:lnTo>
                  <a:lnTo>
                    <a:pt x="6350" y="388619"/>
                  </a:lnTo>
                  <a:lnTo>
                    <a:pt x="12700" y="382269"/>
                  </a:lnTo>
                  <a:lnTo>
                    <a:pt x="348361" y="382269"/>
                  </a:lnTo>
                  <a:lnTo>
                    <a:pt x="348361" y="375919"/>
                  </a:lnTo>
                  <a:close/>
                </a:path>
                <a:path w="393064" h="2018029">
                  <a:moveTo>
                    <a:pt x="12700" y="382269"/>
                  </a:moveTo>
                  <a:lnTo>
                    <a:pt x="6350" y="388619"/>
                  </a:lnTo>
                  <a:lnTo>
                    <a:pt x="12700" y="388619"/>
                  </a:lnTo>
                  <a:lnTo>
                    <a:pt x="12700" y="382269"/>
                  </a:lnTo>
                  <a:close/>
                </a:path>
                <a:path w="393064" h="2018029">
                  <a:moveTo>
                    <a:pt x="361061" y="375919"/>
                  </a:moveTo>
                  <a:lnTo>
                    <a:pt x="354711" y="375919"/>
                  </a:lnTo>
                  <a:lnTo>
                    <a:pt x="348361" y="382269"/>
                  </a:lnTo>
                  <a:lnTo>
                    <a:pt x="12700" y="382269"/>
                  </a:lnTo>
                  <a:lnTo>
                    <a:pt x="12700" y="388619"/>
                  </a:lnTo>
                  <a:lnTo>
                    <a:pt x="361061" y="388619"/>
                  </a:lnTo>
                  <a:lnTo>
                    <a:pt x="361061" y="375919"/>
                  </a:lnTo>
                  <a:close/>
                </a:path>
                <a:path w="393064" h="2018029">
                  <a:moveTo>
                    <a:pt x="361061" y="63500"/>
                  </a:moveTo>
                  <a:lnTo>
                    <a:pt x="348361" y="63500"/>
                  </a:lnTo>
                  <a:lnTo>
                    <a:pt x="348361" y="382269"/>
                  </a:lnTo>
                  <a:lnTo>
                    <a:pt x="354711" y="375919"/>
                  </a:lnTo>
                  <a:lnTo>
                    <a:pt x="361061" y="375919"/>
                  </a:lnTo>
                  <a:lnTo>
                    <a:pt x="361061" y="63500"/>
                  </a:lnTo>
                  <a:close/>
                </a:path>
                <a:path w="393064" h="2018029">
                  <a:moveTo>
                    <a:pt x="354711" y="0"/>
                  </a:moveTo>
                  <a:lnTo>
                    <a:pt x="316611" y="76200"/>
                  </a:lnTo>
                  <a:lnTo>
                    <a:pt x="348361" y="76200"/>
                  </a:lnTo>
                  <a:lnTo>
                    <a:pt x="348361" y="63500"/>
                  </a:lnTo>
                  <a:lnTo>
                    <a:pt x="386461" y="63500"/>
                  </a:lnTo>
                  <a:lnTo>
                    <a:pt x="354711" y="0"/>
                  </a:lnTo>
                  <a:close/>
                </a:path>
                <a:path w="393064" h="2018029">
                  <a:moveTo>
                    <a:pt x="386461" y="63500"/>
                  </a:moveTo>
                  <a:lnTo>
                    <a:pt x="361061" y="63500"/>
                  </a:lnTo>
                  <a:lnTo>
                    <a:pt x="361061" y="76200"/>
                  </a:lnTo>
                  <a:lnTo>
                    <a:pt x="392811" y="76200"/>
                  </a:lnTo>
                  <a:lnTo>
                    <a:pt x="386461" y="63500"/>
                  </a:lnTo>
                  <a:close/>
                </a:path>
              </a:pathLst>
            </a:custGeom>
            <a:solidFill>
              <a:srgbClr val="34352F"/>
            </a:solidFill>
          </p:spPr>
          <p:txBody>
            <a:bodyPr wrap="square" lIns="0" tIns="0" rIns="0" bIns="0" rtlCol="0"/>
            <a:lstStyle/>
            <a:p/>
          </p:txBody>
        </p:sp>
        <p:sp>
          <p:nvSpPr>
            <p:cNvPr id="25" name="object 25"/>
            <p:cNvSpPr/>
            <p:nvPr/>
          </p:nvSpPr>
          <p:spPr>
            <a:xfrm>
              <a:off x="1694688" y="4262627"/>
              <a:ext cx="91440" cy="58419"/>
            </a:xfrm>
            <a:custGeom>
              <a:avLst/>
              <a:gdLst/>
              <a:ahLst/>
              <a:cxnLst/>
              <a:rect l="l" t="t" r="r" b="b"/>
              <a:pathLst>
                <a:path w="91439" h="58420">
                  <a:moveTo>
                    <a:pt x="91439" y="0"/>
                  </a:moveTo>
                  <a:lnTo>
                    <a:pt x="0" y="0"/>
                  </a:lnTo>
                  <a:lnTo>
                    <a:pt x="0" y="57912"/>
                  </a:lnTo>
                  <a:lnTo>
                    <a:pt x="91439" y="57912"/>
                  </a:lnTo>
                  <a:lnTo>
                    <a:pt x="91439" y="0"/>
                  </a:lnTo>
                  <a:close/>
                </a:path>
              </a:pathLst>
            </a:custGeom>
            <a:solidFill>
              <a:srgbClr val="FEFEFE"/>
            </a:solidFill>
          </p:spPr>
          <p:txBody>
            <a:bodyPr wrap="square" lIns="0" tIns="0" rIns="0" bIns="0" rtlCol="0"/>
            <a:lstStyle/>
            <a:p/>
          </p:txBody>
        </p:sp>
        <p:sp>
          <p:nvSpPr>
            <p:cNvPr id="26" name="object 26"/>
            <p:cNvSpPr/>
            <p:nvPr/>
          </p:nvSpPr>
          <p:spPr>
            <a:xfrm>
              <a:off x="1694688" y="4262627"/>
              <a:ext cx="91440" cy="58419"/>
            </a:xfrm>
            <a:custGeom>
              <a:avLst/>
              <a:gdLst/>
              <a:ahLst/>
              <a:cxnLst/>
              <a:rect l="l" t="t" r="r" b="b"/>
              <a:pathLst>
                <a:path w="91439" h="58420">
                  <a:moveTo>
                    <a:pt x="0" y="57912"/>
                  </a:moveTo>
                  <a:lnTo>
                    <a:pt x="91439" y="57912"/>
                  </a:lnTo>
                  <a:lnTo>
                    <a:pt x="91439" y="0"/>
                  </a:lnTo>
                  <a:lnTo>
                    <a:pt x="0" y="0"/>
                  </a:lnTo>
                  <a:lnTo>
                    <a:pt x="0" y="57912"/>
                  </a:lnTo>
                  <a:close/>
                </a:path>
              </a:pathLst>
            </a:custGeom>
            <a:ln w="9525">
              <a:solidFill>
                <a:srgbClr val="34352F"/>
              </a:solidFill>
            </a:ln>
          </p:spPr>
          <p:txBody>
            <a:bodyPr wrap="square" lIns="0" tIns="0" rIns="0" bIns="0" rtlCol="0"/>
            <a:lstStyle/>
            <a:p/>
          </p:txBody>
        </p:sp>
        <p:sp>
          <p:nvSpPr>
            <p:cNvPr id="27" name="object 27"/>
            <p:cNvSpPr/>
            <p:nvPr/>
          </p:nvSpPr>
          <p:spPr>
            <a:xfrm>
              <a:off x="3523488" y="3753611"/>
              <a:ext cx="417830" cy="238125"/>
            </a:xfrm>
            <a:custGeom>
              <a:avLst/>
              <a:gdLst/>
              <a:ahLst/>
              <a:cxnLst/>
              <a:rect l="l" t="t" r="r" b="b"/>
              <a:pathLst>
                <a:path w="417829" h="238125">
                  <a:moveTo>
                    <a:pt x="208787" y="0"/>
                  </a:moveTo>
                  <a:lnTo>
                    <a:pt x="0" y="0"/>
                  </a:lnTo>
                  <a:lnTo>
                    <a:pt x="0" y="237744"/>
                  </a:lnTo>
                  <a:lnTo>
                    <a:pt x="208787" y="237744"/>
                  </a:lnTo>
                  <a:lnTo>
                    <a:pt x="264294" y="233497"/>
                  </a:lnTo>
                  <a:lnTo>
                    <a:pt x="314169" y="221513"/>
                  </a:lnTo>
                  <a:lnTo>
                    <a:pt x="356425" y="202925"/>
                  </a:lnTo>
                  <a:lnTo>
                    <a:pt x="389071" y="178866"/>
                  </a:lnTo>
                  <a:lnTo>
                    <a:pt x="417575" y="118872"/>
                  </a:lnTo>
                  <a:lnTo>
                    <a:pt x="410118" y="87268"/>
                  </a:lnTo>
                  <a:lnTo>
                    <a:pt x="356425" y="34813"/>
                  </a:lnTo>
                  <a:lnTo>
                    <a:pt x="314169" y="16227"/>
                  </a:lnTo>
                  <a:lnTo>
                    <a:pt x="264294" y="4245"/>
                  </a:lnTo>
                  <a:lnTo>
                    <a:pt x="208787" y="0"/>
                  </a:lnTo>
                  <a:close/>
                </a:path>
              </a:pathLst>
            </a:custGeom>
            <a:solidFill>
              <a:srgbClr val="0B0B51"/>
            </a:solidFill>
          </p:spPr>
          <p:txBody>
            <a:bodyPr wrap="square" lIns="0" tIns="0" rIns="0" bIns="0" rtlCol="0"/>
            <a:lstStyle/>
            <a:p/>
          </p:txBody>
        </p:sp>
        <p:sp>
          <p:nvSpPr>
            <p:cNvPr id="28" name="object 28"/>
            <p:cNvSpPr/>
            <p:nvPr/>
          </p:nvSpPr>
          <p:spPr>
            <a:xfrm>
              <a:off x="3523488" y="3753611"/>
              <a:ext cx="417830" cy="238125"/>
            </a:xfrm>
            <a:custGeom>
              <a:avLst/>
              <a:gdLst/>
              <a:ahLst/>
              <a:cxnLst/>
              <a:rect l="l" t="t" r="r" b="b"/>
              <a:pathLst>
                <a:path w="417829" h="238125">
                  <a:moveTo>
                    <a:pt x="0" y="0"/>
                  </a:moveTo>
                  <a:lnTo>
                    <a:pt x="208787" y="0"/>
                  </a:lnTo>
                  <a:lnTo>
                    <a:pt x="264294" y="4245"/>
                  </a:lnTo>
                  <a:lnTo>
                    <a:pt x="314169" y="16227"/>
                  </a:lnTo>
                  <a:lnTo>
                    <a:pt x="356425" y="34813"/>
                  </a:lnTo>
                  <a:lnTo>
                    <a:pt x="389071" y="58871"/>
                  </a:lnTo>
                  <a:lnTo>
                    <a:pt x="417575" y="118872"/>
                  </a:lnTo>
                  <a:lnTo>
                    <a:pt x="410118" y="150471"/>
                  </a:lnTo>
                  <a:lnTo>
                    <a:pt x="356425" y="202925"/>
                  </a:lnTo>
                  <a:lnTo>
                    <a:pt x="314169" y="221513"/>
                  </a:lnTo>
                  <a:lnTo>
                    <a:pt x="264294" y="233497"/>
                  </a:lnTo>
                  <a:lnTo>
                    <a:pt x="208787" y="237744"/>
                  </a:lnTo>
                  <a:lnTo>
                    <a:pt x="0" y="237744"/>
                  </a:lnTo>
                  <a:lnTo>
                    <a:pt x="0" y="0"/>
                  </a:lnTo>
                  <a:close/>
                </a:path>
              </a:pathLst>
            </a:custGeom>
            <a:ln w="3175">
              <a:solidFill>
                <a:srgbClr val="34352F"/>
              </a:solidFill>
            </a:ln>
          </p:spPr>
          <p:txBody>
            <a:bodyPr wrap="square" lIns="0" tIns="0" rIns="0" bIns="0" rtlCol="0"/>
            <a:lstStyle/>
            <a:p/>
          </p:txBody>
        </p:sp>
      </p:grpSp>
      <p:sp>
        <p:nvSpPr>
          <p:cNvPr id="29" name="object 29"/>
          <p:cNvSpPr txBox="1"/>
          <p:nvPr/>
        </p:nvSpPr>
        <p:spPr>
          <a:xfrm>
            <a:off x="455371" y="4147947"/>
            <a:ext cx="318770" cy="162560"/>
          </a:xfrm>
          <a:prstGeom prst="rect">
            <a:avLst/>
          </a:prstGeom>
        </p:spPr>
        <p:txBody>
          <a:bodyPr vert="horz" wrap="square" lIns="0" tIns="12700" rIns="0" bIns="0" rtlCol="0">
            <a:spAutoFit/>
          </a:bodyPr>
          <a:lstStyle/>
          <a:p>
            <a:pPr>
              <a:lnSpc>
                <a:spcPct val="100000"/>
              </a:lnSpc>
              <a:spcBef>
                <a:spcPts val="100"/>
              </a:spcBef>
            </a:pPr>
            <a:r>
              <a:rPr sz="900" spc="-10" dirty="0">
                <a:solidFill>
                  <a:srgbClr val="34352F"/>
                </a:solidFill>
                <a:latin typeface="Calibri" panose="020F0502020204030204"/>
                <a:cs typeface="Calibri" panose="020F0502020204030204"/>
              </a:rPr>
              <a:t>pd_iso</a:t>
            </a:r>
            <a:endParaRPr sz="900">
              <a:latin typeface="Calibri" panose="020F0502020204030204"/>
              <a:cs typeface="Calibri" panose="020F0502020204030204"/>
            </a:endParaRPr>
          </a:p>
        </p:txBody>
      </p:sp>
      <p:grpSp>
        <p:nvGrpSpPr>
          <p:cNvPr id="30" name="object 30"/>
          <p:cNvGrpSpPr/>
          <p:nvPr/>
        </p:nvGrpSpPr>
        <p:grpSpPr>
          <a:xfrm>
            <a:off x="306133" y="2724403"/>
            <a:ext cx="3417570" cy="1598295"/>
            <a:chOff x="306133" y="3094608"/>
            <a:chExt cx="3417570" cy="1598295"/>
          </a:xfrm>
        </p:grpSpPr>
        <p:sp>
          <p:nvSpPr>
            <p:cNvPr id="31" name="object 31"/>
            <p:cNvSpPr/>
            <p:nvPr/>
          </p:nvSpPr>
          <p:spPr>
            <a:xfrm>
              <a:off x="403859" y="3997451"/>
              <a:ext cx="3319779" cy="668655"/>
            </a:xfrm>
            <a:custGeom>
              <a:avLst/>
              <a:gdLst/>
              <a:ahLst/>
              <a:cxnLst/>
              <a:rect l="l" t="t" r="r" b="b"/>
              <a:pathLst>
                <a:path w="3319779" h="668654">
                  <a:moveTo>
                    <a:pt x="3275076" y="655701"/>
                  </a:moveTo>
                  <a:lnTo>
                    <a:pt x="0" y="655701"/>
                  </a:lnTo>
                  <a:lnTo>
                    <a:pt x="0" y="668401"/>
                  </a:lnTo>
                  <a:lnTo>
                    <a:pt x="3287776" y="668401"/>
                  </a:lnTo>
                  <a:lnTo>
                    <a:pt x="3287776" y="662051"/>
                  </a:lnTo>
                  <a:lnTo>
                    <a:pt x="3275076" y="662051"/>
                  </a:lnTo>
                  <a:lnTo>
                    <a:pt x="3275076" y="655701"/>
                  </a:lnTo>
                  <a:close/>
                </a:path>
                <a:path w="3319779" h="668654">
                  <a:moveTo>
                    <a:pt x="3287776" y="63500"/>
                  </a:moveTo>
                  <a:lnTo>
                    <a:pt x="3275076" y="63500"/>
                  </a:lnTo>
                  <a:lnTo>
                    <a:pt x="3275076" y="662051"/>
                  </a:lnTo>
                  <a:lnTo>
                    <a:pt x="3281426" y="655701"/>
                  </a:lnTo>
                  <a:lnTo>
                    <a:pt x="3287776" y="655701"/>
                  </a:lnTo>
                  <a:lnTo>
                    <a:pt x="3287776" y="63500"/>
                  </a:lnTo>
                  <a:close/>
                </a:path>
                <a:path w="3319779" h="668654">
                  <a:moveTo>
                    <a:pt x="3287776" y="655701"/>
                  </a:moveTo>
                  <a:lnTo>
                    <a:pt x="3281426" y="655701"/>
                  </a:lnTo>
                  <a:lnTo>
                    <a:pt x="3275076" y="662051"/>
                  </a:lnTo>
                  <a:lnTo>
                    <a:pt x="3287776" y="662051"/>
                  </a:lnTo>
                  <a:lnTo>
                    <a:pt x="3287776" y="655701"/>
                  </a:lnTo>
                  <a:close/>
                </a:path>
                <a:path w="3319779" h="668654">
                  <a:moveTo>
                    <a:pt x="3281426" y="0"/>
                  </a:moveTo>
                  <a:lnTo>
                    <a:pt x="3243326" y="76200"/>
                  </a:lnTo>
                  <a:lnTo>
                    <a:pt x="3275076" y="76200"/>
                  </a:lnTo>
                  <a:lnTo>
                    <a:pt x="3275076" y="63500"/>
                  </a:lnTo>
                  <a:lnTo>
                    <a:pt x="3313176" y="63500"/>
                  </a:lnTo>
                  <a:lnTo>
                    <a:pt x="3281426" y="0"/>
                  </a:lnTo>
                  <a:close/>
                </a:path>
                <a:path w="3319779" h="668654">
                  <a:moveTo>
                    <a:pt x="3313176" y="63500"/>
                  </a:moveTo>
                  <a:lnTo>
                    <a:pt x="3287776" y="63500"/>
                  </a:lnTo>
                  <a:lnTo>
                    <a:pt x="3287776" y="76200"/>
                  </a:lnTo>
                  <a:lnTo>
                    <a:pt x="3319526" y="76200"/>
                  </a:lnTo>
                  <a:lnTo>
                    <a:pt x="3313176" y="63500"/>
                  </a:lnTo>
                  <a:close/>
                </a:path>
              </a:pathLst>
            </a:custGeom>
            <a:solidFill>
              <a:srgbClr val="34352F"/>
            </a:solidFill>
          </p:spPr>
          <p:txBody>
            <a:bodyPr wrap="square" lIns="0" tIns="0" rIns="0" bIns="0" rtlCol="0"/>
            <a:lstStyle/>
            <a:p/>
          </p:txBody>
        </p:sp>
        <p:sp>
          <p:nvSpPr>
            <p:cNvPr id="32" name="object 32"/>
            <p:cNvSpPr/>
            <p:nvPr/>
          </p:nvSpPr>
          <p:spPr>
            <a:xfrm>
              <a:off x="310895" y="4629911"/>
              <a:ext cx="93345" cy="58419"/>
            </a:xfrm>
            <a:custGeom>
              <a:avLst/>
              <a:gdLst/>
              <a:ahLst/>
              <a:cxnLst/>
              <a:rect l="l" t="t" r="r" b="b"/>
              <a:pathLst>
                <a:path w="93345" h="58420">
                  <a:moveTo>
                    <a:pt x="92964" y="0"/>
                  </a:moveTo>
                  <a:lnTo>
                    <a:pt x="0" y="0"/>
                  </a:lnTo>
                  <a:lnTo>
                    <a:pt x="0" y="57911"/>
                  </a:lnTo>
                  <a:lnTo>
                    <a:pt x="92964" y="57911"/>
                  </a:lnTo>
                  <a:lnTo>
                    <a:pt x="92964" y="0"/>
                  </a:lnTo>
                  <a:close/>
                </a:path>
              </a:pathLst>
            </a:custGeom>
            <a:solidFill>
              <a:srgbClr val="FEFEFE"/>
            </a:solidFill>
          </p:spPr>
          <p:txBody>
            <a:bodyPr wrap="square" lIns="0" tIns="0" rIns="0" bIns="0" rtlCol="0"/>
            <a:lstStyle/>
            <a:p/>
          </p:txBody>
        </p:sp>
        <p:sp>
          <p:nvSpPr>
            <p:cNvPr id="33" name="object 33"/>
            <p:cNvSpPr/>
            <p:nvPr/>
          </p:nvSpPr>
          <p:spPr>
            <a:xfrm>
              <a:off x="310895" y="4629911"/>
              <a:ext cx="93345" cy="58419"/>
            </a:xfrm>
            <a:custGeom>
              <a:avLst/>
              <a:gdLst/>
              <a:ahLst/>
              <a:cxnLst/>
              <a:rect l="l" t="t" r="r" b="b"/>
              <a:pathLst>
                <a:path w="93345" h="58420">
                  <a:moveTo>
                    <a:pt x="0" y="57911"/>
                  </a:moveTo>
                  <a:lnTo>
                    <a:pt x="92964" y="57911"/>
                  </a:lnTo>
                  <a:lnTo>
                    <a:pt x="92964" y="0"/>
                  </a:lnTo>
                  <a:lnTo>
                    <a:pt x="0" y="0"/>
                  </a:lnTo>
                  <a:lnTo>
                    <a:pt x="0" y="57911"/>
                  </a:lnTo>
                  <a:close/>
                </a:path>
              </a:pathLst>
            </a:custGeom>
            <a:ln w="9524">
              <a:solidFill>
                <a:srgbClr val="34352F"/>
              </a:solidFill>
            </a:ln>
          </p:spPr>
          <p:txBody>
            <a:bodyPr wrap="square" lIns="0" tIns="0" rIns="0" bIns="0" rtlCol="0"/>
            <a:lstStyle/>
            <a:p/>
          </p:txBody>
        </p:sp>
        <p:sp>
          <p:nvSpPr>
            <p:cNvPr id="34" name="object 34"/>
            <p:cNvSpPr/>
            <p:nvPr/>
          </p:nvSpPr>
          <p:spPr>
            <a:xfrm>
              <a:off x="2465069" y="3115246"/>
              <a:ext cx="0" cy="283845"/>
            </a:xfrm>
            <a:custGeom>
              <a:avLst/>
              <a:gdLst/>
              <a:ahLst/>
              <a:cxnLst/>
              <a:rect l="l" t="t" r="r" b="b"/>
              <a:pathLst>
                <a:path h="283845">
                  <a:moveTo>
                    <a:pt x="0" y="0"/>
                  </a:moveTo>
                  <a:lnTo>
                    <a:pt x="0" y="283273"/>
                  </a:lnTo>
                </a:path>
              </a:pathLst>
            </a:custGeom>
            <a:ln w="40767">
              <a:solidFill>
                <a:srgbClr val="34352F"/>
              </a:solidFill>
            </a:ln>
          </p:spPr>
          <p:txBody>
            <a:bodyPr wrap="square" lIns="0" tIns="0" rIns="0" bIns="0" rtlCol="0"/>
            <a:lstStyle/>
            <a:p/>
          </p:txBody>
        </p:sp>
      </p:grpSp>
      <p:sp>
        <p:nvSpPr>
          <p:cNvPr id="35" name="object 35"/>
          <p:cNvSpPr txBox="1"/>
          <p:nvPr/>
        </p:nvSpPr>
        <p:spPr>
          <a:xfrm>
            <a:off x="1956307" y="2660268"/>
            <a:ext cx="372745" cy="208279"/>
          </a:xfrm>
          <a:prstGeom prst="rect">
            <a:avLst/>
          </a:prstGeom>
        </p:spPr>
        <p:txBody>
          <a:bodyPr vert="horz" wrap="square" lIns="0" tIns="12700" rIns="0" bIns="0" rtlCol="0">
            <a:spAutoFit/>
          </a:bodyPr>
          <a:lstStyle/>
          <a:p>
            <a:pPr marL="12700">
              <a:lnSpc>
                <a:spcPct val="100000"/>
              </a:lnSpc>
              <a:spcBef>
                <a:spcPts val="100"/>
              </a:spcBef>
            </a:pPr>
            <a:r>
              <a:rPr sz="1200" b="1" spc="-20" dirty="0">
                <a:solidFill>
                  <a:srgbClr val="34352F"/>
                </a:solidFill>
                <a:latin typeface="Calibri" panose="020F0502020204030204"/>
                <a:cs typeface="Calibri" panose="020F0502020204030204"/>
              </a:rPr>
              <a:t>VDDL</a:t>
            </a:r>
            <a:endParaRPr sz="1200">
              <a:latin typeface="Calibri" panose="020F0502020204030204"/>
              <a:cs typeface="Calibri" panose="020F0502020204030204"/>
            </a:endParaRPr>
          </a:p>
        </p:txBody>
      </p:sp>
      <p:sp>
        <p:nvSpPr>
          <p:cNvPr id="36" name="object 36"/>
          <p:cNvSpPr txBox="1"/>
          <p:nvPr/>
        </p:nvSpPr>
        <p:spPr>
          <a:xfrm>
            <a:off x="429564" y="2845180"/>
            <a:ext cx="361950" cy="276860"/>
          </a:xfrm>
          <a:prstGeom prst="rect">
            <a:avLst/>
          </a:prstGeom>
        </p:spPr>
        <p:txBody>
          <a:bodyPr vert="horz" wrap="square" lIns="0" tIns="12700" rIns="0" bIns="0" rtlCol="0">
            <a:spAutoFit/>
          </a:bodyPr>
          <a:lstStyle/>
          <a:p>
            <a:pPr marL="17145">
              <a:lnSpc>
                <a:spcPts val="990"/>
              </a:lnSpc>
              <a:spcBef>
                <a:spcPts val="100"/>
              </a:spcBef>
            </a:pPr>
            <a:r>
              <a:rPr sz="900" spc="-20" dirty="0">
                <a:solidFill>
                  <a:srgbClr val="34352F"/>
                </a:solidFill>
                <a:latin typeface="Calibri" panose="020F0502020204030204"/>
                <a:cs typeface="Calibri" panose="020F0502020204030204"/>
              </a:rPr>
              <a:t>save</a:t>
            </a:r>
            <a:endParaRPr sz="900">
              <a:latin typeface="Calibri" panose="020F0502020204030204"/>
              <a:cs typeface="Calibri" panose="020F0502020204030204"/>
            </a:endParaRPr>
          </a:p>
          <a:p>
            <a:pPr marL="12700">
              <a:lnSpc>
                <a:spcPts val="990"/>
              </a:lnSpc>
            </a:pPr>
            <a:r>
              <a:rPr sz="900" spc="-10" dirty="0">
                <a:solidFill>
                  <a:srgbClr val="34352F"/>
                </a:solidFill>
                <a:latin typeface="Calibri" panose="020F0502020204030204"/>
                <a:cs typeface="Calibri" panose="020F0502020204030204"/>
              </a:rPr>
              <a:t>restore</a:t>
            </a:r>
            <a:endParaRPr sz="900">
              <a:latin typeface="Calibri" panose="020F0502020204030204"/>
              <a:cs typeface="Calibri" panose="020F0502020204030204"/>
            </a:endParaRPr>
          </a:p>
        </p:txBody>
      </p:sp>
      <p:grpSp>
        <p:nvGrpSpPr>
          <p:cNvPr id="37" name="object 37"/>
          <p:cNvGrpSpPr/>
          <p:nvPr/>
        </p:nvGrpSpPr>
        <p:grpSpPr>
          <a:xfrm>
            <a:off x="306133" y="2945828"/>
            <a:ext cx="2397760" cy="481965"/>
            <a:chOff x="306133" y="3316033"/>
            <a:chExt cx="2397760" cy="481965"/>
          </a:xfrm>
        </p:grpSpPr>
        <p:sp>
          <p:nvSpPr>
            <p:cNvPr id="38" name="object 38"/>
            <p:cNvSpPr/>
            <p:nvPr/>
          </p:nvSpPr>
          <p:spPr>
            <a:xfrm>
              <a:off x="359664" y="3346450"/>
              <a:ext cx="2058035" cy="362585"/>
            </a:xfrm>
            <a:custGeom>
              <a:avLst/>
              <a:gdLst/>
              <a:ahLst/>
              <a:cxnLst/>
              <a:rect l="l" t="t" r="r" b="b"/>
              <a:pathLst>
                <a:path w="2058035" h="362585">
                  <a:moveTo>
                    <a:pt x="2057400" y="324231"/>
                  </a:moveTo>
                  <a:lnTo>
                    <a:pt x="2044700" y="317881"/>
                  </a:lnTo>
                  <a:lnTo>
                    <a:pt x="1981200" y="286131"/>
                  </a:lnTo>
                  <a:lnTo>
                    <a:pt x="1981200" y="317881"/>
                  </a:lnTo>
                  <a:lnTo>
                    <a:pt x="1035050" y="317881"/>
                  </a:lnTo>
                  <a:lnTo>
                    <a:pt x="1035050" y="122428"/>
                  </a:lnTo>
                  <a:lnTo>
                    <a:pt x="1035050" y="116078"/>
                  </a:lnTo>
                  <a:lnTo>
                    <a:pt x="1035050" y="109728"/>
                  </a:lnTo>
                  <a:lnTo>
                    <a:pt x="0" y="109728"/>
                  </a:lnTo>
                  <a:lnTo>
                    <a:pt x="0" y="122428"/>
                  </a:lnTo>
                  <a:lnTo>
                    <a:pt x="1022350" y="122428"/>
                  </a:lnTo>
                  <a:lnTo>
                    <a:pt x="1022350" y="330581"/>
                  </a:lnTo>
                  <a:lnTo>
                    <a:pt x="1981200" y="330581"/>
                  </a:lnTo>
                  <a:lnTo>
                    <a:pt x="1981200" y="362331"/>
                  </a:lnTo>
                  <a:lnTo>
                    <a:pt x="2044700" y="330581"/>
                  </a:lnTo>
                  <a:lnTo>
                    <a:pt x="2057400" y="324231"/>
                  </a:lnTo>
                  <a:close/>
                </a:path>
                <a:path w="2058035" h="362585">
                  <a:moveTo>
                    <a:pt x="2057908" y="224028"/>
                  </a:moveTo>
                  <a:lnTo>
                    <a:pt x="2045208" y="217678"/>
                  </a:lnTo>
                  <a:lnTo>
                    <a:pt x="1981708" y="185928"/>
                  </a:lnTo>
                  <a:lnTo>
                    <a:pt x="1981708" y="217678"/>
                  </a:lnTo>
                  <a:lnTo>
                    <a:pt x="1121029" y="217678"/>
                  </a:lnTo>
                  <a:lnTo>
                    <a:pt x="1121029" y="12700"/>
                  </a:lnTo>
                  <a:lnTo>
                    <a:pt x="1121029" y="6350"/>
                  </a:lnTo>
                  <a:lnTo>
                    <a:pt x="1121029" y="0"/>
                  </a:lnTo>
                  <a:lnTo>
                    <a:pt x="0" y="0"/>
                  </a:lnTo>
                  <a:lnTo>
                    <a:pt x="0" y="12700"/>
                  </a:lnTo>
                  <a:lnTo>
                    <a:pt x="1108329" y="12700"/>
                  </a:lnTo>
                  <a:lnTo>
                    <a:pt x="1108329" y="230378"/>
                  </a:lnTo>
                  <a:lnTo>
                    <a:pt x="1981708" y="230378"/>
                  </a:lnTo>
                  <a:lnTo>
                    <a:pt x="1981708" y="262128"/>
                  </a:lnTo>
                  <a:lnTo>
                    <a:pt x="2045208" y="230378"/>
                  </a:lnTo>
                  <a:lnTo>
                    <a:pt x="2057908" y="224028"/>
                  </a:lnTo>
                  <a:close/>
                </a:path>
              </a:pathLst>
            </a:custGeom>
            <a:solidFill>
              <a:srgbClr val="34352F"/>
            </a:solidFill>
          </p:spPr>
          <p:txBody>
            <a:bodyPr wrap="square" lIns="0" tIns="0" rIns="0" bIns="0" rtlCol="0"/>
            <a:lstStyle/>
            <a:p/>
          </p:txBody>
        </p:sp>
        <p:sp>
          <p:nvSpPr>
            <p:cNvPr id="39" name="object 39"/>
            <p:cNvSpPr/>
            <p:nvPr/>
          </p:nvSpPr>
          <p:spPr>
            <a:xfrm>
              <a:off x="313943" y="3320796"/>
              <a:ext cx="91440" cy="56515"/>
            </a:xfrm>
            <a:custGeom>
              <a:avLst/>
              <a:gdLst/>
              <a:ahLst/>
              <a:cxnLst/>
              <a:rect l="l" t="t" r="r" b="b"/>
              <a:pathLst>
                <a:path w="91439" h="56514">
                  <a:moveTo>
                    <a:pt x="91439" y="0"/>
                  </a:moveTo>
                  <a:lnTo>
                    <a:pt x="0" y="0"/>
                  </a:lnTo>
                  <a:lnTo>
                    <a:pt x="0" y="56387"/>
                  </a:lnTo>
                  <a:lnTo>
                    <a:pt x="91439" y="56387"/>
                  </a:lnTo>
                  <a:lnTo>
                    <a:pt x="91439" y="0"/>
                  </a:lnTo>
                  <a:close/>
                </a:path>
              </a:pathLst>
            </a:custGeom>
            <a:solidFill>
              <a:srgbClr val="FEFEFE"/>
            </a:solidFill>
          </p:spPr>
          <p:txBody>
            <a:bodyPr wrap="square" lIns="0" tIns="0" rIns="0" bIns="0" rtlCol="0"/>
            <a:lstStyle/>
            <a:p/>
          </p:txBody>
        </p:sp>
        <p:sp>
          <p:nvSpPr>
            <p:cNvPr id="40" name="object 40"/>
            <p:cNvSpPr/>
            <p:nvPr/>
          </p:nvSpPr>
          <p:spPr>
            <a:xfrm>
              <a:off x="313943" y="3320796"/>
              <a:ext cx="91440" cy="56515"/>
            </a:xfrm>
            <a:custGeom>
              <a:avLst/>
              <a:gdLst/>
              <a:ahLst/>
              <a:cxnLst/>
              <a:rect l="l" t="t" r="r" b="b"/>
              <a:pathLst>
                <a:path w="91439" h="56514">
                  <a:moveTo>
                    <a:pt x="0" y="56387"/>
                  </a:moveTo>
                  <a:lnTo>
                    <a:pt x="91439" y="56387"/>
                  </a:lnTo>
                  <a:lnTo>
                    <a:pt x="91439" y="0"/>
                  </a:lnTo>
                  <a:lnTo>
                    <a:pt x="0" y="0"/>
                  </a:lnTo>
                  <a:lnTo>
                    <a:pt x="0" y="56387"/>
                  </a:lnTo>
                  <a:close/>
                </a:path>
              </a:pathLst>
            </a:custGeom>
            <a:ln w="9525">
              <a:solidFill>
                <a:srgbClr val="34352F"/>
              </a:solidFill>
            </a:ln>
          </p:spPr>
          <p:txBody>
            <a:bodyPr wrap="square" lIns="0" tIns="0" rIns="0" bIns="0" rtlCol="0"/>
            <a:lstStyle/>
            <a:p/>
          </p:txBody>
        </p:sp>
        <p:sp>
          <p:nvSpPr>
            <p:cNvPr id="41" name="object 41"/>
            <p:cNvSpPr/>
            <p:nvPr/>
          </p:nvSpPr>
          <p:spPr>
            <a:xfrm>
              <a:off x="310895" y="3430524"/>
              <a:ext cx="93345" cy="56515"/>
            </a:xfrm>
            <a:custGeom>
              <a:avLst/>
              <a:gdLst/>
              <a:ahLst/>
              <a:cxnLst/>
              <a:rect l="l" t="t" r="r" b="b"/>
              <a:pathLst>
                <a:path w="93345" h="56514">
                  <a:moveTo>
                    <a:pt x="92964" y="0"/>
                  </a:moveTo>
                  <a:lnTo>
                    <a:pt x="0" y="0"/>
                  </a:lnTo>
                  <a:lnTo>
                    <a:pt x="0" y="56387"/>
                  </a:lnTo>
                  <a:lnTo>
                    <a:pt x="92964" y="56387"/>
                  </a:lnTo>
                  <a:lnTo>
                    <a:pt x="92964" y="0"/>
                  </a:lnTo>
                  <a:close/>
                </a:path>
              </a:pathLst>
            </a:custGeom>
            <a:solidFill>
              <a:srgbClr val="FEFEFE"/>
            </a:solidFill>
          </p:spPr>
          <p:txBody>
            <a:bodyPr wrap="square" lIns="0" tIns="0" rIns="0" bIns="0" rtlCol="0"/>
            <a:lstStyle/>
            <a:p/>
          </p:txBody>
        </p:sp>
        <p:sp>
          <p:nvSpPr>
            <p:cNvPr id="42" name="object 42"/>
            <p:cNvSpPr/>
            <p:nvPr/>
          </p:nvSpPr>
          <p:spPr>
            <a:xfrm>
              <a:off x="310895" y="3430524"/>
              <a:ext cx="93345" cy="56515"/>
            </a:xfrm>
            <a:custGeom>
              <a:avLst/>
              <a:gdLst/>
              <a:ahLst/>
              <a:cxnLst/>
              <a:rect l="l" t="t" r="r" b="b"/>
              <a:pathLst>
                <a:path w="93345" h="56514">
                  <a:moveTo>
                    <a:pt x="0" y="56387"/>
                  </a:moveTo>
                  <a:lnTo>
                    <a:pt x="92964" y="56387"/>
                  </a:lnTo>
                  <a:lnTo>
                    <a:pt x="92964" y="0"/>
                  </a:lnTo>
                  <a:lnTo>
                    <a:pt x="0" y="0"/>
                  </a:lnTo>
                  <a:lnTo>
                    <a:pt x="0" y="56387"/>
                  </a:lnTo>
                  <a:close/>
                </a:path>
              </a:pathLst>
            </a:custGeom>
            <a:ln w="9525">
              <a:solidFill>
                <a:srgbClr val="34352F"/>
              </a:solidFill>
            </a:ln>
          </p:spPr>
          <p:txBody>
            <a:bodyPr wrap="square" lIns="0" tIns="0" rIns="0" bIns="0" rtlCol="0"/>
            <a:lstStyle/>
            <a:p/>
          </p:txBody>
        </p:sp>
        <p:pic>
          <p:nvPicPr>
            <p:cNvPr id="43" name="object 43"/>
            <p:cNvPicPr/>
            <p:nvPr/>
          </p:nvPicPr>
          <p:blipFill>
            <a:blip r:embed="rId5" cstate="print"/>
            <a:stretch>
              <a:fillRect/>
            </a:stretch>
          </p:blipFill>
          <p:spPr>
            <a:xfrm>
              <a:off x="2418588" y="3398520"/>
              <a:ext cx="228600" cy="342900"/>
            </a:xfrm>
            <a:prstGeom prst="rect">
              <a:avLst/>
            </a:prstGeom>
          </p:spPr>
        </p:pic>
        <p:pic>
          <p:nvPicPr>
            <p:cNvPr id="44" name="object 44"/>
            <p:cNvPicPr/>
            <p:nvPr/>
          </p:nvPicPr>
          <p:blipFill>
            <a:blip r:embed="rId6" cstate="print"/>
            <a:stretch>
              <a:fillRect/>
            </a:stretch>
          </p:blipFill>
          <p:spPr>
            <a:xfrm>
              <a:off x="2474975" y="3454908"/>
              <a:ext cx="228600" cy="342899"/>
            </a:xfrm>
            <a:prstGeom prst="rect">
              <a:avLst/>
            </a:prstGeom>
          </p:spPr>
        </p:pic>
      </p:grpSp>
      <p:sp>
        <p:nvSpPr>
          <p:cNvPr id="45" name="object 45"/>
          <p:cNvSpPr txBox="1"/>
          <p:nvPr/>
        </p:nvSpPr>
        <p:spPr>
          <a:xfrm>
            <a:off x="2465070" y="3084703"/>
            <a:ext cx="194945" cy="287020"/>
          </a:xfrm>
          <a:prstGeom prst="rect">
            <a:avLst/>
          </a:prstGeom>
          <a:ln w="9525">
            <a:solidFill>
              <a:srgbClr val="00A0DD"/>
            </a:solidFill>
          </a:ln>
        </p:spPr>
        <p:txBody>
          <a:bodyPr vert="horz" wrap="square" lIns="0" tIns="96520" rIns="0" bIns="0" rtlCol="0">
            <a:spAutoFit/>
          </a:bodyPr>
          <a:lstStyle/>
          <a:p>
            <a:pPr marL="61595">
              <a:lnSpc>
                <a:spcPct val="100000"/>
              </a:lnSpc>
              <a:spcBef>
                <a:spcPts val="760"/>
              </a:spcBef>
            </a:pPr>
            <a:r>
              <a:rPr sz="900" b="1" spc="-25" dirty="0">
                <a:solidFill>
                  <a:srgbClr val="34352F"/>
                </a:solidFill>
                <a:latin typeface="Calibri" panose="020F0502020204030204"/>
                <a:cs typeface="Calibri" panose="020F0502020204030204"/>
              </a:rPr>
              <a:t>RR</a:t>
            </a:r>
            <a:endParaRPr sz="900">
              <a:latin typeface="Calibri" panose="020F0502020204030204"/>
              <a:cs typeface="Calibri" panose="020F0502020204030204"/>
            </a:endParaRPr>
          </a:p>
        </p:txBody>
      </p:sp>
      <p:grpSp>
        <p:nvGrpSpPr>
          <p:cNvPr id="46" name="object 46"/>
          <p:cNvGrpSpPr/>
          <p:nvPr/>
        </p:nvGrpSpPr>
        <p:grpSpPr>
          <a:xfrm>
            <a:off x="883856" y="3374199"/>
            <a:ext cx="454659" cy="254635"/>
            <a:chOff x="883856" y="3744404"/>
            <a:chExt cx="454659" cy="254635"/>
          </a:xfrm>
        </p:grpSpPr>
        <p:sp>
          <p:nvSpPr>
            <p:cNvPr id="47" name="object 47"/>
            <p:cNvSpPr/>
            <p:nvPr/>
          </p:nvSpPr>
          <p:spPr>
            <a:xfrm>
              <a:off x="885444" y="3745991"/>
              <a:ext cx="451484" cy="251460"/>
            </a:xfrm>
            <a:custGeom>
              <a:avLst/>
              <a:gdLst/>
              <a:ahLst/>
              <a:cxnLst/>
              <a:rect l="l" t="t" r="r" b="b"/>
              <a:pathLst>
                <a:path w="451484" h="251460">
                  <a:moveTo>
                    <a:pt x="325374" y="0"/>
                  </a:moveTo>
                  <a:lnTo>
                    <a:pt x="0" y="0"/>
                  </a:lnTo>
                  <a:lnTo>
                    <a:pt x="0" y="251460"/>
                  </a:lnTo>
                  <a:lnTo>
                    <a:pt x="325374" y="251460"/>
                  </a:lnTo>
                  <a:lnTo>
                    <a:pt x="451103" y="125730"/>
                  </a:lnTo>
                  <a:lnTo>
                    <a:pt x="325374" y="0"/>
                  </a:lnTo>
                  <a:close/>
                </a:path>
              </a:pathLst>
            </a:custGeom>
            <a:solidFill>
              <a:srgbClr val="6F2F9F"/>
            </a:solidFill>
          </p:spPr>
          <p:txBody>
            <a:bodyPr wrap="square" lIns="0" tIns="0" rIns="0" bIns="0" rtlCol="0"/>
            <a:lstStyle/>
            <a:p/>
          </p:txBody>
        </p:sp>
        <p:sp>
          <p:nvSpPr>
            <p:cNvPr id="48" name="object 48"/>
            <p:cNvSpPr/>
            <p:nvPr/>
          </p:nvSpPr>
          <p:spPr>
            <a:xfrm>
              <a:off x="885444" y="3745991"/>
              <a:ext cx="451484" cy="251460"/>
            </a:xfrm>
            <a:custGeom>
              <a:avLst/>
              <a:gdLst/>
              <a:ahLst/>
              <a:cxnLst/>
              <a:rect l="l" t="t" r="r" b="b"/>
              <a:pathLst>
                <a:path w="451484" h="251460">
                  <a:moveTo>
                    <a:pt x="0" y="0"/>
                  </a:moveTo>
                  <a:lnTo>
                    <a:pt x="325374" y="0"/>
                  </a:lnTo>
                  <a:lnTo>
                    <a:pt x="451103" y="125730"/>
                  </a:lnTo>
                  <a:lnTo>
                    <a:pt x="325374" y="251460"/>
                  </a:lnTo>
                  <a:lnTo>
                    <a:pt x="0" y="251460"/>
                  </a:lnTo>
                  <a:lnTo>
                    <a:pt x="0" y="0"/>
                  </a:lnTo>
                  <a:close/>
                </a:path>
              </a:pathLst>
            </a:custGeom>
            <a:ln w="3175">
              <a:solidFill>
                <a:srgbClr val="34352F"/>
              </a:solidFill>
            </a:ln>
          </p:spPr>
          <p:txBody>
            <a:bodyPr wrap="square" lIns="0" tIns="0" rIns="0" bIns="0" rtlCol="0"/>
            <a:lstStyle/>
            <a:p/>
          </p:txBody>
        </p:sp>
      </p:grpSp>
      <p:sp>
        <p:nvSpPr>
          <p:cNvPr id="49" name="object 49"/>
          <p:cNvSpPr txBox="1"/>
          <p:nvPr/>
        </p:nvSpPr>
        <p:spPr>
          <a:xfrm>
            <a:off x="928827" y="3422522"/>
            <a:ext cx="302895" cy="146685"/>
          </a:xfrm>
          <a:prstGeom prst="rect">
            <a:avLst/>
          </a:prstGeom>
        </p:spPr>
        <p:txBody>
          <a:bodyPr vert="horz" wrap="square" lIns="0" tIns="11430" rIns="0" bIns="0" rtlCol="0">
            <a:spAutoFit/>
          </a:bodyPr>
          <a:lstStyle/>
          <a:p>
            <a:pPr marL="12700">
              <a:lnSpc>
                <a:spcPct val="100000"/>
              </a:lnSpc>
              <a:spcBef>
                <a:spcPts val="90"/>
              </a:spcBef>
            </a:pPr>
            <a:r>
              <a:rPr sz="800" spc="-10" dirty="0">
                <a:solidFill>
                  <a:srgbClr val="FEFEFE"/>
                </a:solidFill>
                <a:latin typeface="Calibri" panose="020F0502020204030204"/>
                <a:cs typeface="Calibri" panose="020F0502020204030204"/>
              </a:rPr>
              <a:t>LVL-</a:t>
            </a:r>
            <a:r>
              <a:rPr sz="800" spc="-25" dirty="0">
                <a:solidFill>
                  <a:srgbClr val="FEFEFE"/>
                </a:solidFill>
                <a:latin typeface="Calibri" panose="020F0502020204030204"/>
                <a:cs typeface="Calibri" panose="020F0502020204030204"/>
              </a:rPr>
              <a:t>HL</a:t>
            </a:r>
            <a:endParaRPr sz="800">
              <a:latin typeface="Calibri" panose="020F0502020204030204"/>
              <a:cs typeface="Calibri" panose="020F0502020204030204"/>
            </a:endParaRPr>
          </a:p>
        </p:txBody>
      </p:sp>
      <p:grpSp>
        <p:nvGrpSpPr>
          <p:cNvPr id="50" name="object 50"/>
          <p:cNvGrpSpPr/>
          <p:nvPr/>
        </p:nvGrpSpPr>
        <p:grpSpPr>
          <a:xfrm>
            <a:off x="322834" y="783208"/>
            <a:ext cx="3760470" cy="3632200"/>
            <a:chOff x="322834" y="1153413"/>
            <a:chExt cx="3760470" cy="3632200"/>
          </a:xfrm>
        </p:grpSpPr>
        <p:sp>
          <p:nvSpPr>
            <p:cNvPr id="51" name="object 51"/>
            <p:cNvSpPr/>
            <p:nvPr/>
          </p:nvSpPr>
          <p:spPr>
            <a:xfrm>
              <a:off x="2590038" y="2785109"/>
              <a:ext cx="62230" cy="671830"/>
            </a:xfrm>
            <a:custGeom>
              <a:avLst/>
              <a:gdLst/>
              <a:ahLst/>
              <a:cxnLst/>
              <a:rect l="l" t="t" r="r" b="b"/>
              <a:pathLst>
                <a:path w="62230" h="671829">
                  <a:moveTo>
                    <a:pt x="61975" y="0"/>
                  </a:moveTo>
                  <a:lnTo>
                    <a:pt x="61975" y="162432"/>
                  </a:lnTo>
                  <a:lnTo>
                    <a:pt x="0" y="162432"/>
                  </a:lnTo>
                  <a:lnTo>
                    <a:pt x="0" y="671576"/>
                  </a:lnTo>
                </a:path>
              </a:pathLst>
            </a:custGeom>
            <a:ln w="28575">
              <a:solidFill>
                <a:srgbClr val="34352F"/>
              </a:solidFill>
            </a:ln>
          </p:spPr>
          <p:txBody>
            <a:bodyPr wrap="square" lIns="0" tIns="0" rIns="0" bIns="0" rtlCol="0"/>
            <a:lstStyle/>
            <a:p/>
          </p:txBody>
        </p:sp>
        <p:sp>
          <p:nvSpPr>
            <p:cNvPr id="52" name="object 52"/>
            <p:cNvSpPr/>
            <p:nvPr/>
          </p:nvSpPr>
          <p:spPr>
            <a:xfrm>
              <a:off x="858011" y="1812036"/>
              <a:ext cx="2710180" cy="2345690"/>
            </a:xfrm>
            <a:custGeom>
              <a:avLst/>
              <a:gdLst/>
              <a:ahLst/>
              <a:cxnLst/>
              <a:rect l="l" t="t" r="r" b="b"/>
              <a:pathLst>
                <a:path w="2710179" h="2345690">
                  <a:moveTo>
                    <a:pt x="0" y="2345436"/>
                  </a:moveTo>
                  <a:lnTo>
                    <a:pt x="2709672" y="2345436"/>
                  </a:lnTo>
                  <a:lnTo>
                    <a:pt x="2709672" y="0"/>
                  </a:lnTo>
                  <a:lnTo>
                    <a:pt x="0" y="0"/>
                  </a:lnTo>
                  <a:lnTo>
                    <a:pt x="0" y="2345436"/>
                  </a:lnTo>
                  <a:close/>
                </a:path>
              </a:pathLst>
            </a:custGeom>
            <a:ln w="12700">
              <a:solidFill>
                <a:srgbClr val="FE6500"/>
              </a:solidFill>
              <a:prstDash val="sysDash"/>
            </a:ln>
          </p:spPr>
          <p:txBody>
            <a:bodyPr wrap="square" lIns="0" tIns="0" rIns="0" bIns="0" rtlCol="0"/>
            <a:lstStyle/>
            <a:p/>
          </p:txBody>
        </p:sp>
        <p:sp>
          <p:nvSpPr>
            <p:cNvPr id="53" name="object 53"/>
            <p:cNvSpPr/>
            <p:nvPr/>
          </p:nvSpPr>
          <p:spPr>
            <a:xfrm>
              <a:off x="329184" y="1159763"/>
              <a:ext cx="3747770" cy="3619500"/>
            </a:xfrm>
            <a:custGeom>
              <a:avLst/>
              <a:gdLst/>
              <a:ahLst/>
              <a:cxnLst/>
              <a:rect l="l" t="t" r="r" b="b"/>
              <a:pathLst>
                <a:path w="3747770" h="3619500">
                  <a:moveTo>
                    <a:pt x="0" y="3619500"/>
                  </a:moveTo>
                  <a:lnTo>
                    <a:pt x="3747516" y="3619500"/>
                  </a:lnTo>
                  <a:lnTo>
                    <a:pt x="3747516" y="0"/>
                  </a:lnTo>
                  <a:lnTo>
                    <a:pt x="0" y="0"/>
                  </a:lnTo>
                  <a:lnTo>
                    <a:pt x="0" y="3619500"/>
                  </a:lnTo>
                  <a:close/>
                </a:path>
              </a:pathLst>
            </a:custGeom>
            <a:ln w="12700">
              <a:solidFill>
                <a:srgbClr val="6F2F9F"/>
              </a:solidFill>
              <a:prstDash val="sysDash"/>
            </a:ln>
          </p:spPr>
          <p:txBody>
            <a:bodyPr wrap="square" lIns="0" tIns="0" rIns="0" bIns="0" rtlCol="0"/>
            <a:lstStyle/>
            <a:p/>
          </p:txBody>
        </p:sp>
      </p:grpSp>
      <p:sp>
        <p:nvSpPr>
          <p:cNvPr id="54" name="object 54"/>
          <p:cNvSpPr txBox="1"/>
          <p:nvPr/>
        </p:nvSpPr>
        <p:spPr>
          <a:xfrm>
            <a:off x="335686" y="563245"/>
            <a:ext cx="337185" cy="254000"/>
          </a:xfrm>
          <a:prstGeom prst="rect">
            <a:avLst/>
          </a:prstGeom>
        </p:spPr>
        <p:txBody>
          <a:bodyPr vert="horz" wrap="square" lIns="0" tIns="12700" rIns="0" bIns="0" rtlCol="0">
            <a:spAutoFit/>
          </a:bodyPr>
          <a:lstStyle/>
          <a:p>
            <a:pPr marL="12700">
              <a:lnSpc>
                <a:spcPct val="100000"/>
              </a:lnSpc>
              <a:spcBef>
                <a:spcPts val="100"/>
              </a:spcBef>
            </a:pPr>
            <a:r>
              <a:rPr sz="1500" i="1" spc="-25" dirty="0">
                <a:solidFill>
                  <a:srgbClr val="6F2F9F"/>
                </a:solidFill>
                <a:latin typeface="Calibri" panose="020F0502020204030204"/>
                <a:cs typeface="Calibri" panose="020F0502020204030204"/>
              </a:rPr>
              <a:t>TOP</a:t>
            </a:r>
            <a:endParaRPr sz="1500">
              <a:latin typeface="Calibri" panose="020F0502020204030204"/>
              <a:cs typeface="Calibri" panose="020F0502020204030204"/>
            </a:endParaRPr>
          </a:p>
        </p:txBody>
      </p:sp>
      <p:sp>
        <p:nvSpPr>
          <p:cNvPr id="55" name="object 55"/>
          <p:cNvSpPr txBox="1"/>
          <p:nvPr/>
        </p:nvSpPr>
        <p:spPr>
          <a:xfrm>
            <a:off x="1593596" y="877189"/>
            <a:ext cx="307975" cy="208279"/>
          </a:xfrm>
          <a:prstGeom prst="rect">
            <a:avLst/>
          </a:prstGeom>
        </p:spPr>
        <p:txBody>
          <a:bodyPr vert="horz" wrap="square" lIns="0" tIns="12700" rIns="0" bIns="0" rtlCol="0">
            <a:spAutoFit/>
          </a:bodyPr>
          <a:lstStyle/>
          <a:p>
            <a:pPr marL="12700">
              <a:lnSpc>
                <a:spcPct val="100000"/>
              </a:lnSpc>
              <a:spcBef>
                <a:spcPts val="100"/>
              </a:spcBef>
            </a:pPr>
            <a:r>
              <a:rPr sz="1200" b="1" spc="-25" dirty="0">
                <a:solidFill>
                  <a:srgbClr val="34352F"/>
                </a:solidFill>
                <a:latin typeface="Calibri" panose="020F0502020204030204"/>
                <a:cs typeface="Calibri" panose="020F0502020204030204"/>
              </a:rPr>
              <a:t>VDD</a:t>
            </a:r>
            <a:endParaRPr sz="1200">
              <a:latin typeface="Calibri" panose="020F0502020204030204"/>
              <a:cs typeface="Calibri" panose="020F0502020204030204"/>
            </a:endParaRPr>
          </a:p>
        </p:txBody>
      </p:sp>
      <p:pic>
        <p:nvPicPr>
          <p:cNvPr id="56" name="object 56"/>
          <p:cNvPicPr/>
          <p:nvPr/>
        </p:nvPicPr>
        <p:blipFill>
          <a:blip r:embed="rId7" cstate="print"/>
          <a:stretch>
            <a:fillRect/>
          </a:stretch>
        </p:blipFill>
        <p:spPr>
          <a:xfrm>
            <a:off x="1421891" y="760603"/>
            <a:ext cx="114300" cy="114300"/>
          </a:xfrm>
          <a:prstGeom prst="rect">
            <a:avLst/>
          </a:prstGeom>
        </p:spPr>
      </p:pic>
      <p:sp>
        <p:nvSpPr>
          <p:cNvPr id="57" name="object 57"/>
          <p:cNvSpPr/>
          <p:nvPr/>
        </p:nvSpPr>
        <p:spPr>
          <a:xfrm>
            <a:off x="1421891" y="760603"/>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4352F"/>
            </a:solidFill>
          </a:ln>
        </p:spPr>
        <p:txBody>
          <a:bodyPr wrap="square" lIns="0" tIns="0" rIns="0" bIns="0" rtlCol="0"/>
          <a:lstStyle/>
          <a:p/>
        </p:txBody>
      </p:sp>
      <p:sp>
        <p:nvSpPr>
          <p:cNvPr id="58" name="object 58"/>
          <p:cNvSpPr txBox="1"/>
          <p:nvPr/>
        </p:nvSpPr>
        <p:spPr>
          <a:xfrm>
            <a:off x="2664777" y="880745"/>
            <a:ext cx="728980" cy="208279"/>
          </a:xfrm>
          <a:prstGeom prst="rect">
            <a:avLst/>
          </a:prstGeom>
        </p:spPr>
        <p:txBody>
          <a:bodyPr vert="horz" wrap="square" lIns="0" tIns="12700" rIns="0" bIns="0" rtlCol="0">
            <a:spAutoFit/>
          </a:bodyPr>
          <a:lstStyle/>
          <a:p>
            <a:pPr marL="90170">
              <a:lnSpc>
                <a:spcPct val="100000"/>
              </a:lnSpc>
              <a:spcBef>
                <a:spcPts val="100"/>
              </a:spcBef>
            </a:pPr>
            <a:r>
              <a:rPr sz="1200" b="1" spc="-20" dirty="0">
                <a:solidFill>
                  <a:srgbClr val="34352F"/>
                </a:solidFill>
                <a:latin typeface="Calibri" panose="020F0502020204030204"/>
                <a:cs typeface="Calibri" panose="020F0502020204030204"/>
              </a:rPr>
              <a:t>VDDL</a:t>
            </a:r>
            <a:endParaRPr sz="1200">
              <a:latin typeface="Calibri" panose="020F0502020204030204"/>
              <a:cs typeface="Calibri" panose="020F0502020204030204"/>
            </a:endParaRPr>
          </a:p>
        </p:txBody>
      </p:sp>
      <p:pic>
        <p:nvPicPr>
          <p:cNvPr id="59" name="object 59"/>
          <p:cNvPicPr/>
          <p:nvPr/>
        </p:nvPicPr>
        <p:blipFill>
          <a:blip r:embed="rId8" cstate="print"/>
          <a:stretch>
            <a:fillRect/>
          </a:stretch>
        </p:blipFill>
        <p:spPr>
          <a:xfrm>
            <a:off x="2577083" y="763650"/>
            <a:ext cx="114300" cy="114300"/>
          </a:xfrm>
          <a:prstGeom prst="rect">
            <a:avLst/>
          </a:prstGeom>
        </p:spPr>
      </p:pic>
      <p:sp>
        <p:nvSpPr>
          <p:cNvPr id="60" name="object 60"/>
          <p:cNvSpPr/>
          <p:nvPr/>
        </p:nvSpPr>
        <p:spPr>
          <a:xfrm>
            <a:off x="2577083" y="763650"/>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4352F"/>
            </a:solidFill>
          </a:ln>
        </p:spPr>
        <p:txBody>
          <a:bodyPr wrap="square" lIns="0" tIns="0" rIns="0" bIns="0" rtlCol="0"/>
          <a:lstStyle/>
          <a:p/>
        </p:txBody>
      </p:sp>
      <p:sp>
        <p:nvSpPr>
          <p:cNvPr id="61" name="object 61"/>
          <p:cNvSpPr txBox="1"/>
          <p:nvPr/>
        </p:nvSpPr>
        <p:spPr>
          <a:xfrm>
            <a:off x="3437445" y="796645"/>
            <a:ext cx="610235" cy="648335"/>
          </a:xfrm>
          <a:prstGeom prst="rect">
            <a:avLst/>
          </a:prstGeom>
        </p:spPr>
        <p:txBody>
          <a:bodyPr vert="horz" wrap="square" lIns="0" tIns="106680" rIns="0" bIns="0" rtlCol="0">
            <a:spAutoFit/>
          </a:bodyPr>
          <a:lstStyle/>
          <a:p>
            <a:pPr marL="63500">
              <a:lnSpc>
                <a:spcPct val="100000"/>
              </a:lnSpc>
              <a:spcBef>
                <a:spcPts val="840"/>
              </a:spcBef>
            </a:pPr>
            <a:r>
              <a:rPr sz="1200" b="1" spc="-25" dirty="0">
                <a:solidFill>
                  <a:srgbClr val="34352F"/>
                </a:solidFill>
                <a:latin typeface="Calibri" panose="020F0502020204030204"/>
                <a:cs typeface="Calibri" panose="020F0502020204030204"/>
              </a:rPr>
              <a:t>VSS</a:t>
            </a:r>
            <a:endParaRPr sz="1200">
              <a:latin typeface="Calibri" panose="020F0502020204030204"/>
              <a:cs typeface="Calibri" panose="020F0502020204030204"/>
            </a:endParaRPr>
          </a:p>
          <a:p>
            <a:pPr marL="40005">
              <a:lnSpc>
                <a:spcPct val="100000"/>
              </a:lnSpc>
              <a:spcBef>
                <a:spcPts val="920"/>
              </a:spcBef>
            </a:pPr>
            <a:r>
              <a:rPr sz="1500" i="1" spc="-25" dirty="0">
                <a:solidFill>
                  <a:srgbClr val="FE6500"/>
                </a:solidFill>
                <a:latin typeface="Calibri" panose="020F0502020204030204"/>
                <a:cs typeface="Calibri" panose="020F0502020204030204"/>
              </a:rPr>
              <a:t>pd1</a:t>
            </a:r>
            <a:endParaRPr sz="1500">
              <a:latin typeface="Calibri" panose="020F0502020204030204"/>
              <a:cs typeface="Calibri" panose="020F0502020204030204"/>
            </a:endParaRPr>
          </a:p>
        </p:txBody>
      </p:sp>
      <p:grpSp>
        <p:nvGrpSpPr>
          <p:cNvPr id="62" name="object 62"/>
          <p:cNvGrpSpPr/>
          <p:nvPr/>
        </p:nvGrpSpPr>
        <p:grpSpPr>
          <a:xfrm>
            <a:off x="1466278" y="771080"/>
            <a:ext cx="2013585" cy="1658620"/>
            <a:chOff x="1466278" y="1141285"/>
            <a:chExt cx="2013585" cy="1658620"/>
          </a:xfrm>
        </p:grpSpPr>
        <p:pic>
          <p:nvPicPr>
            <p:cNvPr id="63" name="object 63"/>
            <p:cNvPicPr/>
            <p:nvPr/>
          </p:nvPicPr>
          <p:blipFill>
            <a:blip r:embed="rId9" cstate="print"/>
            <a:stretch>
              <a:fillRect/>
            </a:stretch>
          </p:blipFill>
          <p:spPr>
            <a:xfrm>
              <a:off x="3360420" y="1146047"/>
              <a:ext cx="114300" cy="114300"/>
            </a:xfrm>
            <a:prstGeom prst="rect">
              <a:avLst/>
            </a:prstGeom>
          </p:spPr>
        </p:pic>
        <p:sp>
          <p:nvSpPr>
            <p:cNvPr id="64" name="object 64"/>
            <p:cNvSpPr/>
            <p:nvPr/>
          </p:nvSpPr>
          <p:spPr>
            <a:xfrm>
              <a:off x="3360420" y="1146047"/>
              <a:ext cx="114300" cy="114300"/>
            </a:xfrm>
            <a:custGeom>
              <a:avLst/>
              <a:gdLst/>
              <a:ahLst/>
              <a:cxnLst/>
              <a:rect l="l" t="t" r="r" b="b"/>
              <a:pathLst>
                <a:path w="114300" h="114300">
                  <a:moveTo>
                    <a:pt x="0" y="114300"/>
                  </a:moveTo>
                  <a:lnTo>
                    <a:pt x="114300" y="114300"/>
                  </a:lnTo>
                  <a:lnTo>
                    <a:pt x="114300" y="0"/>
                  </a:lnTo>
                  <a:lnTo>
                    <a:pt x="0" y="0"/>
                  </a:lnTo>
                  <a:lnTo>
                    <a:pt x="0" y="114300"/>
                  </a:lnTo>
                  <a:close/>
                </a:path>
              </a:pathLst>
            </a:custGeom>
            <a:ln w="9525">
              <a:solidFill>
                <a:srgbClr val="34352F"/>
              </a:solidFill>
            </a:ln>
          </p:spPr>
          <p:txBody>
            <a:bodyPr wrap="square" lIns="0" tIns="0" rIns="0" bIns="0" rtlCol="0"/>
            <a:lstStyle/>
            <a:p/>
          </p:txBody>
        </p:sp>
        <p:sp>
          <p:nvSpPr>
            <p:cNvPr id="65" name="object 65"/>
            <p:cNvSpPr/>
            <p:nvPr/>
          </p:nvSpPr>
          <p:spPr>
            <a:xfrm>
              <a:off x="1480566" y="1427225"/>
              <a:ext cx="1172210" cy="1358265"/>
            </a:xfrm>
            <a:custGeom>
              <a:avLst/>
              <a:gdLst/>
              <a:ahLst/>
              <a:cxnLst/>
              <a:rect l="l" t="t" r="r" b="b"/>
              <a:pathLst>
                <a:path w="1172210" h="1358264">
                  <a:moveTo>
                    <a:pt x="0" y="0"/>
                  </a:moveTo>
                  <a:lnTo>
                    <a:pt x="0" y="298703"/>
                  </a:lnTo>
                </a:path>
                <a:path w="1172210" h="1358264">
                  <a:moveTo>
                    <a:pt x="1164336" y="7620"/>
                  </a:moveTo>
                  <a:lnTo>
                    <a:pt x="1164336" y="306324"/>
                  </a:lnTo>
                </a:path>
                <a:path w="1172210" h="1358264">
                  <a:moveTo>
                    <a:pt x="1159764" y="960119"/>
                  </a:moveTo>
                  <a:lnTo>
                    <a:pt x="1171956" y="1357884"/>
                  </a:lnTo>
                </a:path>
              </a:pathLst>
            </a:custGeom>
            <a:ln w="28575">
              <a:solidFill>
                <a:srgbClr val="34352F"/>
              </a:solidFill>
            </a:ln>
          </p:spPr>
          <p:txBody>
            <a:bodyPr wrap="square" lIns="0" tIns="0" rIns="0" bIns="0" rtlCol="0"/>
            <a:lstStyle/>
            <a:p/>
          </p:txBody>
        </p:sp>
        <p:sp>
          <p:nvSpPr>
            <p:cNvPr id="66" name="object 66"/>
            <p:cNvSpPr/>
            <p:nvPr/>
          </p:nvSpPr>
          <p:spPr>
            <a:xfrm>
              <a:off x="2641854" y="1425701"/>
              <a:ext cx="775970" cy="528955"/>
            </a:xfrm>
            <a:custGeom>
              <a:avLst/>
              <a:gdLst/>
              <a:ahLst/>
              <a:cxnLst/>
              <a:rect l="l" t="t" r="r" b="b"/>
              <a:pathLst>
                <a:path w="775970" h="528955">
                  <a:moveTo>
                    <a:pt x="4825" y="0"/>
                  </a:moveTo>
                  <a:lnTo>
                    <a:pt x="0" y="528574"/>
                  </a:lnTo>
                </a:path>
                <a:path w="775970" h="528955">
                  <a:moveTo>
                    <a:pt x="775969" y="0"/>
                  </a:moveTo>
                  <a:lnTo>
                    <a:pt x="771144" y="528574"/>
                  </a:lnTo>
                </a:path>
              </a:pathLst>
            </a:custGeom>
            <a:ln w="28575">
              <a:solidFill>
                <a:srgbClr val="34352F"/>
              </a:solidFill>
            </a:ln>
          </p:spPr>
          <p:txBody>
            <a:bodyPr wrap="square" lIns="0" tIns="0" rIns="0" bIns="0" rtlCol="0"/>
            <a:lstStyle/>
            <a:p/>
          </p:txBody>
        </p:sp>
        <p:sp>
          <p:nvSpPr>
            <p:cNvPr id="67" name="object 67"/>
            <p:cNvSpPr/>
            <p:nvPr/>
          </p:nvSpPr>
          <p:spPr>
            <a:xfrm>
              <a:off x="3416045" y="1434845"/>
              <a:ext cx="0" cy="299085"/>
            </a:xfrm>
            <a:custGeom>
              <a:avLst/>
              <a:gdLst/>
              <a:ahLst/>
              <a:cxnLst/>
              <a:rect l="l" t="t" r="r" b="b"/>
              <a:pathLst>
                <a:path h="299085">
                  <a:moveTo>
                    <a:pt x="0" y="0"/>
                  </a:moveTo>
                  <a:lnTo>
                    <a:pt x="0" y="298703"/>
                  </a:lnTo>
                </a:path>
              </a:pathLst>
            </a:custGeom>
            <a:ln w="28575">
              <a:solidFill>
                <a:srgbClr val="34352F"/>
              </a:solidFill>
            </a:ln>
          </p:spPr>
          <p:txBody>
            <a:bodyPr wrap="square" lIns="0" tIns="0" rIns="0" bIns="0" rtlCol="0"/>
            <a:lstStyle/>
            <a:p/>
          </p:txBody>
        </p:sp>
      </p:grpSp>
      <p:sp>
        <p:nvSpPr>
          <p:cNvPr id="68" name="object 68"/>
          <p:cNvSpPr txBox="1"/>
          <p:nvPr/>
        </p:nvSpPr>
        <p:spPr>
          <a:xfrm>
            <a:off x="2729610" y="2130171"/>
            <a:ext cx="521334" cy="208279"/>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34352F"/>
                </a:solidFill>
                <a:latin typeface="Calibri" panose="020F0502020204030204"/>
                <a:cs typeface="Calibri" panose="020F0502020204030204"/>
              </a:rPr>
              <a:t>VDDLS1</a:t>
            </a:r>
            <a:endParaRPr sz="1200">
              <a:latin typeface="Calibri" panose="020F0502020204030204"/>
              <a:cs typeface="Calibri" panose="020F0502020204030204"/>
            </a:endParaRPr>
          </a:p>
        </p:txBody>
      </p:sp>
      <p:sp>
        <p:nvSpPr>
          <p:cNvPr id="69" name="object 69"/>
          <p:cNvSpPr txBox="1"/>
          <p:nvPr/>
        </p:nvSpPr>
        <p:spPr>
          <a:xfrm>
            <a:off x="2658236" y="1457147"/>
            <a:ext cx="575945" cy="544830"/>
          </a:xfrm>
          <a:prstGeom prst="rect">
            <a:avLst/>
          </a:prstGeom>
        </p:spPr>
        <p:txBody>
          <a:bodyPr vert="horz" wrap="square" lIns="0" tIns="24765" rIns="0" bIns="0" rtlCol="0">
            <a:spAutoFit/>
          </a:bodyPr>
          <a:lstStyle/>
          <a:p>
            <a:pPr marL="12700" marR="100330">
              <a:lnSpc>
                <a:spcPct val="90000"/>
              </a:lnSpc>
              <a:spcBef>
                <a:spcPts val="195"/>
              </a:spcBef>
            </a:pPr>
            <a:r>
              <a:rPr sz="750" b="1" i="1" dirty="0">
                <a:solidFill>
                  <a:srgbClr val="34352F"/>
                </a:solidFill>
                <a:latin typeface="Calibri" panose="020F0502020204030204"/>
                <a:cs typeface="Calibri" panose="020F0502020204030204"/>
              </a:rPr>
              <a:t>Supply</a:t>
            </a:r>
            <a:r>
              <a:rPr sz="750" b="1" i="1" spc="-15" dirty="0">
                <a:solidFill>
                  <a:srgbClr val="34352F"/>
                </a:solidFill>
                <a:latin typeface="Calibri" panose="020F0502020204030204"/>
                <a:cs typeface="Calibri" panose="020F0502020204030204"/>
              </a:rPr>
              <a:t> </a:t>
            </a:r>
            <a:r>
              <a:rPr sz="750" b="1" i="1" spc="-20" dirty="0">
                <a:solidFill>
                  <a:srgbClr val="34352F"/>
                </a:solidFill>
                <a:latin typeface="Calibri" panose="020F0502020204030204"/>
                <a:cs typeface="Calibri" panose="020F0502020204030204"/>
              </a:rPr>
              <a:t>port</a:t>
            </a:r>
            <a:r>
              <a:rPr sz="750" b="1" i="1" spc="500" dirty="0">
                <a:solidFill>
                  <a:srgbClr val="34352F"/>
                </a:solidFill>
                <a:latin typeface="Calibri" panose="020F0502020204030204"/>
                <a:cs typeface="Calibri" panose="020F0502020204030204"/>
              </a:rPr>
              <a:t> </a:t>
            </a:r>
            <a:r>
              <a:rPr sz="750" b="1" i="1" spc="-10" dirty="0">
                <a:solidFill>
                  <a:srgbClr val="34352F"/>
                </a:solidFill>
                <a:latin typeface="Calibri" panose="020F0502020204030204"/>
                <a:cs typeface="Calibri" panose="020F0502020204030204"/>
              </a:rPr>
              <a:t>implicitly</a:t>
            </a:r>
            <a:r>
              <a:rPr sz="750" b="1" i="1" spc="500" dirty="0">
                <a:solidFill>
                  <a:srgbClr val="34352F"/>
                </a:solidFill>
                <a:latin typeface="Calibri" panose="020F0502020204030204"/>
                <a:cs typeface="Calibri" panose="020F0502020204030204"/>
              </a:rPr>
              <a:t> </a:t>
            </a:r>
            <a:r>
              <a:rPr sz="750" b="1" i="1" spc="-10" dirty="0">
                <a:solidFill>
                  <a:srgbClr val="34352F"/>
                </a:solidFill>
                <a:latin typeface="Calibri" panose="020F0502020204030204"/>
                <a:cs typeface="Calibri" panose="020F0502020204030204"/>
              </a:rPr>
              <a:t>generated</a:t>
            </a:r>
            <a:endParaRPr sz="750">
              <a:latin typeface="Calibri" panose="020F0502020204030204"/>
              <a:cs typeface="Calibri" panose="020F0502020204030204"/>
            </a:endParaRPr>
          </a:p>
          <a:p>
            <a:pPr marL="123825">
              <a:lnSpc>
                <a:spcPct val="100000"/>
              </a:lnSpc>
              <a:spcBef>
                <a:spcPts val="115"/>
              </a:spcBef>
            </a:pPr>
            <a:r>
              <a:rPr sz="1200" spc="-10" dirty="0">
                <a:solidFill>
                  <a:srgbClr val="34352F"/>
                </a:solidFill>
                <a:latin typeface="Calibri" panose="020F0502020204030204"/>
                <a:cs typeface="Calibri" panose="020F0502020204030204"/>
              </a:rPr>
              <a:t>pd1_sx</a:t>
            </a:r>
            <a:endParaRPr sz="1200">
              <a:latin typeface="Calibri" panose="020F0502020204030204"/>
              <a:cs typeface="Calibri" panose="020F0502020204030204"/>
            </a:endParaRPr>
          </a:p>
        </p:txBody>
      </p:sp>
      <p:grpSp>
        <p:nvGrpSpPr>
          <p:cNvPr id="70" name="object 70"/>
          <p:cNvGrpSpPr/>
          <p:nvPr/>
        </p:nvGrpSpPr>
        <p:grpSpPr>
          <a:xfrm>
            <a:off x="1457134" y="801941"/>
            <a:ext cx="2517775" cy="2827020"/>
            <a:chOff x="1457134" y="1172146"/>
            <a:chExt cx="2517775" cy="2827020"/>
          </a:xfrm>
        </p:grpSpPr>
        <p:sp>
          <p:nvSpPr>
            <p:cNvPr id="71" name="object 71"/>
            <p:cNvSpPr/>
            <p:nvPr/>
          </p:nvSpPr>
          <p:spPr>
            <a:xfrm>
              <a:off x="1471422" y="1186433"/>
              <a:ext cx="1943100" cy="262255"/>
            </a:xfrm>
            <a:custGeom>
              <a:avLst/>
              <a:gdLst/>
              <a:ahLst/>
              <a:cxnLst/>
              <a:rect l="l" t="t" r="r" b="b"/>
              <a:pathLst>
                <a:path w="1943100" h="262255">
                  <a:moveTo>
                    <a:pt x="0" y="0"/>
                  </a:moveTo>
                  <a:lnTo>
                    <a:pt x="12191" y="234695"/>
                  </a:lnTo>
                </a:path>
                <a:path w="1943100" h="262255">
                  <a:moveTo>
                    <a:pt x="1162811" y="4571"/>
                  </a:moveTo>
                  <a:lnTo>
                    <a:pt x="1175004" y="239267"/>
                  </a:lnTo>
                </a:path>
                <a:path w="1943100" h="262255">
                  <a:moveTo>
                    <a:pt x="1930907" y="27431"/>
                  </a:moveTo>
                  <a:lnTo>
                    <a:pt x="1943100" y="262127"/>
                  </a:lnTo>
                </a:path>
              </a:pathLst>
            </a:custGeom>
            <a:ln w="28575">
              <a:solidFill>
                <a:srgbClr val="34352F"/>
              </a:solidFill>
            </a:ln>
          </p:spPr>
          <p:txBody>
            <a:bodyPr wrap="square" lIns="0" tIns="0" rIns="0" bIns="0" rtlCol="0"/>
            <a:lstStyle/>
            <a:p/>
          </p:txBody>
        </p:sp>
        <p:sp>
          <p:nvSpPr>
            <p:cNvPr id="72" name="object 72"/>
            <p:cNvSpPr/>
            <p:nvPr/>
          </p:nvSpPr>
          <p:spPr>
            <a:xfrm>
              <a:off x="3520439" y="3745991"/>
              <a:ext cx="452755" cy="251460"/>
            </a:xfrm>
            <a:custGeom>
              <a:avLst/>
              <a:gdLst/>
              <a:ahLst/>
              <a:cxnLst/>
              <a:rect l="l" t="t" r="r" b="b"/>
              <a:pathLst>
                <a:path w="452754" h="251460">
                  <a:moveTo>
                    <a:pt x="326898" y="0"/>
                  </a:moveTo>
                  <a:lnTo>
                    <a:pt x="0" y="0"/>
                  </a:lnTo>
                  <a:lnTo>
                    <a:pt x="0" y="251460"/>
                  </a:lnTo>
                  <a:lnTo>
                    <a:pt x="326898" y="251460"/>
                  </a:lnTo>
                  <a:lnTo>
                    <a:pt x="452627" y="125730"/>
                  </a:lnTo>
                  <a:lnTo>
                    <a:pt x="326898" y="0"/>
                  </a:lnTo>
                  <a:close/>
                </a:path>
              </a:pathLst>
            </a:custGeom>
            <a:solidFill>
              <a:srgbClr val="006FBF"/>
            </a:solidFill>
          </p:spPr>
          <p:txBody>
            <a:bodyPr wrap="square" lIns="0" tIns="0" rIns="0" bIns="0" rtlCol="0"/>
            <a:lstStyle/>
            <a:p/>
          </p:txBody>
        </p:sp>
        <p:sp>
          <p:nvSpPr>
            <p:cNvPr id="73" name="object 73"/>
            <p:cNvSpPr/>
            <p:nvPr/>
          </p:nvSpPr>
          <p:spPr>
            <a:xfrm>
              <a:off x="3520439" y="3745991"/>
              <a:ext cx="452755" cy="251460"/>
            </a:xfrm>
            <a:custGeom>
              <a:avLst/>
              <a:gdLst/>
              <a:ahLst/>
              <a:cxnLst/>
              <a:rect l="l" t="t" r="r" b="b"/>
              <a:pathLst>
                <a:path w="452754" h="251460">
                  <a:moveTo>
                    <a:pt x="0" y="0"/>
                  </a:moveTo>
                  <a:lnTo>
                    <a:pt x="326898" y="0"/>
                  </a:lnTo>
                  <a:lnTo>
                    <a:pt x="452627" y="125730"/>
                  </a:lnTo>
                  <a:lnTo>
                    <a:pt x="326898" y="251460"/>
                  </a:lnTo>
                  <a:lnTo>
                    <a:pt x="0" y="251460"/>
                  </a:lnTo>
                  <a:lnTo>
                    <a:pt x="0" y="0"/>
                  </a:lnTo>
                  <a:close/>
                </a:path>
              </a:pathLst>
            </a:custGeom>
            <a:ln w="3175">
              <a:solidFill>
                <a:srgbClr val="34352F"/>
              </a:solidFill>
            </a:ln>
          </p:spPr>
          <p:txBody>
            <a:bodyPr wrap="square" lIns="0" tIns="0" rIns="0" bIns="0" rtlCol="0"/>
            <a:lstStyle/>
            <a:p/>
          </p:txBody>
        </p:sp>
      </p:grpSp>
      <p:sp>
        <p:nvSpPr>
          <p:cNvPr id="74" name="object 74"/>
          <p:cNvSpPr txBox="1"/>
          <p:nvPr/>
        </p:nvSpPr>
        <p:spPr>
          <a:xfrm>
            <a:off x="3567176" y="3422827"/>
            <a:ext cx="299085" cy="146685"/>
          </a:xfrm>
          <a:prstGeom prst="rect">
            <a:avLst/>
          </a:prstGeom>
        </p:spPr>
        <p:txBody>
          <a:bodyPr vert="horz" wrap="square" lIns="0" tIns="11430" rIns="0" bIns="0" rtlCol="0">
            <a:spAutoFit/>
          </a:bodyPr>
          <a:lstStyle/>
          <a:p>
            <a:pPr marL="12700">
              <a:lnSpc>
                <a:spcPct val="100000"/>
              </a:lnSpc>
              <a:spcBef>
                <a:spcPts val="90"/>
              </a:spcBef>
            </a:pPr>
            <a:r>
              <a:rPr sz="800" spc="-114" dirty="0">
                <a:solidFill>
                  <a:srgbClr val="FEFEFE"/>
                </a:solidFill>
                <a:latin typeface="Calibri" panose="020F0502020204030204"/>
                <a:cs typeface="Calibri" panose="020F0502020204030204"/>
              </a:rPr>
              <a:t>ELI</a:t>
            </a:r>
            <a:r>
              <a:rPr sz="800" spc="-35" dirty="0">
                <a:solidFill>
                  <a:srgbClr val="FEFEFE"/>
                </a:solidFill>
                <a:latin typeface="Calibri" panose="020F0502020204030204"/>
                <a:cs typeface="Calibri" panose="020F0502020204030204"/>
              </a:rPr>
              <a:t> </a:t>
            </a:r>
            <a:r>
              <a:rPr sz="800" b="1" spc="-195" dirty="0">
                <a:solidFill>
                  <a:srgbClr val="FEFEFE"/>
                </a:solidFill>
                <a:latin typeface="Calibri" panose="020F0502020204030204"/>
                <a:cs typeface="Calibri" panose="020F0502020204030204"/>
              </a:rPr>
              <a:t>S</a:t>
            </a:r>
            <a:r>
              <a:rPr sz="800" spc="-195" dirty="0">
                <a:solidFill>
                  <a:srgbClr val="FEFEFE"/>
                </a:solidFill>
                <a:latin typeface="Calibri" panose="020F0502020204030204"/>
                <a:cs typeface="Calibri" panose="020F0502020204030204"/>
              </a:rPr>
              <a:t>O-</a:t>
            </a:r>
            <a:r>
              <a:rPr sz="800" spc="-25" dirty="0">
                <a:solidFill>
                  <a:srgbClr val="FEFEFE"/>
                </a:solidFill>
                <a:latin typeface="Calibri" panose="020F0502020204030204"/>
                <a:cs typeface="Calibri" panose="020F0502020204030204"/>
              </a:rPr>
              <a:t>LH</a:t>
            </a:r>
            <a:endParaRPr sz="800">
              <a:latin typeface="Calibri" panose="020F0502020204030204"/>
              <a:cs typeface="Calibri" panose="020F0502020204030204"/>
            </a:endParaRPr>
          </a:p>
        </p:txBody>
      </p:sp>
      <p:sp>
        <p:nvSpPr>
          <p:cNvPr id="75" name="object 75"/>
          <p:cNvSpPr txBox="1"/>
          <p:nvPr/>
        </p:nvSpPr>
        <p:spPr>
          <a:xfrm>
            <a:off x="4264533" y="698881"/>
            <a:ext cx="4707890" cy="3121660"/>
          </a:xfrm>
          <a:prstGeom prst="rect">
            <a:avLst/>
          </a:prstGeom>
        </p:spPr>
        <p:txBody>
          <a:bodyPr vert="horz" wrap="square" lIns="0" tIns="13335" rIns="0" bIns="0" rtlCol="0">
            <a:spAutoFit/>
          </a:bodyPr>
          <a:lstStyle/>
          <a:p>
            <a:pPr marL="299085" indent="-286385">
              <a:lnSpc>
                <a:spcPts val="2080"/>
              </a:lnSpc>
              <a:spcBef>
                <a:spcPts val="105"/>
              </a:spcBef>
              <a:buFont typeface="Arial" panose="020B0604020202020204"/>
              <a:buChar char="•"/>
              <a:tabLst>
                <a:tab pos="299085" algn="l"/>
              </a:tabLst>
            </a:pPr>
            <a:r>
              <a:rPr sz="2000" b="1" dirty="0">
                <a:solidFill>
                  <a:srgbClr val="34352F"/>
                </a:solidFill>
                <a:latin typeface="Calibri" panose="020F0502020204030204"/>
                <a:cs typeface="Calibri" panose="020F0502020204030204"/>
              </a:rPr>
              <a:t>Define</a:t>
            </a:r>
            <a:r>
              <a:rPr sz="2000" b="1" spc="-55" dirty="0">
                <a:solidFill>
                  <a:srgbClr val="34352F"/>
                </a:solidFill>
                <a:latin typeface="Calibri" panose="020F0502020204030204"/>
                <a:cs typeface="Calibri" panose="020F0502020204030204"/>
              </a:rPr>
              <a:t> </a:t>
            </a:r>
            <a:r>
              <a:rPr sz="2000" b="1" dirty="0">
                <a:solidFill>
                  <a:srgbClr val="34352F"/>
                </a:solidFill>
                <a:latin typeface="Calibri" panose="020F0502020204030204"/>
                <a:cs typeface="Calibri" panose="020F0502020204030204"/>
              </a:rPr>
              <a:t>two</a:t>
            </a:r>
            <a:r>
              <a:rPr sz="2000" b="1" spc="-70" dirty="0">
                <a:solidFill>
                  <a:srgbClr val="34352F"/>
                </a:solidFill>
                <a:latin typeface="Calibri" panose="020F0502020204030204"/>
                <a:cs typeface="Calibri" panose="020F0502020204030204"/>
              </a:rPr>
              <a:t> </a:t>
            </a:r>
            <a:r>
              <a:rPr sz="2000" b="1" dirty="0">
                <a:solidFill>
                  <a:srgbClr val="34352F"/>
                </a:solidFill>
                <a:latin typeface="Calibri" panose="020F0502020204030204"/>
                <a:cs typeface="Calibri" panose="020F0502020204030204"/>
              </a:rPr>
              <a:t>power</a:t>
            </a:r>
            <a:r>
              <a:rPr sz="2000" b="1" spc="-80" dirty="0">
                <a:solidFill>
                  <a:srgbClr val="34352F"/>
                </a:solidFill>
                <a:latin typeface="Calibri" panose="020F0502020204030204"/>
                <a:cs typeface="Calibri" panose="020F0502020204030204"/>
              </a:rPr>
              <a:t> </a:t>
            </a:r>
            <a:r>
              <a:rPr sz="2000" b="1" spc="-10" dirty="0">
                <a:solidFill>
                  <a:srgbClr val="34352F"/>
                </a:solidFill>
                <a:latin typeface="Calibri" panose="020F0502020204030204"/>
                <a:cs typeface="Calibri" panose="020F0502020204030204"/>
              </a:rPr>
              <a:t>domains</a:t>
            </a:r>
            <a:endParaRPr sz="2000">
              <a:latin typeface="Calibri" panose="020F0502020204030204"/>
              <a:cs typeface="Calibri" panose="020F0502020204030204"/>
            </a:endParaRPr>
          </a:p>
          <a:p>
            <a:pPr marL="597535" lvl="1" indent="-285115">
              <a:lnSpc>
                <a:spcPts val="1775"/>
              </a:lnSpc>
              <a:buFont typeface="Calibri" panose="020F0502020204030204"/>
              <a:buChar char="–"/>
              <a:tabLst>
                <a:tab pos="597535" algn="l"/>
              </a:tabLst>
            </a:pPr>
            <a:r>
              <a:rPr sz="1800" i="1" spc="-10" dirty="0">
                <a:solidFill>
                  <a:srgbClr val="1616A2"/>
                </a:solidFill>
                <a:latin typeface="Calibri" panose="020F0502020204030204"/>
                <a:cs typeface="Calibri" panose="020F0502020204030204"/>
              </a:rPr>
              <a:t>create_power_domain</a:t>
            </a:r>
            <a:endParaRPr sz="1800">
              <a:latin typeface="Calibri" panose="020F0502020204030204"/>
              <a:cs typeface="Calibri" panose="020F0502020204030204"/>
            </a:endParaRPr>
          </a:p>
          <a:p>
            <a:pPr marL="299085" indent="-286385">
              <a:lnSpc>
                <a:spcPts val="2015"/>
              </a:lnSpc>
              <a:buFont typeface="Arial" panose="020B0604020202020204"/>
              <a:buChar char="•"/>
              <a:tabLst>
                <a:tab pos="299085" algn="l"/>
              </a:tabLst>
            </a:pPr>
            <a:r>
              <a:rPr sz="2000" b="1" dirty="0">
                <a:solidFill>
                  <a:srgbClr val="34352F"/>
                </a:solidFill>
                <a:latin typeface="Calibri" panose="020F0502020204030204"/>
                <a:cs typeface="Calibri" panose="020F0502020204030204"/>
              </a:rPr>
              <a:t>Define</a:t>
            </a:r>
            <a:r>
              <a:rPr sz="2000" b="1" spc="-40" dirty="0">
                <a:solidFill>
                  <a:srgbClr val="34352F"/>
                </a:solidFill>
                <a:latin typeface="Calibri" panose="020F0502020204030204"/>
                <a:cs typeface="Calibri" panose="020F0502020204030204"/>
              </a:rPr>
              <a:t> </a:t>
            </a:r>
            <a:r>
              <a:rPr sz="2000" b="1" dirty="0">
                <a:solidFill>
                  <a:srgbClr val="34352F"/>
                </a:solidFill>
                <a:latin typeface="Calibri" panose="020F0502020204030204"/>
                <a:cs typeface="Calibri" panose="020F0502020204030204"/>
              </a:rPr>
              <a:t>supply</a:t>
            </a:r>
            <a:r>
              <a:rPr sz="2000" b="1" spc="-70" dirty="0">
                <a:solidFill>
                  <a:srgbClr val="34352F"/>
                </a:solidFill>
                <a:latin typeface="Calibri" panose="020F0502020204030204"/>
                <a:cs typeface="Calibri" panose="020F0502020204030204"/>
              </a:rPr>
              <a:t> </a:t>
            </a:r>
            <a:r>
              <a:rPr sz="2000" b="1" spc="-10" dirty="0">
                <a:solidFill>
                  <a:srgbClr val="34352F"/>
                </a:solidFill>
                <a:latin typeface="Calibri" panose="020F0502020204030204"/>
                <a:cs typeface="Calibri" panose="020F0502020204030204"/>
              </a:rPr>
              <a:t>network</a:t>
            </a:r>
            <a:endParaRPr sz="2000">
              <a:latin typeface="Calibri" panose="020F0502020204030204"/>
              <a:cs typeface="Calibri" panose="020F0502020204030204"/>
            </a:endParaRPr>
          </a:p>
          <a:p>
            <a:pPr marL="597535" lvl="1" indent="-285115">
              <a:lnSpc>
                <a:spcPts val="1515"/>
              </a:lnSpc>
              <a:buFont typeface="Calibri" panose="020F0502020204030204"/>
              <a:buChar char="–"/>
              <a:tabLst>
                <a:tab pos="597535" algn="l"/>
              </a:tabLst>
            </a:pPr>
            <a:r>
              <a:rPr sz="1800" i="1" spc="-10" dirty="0">
                <a:solidFill>
                  <a:srgbClr val="1616A2"/>
                </a:solidFill>
                <a:latin typeface="Calibri" panose="020F0502020204030204"/>
                <a:cs typeface="Calibri" panose="020F0502020204030204"/>
              </a:rPr>
              <a:t>create_supply_port</a:t>
            </a:r>
            <a:endParaRPr sz="1800">
              <a:latin typeface="Calibri" panose="020F0502020204030204"/>
              <a:cs typeface="Calibri" panose="020F0502020204030204"/>
            </a:endParaRPr>
          </a:p>
          <a:p>
            <a:pPr marL="597535" lvl="1" indent="-285115">
              <a:lnSpc>
                <a:spcPts val="1510"/>
              </a:lnSpc>
              <a:buFont typeface="Calibri" panose="020F0502020204030204"/>
              <a:buChar char="–"/>
              <a:tabLst>
                <a:tab pos="597535" algn="l"/>
              </a:tabLst>
            </a:pPr>
            <a:r>
              <a:rPr sz="1800" i="1" spc="-10" dirty="0">
                <a:solidFill>
                  <a:srgbClr val="1616A2"/>
                </a:solidFill>
                <a:latin typeface="Calibri" panose="020F0502020204030204"/>
                <a:cs typeface="Calibri" panose="020F0502020204030204"/>
              </a:rPr>
              <a:t>create_supply_net</a:t>
            </a:r>
            <a:endParaRPr sz="1800">
              <a:latin typeface="Calibri" panose="020F0502020204030204"/>
              <a:cs typeface="Calibri" panose="020F0502020204030204"/>
            </a:endParaRPr>
          </a:p>
          <a:p>
            <a:pPr marL="597535" lvl="1" indent="-285115">
              <a:lnSpc>
                <a:spcPts val="1510"/>
              </a:lnSpc>
              <a:buFont typeface="Calibri" panose="020F0502020204030204"/>
              <a:buChar char="–"/>
              <a:tabLst>
                <a:tab pos="597535" algn="l"/>
              </a:tabLst>
            </a:pPr>
            <a:r>
              <a:rPr sz="1800" i="1" spc="-10" dirty="0">
                <a:solidFill>
                  <a:srgbClr val="1616A2"/>
                </a:solidFill>
                <a:latin typeface="Calibri" panose="020F0502020204030204"/>
                <a:cs typeface="Calibri" panose="020F0502020204030204"/>
              </a:rPr>
              <a:t>connect_supply_net</a:t>
            </a:r>
            <a:endParaRPr sz="1800">
              <a:latin typeface="Calibri" panose="020F0502020204030204"/>
              <a:cs typeface="Calibri" panose="020F0502020204030204"/>
            </a:endParaRPr>
          </a:p>
          <a:p>
            <a:pPr marL="597535" lvl="1" indent="-285115">
              <a:lnSpc>
                <a:spcPts val="1775"/>
              </a:lnSpc>
              <a:buFont typeface="Calibri" panose="020F0502020204030204"/>
              <a:buChar char="–"/>
              <a:tabLst>
                <a:tab pos="597535" algn="l"/>
              </a:tabLst>
            </a:pPr>
            <a:r>
              <a:rPr sz="1800" i="1" spc="-10" dirty="0">
                <a:solidFill>
                  <a:srgbClr val="1616A2"/>
                </a:solidFill>
                <a:latin typeface="Calibri" panose="020F0502020204030204"/>
                <a:cs typeface="Calibri" panose="020F0502020204030204"/>
              </a:rPr>
              <a:t>create_supply_set</a:t>
            </a:r>
            <a:endParaRPr sz="1800">
              <a:latin typeface="Calibri" panose="020F0502020204030204"/>
              <a:cs typeface="Calibri" panose="020F0502020204030204"/>
            </a:endParaRPr>
          </a:p>
          <a:p>
            <a:pPr marL="299085" indent="-286385">
              <a:lnSpc>
                <a:spcPts val="2015"/>
              </a:lnSpc>
              <a:buFont typeface="Arial" panose="020B0604020202020204"/>
              <a:buChar char="•"/>
              <a:tabLst>
                <a:tab pos="299085" algn="l"/>
              </a:tabLst>
            </a:pPr>
            <a:r>
              <a:rPr sz="2000" b="1" spc="-10" dirty="0">
                <a:solidFill>
                  <a:srgbClr val="34352F"/>
                </a:solidFill>
                <a:latin typeface="Calibri" panose="020F0502020204030204"/>
                <a:cs typeface="Calibri" panose="020F0502020204030204"/>
              </a:rPr>
              <a:t>Create</a:t>
            </a:r>
            <a:r>
              <a:rPr sz="2000" b="1" spc="-20" dirty="0">
                <a:solidFill>
                  <a:srgbClr val="34352F"/>
                </a:solidFill>
                <a:latin typeface="Calibri" panose="020F0502020204030204"/>
                <a:cs typeface="Calibri" panose="020F0502020204030204"/>
              </a:rPr>
              <a:t> </a:t>
            </a:r>
            <a:r>
              <a:rPr sz="2000" b="1" dirty="0">
                <a:solidFill>
                  <a:srgbClr val="34352F"/>
                </a:solidFill>
                <a:latin typeface="Calibri" panose="020F0502020204030204"/>
                <a:cs typeface="Calibri" panose="020F0502020204030204"/>
              </a:rPr>
              <a:t>UPF</a:t>
            </a:r>
            <a:r>
              <a:rPr sz="2000" b="1" spc="-50" dirty="0">
                <a:solidFill>
                  <a:srgbClr val="34352F"/>
                </a:solidFill>
                <a:latin typeface="Calibri" panose="020F0502020204030204"/>
                <a:cs typeface="Calibri" panose="020F0502020204030204"/>
              </a:rPr>
              <a:t> </a:t>
            </a:r>
            <a:r>
              <a:rPr sz="2000" b="1" dirty="0">
                <a:solidFill>
                  <a:srgbClr val="34352F"/>
                </a:solidFill>
                <a:latin typeface="Calibri" panose="020F0502020204030204"/>
                <a:cs typeface="Calibri" panose="020F0502020204030204"/>
              </a:rPr>
              <a:t>objects</a:t>
            </a:r>
            <a:r>
              <a:rPr sz="2000" b="1" spc="-55" dirty="0">
                <a:solidFill>
                  <a:srgbClr val="34352F"/>
                </a:solidFill>
                <a:latin typeface="Calibri" panose="020F0502020204030204"/>
                <a:cs typeface="Calibri" panose="020F0502020204030204"/>
              </a:rPr>
              <a:t> </a:t>
            </a:r>
            <a:r>
              <a:rPr sz="2000" b="1" dirty="0">
                <a:solidFill>
                  <a:srgbClr val="34352F"/>
                </a:solidFill>
                <a:latin typeface="Calibri" panose="020F0502020204030204"/>
                <a:cs typeface="Calibri" panose="020F0502020204030204"/>
              </a:rPr>
              <a:t>for</a:t>
            </a:r>
            <a:r>
              <a:rPr sz="2000" b="1" spc="-35" dirty="0">
                <a:solidFill>
                  <a:srgbClr val="34352F"/>
                </a:solidFill>
                <a:latin typeface="Calibri" panose="020F0502020204030204"/>
                <a:cs typeface="Calibri" panose="020F0502020204030204"/>
              </a:rPr>
              <a:t> </a:t>
            </a:r>
            <a:r>
              <a:rPr sz="2000" b="1" dirty="0">
                <a:solidFill>
                  <a:srgbClr val="34352F"/>
                </a:solidFill>
                <a:latin typeface="Calibri" panose="020F0502020204030204"/>
                <a:cs typeface="Calibri" panose="020F0502020204030204"/>
              </a:rPr>
              <a:t>pd1</a:t>
            </a:r>
            <a:r>
              <a:rPr sz="2000" b="1" spc="-45" dirty="0">
                <a:solidFill>
                  <a:srgbClr val="34352F"/>
                </a:solidFill>
                <a:latin typeface="Calibri" panose="020F0502020204030204"/>
                <a:cs typeface="Calibri" panose="020F0502020204030204"/>
              </a:rPr>
              <a:t> </a:t>
            </a:r>
            <a:r>
              <a:rPr sz="2000" b="1" dirty="0">
                <a:solidFill>
                  <a:srgbClr val="34352F"/>
                </a:solidFill>
                <a:latin typeface="Calibri" panose="020F0502020204030204"/>
                <a:cs typeface="Calibri" panose="020F0502020204030204"/>
              </a:rPr>
              <a:t>power</a:t>
            </a:r>
            <a:r>
              <a:rPr sz="2000" b="1" spc="-40" dirty="0">
                <a:solidFill>
                  <a:srgbClr val="34352F"/>
                </a:solidFill>
                <a:latin typeface="Calibri" panose="020F0502020204030204"/>
                <a:cs typeface="Calibri" panose="020F0502020204030204"/>
              </a:rPr>
              <a:t> </a:t>
            </a:r>
            <a:r>
              <a:rPr sz="2000" b="1" spc="-10" dirty="0">
                <a:solidFill>
                  <a:srgbClr val="34352F"/>
                </a:solidFill>
                <a:latin typeface="Calibri" panose="020F0502020204030204"/>
                <a:cs typeface="Calibri" panose="020F0502020204030204"/>
              </a:rPr>
              <a:t>domain</a:t>
            </a:r>
            <a:endParaRPr sz="2000">
              <a:latin typeface="Calibri" panose="020F0502020204030204"/>
              <a:cs typeface="Calibri" panose="020F0502020204030204"/>
            </a:endParaRPr>
          </a:p>
          <a:p>
            <a:pPr marL="597535" lvl="1" indent="-285115">
              <a:lnSpc>
                <a:spcPts val="1515"/>
              </a:lnSpc>
              <a:buFont typeface="Calibri" panose="020F0502020204030204"/>
              <a:buChar char="–"/>
              <a:tabLst>
                <a:tab pos="597535" algn="l"/>
              </a:tabLst>
            </a:pPr>
            <a:r>
              <a:rPr sz="1800" i="1" spc="-10" dirty="0">
                <a:solidFill>
                  <a:srgbClr val="1616A2"/>
                </a:solidFill>
                <a:latin typeface="Calibri" panose="020F0502020204030204"/>
                <a:cs typeface="Calibri" panose="020F0502020204030204"/>
              </a:rPr>
              <a:t>create_power_switch</a:t>
            </a:r>
            <a:endParaRPr sz="1800">
              <a:latin typeface="Calibri" panose="020F0502020204030204"/>
              <a:cs typeface="Calibri" panose="020F0502020204030204"/>
            </a:endParaRPr>
          </a:p>
          <a:p>
            <a:pPr marL="597535" lvl="1" indent="-285115">
              <a:lnSpc>
                <a:spcPts val="1510"/>
              </a:lnSpc>
              <a:buFont typeface="Calibri" panose="020F0502020204030204"/>
              <a:buChar char="–"/>
              <a:tabLst>
                <a:tab pos="597535" algn="l"/>
              </a:tabLst>
            </a:pPr>
            <a:r>
              <a:rPr sz="1800" i="1" spc="-10" dirty="0">
                <a:solidFill>
                  <a:srgbClr val="1616A2"/>
                </a:solidFill>
                <a:latin typeface="Calibri" panose="020F0502020204030204"/>
                <a:cs typeface="Calibri" panose="020F0502020204030204"/>
              </a:rPr>
              <a:t>set_isolation</a:t>
            </a:r>
            <a:endParaRPr sz="1800">
              <a:latin typeface="Calibri" panose="020F0502020204030204"/>
              <a:cs typeface="Calibri" panose="020F0502020204030204"/>
            </a:endParaRPr>
          </a:p>
          <a:p>
            <a:pPr marL="597535" lvl="1" indent="-285115">
              <a:lnSpc>
                <a:spcPts val="1510"/>
              </a:lnSpc>
              <a:buFont typeface="Calibri" panose="020F0502020204030204"/>
              <a:buChar char="–"/>
              <a:tabLst>
                <a:tab pos="597535" algn="l"/>
              </a:tabLst>
            </a:pPr>
            <a:r>
              <a:rPr sz="1800" i="1" spc="-10" dirty="0">
                <a:solidFill>
                  <a:srgbClr val="1616A2"/>
                </a:solidFill>
                <a:latin typeface="Calibri" panose="020F0502020204030204"/>
                <a:cs typeface="Calibri" panose="020F0502020204030204"/>
              </a:rPr>
              <a:t>set_level_shifter</a:t>
            </a:r>
            <a:endParaRPr sz="1800">
              <a:latin typeface="Calibri" panose="020F0502020204030204"/>
              <a:cs typeface="Calibri" panose="020F0502020204030204"/>
            </a:endParaRPr>
          </a:p>
          <a:p>
            <a:pPr marL="597535" lvl="1" indent="-285115">
              <a:lnSpc>
                <a:spcPts val="1775"/>
              </a:lnSpc>
              <a:buFont typeface="Calibri" panose="020F0502020204030204"/>
              <a:buChar char="–"/>
              <a:tabLst>
                <a:tab pos="597535" algn="l"/>
              </a:tabLst>
            </a:pPr>
            <a:r>
              <a:rPr sz="1800" i="1" spc="-10" dirty="0">
                <a:solidFill>
                  <a:srgbClr val="1616A2"/>
                </a:solidFill>
                <a:latin typeface="Calibri" panose="020F0502020204030204"/>
                <a:cs typeface="Calibri" panose="020F0502020204030204"/>
              </a:rPr>
              <a:t>set_retention</a:t>
            </a:r>
            <a:endParaRPr sz="1800">
              <a:latin typeface="Calibri" panose="020F0502020204030204"/>
              <a:cs typeface="Calibri" panose="020F0502020204030204"/>
            </a:endParaRPr>
          </a:p>
          <a:p>
            <a:pPr marL="299085" indent="-286385">
              <a:lnSpc>
                <a:spcPts val="2015"/>
              </a:lnSpc>
              <a:buFont typeface="Arial" panose="020B0604020202020204"/>
              <a:buChar char="•"/>
              <a:tabLst>
                <a:tab pos="299085" algn="l"/>
              </a:tabLst>
            </a:pPr>
            <a:r>
              <a:rPr sz="2000" b="1" dirty="0">
                <a:solidFill>
                  <a:srgbClr val="34352F"/>
                </a:solidFill>
                <a:latin typeface="Calibri" panose="020F0502020204030204"/>
                <a:cs typeface="Calibri" panose="020F0502020204030204"/>
              </a:rPr>
              <a:t>Define</a:t>
            </a:r>
            <a:r>
              <a:rPr sz="2000" b="1" spc="-80" dirty="0">
                <a:solidFill>
                  <a:srgbClr val="34352F"/>
                </a:solidFill>
                <a:latin typeface="Calibri" panose="020F0502020204030204"/>
                <a:cs typeface="Calibri" panose="020F0502020204030204"/>
              </a:rPr>
              <a:t> </a:t>
            </a:r>
            <a:r>
              <a:rPr sz="2000" b="1" dirty="0">
                <a:solidFill>
                  <a:srgbClr val="34352F"/>
                </a:solidFill>
                <a:latin typeface="Calibri" panose="020F0502020204030204"/>
                <a:cs typeface="Calibri" panose="020F0502020204030204"/>
              </a:rPr>
              <a:t>power</a:t>
            </a:r>
            <a:r>
              <a:rPr sz="2000" b="1" spc="-105" dirty="0">
                <a:solidFill>
                  <a:srgbClr val="34352F"/>
                </a:solidFill>
                <a:latin typeface="Calibri" panose="020F0502020204030204"/>
                <a:cs typeface="Calibri" panose="020F0502020204030204"/>
              </a:rPr>
              <a:t> </a:t>
            </a:r>
            <a:r>
              <a:rPr sz="2000" b="1" dirty="0">
                <a:solidFill>
                  <a:srgbClr val="34352F"/>
                </a:solidFill>
                <a:latin typeface="Calibri" panose="020F0502020204030204"/>
                <a:cs typeface="Calibri" panose="020F0502020204030204"/>
              </a:rPr>
              <a:t>state</a:t>
            </a:r>
            <a:r>
              <a:rPr sz="2000" b="1" spc="-85" dirty="0">
                <a:solidFill>
                  <a:srgbClr val="34352F"/>
                </a:solidFill>
                <a:latin typeface="Calibri" panose="020F0502020204030204"/>
                <a:cs typeface="Calibri" panose="020F0502020204030204"/>
              </a:rPr>
              <a:t> </a:t>
            </a:r>
            <a:r>
              <a:rPr sz="2000" b="1" spc="-10" dirty="0">
                <a:solidFill>
                  <a:srgbClr val="34352F"/>
                </a:solidFill>
                <a:latin typeface="Calibri" panose="020F0502020204030204"/>
                <a:cs typeface="Calibri" panose="020F0502020204030204"/>
              </a:rPr>
              <a:t>table</a:t>
            </a:r>
            <a:endParaRPr sz="2000">
              <a:latin typeface="Calibri" panose="020F0502020204030204"/>
              <a:cs typeface="Calibri" panose="020F0502020204030204"/>
            </a:endParaRPr>
          </a:p>
          <a:p>
            <a:pPr marL="597535" lvl="1" indent="-285115">
              <a:lnSpc>
                <a:spcPts val="1840"/>
              </a:lnSpc>
              <a:buFont typeface="Calibri" panose="020F0502020204030204"/>
              <a:buChar char="–"/>
              <a:tabLst>
                <a:tab pos="597535" algn="l"/>
              </a:tabLst>
            </a:pPr>
            <a:r>
              <a:rPr sz="1800" i="1" spc="-10" dirty="0">
                <a:solidFill>
                  <a:srgbClr val="1616A2"/>
                </a:solidFill>
                <a:latin typeface="Calibri" panose="020F0502020204030204"/>
                <a:cs typeface="Calibri" panose="020F0502020204030204"/>
              </a:rPr>
              <a:t>add_power_state</a:t>
            </a:r>
            <a:endParaRPr sz="1800">
              <a:latin typeface="Calibri" panose="020F0502020204030204"/>
              <a:cs typeface="Calibri" panose="020F0502020204030204"/>
            </a:endParaRPr>
          </a:p>
        </p:txBody>
      </p:sp>
      <p:sp>
        <p:nvSpPr>
          <p:cNvPr id="78" name="Text 0"/>
          <p:cNvSpPr/>
          <p:nvPr/>
        </p:nvSpPr>
        <p:spPr>
          <a:xfrm>
            <a:off x="284480" y="10922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结果与</a:t>
            </a:r>
            <a:r>
              <a:rPr lang="zh-CN" altLang="en-US" sz="1730" b="1" dirty="0">
                <a:latin typeface="微软雅黑" panose="020B0503020204020204" pitchFamily="34" charset="-122"/>
                <a:ea typeface="微软雅黑" panose="020B0503020204020204" pitchFamily="34" charset="-122"/>
                <a:sym typeface="+mn-ea"/>
              </a:rPr>
              <a:t>总结</a:t>
            </a:r>
            <a:endParaRPr lang="zh-CN" altLang="en-US" sz="1730" b="1"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3" name="Text 0"/>
          <p:cNvSpPr/>
          <p:nvPr/>
        </p:nvSpPr>
        <p:spPr>
          <a:xfrm>
            <a:off x="556260" y="300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en-US" altLang="zh-CN" sz="1730" b="1" dirty="0">
              <a:latin typeface="微软雅黑" panose="020B0503020204020204" pitchFamily="34" charset="-122"/>
              <a:ea typeface="微软雅黑" panose="020B0503020204020204" pitchFamily="34" charset="-122"/>
              <a:sym typeface="+mn-ea"/>
            </a:endParaRPr>
          </a:p>
        </p:txBody>
      </p:sp>
      <p:sp>
        <p:nvSpPr>
          <p:cNvPr id="5" name="内容占位符 2"/>
          <p:cNvSpPr>
            <a:spLocks noGrp="1"/>
          </p:cNvSpPr>
          <p:nvPr/>
        </p:nvSpPr>
        <p:spPr>
          <a:xfrm>
            <a:off x="608330" y="794385"/>
            <a:ext cx="7957185" cy="377571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p>
        </p:txBody>
      </p:sp>
      <p:sp>
        <p:nvSpPr>
          <p:cNvPr id="6" name="Text 0"/>
          <p:cNvSpPr/>
          <p:nvPr/>
        </p:nvSpPr>
        <p:spPr>
          <a:xfrm>
            <a:off x="28448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附</a:t>
            </a:r>
            <a:r>
              <a:rPr lang="zh-CN" altLang="en-US" sz="1730" b="1" dirty="0">
                <a:latin typeface="微软雅黑" panose="020B0503020204020204" pitchFamily="34" charset="-122"/>
                <a:ea typeface="微软雅黑" panose="020B0503020204020204" pitchFamily="34" charset="-122"/>
                <a:sym typeface="+mn-ea"/>
              </a:rPr>
              <a:t>录</a:t>
            </a:r>
            <a:endParaRPr lang="zh-CN" altLang="en-US" sz="1730" b="1" dirty="0">
              <a:latin typeface="微软雅黑" panose="020B0503020204020204" pitchFamily="34" charset="-122"/>
              <a:ea typeface="微软雅黑" panose="020B0503020204020204" pitchFamily="34" charset="-122"/>
              <a:sym typeface="+mn-ea"/>
            </a:endParaRPr>
          </a:p>
        </p:txBody>
      </p:sp>
      <p:pic>
        <p:nvPicPr>
          <p:cNvPr id="8" name="图片 7"/>
          <p:cNvPicPr>
            <a:picLocks noChangeAspect="1"/>
          </p:cNvPicPr>
          <p:nvPr/>
        </p:nvPicPr>
        <p:blipFill>
          <a:blip r:embed="rId2"/>
          <a:stretch>
            <a:fillRect/>
          </a:stretch>
        </p:blipFill>
        <p:spPr>
          <a:xfrm>
            <a:off x="2562225" y="635000"/>
            <a:ext cx="3928110" cy="4002405"/>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3" name="Text 0"/>
          <p:cNvSpPr/>
          <p:nvPr/>
        </p:nvSpPr>
        <p:spPr>
          <a:xfrm>
            <a:off x="556260" y="300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en-US" altLang="zh-CN" sz="1730" b="1" dirty="0">
              <a:latin typeface="微软雅黑" panose="020B0503020204020204" pitchFamily="34" charset="-122"/>
              <a:ea typeface="微软雅黑" panose="020B0503020204020204" pitchFamily="34" charset="-122"/>
              <a:sym typeface="+mn-ea"/>
            </a:endParaRPr>
          </a:p>
        </p:txBody>
      </p:sp>
      <p:sp>
        <p:nvSpPr>
          <p:cNvPr id="5" name="内容占位符 2"/>
          <p:cNvSpPr>
            <a:spLocks noGrp="1"/>
          </p:cNvSpPr>
          <p:nvPr/>
        </p:nvSpPr>
        <p:spPr>
          <a:xfrm>
            <a:off x="608330" y="794385"/>
            <a:ext cx="7957185" cy="377571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p>
        </p:txBody>
      </p:sp>
      <p:sp>
        <p:nvSpPr>
          <p:cNvPr id="6" name="Text 0"/>
          <p:cNvSpPr/>
          <p:nvPr/>
        </p:nvSpPr>
        <p:spPr>
          <a:xfrm>
            <a:off x="28448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使用</a:t>
            </a:r>
            <a:r>
              <a:rPr lang="en-US" altLang="zh-CN" sz="1730" b="1" dirty="0">
                <a:latin typeface="微软雅黑" panose="020B0503020204020204" pitchFamily="34" charset="-122"/>
                <a:ea typeface="微软雅黑" panose="020B0503020204020204" pitchFamily="34" charset="-122"/>
                <a:sym typeface="+mn-ea"/>
              </a:rPr>
              <a:t>Spyglass</a:t>
            </a:r>
            <a:r>
              <a:rPr lang="zh-CN" altLang="en-US" sz="1730" b="1" dirty="0">
                <a:latin typeface="微软雅黑" panose="020B0503020204020204" pitchFamily="34" charset="-122"/>
                <a:ea typeface="微软雅黑" panose="020B0503020204020204" pitchFamily="34" charset="-122"/>
                <a:sym typeface="+mn-ea"/>
              </a:rPr>
              <a:t>验证</a:t>
            </a:r>
            <a:endParaRPr lang="zh-CN" altLang="en-US" sz="1730" b="1" dirty="0">
              <a:latin typeface="微软雅黑" panose="020B0503020204020204" pitchFamily="34" charset="-122"/>
              <a:ea typeface="微软雅黑" panose="020B0503020204020204" pitchFamily="34" charset="-122"/>
              <a:sym typeface="+mn-ea"/>
            </a:endParaRPr>
          </a:p>
        </p:txBody>
      </p:sp>
      <p:pic>
        <p:nvPicPr>
          <p:cNvPr id="7" name="图片 6"/>
          <p:cNvPicPr>
            <a:picLocks noChangeAspect="1"/>
          </p:cNvPicPr>
          <p:nvPr/>
        </p:nvPicPr>
        <p:blipFill>
          <a:blip r:embed="rId2"/>
          <a:stretch>
            <a:fillRect/>
          </a:stretch>
        </p:blipFill>
        <p:spPr>
          <a:xfrm>
            <a:off x="556260" y="746125"/>
            <a:ext cx="3872230" cy="2744470"/>
          </a:xfrm>
          <a:prstGeom prst="rect">
            <a:avLst/>
          </a:prstGeom>
        </p:spPr>
      </p:pic>
      <p:pic>
        <p:nvPicPr>
          <p:cNvPr id="8" name="图片 7"/>
          <p:cNvPicPr>
            <a:picLocks noChangeAspect="1"/>
          </p:cNvPicPr>
          <p:nvPr/>
        </p:nvPicPr>
        <p:blipFill>
          <a:blip r:embed="rId3"/>
          <a:stretch>
            <a:fillRect/>
          </a:stretch>
        </p:blipFill>
        <p:spPr>
          <a:xfrm>
            <a:off x="4768850" y="1857375"/>
            <a:ext cx="3476625" cy="752475"/>
          </a:xfrm>
          <a:prstGeom prst="rect">
            <a:avLst/>
          </a:prstGeom>
        </p:spPr>
      </p:pic>
      <p:sp>
        <p:nvSpPr>
          <p:cNvPr id="9" name="文本框 8"/>
          <p:cNvSpPr txBox="1"/>
          <p:nvPr/>
        </p:nvSpPr>
        <p:spPr>
          <a:xfrm>
            <a:off x="1181100" y="3718560"/>
            <a:ext cx="3048000" cy="368300"/>
          </a:xfrm>
          <a:prstGeom prst="rect">
            <a:avLst/>
          </a:prstGeom>
          <a:noFill/>
        </p:spPr>
        <p:txBody>
          <a:bodyPr wrap="square" rtlCol="0">
            <a:spAutoFit/>
          </a:bodyPr>
          <a:p>
            <a:r>
              <a:rPr lang="en-US" altLang="zh-CN"/>
              <a:t>UPF</a:t>
            </a:r>
            <a:r>
              <a:rPr lang="zh-CN" altLang="en-US"/>
              <a:t>文件</a:t>
            </a:r>
            <a:endParaRPr lang="zh-CN" altLang="en-US"/>
          </a:p>
        </p:txBody>
      </p:sp>
      <p:sp>
        <p:nvSpPr>
          <p:cNvPr id="10" name="文本框 9"/>
          <p:cNvSpPr txBox="1"/>
          <p:nvPr/>
        </p:nvSpPr>
        <p:spPr>
          <a:xfrm>
            <a:off x="5105400" y="3672840"/>
            <a:ext cx="3048000" cy="368300"/>
          </a:xfrm>
          <a:prstGeom prst="rect">
            <a:avLst/>
          </a:prstGeom>
          <a:noFill/>
        </p:spPr>
        <p:txBody>
          <a:bodyPr wrap="square" rtlCol="0">
            <a:spAutoFit/>
          </a:bodyPr>
          <a:p>
            <a:r>
              <a:rPr lang="en-US" altLang="zh-CN"/>
              <a:t>Spyglass.tcl</a:t>
            </a:r>
            <a:r>
              <a:rPr lang="zh-CN" altLang="en-US"/>
              <a:t>脚本</a:t>
            </a:r>
            <a:r>
              <a:rPr lang="zh-CN" altLang="en-US"/>
              <a:t>文件</a:t>
            </a:r>
            <a:endParaRPr lang="zh-CN"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3" name="Text 0"/>
          <p:cNvSpPr/>
          <p:nvPr/>
        </p:nvSpPr>
        <p:spPr>
          <a:xfrm>
            <a:off x="556260" y="300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en-US" altLang="zh-CN" sz="1730" b="1" dirty="0">
              <a:latin typeface="微软雅黑" panose="020B0503020204020204" pitchFamily="34" charset="-122"/>
              <a:ea typeface="微软雅黑" panose="020B0503020204020204" pitchFamily="34" charset="-122"/>
              <a:sym typeface="+mn-ea"/>
            </a:endParaRPr>
          </a:p>
        </p:txBody>
      </p:sp>
      <p:sp>
        <p:nvSpPr>
          <p:cNvPr id="5" name="内容占位符 2"/>
          <p:cNvSpPr>
            <a:spLocks noGrp="1"/>
          </p:cNvSpPr>
          <p:nvPr/>
        </p:nvSpPr>
        <p:spPr>
          <a:xfrm>
            <a:off x="608330" y="794385"/>
            <a:ext cx="7957185" cy="377571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p>
        </p:txBody>
      </p:sp>
      <p:sp>
        <p:nvSpPr>
          <p:cNvPr id="6" name="Text 0"/>
          <p:cNvSpPr/>
          <p:nvPr/>
        </p:nvSpPr>
        <p:spPr>
          <a:xfrm>
            <a:off x="28448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使用</a:t>
            </a:r>
            <a:r>
              <a:rPr lang="en-US" altLang="zh-CN" sz="1730" b="1" dirty="0">
                <a:latin typeface="微软雅黑" panose="020B0503020204020204" pitchFamily="34" charset="-122"/>
                <a:ea typeface="微软雅黑" panose="020B0503020204020204" pitchFamily="34" charset="-122"/>
                <a:sym typeface="+mn-ea"/>
              </a:rPr>
              <a:t>Spyglass</a:t>
            </a:r>
            <a:r>
              <a:rPr lang="zh-CN" altLang="en-US" sz="1730" b="1" dirty="0">
                <a:latin typeface="微软雅黑" panose="020B0503020204020204" pitchFamily="34" charset="-122"/>
                <a:ea typeface="微软雅黑" panose="020B0503020204020204" pitchFamily="34" charset="-122"/>
                <a:sym typeface="+mn-ea"/>
              </a:rPr>
              <a:t>验证</a:t>
            </a:r>
            <a:endParaRPr lang="zh-CN" altLang="en-US" sz="1730" b="1" dirty="0">
              <a:latin typeface="微软雅黑" panose="020B0503020204020204" pitchFamily="34" charset="-122"/>
              <a:ea typeface="微软雅黑" panose="020B0503020204020204" pitchFamily="34" charset="-122"/>
              <a:sym typeface="+mn-ea"/>
            </a:endParaRPr>
          </a:p>
        </p:txBody>
      </p:sp>
      <p:sp>
        <p:nvSpPr>
          <p:cNvPr id="9" name="文本框 8"/>
          <p:cNvSpPr txBox="1"/>
          <p:nvPr/>
        </p:nvSpPr>
        <p:spPr>
          <a:xfrm>
            <a:off x="556260" y="672465"/>
            <a:ext cx="8009255" cy="3896995"/>
          </a:xfrm>
          <a:prstGeom prst="rect">
            <a:avLst/>
          </a:prstGeom>
          <a:noFill/>
        </p:spPr>
        <p:txBody>
          <a:bodyPr wrap="square" rtlCol="0" anchor="t">
            <a:noAutofit/>
          </a:bodyPr>
          <a:p>
            <a:r>
              <a:rPr lang="zh-CN" altLang="en-US"/>
              <a:t>使用</a:t>
            </a:r>
            <a:r>
              <a:rPr lang="en-US" altLang="zh-CN"/>
              <a:t>spyglass -tcl spyglass.tcl &amp;</a:t>
            </a:r>
            <a:r>
              <a:rPr lang="zh-CN" altLang="en-US"/>
              <a:t>命令在后台启动</a:t>
            </a:r>
            <a:r>
              <a:rPr lang="en-US" altLang="zh-CN"/>
              <a:t>Spyglass</a:t>
            </a:r>
            <a:r>
              <a:rPr lang="zh-CN" altLang="en-US"/>
              <a:t>并自动运行</a:t>
            </a:r>
            <a:r>
              <a:rPr lang="en-US" altLang="zh-CN"/>
              <a:t>tcl</a:t>
            </a:r>
            <a:r>
              <a:rPr lang="zh-CN" altLang="en-US"/>
              <a:t>脚本读入脚本里设置的</a:t>
            </a:r>
            <a:r>
              <a:rPr lang="en-US" altLang="zh-CN"/>
              <a:t>RTL</a:t>
            </a:r>
            <a:r>
              <a:rPr lang="zh-CN" altLang="en-US"/>
              <a:t>代码和</a:t>
            </a:r>
            <a:r>
              <a:rPr lang="en-US" altLang="zh-CN"/>
              <a:t>UPF</a:t>
            </a:r>
            <a:r>
              <a:rPr lang="zh-CN" altLang="en-US"/>
              <a:t>文件</a:t>
            </a:r>
            <a:endParaRPr lang="en-US" altLang="zh-CN"/>
          </a:p>
          <a:p>
            <a:endParaRPr lang="zh-CN" altLang="en-US"/>
          </a:p>
        </p:txBody>
      </p:sp>
      <p:pic>
        <p:nvPicPr>
          <p:cNvPr id="11" name="图片 10"/>
          <p:cNvPicPr>
            <a:picLocks noChangeAspect="1"/>
          </p:cNvPicPr>
          <p:nvPr/>
        </p:nvPicPr>
        <p:blipFill>
          <a:blip r:embed="rId2"/>
          <a:stretch>
            <a:fillRect/>
          </a:stretch>
        </p:blipFill>
        <p:spPr>
          <a:xfrm>
            <a:off x="1797685" y="1581785"/>
            <a:ext cx="5241925" cy="2345055"/>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3" name="Text 0"/>
          <p:cNvSpPr/>
          <p:nvPr/>
        </p:nvSpPr>
        <p:spPr>
          <a:xfrm>
            <a:off x="556260" y="300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en-US" altLang="zh-CN" sz="1730" b="1" dirty="0">
              <a:latin typeface="微软雅黑" panose="020B0503020204020204" pitchFamily="34" charset="-122"/>
              <a:ea typeface="微软雅黑" panose="020B0503020204020204" pitchFamily="34" charset="-122"/>
              <a:sym typeface="+mn-ea"/>
            </a:endParaRPr>
          </a:p>
        </p:txBody>
      </p:sp>
      <p:sp>
        <p:nvSpPr>
          <p:cNvPr id="5" name="内容占位符 2"/>
          <p:cNvSpPr>
            <a:spLocks noGrp="1"/>
          </p:cNvSpPr>
          <p:nvPr/>
        </p:nvSpPr>
        <p:spPr>
          <a:xfrm>
            <a:off x="608330" y="794385"/>
            <a:ext cx="7957185" cy="377571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p>
        </p:txBody>
      </p:sp>
      <p:sp>
        <p:nvSpPr>
          <p:cNvPr id="6" name="Text 0"/>
          <p:cNvSpPr/>
          <p:nvPr/>
        </p:nvSpPr>
        <p:spPr>
          <a:xfrm>
            <a:off x="28448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使用</a:t>
            </a:r>
            <a:r>
              <a:rPr lang="en-US" altLang="zh-CN" sz="1730" b="1" dirty="0">
                <a:latin typeface="微软雅黑" panose="020B0503020204020204" pitchFamily="34" charset="-122"/>
                <a:ea typeface="微软雅黑" panose="020B0503020204020204" pitchFamily="34" charset="-122"/>
                <a:sym typeface="+mn-ea"/>
              </a:rPr>
              <a:t>Spyglass</a:t>
            </a:r>
            <a:r>
              <a:rPr lang="zh-CN" altLang="en-US" sz="1730" b="1" dirty="0">
                <a:latin typeface="微软雅黑" panose="020B0503020204020204" pitchFamily="34" charset="-122"/>
                <a:ea typeface="微软雅黑" panose="020B0503020204020204" pitchFamily="34" charset="-122"/>
                <a:sym typeface="+mn-ea"/>
              </a:rPr>
              <a:t>验证</a:t>
            </a:r>
            <a:endParaRPr lang="zh-CN" altLang="en-US" sz="1730" b="1" dirty="0">
              <a:latin typeface="微软雅黑" panose="020B0503020204020204" pitchFamily="34" charset="-122"/>
              <a:ea typeface="微软雅黑" panose="020B0503020204020204" pitchFamily="34" charset="-122"/>
              <a:sym typeface="+mn-ea"/>
            </a:endParaRPr>
          </a:p>
        </p:txBody>
      </p:sp>
      <p:pic>
        <p:nvPicPr>
          <p:cNvPr id="7" name="图片 6"/>
          <p:cNvPicPr>
            <a:picLocks noChangeAspect="1"/>
          </p:cNvPicPr>
          <p:nvPr/>
        </p:nvPicPr>
        <p:blipFill>
          <a:blip r:embed="rId2"/>
          <a:stretch>
            <a:fillRect/>
          </a:stretch>
        </p:blipFill>
        <p:spPr>
          <a:xfrm>
            <a:off x="1870710" y="721995"/>
            <a:ext cx="5977255" cy="3848100"/>
          </a:xfrm>
          <a:prstGeom prst="rect">
            <a:avLst/>
          </a:prstGeom>
        </p:spPr>
      </p:pic>
      <mc:AlternateContent xmlns:mc="http://schemas.openxmlformats.org/markup-compatibility/2006" xmlns:p14="http://schemas.microsoft.com/office/powerpoint/2010/main">
        <mc:Choice Requires="p14">
          <p:contentPart r:id="rId3" p14:bwMode="auto">
            <p14:nvContentPartPr>
              <p14:cNvPr id="8" name="墨迹 7"/>
              <p14:cNvContentPartPr/>
              <p14:nvPr/>
            </p14:nvContentPartPr>
            <p14:xfrm>
              <a:off x="6191250" y="914400"/>
              <a:ext cx="423545" cy="371475"/>
            </p14:xfrm>
          </p:contentPart>
        </mc:Choice>
        <mc:Fallback xmlns="">
          <p:pic>
            <p:nvPicPr>
              <p:cNvPr id="8" name="墨迹 7"/>
            </p:nvPicPr>
            <p:blipFill>
              <a:blip r:embed="rId4"/>
            </p:blipFill>
            <p:spPr>
              <a:xfrm>
                <a:off x="6191250" y="914400"/>
                <a:ext cx="423545" cy="371475"/>
              </a:xfrm>
              <a:prstGeom prst="rect"/>
            </p:spPr>
          </p:pic>
        </mc:Fallback>
      </mc:AlternateContent>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3" name="Text 0"/>
          <p:cNvSpPr/>
          <p:nvPr/>
        </p:nvSpPr>
        <p:spPr>
          <a:xfrm>
            <a:off x="556260" y="300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en-US" altLang="zh-CN" sz="1730" b="1" dirty="0">
              <a:latin typeface="微软雅黑" panose="020B0503020204020204" pitchFamily="34" charset="-122"/>
              <a:ea typeface="微软雅黑" panose="020B0503020204020204" pitchFamily="34" charset="-122"/>
              <a:sym typeface="+mn-ea"/>
            </a:endParaRPr>
          </a:p>
        </p:txBody>
      </p:sp>
      <p:sp>
        <p:nvSpPr>
          <p:cNvPr id="5" name="内容占位符 2"/>
          <p:cNvSpPr>
            <a:spLocks noGrp="1"/>
          </p:cNvSpPr>
          <p:nvPr/>
        </p:nvSpPr>
        <p:spPr>
          <a:xfrm>
            <a:off x="608330" y="794385"/>
            <a:ext cx="7957185" cy="377571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p>
        </p:txBody>
      </p:sp>
      <p:sp>
        <p:nvSpPr>
          <p:cNvPr id="6" name="Text 0"/>
          <p:cNvSpPr/>
          <p:nvPr/>
        </p:nvSpPr>
        <p:spPr>
          <a:xfrm>
            <a:off x="28448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使用</a:t>
            </a:r>
            <a:r>
              <a:rPr lang="en-US" altLang="zh-CN" sz="1730" b="1" dirty="0">
                <a:latin typeface="微软雅黑" panose="020B0503020204020204" pitchFamily="34" charset="-122"/>
                <a:ea typeface="微软雅黑" panose="020B0503020204020204" pitchFamily="34" charset="-122"/>
                <a:sym typeface="+mn-ea"/>
              </a:rPr>
              <a:t>Spyglass</a:t>
            </a:r>
            <a:r>
              <a:rPr lang="zh-CN" altLang="en-US" sz="1730" b="1" dirty="0">
                <a:latin typeface="微软雅黑" panose="020B0503020204020204" pitchFamily="34" charset="-122"/>
                <a:ea typeface="微软雅黑" panose="020B0503020204020204" pitchFamily="34" charset="-122"/>
                <a:sym typeface="+mn-ea"/>
              </a:rPr>
              <a:t>验证</a:t>
            </a:r>
            <a:endParaRPr lang="zh-CN" altLang="en-US" sz="1730" b="1" dirty="0">
              <a:latin typeface="微软雅黑" panose="020B0503020204020204" pitchFamily="34" charset="-122"/>
              <a:ea typeface="微软雅黑" panose="020B0503020204020204" pitchFamily="34" charset="-122"/>
              <a:sym typeface="+mn-ea"/>
            </a:endParaRPr>
          </a:p>
        </p:txBody>
      </p:sp>
      <p:pic>
        <p:nvPicPr>
          <p:cNvPr id="9" name="图片 8"/>
          <p:cNvPicPr>
            <a:picLocks noChangeAspect="1"/>
          </p:cNvPicPr>
          <p:nvPr/>
        </p:nvPicPr>
        <p:blipFill>
          <a:blip r:embed="rId2"/>
          <a:stretch>
            <a:fillRect/>
          </a:stretch>
        </p:blipFill>
        <p:spPr>
          <a:xfrm>
            <a:off x="2303145" y="659130"/>
            <a:ext cx="4822825" cy="404622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4" name="Text 0"/>
          <p:cNvSpPr/>
          <p:nvPr/>
        </p:nvSpPr>
        <p:spPr>
          <a:xfrm>
            <a:off x="3784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2" name="Text 0"/>
          <p:cNvSpPr/>
          <p:nvPr/>
        </p:nvSpPr>
        <p:spPr>
          <a:xfrm>
            <a:off x="42926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zh-CN" altLang="en-US" sz="1730" b="1" dirty="0">
              <a:latin typeface="微软雅黑" panose="020B0503020204020204" pitchFamily="34" charset="-122"/>
              <a:ea typeface="微软雅黑" panose="020B0503020204020204" pitchFamily="34" charset="-122"/>
              <a:sym typeface="+mn-ea"/>
            </a:endParaRPr>
          </a:p>
        </p:txBody>
      </p:sp>
      <p:sp>
        <p:nvSpPr>
          <p:cNvPr id="3" name="Text 0"/>
          <p:cNvSpPr/>
          <p:nvPr/>
        </p:nvSpPr>
        <p:spPr>
          <a:xfrm>
            <a:off x="556260" y="300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endParaRPr lang="en-US" altLang="zh-CN" sz="1730" b="1" dirty="0">
              <a:latin typeface="微软雅黑" panose="020B0503020204020204" pitchFamily="34" charset="-122"/>
              <a:ea typeface="微软雅黑" panose="020B0503020204020204" pitchFamily="34" charset="-122"/>
              <a:sym typeface="+mn-ea"/>
            </a:endParaRPr>
          </a:p>
        </p:txBody>
      </p:sp>
      <p:sp>
        <p:nvSpPr>
          <p:cNvPr id="5" name="内容占位符 2"/>
          <p:cNvSpPr>
            <a:spLocks noGrp="1"/>
          </p:cNvSpPr>
          <p:nvPr/>
        </p:nvSpPr>
        <p:spPr>
          <a:xfrm>
            <a:off x="608330" y="794385"/>
            <a:ext cx="7957185" cy="377571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p>
        </p:txBody>
      </p:sp>
      <p:sp>
        <p:nvSpPr>
          <p:cNvPr id="6" name="Text 0"/>
          <p:cNvSpPr/>
          <p:nvPr/>
        </p:nvSpPr>
        <p:spPr>
          <a:xfrm>
            <a:off x="284480" y="173990"/>
            <a:ext cx="8859520" cy="620395"/>
          </a:xfrm>
          <a:prstGeom prst="rect">
            <a:avLst/>
          </a:prstGeom>
          <a:noFill/>
        </p:spPr>
        <p:txBody>
          <a:bodyPr wrap="square" lIns="95250" tIns="95250" rIns="95250" bIns="95250" rtlCol="0" anchor="t">
            <a:noAutofit/>
          </a:bodyPr>
          <a:lstStyle/>
          <a:p>
            <a:pPr marL="0" indent="0">
              <a:lnSpc>
                <a:spcPct val="113000"/>
              </a:lnSpc>
              <a:spcBef>
                <a:spcPts val="375"/>
              </a:spcBef>
              <a:buNone/>
            </a:pPr>
            <a:r>
              <a:rPr lang="zh-CN" altLang="en-US" sz="1730" b="1" dirty="0">
                <a:latin typeface="微软雅黑" panose="020B0503020204020204" pitchFamily="34" charset="-122"/>
                <a:ea typeface="微软雅黑" panose="020B0503020204020204" pitchFamily="34" charset="-122"/>
                <a:sym typeface="+mn-ea"/>
              </a:rPr>
              <a:t>参考</a:t>
            </a:r>
            <a:r>
              <a:rPr lang="zh-CN" altLang="en-US" sz="1730" b="1" dirty="0">
                <a:latin typeface="微软雅黑" panose="020B0503020204020204" pitchFamily="34" charset="-122"/>
                <a:ea typeface="微软雅黑" panose="020B0503020204020204" pitchFamily="34" charset="-122"/>
                <a:sym typeface="+mn-ea"/>
              </a:rPr>
              <a:t>手册</a:t>
            </a:r>
            <a:endParaRPr lang="zh-CN" altLang="en-US" sz="1730" b="1" dirty="0">
              <a:latin typeface="微软雅黑" panose="020B0503020204020204" pitchFamily="34" charset="-122"/>
              <a:ea typeface="微软雅黑" panose="020B0503020204020204" pitchFamily="34" charset="-122"/>
              <a:sym typeface="+mn-ea"/>
            </a:endParaRPr>
          </a:p>
        </p:txBody>
      </p:sp>
      <p:pic>
        <p:nvPicPr>
          <p:cNvPr id="7" name="图片 6"/>
          <p:cNvPicPr>
            <a:picLocks noChangeAspect="1"/>
          </p:cNvPicPr>
          <p:nvPr/>
        </p:nvPicPr>
        <p:blipFill>
          <a:blip r:embed="rId2"/>
          <a:stretch>
            <a:fillRect/>
          </a:stretch>
        </p:blipFill>
        <p:spPr>
          <a:xfrm>
            <a:off x="486410" y="586740"/>
            <a:ext cx="3507105" cy="3983355"/>
          </a:xfrm>
          <a:prstGeom prst="rect">
            <a:avLst/>
          </a:prstGeom>
        </p:spPr>
      </p:pic>
      <p:pic>
        <p:nvPicPr>
          <p:cNvPr id="9" name="图片 8"/>
          <p:cNvPicPr>
            <a:picLocks noChangeAspect="1"/>
          </p:cNvPicPr>
          <p:nvPr/>
        </p:nvPicPr>
        <p:blipFill>
          <a:blip r:embed="rId3"/>
          <a:stretch>
            <a:fillRect/>
          </a:stretch>
        </p:blipFill>
        <p:spPr>
          <a:xfrm>
            <a:off x="4612005" y="1663065"/>
            <a:ext cx="4246245" cy="154305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107341" y="2054348"/>
            <a:ext cx="4832819" cy="1572768"/>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7200" b="1" dirty="0">
                <a:solidFill>
                  <a:srgbClr val="00070F">
                    <a:alpha val="10000"/>
                  </a:srgbClr>
                </a:solidFill>
                <a:latin typeface="Arial" panose="020B0604020202020204" pitchFamily="34" charset="0"/>
                <a:ea typeface="Arial" panose="020B0604020202020204" pitchFamily="34" charset="-122"/>
                <a:cs typeface="Arial" panose="020B0604020202020204" pitchFamily="34" charset="-120"/>
              </a:rPr>
              <a:t>THANKS</a:t>
            </a:r>
            <a:endParaRPr lang="en-US" sz="1440" dirty="0"/>
          </a:p>
        </p:txBody>
      </p:sp>
      <p:sp>
        <p:nvSpPr>
          <p:cNvPr id="3" name="Text 1"/>
          <p:cNvSpPr/>
          <p:nvPr/>
        </p:nvSpPr>
        <p:spPr>
          <a:xfrm>
            <a:off x="1367147" y="1680907"/>
            <a:ext cx="4313208" cy="1435608"/>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6480" b="1" dirty="0">
                <a:solidFill>
                  <a:srgbClr val="00070F"/>
                </a:solidFill>
                <a:latin typeface="微软雅黑" panose="020B0503020204020204" pitchFamily="34" charset="-122"/>
                <a:ea typeface="微软雅黑" panose="020B0503020204020204" pitchFamily="34" charset="-122"/>
                <a:cs typeface="微软雅黑" panose="020B0503020204020204" pitchFamily="34" charset="-120"/>
              </a:rPr>
              <a:t>感谢观看</a:t>
            </a:r>
            <a:endParaRPr lang="en-US" sz="1440" dirty="0"/>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12918</Words>
  <Application>WPS 演示</Application>
  <PresentationFormat>On-screen Show (16:9)</PresentationFormat>
  <Paragraphs>1155</Paragraphs>
  <Slides>76</Slides>
  <Notes>44</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76</vt:i4>
      </vt:variant>
    </vt:vector>
  </HeadingPairs>
  <TitlesOfParts>
    <vt:vector size="94" baseType="lpstr">
      <vt:lpstr>Arial</vt:lpstr>
      <vt:lpstr>宋体</vt:lpstr>
      <vt:lpstr>Wingdings</vt:lpstr>
      <vt:lpstr>微软雅黑</vt:lpstr>
      <vt:lpstr>微软雅黑</vt:lpstr>
      <vt:lpstr>Arial Unicode MS</vt:lpstr>
      <vt:lpstr>Calibri</vt:lpstr>
      <vt:lpstr>等线</vt:lpstr>
      <vt:lpstr>Arial</vt:lpstr>
      <vt:lpstr>Arial</vt:lpstr>
      <vt:lpstr>Calibri Light</vt:lpstr>
      <vt:lpstr>等线 Light</vt:lpstr>
      <vt:lpstr>Wingdings</vt:lpstr>
      <vt:lpstr>Calibri</vt:lpstr>
      <vt:lpstr>Wingdings</vt:lpstr>
      <vt:lpstr>Arial</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How to Specify Power Intent</vt:lpstr>
      <vt:lpstr>Sample MV Design Characteristics</vt:lpstr>
      <vt:lpstr>Defining Power Domain</vt:lpstr>
      <vt:lpstr>Power Supply Network (1/5)</vt:lpstr>
      <vt:lpstr>Power Supply Network (2/5)</vt:lpstr>
      <vt:lpstr>Power Supply Network (3/5)</vt:lpstr>
      <vt:lpstr>Power Supply Network (4/5)</vt:lpstr>
      <vt:lpstr>Power Supply Network (5/5)</vt:lpstr>
      <vt:lpstr>Defining Isolation Strategy (3/3)</vt:lpstr>
      <vt:lpstr>Defining Level Shifter Strategy (2/2)</vt:lpstr>
      <vt:lpstr>Defining Power Switch Strategy</vt:lpstr>
      <vt:lpstr>Define Retention Strategy (2/2)</vt:lpstr>
      <vt:lpstr>Power State Table</vt:lpstr>
      <vt:lpstr>Supply Set Level Power State</vt:lpstr>
      <vt:lpstr>System Level Power State</vt:lpstr>
      <vt:lpstr>Summary of the Example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仰望八度空间</cp:lastModifiedBy>
  <cp:revision>67</cp:revision>
  <dcterms:created xsi:type="dcterms:W3CDTF">2024-12-18T10:18:00Z</dcterms:created>
  <dcterms:modified xsi:type="dcterms:W3CDTF">2025-12-16T09:43:21Z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49A736FA480D4F01B97D34F8648572E8_13</vt:lpwstr>
  </property>
  <property fmtid="{D5CDD505-2E9C-101B-9397-08002B2CF9AE}" pid="3" name="KSOProductBuildVer">
    <vt:lpwstr>2052-12.1.0.23542</vt:lpwstr>
  </property>
</Properties>
</file>