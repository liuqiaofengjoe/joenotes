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6"/>
  </p:notesMasterIdLst>
  <p:handoutMasterIdLst>
    <p:handoutMasterId r:id="rId37"/>
  </p:handoutMasterIdLst>
  <p:sldIdLst>
    <p:sldId id="257" r:id="rId3"/>
    <p:sldId id="627" r:id="rId4"/>
    <p:sldId id="735" r:id="rId5"/>
    <p:sldId id="747" r:id="rId6"/>
    <p:sldId id="741" r:id="rId7"/>
    <p:sldId id="742" r:id="rId8"/>
    <p:sldId id="743" r:id="rId9"/>
    <p:sldId id="744" r:id="rId10"/>
    <p:sldId id="745" r:id="rId11"/>
    <p:sldId id="746" r:id="rId12"/>
    <p:sldId id="748" r:id="rId13"/>
    <p:sldId id="750" r:id="rId14"/>
    <p:sldId id="749" r:id="rId15"/>
    <p:sldId id="751" r:id="rId16"/>
    <p:sldId id="752" r:id="rId17"/>
    <p:sldId id="753" r:id="rId18"/>
    <p:sldId id="754" r:id="rId19"/>
    <p:sldId id="755" r:id="rId20"/>
    <p:sldId id="756" r:id="rId21"/>
    <p:sldId id="769" r:id="rId22"/>
    <p:sldId id="757" r:id="rId23"/>
    <p:sldId id="759" r:id="rId24"/>
    <p:sldId id="760" r:id="rId25"/>
    <p:sldId id="761" r:id="rId26"/>
    <p:sldId id="762" r:id="rId27"/>
    <p:sldId id="764" r:id="rId28"/>
    <p:sldId id="763" r:id="rId29"/>
    <p:sldId id="765" r:id="rId30"/>
    <p:sldId id="770" r:id="rId31"/>
    <p:sldId id="766" r:id="rId32"/>
    <p:sldId id="768" r:id="rId33"/>
    <p:sldId id="767" r:id="rId34"/>
    <p:sldId id="740" r:id="rId35"/>
  </p:sldIdLst>
  <p:sldSz cx="9144000" cy="6858000" type="screen4x3"/>
  <p:notesSz cx="6645275" cy="9777413"/>
  <p:custDataLst>
    <p:tags r:id="rId3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7">
          <p15:clr>
            <a:srgbClr val="A4A3A4"/>
          </p15:clr>
        </p15:guide>
        <p15:guide id="2" pos="280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-admin" initials="p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811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6"/>
    <p:restoredTop sz="96274" autoAdjust="0"/>
  </p:normalViewPr>
  <p:slideViewPr>
    <p:cSldViewPr showGuides="1">
      <p:cViewPr varScale="1">
        <p:scale>
          <a:sx n="153" d="100"/>
          <a:sy n="153" d="100"/>
        </p:scale>
        <p:origin x="2310" y="108"/>
      </p:cViewPr>
      <p:guideLst>
        <p:guide orient="horz" pos="2197"/>
        <p:guide pos="28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8D7B18-B09A-42DD-AC8B-D1B6057284F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E147D0-261A-461E-A872-EF036CB218C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BE4609-4092-497A-B4A8-88E41EBF9C0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89500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5163" y="4645025"/>
            <a:ext cx="5314950" cy="439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224AB-B769-4E34-8844-0C2F6B52D3C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5" name="图片 7" descr="hichip_logo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图片 10" descr="timg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698625"/>
            <a:ext cx="9144000" cy="432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D24E2D-0CF0-4806-A5A1-D78E5C2E62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9" name="图片 7" descr="hichip_logo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702310-F98B-41DF-BDEF-BA111847C7D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9" Type="http://schemas.openxmlformats.org/officeDocument/2006/relationships/slideLayout" Target="../slideLayouts/slideLayout13.xml"/><Relationship Id="rId21" Type="http://schemas.openxmlformats.org/officeDocument/2006/relationships/tags" Target="../tags/tag25.xml"/><Relationship Id="rId34" Type="http://schemas.openxmlformats.org/officeDocument/2006/relationships/tags" Target="../tags/tag38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tags" Target="../tags/tag37.xml"/><Relationship Id="rId38" Type="http://schemas.openxmlformats.org/officeDocument/2006/relationships/tags" Target="../tags/tag42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tags" Target="../tags/tag33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37" Type="http://schemas.openxmlformats.org/officeDocument/2006/relationships/tags" Target="../tags/tag41.xml"/><Relationship Id="rId40" Type="http://schemas.openxmlformats.org/officeDocument/2006/relationships/notesSlide" Target="../notesSlides/notesSlide1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36" Type="http://schemas.openxmlformats.org/officeDocument/2006/relationships/tags" Target="../tags/tag40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tags" Target="../tags/tag35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35" Type="http://schemas.openxmlformats.org/officeDocument/2006/relationships/tags" Target="../tags/tag39.xml"/><Relationship Id="rId8" Type="http://schemas.openxmlformats.org/officeDocument/2006/relationships/tags" Target="../tags/tag12.xml"/><Relationship Id="rId3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5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6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3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457201" y="1600201"/>
            <a:ext cx="8507288" cy="44210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sz="4800" dirty="0"/>
          </a:p>
          <a:p>
            <a:pPr algn="ctr" eaLnBrk="1" hangingPunct="1">
              <a:buNone/>
            </a:pP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</a:rPr>
              <a:t>STA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</a:rPr>
              <a:t>学习报告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		       	</a:t>
            </a:r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Tx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  <a:t>1</a:t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ubtitle 2"/>
          <p:cNvSpPr txBox="1"/>
          <p:nvPr>
            <p:custDataLst>
              <p:tags r:id="rId1"/>
            </p:custDataLst>
          </p:nvPr>
        </p:nvSpPr>
        <p:spPr>
          <a:xfrm>
            <a:off x="335915" y="3505823"/>
            <a:ext cx="6972389" cy="609843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zh-CN" sz="2800" b="1" spc="150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—clarl.zhao</a:t>
            </a:r>
            <a:endParaRPr lang="zh-CN" altLang="en-US" sz="2800" b="1" spc="15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占位符 5"/>
          <p:cNvSpPr txBox="1"/>
          <p:nvPr>
            <p:custDataLst>
              <p:tags r:id="rId2"/>
            </p:custDataLst>
          </p:nvPr>
        </p:nvSpPr>
        <p:spPr>
          <a:xfrm>
            <a:off x="2235200" y="4673283"/>
            <a:ext cx="1904752" cy="3619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altLang="zh-CN" sz="1800" spc="15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占位符 6"/>
          <p:cNvSpPr txBox="1"/>
          <p:nvPr>
            <p:custDataLst>
              <p:tags r:id="rId3"/>
            </p:custDataLst>
          </p:nvPr>
        </p:nvSpPr>
        <p:spPr>
          <a:xfrm>
            <a:off x="5508104" y="4668095"/>
            <a:ext cx="1781374" cy="3619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zh-CN" sz="1700" spc="150" noProof="1">
                <a:latin typeface="微软雅黑" panose="020B0503020204020204" charset="-122"/>
                <a:ea typeface="微软雅黑" panose="020B0503020204020204" charset="-122"/>
              </a:rPr>
              <a:t>2025-11-24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4583"/>
          </a:xfrm>
        </p:spPr>
        <p:txBody>
          <a:bodyPr/>
          <a:lstStyle/>
          <a:p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报告内容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肘形连接符 55"/>
          <p:cNvCxnSpPr/>
          <p:nvPr>
            <p:custDataLst>
              <p:tags r:id="rId1"/>
            </p:custDataLst>
          </p:nvPr>
        </p:nvCxnSpPr>
        <p:spPr>
          <a:xfrm rot="10800000" flipV="1">
            <a:off x="4714266" y="2307649"/>
            <a:ext cx="976290" cy="1302513"/>
          </a:xfrm>
          <a:prstGeom prst="bentConnector3">
            <a:avLst>
              <a:gd name="adj1" fmla="val 63219"/>
            </a:avLst>
          </a:prstGeom>
          <a:ln w="12700" cmpd="sng">
            <a:solidFill>
              <a:schemeClr val="accent1">
                <a:lumMod val="60000"/>
                <a:lumOff val="40000"/>
              </a:schemeClr>
            </a:solidFill>
            <a:prstDash val="dash"/>
            <a:headEnd type="oval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肘形连接符 56"/>
          <p:cNvCxnSpPr/>
          <p:nvPr>
            <p:custDataLst>
              <p:tags r:id="rId2"/>
            </p:custDataLst>
          </p:nvPr>
        </p:nvCxnSpPr>
        <p:spPr>
          <a:xfrm rot="10800000" flipV="1">
            <a:off x="4714266" y="3000866"/>
            <a:ext cx="976290" cy="1109548"/>
          </a:xfrm>
          <a:prstGeom prst="bentConnector3">
            <a:avLst>
              <a:gd name="adj1" fmla="val 56769"/>
            </a:avLst>
          </a:prstGeom>
          <a:ln w="12700" cmpd="sng">
            <a:solidFill>
              <a:schemeClr val="accent2">
                <a:lumMod val="60000"/>
                <a:lumOff val="40000"/>
              </a:schemeClr>
            </a:solidFill>
            <a:prstDash val="dash"/>
            <a:headEnd type="oval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肘形连接符 57"/>
          <p:cNvCxnSpPr/>
          <p:nvPr>
            <p:custDataLst>
              <p:tags r:id="rId3"/>
            </p:custDataLst>
          </p:nvPr>
        </p:nvCxnSpPr>
        <p:spPr>
          <a:xfrm rot="10800000" flipV="1">
            <a:off x="4714266" y="3708266"/>
            <a:ext cx="976290" cy="755779"/>
          </a:xfrm>
          <a:prstGeom prst="bentConnector3">
            <a:avLst>
              <a:gd name="adj1" fmla="val 49099"/>
            </a:avLst>
          </a:prstGeom>
          <a:ln w="12700" cmpd="sng">
            <a:solidFill>
              <a:schemeClr val="accent1">
                <a:lumMod val="60000"/>
                <a:lumOff val="40000"/>
              </a:schemeClr>
            </a:solidFill>
            <a:prstDash val="dash"/>
            <a:headEnd type="oval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7" name="矩形 86"/>
          <p:cNvSpPr/>
          <p:nvPr>
            <p:custDataLst>
              <p:tags r:id="rId4"/>
            </p:custDataLst>
          </p:nvPr>
        </p:nvSpPr>
        <p:spPr>
          <a:xfrm>
            <a:off x="5831243" y="2089813"/>
            <a:ext cx="2181404" cy="29895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/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1. introduction</a:t>
            </a:r>
          </a:p>
        </p:txBody>
      </p:sp>
      <p:sp>
        <p:nvSpPr>
          <p:cNvPr id="89" name="矩形 88"/>
          <p:cNvSpPr/>
          <p:nvPr>
            <p:custDataLst>
              <p:tags r:id="rId5"/>
            </p:custDataLst>
          </p:nvPr>
        </p:nvSpPr>
        <p:spPr>
          <a:xfrm>
            <a:off x="5830674" y="2827278"/>
            <a:ext cx="2303133" cy="29895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2. Concepts</a:t>
            </a:r>
          </a:p>
        </p:txBody>
      </p:sp>
      <p:sp>
        <p:nvSpPr>
          <p:cNvPr id="91" name="矩形 90"/>
          <p:cNvSpPr/>
          <p:nvPr>
            <p:custDataLst>
              <p:tags r:id="rId6"/>
            </p:custDataLst>
          </p:nvPr>
        </p:nvSpPr>
        <p:spPr>
          <a:xfrm>
            <a:off x="5830674" y="3527870"/>
            <a:ext cx="1933519" cy="29895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example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矩形 92"/>
          <p:cNvSpPr/>
          <p:nvPr>
            <p:custDataLst>
              <p:tags r:id="rId7"/>
            </p:custDataLst>
          </p:nvPr>
        </p:nvSpPr>
        <p:spPr>
          <a:xfrm>
            <a:off x="5830674" y="4228462"/>
            <a:ext cx="1832492" cy="29895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矩形 94"/>
          <p:cNvSpPr/>
          <p:nvPr>
            <p:custDataLst>
              <p:tags r:id="rId8"/>
            </p:custDataLst>
          </p:nvPr>
        </p:nvSpPr>
        <p:spPr>
          <a:xfrm>
            <a:off x="5831242" y="4929054"/>
            <a:ext cx="3958487" cy="29895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endParaRPr lang="zh-CN" altLang="en-US" sz="2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矩形 96"/>
          <p:cNvSpPr/>
          <p:nvPr>
            <p:custDataLst>
              <p:tags r:id="rId9"/>
            </p:custDataLst>
          </p:nvPr>
        </p:nvSpPr>
        <p:spPr>
          <a:xfrm>
            <a:off x="5830674" y="5629646"/>
            <a:ext cx="3958486" cy="29895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椭圆 98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670701" y="2287794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100" name="椭圆 9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5670701" y="2981012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101" name="椭圆 100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5670701" y="3688978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102" name="椭圆 10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5670701" y="4395243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103" name="椭圆 102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5670701" y="5065769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104" name="椭圆 10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5670701" y="5790186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10" name="等腰三角形 5"/>
          <p:cNvSpPr/>
          <p:nvPr>
            <p:custDataLst>
              <p:tags r:id="rId16"/>
            </p:custDataLst>
          </p:nvPr>
        </p:nvSpPr>
        <p:spPr>
          <a:xfrm>
            <a:off x="1054169" y="2388770"/>
            <a:ext cx="3894383" cy="2336630"/>
          </a:xfrm>
          <a:custGeom>
            <a:avLst/>
            <a:gdLst>
              <a:gd name="connsiteX0" fmla="*/ 0 w 6865"/>
              <a:gd name="connsiteY0" fmla="*/ 4119 h 4119"/>
              <a:gd name="connsiteX1" fmla="*/ 3528 w 6865"/>
              <a:gd name="connsiteY1" fmla="*/ 0 h 4119"/>
              <a:gd name="connsiteX2" fmla="*/ 6865 w 6865"/>
              <a:gd name="connsiteY2" fmla="*/ 2427 h 4119"/>
              <a:gd name="connsiteX3" fmla="*/ 0 w 6865"/>
              <a:gd name="connsiteY3" fmla="*/ 4119 h 4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5" h="4119">
                <a:moveTo>
                  <a:pt x="0" y="4119"/>
                </a:moveTo>
                <a:lnTo>
                  <a:pt x="3528" y="0"/>
                </a:lnTo>
                <a:lnTo>
                  <a:pt x="6865" y="2427"/>
                </a:lnTo>
                <a:lnTo>
                  <a:pt x="0" y="4119"/>
                </a:lnTo>
                <a:close/>
              </a:path>
            </a:pathLst>
          </a:custGeom>
          <a:gradFill>
            <a:gsLst>
              <a:gs pos="30000">
                <a:schemeClr val="accent1">
                  <a:lumMod val="80000"/>
                  <a:alpha val="100000"/>
                </a:schemeClr>
              </a:gs>
              <a:gs pos="100000">
                <a:schemeClr val="accent1">
                  <a:lumMod val="95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67" name="任意多边形 66"/>
          <p:cNvSpPr/>
          <p:nvPr>
            <p:custDataLst>
              <p:tags r:id="rId17"/>
            </p:custDataLst>
          </p:nvPr>
        </p:nvSpPr>
        <p:spPr>
          <a:xfrm>
            <a:off x="645727" y="2006990"/>
            <a:ext cx="2378609" cy="2719544"/>
          </a:xfrm>
          <a:custGeom>
            <a:avLst/>
            <a:gdLst>
              <a:gd name="connsiteX0" fmla="*/ 3952 w 4335"/>
              <a:gd name="connsiteY0" fmla="*/ 0 h 4956"/>
              <a:gd name="connsiteX1" fmla="*/ 4335 w 4335"/>
              <a:gd name="connsiteY1" fmla="*/ 784 h 4956"/>
              <a:gd name="connsiteX2" fmla="*/ 743 w 4335"/>
              <a:gd name="connsiteY2" fmla="*/ 4956 h 4956"/>
              <a:gd name="connsiteX3" fmla="*/ 0 w 4335"/>
              <a:gd name="connsiteY3" fmla="*/ 4671 h 4956"/>
              <a:gd name="connsiteX4" fmla="*/ 3952 w 4335"/>
              <a:gd name="connsiteY4" fmla="*/ 0 h 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5" h="4956">
                <a:moveTo>
                  <a:pt x="3952" y="0"/>
                </a:moveTo>
                <a:lnTo>
                  <a:pt x="4335" y="784"/>
                </a:lnTo>
                <a:lnTo>
                  <a:pt x="743" y="4956"/>
                </a:lnTo>
                <a:lnTo>
                  <a:pt x="0" y="4671"/>
                </a:lnTo>
                <a:lnTo>
                  <a:pt x="3952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lumOff val="50000"/>
                  <a:alpha val="100000"/>
                </a:schemeClr>
              </a:gs>
              <a:gs pos="70000">
                <a:schemeClr val="accent1">
                  <a:lumMod val="70000"/>
                  <a:lumOff val="30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92875" tIns="225210" rIns="0" bIns="19287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1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1">
                      <a:lumMod val="50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11" name="梯形 6"/>
          <p:cNvSpPr/>
          <p:nvPr>
            <p:custDataLst>
              <p:tags r:id="rId18"/>
            </p:custDataLst>
          </p:nvPr>
        </p:nvSpPr>
        <p:spPr>
          <a:xfrm rot="12600000">
            <a:off x="2514918" y="2656527"/>
            <a:ext cx="2728054" cy="462901"/>
          </a:xfrm>
          <a:custGeom>
            <a:avLst/>
            <a:gdLst>
              <a:gd name="connsiteX0" fmla="*/ 219 w 4972"/>
              <a:gd name="connsiteY0" fmla="*/ 438 h 843"/>
              <a:gd name="connsiteX1" fmla="*/ 0 w 4972"/>
              <a:gd name="connsiteY1" fmla="*/ 0 h 843"/>
              <a:gd name="connsiteX2" fmla="*/ 4239 w 4972"/>
              <a:gd name="connsiteY2" fmla="*/ 345 h 843"/>
              <a:gd name="connsiteX3" fmla="*/ 4972 w 4972"/>
              <a:gd name="connsiteY3" fmla="*/ 843 h 843"/>
              <a:gd name="connsiteX4" fmla="*/ 219 w 4972"/>
              <a:gd name="connsiteY4" fmla="*/ 438 h 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2" h="843">
                <a:moveTo>
                  <a:pt x="219" y="438"/>
                </a:moveTo>
                <a:lnTo>
                  <a:pt x="0" y="0"/>
                </a:lnTo>
                <a:lnTo>
                  <a:pt x="4239" y="345"/>
                </a:lnTo>
                <a:lnTo>
                  <a:pt x="4972" y="843"/>
                </a:lnTo>
                <a:lnTo>
                  <a:pt x="219" y="438"/>
                </a:lnTo>
                <a:close/>
              </a:path>
            </a:pathLst>
          </a:custGeom>
          <a:gradFill>
            <a:gsLst>
              <a:gs pos="25000">
                <a:schemeClr val="accent1">
                  <a:lumMod val="95000"/>
                  <a:lumOff val="5000"/>
                  <a:alpha val="100000"/>
                </a:schemeClr>
              </a:gs>
              <a:gs pos="90000">
                <a:schemeClr val="accent1">
                  <a:lumMod val="90000"/>
                  <a:lumOff val="10000"/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2" name="等腰三角形 5"/>
          <p:cNvSpPr/>
          <p:nvPr>
            <p:custDataLst>
              <p:tags r:id="rId19"/>
            </p:custDataLst>
          </p:nvPr>
        </p:nvSpPr>
        <p:spPr>
          <a:xfrm>
            <a:off x="1695197" y="3055325"/>
            <a:ext cx="3210810" cy="1891314"/>
          </a:xfrm>
          <a:custGeom>
            <a:avLst/>
            <a:gdLst>
              <a:gd name="connsiteX0" fmla="*/ 0 w 5660"/>
              <a:gd name="connsiteY0" fmla="*/ 3334 h 3334"/>
              <a:gd name="connsiteX1" fmla="*/ 2866 w 5660"/>
              <a:gd name="connsiteY1" fmla="*/ 0 h 3334"/>
              <a:gd name="connsiteX2" fmla="*/ 5660 w 5660"/>
              <a:gd name="connsiteY2" fmla="*/ 2043 h 3334"/>
              <a:gd name="connsiteX3" fmla="*/ 0 w 5660"/>
              <a:gd name="connsiteY3" fmla="*/ 3334 h 3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0" h="3334">
                <a:moveTo>
                  <a:pt x="0" y="3334"/>
                </a:moveTo>
                <a:lnTo>
                  <a:pt x="2866" y="0"/>
                </a:lnTo>
                <a:lnTo>
                  <a:pt x="5660" y="2043"/>
                </a:lnTo>
                <a:lnTo>
                  <a:pt x="0" y="3334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80000"/>
                  <a:alpha val="100000"/>
                </a:schemeClr>
              </a:gs>
              <a:gs pos="100000">
                <a:schemeClr val="accent2">
                  <a:lumMod val="95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3" name="任意多边形 12"/>
          <p:cNvSpPr/>
          <p:nvPr>
            <p:custDataLst>
              <p:tags r:id="rId20"/>
            </p:custDataLst>
          </p:nvPr>
        </p:nvSpPr>
        <p:spPr>
          <a:xfrm>
            <a:off x="1341214" y="2688295"/>
            <a:ext cx="1974137" cy="2260614"/>
          </a:xfrm>
          <a:custGeom>
            <a:avLst/>
            <a:gdLst>
              <a:gd name="connsiteX0" fmla="*/ 3273 w 3598"/>
              <a:gd name="connsiteY0" fmla="*/ 0 h 4119"/>
              <a:gd name="connsiteX1" fmla="*/ 3598 w 3598"/>
              <a:gd name="connsiteY1" fmla="*/ 680 h 4119"/>
              <a:gd name="connsiteX2" fmla="*/ 645 w 3598"/>
              <a:gd name="connsiteY2" fmla="*/ 4119 h 4119"/>
              <a:gd name="connsiteX3" fmla="*/ 0 w 3598"/>
              <a:gd name="connsiteY3" fmla="*/ 3879 h 4119"/>
              <a:gd name="connsiteX4" fmla="*/ 3273 w 3598"/>
              <a:gd name="connsiteY4" fmla="*/ 0 h 4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8" h="4119">
                <a:moveTo>
                  <a:pt x="3273" y="0"/>
                </a:moveTo>
                <a:lnTo>
                  <a:pt x="3598" y="680"/>
                </a:lnTo>
                <a:lnTo>
                  <a:pt x="645" y="4119"/>
                </a:lnTo>
                <a:lnTo>
                  <a:pt x="0" y="3879"/>
                </a:lnTo>
                <a:lnTo>
                  <a:pt x="3273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lumOff val="50000"/>
                  <a:alpha val="100000"/>
                </a:schemeClr>
              </a:gs>
              <a:gs pos="70000">
                <a:schemeClr val="accent2">
                  <a:lumMod val="70000"/>
                  <a:lumOff val="30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92875" tIns="225210" rIns="0" bIns="19287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1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2">
                      <a:lumMod val="50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14" name="梯形 6"/>
          <p:cNvSpPr/>
          <p:nvPr>
            <p:custDataLst>
              <p:tags r:id="rId21"/>
            </p:custDataLst>
          </p:nvPr>
        </p:nvSpPr>
        <p:spPr>
          <a:xfrm rot="12600000">
            <a:off x="2871170" y="3229481"/>
            <a:ext cx="2298622" cy="439075"/>
          </a:xfrm>
          <a:custGeom>
            <a:avLst/>
            <a:gdLst>
              <a:gd name="connsiteX0" fmla="*/ 190 w 4189"/>
              <a:gd name="connsiteY0" fmla="*/ 384 h 800"/>
              <a:gd name="connsiteX1" fmla="*/ 0 w 4189"/>
              <a:gd name="connsiteY1" fmla="*/ 0 h 800"/>
              <a:gd name="connsiteX2" fmla="*/ 3554 w 4189"/>
              <a:gd name="connsiteY2" fmla="*/ 367 h 800"/>
              <a:gd name="connsiteX3" fmla="*/ 4189 w 4189"/>
              <a:gd name="connsiteY3" fmla="*/ 800 h 800"/>
              <a:gd name="connsiteX4" fmla="*/ 190 w 4189"/>
              <a:gd name="connsiteY4" fmla="*/ 384 h 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9" h="800">
                <a:moveTo>
                  <a:pt x="190" y="384"/>
                </a:moveTo>
                <a:lnTo>
                  <a:pt x="0" y="0"/>
                </a:lnTo>
                <a:lnTo>
                  <a:pt x="3554" y="367"/>
                </a:lnTo>
                <a:lnTo>
                  <a:pt x="4189" y="800"/>
                </a:lnTo>
                <a:lnTo>
                  <a:pt x="190" y="384"/>
                </a:lnTo>
                <a:close/>
              </a:path>
            </a:pathLst>
          </a:custGeom>
          <a:gradFill>
            <a:gsLst>
              <a:gs pos="25000">
                <a:schemeClr val="accent2">
                  <a:lumMod val="95000"/>
                  <a:lumOff val="5000"/>
                  <a:alpha val="100000"/>
                </a:schemeClr>
              </a:gs>
              <a:gs pos="90000">
                <a:schemeClr val="accent2">
                  <a:lumMod val="90000"/>
                  <a:lumOff val="10000"/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5" name="梯形 6"/>
          <p:cNvSpPr/>
          <p:nvPr>
            <p:custDataLst>
              <p:tags r:id="rId22"/>
            </p:custDataLst>
          </p:nvPr>
        </p:nvSpPr>
        <p:spPr>
          <a:xfrm rot="12600000">
            <a:off x="3220615" y="3745139"/>
            <a:ext cx="1882805" cy="382915"/>
          </a:xfrm>
          <a:custGeom>
            <a:avLst/>
            <a:gdLst>
              <a:gd name="connsiteX0" fmla="*/ 181 w 3787"/>
              <a:gd name="connsiteY0" fmla="*/ 386 h 770"/>
              <a:gd name="connsiteX1" fmla="*/ 0 w 3787"/>
              <a:gd name="connsiteY1" fmla="*/ 0 h 770"/>
              <a:gd name="connsiteX2" fmla="*/ 3115 w 3787"/>
              <a:gd name="connsiteY2" fmla="*/ 291 h 770"/>
              <a:gd name="connsiteX3" fmla="*/ 3787 w 3787"/>
              <a:gd name="connsiteY3" fmla="*/ 770 h 770"/>
              <a:gd name="connsiteX4" fmla="*/ 181 w 3787"/>
              <a:gd name="connsiteY4" fmla="*/ 386 h 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" h="770">
                <a:moveTo>
                  <a:pt x="181" y="386"/>
                </a:moveTo>
                <a:lnTo>
                  <a:pt x="0" y="0"/>
                </a:lnTo>
                <a:lnTo>
                  <a:pt x="3115" y="291"/>
                </a:lnTo>
                <a:lnTo>
                  <a:pt x="3787" y="770"/>
                </a:lnTo>
                <a:lnTo>
                  <a:pt x="181" y="386"/>
                </a:lnTo>
                <a:close/>
              </a:path>
            </a:pathLst>
          </a:custGeom>
          <a:gradFill>
            <a:gsLst>
              <a:gs pos="25000">
                <a:schemeClr val="accent1">
                  <a:lumMod val="95000"/>
                  <a:lumOff val="5000"/>
                  <a:alpha val="100000"/>
                </a:schemeClr>
              </a:gs>
              <a:gs pos="90000">
                <a:schemeClr val="accent1">
                  <a:lumMod val="90000"/>
                  <a:lumOff val="10000"/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6" name="等腰三角形 5"/>
          <p:cNvSpPr/>
          <p:nvPr>
            <p:custDataLst>
              <p:tags r:id="rId23"/>
            </p:custDataLst>
          </p:nvPr>
        </p:nvSpPr>
        <p:spPr>
          <a:xfrm>
            <a:off x="2324879" y="3669691"/>
            <a:ext cx="2557302" cy="1514073"/>
          </a:xfrm>
          <a:custGeom>
            <a:avLst/>
            <a:gdLst>
              <a:gd name="connsiteX0" fmla="*/ 0 w 5143"/>
              <a:gd name="connsiteY0" fmla="*/ 3044 h 3044"/>
              <a:gd name="connsiteX1" fmla="*/ 2589 w 5143"/>
              <a:gd name="connsiteY1" fmla="*/ 0 h 3044"/>
              <a:gd name="connsiteX2" fmla="*/ 5143 w 5143"/>
              <a:gd name="connsiteY2" fmla="*/ 1815 h 3044"/>
              <a:gd name="connsiteX3" fmla="*/ 0 w 5143"/>
              <a:gd name="connsiteY3" fmla="*/ 3044 h 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" h="3044">
                <a:moveTo>
                  <a:pt x="0" y="3044"/>
                </a:moveTo>
                <a:lnTo>
                  <a:pt x="2589" y="0"/>
                </a:lnTo>
                <a:lnTo>
                  <a:pt x="5143" y="1815"/>
                </a:lnTo>
                <a:lnTo>
                  <a:pt x="0" y="3044"/>
                </a:lnTo>
                <a:close/>
              </a:path>
            </a:pathLst>
          </a:custGeom>
          <a:gradFill>
            <a:gsLst>
              <a:gs pos="30000">
                <a:schemeClr val="accent1">
                  <a:lumMod val="80000"/>
                  <a:alpha val="100000"/>
                </a:schemeClr>
              </a:gs>
              <a:gs pos="100000">
                <a:schemeClr val="accent1">
                  <a:lumMod val="95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7" name="任意多边形 16"/>
          <p:cNvSpPr/>
          <p:nvPr>
            <p:custDataLst>
              <p:tags r:id="rId24"/>
            </p:custDataLst>
          </p:nvPr>
        </p:nvSpPr>
        <p:spPr>
          <a:xfrm>
            <a:off x="1974299" y="3299823"/>
            <a:ext cx="1640576" cy="1883372"/>
          </a:xfrm>
          <a:custGeom>
            <a:avLst/>
            <a:gdLst>
              <a:gd name="connsiteX0" fmla="*/ 2956 w 3299"/>
              <a:gd name="connsiteY0" fmla="*/ 0 h 3787"/>
              <a:gd name="connsiteX1" fmla="*/ 3299 w 3299"/>
              <a:gd name="connsiteY1" fmla="*/ 738 h 3787"/>
              <a:gd name="connsiteX2" fmla="*/ 705 w 3299"/>
              <a:gd name="connsiteY2" fmla="*/ 3787 h 3787"/>
              <a:gd name="connsiteX3" fmla="*/ 0 w 3299"/>
              <a:gd name="connsiteY3" fmla="*/ 3533 h 3787"/>
              <a:gd name="connsiteX4" fmla="*/ 2956 w 3299"/>
              <a:gd name="connsiteY4" fmla="*/ 0 h 3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" h="3787">
                <a:moveTo>
                  <a:pt x="2956" y="0"/>
                </a:moveTo>
                <a:lnTo>
                  <a:pt x="3299" y="738"/>
                </a:lnTo>
                <a:lnTo>
                  <a:pt x="705" y="3787"/>
                </a:lnTo>
                <a:lnTo>
                  <a:pt x="0" y="3533"/>
                </a:lnTo>
                <a:lnTo>
                  <a:pt x="2956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lumOff val="50000"/>
                  <a:alpha val="100000"/>
                </a:schemeClr>
              </a:gs>
              <a:gs pos="70000">
                <a:schemeClr val="accent1">
                  <a:lumMod val="70000"/>
                  <a:lumOff val="30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92875" tIns="225210" rIns="0" bIns="19287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1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1">
                      <a:lumMod val="50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18" name="等腰三角形 5"/>
          <p:cNvSpPr/>
          <p:nvPr>
            <p:custDataLst>
              <p:tags r:id="rId25"/>
            </p:custDataLst>
          </p:nvPr>
        </p:nvSpPr>
        <p:spPr>
          <a:xfrm>
            <a:off x="2934138" y="4251721"/>
            <a:ext cx="1916275" cy="1161224"/>
          </a:xfrm>
          <a:custGeom>
            <a:avLst/>
            <a:gdLst>
              <a:gd name="connsiteX0" fmla="*/ 0 w 4447"/>
              <a:gd name="connsiteY0" fmla="*/ 2694 h 2694"/>
              <a:gd name="connsiteX1" fmla="*/ 2245 w 4447"/>
              <a:gd name="connsiteY1" fmla="*/ 0 h 2694"/>
              <a:gd name="connsiteX2" fmla="*/ 4447 w 4447"/>
              <a:gd name="connsiteY2" fmla="*/ 1649 h 2694"/>
              <a:gd name="connsiteX3" fmla="*/ 0 w 4447"/>
              <a:gd name="connsiteY3" fmla="*/ 2694 h 2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7" h="2694">
                <a:moveTo>
                  <a:pt x="0" y="2694"/>
                </a:moveTo>
                <a:lnTo>
                  <a:pt x="2245" y="0"/>
                </a:lnTo>
                <a:lnTo>
                  <a:pt x="4447" y="1649"/>
                </a:lnTo>
                <a:lnTo>
                  <a:pt x="0" y="2694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80000"/>
                  <a:alpha val="100000"/>
                </a:schemeClr>
              </a:gs>
              <a:gs pos="100000">
                <a:schemeClr val="accent2">
                  <a:lumMod val="95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9" name="梯形 6"/>
          <p:cNvSpPr/>
          <p:nvPr>
            <p:custDataLst>
              <p:tags r:id="rId26"/>
            </p:custDataLst>
          </p:nvPr>
        </p:nvSpPr>
        <p:spPr>
          <a:xfrm rot="12600000">
            <a:off x="3564387" y="4282354"/>
            <a:ext cx="1465286" cy="335830"/>
          </a:xfrm>
          <a:custGeom>
            <a:avLst/>
            <a:gdLst>
              <a:gd name="connsiteX0" fmla="*/ 188 w 3400"/>
              <a:gd name="connsiteY0" fmla="*/ 411 h 779"/>
              <a:gd name="connsiteX1" fmla="*/ 0 w 3400"/>
              <a:gd name="connsiteY1" fmla="*/ 0 h 779"/>
              <a:gd name="connsiteX2" fmla="*/ 2726 w 3400"/>
              <a:gd name="connsiteY2" fmla="*/ 316 h 779"/>
              <a:gd name="connsiteX3" fmla="*/ 3400 w 3400"/>
              <a:gd name="connsiteY3" fmla="*/ 779 h 779"/>
              <a:gd name="connsiteX4" fmla="*/ 188 w 3400"/>
              <a:gd name="connsiteY4" fmla="*/ 411 h 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0" h="779">
                <a:moveTo>
                  <a:pt x="188" y="411"/>
                </a:moveTo>
                <a:lnTo>
                  <a:pt x="0" y="0"/>
                </a:lnTo>
                <a:lnTo>
                  <a:pt x="2726" y="316"/>
                </a:lnTo>
                <a:lnTo>
                  <a:pt x="3400" y="779"/>
                </a:lnTo>
                <a:lnTo>
                  <a:pt x="188" y="411"/>
                </a:lnTo>
                <a:close/>
              </a:path>
            </a:pathLst>
          </a:custGeom>
          <a:gradFill>
            <a:gsLst>
              <a:gs pos="25000">
                <a:schemeClr val="accent2">
                  <a:lumMod val="95000"/>
                  <a:lumOff val="5000"/>
                  <a:alpha val="100000"/>
                </a:schemeClr>
              </a:gs>
              <a:gs pos="90000">
                <a:schemeClr val="accent2">
                  <a:lumMod val="90000"/>
                  <a:lumOff val="10000"/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0" name="等腰三角形 5"/>
          <p:cNvSpPr/>
          <p:nvPr>
            <p:custDataLst>
              <p:tags r:id="rId27"/>
            </p:custDataLst>
          </p:nvPr>
        </p:nvSpPr>
        <p:spPr>
          <a:xfrm>
            <a:off x="3568925" y="4889912"/>
            <a:ext cx="1246316" cy="749945"/>
          </a:xfrm>
          <a:custGeom>
            <a:avLst/>
            <a:gdLst>
              <a:gd name="connsiteX0" fmla="*/ 0 w 3012"/>
              <a:gd name="connsiteY0" fmla="*/ 1816 h 1816"/>
              <a:gd name="connsiteX1" fmla="*/ 1511 w 3012"/>
              <a:gd name="connsiteY1" fmla="*/ 0 h 1816"/>
              <a:gd name="connsiteX2" fmla="*/ 3012 w 3012"/>
              <a:gd name="connsiteY2" fmla="*/ 1102 h 1816"/>
              <a:gd name="connsiteX3" fmla="*/ 0 w 3012"/>
              <a:gd name="connsiteY3" fmla="*/ 1816 h 1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2" h="1816">
                <a:moveTo>
                  <a:pt x="0" y="1816"/>
                </a:moveTo>
                <a:lnTo>
                  <a:pt x="1511" y="0"/>
                </a:lnTo>
                <a:lnTo>
                  <a:pt x="3012" y="1102"/>
                </a:lnTo>
                <a:lnTo>
                  <a:pt x="0" y="1816"/>
                </a:lnTo>
                <a:close/>
              </a:path>
            </a:pathLst>
          </a:custGeom>
          <a:gradFill>
            <a:gsLst>
              <a:gs pos="30000">
                <a:schemeClr val="accent1">
                  <a:lumMod val="80000"/>
                  <a:alpha val="100000"/>
                </a:schemeClr>
              </a:gs>
              <a:gs pos="100000">
                <a:schemeClr val="accent1">
                  <a:lumMod val="95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1" name="梯形 6"/>
          <p:cNvSpPr/>
          <p:nvPr>
            <p:custDataLst>
              <p:tags r:id="rId28"/>
            </p:custDataLst>
          </p:nvPr>
        </p:nvSpPr>
        <p:spPr>
          <a:xfrm rot="12600000">
            <a:off x="3892276" y="4805954"/>
            <a:ext cx="1069324" cy="293851"/>
          </a:xfrm>
          <a:custGeom>
            <a:avLst/>
            <a:gdLst>
              <a:gd name="connsiteX0" fmla="*/ 206 w 2584"/>
              <a:gd name="connsiteY0" fmla="*/ 443 h 711"/>
              <a:gd name="connsiteX1" fmla="*/ 0 w 2584"/>
              <a:gd name="connsiteY1" fmla="*/ 0 h 711"/>
              <a:gd name="connsiteX2" fmla="*/ 1855 w 2584"/>
              <a:gd name="connsiteY2" fmla="*/ 202 h 711"/>
              <a:gd name="connsiteX3" fmla="*/ 2584 w 2584"/>
              <a:gd name="connsiteY3" fmla="*/ 711 h 711"/>
              <a:gd name="connsiteX4" fmla="*/ 206 w 2584"/>
              <a:gd name="connsiteY4" fmla="*/ 443 h 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" h="711">
                <a:moveTo>
                  <a:pt x="206" y="443"/>
                </a:moveTo>
                <a:lnTo>
                  <a:pt x="0" y="0"/>
                </a:lnTo>
                <a:lnTo>
                  <a:pt x="1855" y="202"/>
                </a:lnTo>
                <a:lnTo>
                  <a:pt x="2584" y="711"/>
                </a:lnTo>
                <a:lnTo>
                  <a:pt x="206" y="443"/>
                </a:lnTo>
                <a:close/>
              </a:path>
            </a:pathLst>
          </a:custGeom>
          <a:gradFill>
            <a:gsLst>
              <a:gs pos="25000">
                <a:schemeClr val="accent1">
                  <a:lumMod val="95000"/>
                  <a:lumOff val="5000"/>
                  <a:alpha val="100000"/>
                </a:schemeClr>
              </a:gs>
              <a:gs pos="90000">
                <a:schemeClr val="accent1">
                  <a:lumMod val="90000"/>
                  <a:lumOff val="10000"/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2" name="等腰三角形 3"/>
          <p:cNvSpPr/>
          <p:nvPr>
            <p:custDataLst>
              <p:tags r:id="rId29"/>
            </p:custDataLst>
          </p:nvPr>
        </p:nvSpPr>
        <p:spPr>
          <a:xfrm rot="7800000">
            <a:off x="4330784" y="5158803"/>
            <a:ext cx="445883" cy="892900"/>
          </a:xfrm>
          <a:custGeom>
            <a:avLst/>
            <a:gdLst>
              <a:gd name="connsiteX0" fmla="*/ 0 w 1055958"/>
              <a:gd name="connsiteY0" fmla="*/ 2628900 h 2628900"/>
              <a:gd name="connsiteX1" fmla="*/ 527979 w 1055958"/>
              <a:gd name="connsiteY1" fmla="*/ 0 h 2628900"/>
              <a:gd name="connsiteX2" fmla="*/ 1055958 w 1055958"/>
              <a:gd name="connsiteY2" fmla="*/ 2628900 h 2628900"/>
              <a:gd name="connsiteX3" fmla="*/ 0 w 1055958"/>
              <a:gd name="connsiteY3" fmla="*/ 2628900 h 2628900"/>
              <a:gd name="connsiteX0-1" fmla="*/ 0 w 1055958"/>
              <a:gd name="connsiteY0-2" fmla="*/ 1257719 h 1257719"/>
              <a:gd name="connsiteX1-3" fmla="*/ 590560 w 1055958"/>
              <a:gd name="connsiteY1-4" fmla="*/ 0 h 1257719"/>
              <a:gd name="connsiteX2-5" fmla="*/ 1055958 w 1055958"/>
              <a:gd name="connsiteY2-6" fmla="*/ 1257719 h 1257719"/>
              <a:gd name="connsiteX3-7" fmla="*/ 0 w 1055958"/>
              <a:gd name="connsiteY3-8" fmla="*/ 1257719 h 1257719"/>
              <a:gd name="connsiteX0-9" fmla="*/ 0 w 1055958"/>
              <a:gd name="connsiteY0-10" fmla="*/ 1267490 h 1267490"/>
              <a:gd name="connsiteX1-11" fmla="*/ 594795 w 1055958"/>
              <a:gd name="connsiteY1-12" fmla="*/ 0 h 1267490"/>
              <a:gd name="connsiteX2-13" fmla="*/ 1055958 w 1055958"/>
              <a:gd name="connsiteY2-14" fmla="*/ 1267490 h 1267490"/>
              <a:gd name="connsiteX3-15" fmla="*/ 0 w 1055958"/>
              <a:gd name="connsiteY3-16" fmla="*/ 1267490 h 1267490"/>
              <a:gd name="connsiteX0-17" fmla="*/ 0 w 1055958"/>
              <a:gd name="connsiteY0-18" fmla="*/ 1278435 h 1278435"/>
              <a:gd name="connsiteX1-19" fmla="*/ 585611 w 1055958"/>
              <a:gd name="connsiteY1-20" fmla="*/ 0 h 1278435"/>
              <a:gd name="connsiteX2-21" fmla="*/ 1055958 w 1055958"/>
              <a:gd name="connsiteY2-22" fmla="*/ 1278435 h 1278435"/>
              <a:gd name="connsiteX3-23" fmla="*/ 0 w 1055958"/>
              <a:gd name="connsiteY3-24" fmla="*/ 1278435 h 1278435"/>
              <a:gd name="connsiteX0-25" fmla="*/ 421317 w 470347"/>
              <a:gd name="connsiteY0-26" fmla="*/ 433522 h 1278435"/>
              <a:gd name="connsiteX1-27" fmla="*/ 0 w 470347"/>
              <a:gd name="connsiteY1-28" fmla="*/ 0 h 1278435"/>
              <a:gd name="connsiteX2-29" fmla="*/ 470347 w 470347"/>
              <a:gd name="connsiteY2-30" fmla="*/ 1278435 h 1278435"/>
              <a:gd name="connsiteX3-31" fmla="*/ 421317 w 470347"/>
              <a:gd name="connsiteY3-32" fmla="*/ 433522 h 1278435"/>
              <a:gd name="connsiteX0-33" fmla="*/ 0 w 626883"/>
              <a:gd name="connsiteY0-34" fmla="*/ 436469 h 1281382"/>
              <a:gd name="connsiteX1-35" fmla="*/ 626883 w 626883"/>
              <a:gd name="connsiteY1-36" fmla="*/ 0 h 1281382"/>
              <a:gd name="connsiteX2-37" fmla="*/ 49030 w 626883"/>
              <a:gd name="connsiteY2-38" fmla="*/ 1281382 h 1281382"/>
              <a:gd name="connsiteX3-39" fmla="*/ 0 w 626883"/>
              <a:gd name="connsiteY3-40" fmla="*/ 436469 h 1281382"/>
              <a:gd name="connsiteX0-41" fmla="*/ 0 w 635969"/>
              <a:gd name="connsiteY0-42" fmla="*/ 435673 h 1280586"/>
              <a:gd name="connsiteX1-43" fmla="*/ 635969 w 635969"/>
              <a:gd name="connsiteY1-44" fmla="*/ 0 h 1280586"/>
              <a:gd name="connsiteX2-45" fmla="*/ 49030 w 635969"/>
              <a:gd name="connsiteY2-46" fmla="*/ 1280586 h 1280586"/>
              <a:gd name="connsiteX3-47" fmla="*/ 0 w 635969"/>
              <a:gd name="connsiteY3-48" fmla="*/ 435673 h 1280586"/>
              <a:gd name="connsiteX0-49" fmla="*/ 0 w 629268"/>
              <a:gd name="connsiteY0-50" fmla="*/ 463723 h 1280586"/>
              <a:gd name="connsiteX1-51" fmla="*/ 629268 w 629268"/>
              <a:gd name="connsiteY1-52" fmla="*/ 0 h 1280586"/>
              <a:gd name="connsiteX2-53" fmla="*/ 42329 w 629268"/>
              <a:gd name="connsiteY2-54" fmla="*/ 1280586 h 1280586"/>
              <a:gd name="connsiteX3-55" fmla="*/ 0 w 629268"/>
              <a:gd name="connsiteY3-56" fmla="*/ 463723 h 1280586"/>
              <a:gd name="connsiteX0-57" fmla="*/ 0 w 619445"/>
              <a:gd name="connsiteY0-58" fmla="*/ 438644 h 1255507"/>
              <a:gd name="connsiteX1-59" fmla="*/ 619445 w 619445"/>
              <a:gd name="connsiteY1-60" fmla="*/ 0 h 1255507"/>
              <a:gd name="connsiteX2-61" fmla="*/ 42329 w 619445"/>
              <a:gd name="connsiteY2-62" fmla="*/ 1255507 h 1255507"/>
              <a:gd name="connsiteX3-63" fmla="*/ 0 w 619445"/>
              <a:gd name="connsiteY3-64" fmla="*/ 438644 h 1255507"/>
              <a:gd name="connsiteX0-65" fmla="*/ 0 w 630442"/>
              <a:gd name="connsiteY0-66" fmla="*/ 442259 h 1255507"/>
              <a:gd name="connsiteX1-67" fmla="*/ 630442 w 630442"/>
              <a:gd name="connsiteY1-68" fmla="*/ 0 h 1255507"/>
              <a:gd name="connsiteX2-69" fmla="*/ 53326 w 630442"/>
              <a:gd name="connsiteY2-70" fmla="*/ 1255507 h 1255507"/>
              <a:gd name="connsiteX3-71" fmla="*/ 0 w 630442"/>
              <a:gd name="connsiteY3-72" fmla="*/ 442259 h 1255507"/>
              <a:gd name="connsiteX0-73" fmla="*/ 0 w 632618"/>
              <a:gd name="connsiteY0-74" fmla="*/ 449697 h 1262945"/>
              <a:gd name="connsiteX1-75" fmla="*/ 632618 w 632618"/>
              <a:gd name="connsiteY1-76" fmla="*/ 0 h 1262945"/>
              <a:gd name="connsiteX2-77" fmla="*/ 53326 w 632618"/>
              <a:gd name="connsiteY2-78" fmla="*/ 1262945 h 1262945"/>
              <a:gd name="connsiteX3-79" fmla="*/ 0 w 632618"/>
              <a:gd name="connsiteY3-80" fmla="*/ 449697 h 12629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32618" h="1262945">
                <a:moveTo>
                  <a:pt x="0" y="449697"/>
                </a:moveTo>
                <a:lnTo>
                  <a:pt x="632618" y="0"/>
                </a:lnTo>
                <a:lnTo>
                  <a:pt x="53326" y="1262945"/>
                </a:lnTo>
                <a:lnTo>
                  <a:pt x="0" y="449697"/>
                </a:lnTo>
                <a:close/>
              </a:path>
            </a:pathLst>
          </a:custGeom>
          <a:gradFill>
            <a:gsLst>
              <a:gs pos="25000">
                <a:schemeClr val="accent2">
                  <a:lumMod val="95000"/>
                  <a:lumOff val="5000"/>
                  <a:alpha val="100000"/>
                </a:schemeClr>
              </a:gs>
              <a:gs pos="90000">
                <a:schemeClr val="accent2">
                  <a:lumMod val="90000"/>
                  <a:lumOff val="10000"/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1688" tIns="40844" rIns="289313" bIns="35398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10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3" name="任意多边形 22"/>
          <p:cNvSpPr/>
          <p:nvPr>
            <p:custDataLst>
              <p:tags r:id="rId30"/>
            </p:custDataLst>
          </p:nvPr>
        </p:nvSpPr>
        <p:spPr>
          <a:xfrm>
            <a:off x="2615326" y="3939149"/>
            <a:ext cx="1284324" cy="1474930"/>
          </a:xfrm>
          <a:custGeom>
            <a:avLst/>
            <a:gdLst>
              <a:gd name="connsiteX0" fmla="*/ 2627 w 2980"/>
              <a:gd name="connsiteY0" fmla="*/ 0 h 3422"/>
              <a:gd name="connsiteX1" fmla="*/ 2980 w 2980"/>
              <a:gd name="connsiteY1" fmla="*/ 740 h 3422"/>
              <a:gd name="connsiteX2" fmla="*/ 751 w 2980"/>
              <a:gd name="connsiteY2" fmla="*/ 3422 h 3422"/>
              <a:gd name="connsiteX3" fmla="*/ 0 w 2980"/>
              <a:gd name="connsiteY3" fmla="*/ 3159 h 3422"/>
              <a:gd name="connsiteX4" fmla="*/ 2627 w 2980"/>
              <a:gd name="connsiteY4" fmla="*/ 0 h 3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" h="3422">
                <a:moveTo>
                  <a:pt x="2627" y="0"/>
                </a:moveTo>
                <a:lnTo>
                  <a:pt x="2980" y="740"/>
                </a:lnTo>
                <a:lnTo>
                  <a:pt x="751" y="3422"/>
                </a:lnTo>
                <a:lnTo>
                  <a:pt x="0" y="3159"/>
                </a:lnTo>
                <a:lnTo>
                  <a:pt x="2627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lumOff val="50000"/>
                  <a:alpha val="100000"/>
                </a:schemeClr>
              </a:gs>
              <a:gs pos="70000">
                <a:schemeClr val="accent2">
                  <a:lumMod val="70000"/>
                  <a:lumOff val="30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92875" tIns="225210" rIns="0" bIns="19287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1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2">
                      <a:lumMod val="50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04</a:t>
            </a:r>
          </a:p>
        </p:txBody>
      </p:sp>
      <p:sp>
        <p:nvSpPr>
          <p:cNvPr id="24" name="任意多边形 23"/>
          <p:cNvSpPr/>
          <p:nvPr>
            <p:custDataLst>
              <p:tags r:id="rId31"/>
            </p:custDataLst>
          </p:nvPr>
        </p:nvSpPr>
        <p:spPr>
          <a:xfrm>
            <a:off x="3254085" y="4558052"/>
            <a:ext cx="941686" cy="108010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3" h="2615">
                <a:moveTo>
                  <a:pt x="1896" y="0"/>
                </a:moveTo>
                <a:lnTo>
                  <a:pt x="2273" y="803"/>
                </a:lnTo>
                <a:lnTo>
                  <a:pt x="762" y="2615"/>
                </a:lnTo>
                <a:lnTo>
                  <a:pt x="0" y="2338"/>
                </a:lnTo>
                <a:lnTo>
                  <a:pt x="1896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lumOff val="50000"/>
                  <a:alpha val="100000"/>
                </a:schemeClr>
              </a:gs>
              <a:gs pos="70000">
                <a:schemeClr val="accent1">
                  <a:lumMod val="70000"/>
                  <a:lumOff val="30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92875" tIns="225210" rIns="0" bIns="19287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10" b="1" dirty="0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1">
                      <a:lumMod val="50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05</a:t>
            </a:r>
          </a:p>
        </p:txBody>
      </p:sp>
      <p:sp>
        <p:nvSpPr>
          <p:cNvPr id="25" name="任意多边形 24"/>
          <p:cNvSpPr/>
          <p:nvPr>
            <p:custDataLst>
              <p:tags r:id="rId32"/>
            </p:custDataLst>
          </p:nvPr>
        </p:nvSpPr>
        <p:spPr>
          <a:xfrm>
            <a:off x="3851999" y="5175254"/>
            <a:ext cx="902544" cy="8866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79" h="2147">
                <a:moveTo>
                  <a:pt x="1158" y="0"/>
                </a:moveTo>
                <a:lnTo>
                  <a:pt x="2179" y="2147"/>
                </a:lnTo>
                <a:lnTo>
                  <a:pt x="0" y="1380"/>
                </a:lnTo>
                <a:lnTo>
                  <a:pt x="115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lumOff val="50000"/>
                  <a:alpha val="100000"/>
                </a:schemeClr>
              </a:gs>
              <a:gs pos="70000">
                <a:schemeClr val="accent2">
                  <a:lumMod val="70000"/>
                  <a:lumOff val="30000"/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76200" dist="76200" dir="8100000" algn="tr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92875" tIns="257545" rIns="192875" bIns="19287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1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2">
                      <a:lumMod val="50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06</a:t>
            </a:r>
          </a:p>
        </p:txBody>
      </p:sp>
      <p:sp>
        <p:nvSpPr>
          <p:cNvPr id="26" name="椭圆 25"/>
          <p:cNvSpPr>
            <a:spLocks noChangeAspect="1"/>
          </p:cNvSpPr>
          <p:nvPr>
            <p:custDataLst>
              <p:tags r:id="rId33"/>
            </p:custDataLst>
          </p:nvPr>
        </p:nvSpPr>
        <p:spPr>
          <a:xfrm>
            <a:off x="5797701" y="2414794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27" name="椭圆 26"/>
          <p:cNvSpPr>
            <a:spLocks noChangeAspect="1"/>
          </p:cNvSpPr>
          <p:nvPr>
            <p:custDataLst>
              <p:tags r:id="rId34"/>
            </p:custDataLst>
          </p:nvPr>
        </p:nvSpPr>
        <p:spPr>
          <a:xfrm>
            <a:off x="5797701" y="3108012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28" name="椭圆 27"/>
          <p:cNvSpPr>
            <a:spLocks noChangeAspect="1"/>
          </p:cNvSpPr>
          <p:nvPr>
            <p:custDataLst>
              <p:tags r:id="rId35"/>
            </p:custDataLst>
          </p:nvPr>
        </p:nvSpPr>
        <p:spPr>
          <a:xfrm>
            <a:off x="5797701" y="3815978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29" name="椭圆 28"/>
          <p:cNvSpPr>
            <a:spLocks noChangeAspect="1"/>
          </p:cNvSpPr>
          <p:nvPr>
            <p:custDataLst>
              <p:tags r:id="rId36"/>
            </p:custDataLst>
          </p:nvPr>
        </p:nvSpPr>
        <p:spPr>
          <a:xfrm>
            <a:off x="5797701" y="4522243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30" name="椭圆 29"/>
          <p:cNvSpPr>
            <a:spLocks noChangeAspect="1"/>
          </p:cNvSpPr>
          <p:nvPr>
            <p:custDataLst>
              <p:tags r:id="rId37"/>
            </p:custDataLst>
          </p:nvPr>
        </p:nvSpPr>
        <p:spPr>
          <a:xfrm>
            <a:off x="5797701" y="5192769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  <p:sp>
        <p:nvSpPr>
          <p:cNvPr id="31" name="椭圆 30"/>
          <p:cNvSpPr>
            <a:spLocks noChangeAspect="1"/>
          </p:cNvSpPr>
          <p:nvPr>
            <p:custDataLst>
              <p:tags r:id="rId38"/>
            </p:custDataLst>
          </p:nvPr>
        </p:nvSpPr>
        <p:spPr>
          <a:xfrm>
            <a:off x="5797701" y="5917186"/>
            <a:ext cx="38593" cy="385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1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BF938-B576-2A67-3C6C-091498FC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A4ED8924-2A4C-7A9C-9220-923D94D7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1. STA introduction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947F0F3A-FFF9-37E4-C4CA-9EB783EB4D7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tx1"/>
                </a:solidFill>
              </a:rPr>
              <a:t>Nano-meter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tx1"/>
                </a:solidFill>
              </a:rPr>
              <a:t>What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tx1"/>
                </a:solidFill>
              </a:rPr>
              <a:t>Why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tx1"/>
                </a:solidFill>
              </a:rPr>
              <a:t>Design-flow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tx1"/>
                </a:solidFill>
              </a:rPr>
              <a:t>Limitation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tx1"/>
                </a:solidFill>
              </a:rPr>
              <a:t>Power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tx1"/>
                </a:solidFill>
              </a:rPr>
              <a:t>Reliability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301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FA6B-06B8-D9C5-8E83-81C1409A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0B52BE88-9FB4-3E39-5AAC-16B62496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1.1 STA introduction: nano-meter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D4434C80-6BF0-1250-3CAB-0037CDFC0A3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Nano-meter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Shrink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Coupling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Noise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crosstalk</a:t>
            </a:r>
          </a:p>
        </p:txBody>
      </p:sp>
    </p:spTree>
    <p:extLst>
      <p:ext uri="{BB962C8B-B14F-4D97-AF65-F5344CB8AC3E}">
        <p14:creationId xmlns:p14="http://schemas.microsoft.com/office/powerpoint/2010/main" val="3498034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7A8F-0CD6-CEB7-F243-53E1C063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0C4AAA83-B66F-AFCB-8AEA-1D64B4ED0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1.2 STA introduction: what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B6A206DE-5BD5-96DE-05E7-10F33D245B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what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Simulation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b="1" i="1" dirty="0">
                <a:solidFill>
                  <a:srgbClr val="FF0000"/>
                </a:solidFill>
              </a:rPr>
              <a:t>Timing &amp; </a:t>
            </a:r>
            <a:r>
              <a:rPr lang="en-US" altLang="zh-CN" sz="2000" b="1" i="1" dirty="0">
                <a:solidFill>
                  <a:srgbClr val="00B0F0"/>
                </a:solidFill>
              </a:rPr>
              <a:t>Fun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b="1" i="1" dirty="0">
                <a:solidFill>
                  <a:srgbClr val="00B0F0"/>
                </a:solidFill>
              </a:rPr>
              <a:t>input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STA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b="1" i="1" dirty="0">
                <a:solidFill>
                  <a:srgbClr val="FF0000"/>
                </a:solidFill>
              </a:rPr>
              <a:t>Timing only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Statically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No input</a:t>
            </a:r>
            <a:endParaRPr lang="en-US" altLang="zh-CN" sz="2000" dirty="0"/>
          </a:p>
          <a:p>
            <a:pPr marL="1257300" lvl="3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dirty="0"/>
              <a:t>statically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FB119A2E-95EA-86BF-A2A5-8B053D09D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988840"/>
            <a:ext cx="3934283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2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8DC23-1E31-2078-C469-2F6B49F8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DB200A6D-3531-F210-3A27-16D3CB94C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1.3 STA introduction: why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2C103F37-F810-C34B-ACFB-CCA9B405A55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why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b="1" i="1" dirty="0">
                <a:solidFill>
                  <a:schemeClr val="tx1"/>
                </a:solidFill>
              </a:rPr>
              <a:t>Chip Failure: </a:t>
            </a:r>
            <a:r>
              <a:rPr lang="en-US" altLang="zh-CN" sz="2000" b="1" i="1" dirty="0">
                <a:solidFill>
                  <a:srgbClr val="FF0000"/>
                </a:solidFill>
              </a:rPr>
              <a:t>80% timing violation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STA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</a:rPr>
              <a:t>complete</a:t>
            </a:r>
            <a:r>
              <a:rPr lang="en-US" altLang="zh-CN" sz="2000" dirty="0">
                <a:solidFill>
                  <a:schemeClr val="tx1"/>
                </a:solidFill>
              </a:rPr>
              <a:t>/exhaustive (in one test):</a:t>
            </a:r>
          </a:p>
          <a:p>
            <a:pPr marL="1714500" lvl="4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All path</a:t>
            </a:r>
          </a:p>
          <a:p>
            <a:pPr marL="1714500" lvl="4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All scenarios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faster/simpler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Crosstalk and Noise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dirty="0"/>
              <a:t>statically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41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16E64-14ED-45F0-A6A4-56CB307F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FC4EDF2C-FE17-1A3F-0898-344DD4198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1.4 STA introduction: design-flow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B9F640FB-A920-870C-BA7E-3DA38264A47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Design-flow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b="1" i="1" dirty="0">
                <a:solidFill>
                  <a:schemeClr val="tx1"/>
                </a:solidFill>
              </a:rPr>
              <a:t>STA: sign-off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sz="2000" b="1" i="1" dirty="0">
                <a:solidFill>
                  <a:schemeClr val="tx1"/>
                </a:solidFill>
              </a:rPr>
              <a:t>越来越贴近真实场景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en-US" altLang="zh-CN" sz="2000" dirty="0"/>
              <a:t>statically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0C4795D2-7876-1F8A-5F37-4F61CB7D6F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564904"/>
            <a:ext cx="3419784" cy="2849335"/>
          </a:xfrm>
          <a:prstGeom prst="rect">
            <a:avLst/>
          </a:prstGeom>
        </p:spPr>
      </p:pic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134B72EE-C718-7191-A1AF-7F91CC7E0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150339"/>
            <a:ext cx="4176464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5E3E-25EE-DA52-9FEB-AAA93FC2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BBB4D140-0273-4950-C8BD-FF9FE422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1.5 STA introduction: limitations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CFAC8813-69F5-1623-554E-2AE50BECE06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limitations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 scenarios than STA </a:t>
            </a:r>
            <a:r>
              <a:rPr lang="en-US" altLang="zh-CN" sz="2000" dirty="0">
                <a:solidFill>
                  <a:srgbClr val="FF0000"/>
                </a:solidFill>
              </a:rPr>
              <a:t>can’t work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Reset sequence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1500" dirty="0">
                <a:solidFill>
                  <a:schemeClr val="tx1"/>
                </a:solidFill>
              </a:rPr>
              <a:t>value not synthesized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FIFO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1500" dirty="0">
                <a:solidFill>
                  <a:schemeClr val="tx1"/>
                </a:solidFill>
              </a:rPr>
              <a:t>2 </a:t>
            </a:r>
            <a:r>
              <a:rPr lang="en-US" altLang="zh-CN" sz="1500" dirty="0" err="1">
                <a:solidFill>
                  <a:schemeClr val="tx1"/>
                </a:solidFill>
              </a:rPr>
              <a:t>fsm</a:t>
            </a:r>
            <a:r>
              <a:rPr lang="en-US" altLang="zh-CN" sz="1500" dirty="0">
                <a:solidFill>
                  <a:schemeClr val="tx1"/>
                </a:solidFill>
              </a:rPr>
              <a:t> for </a:t>
            </a:r>
            <a:r>
              <a:rPr lang="en-US" altLang="zh-CN" sz="1500" dirty="0" err="1">
                <a:solidFill>
                  <a:schemeClr val="tx1"/>
                </a:solidFill>
              </a:rPr>
              <a:t>tx</a:t>
            </a:r>
            <a:r>
              <a:rPr lang="en-US" altLang="zh-CN" sz="1500" dirty="0">
                <a:solidFill>
                  <a:schemeClr val="tx1"/>
                </a:solidFill>
              </a:rPr>
              <a:t>/</a:t>
            </a:r>
            <a:r>
              <a:rPr lang="en-US" altLang="zh-CN" sz="1500" dirty="0" err="1">
                <a:solidFill>
                  <a:schemeClr val="tx1"/>
                </a:solidFill>
              </a:rPr>
              <a:t>rx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Async clock domain crossings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X-handling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FF0000"/>
                </a:solidFill>
              </a:rPr>
              <a:t>IO interface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1500" dirty="0">
                <a:solidFill>
                  <a:schemeClr val="tx1"/>
                </a:solidFill>
              </a:rPr>
              <a:t>not possible to spec all REQs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analog &amp; digital Interface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Clock synchronization logic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zh-CN" altLang="en-US" sz="1500" dirty="0">
                <a:solidFill>
                  <a:schemeClr val="tx1"/>
                </a:solidFill>
              </a:rPr>
              <a:t>医者不能自医</a:t>
            </a:r>
            <a:r>
              <a:rPr lang="en-US" altLang="zh-CN" sz="1500" dirty="0">
                <a:solidFill>
                  <a:schemeClr val="tx1"/>
                </a:solidFill>
              </a:rPr>
              <a:t>: STA</a:t>
            </a:r>
            <a:r>
              <a:rPr lang="zh-CN" altLang="en-US" sz="1500" dirty="0">
                <a:solidFill>
                  <a:schemeClr val="tx1"/>
                </a:solidFill>
              </a:rPr>
              <a:t>分析时钟是基准，默认时钟是</a:t>
            </a:r>
            <a:r>
              <a:rPr lang="en-US" altLang="zh-CN" sz="1500" dirty="0">
                <a:solidFill>
                  <a:schemeClr val="tx1"/>
                </a:solidFill>
              </a:rPr>
              <a:t>idea</a:t>
            </a:r>
            <a:r>
              <a:rPr lang="zh-CN" altLang="en-US" sz="1500" dirty="0">
                <a:solidFill>
                  <a:schemeClr val="tx1"/>
                </a:solidFill>
              </a:rPr>
              <a:t>的</a:t>
            </a:r>
            <a:r>
              <a:rPr lang="en-US" altLang="zh-CN" sz="1500" dirty="0">
                <a:solidFill>
                  <a:schemeClr val="tx1"/>
                </a:solidFill>
              </a:rPr>
              <a:t> 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PLL settings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Functional behavior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B0F0"/>
                </a:solidFill>
              </a:rPr>
              <a:t>False paths</a:t>
            </a:r>
          </a:p>
          <a:p>
            <a:pPr marL="1257300" lvl="3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607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C33AE-C7A7-92D4-8615-92FA3F1E1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B3588D01-0034-9110-4768-55A62302C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1.6 STA introduction: power &amp; </a:t>
            </a:r>
            <a:r>
              <a:rPr lang="en-US" altLang="zh-CN" sz="2800" b="1" dirty="0"/>
              <a:t>Reliability</a:t>
            </a:r>
            <a:r>
              <a:rPr lang="en-US" altLang="zh-CN" sz="2800" dirty="0"/>
              <a:t> 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6DECEC81-9098-037A-0FA6-0A0EC0C4718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416824" cy="3960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tx1"/>
                </a:solidFill>
              </a:rPr>
              <a:t>Power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trade off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Cell lib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Power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timing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tx1"/>
                </a:solidFill>
              </a:rPr>
              <a:t>Reliability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Not just, but also</a:t>
            </a:r>
          </a:p>
          <a:p>
            <a:pPr marL="1257300" lvl="3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49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640B-E504-0F9D-CEA3-F6A2BD4E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A6AB657D-CC82-23BB-5801-A5CCFBFB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2. </a:t>
            </a:r>
            <a:r>
              <a:rPr lang="en-US" altLang="zh-CN" sz="2800" dirty="0"/>
              <a:t>Concepts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7A677DE6-6BA3-C30F-69D7-9C81E4F2CD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CMOS Logic Design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Modeling of CMOS Cells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Waveforms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Delay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Slew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Skew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Timing Arcs and </a:t>
            </a:r>
            <a:r>
              <a:rPr lang="en-US" altLang="zh-CN" sz="2000" dirty="0" err="1">
                <a:solidFill>
                  <a:schemeClr val="tx1"/>
                </a:solidFill>
              </a:rPr>
              <a:t>Unateness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Path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Clock Domains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Operating Conditions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lvl="1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lvl="1" indent="-342900"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288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09E18-DDCA-DE71-B060-EA6597B2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879C0E25-F945-CAC5-1B57-D25249544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2.1 </a:t>
            </a:r>
            <a:r>
              <a:rPr lang="en-US" altLang="zh-CN" sz="2800" dirty="0"/>
              <a:t>CMOS Logic : COMS &amp; inverter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901E7EF5-A1A4-F760-9E95-7EC021C7DB5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Structure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Length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Process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Speed</a:t>
            </a:r>
          </a:p>
          <a:p>
            <a:pPr marL="457200" lvl="2"/>
            <a:endParaRPr lang="en-US" altLang="zh-CN" sz="2000" dirty="0">
              <a:solidFill>
                <a:schemeClr val="tx1"/>
              </a:solidFill>
            </a:endParaRP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Inverter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no steady current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Dissipation: </a:t>
            </a: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charge/discharge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leakage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capacitive load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70C0"/>
                </a:solidFill>
              </a:rPr>
              <a:t>pull-up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70C0"/>
                </a:solidFill>
              </a:rPr>
              <a:t>pull-down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3" name="图片 2" descr="图示, 示意图&#10;&#10;AI 生成的内容可能不正确。">
            <a:extLst>
              <a:ext uri="{FF2B5EF4-FFF2-40B4-BE49-F238E27FC236}">
                <a16:creationId xmlns:a16="http://schemas.microsoft.com/office/drawing/2014/main" id="{B868C78E-C5D6-05C7-D93C-3C0CEDB73C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558329"/>
            <a:ext cx="3600400" cy="1798663"/>
          </a:xfrm>
          <a:prstGeom prst="rect">
            <a:avLst/>
          </a:prstGeom>
        </p:spPr>
      </p:pic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4F36B653-1CAD-A337-C566-D2369786D0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682352"/>
            <a:ext cx="3672408" cy="157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53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497D3-85C4-5BAA-6AEF-CB6D33D7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208E476F-BC1E-73F3-F6CA-8AC3F1AF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2.1 </a:t>
            </a:r>
            <a:r>
              <a:rPr lang="en-US" altLang="zh-CN" sz="2800" dirty="0"/>
              <a:t>CMOS Logic : inverter -&gt; standard cell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C0B7763E-23A2-FF9D-92D2-8E72589540A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176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 lnSpcReduction="1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Inverter:  </a:t>
            </a:r>
            <a:r>
              <a:rPr lang="zh-CN" altLang="en-US" sz="2000" dirty="0">
                <a:solidFill>
                  <a:schemeClr val="tx1"/>
                </a:solidFill>
              </a:rPr>
              <a:t>反相器生万物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Logic gate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pull-down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pull-up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FF0000"/>
                </a:solidFill>
              </a:rPr>
              <a:t>Inv</a:t>
            </a:r>
            <a:r>
              <a:rPr lang="en-US" altLang="zh-CN" dirty="0">
                <a:solidFill>
                  <a:schemeClr val="tx1"/>
                </a:solidFill>
              </a:rPr>
              <a:t>/Nand/nor/</a:t>
            </a:r>
            <a:r>
              <a:rPr lang="en-US" altLang="zh-CN" dirty="0">
                <a:solidFill>
                  <a:srgbClr val="FF0000"/>
                </a:solidFill>
              </a:rPr>
              <a:t>and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en-US" altLang="zh-CN" dirty="0">
                <a:solidFill>
                  <a:srgbClr val="FF0000"/>
                </a:solidFill>
              </a:rPr>
              <a:t>or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Gate characteristic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R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Cap</a:t>
            </a:r>
          </a:p>
          <a:p>
            <a:pPr marL="914400" lvl="3"/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Standard cell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pre-designed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pre-characterized</a:t>
            </a: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functionality</a:t>
            </a: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timing</a:t>
            </a: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Power</a:t>
            </a: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FF0000"/>
                </a:solidFill>
              </a:rPr>
              <a:t>DC transfer characters</a:t>
            </a:r>
          </a:p>
          <a:p>
            <a:pPr marL="1714500" lvl="4" indent="-342900"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4" name="图片 3" descr="图示, 示意图&#10;&#10;AI 生成的内容可能不正确。">
            <a:extLst>
              <a:ext uri="{FF2B5EF4-FFF2-40B4-BE49-F238E27FC236}">
                <a16:creationId xmlns:a16="http://schemas.microsoft.com/office/drawing/2014/main" id="{4FD5C577-7736-2E4F-2FAD-26994DDB3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484784"/>
            <a:ext cx="3960440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09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34E79-BB88-3CCF-AA9B-225A0160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62A20265-DFC2-2B1A-7181-CD0B2D73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2.2 </a:t>
            </a:r>
            <a:r>
              <a:rPr lang="en-US" altLang="zh-CN" sz="2800" dirty="0"/>
              <a:t>CMOS Logic : modeling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682761FD-8A72-AC93-B7AF-A0F312D8136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176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modeling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Cell Out Cap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Wire +  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fanout gate in-Cap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Cell model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Up/down Res : Gm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In-Cap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Net </a:t>
            </a:r>
          </a:p>
        </p:txBody>
      </p:sp>
      <p:pic>
        <p:nvPicPr>
          <p:cNvPr id="8" name="图片 7" descr="图示, 示意图&#10;&#10;AI 生成的内容可能不正确。">
            <a:extLst>
              <a:ext uri="{FF2B5EF4-FFF2-40B4-BE49-F238E27FC236}">
                <a16:creationId xmlns:a16="http://schemas.microsoft.com/office/drawing/2014/main" id="{83452D3D-3AD9-09B5-CA5B-BDD79B8873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085" y="1772816"/>
            <a:ext cx="3960440" cy="1690556"/>
          </a:xfrm>
          <a:prstGeom prst="rect">
            <a:avLst/>
          </a:prstGeom>
        </p:spPr>
      </p:pic>
      <p:pic>
        <p:nvPicPr>
          <p:cNvPr id="10" name="图片 9" descr="图示, 示意图&#10;&#10;AI 生成的内容可能不正确。">
            <a:extLst>
              <a:ext uri="{FF2B5EF4-FFF2-40B4-BE49-F238E27FC236}">
                <a16:creationId xmlns:a16="http://schemas.microsoft.com/office/drawing/2014/main" id="{3693EF04-94E3-D84D-7BBF-FD11B2DC55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34" y="4101680"/>
            <a:ext cx="4541296" cy="2034431"/>
          </a:xfrm>
          <a:prstGeom prst="rect">
            <a:avLst/>
          </a:prstGeom>
        </p:spPr>
      </p:pic>
      <p:pic>
        <p:nvPicPr>
          <p:cNvPr id="12" name="图片 11" descr="图示, 示意图&#10;&#10;AI 生成的内容可能不正确。">
            <a:extLst>
              <a:ext uri="{FF2B5EF4-FFF2-40B4-BE49-F238E27FC236}">
                <a16:creationId xmlns:a16="http://schemas.microsoft.com/office/drawing/2014/main" id="{020AEF86-1D11-14D1-DA55-8DBDC980F7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996" y="4011465"/>
            <a:ext cx="4470529" cy="212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90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BE989-8747-6523-2958-B856857A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A9580D81-71B5-96AF-5CF4-7437D52A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2.3 </a:t>
            </a:r>
            <a:r>
              <a:rPr lang="en-US" altLang="zh-CN" sz="2800" dirty="0"/>
              <a:t>waveform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F70E3B05-AABF-4B6A-2272-74E28390CE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176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wave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RC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MOS gate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短暂的到地通路</a:t>
            </a:r>
            <a:endParaRPr lang="en-US" altLang="zh-CN" dirty="0">
              <a:solidFill>
                <a:schemeClr val="tx1"/>
              </a:solidFill>
            </a:endParaRP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</a:rPr>
              <a:t>功耗增加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</a:rPr>
              <a:t>信号完整性</a:t>
            </a:r>
            <a:r>
              <a:rPr lang="en-US" altLang="zh-CN" sz="1400" dirty="0">
                <a:solidFill>
                  <a:schemeClr val="tx1"/>
                </a:solidFill>
              </a:rPr>
              <a:t>: </a:t>
            </a:r>
            <a:r>
              <a:rPr lang="en-US" altLang="zh-CN" sz="1400" dirty="0" err="1">
                <a:solidFill>
                  <a:schemeClr val="tx1"/>
                </a:solidFill>
              </a:rPr>
              <a:t>ir</a:t>
            </a:r>
            <a:r>
              <a:rPr lang="en-US" altLang="zh-CN" sz="1400" dirty="0">
                <a:solidFill>
                  <a:schemeClr val="tx1"/>
                </a:solidFill>
              </a:rPr>
              <a:t>-drop/</a:t>
            </a:r>
            <a:r>
              <a:rPr lang="en-US" altLang="zh-CN" sz="1400" dirty="0" err="1">
                <a:solidFill>
                  <a:schemeClr val="tx1"/>
                </a:solidFill>
              </a:rPr>
              <a:t>gnd</a:t>
            </a:r>
            <a:r>
              <a:rPr lang="en-US" altLang="zh-CN" sz="1400" dirty="0">
                <a:solidFill>
                  <a:schemeClr val="tx1"/>
                </a:solidFill>
              </a:rPr>
              <a:t>-noise</a:t>
            </a: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</a:rPr>
              <a:t>延迟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0C35E425-CC96-E1E3-7C32-BF87BF21B8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331" y="1533352"/>
            <a:ext cx="3496439" cy="2279128"/>
          </a:xfrm>
          <a:prstGeom prst="rect">
            <a:avLst/>
          </a:prstGeom>
        </p:spPr>
      </p:pic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E5A78A4D-8708-1DAA-9303-E9802259DE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209" y="3789040"/>
            <a:ext cx="4073322" cy="2284661"/>
          </a:xfrm>
          <a:prstGeom prst="rect">
            <a:avLst/>
          </a:prstGeom>
        </p:spPr>
      </p:pic>
      <p:pic>
        <p:nvPicPr>
          <p:cNvPr id="9" name="图片 8" descr="图示, 示意图&#10;&#10;AI 生成的内容可能不正确。">
            <a:extLst>
              <a:ext uri="{FF2B5EF4-FFF2-40B4-BE49-F238E27FC236}">
                <a16:creationId xmlns:a16="http://schemas.microsoft.com/office/drawing/2014/main" id="{9DAF4A71-31A7-04DA-7335-08C114CDA2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55" y="3889443"/>
            <a:ext cx="4015305" cy="218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36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4D3E-E714-F893-C3F3-5F943309B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B28DFF32-8981-15D7-6E1A-3650934B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2.4 </a:t>
            </a:r>
            <a:r>
              <a:rPr lang="en-US" altLang="zh-CN" sz="2800" dirty="0"/>
              <a:t>delay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FD113002-182C-899A-8327-4E7A8AB2DBD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176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delay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RC -&gt; delay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chemeClr val="tx1"/>
                </a:solidFill>
              </a:rPr>
              <a:t>cmd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457200" lvl="2"/>
            <a:r>
              <a:rPr lang="en-US" altLang="zh-CN" sz="1400" dirty="0">
                <a:solidFill>
                  <a:schemeClr val="tx1"/>
                </a:solidFill>
              </a:rPr>
              <a:t>  # Threshold point of an input falling edge:</a:t>
            </a:r>
          </a:p>
          <a:p>
            <a:pPr marL="457200" lvl="2"/>
            <a:r>
              <a:rPr lang="en-US" altLang="zh-CN" sz="1400" dirty="0">
                <a:solidFill>
                  <a:schemeClr val="tx1"/>
                </a:solidFill>
              </a:rPr>
              <a:t>  </a:t>
            </a:r>
            <a:r>
              <a:rPr lang="en-US" altLang="zh-CN" sz="1400" dirty="0" err="1">
                <a:solidFill>
                  <a:schemeClr val="tx1"/>
                </a:solidFill>
              </a:rPr>
              <a:t>input_threshold_pct_fall</a:t>
            </a:r>
            <a:r>
              <a:rPr lang="en-US" altLang="zh-CN" sz="1400" dirty="0">
                <a:solidFill>
                  <a:schemeClr val="tx1"/>
                </a:solidFill>
              </a:rPr>
              <a:t> : 50.0;</a:t>
            </a:r>
          </a:p>
          <a:p>
            <a:pPr marL="457200" lvl="2"/>
            <a:r>
              <a:rPr lang="en-US" altLang="zh-CN" sz="1400" dirty="0">
                <a:solidFill>
                  <a:schemeClr val="tx1"/>
                </a:solidFill>
              </a:rPr>
              <a:t>  # Threshold point of an input rising edge:</a:t>
            </a:r>
          </a:p>
          <a:p>
            <a:pPr marL="457200" lvl="2"/>
            <a:r>
              <a:rPr lang="en-US" altLang="zh-CN" sz="1400" dirty="0">
                <a:solidFill>
                  <a:schemeClr val="tx1"/>
                </a:solidFill>
              </a:rPr>
              <a:t>  </a:t>
            </a:r>
            <a:r>
              <a:rPr lang="en-US" altLang="zh-CN" sz="1400" dirty="0" err="1">
                <a:solidFill>
                  <a:schemeClr val="tx1"/>
                </a:solidFill>
              </a:rPr>
              <a:t>input_threshold_pct_rise</a:t>
            </a:r>
            <a:r>
              <a:rPr lang="en-US" altLang="zh-CN" sz="1400" dirty="0">
                <a:solidFill>
                  <a:schemeClr val="tx1"/>
                </a:solidFill>
              </a:rPr>
              <a:t> : 50.0;</a:t>
            </a:r>
          </a:p>
        </p:txBody>
      </p:sp>
      <p:pic>
        <p:nvPicPr>
          <p:cNvPr id="4" name="图片 3" descr="图示, 工程绘图&#10;&#10;AI 生成的内容可能不正确。">
            <a:extLst>
              <a:ext uri="{FF2B5EF4-FFF2-40B4-BE49-F238E27FC236}">
                <a16:creationId xmlns:a16="http://schemas.microsoft.com/office/drawing/2014/main" id="{51F15398-6BC0-F469-3DAA-F204914070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53" y="1484784"/>
            <a:ext cx="4464495" cy="2144483"/>
          </a:xfrm>
          <a:prstGeom prst="rect">
            <a:avLst/>
          </a:prstGeom>
        </p:spPr>
      </p:pic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6350CFF2-7A45-B6F0-689A-431629F95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449" y="3619345"/>
            <a:ext cx="5154610" cy="192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58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F4E7D-FC89-8F61-492E-86EE56B44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A6566BF8-D17F-9108-08B6-E78AA413A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2.5 </a:t>
            </a:r>
            <a:r>
              <a:rPr lang="en-US" altLang="zh-CN" sz="2800" dirty="0"/>
              <a:t>slew-rate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9F2734F2-82AF-5B94-3136-C9835D924C3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176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Slew-rate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Raise/fall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70%/30%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80%/20%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90%/10%</a:t>
            </a: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19518F2C-ABA5-A35C-6B39-4A1EFAEED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1533302"/>
            <a:ext cx="4752528" cy="2110123"/>
          </a:xfrm>
          <a:prstGeom prst="rect">
            <a:avLst/>
          </a:prstGeom>
        </p:spPr>
      </p:pic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205BAF91-68F3-05DA-C8D2-F8835571C3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588" y="3933056"/>
            <a:ext cx="4573159" cy="211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95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DC91-9CD4-E7FD-97EB-0A3C3090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51CCAED8-01C6-3B51-E773-3926867C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rPr>
              <a:t>2.6 </a:t>
            </a:r>
            <a:r>
              <a:rPr lang="en-US" altLang="zh-CN" sz="2800" dirty="0"/>
              <a:t>skew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B1318269-425A-F469-4F50-29B269C2CD0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992888" cy="4176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Skew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Between signals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Latency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uncertainty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70C0"/>
                </a:solidFill>
              </a:rPr>
              <a:t>Skew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70C0"/>
                </a:solidFill>
              </a:rPr>
              <a:t>Jitter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70C0"/>
                </a:solidFill>
              </a:rPr>
              <a:t>margin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chemeClr val="tx1"/>
                </a:solidFill>
              </a:rPr>
              <a:t>Cmd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457200" lvl="2"/>
            <a:r>
              <a:rPr lang="en-US" altLang="zh-CN" sz="1400" dirty="0" err="1">
                <a:solidFill>
                  <a:schemeClr val="tx1"/>
                </a:solidFill>
              </a:rPr>
              <a:t>set_clock_latency</a:t>
            </a:r>
            <a:r>
              <a:rPr lang="en-US" altLang="zh-CN" sz="1400" dirty="0">
                <a:solidFill>
                  <a:schemeClr val="tx1"/>
                </a:solidFill>
              </a:rPr>
              <a:t> 2.2 [</a:t>
            </a:r>
            <a:r>
              <a:rPr lang="en-US" altLang="zh-CN" sz="1400" dirty="0" err="1">
                <a:solidFill>
                  <a:schemeClr val="tx1"/>
                </a:solidFill>
              </a:rPr>
              <a:t>get_clocks</a:t>
            </a:r>
            <a:r>
              <a:rPr lang="en-US" altLang="zh-CN" sz="1400" dirty="0">
                <a:solidFill>
                  <a:schemeClr val="tx1"/>
                </a:solidFill>
              </a:rPr>
              <a:t> BZCLK]</a:t>
            </a:r>
          </a:p>
          <a:p>
            <a:pPr marL="457200" lvl="2"/>
            <a:r>
              <a:rPr lang="en-US" altLang="zh-CN" sz="1400" dirty="0" err="1">
                <a:solidFill>
                  <a:schemeClr val="tx1"/>
                </a:solidFill>
              </a:rPr>
              <a:t>set_clock_uncertainty</a:t>
            </a:r>
            <a:r>
              <a:rPr lang="en-US" altLang="zh-CN" sz="1400" dirty="0">
                <a:solidFill>
                  <a:schemeClr val="tx1"/>
                </a:solidFill>
              </a:rPr>
              <a:t> 0.250 -setup [</a:t>
            </a:r>
            <a:r>
              <a:rPr lang="en-US" altLang="zh-CN" sz="1400" dirty="0" err="1">
                <a:solidFill>
                  <a:schemeClr val="tx1"/>
                </a:solidFill>
              </a:rPr>
              <a:t>get_clocks</a:t>
            </a:r>
            <a:r>
              <a:rPr lang="en-US" altLang="zh-CN" sz="1400" dirty="0">
                <a:solidFill>
                  <a:schemeClr val="tx1"/>
                </a:solidFill>
              </a:rPr>
              <a:t> BZCLK]</a:t>
            </a:r>
          </a:p>
          <a:p>
            <a:pPr marL="457200" lvl="2"/>
            <a:r>
              <a:rPr lang="en-US" altLang="zh-CN" sz="1400" dirty="0" err="1">
                <a:solidFill>
                  <a:schemeClr val="tx1"/>
                </a:solidFill>
              </a:rPr>
              <a:t>set_clock_uncertainty</a:t>
            </a:r>
            <a:r>
              <a:rPr lang="en-US" altLang="zh-CN" sz="1400" dirty="0">
                <a:solidFill>
                  <a:schemeClr val="tx1"/>
                </a:solidFill>
              </a:rPr>
              <a:t> 0.100 -hold [</a:t>
            </a:r>
            <a:r>
              <a:rPr lang="en-US" altLang="zh-CN" sz="1400" dirty="0" err="1">
                <a:solidFill>
                  <a:schemeClr val="tx1"/>
                </a:solidFill>
              </a:rPr>
              <a:t>get_clocks</a:t>
            </a:r>
            <a:r>
              <a:rPr lang="en-US" altLang="zh-CN" sz="1400" dirty="0">
                <a:solidFill>
                  <a:schemeClr val="tx1"/>
                </a:solidFill>
              </a:rPr>
              <a:t> BZCLK]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4" name="图片 3" descr="图示, 工程绘图&#10;&#10;AI 生成的内容可能不正确。">
            <a:extLst>
              <a:ext uri="{FF2B5EF4-FFF2-40B4-BE49-F238E27FC236}">
                <a16:creationId xmlns:a16="http://schemas.microsoft.com/office/drawing/2014/main" id="{8FE41DD7-C712-A8D2-D1A9-B6C769322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901" y="908720"/>
            <a:ext cx="4950407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21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C24C-344A-D28D-1441-1DD37A893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F7853B55-F8DC-F757-CB10-3B1459ED7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2.7 </a:t>
            </a:r>
            <a:r>
              <a:rPr lang="en-US" altLang="zh-CN" sz="2800" dirty="0"/>
              <a:t>timing-arcs &amp; </a:t>
            </a:r>
            <a:r>
              <a:rPr lang="en-US" altLang="zh-CN" sz="2800" dirty="0" err="1"/>
              <a:t>Unateness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147469FD-7548-2323-FF01-AE574C0B297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8064896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Timing arcs (</a:t>
            </a:r>
            <a:r>
              <a:rPr lang="zh-CN" altLang="en-US" sz="2000" dirty="0">
                <a:solidFill>
                  <a:schemeClr val="tx1"/>
                </a:solidFill>
              </a:rPr>
              <a:t>时序弧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tx1"/>
                </a:solidFill>
              </a:rPr>
              <a:t>延迟的载体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tx1"/>
                </a:solidFill>
              </a:rPr>
              <a:t>感知逻辑关系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457200" lvl="2"/>
            <a:endParaRPr lang="en-US" altLang="zh-CN" sz="2000" dirty="0">
              <a:solidFill>
                <a:schemeClr val="tx1"/>
              </a:solidFill>
            </a:endParaRP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chemeClr val="tx1"/>
                </a:solidFill>
              </a:rPr>
              <a:t>Unateness</a:t>
            </a:r>
            <a:r>
              <a:rPr lang="en-US" altLang="zh-CN" sz="2000" dirty="0">
                <a:solidFill>
                  <a:schemeClr val="tx1"/>
                </a:solidFill>
              </a:rPr>
              <a:t> (</a:t>
            </a:r>
            <a:r>
              <a:rPr lang="zh-CN" altLang="en-US" sz="2000" dirty="0">
                <a:solidFill>
                  <a:schemeClr val="tx1"/>
                </a:solidFill>
              </a:rPr>
              <a:t>单调性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tx1"/>
                </a:solidFill>
              </a:rPr>
              <a:t>逻辑延迟的载体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Positive </a:t>
            </a:r>
            <a:r>
              <a:rPr lang="zh-CN" altLang="en-US" sz="2000" dirty="0">
                <a:solidFill>
                  <a:schemeClr val="tx1"/>
                </a:solidFill>
              </a:rPr>
              <a:t>正相关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and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chemeClr val="tx1"/>
                </a:solidFill>
              </a:rPr>
              <a:t>Nagetive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负相关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chemeClr val="tx1"/>
                </a:solidFill>
              </a:rPr>
              <a:t>nand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Non-</a:t>
            </a:r>
            <a:r>
              <a:rPr lang="en-US" altLang="zh-CN" sz="2000" dirty="0" err="1">
                <a:solidFill>
                  <a:schemeClr val="tx1"/>
                </a:solidFill>
              </a:rPr>
              <a:t>Unate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没有单调性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chemeClr val="tx1"/>
                </a:solidFill>
              </a:rPr>
              <a:t>Xor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tx1"/>
                </a:solidFill>
              </a:rPr>
              <a:t>时钟处理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BB60572B-1488-44BD-17B7-5AD65981E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1585764"/>
            <a:ext cx="2888439" cy="29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39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B1D64-7D53-DA35-4A83-236B8160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C4D9C607-9A2F-6C91-9373-8403CAF11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2.7 </a:t>
            </a:r>
            <a:r>
              <a:rPr lang="en-US" altLang="zh-CN" sz="2800" dirty="0"/>
              <a:t>timing-arcs &amp; </a:t>
            </a:r>
            <a:r>
              <a:rPr lang="en-US" altLang="zh-CN" sz="2800" dirty="0" err="1"/>
              <a:t>Unateness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13720A73-F6D8-D013-2B12-9677C46D142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8064896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</a:rPr>
              <a:t>逻辑感知优化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消除悲观（避免过度保守的时序预算）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加速分析（减少 </a:t>
            </a:r>
            <a:r>
              <a:rPr lang="en-US" altLang="zh-CN" dirty="0">
                <a:solidFill>
                  <a:schemeClr val="tx1"/>
                </a:solidFill>
              </a:rPr>
              <a:t>50% </a:t>
            </a:r>
            <a:r>
              <a:rPr lang="zh-CN" altLang="en-US" dirty="0">
                <a:solidFill>
                  <a:schemeClr val="tx1"/>
                </a:solidFill>
              </a:rPr>
              <a:t>以上的无效计算）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高阶功能</a:t>
            </a:r>
            <a:endParaRPr lang="en-US" altLang="zh-CN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多周期路径</a:t>
            </a:r>
            <a:endParaRPr lang="en-US" altLang="zh-CN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时钟门控</a:t>
            </a:r>
            <a:endParaRPr lang="en-US" altLang="zh-CN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数据路径平衡</a:t>
            </a:r>
            <a:endParaRPr lang="en-US" altLang="zh-CN" dirty="0">
              <a:solidFill>
                <a:schemeClr val="tx1"/>
              </a:solidFill>
            </a:endParaRPr>
          </a:p>
          <a:p>
            <a:pPr marL="914400" lvl="3"/>
            <a:r>
              <a:rPr lang="en-US" altLang="zh-CN" dirty="0">
                <a:solidFill>
                  <a:schemeClr val="tx1"/>
                </a:solidFill>
              </a:rPr>
              <a:t>	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tx1"/>
                </a:solidFill>
              </a:rPr>
              <a:t>例如：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例如：不会分析 </a:t>
            </a:r>
            <a:r>
              <a:rPr lang="en-US" altLang="zh-CN" sz="1400" dirty="0">
                <a:solidFill>
                  <a:schemeClr val="tx1"/>
                </a:solidFill>
              </a:rPr>
              <a:t>AND </a:t>
            </a:r>
            <a:r>
              <a:rPr lang="zh-CN" altLang="en-US" sz="1400" dirty="0">
                <a:solidFill>
                  <a:schemeClr val="tx1"/>
                </a:solidFill>
              </a:rPr>
              <a:t>门中“</a:t>
            </a:r>
            <a:r>
              <a:rPr lang="en-US" altLang="zh-CN" sz="1400" dirty="0">
                <a:solidFill>
                  <a:schemeClr val="tx1"/>
                </a:solidFill>
              </a:rPr>
              <a:t>A </a:t>
            </a:r>
            <a:r>
              <a:rPr lang="zh-CN" altLang="en-US" sz="1400" dirty="0">
                <a:solidFill>
                  <a:schemeClr val="tx1"/>
                </a:solidFill>
              </a:rPr>
              <a:t>上升导致 </a:t>
            </a:r>
            <a:r>
              <a:rPr lang="en-US" altLang="zh-CN" sz="1400" dirty="0">
                <a:solidFill>
                  <a:schemeClr val="tx1"/>
                </a:solidFill>
              </a:rPr>
              <a:t>Z </a:t>
            </a:r>
            <a:r>
              <a:rPr lang="zh-CN" altLang="en-US" sz="1400" dirty="0">
                <a:solidFill>
                  <a:schemeClr val="tx1"/>
                </a:solidFill>
              </a:rPr>
              <a:t>下降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正相关路径确保跳变类型（上升</a:t>
            </a:r>
            <a:r>
              <a:rPr lang="en-US" altLang="zh-CN" sz="1400" dirty="0">
                <a:solidFill>
                  <a:schemeClr val="tx1"/>
                </a:solidFill>
              </a:rPr>
              <a:t>/</a:t>
            </a:r>
            <a:r>
              <a:rPr lang="zh-CN" altLang="en-US" sz="1400" dirty="0">
                <a:solidFill>
                  <a:schemeClr val="tx1"/>
                </a:solidFill>
              </a:rPr>
              <a:t>下降）在传播过程中不发生翻转。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993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9081-E7C8-991B-8582-7B330536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4A279AF9-948E-7C44-BF98-5BAE3F342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2.7 </a:t>
            </a:r>
            <a:r>
              <a:rPr lang="en-US" altLang="zh-CN" sz="2800" dirty="0"/>
              <a:t>timing-arcs &amp; </a:t>
            </a:r>
            <a:r>
              <a:rPr lang="en-US" altLang="zh-CN" sz="2800" dirty="0" err="1"/>
              <a:t>Unateness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843347AA-D99A-E539-65B4-79CA14B7DEB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8064896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example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3" name="图片 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80E5BACD-3D96-EC99-E416-CD5AB2AE7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640129"/>
            <a:ext cx="5369044" cy="39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44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F7AFC-D171-035F-EE2E-E787497CD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191FC6C5-1F87-CAD6-ED88-02FAB3CD8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2.8 </a:t>
            </a:r>
            <a:r>
              <a:rPr lang="en-US" altLang="zh-CN" sz="2800" dirty="0"/>
              <a:t>path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6ED5A498-1B89-1DC7-8766-9AE3AE2AA78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8064896" cy="4320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Path: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74FEEAE-8959-6ECF-59E5-1668938D1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017081"/>
              </p:ext>
            </p:extLst>
          </p:nvPr>
        </p:nvGraphicFramePr>
        <p:xfrm>
          <a:off x="971600" y="2026093"/>
          <a:ext cx="4680520" cy="2805813"/>
        </p:xfrm>
        <a:graphic>
          <a:graphicData uri="http://schemas.openxmlformats.org/drawingml/2006/table">
            <a:tbl>
              <a:tblPr/>
              <a:tblGrid>
                <a:gridCol w="1170130">
                  <a:extLst>
                    <a:ext uri="{9D8B030D-6E8A-4147-A177-3AD203B41FA5}">
                      <a16:colId xmlns:a16="http://schemas.microsoft.com/office/drawing/2014/main" val="1935003548"/>
                    </a:ext>
                  </a:extLst>
                </a:gridCol>
                <a:gridCol w="1170130">
                  <a:extLst>
                    <a:ext uri="{9D8B030D-6E8A-4147-A177-3AD203B41FA5}">
                      <a16:colId xmlns:a16="http://schemas.microsoft.com/office/drawing/2014/main" val="2679935874"/>
                    </a:ext>
                  </a:extLst>
                </a:gridCol>
                <a:gridCol w="1170130">
                  <a:extLst>
                    <a:ext uri="{9D8B030D-6E8A-4147-A177-3AD203B41FA5}">
                      <a16:colId xmlns:a16="http://schemas.microsoft.com/office/drawing/2014/main" val="1695179029"/>
                    </a:ext>
                  </a:extLst>
                </a:gridCol>
                <a:gridCol w="1170130">
                  <a:extLst>
                    <a:ext uri="{9D8B030D-6E8A-4147-A177-3AD203B41FA5}">
                      <a16:colId xmlns:a16="http://schemas.microsoft.com/office/drawing/2014/main" val="4068323944"/>
                    </a:ext>
                  </a:extLst>
                </a:gridCol>
              </a:tblGrid>
              <a:tr h="31436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路径类型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E0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100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8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起点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E02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C03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D02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80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终点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C03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80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D02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40F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说明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80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A0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40D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874003"/>
                  </a:ext>
                </a:extLst>
              </a:tr>
              <a:tr h="46147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寄存器到寄存器</a:t>
                      </a:r>
                      <a:endParaRPr lang="zh-CN" altLang="en-US" sz="1000" dirty="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B04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8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D0D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Reg1/CK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B04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A0F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80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C0F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Reg2/D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A0F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D0D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40F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B0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000" dirty="0">
                          <a:solidFill>
                            <a:srgbClr val="FF0000"/>
                          </a:solidFill>
                          <a:effectLst/>
                          <a:latin typeface="inherit"/>
                        </a:rPr>
                        <a:t>最核心路径，检查时钟域内时序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D0D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40D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A01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25676"/>
                  </a:ext>
                </a:extLst>
              </a:tr>
              <a:tr h="46147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输入到寄存器</a:t>
                      </a:r>
                      <a:endParaRPr lang="zh-CN" altLang="en-US" sz="100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F0F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D0D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A04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Input Port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F0F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A02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C0F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50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Reg/D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A02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802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B02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205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检查输入信号到达时间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802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A01E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305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753025"/>
                  </a:ext>
                </a:extLst>
              </a:tr>
              <a:tr h="46147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寄存器到输出</a:t>
                      </a:r>
                      <a:endParaRPr lang="zh-CN" altLang="en-US" sz="100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F0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A04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A0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Reg/CK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F0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8056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50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F06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Output Port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8056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605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2059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F06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检查输出信号有效时间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605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305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06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586573"/>
                  </a:ext>
                </a:extLst>
              </a:tr>
              <a:tr h="46147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输入到输出</a:t>
                      </a:r>
                      <a:endParaRPr lang="zh-CN" altLang="en-US" sz="1000">
                        <a:solidFill>
                          <a:schemeClr val="tx1"/>
                        </a:solidFill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1067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A0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Input Port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1067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506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F06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Output Port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506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F06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F06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inherit"/>
                        </a:rPr>
                        <a:t>纯组合路径，检查总延迟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F06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E06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450276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EFB63D7D-6124-3E1C-26CB-6AB4FFED8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42136"/>
            <a:ext cx="65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9D38B2-8E32-F749-5DC3-161261630A7B}"/>
              </a:ext>
            </a:extLst>
          </p:cNvPr>
          <p:cNvSpPr txBox="1"/>
          <p:nvPr/>
        </p:nvSpPr>
        <p:spPr>
          <a:xfrm>
            <a:off x="827584" y="5157192"/>
            <a:ext cx="7056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set_input_delay  -clock CLK [get_ports A]  # 定义输入路径起点set_output_delay -clock CLK [get_ports Z]  # 定义输出路径终点</a:t>
            </a:r>
          </a:p>
        </p:txBody>
      </p:sp>
    </p:spTree>
    <p:extLst>
      <p:ext uri="{BB962C8B-B14F-4D97-AF65-F5344CB8AC3E}">
        <p14:creationId xmlns:p14="http://schemas.microsoft.com/office/powerpoint/2010/main" val="3321007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5FB00-6822-C8F9-5C1D-A90951833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69A07DEC-242B-30DA-59EA-4006CE950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2.8 </a:t>
            </a:r>
            <a:r>
              <a:rPr lang="en-US" altLang="zh-CN" sz="2800" dirty="0"/>
              <a:t>CMOS Logic : path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9D134503-5B8E-7675-1366-0F81A984D73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8147248" cy="44644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path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STA</a:t>
            </a:r>
            <a:r>
              <a:rPr lang="zh-CN" altLang="en-US" dirty="0">
                <a:solidFill>
                  <a:schemeClr val="tx1"/>
                </a:solidFill>
              </a:rPr>
              <a:t>分析的主体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Max : late path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Min : early path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FF0000"/>
                </a:solidFill>
              </a:rPr>
              <a:t>Reg to Reg path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Launch: uff1/uff2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Capture: uff3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</a:endParaRPr>
          </a:p>
          <a:p>
            <a:pPr marL="914400" lvl="3"/>
            <a:r>
              <a:rPr lang="en-US" altLang="zh-CN" dirty="0">
                <a:solidFill>
                  <a:schemeClr val="tx1"/>
                </a:solidFill>
              </a:rPr>
              <a:t>	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marL="1257300" lvl="3" indent="-342900"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3" name="图片 2" descr="图示, 工程绘图, 示意图&#10;&#10;AI 生成的内容可能不正确。">
            <a:extLst>
              <a:ext uri="{FF2B5EF4-FFF2-40B4-BE49-F238E27FC236}">
                <a16:creationId xmlns:a16="http://schemas.microsoft.com/office/drawing/2014/main" id="{AB122737-1B4D-DC4A-572C-732AA6C6FE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304" y="1556792"/>
            <a:ext cx="4211960" cy="207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39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1382F-9C94-E12C-25B6-B7E64F725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076EFDAD-BF62-6655-E56C-B54106572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2.9 CLK domain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FF05DFC5-4F85-646D-18B7-69DA1CDDAEA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8147248" cy="44644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 fontScale="925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CLK domain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flip-flops fed by same </a:t>
            </a:r>
            <a:r>
              <a:rPr lang="en-US" altLang="zh-CN" dirty="0" err="1">
                <a:solidFill>
                  <a:schemeClr val="tx1"/>
                </a:solidFill>
              </a:rPr>
              <a:t>clk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FF0000"/>
                </a:solidFill>
              </a:rPr>
              <a:t>CDC before STA</a:t>
            </a:r>
          </a:p>
          <a:p>
            <a:pPr marL="457200" lvl="2"/>
            <a:endParaRPr lang="en-US" altLang="zh-CN" dirty="0">
              <a:solidFill>
                <a:schemeClr val="tx1"/>
              </a:solidFill>
            </a:endParaRP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Not fed the same </a:t>
            </a:r>
            <a:r>
              <a:rPr lang="en-US" altLang="zh-CN" dirty="0" err="1">
                <a:solidFill>
                  <a:schemeClr val="tx1"/>
                </a:solidFill>
              </a:rPr>
              <a:t>clk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/>
                </a:solidFill>
              </a:rPr>
              <a:t>independent 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/>
                </a:solidFill>
              </a:rPr>
              <a:t>Related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FF0000"/>
                </a:solidFill>
              </a:rPr>
              <a:t>Real path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00B0F0"/>
                </a:solidFill>
              </a:rPr>
              <a:t>False path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</a:rPr>
              <a:t>双向独立约束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lvl="1"/>
            <a:endParaRPr lang="en-US" altLang="zh-CN" sz="1600" dirty="0">
              <a:solidFill>
                <a:schemeClr val="tx1"/>
              </a:solidFill>
            </a:endParaRPr>
          </a:p>
          <a:p>
            <a:pPr marL="342900" lvl="1" indent="-342900"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/>
                </a:solidFill>
              </a:rPr>
              <a:t>RISK</a:t>
            </a: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将真实路径误设为</a:t>
            </a:r>
            <a:r>
              <a:rPr lang="en-US" altLang="zh-CN" dirty="0">
                <a:solidFill>
                  <a:schemeClr val="tx1"/>
                </a:solidFill>
              </a:rPr>
              <a:t>false path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</a:rPr>
              <a:t>硅片静默失效</a:t>
            </a:r>
            <a:endParaRPr lang="en-US" altLang="zh-CN" dirty="0">
              <a:solidFill>
                <a:srgbClr val="FF0000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未设 </a:t>
            </a:r>
            <a:r>
              <a:rPr lang="en-US" altLang="zh-CN" dirty="0">
                <a:solidFill>
                  <a:schemeClr val="tx1"/>
                </a:solidFill>
              </a:rPr>
              <a:t>multicycle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过度优化 </a:t>
            </a:r>
            <a:endParaRPr lang="en-US" altLang="zh-CN" dirty="0">
              <a:solidFill>
                <a:schemeClr val="tx1"/>
              </a:solidFill>
            </a:endParaRP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功耗面积浪费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约束方向错误</a:t>
            </a:r>
            <a:r>
              <a:rPr lang="en-US" altLang="zh-CN" dirty="0">
                <a:solidFill>
                  <a:schemeClr val="tx1"/>
                </a:solidFill>
              </a:rPr>
              <a:t>	</a:t>
            </a:r>
          </a:p>
          <a:p>
            <a:pPr marL="1257300" lvl="3" indent="-34290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-start/-end</a:t>
            </a:r>
            <a:r>
              <a:rPr lang="zh-CN" altLang="en-US" dirty="0">
                <a:solidFill>
                  <a:schemeClr val="tx1"/>
                </a:solidFill>
              </a:rPr>
              <a:t>混淆</a:t>
            </a:r>
            <a:endParaRPr lang="en-US" altLang="zh-CN" dirty="0">
              <a:solidFill>
                <a:schemeClr val="tx1"/>
              </a:solidFill>
            </a:endParaRPr>
          </a:p>
          <a:p>
            <a:pPr marL="1714500" lvl="4" indent="-34290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时序窗口计算错误</a:t>
            </a:r>
          </a:p>
        </p:txBody>
      </p:sp>
      <p:pic>
        <p:nvPicPr>
          <p:cNvPr id="4" name="图片 3" descr="图示, 工程绘图&#10;&#10;AI 生成的内容可能不正确。">
            <a:extLst>
              <a:ext uri="{FF2B5EF4-FFF2-40B4-BE49-F238E27FC236}">
                <a16:creationId xmlns:a16="http://schemas.microsoft.com/office/drawing/2014/main" id="{AA8CECA2-E161-F502-9067-8FCE0D8563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484784"/>
            <a:ext cx="4572000" cy="1856038"/>
          </a:xfrm>
          <a:prstGeom prst="rect">
            <a:avLst/>
          </a:prstGeom>
        </p:spPr>
      </p:pic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583446EB-BE15-0599-6A24-B6AFE71F7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3517179"/>
            <a:ext cx="4292088" cy="185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99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FFCD1-BD38-6394-DBCA-A7029974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8F7508D9-88A5-B703-CE3A-BC703A3C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2.9 CLK domain</a:t>
            </a:r>
            <a:r>
              <a:rPr lang="zh-CN" altLang="en-US" sz="2800" b="1" spc="200" dirty="0">
                <a:ea typeface="微软雅黑" panose="020B0503020204020204" charset="-122"/>
                <a:sym typeface="Arial" panose="020B0604020202020204" pitchFamily="34" charset="0"/>
              </a:rPr>
              <a:t>：</a:t>
            </a: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real-path example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226C8FBC-6B02-2F48-831D-0DE437CFC1D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5496" y="1556792"/>
            <a:ext cx="4320480" cy="45365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Checklist: 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rgbClr val="00B050"/>
                </a:solidFill>
              </a:rPr>
              <a:t>同步分频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zh-CN" altLang="en-US" dirty="0">
                <a:solidFill>
                  <a:srgbClr val="00B050"/>
                </a:solidFill>
              </a:rPr>
              <a:t>倍频路径 </a:t>
            </a:r>
            <a:endParaRPr lang="en-US" altLang="zh-CN" dirty="0">
              <a:solidFill>
                <a:srgbClr val="00B05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</a:rPr>
              <a:t>设置 </a:t>
            </a:r>
            <a:r>
              <a:rPr lang="en-US" altLang="zh-CN" sz="1400" dirty="0">
                <a:solidFill>
                  <a:schemeClr val="tx1"/>
                </a:solidFill>
              </a:rPr>
              <a:t>multi-cycle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rgbClr val="00B050"/>
                </a:solidFill>
              </a:rPr>
              <a:t>握手控制信号路径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endParaRPr lang="en-US" altLang="zh-CN" dirty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tx1"/>
                </a:solidFill>
              </a:rPr>
              <a:t>setup</a:t>
            </a:r>
            <a:r>
              <a:rPr lang="zh-CN" altLang="en-US" sz="1400" dirty="0">
                <a:solidFill>
                  <a:schemeClr val="tx1"/>
                </a:solidFill>
              </a:rPr>
              <a:t>检查仍必须满足最小脉冲宽度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rgbClr val="00B050"/>
                </a:solidFill>
              </a:rPr>
              <a:t>异步</a:t>
            </a:r>
            <a:r>
              <a:rPr lang="en-US" altLang="zh-CN" dirty="0">
                <a:solidFill>
                  <a:srgbClr val="00B050"/>
                </a:solidFill>
              </a:rPr>
              <a:t>FIFO</a:t>
            </a:r>
            <a:r>
              <a:rPr lang="zh-CN" altLang="en-US" dirty="0">
                <a:solidFill>
                  <a:srgbClr val="00B050"/>
                </a:solidFill>
              </a:rPr>
              <a:t>指针同步路径</a:t>
            </a:r>
            <a:r>
              <a:rPr lang="zh-CN" altLang="en-US" dirty="0">
                <a:solidFill>
                  <a:schemeClr val="tx1"/>
                </a:solidFill>
              </a:rPr>
              <a:t>（严格设计）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</a:rPr>
              <a:t>设</a:t>
            </a:r>
            <a:r>
              <a:rPr lang="en-US" altLang="zh-CN" sz="1400" dirty="0" err="1">
                <a:solidFill>
                  <a:schemeClr val="tx1"/>
                </a:solidFill>
              </a:rPr>
              <a:t>max_delay</a:t>
            </a:r>
            <a:r>
              <a:rPr lang="zh-CN" altLang="en-US" sz="1400" dirty="0">
                <a:solidFill>
                  <a:schemeClr val="tx1"/>
                </a:solidFill>
              </a:rPr>
              <a:t>确保指针变化远离采样边沿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</a:rPr>
              <a:t>更精确的</a:t>
            </a:r>
            <a:r>
              <a:rPr lang="en-US" altLang="zh-CN" sz="1400" dirty="0" err="1">
                <a:solidFill>
                  <a:schemeClr val="tx1"/>
                </a:solidFill>
              </a:rPr>
              <a:t>set_data_check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rgbClr val="00B050"/>
                </a:solidFill>
              </a:rPr>
              <a:t>门控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zh-CN" altLang="en-US" dirty="0">
                <a:solidFill>
                  <a:srgbClr val="00B050"/>
                </a:solidFill>
              </a:rPr>
              <a:t>派生时钟的使能路径</a:t>
            </a:r>
            <a:endParaRPr lang="en-US" altLang="zh-CN" dirty="0">
              <a:solidFill>
                <a:srgbClr val="00B05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</a:rPr>
              <a:t>设</a:t>
            </a:r>
            <a:r>
              <a:rPr lang="en-US" altLang="zh-CN" sz="1400" dirty="0" err="1">
                <a:solidFill>
                  <a:schemeClr val="tx1"/>
                </a:solidFill>
              </a:rPr>
              <a:t>max_delay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确保使能信号在时钟有效边沿前稳定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5.</a:t>
            </a:r>
            <a:r>
              <a:rPr lang="zh-CN" altLang="en-US" dirty="0">
                <a:solidFill>
                  <a:srgbClr val="00B050"/>
                </a:solidFill>
              </a:rPr>
              <a:t>复位同步释放路径</a:t>
            </a:r>
            <a:endParaRPr lang="en-US" altLang="zh-CN" dirty="0">
              <a:solidFill>
                <a:srgbClr val="00B05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</a:rPr>
              <a:t>恢复时间（</a:t>
            </a:r>
            <a:r>
              <a:rPr lang="en-US" altLang="zh-CN" sz="1400" dirty="0">
                <a:solidFill>
                  <a:schemeClr val="tx1"/>
                </a:solidFill>
              </a:rPr>
              <a:t>Recovery)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</a:rPr>
              <a:t>移除时间（</a:t>
            </a:r>
            <a:r>
              <a:rPr lang="en-US" altLang="zh-CN" sz="1400" dirty="0">
                <a:solidFill>
                  <a:schemeClr val="tx1"/>
                </a:solidFill>
              </a:rPr>
              <a:t>Removal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矩形 3">
            <a:extLst>
              <a:ext uri="{FF2B5EF4-FFF2-40B4-BE49-F238E27FC236}">
                <a16:creationId xmlns:a16="http://schemas.microsoft.com/office/drawing/2014/main" id="{B6DF2CEC-B4C8-F809-1812-CD9E947506A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99992" y="1628800"/>
            <a:ext cx="4320480" cy="4176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6.</a:t>
            </a:r>
            <a:r>
              <a:rPr lang="zh-CN" altLang="en-US" dirty="0">
                <a:solidFill>
                  <a:schemeClr val="tx1"/>
                </a:solidFill>
              </a:rPr>
              <a:t>时钟切换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复用路径（</a:t>
            </a:r>
            <a:r>
              <a:rPr lang="en-US" altLang="zh-CN" dirty="0">
                <a:solidFill>
                  <a:schemeClr val="tx1"/>
                </a:solidFill>
              </a:rPr>
              <a:t>Clock </a:t>
            </a:r>
            <a:r>
              <a:rPr lang="en-US" altLang="zh-CN" dirty="0" err="1">
                <a:solidFill>
                  <a:schemeClr val="tx1"/>
                </a:solidFill>
              </a:rPr>
              <a:t>Muxing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sz="1400" dirty="0" err="1">
                <a:solidFill>
                  <a:schemeClr val="tx1"/>
                </a:solidFill>
              </a:rPr>
              <a:t>set_clock_groups</a:t>
            </a:r>
            <a:r>
              <a:rPr lang="en-US" altLang="zh-CN" sz="1400" dirty="0">
                <a:solidFill>
                  <a:schemeClr val="tx1"/>
                </a:solidFill>
              </a:rPr>
              <a:t> :</a:t>
            </a:r>
            <a:r>
              <a:rPr lang="en-US" altLang="zh-CN" sz="1400" dirty="0" err="1">
                <a:solidFill>
                  <a:schemeClr val="tx1"/>
                </a:solidFill>
              </a:rPr>
              <a:t>physically_exclusive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7.</a:t>
            </a:r>
            <a:r>
              <a:rPr lang="zh-CN" altLang="en-US" dirty="0">
                <a:solidFill>
                  <a:schemeClr val="tx1"/>
                </a:solidFill>
              </a:rPr>
              <a:t>电源域交叉路径（</a:t>
            </a:r>
            <a:r>
              <a:rPr lang="en-US" altLang="zh-CN" dirty="0">
                <a:solidFill>
                  <a:schemeClr val="tx1"/>
                </a:solidFill>
              </a:rPr>
              <a:t>Isolation Cells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sz="1400" dirty="0" err="1">
                <a:solidFill>
                  <a:schemeClr val="tx1"/>
                </a:solidFill>
              </a:rPr>
              <a:t>set_isolation_control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8.</a:t>
            </a:r>
            <a:r>
              <a:rPr lang="zh-CN" altLang="en-US" dirty="0">
                <a:solidFill>
                  <a:schemeClr val="tx1"/>
                </a:solidFill>
              </a:rPr>
              <a:t>相位偏移时钟路径（</a:t>
            </a:r>
            <a:r>
              <a:rPr lang="en-US" altLang="zh-CN" dirty="0">
                <a:solidFill>
                  <a:schemeClr val="tx1"/>
                </a:solidFill>
              </a:rPr>
              <a:t>Phase-Shifted PLL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</a:rPr>
              <a:t>默认单周期约束误吞相位差导致</a:t>
            </a:r>
            <a:r>
              <a:rPr lang="en-US" altLang="zh-CN" sz="1400" dirty="0">
                <a:solidFill>
                  <a:schemeClr val="tx1"/>
                </a:solidFill>
              </a:rPr>
              <a:t>setup</a:t>
            </a:r>
            <a:r>
              <a:rPr lang="zh-CN" altLang="en-US" sz="1400" dirty="0">
                <a:solidFill>
                  <a:schemeClr val="tx1"/>
                </a:solidFill>
              </a:rPr>
              <a:t>违例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9.</a:t>
            </a:r>
            <a:r>
              <a:rPr lang="zh-CN" altLang="en-US" dirty="0">
                <a:solidFill>
                  <a:schemeClr val="tx1"/>
                </a:solidFill>
              </a:rPr>
              <a:t>源同步接口（</a:t>
            </a:r>
            <a:r>
              <a:rPr lang="en-US" altLang="zh-CN" dirty="0">
                <a:solidFill>
                  <a:schemeClr val="tx1"/>
                </a:solidFill>
              </a:rPr>
              <a:t>Source Synchronous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r>
              <a:rPr lang="en-US" altLang="zh-CN" dirty="0" err="1">
                <a:solidFill>
                  <a:schemeClr val="tx1"/>
                </a:solidFill>
              </a:rPr>
              <a:t>ddr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en-US" altLang="zh-CN" dirty="0" err="1">
                <a:solidFill>
                  <a:schemeClr val="tx1"/>
                </a:solidFill>
              </a:rPr>
              <a:t>serdes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sz="1400" dirty="0" err="1">
                <a:solidFill>
                  <a:schemeClr val="tx1"/>
                </a:solidFill>
              </a:rPr>
              <a:t>set_bus_skew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sz="1400" dirty="0" err="1">
                <a:solidFill>
                  <a:schemeClr val="tx1"/>
                </a:solidFill>
              </a:rPr>
              <a:t>data_check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... </a:t>
            </a:r>
            <a:r>
              <a:rPr lang="zh-CN" altLang="en-US" b="1" i="1" dirty="0">
                <a:solidFill>
                  <a:srgbClr val="FF0000"/>
                </a:solidFill>
              </a:rPr>
              <a:t>永远不可能完备</a:t>
            </a:r>
          </a:p>
          <a:p>
            <a:pPr marL="342900" lvl="1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56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396CD-974D-8FA0-9011-BD98B868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995B946A-2B18-ADEE-ACCD-C7BFEF3F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2.9 CLK domain</a:t>
            </a:r>
            <a:r>
              <a:rPr lang="zh-CN" altLang="en-US" sz="2800" b="1" spc="200" dirty="0">
                <a:ea typeface="微软雅黑" panose="020B0503020204020204" charset="-122"/>
                <a:sym typeface="Arial" panose="020B0604020202020204" pitchFamily="34" charset="0"/>
              </a:rPr>
              <a:t>：</a:t>
            </a: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real-path checklist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7F6FB4F0-B246-11E6-55E5-A6C1643E0D5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556792"/>
            <a:ext cx="7776864" cy="45365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Checklist: 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Universal </a:t>
            </a:r>
            <a:r>
              <a:rPr lang="zh-CN" altLang="en-US" dirty="0">
                <a:solidFill>
                  <a:schemeClr val="tx1"/>
                </a:solidFill>
              </a:rPr>
              <a:t>必须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执行</a:t>
            </a:r>
            <a:r>
              <a:rPr lang="en-US" altLang="zh-CN" sz="1400" dirty="0" err="1">
                <a:solidFill>
                  <a:schemeClr val="tx1"/>
                </a:solidFill>
              </a:rPr>
              <a:t>report_clock_interaction</a:t>
            </a:r>
            <a:r>
              <a:rPr lang="en-US" altLang="zh-CN" sz="1400" dirty="0">
                <a:solidFill>
                  <a:schemeClr val="tx1"/>
                </a:solidFill>
              </a:rPr>
              <a:t> → </a:t>
            </a:r>
            <a:r>
              <a:rPr lang="zh-CN" altLang="en-US" sz="1400" dirty="0">
                <a:solidFill>
                  <a:schemeClr val="tx1"/>
                </a:solidFill>
              </a:rPr>
              <a:t>无</a:t>
            </a:r>
            <a:r>
              <a:rPr lang="en-US" altLang="zh-CN" sz="1400" dirty="0">
                <a:solidFill>
                  <a:schemeClr val="tx1"/>
                </a:solidFill>
              </a:rPr>
              <a:t>"Timed (Unsafe)"</a:t>
            </a:r>
            <a:r>
              <a:rPr lang="zh-CN" altLang="en-US" sz="1400" dirty="0">
                <a:solidFill>
                  <a:schemeClr val="tx1"/>
                </a:solidFill>
              </a:rPr>
              <a:t>标记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执行</a:t>
            </a:r>
            <a:r>
              <a:rPr lang="en-US" altLang="zh-CN" sz="1400" dirty="0" err="1">
                <a:solidFill>
                  <a:schemeClr val="tx1"/>
                </a:solidFill>
              </a:rPr>
              <a:t>report_exceptions</a:t>
            </a:r>
            <a:r>
              <a:rPr lang="en-US" altLang="zh-CN" sz="1400" dirty="0">
                <a:solidFill>
                  <a:schemeClr val="tx1"/>
                </a:solidFill>
              </a:rPr>
              <a:t> -ignored → </a:t>
            </a:r>
            <a:r>
              <a:rPr lang="zh-CN" altLang="en-US" sz="1400" dirty="0">
                <a:solidFill>
                  <a:schemeClr val="tx1"/>
                </a:solidFill>
              </a:rPr>
              <a:t>无非预期忽略的时序弧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所有 </a:t>
            </a:r>
            <a:r>
              <a:rPr lang="en-US" altLang="zh-CN" sz="1400" dirty="0" err="1">
                <a:solidFill>
                  <a:schemeClr val="tx1"/>
                </a:solidFill>
              </a:rPr>
              <a:t>async_set</a:t>
            </a:r>
            <a:r>
              <a:rPr lang="en-US" altLang="zh-CN" sz="1400" dirty="0">
                <a:solidFill>
                  <a:schemeClr val="tx1"/>
                </a:solidFill>
              </a:rPr>
              <a:t>/reset → </a:t>
            </a:r>
            <a:r>
              <a:rPr lang="zh-CN" altLang="en-US" sz="1400" dirty="0">
                <a:solidFill>
                  <a:schemeClr val="tx1"/>
                </a:solidFill>
              </a:rPr>
              <a:t>已设</a:t>
            </a:r>
            <a:r>
              <a:rPr lang="en-US" altLang="zh-CN" sz="1400" dirty="0" err="1">
                <a:solidFill>
                  <a:schemeClr val="tx1"/>
                </a:solidFill>
              </a:rPr>
              <a:t>false_path</a:t>
            </a:r>
            <a:r>
              <a:rPr lang="zh-CN" altLang="en-US" sz="1400" dirty="0">
                <a:solidFill>
                  <a:schemeClr val="tx1"/>
                </a:solidFill>
              </a:rPr>
              <a:t>但保留</a:t>
            </a:r>
            <a:r>
              <a:rPr lang="en-US" altLang="zh-CN" sz="1400" dirty="0">
                <a:solidFill>
                  <a:schemeClr val="tx1"/>
                </a:solidFill>
              </a:rPr>
              <a:t>recovery/removal</a:t>
            </a:r>
          </a:p>
          <a:p>
            <a:pPr lvl="2"/>
            <a:endParaRPr lang="en-US" altLang="zh-CN" sz="1400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Design-Pattern Based </a:t>
            </a:r>
            <a:r>
              <a:rPr lang="zh-CN" altLang="en-US" dirty="0">
                <a:solidFill>
                  <a:schemeClr val="tx1"/>
                </a:solidFill>
              </a:rPr>
              <a:t>模式匹配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存在分频器：检查</a:t>
            </a:r>
            <a:r>
              <a:rPr lang="en-US" altLang="zh-CN" sz="1400" dirty="0" err="1">
                <a:solidFill>
                  <a:schemeClr val="tx1"/>
                </a:solidFill>
              </a:rPr>
              <a:t>multicycle_path</a:t>
            </a:r>
            <a:r>
              <a:rPr lang="en-US" altLang="zh-CN" sz="1400" dirty="0">
                <a:solidFill>
                  <a:schemeClr val="tx1"/>
                </a:solidFill>
              </a:rPr>
              <a:t> -setup</a:t>
            </a:r>
            <a:r>
              <a:rPr lang="zh-CN" altLang="en-US" sz="1400" dirty="0">
                <a:solidFill>
                  <a:schemeClr val="tx1"/>
                </a:solidFill>
              </a:rPr>
              <a:t>与</a:t>
            </a:r>
            <a:r>
              <a:rPr lang="en-US" altLang="zh-CN" sz="1400" dirty="0">
                <a:solidFill>
                  <a:schemeClr val="tx1"/>
                </a:solidFill>
              </a:rPr>
              <a:t>-hold</a:t>
            </a:r>
            <a:r>
              <a:rPr lang="zh-CN" altLang="en-US" sz="1400" dirty="0">
                <a:solidFill>
                  <a:schemeClr val="tx1"/>
                </a:solidFill>
              </a:rPr>
              <a:t>是否成对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存在</a:t>
            </a:r>
            <a:r>
              <a:rPr lang="en-US" altLang="zh-CN" sz="1400" dirty="0">
                <a:solidFill>
                  <a:schemeClr val="tx1"/>
                </a:solidFill>
              </a:rPr>
              <a:t>FIFO</a:t>
            </a:r>
            <a:r>
              <a:rPr lang="zh-CN" altLang="en-US" sz="1400" dirty="0">
                <a:solidFill>
                  <a:schemeClr val="tx1"/>
                </a:solidFill>
              </a:rPr>
              <a:t>：检查格雷码路径</a:t>
            </a:r>
            <a:r>
              <a:rPr lang="en-US" altLang="zh-CN" sz="1400" dirty="0" err="1">
                <a:solidFill>
                  <a:schemeClr val="tx1"/>
                </a:solidFill>
              </a:rPr>
              <a:t>max_delay</a:t>
            </a:r>
            <a:r>
              <a:rPr lang="en-US" altLang="zh-CN" sz="1400" dirty="0">
                <a:solidFill>
                  <a:schemeClr val="tx1"/>
                </a:solidFill>
              </a:rPr>
              <a:t> &lt; </a:t>
            </a:r>
            <a:r>
              <a:rPr lang="zh-CN" altLang="en-US" sz="1400" dirty="0">
                <a:solidFill>
                  <a:schemeClr val="tx1"/>
                </a:solidFill>
              </a:rPr>
              <a:t>目标时钟周期</a:t>
            </a:r>
            <a:r>
              <a:rPr lang="en-US" altLang="zh-CN" sz="1400" dirty="0">
                <a:solidFill>
                  <a:schemeClr val="tx1"/>
                </a:solidFill>
              </a:rPr>
              <a:t>/2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存在时钟切换：检查</a:t>
            </a:r>
            <a:r>
              <a:rPr lang="en-US" altLang="zh-CN" sz="1400" dirty="0" err="1">
                <a:solidFill>
                  <a:schemeClr val="tx1"/>
                </a:solidFill>
              </a:rPr>
              <a:t>clock_groups</a:t>
            </a:r>
            <a:r>
              <a:rPr lang="zh-CN" altLang="en-US" sz="1400" dirty="0">
                <a:solidFill>
                  <a:schemeClr val="tx1"/>
                </a:solidFill>
              </a:rPr>
              <a:t>是否设为</a:t>
            </a:r>
            <a:r>
              <a:rPr lang="en-US" altLang="zh-CN" sz="1400" dirty="0" err="1">
                <a:solidFill>
                  <a:schemeClr val="tx1"/>
                </a:solidFill>
              </a:rPr>
              <a:t>physically_exclusive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存在电源域：检查</a:t>
            </a:r>
            <a:r>
              <a:rPr lang="en-US" altLang="zh-CN" sz="1400" dirty="0" err="1">
                <a:solidFill>
                  <a:schemeClr val="tx1"/>
                </a:solidFill>
              </a:rPr>
              <a:t>isolation_cell</a:t>
            </a:r>
            <a:r>
              <a:rPr lang="zh-CN" altLang="en-US" sz="1400" dirty="0">
                <a:solidFill>
                  <a:schemeClr val="tx1"/>
                </a:solidFill>
              </a:rPr>
              <a:t>时序约束覆盖率</a:t>
            </a:r>
            <a:r>
              <a:rPr lang="en-US" altLang="zh-CN" sz="1400" dirty="0">
                <a:solidFill>
                  <a:schemeClr val="tx1"/>
                </a:solidFill>
              </a:rPr>
              <a:t>100%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存在源同步接口：检查</a:t>
            </a:r>
            <a:r>
              <a:rPr lang="en-US" altLang="zh-CN" sz="1400" dirty="0" err="1">
                <a:solidFill>
                  <a:schemeClr val="tx1"/>
                </a:solidFill>
              </a:rPr>
              <a:t>bus_skew</a:t>
            </a:r>
            <a:r>
              <a:rPr lang="en-US" altLang="zh-CN" sz="1400" dirty="0">
                <a:solidFill>
                  <a:schemeClr val="tx1"/>
                </a:solidFill>
              </a:rPr>
              <a:t> vs </a:t>
            </a:r>
            <a:r>
              <a:rPr lang="en-US" altLang="zh-CN" sz="1400" dirty="0" err="1">
                <a:solidFill>
                  <a:schemeClr val="tx1"/>
                </a:solidFill>
              </a:rPr>
              <a:t>data_check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约束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lvl="2"/>
            <a:endParaRPr lang="en-US" altLang="zh-CN" sz="1400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Project-Specific </a:t>
            </a:r>
            <a:r>
              <a:rPr lang="zh-CN" altLang="en-US" dirty="0">
                <a:solidFill>
                  <a:schemeClr val="tx1"/>
                </a:solidFill>
              </a:rPr>
              <a:t>项目定制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动态调频设计：</a:t>
            </a:r>
            <a:r>
              <a:rPr lang="en-US" altLang="zh-CN" sz="1400" dirty="0" err="1">
                <a:solidFill>
                  <a:schemeClr val="tx1"/>
                </a:solidFill>
              </a:rPr>
              <a:t>operating_conditions</a:t>
            </a:r>
            <a:r>
              <a:rPr lang="zh-CN" altLang="en-US" sz="1400" dirty="0">
                <a:solidFill>
                  <a:schemeClr val="tx1"/>
                </a:solidFill>
              </a:rPr>
              <a:t>是否覆盖所有频点组合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低功耗设计：</a:t>
            </a:r>
            <a:r>
              <a:rPr lang="en-US" altLang="zh-CN" sz="1400" dirty="0" err="1">
                <a:solidFill>
                  <a:schemeClr val="tx1"/>
                </a:solidFill>
              </a:rPr>
              <a:t>retention_cell</a:t>
            </a:r>
            <a:r>
              <a:rPr lang="zh-CN" altLang="en-US" sz="1400" dirty="0">
                <a:solidFill>
                  <a:schemeClr val="tx1"/>
                </a:solidFill>
              </a:rPr>
              <a:t>的</a:t>
            </a:r>
            <a:r>
              <a:rPr lang="en-US" altLang="zh-CN" sz="1400" dirty="0">
                <a:solidFill>
                  <a:schemeClr val="tx1"/>
                </a:solidFill>
              </a:rPr>
              <a:t>save/restore</a:t>
            </a:r>
            <a:r>
              <a:rPr lang="zh-CN" altLang="en-US" sz="1400" dirty="0">
                <a:solidFill>
                  <a:schemeClr val="tx1"/>
                </a:solidFill>
              </a:rPr>
              <a:t>时序约束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安全岛设计：</a:t>
            </a:r>
            <a:r>
              <a:rPr lang="en-US" altLang="zh-CN" sz="1400" dirty="0">
                <a:solidFill>
                  <a:schemeClr val="tx1"/>
                </a:solidFill>
              </a:rPr>
              <a:t>lockstep</a:t>
            </a:r>
            <a:r>
              <a:rPr lang="zh-CN" altLang="en-US" sz="1400" dirty="0">
                <a:solidFill>
                  <a:schemeClr val="tx1"/>
                </a:solidFill>
              </a:rPr>
              <a:t>比较器路径的</a:t>
            </a:r>
            <a:r>
              <a:rPr lang="en-US" altLang="zh-CN" sz="1400" dirty="0" err="1">
                <a:solidFill>
                  <a:schemeClr val="tx1"/>
                </a:solidFill>
              </a:rPr>
              <a:t>max_delay</a:t>
            </a:r>
            <a:r>
              <a:rPr lang="zh-CN" altLang="en-US" sz="1400" dirty="0">
                <a:solidFill>
                  <a:schemeClr val="tx1"/>
                </a:solidFill>
              </a:rPr>
              <a:t>约束</a:t>
            </a:r>
            <a:endParaRPr lang="en-US" altLang="zh-CN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414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65621-996F-F733-F51E-E8F93434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265F2618-A298-349A-414D-6F93DA0D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2.9 CLK domain</a:t>
            </a:r>
            <a:r>
              <a:rPr lang="zh-CN" altLang="en-US" sz="2800" b="1" spc="200" dirty="0">
                <a:ea typeface="微软雅黑" panose="020B0503020204020204" charset="-122"/>
                <a:sym typeface="Arial" panose="020B0604020202020204" pitchFamily="34" charset="0"/>
              </a:rPr>
              <a:t>：</a:t>
            </a: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operation condition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C896F5D6-6157-BC49-9D62-96F49BF1303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27980" y="1484784"/>
            <a:ext cx="8064896" cy="43924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 fontScale="8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</a:rPr>
              <a:t>PVT </a:t>
            </a: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for STA</a:t>
            </a:r>
          </a:p>
          <a:p>
            <a:pPr marL="1200150" lvl="2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Worst-Case Slow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Process is </a:t>
            </a:r>
            <a:r>
              <a:rPr lang="en-US" altLang="zh-CN" dirty="0">
                <a:solidFill>
                  <a:srgbClr val="00B0F0"/>
                </a:solidFill>
              </a:rPr>
              <a:t>slow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temperature is </a:t>
            </a:r>
            <a:r>
              <a:rPr lang="en-US" altLang="zh-CN" dirty="0">
                <a:solidFill>
                  <a:srgbClr val="FF0000"/>
                </a:solidFill>
              </a:rPr>
              <a:t>highest</a:t>
            </a:r>
            <a:r>
              <a:rPr lang="en-US" altLang="zh-CN" dirty="0">
                <a:solidFill>
                  <a:schemeClr val="tx1"/>
                </a:solidFill>
              </a:rPr>
              <a:t> or </a:t>
            </a:r>
            <a:r>
              <a:rPr lang="en-US" altLang="zh-CN" b="1" i="1" dirty="0">
                <a:solidFill>
                  <a:srgbClr val="0070C0"/>
                </a:solidFill>
              </a:rPr>
              <a:t>lowest</a:t>
            </a:r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zh-CN" altLang="en-US" sz="1400" b="1" i="1" dirty="0">
                <a:solidFill>
                  <a:schemeClr val="tx1"/>
                </a:solidFill>
              </a:rPr>
              <a:t>温度↓ ；晶格振动↓；迁移率↑；</a:t>
            </a:r>
            <a:r>
              <a:rPr lang="en-US" altLang="zh-CN" sz="1400" b="1" i="1" dirty="0" err="1">
                <a:solidFill>
                  <a:schemeClr val="tx1"/>
                </a:solidFill>
              </a:rPr>
              <a:t>dly</a:t>
            </a:r>
            <a:r>
              <a:rPr lang="zh-CN" altLang="en-US" sz="1400" b="1" i="1" dirty="0">
                <a:solidFill>
                  <a:schemeClr val="tx1"/>
                </a:solidFill>
              </a:rPr>
              <a:t>↓</a:t>
            </a:r>
            <a:endParaRPr lang="en-US" altLang="zh-CN" sz="1400" b="1" i="1" dirty="0">
              <a:solidFill>
                <a:schemeClr val="tx1"/>
              </a:solidFill>
            </a:endParaRPr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US" altLang="zh-CN" sz="1400" b="1" i="1" dirty="0">
                <a:solidFill>
                  <a:schemeClr val="tx1"/>
                </a:solidFill>
              </a:rPr>
              <a:t>&lt;65nm</a:t>
            </a:r>
            <a:r>
              <a:rPr lang="zh-CN" altLang="en-US" sz="1400" b="1" i="1" dirty="0">
                <a:solidFill>
                  <a:schemeClr val="tx1"/>
                </a:solidFill>
              </a:rPr>
              <a:t>：</a:t>
            </a:r>
            <a:r>
              <a:rPr lang="en-US" altLang="zh-CN" sz="1400" b="1" i="1" dirty="0">
                <a:solidFill>
                  <a:schemeClr val="tx1"/>
                </a:solidFill>
              </a:rPr>
              <a:t>t↓</a:t>
            </a:r>
            <a:r>
              <a:rPr lang="zh-CN" altLang="en-US" sz="1400" b="1" i="1" dirty="0">
                <a:solidFill>
                  <a:schemeClr val="tx1"/>
                </a:solidFill>
              </a:rPr>
              <a:t>；</a:t>
            </a:r>
            <a:r>
              <a:rPr lang="en-US" altLang="zh-CN" sz="1400" b="1" i="1" dirty="0">
                <a:solidFill>
                  <a:schemeClr val="tx1"/>
                </a:solidFill>
              </a:rPr>
              <a:t>Vth ↑;  </a:t>
            </a:r>
            <a:r>
              <a:rPr lang="en-US" altLang="zh-CN" sz="1400" b="1" i="1" dirty="0" err="1">
                <a:solidFill>
                  <a:schemeClr val="tx1"/>
                </a:solidFill>
              </a:rPr>
              <a:t>dly</a:t>
            </a:r>
            <a:r>
              <a:rPr lang="en-US" altLang="zh-CN" sz="1400" b="1" i="1" dirty="0">
                <a:solidFill>
                  <a:schemeClr val="tx1"/>
                </a:solidFill>
              </a:rPr>
              <a:t> ↑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and voltage is </a:t>
            </a:r>
            <a:r>
              <a:rPr lang="en-US" altLang="zh-CN" dirty="0">
                <a:solidFill>
                  <a:srgbClr val="0070C0"/>
                </a:solidFill>
              </a:rPr>
              <a:t>lowest</a:t>
            </a:r>
          </a:p>
          <a:p>
            <a:pPr marL="1200150" lvl="2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Typical</a:t>
            </a:r>
          </a:p>
          <a:p>
            <a:pPr marL="1200150" lvl="2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Best-Case Fast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Process is </a:t>
            </a:r>
            <a:r>
              <a:rPr lang="en-US" altLang="zh-CN" dirty="0">
                <a:solidFill>
                  <a:srgbClr val="FF0000"/>
                </a:solidFill>
              </a:rPr>
              <a:t>fast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temperature is </a:t>
            </a:r>
            <a:r>
              <a:rPr lang="en-US" altLang="zh-CN" dirty="0">
                <a:solidFill>
                  <a:srgbClr val="0070C0"/>
                </a:solidFill>
              </a:rPr>
              <a:t>lowest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and voltage is </a:t>
            </a:r>
            <a:r>
              <a:rPr lang="en-US" altLang="zh-CN" dirty="0">
                <a:solidFill>
                  <a:srgbClr val="FF0000"/>
                </a:solidFill>
              </a:rPr>
              <a:t>highest</a:t>
            </a:r>
          </a:p>
          <a:p>
            <a:pPr lvl="3"/>
            <a:endParaRPr lang="en-US" altLang="zh-CN" dirty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for power analysis</a:t>
            </a:r>
          </a:p>
          <a:p>
            <a:pPr marL="1200150" lvl="2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Maximal Leakage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Process is fast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temperature is highest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voltage is also the highest</a:t>
            </a:r>
          </a:p>
          <a:p>
            <a:pPr marL="1200150" lvl="2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Typical Leakage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Process is typical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temperature is </a:t>
            </a:r>
            <a:r>
              <a:rPr lang="en-US" altLang="zh-CN" dirty="0">
                <a:solidFill>
                  <a:srgbClr val="FF0000"/>
                </a:solidFill>
              </a:rPr>
              <a:t>highest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因为芯片运行起来，就会接近最高温度</a:t>
            </a:r>
            <a:r>
              <a:rPr lang="en-US" altLang="zh-CN" dirty="0">
                <a:solidFill>
                  <a:schemeClr val="tx1"/>
                </a:solidFill>
              </a:rPr>
              <a:t>...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voltage is nominal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0330C429-DA36-F96F-BD3F-544668D55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488015"/>
            <a:ext cx="3809132" cy="312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65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8D3FB-D63D-8584-8C2B-4D1C08EC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29A38680-30BA-5733-65E9-EA78B186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3 STA : set &amp; hold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48670F5B-34CE-E127-FBDF-BEE26747AC0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11560" y="1556792"/>
            <a:ext cx="7920880" cy="41044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setup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why need : RC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path-type: </a:t>
            </a:r>
            <a:r>
              <a:rPr lang="en-US" altLang="zh-CN" dirty="0">
                <a:solidFill>
                  <a:srgbClr val="FF0000"/>
                </a:solidFill>
              </a:rPr>
              <a:t>max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所有的延迟，都要用最大值来计算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</a:rPr>
              <a:t>前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后沿</a:t>
            </a:r>
            <a:r>
              <a:rPr lang="zh-CN" altLang="en-US" dirty="0">
                <a:solidFill>
                  <a:schemeClr val="tx1"/>
                </a:solidFill>
              </a:rPr>
              <a:t>检查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hold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why need : DFF  = 2 master &amp; slave latch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path-type: </a:t>
            </a:r>
            <a:r>
              <a:rPr lang="en-US" altLang="zh-CN" dirty="0">
                <a:solidFill>
                  <a:srgbClr val="FF0000"/>
                </a:solidFill>
              </a:rPr>
              <a:t>min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所有的延迟，要用最小值来计算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</a:rPr>
              <a:t>同一个沿</a:t>
            </a:r>
            <a:r>
              <a:rPr lang="zh-CN" altLang="en-US" dirty="0">
                <a:solidFill>
                  <a:schemeClr val="tx1"/>
                </a:solidFill>
              </a:rPr>
              <a:t>检查</a:t>
            </a:r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473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5813D-C855-3268-DFF6-4BAB5E4D4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61F2D0D5-FE6A-D649-5036-F54A7EE2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3.1 SET</a:t>
            </a:r>
            <a:r>
              <a:rPr lang="zh-CN" altLang="en-US" sz="2800" b="1" spc="200" dirty="0">
                <a:ea typeface="微软雅黑" panose="020B0503020204020204" charset="-122"/>
                <a:sym typeface="Arial" panose="020B0604020202020204" pitchFamily="34" charset="0"/>
              </a:rPr>
              <a:t>：</a:t>
            </a:r>
            <a:r>
              <a:rPr lang="en-US" altLang="zh-CN" sz="2800" b="1" spc="200" dirty="0" err="1">
                <a:ea typeface="微软雅黑" panose="020B0503020204020204" charset="-122"/>
                <a:sym typeface="Arial" panose="020B0604020202020204" pitchFamily="34" charset="0"/>
              </a:rPr>
              <a:t>reg_to_reg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343C91C9-37F6-663C-29D3-3D766B95748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5536" y="1556792"/>
            <a:ext cx="8291264" cy="45365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00B050"/>
                </a:solidFill>
              </a:rPr>
              <a:t>Tlaunch</a:t>
            </a:r>
            <a:r>
              <a:rPr lang="en-US" altLang="zh-CN" dirty="0">
                <a:solidFill>
                  <a:schemeClr val="tx1"/>
                </a:solidFill>
              </a:rPr>
              <a:t> + </a:t>
            </a:r>
            <a:r>
              <a:rPr lang="en-US" altLang="zh-CN" dirty="0">
                <a:solidFill>
                  <a:srgbClr val="FF0000"/>
                </a:solidFill>
              </a:rPr>
              <a:t>Tck2q</a:t>
            </a:r>
            <a:r>
              <a:rPr lang="en-US" altLang="zh-CN" dirty="0">
                <a:solidFill>
                  <a:schemeClr val="tx1"/>
                </a:solidFill>
              </a:rPr>
              <a:t> +Tdp &lt; </a:t>
            </a:r>
            <a:r>
              <a:rPr lang="en-US" altLang="zh-CN" dirty="0" err="1">
                <a:solidFill>
                  <a:srgbClr val="00B050"/>
                </a:solidFill>
              </a:rPr>
              <a:t>Tcapture</a:t>
            </a:r>
            <a:r>
              <a:rPr lang="en-US" altLang="zh-CN" dirty="0">
                <a:solidFill>
                  <a:schemeClr val="tx1"/>
                </a:solidFill>
              </a:rPr>
              <a:t> + </a:t>
            </a:r>
            <a:r>
              <a:rPr lang="en-US" altLang="zh-CN" dirty="0" err="1">
                <a:solidFill>
                  <a:srgbClr val="00B0F0"/>
                </a:solidFill>
              </a:rPr>
              <a:t>Tcycle</a:t>
            </a:r>
            <a:r>
              <a:rPr lang="en-US" altLang="zh-CN" dirty="0">
                <a:solidFill>
                  <a:schemeClr val="tx1"/>
                </a:solidFill>
              </a:rPr>
              <a:t> – </a:t>
            </a:r>
            <a:r>
              <a:rPr lang="en-US" altLang="zh-CN" dirty="0" err="1">
                <a:solidFill>
                  <a:srgbClr val="FF0000"/>
                </a:solidFill>
              </a:rPr>
              <a:t>Tsetup</a:t>
            </a:r>
            <a:endParaRPr lang="en-US" altLang="zh-CN" dirty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00B050"/>
                </a:solidFill>
              </a:rPr>
              <a:t>Tlaunch</a:t>
            </a:r>
            <a:r>
              <a:rPr lang="en-US" altLang="zh-CN" dirty="0">
                <a:solidFill>
                  <a:srgbClr val="00B050"/>
                </a:solidFill>
              </a:rPr>
              <a:t> – </a:t>
            </a:r>
            <a:r>
              <a:rPr lang="en-US" altLang="zh-CN" dirty="0" err="1">
                <a:solidFill>
                  <a:srgbClr val="00B050"/>
                </a:solidFill>
              </a:rPr>
              <a:t>Tcapture</a:t>
            </a:r>
            <a:r>
              <a:rPr lang="en-US" altLang="zh-CN" dirty="0">
                <a:solidFill>
                  <a:srgbClr val="00B050"/>
                </a:solidFill>
              </a:rPr>
              <a:t> = skew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00B0F0"/>
                </a:solidFill>
              </a:rPr>
              <a:t>Tcycle</a:t>
            </a:r>
            <a:r>
              <a:rPr lang="en-US" altLang="zh-CN" dirty="0">
                <a:solidFill>
                  <a:srgbClr val="00B0F0"/>
                </a:solidFill>
              </a:rPr>
              <a:t> -&gt; expect-</a:t>
            </a:r>
            <a:r>
              <a:rPr lang="en-US" altLang="zh-CN" dirty="0" err="1">
                <a:solidFill>
                  <a:srgbClr val="00B0F0"/>
                </a:solidFill>
              </a:rPr>
              <a:t>freq</a:t>
            </a:r>
            <a:endParaRPr lang="en-US" altLang="zh-CN" dirty="0">
              <a:solidFill>
                <a:srgbClr val="00B0F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Tck2q, </a:t>
            </a:r>
            <a:r>
              <a:rPr lang="en-US" altLang="zh-CN" dirty="0" err="1">
                <a:solidFill>
                  <a:srgbClr val="FF0000"/>
                </a:solidFill>
              </a:rPr>
              <a:t>Tsetup</a:t>
            </a:r>
            <a:r>
              <a:rPr lang="en-US" altLang="zh-CN" dirty="0">
                <a:solidFill>
                  <a:srgbClr val="FF0000"/>
                </a:solidFill>
              </a:rPr>
              <a:t> -&gt; standard cell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 err="1">
                <a:solidFill>
                  <a:schemeClr val="tx1"/>
                </a:solidFill>
              </a:rPr>
              <a:t>Tdp</a:t>
            </a:r>
            <a:r>
              <a:rPr lang="en-US" altLang="zh-CN" dirty="0">
                <a:solidFill>
                  <a:schemeClr val="tx1"/>
                </a:solidFill>
              </a:rPr>
              <a:t> is Target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工具会报</a:t>
            </a:r>
            <a:r>
              <a:rPr lang="en-US" altLang="zh-CN" dirty="0">
                <a:solidFill>
                  <a:schemeClr val="tx1"/>
                </a:solidFill>
              </a:rPr>
              <a:t>slack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If violate :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Skew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Freq ↓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 err="1">
                <a:solidFill>
                  <a:schemeClr val="tx1"/>
                </a:solidFill>
              </a:rPr>
              <a:t>Tdp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拆分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4" name="图片 3" descr="图示, 示意图&#10;&#10;AI 生成的内容可能不正确。">
            <a:extLst>
              <a:ext uri="{FF2B5EF4-FFF2-40B4-BE49-F238E27FC236}">
                <a16:creationId xmlns:a16="http://schemas.microsoft.com/office/drawing/2014/main" id="{3B5A3F0E-7E91-DFC2-590A-37EA4E9C5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311" y="2060848"/>
            <a:ext cx="3486153" cy="391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30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DA4A3-1B9B-DBE9-47B4-EAD7CBAAD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E208BF10-807C-A290-0A91-ADBBE88EE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3.1 SET</a:t>
            </a:r>
            <a:r>
              <a:rPr lang="zh-CN" altLang="en-US" sz="2800" b="1" spc="200" dirty="0">
                <a:ea typeface="微软雅黑" panose="020B0503020204020204" charset="-122"/>
                <a:sym typeface="Arial" panose="020B0604020202020204" pitchFamily="34" charset="0"/>
              </a:rPr>
              <a:t>：</a:t>
            </a: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inverter &amp; </a:t>
            </a:r>
            <a:r>
              <a:rPr lang="en-US" altLang="zh-CN" sz="2800" b="1" spc="200" dirty="0" err="1">
                <a:ea typeface="微软雅黑" panose="020B0503020204020204" charset="-122"/>
                <a:sym typeface="Arial" panose="020B0604020202020204" pitchFamily="34" charset="0"/>
              </a:rPr>
              <a:t>dff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351A8A37-7A75-CE6C-88FB-ACC1D4AF2A8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5536" y="1556792"/>
            <a:ext cx="8064896" cy="4176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Inverter - &gt; 2*n = delay cell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Delay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Skew</a:t>
            </a: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DFF  -&gt; </a:t>
            </a:r>
            <a:r>
              <a:rPr lang="zh-CN" altLang="en-US" dirty="0">
                <a:solidFill>
                  <a:schemeClr val="tx1"/>
                </a:solidFill>
              </a:rPr>
              <a:t>打一拍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 err="1">
                <a:solidFill>
                  <a:schemeClr val="tx1"/>
                </a:solidFill>
              </a:rPr>
              <a:t>Tdp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拆分，拆分组合逻辑</a:t>
            </a:r>
            <a:endParaRPr lang="en-US" altLang="zh-CN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MIPS 5</a:t>
            </a:r>
            <a:r>
              <a:rPr lang="zh-CN" altLang="en-US" dirty="0">
                <a:solidFill>
                  <a:schemeClr val="tx1"/>
                </a:solidFill>
              </a:rPr>
              <a:t>级流水线</a:t>
            </a:r>
            <a:endParaRPr lang="en-US" altLang="zh-CN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035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D99C-A580-4C15-3879-F92C5FEE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D7FEDDFE-4BDA-6199-1F19-34F68184A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3.2 hold</a:t>
            </a:r>
            <a:r>
              <a:rPr lang="zh-CN" altLang="en-US" sz="2800" b="1" spc="200" dirty="0">
                <a:ea typeface="微软雅黑" panose="020B0503020204020204" charset="-122"/>
                <a:sym typeface="Arial" panose="020B0604020202020204" pitchFamily="34" charset="0"/>
              </a:rPr>
              <a:t>：</a:t>
            </a:r>
            <a:r>
              <a:rPr lang="en-US" altLang="zh-CN" sz="2800" b="1" spc="200" dirty="0" err="1">
                <a:ea typeface="微软雅黑" panose="020B0503020204020204" charset="-122"/>
                <a:sym typeface="Arial" panose="020B0604020202020204" pitchFamily="34" charset="0"/>
              </a:rPr>
              <a:t>reg_to_reg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E9DAA62E-D602-9B1A-85C9-348964CFA2F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5536" y="1556792"/>
            <a:ext cx="8136904" cy="45365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00B050"/>
                </a:solidFill>
              </a:rPr>
              <a:t>Tlaunch</a:t>
            </a:r>
            <a:r>
              <a:rPr lang="en-US" altLang="zh-CN" dirty="0">
                <a:solidFill>
                  <a:schemeClr val="tx1"/>
                </a:solidFill>
              </a:rPr>
              <a:t> + </a:t>
            </a:r>
            <a:r>
              <a:rPr lang="en-US" altLang="zh-CN" dirty="0">
                <a:solidFill>
                  <a:srgbClr val="00B0F0"/>
                </a:solidFill>
              </a:rPr>
              <a:t>Tck2q</a:t>
            </a:r>
            <a:r>
              <a:rPr lang="en-US" altLang="zh-CN" dirty="0">
                <a:solidFill>
                  <a:schemeClr val="tx1"/>
                </a:solidFill>
              </a:rPr>
              <a:t> + </a:t>
            </a:r>
            <a:r>
              <a:rPr lang="en-US" altLang="zh-CN" dirty="0" err="1">
                <a:solidFill>
                  <a:schemeClr val="tx1"/>
                </a:solidFill>
              </a:rPr>
              <a:t>Tdp</a:t>
            </a:r>
            <a:r>
              <a:rPr lang="en-US" altLang="zh-CN" dirty="0">
                <a:solidFill>
                  <a:schemeClr val="tx1"/>
                </a:solidFill>
              </a:rPr>
              <a:t> &gt; </a:t>
            </a:r>
            <a:r>
              <a:rPr lang="en-US" altLang="zh-CN" dirty="0" err="1">
                <a:solidFill>
                  <a:srgbClr val="00B050"/>
                </a:solidFill>
              </a:rPr>
              <a:t>Tcapture</a:t>
            </a:r>
            <a:r>
              <a:rPr lang="en-US" altLang="zh-CN" dirty="0">
                <a:solidFill>
                  <a:schemeClr val="tx1"/>
                </a:solidFill>
              </a:rPr>
              <a:t> + </a:t>
            </a:r>
            <a:r>
              <a:rPr lang="en-US" altLang="zh-CN" dirty="0">
                <a:solidFill>
                  <a:srgbClr val="00B0F0"/>
                </a:solidFill>
              </a:rPr>
              <a:t>Thold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 err="1">
                <a:solidFill>
                  <a:srgbClr val="00B050"/>
                </a:solidFill>
              </a:rPr>
              <a:t>Tlaunch</a:t>
            </a:r>
            <a:r>
              <a:rPr lang="en-US" altLang="zh-CN" dirty="0">
                <a:solidFill>
                  <a:schemeClr val="tx1"/>
                </a:solidFill>
              </a:rPr>
              <a:t> – </a:t>
            </a:r>
            <a:r>
              <a:rPr lang="en-US" altLang="zh-CN" dirty="0" err="1">
                <a:solidFill>
                  <a:srgbClr val="00B050"/>
                </a:solidFill>
              </a:rPr>
              <a:t>Tcapture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>
                <a:solidFill>
                  <a:srgbClr val="00B050"/>
                </a:solidFill>
              </a:rPr>
              <a:t>clk</a:t>
            </a:r>
            <a:r>
              <a:rPr lang="en-US" altLang="zh-CN" dirty="0">
                <a:solidFill>
                  <a:srgbClr val="00B050"/>
                </a:solidFill>
              </a:rPr>
              <a:t> skew </a:t>
            </a:r>
            <a:endParaRPr lang="en-US" altLang="zh-CN" dirty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00B0F0"/>
                </a:solidFill>
              </a:rPr>
              <a:t>Tck2q, Thold -&gt; standard cell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 err="1">
                <a:solidFill>
                  <a:schemeClr val="tx1"/>
                </a:solidFill>
              </a:rPr>
              <a:t>Tdp</a:t>
            </a:r>
            <a:r>
              <a:rPr lang="en-US" altLang="zh-CN" dirty="0">
                <a:solidFill>
                  <a:schemeClr val="tx1"/>
                </a:solidFill>
              </a:rPr>
              <a:t> is Target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FF0000"/>
                </a:solidFill>
              </a:rPr>
              <a:t>has no effect with </a:t>
            </a:r>
            <a:r>
              <a:rPr lang="en-US" altLang="zh-CN" dirty="0" err="1">
                <a:solidFill>
                  <a:srgbClr val="FF0000"/>
                </a:solidFill>
              </a:rPr>
              <a:t>freq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If violate :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 err="1">
                <a:solidFill>
                  <a:schemeClr val="tx1"/>
                </a:solidFill>
              </a:rPr>
              <a:t>Tdp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加逻辑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换慢</a:t>
            </a:r>
            <a:r>
              <a:rPr lang="en-US" altLang="zh-CN" dirty="0">
                <a:solidFill>
                  <a:schemeClr val="tx1"/>
                </a:solidFill>
              </a:rPr>
              <a:t>cell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Skew </a:t>
            </a:r>
            <a:r>
              <a:rPr lang="zh-CN" altLang="en-US" dirty="0">
                <a:solidFill>
                  <a:schemeClr val="tx1"/>
                </a:solidFill>
              </a:rPr>
              <a:t>要谨慎</a:t>
            </a:r>
            <a:endParaRPr lang="en-US" altLang="zh-CN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先</a:t>
            </a:r>
            <a:r>
              <a:rPr lang="en-US" altLang="zh-CN" dirty="0">
                <a:solidFill>
                  <a:schemeClr val="tx1"/>
                </a:solidFill>
              </a:rPr>
              <a:t>set</a:t>
            </a:r>
            <a:r>
              <a:rPr lang="zh-CN" altLang="en-US" dirty="0">
                <a:solidFill>
                  <a:schemeClr val="tx1"/>
                </a:solidFill>
              </a:rPr>
              <a:t>；再</a:t>
            </a:r>
            <a:r>
              <a:rPr lang="en-US" altLang="zh-CN" dirty="0">
                <a:solidFill>
                  <a:schemeClr val="tx1"/>
                </a:solidFill>
              </a:rPr>
              <a:t>hold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2" descr="图示, 示意图&#10;&#10;AI 生成的内容可能不正确。">
            <a:extLst>
              <a:ext uri="{FF2B5EF4-FFF2-40B4-BE49-F238E27FC236}">
                <a16:creationId xmlns:a16="http://schemas.microsoft.com/office/drawing/2014/main" id="{9E48D591-0FAB-4A81-9259-32E40EE66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555" y="1844824"/>
            <a:ext cx="3876245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54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06488-0E70-A7E5-DE74-9203E6BF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7B0F55A9-4FE3-DDDF-8437-5963DA54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3.3 multi-cycle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14AD8766-15F3-2857-D3C7-7A661678067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5536" y="1556792"/>
            <a:ext cx="8064896" cy="46805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如果某段电路 </a:t>
            </a:r>
            <a:r>
              <a:rPr lang="en-US" altLang="zh-CN" dirty="0" err="1">
                <a:solidFill>
                  <a:schemeClr val="tx1"/>
                </a:solidFill>
              </a:rPr>
              <a:t>Tdp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一个</a:t>
            </a:r>
            <a:r>
              <a:rPr lang="en-US" altLang="zh-CN" dirty="0">
                <a:solidFill>
                  <a:schemeClr val="tx1"/>
                </a:solidFill>
              </a:rPr>
              <a:t>cycle</a:t>
            </a:r>
            <a:r>
              <a:rPr lang="zh-CN" altLang="en-US" dirty="0">
                <a:solidFill>
                  <a:schemeClr val="tx1"/>
                </a:solidFill>
              </a:rPr>
              <a:t>的确搞不定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可以约束为</a:t>
            </a:r>
            <a:r>
              <a:rPr lang="en-US" altLang="zh-CN" dirty="0">
                <a:solidFill>
                  <a:schemeClr val="tx1"/>
                </a:solidFill>
              </a:rPr>
              <a:t>multi-cycle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</a:rPr>
              <a:t>时序关系不是那么严苛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</a:rPr>
              <a:t>Set :n cycle </a:t>
            </a:r>
            <a:r>
              <a:rPr lang="zh-CN" altLang="en-US" dirty="0">
                <a:solidFill>
                  <a:srgbClr val="FF0000"/>
                </a:solidFill>
              </a:rPr>
              <a:t>绝对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/ hold: (n-1) cycle </a:t>
            </a:r>
            <a:r>
              <a:rPr lang="zh-CN" altLang="en-US" dirty="0">
                <a:solidFill>
                  <a:srgbClr val="FF0000"/>
                </a:solidFill>
              </a:rPr>
              <a:t>相对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54F0986-146F-5518-235C-9C1FEBF3C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447100"/>
              </p:ext>
            </p:extLst>
          </p:nvPr>
        </p:nvGraphicFramePr>
        <p:xfrm>
          <a:off x="395836" y="2996952"/>
          <a:ext cx="5269010" cy="3461578"/>
        </p:xfrm>
        <a:graphic>
          <a:graphicData uri="http://schemas.openxmlformats.org/drawingml/2006/table">
            <a:tbl>
              <a:tblPr/>
              <a:tblGrid>
                <a:gridCol w="1053802">
                  <a:extLst>
                    <a:ext uri="{9D8B030D-6E8A-4147-A177-3AD203B41FA5}">
                      <a16:colId xmlns:a16="http://schemas.microsoft.com/office/drawing/2014/main" val="366130887"/>
                    </a:ext>
                  </a:extLst>
                </a:gridCol>
                <a:gridCol w="1053802">
                  <a:extLst>
                    <a:ext uri="{9D8B030D-6E8A-4147-A177-3AD203B41FA5}">
                      <a16:colId xmlns:a16="http://schemas.microsoft.com/office/drawing/2014/main" val="1999218601"/>
                    </a:ext>
                  </a:extLst>
                </a:gridCol>
                <a:gridCol w="1053802">
                  <a:extLst>
                    <a:ext uri="{9D8B030D-6E8A-4147-A177-3AD203B41FA5}">
                      <a16:colId xmlns:a16="http://schemas.microsoft.com/office/drawing/2014/main" val="3952597531"/>
                    </a:ext>
                  </a:extLst>
                </a:gridCol>
                <a:gridCol w="1053802">
                  <a:extLst>
                    <a:ext uri="{9D8B030D-6E8A-4147-A177-3AD203B41FA5}">
                      <a16:colId xmlns:a16="http://schemas.microsoft.com/office/drawing/2014/main" val="1462524079"/>
                    </a:ext>
                  </a:extLst>
                </a:gridCol>
                <a:gridCol w="1053802">
                  <a:extLst>
                    <a:ext uri="{9D8B030D-6E8A-4147-A177-3AD203B41FA5}">
                      <a16:colId xmlns:a16="http://schemas.microsoft.com/office/drawing/2014/main" val="2666916991"/>
                    </a:ext>
                  </a:extLst>
                </a:gridCol>
              </a:tblGrid>
              <a:tr h="351238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b="1" i="1" dirty="0">
                          <a:effectLst/>
                          <a:latin typeface="inherit"/>
                        </a:rPr>
                        <a:t>场景类型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002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D0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90F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b="1" i="1" dirty="0">
                          <a:effectLst/>
                          <a:latin typeface="inherit"/>
                        </a:rPr>
                        <a:t>典型电路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002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803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702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C0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b="1" i="1" dirty="0">
                          <a:effectLst/>
                          <a:latin typeface="inherit"/>
                        </a:rPr>
                        <a:t>多周期数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803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60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F03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402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800" b="1" i="1" dirty="0">
                          <a:effectLst/>
                          <a:latin typeface="inherit"/>
                        </a:rPr>
                        <a:t>Setup/Hold</a:t>
                      </a:r>
                      <a:r>
                        <a:rPr lang="zh-CN" altLang="en-US" sz="800" b="1" i="1" dirty="0">
                          <a:effectLst/>
                          <a:latin typeface="inherit"/>
                        </a:rPr>
                        <a:t>约束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603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10F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003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603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b="1" i="1" dirty="0">
                          <a:effectLst/>
                          <a:latin typeface="inherit"/>
                        </a:rPr>
                        <a:t>风险等级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10F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30E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303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543380"/>
                  </a:ext>
                </a:extLst>
              </a:tr>
              <a:tr h="35307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b="1" dirty="0">
                          <a:effectLst/>
                          <a:latin typeface="inherit"/>
                        </a:rPr>
                        <a:t>分频时钟域</a:t>
                      </a:r>
                      <a:endParaRPr lang="zh-CN" altLang="en-US" sz="8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D0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90F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D0F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dirty="0">
                          <a:effectLst/>
                          <a:latin typeface="inherit"/>
                        </a:rPr>
                        <a:t>时钟分频器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D0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A0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C0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80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800" dirty="0">
                          <a:effectLst/>
                          <a:latin typeface="inherit"/>
                        </a:rPr>
                        <a:t>2/4/8</a:t>
                      </a:r>
                      <a:r>
                        <a:rPr lang="zh-CN" altLang="en-US" sz="800" dirty="0">
                          <a:effectLst/>
                          <a:latin typeface="inherit"/>
                        </a:rPr>
                        <a:t>周期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A0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203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402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D00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800">
                          <a:effectLst/>
                          <a:latin typeface="inherit"/>
                        </a:rPr>
                        <a:t>N-1, N-2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203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B03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603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70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dirty="0">
                          <a:effectLst/>
                          <a:latin typeface="inherit"/>
                        </a:rPr>
                        <a:t>低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B03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303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804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86329"/>
                  </a:ext>
                </a:extLst>
              </a:tr>
              <a:tr h="35307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b="1">
                          <a:effectLst/>
                          <a:latin typeface="inherit"/>
                        </a:rPr>
                        <a:t>低速数据处理</a:t>
                      </a:r>
                      <a:endParaRPr lang="zh-CN" altLang="en-US" sz="8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80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D0F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604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>
                          <a:effectLst/>
                          <a:latin typeface="inherit"/>
                        </a:rPr>
                        <a:t>复杂算术单元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80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F00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80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404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800">
                          <a:effectLst/>
                          <a:latin typeface="inherit"/>
                        </a:rPr>
                        <a:t>2-5</a:t>
                      </a:r>
                      <a:r>
                        <a:rPr lang="zh-CN" altLang="en-US" sz="800">
                          <a:effectLst/>
                          <a:latin typeface="inherit"/>
                        </a:rPr>
                        <a:t>周期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F00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10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D00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305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800">
                          <a:effectLst/>
                          <a:latin typeface="inherit"/>
                        </a:rPr>
                        <a:t>N-1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10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D04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701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C05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>
                          <a:effectLst/>
                          <a:latin typeface="inherit"/>
                        </a:rPr>
                        <a:t>中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D04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804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6055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826571"/>
                  </a:ext>
                </a:extLst>
              </a:tr>
              <a:tr h="552216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b="1">
                          <a:effectLst/>
                          <a:latin typeface="inherit"/>
                        </a:rPr>
                        <a:t>数据同步</a:t>
                      </a:r>
                      <a:endParaRPr lang="zh-CN" altLang="en-US" sz="8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B04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604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70E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>
                          <a:effectLst/>
                          <a:latin typeface="inherit"/>
                        </a:rPr>
                        <a:t>握手协议、</a:t>
                      </a:r>
                      <a:r>
                        <a:rPr lang="en-US" altLang="zh-CN" sz="800">
                          <a:effectLst/>
                          <a:latin typeface="inherit"/>
                        </a:rPr>
                        <a:t>FIFO</a:t>
                      </a:r>
                      <a:r>
                        <a:rPr lang="zh-CN" altLang="en-US" sz="800">
                          <a:effectLst/>
                          <a:latin typeface="inherit"/>
                        </a:rPr>
                        <a:t>指针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B04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304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404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003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800">
                          <a:effectLst/>
                          <a:latin typeface="inherit"/>
                        </a:rPr>
                        <a:t>2</a:t>
                      </a:r>
                      <a:r>
                        <a:rPr lang="zh-CN" altLang="en-US" sz="800">
                          <a:effectLst/>
                          <a:latin typeface="inherit"/>
                        </a:rPr>
                        <a:t>周期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304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D05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305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A0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800" dirty="0">
                          <a:effectLst/>
                          <a:latin typeface="inherit"/>
                        </a:rPr>
                        <a:t>0, -1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D05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B05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C05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A04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dirty="0">
                          <a:effectLst/>
                          <a:latin typeface="inherit"/>
                        </a:rPr>
                        <a:t>中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B05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6055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A04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645422"/>
                  </a:ext>
                </a:extLst>
              </a:tr>
              <a:tr h="35307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b="1" dirty="0">
                          <a:effectLst/>
                          <a:latin typeface="inherit"/>
                        </a:rPr>
                        <a:t>时钟使能逻辑</a:t>
                      </a:r>
                      <a:endParaRPr lang="zh-CN" altLang="en-US" sz="8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E03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70E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903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dirty="0">
                          <a:solidFill>
                            <a:srgbClr val="FF0000"/>
                          </a:solidFill>
                          <a:effectLst/>
                          <a:latin typeface="inherit"/>
                        </a:rPr>
                        <a:t>门控使能信号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E03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20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003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705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800" dirty="0">
                          <a:solidFill>
                            <a:srgbClr val="FF0000"/>
                          </a:solidFill>
                          <a:effectLst/>
                          <a:latin typeface="inherit"/>
                        </a:rPr>
                        <a:t>2-4</a:t>
                      </a:r>
                      <a:r>
                        <a:rPr lang="zh-CN" altLang="en-US" sz="800" dirty="0">
                          <a:solidFill>
                            <a:srgbClr val="FF0000"/>
                          </a:solidFill>
                          <a:effectLst/>
                          <a:latin typeface="inherit"/>
                        </a:rPr>
                        <a:t>周期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201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504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A0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006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effectLst/>
                          <a:latin typeface="inherit"/>
                        </a:rPr>
                        <a:t>N-1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504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F04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A04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D06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dirty="0">
                          <a:solidFill>
                            <a:srgbClr val="FF0000"/>
                          </a:solidFill>
                          <a:effectLst/>
                          <a:latin typeface="inherit"/>
                        </a:rPr>
                        <a:t>高（易出错）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F04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A04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406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303827"/>
                  </a:ext>
                </a:extLst>
              </a:tr>
              <a:tr h="37110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b="1">
                          <a:effectLst/>
                          <a:latin typeface="inherit"/>
                        </a:rPr>
                        <a:t>移位寄存器链</a:t>
                      </a:r>
                      <a:endParaRPr lang="zh-CN" altLang="en-US" sz="8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505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903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907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>
                          <a:effectLst/>
                          <a:latin typeface="inherit"/>
                        </a:rPr>
                        <a:t>长移位寄存器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505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705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705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3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>
                          <a:effectLst/>
                          <a:latin typeface="inherit"/>
                        </a:rPr>
                        <a:t>长度</a:t>
                      </a:r>
                      <a:r>
                        <a:rPr lang="en-US" altLang="zh-CN" sz="800">
                          <a:effectLst/>
                          <a:latin typeface="inherit"/>
                        </a:rPr>
                        <a:t>-1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705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305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006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A06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800" dirty="0">
                          <a:effectLst/>
                          <a:latin typeface="inherit"/>
                        </a:rPr>
                        <a:t>0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305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006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D06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B07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>
                          <a:effectLst/>
                          <a:latin typeface="inherit"/>
                        </a:rPr>
                        <a:t>低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006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406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A07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534132"/>
                  </a:ext>
                </a:extLst>
              </a:tr>
              <a:tr h="553517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b="1">
                          <a:effectLst/>
                          <a:latin typeface="inherit"/>
                        </a:rPr>
                        <a:t>跨时钟域同步</a:t>
                      </a:r>
                      <a:endParaRPr lang="zh-CN" altLang="en-US" sz="8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906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907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607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 dirty="0">
                          <a:effectLst/>
                          <a:latin typeface="inherit"/>
                        </a:rPr>
                        <a:t>同步器链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906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907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3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302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>
                          <a:effectLst/>
                          <a:latin typeface="inherit"/>
                        </a:rPr>
                        <a:t>≥</a:t>
                      </a:r>
                      <a:r>
                        <a:rPr lang="en-US" altLang="zh-CN" sz="800">
                          <a:effectLst/>
                          <a:latin typeface="inherit"/>
                        </a:rPr>
                        <a:t>2</a:t>
                      </a:r>
                      <a:r>
                        <a:rPr lang="zh-CN" altLang="en-US" sz="800">
                          <a:effectLst/>
                          <a:latin typeface="inherit"/>
                        </a:rPr>
                        <a:t>周期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9070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807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A06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0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800" dirty="0">
                          <a:effectLst/>
                          <a:latin typeface="inherit"/>
                        </a:rPr>
                        <a:t>0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807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0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B074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504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800">
                          <a:effectLst/>
                          <a:latin typeface="inherit"/>
                        </a:rPr>
                        <a:t>极低（建议</a:t>
                      </a:r>
                      <a:r>
                        <a:rPr lang="en-US" sz="800">
                          <a:effectLst/>
                          <a:latin typeface="inherit"/>
                        </a:rPr>
                        <a:t>false path）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0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A07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605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059714"/>
                  </a:ext>
                </a:extLst>
              </a:tr>
              <a:tr h="353071">
                <a:tc gridSpan="5"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zh-CN" altLang="en-US" sz="8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607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502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D0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302D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D0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C04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E0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altLang="zh-CN" sz="8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C04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006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504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zh-CN" altLang="en-US" sz="8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006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605E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92237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BA50496D-1283-3A1A-36E0-7FBDE00C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64" y="2036064"/>
            <a:ext cx="65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 descr="图示, 工程绘图&#10;&#10;AI 生成的内容可能不正确。">
            <a:extLst>
              <a:ext uri="{FF2B5EF4-FFF2-40B4-BE49-F238E27FC236}">
                <a16:creationId xmlns:a16="http://schemas.microsoft.com/office/drawing/2014/main" id="{F463E7DF-B22A-B84B-9F4E-AF23DFBB3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03" y="1695614"/>
            <a:ext cx="3594819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1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1F565-6C62-8982-7BED-788A760F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EFE9D958-9C08-8165-73D6-1B5959D92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706090"/>
          </a:xfrm>
        </p:spPr>
        <p:txBody>
          <a:bodyPr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800" b="1" spc="200" dirty="0">
                <a:ea typeface="微软雅黑" panose="020B0503020204020204" charset="-122"/>
                <a:sym typeface="Arial" panose="020B0604020202020204" pitchFamily="34" charset="0"/>
              </a:rPr>
              <a:t>3.4 half-cycle</a:t>
            </a:r>
            <a:endParaRPr lang="zh-CN" altLang="en-US" sz="2800" b="1" spc="200" noProof="1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9DB40FDE-24A8-EF8C-42AC-071E5E54D37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5536" y="1556792"/>
            <a:ext cx="8064896" cy="43924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如果时钟路径中，有一个反相器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Hold</a:t>
            </a:r>
            <a:r>
              <a:rPr lang="zh-CN" altLang="en-US" dirty="0">
                <a:solidFill>
                  <a:srgbClr val="FF0000"/>
                </a:solidFill>
              </a:rPr>
              <a:t>时间很友好，加了半周期</a:t>
            </a:r>
            <a:endParaRPr lang="en-US" altLang="zh-CN" dirty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B0F0"/>
                </a:solidFill>
              </a:rPr>
              <a:t>Set </a:t>
            </a:r>
            <a:r>
              <a:rPr lang="zh-CN" altLang="en-US" dirty="0">
                <a:solidFill>
                  <a:srgbClr val="00B0F0"/>
                </a:solidFill>
              </a:rPr>
              <a:t>时间上面的公式就变成了 </a:t>
            </a:r>
            <a:r>
              <a:rPr lang="en-US" altLang="zh-CN" dirty="0" err="1">
                <a:solidFill>
                  <a:srgbClr val="00B0F0"/>
                </a:solidFill>
              </a:rPr>
              <a:t>Tcycle</a:t>
            </a:r>
            <a:r>
              <a:rPr lang="en-US" altLang="zh-CN" dirty="0">
                <a:solidFill>
                  <a:srgbClr val="00B0F0"/>
                </a:solidFill>
              </a:rPr>
              <a:t>/2;</a:t>
            </a:r>
            <a:r>
              <a:rPr lang="zh-CN" altLang="en-US" dirty="0">
                <a:solidFill>
                  <a:srgbClr val="00B0F0"/>
                </a:solidFill>
              </a:rPr>
              <a:t> 变难了 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STA :</a:t>
            </a:r>
          </a:p>
          <a:p>
            <a:pPr marL="742950" lvl="1" indent="-285750">
              <a:buFont typeface="Wingdings" panose="05000000000000000000" pitchFamily="2" charset="2"/>
              <a:buChar char="u"/>
            </a:pPr>
            <a:r>
              <a:rPr lang="en-US" altLang="zh-CN" dirty="0" err="1">
                <a:solidFill>
                  <a:schemeClr val="tx1"/>
                </a:solidFill>
              </a:rPr>
              <a:t>cmd</a:t>
            </a:r>
            <a:r>
              <a:rPr lang="zh-CN" altLang="en-US" dirty="0">
                <a:solidFill>
                  <a:schemeClr val="tx1"/>
                </a:solidFill>
              </a:rPr>
              <a:t>要特别说明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Case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endParaRPr lang="en-US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u"/>
            </a:pPr>
            <a:endParaRPr lang="zh-CN" altLang="en-US" b="1" dirty="0">
              <a:solidFill>
                <a:schemeClr val="tx1"/>
              </a:solidFill>
            </a:endParaRPr>
          </a:p>
          <a:p>
            <a:pPr marL="800100" lvl="2" indent="-342900">
              <a:buFont typeface="Wingdings" panose="05000000000000000000" pitchFamily="2" charset="2"/>
              <a:buChar char="u"/>
            </a:pP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95FD8B3-9270-6016-DE3D-A1BA4434F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518699"/>
              </p:ext>
            </p:extLst>
          </p:nvPr>
        </p:nvGraphicFramePr>
        <p:xfrm>
          <a:off x="251520" y="4109825"/>
          <a:ext cx="5040496" cy="1948500"/>
        </p:xfrm>
        <a:graphic>
          <a:graphicData uri="http://schemas.openxmlformats.org/drawingml/2006/table">
            <a:tbl>
              <a:tblPr/>
              <a:tblGrid>
                <a:gridCol w="1260124">
                  <a:extLst>
                    <a:ext uri="{9D8B030D-6E8A-4147-A177-3AD203B41FA5}">
                      <a16:colId xmlns:a16="http://schemas.microsoft.com/office/drawing/2014/main" val="2410001000"/>
                    </a:ext>
                  </a:extLst>
                </a:gridCol>
                <a:gridCol w="1260124">
                  <a:extLst>
                    <a:ext uri="{9D8B030D-6E8A-4147-A177-3AD203B41FA5}">
                      <a16:colId xmlns:a16="http://schemas.microsoft.com/office/drawing/2014/main" val="3922763596"/>
                    </a:ext>
                  </a:extLst>
                </a:gridCol>
                <a:gridCol w="1260124">
                  <a:extLst>
                    <a:ext uri="{9D8B030D-6E8A-4147-A177-3AD203B41FA5}">
                      <a16:colId xmlns:a16="http://schemas.microsoft.com/office/drawing/2014/main" val="2145800067"/>
                    </a:ext>
                  </a:extLst>
                </a:gridCol>
                <a:gridCol w="1260124">
                  <a:extLst>
                    <a:ext uri="{9D8B030D-6E8A-4147-A177-3AD203B41FA5}">
                      <a16:colId xmlns:a16="http://schemas.microsoft.com/office/drawing/2014/main" val="2770878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b="1">
                          <a:effectLst/>
                          <a:latin typeface="inherit"/>
                        </a:rPr>
                        <a:t>场景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A087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E08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F097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inherit"/>
                        </a:rPr>
                        <a:t>是否推荐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A087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0091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7087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90A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inherit"/>
                        </a:rPr>
                        <a:t>约束复杂度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0091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6091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309A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F09A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b="1">
                          <a:effectLst/>
                          <a:latin typeface="inherit"/>
                        </a:rPr>
                        <a:t>风险等级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6091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B09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20A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693929"/>
                  </a:ext>
                </a:extLst>
              </a:tr>
              <a:tr h="28528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inherit"/>
                        </a:rPr>
                        <a:t>DDR</a:t>
                      </a:r>
                      <a:r>
                        <a:rPr lang="zh-CN" altLang="en-US" sz="1200" b="1">
                          <a:effectLst/>
                          <a:latin typeface="inherit"/>
                        </a:rPr>
                        <a:t>接口</a:t>
                      </a:r>
                      <a:endParaRPr lang="zh-CN" altLang="en-US" sz="12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709C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F097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B0B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inherit"/>
                        </a:rPr>
                        <a:t>✅ 必需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709C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E0A1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90A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A066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inherit"/>
                        </a:rPr>
                        <a:t>低（工具自动）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E0A1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40AB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F09A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6079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>
                          <a:effectLst/>
                          <a:latin typeface="inherit"/>
                        </a:rPr>
                        <a:t>低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40AB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20A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A08A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324106"/>
                  </a:ext>
                </a:extLst>
              </a:tr>
              <a:tr h="28528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inherit"/>
                        </a:rPr>
                        <a:t>时钟反相</a:t>
                      </a:r>
                      <a:endParaRPr lang="zh-CN" altLang="en-US" sz="12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80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B0B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702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>
                          <a:effectLst/>
                          <a:latin typeface="inherit"/>
                        </a:rPr>
                        <a:t>⚠️ 避免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80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F079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A066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02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>
                          <a:effectLst/>
                          <a:latin typeface="inherit"/>
                        </a:rPr>
                        <a:t>中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F079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6079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6079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5025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>
                          <a:effectLst/>
                          <a:latin typeface="inherit"/>
                        </a:rPr>
                        <a:t>中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6079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A08A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3033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379062"/>
                  </a:ext>
                </a:extLst>
              </a:tr>
              <a:tr h="28528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b="1">
                          <a:effectLst/>
                          <a:latin typeface="inherit"/>
                        </a:rPr>
                        <a:t>占空比失真</a:t>
                      </a:r>
                      <a:endParaRPr lang="zh-CN" altLang="en-US" sz="12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5025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702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103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>
                          <a:effectLst/>
                          <a:latin typeface="inherit"/>
                        </a:rPr>
                        <a:t>❌ 禁止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5025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E025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E02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90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>
                          <a:effectLst/>
                          <a:latin typeface="inherit"/>
                        </a:rPr>
                        <a:t>高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E025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103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5025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204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>
                          <a:effectLst/>
                          <a:latin typeface="inherit"/>
                        </a:rPr>
                        <a:t>高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103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3033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7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213933"/>
                  </a:ext>
                </a:extLst>
              </a:tr>
              <a:tr h="28528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b="1">
                          <a:effectLst/>
                          <a:latin typeface="inherit"/>
                        </a:rPr>
                        <a:t>故意半周期逻辑</a:t>
                      </a:r>
                      <a:endParaRPr lang="zh-CN" altLang="en-US" sz="12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 w="8658" cap="flat" cmpd="sng" algn="ctr">
                      <a:solidFill>
                        <a:srgbClr val="E047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103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inherit"/>
                        </a:rPr>
                        <a:t>❌ 绝对禁止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E047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30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90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>
                          <a:effectLst/>
                          <a:latin typeface="inherit"/>
                        </a:rPr>
                        <a:t>极高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30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8" cap="flat" cmpd="sng" algn="ctr">
                      <a:solidFill>
                        <a:srgbClr val="404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8" cap="flat" cmpd="sng" algn="ctr">
                      <a:solidFill>
                        <a:srgbClr val="204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inherit"/>
                        </a:rPr>
                        <a:t>极高</a:t>
                      </a:r>
                    </a:p>
                  </a:txBody>
                  <a:tcPr marL="95250" marR="95250" marT="95250" marB="95250" anchor="ctr">
                    <a:lnL w="8658" cap="flat" cmpd="sng" algn="ctr">
                      <a:solidFill>
                        <a:srgbClr val="404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8658" cap="flat" cmpd="sng" algn="ctr">
                      <a:solidFill>
                        <a:srgbClr val="7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78575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B135EA40-4D89-C649-929D-A9B3D2621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64" y="3908589"/>
            <a:ext cx="65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C0470E30-37D5-CFF9-81DF-8B17B8360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060848"/>
            <a:ext cx="3218083" cy="253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16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B3661-334E-B6C4-1561-FF80A2F39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>
            <a:extLst>
              <a:ext uri="{FF2B5EF4-FFF2-40B4-BE49-F238E27FC236}">
                <a16:creationId xmlns:a16="http://schemas.microsoft.com/office/drawing/2014/main" id="{0B1D9062-6263-2517-EA46-A4FC41E5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>
              <a:lnSpc>
                <a:spcPct val="120000"/>
              </a:lnSpc>
            </a:pPr>
            <a:r>
              <a:rPr lang="zh-CN" altLang="en-US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汇报完毕</a:t>
            </a:r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52B7299F-198D-9216-16D7-98789DAA3B45}"/>
              </a:ext>
            </a:extLst>
          </p:cNvPr>
          <p:cNvSpPr>
            <a:spLocks noGrp="1"/>
          </p:cNvSpPr>
          <p:nvPr/>
        </p:nvSpPr>
        <p:spPr>
          <a:xfrm>
            <a:off x="1115616" y="1417638"/>
            <a:ext cx="8229600" cy="48139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zh-CN" altLang="en-US" sz="1000" dirty="0">
              <a:sym typeface="+mn-ea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2934F1AD-1EAC-63E7-85F9-13FA7FDAAB9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9552" y="1700808"/>
            <a:ext cx="6984776" cy="40324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r>
              <a:rPr lang="zh-CN" altLang="en-US" sz="2400" dirty="0">
                <a:solidFill>
                  <a:schemeClr val="tx1"/>
                </a:solidFill>
              </a:rPr>
              <a:t>谢谢观看</a:t>
            </a:r>
            <a:r>
              <a:rPr lang="en-US" altLang="zh-CN" sz="2400" dirty="0">
                <a:solidFill>
                  <a:schemeClr val="tx1"/>
                </a:solidFill>
              </a:rPr>
              <a:t>~</a:t>
            </a:r>
            <a:r>
              <a:rPr lang="zh-CN" altLang="en-US" sz="2400" dirty="0">
                <a:solidFill>
                  <a:schemeClr val="tx1"/>
                </a:solidFill>
              </a:rPr>
              <a:t>！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2136ADE-B975-4DD1-1144-C9454C6D57E0}"/>
              </a:ext>
            </a:extLst>
          </p:cNvPr>
          <p:cNvSpPr>
            <a:spLocks noGrp="1"/>
          </p:cNvSpPr>
          <p:nvPr/>
        </p:nvSpPr>
        <p:spPr>
          <a:xfrm>
            <a:off x="5338445" y="1610995"/>
            <a:ext cx="4133850" cy="47478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zh-CN" altLang="en-US" sz="10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69562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6d4765f-a345-4045-b246-e57f54536af8"/>
  <p:tag name="COMMONDATA" val="eyJoZGlkIjoiMDRlYmM4MjUzNWRkODMyYjdhNTc2YWJmYTVlZThmMWMifQ=="/>
  <p:tag name="RESOURCE_RECORD_KEY" val="{&quot;70&quot;:[3319536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副标题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421_1*b*1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4421_1*b*2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2020/01/01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3"/>
  <p:tag name="KSO_WM_UNIT_ID" val="custom20204421_1*b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1_3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2_3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2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3_3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3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1_1"/>
  <p:tag name="KSO_WM_UNIT_ID" val="diagram20231107_5*o_h_a*1_1_1"/>
  <p:tag name="KSO_WM_TEMPLATE_CATEGORY" val="diagram"/>
  <p:tag name="KSO_WM_TEMPLATE_INDEX" val="20231107"/>
  <p:tag name="KSO_WM_UNIT_LAYERLEVEL" val="1_1_1"/>
  <p:tag name="KSO_WM_TAG_VERSION" val="3.0"/>
  <p:tag name="KSO_WM_DIAGRAM_GROUP_CODE" val="o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2_1"/>
  <p:tag name="KSO_WM_UNIT_ID" val="diagram20231107_5*o_h_a*1_2_1"/>
  <p:tag name="KSO_WM_TEMPLATE_CATEGORY" val="diagram"/>
  <p:tag name="KSO_WM_TEMPLATE_INDEX" val="20231107"/>
  <p:tag name="KSO_WM_UNIT_LAYERLEVEL" val="1_1_1"/>
  <p:tag name="KSO_WM_TAG_VERSION" val="3.0"/>
  <p:tag name="KSO_WM_DIAGRAM_GROUP_CODE" val="o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3_1"/>
  <p:tag name="KSO_WM_UNIT_ID" val="diagram20231107_5*o_h_a*1_3_1"/>
  <p:tag name="KSO_WM_TEMPLATE_CATEGORY" val="diagram"/>
  <p:tag name="KSO_WM_TEMPLATE_INDEX" val="20231107"/>
  <p:tag name="KSO_WM_UNIT_LAYERLEVEL" val="1_1_1"/>
  <p:tag name="KSO_WM_TAG_VERSION" val="3.0"/>
  <p:tag name="KSO_WM_DIAGRAM_GROUP_CODE" val="o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4_1"/>
  <p:tag name="KSO_WM_UNIT_ID" val="diagram20231107_5*o_h_a*1_4_1"/>
  <p:tag name="KSO_WM_TEMPLATE_CATEGORY" val="diagram"/>
  <p:tag name="KSO_WM_TEMPLATE_INDEX" val="20231107"/>
  <p:tag name="KSO_WM_UNIT_LAYERLEVEL" val="1_1_1"/>
  <p:tag name="KSO_WM_TAG_VERSION" val="3.0"/>
  <p:tag name="KSO_WM_DIAGRAM_GROUP_CODE" val="o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5_1"/>
  <p:tag name="KSO_WM_UNIT_ID" val="diagram20231107_5*o_h_a*1_5_1"/>
  <p:tag name="KSO_WM_TEMPLATE_CATEGORY" val="diagram"/>
  <p:tag name="KSO_WM_TEMPLATE_INDEX" val="20231107"/>
  <p:tag name="KSO_WM_UNIT_LAYERLEVEL" val="1_1_1"/>
  <p:tag name="KSO_WM_TAG_VERSION" val="3.0"/>
  <p:tag name="KSO_WM_DIAGRAM_GROUP_CODE" val="o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6_1"/>
  <p:tag name="KSO_WM_UNIT_ID" val="diagram20231107_5*o_h_a*1_6_1"/>
  <p:tag name="KSO_WM_TEMPLATE_CATEGORY" val="diagram"/>
  <p:tag name="KSO_WM_TEMPLATE_INDEX" val="20231107"/>
  <p:tag name="KSO_WM_UNIT_LAYERLEVEL" val="1_1_1"/>
  <p:tag name="KSO_WM_TAG_VERSION" val="3.0"/>
  <p:tag name="KSO_WM_DIAGRAM_GROUP_CODE" val="o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1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2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3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4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4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5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5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6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6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1_5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1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-0.20000000298023224,&quot;colorType&quot;:1,&quot;foreColorIndex&quot;:5,&quot;pos&quot;:0.30000001192092896,&quot;transparency&quot;:0},{&quot;brightness&quot;:-0.05000000074505806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1_1"/>
  <p:tag name="KSO_WM_TEMPLATE_CATEGORY" val="diagram"/>
  <p:tag name="KSO_WM_TEMPLATE_INDEX" val="20231107"/>
  <p:tag name="KSO_WM_UNIT_LAYERLEVEL" val="1_1_1"/>
  <p:tag name="KSO_WM_TAG_VERSION" val="3.0"/>
  <p:tag name="KSO_WM_UNIT_SUBTYPE" val="d"/>
  <p:tag name="KSO_WM_UNIT_TYPE" val="o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5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1_4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1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05000000074505806,&quot;colorType&quot;:1,&quot;foreColorIndex&quot;:5,&quot;pos&quot;:0.25,&quot;transparency&quot;:0},{&quot;brightness&quot;:0.10000000149011612,&quot;colorType&quot;:1,&quot;foreColorIndex&quot;:5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2_5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2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-0.20000000298023224,&quot;colorType&quot;:1,&quot;foreColorIndex&quot;:5,&quot;pos&quot;:0.30000001192092896,&quot;transparency&quot;:0},{&quot;brightness&quot;:-0.05000000074505806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2_1"/>
  <p:tag name="KSO_WM_TEMPLATE_CATEGORY" val="diagram"/>
  <p:tag name="KSO_WM_TEMPLATE_INDEX" val="20231107"/>
  <p:tag name="KSO_WM_UNIT_LAYERLEVEL" val="1_1_1"/>
  <p:tag name="KSO_WM_TAG_VERSION" val="3.0"/>
  <p:tag name="KSO_WM_UNIT_SUBTYPE" val="d"/>
  <p:tag name="KSO_WM_UNIT_TYPE" val="o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5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2_4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2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05000000074505806,&quot;colorType&quot;:1,&quot;foreColorIndex&quot;:5,&quot;pos&quot;:0.25,&quot;transparency&quot;:0},{&quot;brightness&quot;:0.10000000149011612,&quot;colorType&quot;:1,&quot;foreColorIndex&quot;:5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3_4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3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05000000074505806,&quot;colorType&quot;:1,&quot;foreColorIndex&quot;:5,&quot;pos&quot;:0.25,&quot;transparency&quot;:0},{&quot;brightness&quot;:0.10000000149011612,&quot;colorType&quot;:1,&quot;foreColorIndex&quot;:5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3_5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3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-0.20000000298023224,&quot;colorType&quot;:1,&quot;foreColorIndex&quot;:5,&quot;pos&quot;:0.30000001192092896,&quot;transparency&quot;:0},{&quot;brightness&quot;:-0.05000000074505806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3_1"/>
  <p:tag name="KSO_WM_TEMPLATE_CATEGORY" val="diagram"/>
  <p:tag name="KSO_WM_TEMPLATE_INDEX" val="20231107"/>
  <p:tag name="KSO_WM_UNIT_LAYERLEVEL" val="1_1_1"/>
  <p:tag name="KSO_WM_TAG_VERSION" val="3.0"/>
  <p:tag name="KSO_WM_UNIT_SUBTYPE" val="d"/>
  <p:tag name="KSO_WM_UNIT_TYPE" val="o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5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4_5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4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-0.20000000298023224,&quot;colorType&quot;:1,&quot;foreColorIndex&quot;:5,&quot;pos&quot;:0.30000001192092896,&quot;transparency&quot;:0},{&quot;brightness&quot;:-0.05000000074505806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4_4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4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05000000074505806,&quot;colorType&quot;:1,&quot;foreColorIndex&quot;:5,&quot;pos&quot;:0.25,&quot;transparency&quot;:0},{&quot;brightness&quot;:0.10000000149011612,&quot;colorType&quot;:1,&quot;foreColorIndex&quot;:5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5_5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5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-0.20000000298023224,&quot;colorType&quot;:1,&quot;foreColorIndex&quot;:5,&quot;pos&quot;:0.30000001192092896,&quot;transparency&quot;:0},{&quot;brightness&quot;:-0.05000000074505806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5_4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5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05000000074505806,&quot;colorType&quot;:1,&quot;foreColorIndex&quot;:5,&quot;pos&quot;:0.25,&quot;transparency&quot;:0},{&quot;brightness&quot;:0.10000000149011612,&quot;colorType&quot;:1,&quot;foreColorIndex&quot;:5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6_4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6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05000000074505806,&quot;colorType&quot;:1,&quot;foreColorIndex&quot;:5,&quot;pos&quot;:0.25,&quot;transparency&quot;:0},{&quot;brightness&quot;:0.10000000149011612,&quot;colorType&quot;:1,&quot;foreColorIndex&quot;:5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4_1"/>
  <p:tag name="KSO_WM_TEMPLATE_CATEGORY" val="diagram"/>
  <p:tag name="KSO_WM_TEMPLATE_INDEX" val="20231107"/>
  <p:tag name="KSO_WM_UNIT_LAYERLEVEL" val="1_1_1"/>
  <p:tag name="KSO_WM_TAG_VERSION" val="3.0"/>
  <p:tag name="KSO_WM_UNIT_SUBTYPE" val="d"/>
  <p:tag name="KSO_WM_UNIT_TYPE" val="o_h_i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5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5_1"/>
  <p:tag name="KSO_WM_TEMPLATE_CATEGORY" val="diagram"/>
  <p:tag name="KSO_WM_TEMPLATE_INDEX" val="20231107"/>
  <p:tag name="KSO_WM_UNIT_LAYERLEVEL" val="1_1_1"/>
  <p:tag name="KSO_WM_TAG_VERSION" val="3.0"/>
  <p:tag name="KSO_WM_UNIT_SUBTYPE" val="d"/>
  <p:tag name="KSO_WM_UNIT_TYPE" val="o_h_i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5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6_1"/>
  <p:tag name="KSO_WM_TEMPLATE_CATEGORY" val="diagram"/>
  <p:tag name="KSO_WM_TEMPLATE_INDEX" val="20231107"/>
  <p:tag name="KSO_WM_UNIT_LAYERLEVEL" val="1_1_1"/>
  <p:tag name="KSO_WM_TAG_VERSION" val="3.0"/>
  <p:tag name="KSO_WM_UNIT_SUBTYPE" val="d"/>
  <p:tag name="KSO_WM_UNIT_TYPE" val="o_h_i"/>
  <p:tag name="KSO_WM_UNIT_INDEX" val="1_6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gradient&quot;:[{&quot;brightness&quot;:0.5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1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2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3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4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4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5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5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7_5*o_h_i*1_6_2"/>
  <p:tag name="KSO_WM_TEMPLATE_CATEGORY" val="diagram"/>
  <p:tag name="KSO_WM_TEMPLATE_INDEX" val="20231107"/>
  <p:tag name="KSO_WM_UNIT_LAYERLEVEL" val="1_1_1"/>
  <p:tag name="KSO_WM_TAG_VERSION" val="3.0"/>
  <p:tag name="KSO_WM_UNIT_TYPE" val="o_h_i"/>
  <p:tag name="KSO_WM_UNIT_INDEX" val="1_6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1.40126905141506,&quot;left&quot;:-0.005354330708661417,&quot;top&quot;:157.91511710877086,&quot;width&quot;:720.00535433070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04421_8*i*3"/>
  <p:tag name="KSO_WM_TEMPLATE_CATEGORY" val="custom"/>
  <p:tag name="KSO_WM_TEMPLATE_INDEX" val="2020442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1620</Words>
  <Application>Microsoft Office PowerPoint</Application>
  <PresentationFormat>全屏显示(4:3)</PresentationFormat>
  <Paragraphs>439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inherit</vt:lpstr>
      <vt:lpstr>微软雅黑</vt:lpstr>
      <vt:lpstr>Arial</vt:lpstr>
      <vt:lpstr>Calibri</vt:lpstr>
      <vt:lpstr>Wingdings</vt:lpstr>
      <vt:lpstr>Office 主题</vt:lpstr>
      <vt:lpstr>1_Office 主题</vt:lpstr>
      <vt:lpstr>PowerPoint 演示文稿</vt:lpstr>
      <vt:lpstr>0. 报告内容 </vt:lpstr>
      <vt:lpstr>1. STA introduction</vt:lpstr>
      <vt:lpstr>1.1 STA introduction: nano-meter</vt:lpstr>
      <vt:lpstr>1.2 STA introduction: what</vt:lpstr>
      <vt:lpstr>1.3 STA introduction: why</vt:lpstr>
      <vt:lpstr>1.4 STA introduction: design-flow</vt:lpstr>
      <vt:lpstr>1.5 STA introduction: limitations</vt:lpstr>
      <vt:lpstr>1.6 STA introduction: power &amp; Reliability </vt:lpstr>
      <vt:lpstr>2. Concepts</vt:lpstr>
      <vt:lpstr>2.1 CMOS Logic : COMS &amp; inverter</vt:lpstr>
      <vt:lpstr>2.1 CMOS Logic : inverter -&gt; standard cell</vt:lpstr>
      <vt:lpstr>2.2 CMOS Logic : modeling</vt:lpstr>
      <vt:lpstr>2.3 waveform</vt:lpstr>
      <vt:lpstr>2.4 delay</vt:lpstr>
      <vt:lpstr>2.5 slew-rate</vt:lpstr>
      <vt:lpstr>2.6 skew</vt:lpstr>
      <vt:lpstr>2.7 timing-arcs &amp; Unateness</vt:lpstr>
      <vt:lpstr>2.7 timing-arcs &amp; Unateness</vt:lpstr>
      <vt:lpstr>2.7 timing-arcs &amp; Unateness</vt:lpstr>
      <vt:lpstr>2.8 path</vt:lpstr>
      <vt:lpstr>2.8 CMOS Logic : path</vt:lpstr>
      <vt:lpstr>2.9 CLK domain</vt:lpstr>
      <vt:lpstr>2.9 CLK domain：real-path example</vt:lpstr>
      <vt:lpstr>2.9 CLK domain：real-path checklist</vt:lpstr>
      <vt:lpstr>2.9 CLK domain：operation condition</vt:lpstr>
      <vt:lpstr>3 STA : set &amp; hold</vt:lpstr>
      <vt:lpstr>3.1 SET：reg_to_reg</vt:lpstr>
      <vt:lpstr>3.1 SET：inverter &amp; dff</vt:lpstr>
      <vt:lpstr>3.2 hold：reg_to_reg</vt:lpstr>
      <vt:lpstr>3.3 multi-cycle</vt:lpstr>
      <vt:lpstr>3.4 half-cycle</vt:lpstr>
      <vt:lpstr>汇报完毕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xbany</dc:creator>
  <cp:lastModifiedBy>zhao hank</cp:lastModifiedBy>
  <cp:revision>3947</cp:revision>
  <dcterms:created xsi:type="dcterms:W3CDTF">2019-11-11T11:15:00Z</dcterms:created>
  <dcterms:modified xsi:type="dcterms:W3CDTF">2025-11-25T06:39:06Z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498F77F892E64BB991D7001C63D46F2C</vt:lpwstr>
  </property>
</Properties>
</file>