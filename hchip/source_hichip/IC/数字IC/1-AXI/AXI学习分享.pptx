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9" r:id="rId6"/>
    <p:sldId id="260" r:id="rId7"/>
    <p:sldId id="261" r:id="rId8"/>
    <p:sldId id="264" r:id="rId9"/>
    <p:sldId id="267" r:id="rId10"/>
    <p:sldId id="268" r:id="rId11"/>
    <p:sldId id="265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30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8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123" initials="1" lastIdx="1" clrIdx="0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7" Type="http://schemas.openxmlformats.org/officeDocument/2006/relationships/tags" Target="../tags/tag64.xml"/><Relationship Id="rId66" Type="http://schemas.openxmlformats.org/officeDocument/2006/relationships/tags" Target="../tags/tag63.xml"/><Relationship Id="rId65" Type="http://schemas.openxmlformats.org/officeDocument/2006/relationships/tags" Target="../tags/tag62.xml"/><Relationship Id="rId64" Type="http://schemas.openxmlformats.org/officeDocument/2006/relationships/tags" Target="../tags/tag61.xml"/><Relationship Id="rId63" Type="http://schemas.openxmlformats.org/officeDocument/2006/relationships/tags" Target="../tags/tag60.xml"/><Relationship Id="rId62" Type="http://schemas.openxmlformats.org/officeDocument/2006/relationships/tags" Target="../tags/tag59.xml"/><Relationship Id="rId61" Type="http://schemas.openxmlformats.org/officeDocument/2006/relationships/tags" Target="../tags/tag58.xml"/><Relationship Id="rId60" Type="http://schemas.openxmlformats.org/officeDocument/2006/relationships/tags" Target="../tags/tag57.xml"/><Relationship Id="rId6" Type="http://schemas.openxmlformats.org/officeDocument/2006/relationships/tags" Target="../tags/tag3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2.xml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image" Target="../media/image2.svg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image" Target="../media/image1.png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3" Type="http://schemas.openxmlformats.org/officeDocument/2006/relationships/tags" Target="../tags/tag101.xml"/><Relationship Id="rId32" Type="http://schemas.openxmlformats.org/officeDocument/2006/relationships/tags" Target="../tags/tag100.xml"/><Relationship Id="rId31" Type="http://schemas.openxmlformats.org/officeDocument/2006/relationships/tags" Target="../tags/tag99.xml"/><Relationship Id="rId30" Type="http://schemas.openxmlformats.org/officeDocument/2006/relationships/tags" Target="../tags/tag98.xml"/><Relationship Id="rId3" Type="http://schemas.openxmlformats.org/officeDocument/2006/relationships/tags" Target="../tags/tag71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4" Type="http://schemas.openxmlformats.org/officeDocument/2006/relationships/tags" Target="../tags/tag134.xml"/><Relationship Id="rId33" Type="http://schemas.openxmlformats.org/officeDocument/2006/relationships/tags" Target="../tags/tag133.xml"/><Relationship Id="rId32" Type="http://schemas.openxmlformats.org/officeDocument/2006/relationships/tags" Target="../tags/tag132.xml"/><Relationship Id="rId31" Type="http://schemas.openxmlformats.org/officeDocument/2006/relationships/tags" Target="../tags/tag131.xml"/><Relationship Id="rId30" Type="http://schemas.openxmlformats.org/officeDocument/2006/relationships/tags" Target="../tags/tag130.xml"/><Relationship Id="rId3" Type="http://schemas.openxmlformats.org/officeDocument/2006/relationships/tags" Target="../tags/tag103.xml"/><Relationship Id="rId29" Type="http://schemas.openxmlformats.org/officeDocument/2006/relationships/tags" Target="../tags/tag129.xml"/><Relationship Id="rId28" Type="http://schemas.openxmlformats.org/officeDocument/2006/relationships/tags" Target="../tags/tag128.xml"/><Relationship Id="rId27" Type="http://schemas.openxmlformats.org/officeDocument/2006/relationships/tags" Target="../tags/tag127.xml"/><Relationship Id="rId26" Type="http://schemas.openxmlformats.org/officeDocument/2006/relationships/tags" Target="../tags/tag126.xml"/><Relationship Id="rId25" Type="http://schemas.openxmlformats.org/officeDocument/2006/relationships/tags" Target="../tags/tag125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tags" Target="../tags/tag102.xml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0" Type="http://schemas.openxmlformats.org/officeDocument/2006/relationships/tags" Target="../tags/tag201.xml"/><Relationship Id="rId4" Type="http://schemas.openxmlformats.org/officeDocument/2006/relationships/image" Target="../media/image4.svg"/><Relationship Id="rId39" Type="http://schemas.openxmlformats.org/officeDocument/2006/relationships/tags" Target="../tags/tag200.xml"/><Relationship Id="rId38" Type="http://schemas.openxmlformats.org/officeDocument/2006/relationships/tags" Target="../tags/tag199.xml"/><Relationship Id="rId37" Type="http://schemas.openxmlformats.org/officeDocument/2006/relationships/tags" Target="../tags/tag198.xml"/><Relationship Id="rId36" Type="http://schemas.openxmlformats.org/officeDocument/2006/relationships/tags" Target="../tags/tag197.xml"/><Relationship Id="rId35" Type="http://schemas.openxmlformats.org/officeDocument/2006/relationships/tags" Target="../tags/tag196.xml"/><Relationship Id="rId34" Type="http://schemas.openxmlformats.org/officeDocument/2006/relationships/tags" Target="../tags/tag195.xml"/><Relationship Id="rId33" Type="http://schemas.openxmlformats.org/officeDocument/2006/relationships/tags" Target="../tags/tag194.xml"/><Relationship Id="rId32" Type="http://schemas.openxmlformats.org/officeDocument/2006/relationships/tags" Target="../tags/tag193.xml"/><Relationship Id="rId31" Type="http://schemas.openxmlformats.org/officeDocument/2006/relationships/tags" Target="../tags/tag192.xml"/><Relationship Id="rId30" Type="http://schemas.openxmlformats.org/officeDocument/2006/relationships/tags" Target="../tags/tag191.xml"/><Relationship Id="rId3" Type="http://schemas.openxmlformats.org/officeDocument/2006/relationships/image" Target="../media/image3.png"/><Relationship Id="rId29" Type="http://schemas.openxmlformats.org/officeDocument/2006/relationships/tags" Target="../tags/tag190.xml"/><Relationship Id="rId28" Type="http://schemas.openxmlformats.org/officeDocument/2006/relationships/tags" Target="../tags/tag189.xml"/><Relationship Id="rId27" Type="http://schemas.openxmlformats.org/officeDocument/2006/relationships/tags" Target="../tags/tag188.xml"/><Relationship Id="rId26" Type="http://schemas.openxmlformats.org/officeDocument/2006/relationships/tags" Target="../tags/tag187.xml"/><Relationship Id="rId25" Type="http://schemas.openxmlformats.org/officeDocument/2006/relationships/tags" Target="../tags/tag186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tags" Target="../tags/tag181.xml"/><Relationship Id="rId2" Type="http://schemas.openxmlformats.org/officeDocument/2006/relationships/tags" Target="../tags/tag165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0"/>
            <a:ext cx="1416011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65278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443148" y="4948805"/>
            <a:ext cx="1415102" cy="191173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696299"/>
            <a:ext cx="871276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649944" y="4783997"/>
            <a:ext cx="1136771" cy="568385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571500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675323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778669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82491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986314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090136" y="41840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571500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675323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778669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82491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986314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090136" y="4450794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571500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675323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778669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82491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986314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090136" y="47168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571500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675323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778669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82491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986314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090136" y="4983559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cxnSp>
        <p:nvCxnSpPr>
          <p:cNvPr id="43" name="直接连接符 42"/>
          <p:cNvCxnSpPr/>
          <p:nvPr userDrawn="1">
            <p:custDataLst>
              <p:tags r:id="rId33"/>
            </p:custDataLst>
          </p:nvPr>
        </p:nvCxnSpPr>
        <p:spPr>
          <a:xfrm>
            <a:off x="1638300" y="8382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任意多边形: 形状 43"/>
          <p:cNvSpPr/>
          <p:nvPr userDrawn="1">
            <p:custDataLst>
              <p:tags r:id="rId34"/>
            </p:custDataLst>
          </p:nvPr>
        </p:nvSpPr>
        <p:spPr>
          <a:xfrm>
            <a:off x="7036125" y="6334625"/>
            <a:ext cx="784588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45" name="任意多边形: 形状 12"/>
          <p:cNvSpPr/>
          <p:nvPr userDrawn="1">
            <p:custDataLst>
              <p:tags r:id="rId35"/>
            </p:custDataLst>
          </p:nvPr>
        </p:nvSpPr>
        <p:spPr>
          <a:xfrm flipH="1">
            <a:off x="8391049" y="1670923"/>
            <a:ext cx="752951" cy="1506379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47" name="任意多边形: 形状 81"/>
          <p:cNvSpPr/>
          <p:nvPr userDrawn="1">
            <p:custDataLst>
              <p:tags r:id="rId36"/>
            </p:custDataLst>
          </p:nvPr>
        </p:nvSpPr>
        <p:spPr>
          <a:xfrm>
            <a:off x="8217694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7"/>
            </p:custDataLst>
          </p:nvPr>
        </p:nvSpPr>
        <p:spPr>
          <a:xfrm>
            <a:off x="8321516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8"/>
            </p:custDataLst>
          </p:nvPr>
        </p:nvSpPr>
        <p:spPr>
          <a:xfrm>
            <a:off x="8424863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9"/>
            </p:custDataLst>
          </p:nvPr>
        </p:nvSpPr>
        <p:spPr>
          <a:xfrm>
            <a:off x="8528685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40"/>
            </p:custDataLst>
          </p:nvPr>
        </p:nvSpPr>
        <p:spPr>
          <a:xfrm>
            <a:off x="8632508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1"/>
            </p:custDataLst>
          </p:nvPr>
        </p:nvSpPr>
        <p:spPr>
          <a:xfrm>
            <a:off x="8736330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2"/>
            </p:custDataLst>
          </p:nvPr>
        </p:nvSpPr>
        <p:spPr>
          <a:xfrm>
            <a:off x="8217694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3"/>
            </p:custDataLst>
          </p:nvPr>
        </p:nvSpPr>
        <p:spPr>
          <a:xfrm>
            <a:off x="8321516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4"/>
            </p:custDataLst>
          </p:nvPr>
        </p:nvSpPr>
        <p:spPr>
          <a:xfrm>
            <a:off x="8424863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5"/>
            </p:custDataLst>
          </p:nvPr>
        </p:nvSpPr>
        <p:spPr>
          <a:xfrm>
            <a:off x="8528685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6"/>
            </p:custDataLst>
          </p:nvPr>
        </p:nvSpPr>
        <p:spPr>
          <a:xfrm>
            <a:off x="8632508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7"/>
            </p:custDataLst>
          </p:nvPr>
        </p:nvSpPr>
        <p:spPr>
          <a:xfrm>
            <a:off x="8736330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8"/>
            </p:custDataLst>
          </p:nvPr>
        </p:nvSpPr>
        <p:spPr>
          <a:xfrm>
            <a:off x="8217694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9"/>
            </p:custDataLst>
          </p:nvPr>
        </p:nvSpPr>
        <p:spPr>
          <a:xfrm>
            <a:off x="8321516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50"/>
            </p:custDataLst>
          </p:nvPr>
        </p:nvSpPr>
        <p:spPr>
          <a:xfrm>
            <a:off x="8424863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1"/>
            </p:custDataLst>
          </p:nvPr>
        </p:nvSpPr>
        <p:spPr>
          <a:xfrm>
            <a:off x="8528685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2"/>
            </p:custDataLst>
          </p:nvPr>
        </p:nvSpPr>
        <p:spPr>
          <a:xfrm>
            <a:off x="8632508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3"/>
            </p:custDataLst>
          </p:nvPr>
        </p:nvSpPr>
        <p:spPr>
          <a:xfrm>
            <a:off x="8736330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4"/>
            </p:custDataLst>
          </p:nvPr>
        </p:nvSpPr>
        <p:spPr>
          <a:xfrm>
            <a:off x="8217694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5"/>
            </p:custDataLst>
          </p:nvPr>
        </p:nvSpPr>
        <p:spPr>
          <a:xfrm>
            <a:off x="8321516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6"/>
            </p:custDataLst>
          </p:nvPr>
        </p:nvSpPr>
        <p:spPr>
          <a:xfrm>
            <a:off x="8424863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7"/>
            </p:custDataLst>
          </p:nvPr>
        </p:nvSpPr>
        <p:spPr>
          <a:xfrm>
            <a:off x="8528685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8"/>
            </p:custDataLst>
          </p:nvPr>
        </p:nvSpPr>
        <p:spPr>
          <a:xfrm>
            <a:off x="8632508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9"/>
            </p:custDataLst>
          </p:nvPr>
        </p:nvSpPr>
        <p:spPr>
          <a:xfrm>
            <a:off x="8736330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0"/>
            </p:custDataLst>
          </p:nvPr>
        </p:nvSpPr>
        <p:spPr>
          <a:xfrm>
            <a:off x="628650" y="1881000"/>
            <a:ext cx="7886700" cy="135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1"/>
            </p:custDataLst>
          </p:nvPr>
        </p:nvSpPr>
        <p:spPr>
          <a:xfrm>
            <a:off x="628650" y="3813538"/>
            <a:ext cx="7886700" cy="65011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2"/>
            </p:custDataLst>
          </p:nvPr>
        </p:nvSpPr>
        <p:spPr>
          <a:xfrm>
            <a:off x="521970" y="6401991"/>
            <a:ext cx="2057400" cy="273844"/>
          </a:xfrm>
        </p:spPr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>
          <a:xfrm>
            <a:off x="3028950" y="6401991"/>
            <a:ext cx="3086100" cy="273844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4"/>
            </p:custDataLst>
          </p:nvPr>
        </p:nvSpPr>
        <p:spPr>
          <a:xfrm>
            <a:off x="6457950" y="6401991"/>
            <a:ext cx="2057400" cy="273844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5"/>
            </p:custDataLst>
          </p:nvPr>
        </p:nvSpPr>
        <p:spPr>
          <a:xfrm>
            <a:off x="3586231" y="4649170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8" hasCustomPrompt="1"/>
            <p:custDataLst>
              <p:tags r:id="rId66"/>
            </p:custDataLst>
          </p:nvPr>
        </p:nvSpPr>
        <p:spPr>
          <a:xfrm>
            <a:off x="365078" y="3931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9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75" name="文本占位符 13"/>
          <p:cNvSpPr>
            <a:spLocks noGrp="1"/>
          </p:cNvSpPr>
          <p:nvPr>
            <p:ph type="body" sz="quarter" idx="14" hasCustomPrompt="1"/>
            <p:custDataLst>
              <p:tags r:id="rId67"/>
            </p:custDataLst>
          </p:nvPr>
        </p:nvSpPr>
        <p:spPr>
          <a:xfrm>
            <a:off x="6618923" y="389198"/>
            <a:ext cx="2160000" cy="3780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9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21970" y="1910952"/>
            <a:ext cx="8100000" cy="365521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1532499"/>
            <a:ext cx="2257865" cy="4299440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09" name="任意多边形: 形状 108"/>
          <p:cNvSpPr/>
          <p:nvPr userDrawn="1">
            <p:custDataLst>
              <p:tags r:id="rId3"/>
            </p:custDataLst>
          </p:nvPr>
        </p:nvSpPr>
        <p:spPr>
          <a:xfrm>
            <a:off x="764858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0" name="任意多边形: 形状 109"/>
          <p:cNvSpPr/>
          <p:nvPr userDrawn="1">
            <p:custDataLst>
              <p:tags r:id="rId4"/>
            </p:custDataLst>
          </p:nvPr>
        </p:nvSpPr>
        <p:spPr>
          <a:xfrm>
            <a:off x="927735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1" name="任意多边形: 形状 110"/>
          <p:cNvSpPr/>
          <p:nvPr userDrawn="1">
            <p:custDataLst>
              <p:tags r:id="rId5"/>
            </p:custDataLst>
          </p:nvPr>
        </p:nvSpPr>
        <p:spPr>
          <a:xfrm>
            <a:off x="1091089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2" name="任意多边形: 形状 111"/>
          <p:cNvSpPr/>
          <p:nvPr userDrawn="1">
            <p:custDataLst>
              <p:tags r:id="rId6"/>
            </p:custDataLst>
          </p:nvPr>
        </p:nvSpPr>
        <p:spPr>
          <a:xfrm>
            <a:off x="1254442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3" name="任意多边形: 形状 112"/>
          <p:cNvSpPr/>
          <p:nvPr userDrawn="1">
            <p:custDataLst>
              <p:tags r:id="rId7"/>
            </p:custDataLst>
          </p:nvPr>
        </p:nvSpPr>
        <p:spPr>
          <a:xfrm>
            <a:off x="1417320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4" name="任意多边形: 形状 113"/>
          <p:cNvSpPr/>
          <p:nvPr userDrawn="1">
            <p:custDataLst>
              <p:tags r:id="rId8"/>
            </p:custDataLst>
          </p:nvPr>
        </p:nvSpPr>
        <p:spPr>
          <a:xfrm>
            <a:off x="1580674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3" name="任意多边形: 形状 102"/>
          <p:cNvSpPr/>
          <p:nvPr userDrawn="1">
            <p:custDataLst>
              <p:tags r:id="rId9"/>
            </p:custDataLst>
          </p:nvPr>
        </p:nvSpPr>
        <p:spPr>
          <a:xfrm>
            <a:off x="764858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4" name="任意多边形: 形状 103"/>
          <p:cNvSpPr/>
          <p:nvPr userDrawn="1">
            <p:custDataLst>
              <p:tags r:id="rId10"/>
            </p:custDataLst>
          </p:nvPr>
        </p:nvSpPr>
        <p:spPr>
          <a:xfrm>
            <a:off x="927735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5" name="任意多边形: 形状 104"/>
          <p:cNvSpPr/>
          <p:nvPr userDrawn="1">
            <p:custDataLst>
              <p:tags r:id="rId11"/>
            </p:custDataLst>
          </p:nvPr>
        </p:nvSpPr>
        <p:spPr>
          <a:xfrm>
            <a:off x="1091089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6" name="任意多边形: 形状 105"/>
          <p:cNvSpPr/>
          <p:nvPr userDrawn="1">
            <p:custDataLst>
              <p:tags r:id="rId12"/>
            </p:custDataLst>
          </p:nvPr>
        </p:nvSpPr>
        <p:spPr>
          <a:xfrm>
            <a:off x="1254442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7" name="任意多边形: 形状 106"/>
          <p:cNvSpPr/>
          <p:nvPr userDrawn="1">
            <p:custDataLst>
              <p:tags r:id="rId13"/>
            </p:custDataLst>
          </p:nvPr>
        </p:nvSpPr>
        <p:spPr>
          <a:xfrm>
            <a:off x="1417320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1580674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7" name="任意多边形: 形状 96"/>
          <p:cNvSpPr/>
          <p:nvPr userDrawn="1">
            <p:custDataLst>
              <p:tags r:id="rId15"/>
            </p:custDataLst>
          </p:nvPr>
        </p:nvSpPr>
        <p:spPr>
          <a:xfrm>
            <a:off x="764858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8" name="任意多边形: 形状 97"/>
          <p:cNvSpPr/>
          <p:nvPr userDrawn="1">
            <p:custDataLst>
              <p:tags r:id="rId16"/>
            </p:custDataLst>
          </p:nvPr>
        </p:nvSpPr>
        <p:spPr>
          <a:xfrm>
            <a:off x="927735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9" name="任意多边形: 形状 98"/>
          <p:cNvSpPr/>
          <p:nvPr userDrawn="1">
            <p:custDataLst>
              <p:tags r:id="rId17"/>
            </p:custDataLst>
          </p:nvPr>
        </p:nvSpPr>
        <p:spPr>
          <a:xfrm>
            <a:off x="1091089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0" name="任意多边形: 形状 99"/>
          <p:cNvSpPr/>
          <p:nvPr userDrawn="1">
            <p:custDataLst>
              <p:tags r:id="rId18"/>
            </p:custDataLst>
          </p:nvPr>
        </p:nvSpPr>
        <p:spPr>
          <a:xfrm>
            <a:off x="1254442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1" name="任意多边形: 形状 100"/>
          <p:cNvSpPr/>
          <p:nvPr userDrawn="1">
            <p:custDataLst>
              <p:tags r:id="rId19"/>
            </p:custDataLst>
          </p:nvPr>
        </p:nvSpPr>
        <p:spPr>
          <a:xfrm>
            <a:off x="1417320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02" name="任意多边形: 形状 101"/>
          <p:cNvSpPr/>
          <p:nvPr userDrawn="1">
            <p:custDataLst>
              <p:tags r:id="rId20"/>
            </p:custDataLst>
          </p:nvPr>
        </p:nvSpPr>
        <p:spPr>
          <a:xfrm>
            <a:off x="1580674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1" name="任意多边形: 形状 90"/>
          <p:cNvSpPr/>
          <p:nvPr userDrawn="1">
            <p:custDataLst>
              <p:tags r:id="rId21"/>
            </p:custDataLst>
          </p:nvPr>
        </p:nvSpPr>
        <p:spPr>
          <a:xfrm>
            <a:off x="764858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2" name="任意多边形: 形状 91"/>
          <p:cNvSpPr/>
          <p:nvPr userDrawn="1">
            <p:custDataLst>
              <p:tags r:id="rId22"/>
            </p:custDataLst>
          </p:nvPr>
        </p:nvSpPr>
        <p:spPr>
          <a:xfrm>
            <a:off x="927735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3" name="任意多边形: 形状 92"/>
          <p:cNvSpPr/>
          <p:nvPr userDrawn="1">
            <p:custDataLst>
              <p:tags r:id="rId23"/>
            </p:custDataLst>
          </p:nvPr>
        </p:nvSpPr>
        <p:spPr>
          <a:xfrm>
            <a:off x="1091089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4" name="任意多边形: 形状 93"/>
          <p:cNvSpPr/>
          <p:nvPr userDrawn="1">
            <p:custDataLst>
              <p:tags r:id="rId24"/>
            </p:custDataLst>
          </p:nvPr>
        </p:nvSpPr>
        <p:spPr>
          <a:xfrm>
            <a:off x="1254442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5" name="任意多边形: 形状 94"/>
          <p:cNvSpPr/>
          <p:nvPr userDrawn="1">
            <p:custDataLst>
              <p:tags r:id="rId25"/>
            </p:custDataLst>
          </p:nvPr>
        </p:nvSpPr>
        <p:spPr>
          <a:xfrm>
            <a:off x="1417320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96" name="任意多边形: 形状 95"/>
          <p:cNvSpPr/>
          <p:nvPr userDrawn="1">
            <p:custDataLst>
              <p:tags r:id="rId26"/>
            </p:custDataLst>
          </p:nvPr>
        </p:nvSpPr>
        <p:spPr>
          <a:xfrm>
            <a:off x="1580674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16" name="任意多边形: 形状 115"/>
          <p:cNvSpPr/>
          <p:nvPr>
            <p:custDataLst>
              <p:tags r:id="rId27"/>
            </p:custDataLst>
          </p:nvPr>
        </p:nvSpPr>
        <p:spPr>
          <a:xfrm>
            <a:off x="8162274" y="5494407"/>
            <a:ext cx="981726" cy="1363593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350"/>
          </a:p>
        </p:txBody>
      </p:sp>
      <p:sp>
        <p:nvSpPr>
          <p:cNvPr id="117" name="任意多边形: 形状 116"/>
          <p:cNvSpPr/>
          <p:nvPr>
            <p:custDataLst>
              <p:tags r:id="rId28"/>
            </p:custDataLst>
          </p:nvPr>
        </p:nvSpPr>
        <p:spPr>
          <a:xfrm>
            <a:off x="7877404" y="6426987"/>
            <a:ext cx="64706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cxnSp>
        <p:nvCxnSpPr>
          <p:cNvPr id="124" name="直接连接符 123"/>
          <p:cNvCxnSpPr/>
          <p:nvPr>
            <p:custDataLst>
              <p:tags r:id="rId29"/>
            </p:custDataLst>
          </p:nvPr>
        </p:nvCxnSpPr>
        <p:spPr>
          <a:xfrm>
            <a:off x="3502855" y="5491317"/>
            <a:ext cx="464233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0"/>
            </p:custDataLst>
          </p:nvPr>
        </p:nvSpPr>
        <p:spPr>
          <a:xfrm>
            <a:off x="54780" y="2602201"/>
            <a:ext cx="1525809" cy="2016598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7011027" y="1532924"/>
            <a:ext cx="2132973" cy="4298593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7541419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7704773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7867650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8031004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8193881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8357235" y="523835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7541419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7704773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7867650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8031004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8193881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8357235" y="5527913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7541419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7704773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7867650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8031004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8193881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8357235" y="5829538"/>
            <a:ext cx="54769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7541419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7704773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7867650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8031004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8193881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8357235" y="6130528"/>
            <a:ext cx="54769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154781" y="5969564"/>
            <a:ext cx="1007537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cxnSp>
        <p:nvCxnSpPr>
          <p:cNvPr id="40" name="直接连接符 39"/>
          <p:cNvCxnSpPr/>
          <p:nvPr userDrawn="1">
            <p:custDataLst>
              <p:tags r:id="rId28"/>
            </p:custDataLst>
          </p:nvPr>
        </p:nvCxnSpPr>
        <p:spPr>
          <a:xfrm>
            <a:off x="1162318" y="6527800"/>
            <a:ext cx="6429107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29"/>
            </p:custDataLst>
          </p:nvPr>
        </p:nvSpPr>
        <p:spPr>
          <a:xfrm>
            <a:off x="806801" y="6426567"/>
            <a:ext cx="64706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1185853" y="1324673"/>
            <a:ext cx="4952732" cy="3744029"/>
          </a:xfrm>
        </p:spPr>
        <p:txBody>
          <a:bodyPr anchor="ctr">
            <a:normAutofit/>
          </a:bodyPr>
          <a:lstStyle>
            <a:lvl1pPr algn="l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1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2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3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4"/>
            </p:custDataLst>
          </p:nvPr>
        </p:nvSpPr>
        <p:spPr>
          <a:xfrm>
            <a:off x="7702762" y="2794021"/>
            <a:ext cx="1224359" cy="1402205"/>
          </a:xfrm>
        </p:spPr>
        <p:txBody>
          <a:bodyPr anchor="ctr">
            <a:noAutofit/>
          </a:bodyPr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1911231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911231"/>
            <a:ext cx="3992880" cy="36568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468000"/>
            <a:ext cx="7886700" cy="648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1970" y="1911033"/>
            <a:ext cx="3992880" cy="3084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234104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911033"/>
            <a:ext cx="3992880" cy="3084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2341044"/>
            <a:ext cx="3992880" cy="32252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450000"/>
            <a:ext cx="8100000" cy="54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1087279"/>
            <a:ext cx="8101489" cy="436340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468000"/>
            <a:ext cx="7886700" cy="648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52444"/>
            <a:ext cx="8099316" cy="304165"/>
          </a:xfrm>
        </p:spPr>
        <p:txBody>
          <a:bodyPr anchor="t"/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65487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323" y="0"/>
            <a:ext cx="1416011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419100" y="65278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7384256" y="5245735"/>
            <a:ext cx="1189196" cy="160718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 flipH="1">
            <a:off x="8324850" y="1692831"/>
            <a:ext cx="819150" cy="1637824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8217694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8321516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8424863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8528685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632508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8736330" y="24918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8217694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8321516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8424863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8528685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8632508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8736330" y="2758519"/>
            <a:ext cx="34766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8217694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8321516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8424863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8528685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8632508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8736330" y="30245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8217694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8321516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8424863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8528685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8632508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8736330" y="3291284"/>
            <a:ext cx="34766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0" y="5696299"/>
            <a:ext cx="871276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cxnSp>
        <p:nvCxnSpPr>
          <p:cNvPr id="44" name="直接连接符 43"/>
          <p:cNvCxnSpPr/>
          <p:nvPr userDrawn="1">
            <p:custDataLst>
              <p:tags r:id="rId33"/>
            </p:custDataLst>
          </p:nvPr>
        </p:nvCxnSpPr>
        <p:spPr>
          <a:xfrm>
            <a:off x="1638300" y="838200"/>
            <a:ext cx="717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任意多边形: 形状 44"/>
          <p:cNvSpPr/>
          <p:nvPr userDrawn="1">
            <p:custDataLst>
              <p:tags r:id="rId34"/>
            </p:custDataLst>
          </p:nvPr>
        </p:nvSpPr>
        <p:spPr>
          <a:xfrm>
            <a:off x="7036125" y="6334625"/>
            <a:ext cx="784588" cy="523058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5"/>
            </p:custDataLst>
          </p:nvPr>
        </p:nvSpPr>
        <p:spPr>
          <a:xfrm>
            <a:off x="1668932" y="1445896"/>
            <a:ext cx="5817719" cy="207269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6"/>
            </p:custDataLst>
          </p:nvPr>
        </p:nvSpPr>
        <p:spPr>
          <a:xfrm>
            <a:off x="521970" y="6401991"/>
            <a:ext cx="2057400" cy="273844"/>
          </a:xfr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7"/>
            </p:custDataLst>
          </p:nvPr>
        </p:nvSpPr>
        <p:spPr>
          <a:xfrm>
            <a:off x="3028950" y="6401991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8"/>
            </p:custDataLst>
          </p:nvPr>
        </p:nvSpPr>
        <p:spPr>
          <a:xfrm>
            <a:off x="6457950" y="6401991"/>
            <a:ext cx="2057400" cy="273844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6" name="文本占位符 9"/>
          <p:cNvSpPr>
            <a:spLocks noGrp="1"/>
          </p:cNvSpPr>
          <p:nvPr>
            <p:ph type="body" sz="quarter" idx="18" hasCustomPrompt="1"/>
            <p:custDataLst>
              <p:tags r:id="rId39"/>
            </p:custDataLst>
          </p:nvPr>
        </p:nvSpPr>
        <p:spPr>
          <a:xfrm>
            <a:off x="365078" y="393199"/>
            <a:ext cx="1159926" cy="378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900" b="1"/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47" name="文本占位符 23"/>
          <p:cNvSpPr>
            <a:spLocks noGrp="1"/>
          </p:cNvSpPr>
          <p:nvPr>
            <p:ph type="body" sz="quarter" idx="19" hasCustomPrompt="1"/>
            <p:custDataLst>
              <p:tags r:id="rId40"/>
            </p:custDataLst>
          </p:nvPr>
        </p:nvSpPr>
        <p:spPr>
          <a:xfrm>
            <a:off x="3586231" y="4268797"/>
            <a:ext cx="2057400" cy="378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 lvl="0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17"/>
            </p:custDataLst>
          </p:nvPr>
        </p:nvCxnSpPr>
        <p:spPr>
          <a:xfrm>
            <a:off x="613610" y="1700023"/>
            <a:ext cx="790174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/>
          <p:cNvSpPr/>
          <p:nvPr userDrawn="1">
            <p:custDataLst>
              <p:tags r:id="rId18"/>
            </p:custDataLst>
          </p:nvPr>
        </p:nvSpPr>
        <p:spPr>
          <a:xfrm>
            <a:off x="154912" y="5499206"/>
            <a:ext cx="1007406" cy="501545"/>
          </a:xfrm>
          <a:custGeom>
            <a:avLst/>
            <a:gdLst>
              <a:gd name="connsiteX0" fmla="*/ 671605 w 1343208"/>
              <a:gd name="connsiteY0" fmla="*/ 0 h 668726"/>
              <a:gd name="connsiteX1" fmla="*/ 1330834 w 1343208"/>
              <a:gd name="connsiteY1" fmla="*/ 544421 h 668726"/>
              <a:gd name="connsiteX2" fmla="*/ 1343208 w 1343208"/>
              <a:gd name="connsiteY2" fmla="*/ 668726 h 668726"/>
              <a:gd name="connsiteX3" fmla="*/ 0 w 1343208"/>
              <a:gd name="connsiteY3" fmla="*/ 668726 h 668726"/>
              <a:gd name="connsiteX4" fmla="*/ 12374 w 1343208"/>
              <a:gd name="connsiteY4" fmla="*/ 544421 h 668726"/>
              <a:gd name="connsiteX5" fmla="*/ 671605 w 1343208"/>
              <a:gd name="connsiteY5" fmla="*/ 0 h 66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3208" h="668726">
                <a:moveTo>
                  <a:pt x="671605" y="0"/>
                </a:moveTo>
                <a:cubicBezTo>
                  <a:pt x="996697" y="0"/>
                  <a:pt x="1268070" y="233786"/>
                  <a:pt x="1330834" y="544421"/>
                </a:cubicBezTo>
                <a:lnTo>
                  <a:pt x="1343208" y="668726"/>
                </a:lnTo>
                <a:lnTo>
                  <a:pt x="0" y="668726"/>
                </a:lnTo>
                <a:lnTo>
                  <a:pt x="12374" y="544421"/>
                </a:lnTo>
                <a:cubicBezTo>
                  <a:pt x="75138" y="233786"/>
                  <a:pt x="346512" y="0"/>
                  <a:pt x="671605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350"/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>
            <a:off x="1162318" y="5753100"/>
            <a:ext cx="676036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806801" y="5676272"/>
            <a:ext cx="647069" cy="323534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/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7739539" y="5400199"/>
            <a:ext cx="1404461" cy="600551"/>
          </a:xfrm>
          <a:custGeom>
            <a:avLst/>
            <a:gdLst>
              <a:gd name="connsiteX0" fmla="*/ 1267016 w 2192479"/>
              <a:gd name="connsiteY0" fmla="*/ 0 h 936989"/>
              <a:gd name="connsiteX1" fmla="*/ 2109873 w 2192479"/>
              <a:gd name="connsiteY1" fmla="*/ 302578 h 936989"/>
              <a:gd name="connsiteX2" fmla="*/ 2192479 w 2192479"/>
              <a:gd name="connsiteY2" fmla="*/ 377655 h 936989"/>
              <a:gd name="connsiteX3" fmla="*/ 2192479 w 2192479"/>
              <a:gd name="connsiteY3" fmla="*/ 936989 h 936989"/>
              <a:gd name="connsiteX4" fmla="*/ 0 w 2192479"/>
              <a:gd name="connsiteY4" fmla="*/ 936989 h 936989"/>
              <a:gd name="connsiteX5" fmla="*/ 1534 w 2192479"/>
              <a:gd name="connsiteY5" fmla="*/ 931024 h 936989"/>
              <a:gd name="connsiteX6" fmla="*/ 1267016 w 2192479"/>
              <a:gd name="connsiteY6" fmla="*/ 0 h 93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2479" h="936989">
                <a:moveTo>
                  <a:pt x="1267016" y="0"/>
                </a:moveTo>
                <a:cubicBezTo>
                  <a:pt x="1587182" y="0"/>
                  <a:pt x="1880826" y="113551"/>
                  <a:pt x="2109873" y="302578"/>
                </a:cubicBezTo>
                <a:lnTo>
                  <a:pt x="2192479" y="377655"/>
                </a:lnTo>
                <a:lnTo>
                  <a:pt x="2192479" y="936989"/>
                </a:lnTo>
                <a:lnTo>
                  <a:pt x="0" y="936989"/>
                </a:lnTo>
                <a:lnTo>
                  <a:pt x="1534" y="931024"/>
                </a:lnTo>
                <a:cubicBezTo>
                  <a:pt x="169301" y="391636"/>
                  <a:pt x="672423" y="0"/>
                  <a:pt x="12670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3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4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0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3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35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3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7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8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9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0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2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3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4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8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1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2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3.xml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54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5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6.xml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7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8.xml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9.xml"/><Relationship Id="rId1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61.xml"/><Relationship Id="rId1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64.xml"/><Relationship Id="rId1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28650" y="1881000"/>
            <a:ext cx="7886700" cy="1350000"/>
          </a:xfrm>
        </p:spPr>
        <p:txBody>
          <a:bodyPr/>
          <a:p>
            <a:r>
              <a:rPr lang="en-US" altLang="zh-CN" dirty="0"/>
              <a:t>AXI</a:t>
            </a:r>
            <a:r>
              <a:rPr lang="zh-CN" altLang="en-US" dirty="0"/>
              <a:t>学习分享</a:t>
            </a:r>
            <a:endParaRPr lang="zh-CN" altLang="en-US" dirty="0"/>
          </a:p>
        </p:txBody>
      </p:sp>
      <p:sp>
        <p:nvSpPr>
          <p:cNvPr id="6" name="公司名"/>
          <p:cNvSpPr>
            <a:spLocks noGrp="1"/>
          </p:cNvSpPr>
          <p:nvPr>
            <p:ph type="body" sz="quarter" idx="4294967295"/>
            <p:custDataLst>
              <p:tags r:id="rId2"/>
            </p:custDataLst>
          </p:nvPr>
        </p:nvSpPr>
        <p:spPr>
          <a:xfrm>
            <a:off x="399812" y="393105"/>
            <a:ext cx="1074658" cy="377429"/>
          </a:xfrm>
        </p:spPr>
        <p:txBody>
          <a:bodyPr anchor="ctr">
            <a:normAutofit/>
          </a:bodyPr>
          <a:p>
            <a:pPr marL="0" indent="0">
              <a:buNone/>
            </a:pPr>
            <a:r>
              <a:rPr lang="en-US" altLang="zh-CN" sz="900" b="1" dirty="0"/>
              <a:t>YOUR  LOGO</a:t>
            </a:r>
            <a:endParaRPr lang="zh-CN" altLang="en-US" sz="900" b="1" dirty="0"/>
          </a:p>
        </p:txBody>
      </p:sp>
      <p:sp>
        <p:nvSpPr>
          <p:cNvPr id="7" name="日期时间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650625" y="394469"/>
            <a:ext cx="2160000" cy="378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900" b="1" dirty="0">
                <a:solidFill>
                  <a:schemeClr val="accent6">
                    <a:lumMod val="50000"/>
                  </a:schemeClr>
                </a:solidFill>
              </a:rPr>
              <a:t>20XX.XX.XX</a:t>
            </a:r>
            <a:endParaRPr lang="en-US" altLang="zh-CN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42983" y="4004668"/>
            <a:ext cx="2057400" cy="37742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分享人：杨</a:t>
            </a:r>
            <a:r>
              <a:rPr lang="zh-CN" altLang="en-US">
                <a:solidFill>
                  <a:schemeClr val="accent6">
                    <a:lumMod val="50000"/>
                  </a:schemeClr>
                </a:solidFill>
              </a:rPr>
              <a:t>桓</a:t>
            </a:r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2" algn="l"/>
            <a:r>
              <a:rPr lang="en-US" altLang="zh-CN" sz="2000">
                <a:solidFill>
                  <a:schemeClr val="tx1"/>
                </a:solidFill>
              </a:rPr>
              <a:t>AXI</a:t>
            </a:r>
            <a:r>
              <a:rPr lang="zh-CN" altLang="en-US" sz="2000">
                <a:solidFill>
                  <a:schemeClr val="tx1"/>
                </a:solidFill>
              </a:rPr>
              <a:t>的来源</a:t>
            </a:r>
            <a:endParaRPr lang="zh-CN" altLang="en-US" sz="2000">
              <a:solidFill>
                <a:schemeClr val="tx1"/>
              </a:solidFill>
            </a:endParaRPr>
          </a:p>
          <a:p>
            <a:pPr lvl="2" algn="l"/>
            <a:r>
              <a:rPr lang="en-US" altLang="zh-CN" sz="2000">
                <a:solidFill>
                  <a:schemeClr val="tx1"/>
                </a:solidFill>
              </a:rPr>
              <a:t>AXI</a:t>
            </a:r>
            <a:r>
              <a:rPr lang="zh-CN" altLang="en-US" sz="2000">
                <a:solidFill>
                  <a:schemeClr val="tx1"/>
                </a:solidFill>
              </a:rPr>
              <a:t>协议结构</a:t>
            </a:r>
            <a:endParaRPr lang="zh-CN" altLang="en-US" sz="2000">
              <a:solidFill>
                <a:schemeClr val="tx1"/>
              </a:solidFill>
            </a:endParaRPr>
          </a:p>
          <a:p>
            <a:pPr lvl="2" algn="l"/>
            <a:r>
              <a:rPr lang="en-US" altLang="zh-CN" sz="2000">
                <a:solidFill>
                  <a:schemeClr val="tx1"/>
                </a:solidFill>
              </a:rPr>
              <a:t>AXI</a:t>
            </a:r>
            <a:r>
              <a:rPr lang="zh-CN" altLang="en-US" sz="2000">
                <a:solidFill>
                  <a:schemeClr val="tx1"/>
                </a:solidFill>
              </a:rPr>
              <a:t>总线信号详解</a:t>
            </a:r>
            <a:endParaRPr lang="zh-CN" altLang="en-US" sz="2000">
              <a:solidFill>
                <a:schemeClr val="tx1"/>
              </a:solidFill>
            </a:endParaRPr>
          </a:p>
          <a:p>
            <a:pPr lvl="2" algn="l"/>
            <a:r>
              <a:rPr lang="en-US" altLang="zh-CN" sz="2000">
                <a:solidFill>
                  <a:schemeClr val="tx1"/>
                </a:solidFill>
              </a:rPr>
              <a:t>AXI</a:t>
            </a:r>
            <a:r>
              <a:rPr lang="zh-CN" altLang="en-US" sz="2000">
                <a:solidFill>
                  <a:schemeClr val="tx1"/>
                </a:solidFill>
              </a:rPr>
              <a:t>机制和应用</a:t>
            </a:r>
            <a:endParaRPr lang="zh-CN" altLang="en-US" sz="2000">
              <a:solidFill>
                <a:schemeClr val="tx1"/>
              </a:solidFill>
            </a:endParaRPr>
          </a:p>
          <a:p>
            <a:pPr lvl="2" algn="l"/>
            <a:r>
              <a:rPr lang="en-US" altLang="zh-CN" sz="2000">
                <a:solidFill>
                  <a:schemeClr val="tx1"/>
                </a:solidFill>
              </a:rPr>
              <a:t>AXI</a:t>
            </a:r>
            <a:r>
              <a:rPr lang="zh-CN" altLang="en-US" sz="2000">
                <a:solidFill>
                  <a:schemeClr val="tx1"/>
                </a:solidFill>
              </a:rPr>
              <a:t>扩展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AXI</a:t>
            </a:r>
            <a:r>
              <a:rPr lang="zh-CN" altLang="en-US"/>
              <a:t>的来源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</a:t>
            </a:r>
            <a:r>
              <a:rPr lang="en-US" altLang="zh-CN"/>
              <a:t>AMBA</a:t>
            </a:r>
            <a:r>
              <a:rPr lang="zh-CN" altLang="en-US"/>
              <a:t>：</a:t>
            </a:r>
            <a:r>
              <a:rPr lang="en-US" altLang="zh-CN"/>
              <a:t>Advanced Microcontroller Bus Architecture</a:t>
            </a:r>
            <a:r>
              <a:rPr lang="zh-CN" altLang="en-US"/>
              <a:t>，高级微控制器总线架构，是</a:t>
            </a:r>
            <a:r>
              <a:rPr lang="en-US" altLang="zh-CN"/>
              <a:t> ARM </a:t>
            </a:r>
            <a:r>
              <a:rPr lang="zh-CN" altLang="en-US"/>
              <a:t>公司推出的片上系统（</a:t>
            </a:r>
            <a:r>
              <a:rPr lang="en-US" altLang="zh-CN"/>
              <a:t>SoC</a:t>
            </a:r>
            <a:r>
              <a:rPr lang="zh-CN" altLang="en-US"/>
              <a:t>）内部互联协议标准族，内含用于低中速外设的</a:t>
            </a:r>
            <a:r>
              <a:rPr lang="en-US" altLang="zh-CN"/>
              <a:t>APB</a:t>
            </a:r>
            <a:r>
              <a:rPr lang="zh-CN" altLang="en-US"/>
              <a:t>、</a:t>
            </a:r>
            <a:r>
              <a:rPr lang="en-US" altLang="zh-CN"/>
              <a:t>AHB,</a:t>
            </a:r>
            <a:r>
              <a:rPr lang="zh-CN" altLang="en-US"/>
              <a:t>高速且通用性强的</a:t>
            </a:r>
            <a:r>
              <a:rPr lang="en-US" altLang="zh-CN"/>
              <a:t>AXI</a:t>
            </a:r>
            <a:r>
              <a:rPr lang="zh-CN" altLang="en-US"/>
              <a:t>、</a:t>
            </a:r>
            <a:r>
              <a:rPr lang="en-US" altLang="zh-CN"/>
              <a:t>ACE</a:t>
            </a:r>
            <a:r>
              <a:rPr lang="zh-CN" altLang="en-US"/>
              <a:t>，强调高性能一致性</a:t>
            </a:r>
            <a:r>
              <a:rPr lang="en-US" altLang="zh-CN"/>
              <a:t>CHI</a:t>
            </a:r>
            <a:r>
              <a:rPr lang="zh-CN" altLang="en-US"/>
              <a:t>等众多协议。</a:t>
            </a:r>
            <a:endParaRPr lang="zh-CN" altLang="en-US"/>
          </a:p>
          <a:p>
            <a:r>
              <a:rPr lang="en-US" altLang="en-US"/>
              <a:t></a:t>
            </a:r>
            <a:r>
              <a:rPr lang="en-US" altLang="zh-CN"/>
              <a:t>AXI</a:t>
            </a:r>
            <a:r>
              <a:rPr lang="zh-CN" altLang="en-US"/>
              <a:t>：</a:t>
            </a:r>
            <a:r>
              <a:rPr lang="en-US" altLang="zh-CN"/>
              <a:t>Advanced eXtensible Interface</a:t>
            </a:r>
            <a:r>
              <a:rPr lang="zh-CN" altLang="en-US"/>
              <a:t>，高级可扩展接口</a:t>
            </a:r>
            <a:r>
              <a:rPr lang="en-US" altLang="zh-CN"/>
              <a:t>,</a:t>
            </a:r>
            <a:r>
              <a:rPr lang="zh-CN" altLang="en-US"/>
              <a:t>是</a:t>
            </a:r>
            <a:r>
              <a:rPr lang="en-US" altLang="zh-CN"/>
              <a:t>AMBA</a:t>
            </a:r>
            <a:r>
              <a:rPr lang="zh-CN" altLang="en-US"/>
              <a:t>协议族中的高性能总线接口，主要用于片上系统（</a:t>
            </a:r>
            <a:r>
              <a:rPr lang="en-US" altLang="zh-CN"/>
              <a:t>SoC</a:t>
            </a:r>
            <a:r>
              <a:rPr lang="zh-CN" altLang="en-US"/>
              <a:t>）中连接处理器、内存、外设等组件，支持高带宽、低延迟的数据传输，是现代嵌入式系统和</a:t>
            </a:r>
            <a:r>
              <a:rPr lang="en-US" altLang="zh-CN"/>
              <a:t> SoC </a:t>
            </a:r>
            <a:r>
              <a:rPr lang="zh-CN" altLang="en-US"/>
              <a:t>设计中最常用的总线协议之一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数据带宽：总线单位时间内可传输的最大数据量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传输效率：单位时间传输的有效数据量</a:t>
            </a:r>
            <a:r>
              <a:rPr lang="en-US" altLang="zh-CN"/>
              <a:t> </a:t>
            </a:r>
            <a:r>
              <a:rPr lang="en-US" altLang="en-US"/>
              <a:t>÷</a:t>
            </a:r>
            <a:r>
              <a:rPr lang="en-US" altLang="zh-CN"/>
              <a:t> </a:t>
            </a:r>
            <a:r>
              <a:rPr lang="zh-CN" altLang="en-US"/>
              <a:t>总传输数据量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总线带宽（</a:t>
            </a:r>
            <a:r>
              <a:rPr lang="en-US" altLang="zh-CN"/>
              <a:t>bps</a:t>
            </a:r>
            <a:r>
              <a:rPr lang="zh-CN" altLang="en-US"/>
              <a:t>）</a:t>
            </a:r>
            <a:r>
              <a:rPr lang="en-US" altLang="zh-CN"/>
              <a:t>= </a:t>
            </a:r>
            <a:r>
              <a:rPr lang="zh-CN" altLang="en-US"/>
              <a:t>数据宽度（</a:t>
            </a:r>
            <a:r>
              <a:rPr lang="en-US" altLang="zh-CN"/>
              <a:t>bit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时钟频率（</a:t>
            </a:r>
            <a:r>
              <a:rPr lang="en-US" altLang="zh-CN"/>
              <a:t>Hz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传输效率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660525"/>
            <a:ext cx="8100060" cy="3905250"/>
          </a:xfrm>
        </p:spPr>
        <p:txBody>
          <a:bodyPr>
            <a:normAutofit fontScale="90000"/>
          </a:bodyPr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0" indent="0" algn="l">
              <a:buNone/>
            </a:pPr>
            <a:endParaRPr lang="en-US" altLang="zh-CN"/>
          </a:p>
          <a:p>
            <a:pPr marL="0" indent="0" algn="l">
              <a:buNone/>
            </a:pPr>
            <a:r>
              <a:rPr lang="en-US" altLang="zh-CN"/>
              <a:t>AHB</a:t>
            </a:r>
            <a:r>
              <a:rPr lang="zh-CN" altLang="en-US"/>
              <a:t>痛点：</a:t>
            </a:r>
            <a:r>
              <a:rPr lang="en-US" altLang="zh-CN"/>
              <a:t>	</a:t>
            </a:r>
            <a:endParaRPr lang="en-US" altLang="zh-CN"/>
          </a:p>
          <a:p>
            <a:pPr marL="0" indent="0" algn="l">
              <a:buNone/>
            </a:pPr>
            <a:r>
              <a:rPr lang="en-US" altLang="zh-CN"/>
              <a:t>1</a:t>
            </a:r>
            <a:r>
              <a:rPr lang="zh-CN" altLang="en-US"/>
              <a:t>、在</a:t>
            </a:r>
            <a:r>
              <a:rPr lang="en-US" altLang="zh-CN"/>
              <a:t>AHB</a:t>
            </a:r>
            <a:r>
              <a:rPr lang="zh-CN" altLang="en-US"/>
              <a:t>总线中，地址传输阶段和数据传输阶段是紧密耦合、分步进行的，数据地址一一对应，这就导致如果从设备响应较慢，主设备就只能在那里干等着，专业术语叫</a:t>
            </a:r>
            <a:r>
              <a:rPr lang="en-US" altLang="zh-CN"/>
              <a:t>“stalled”</a:t>
            </a:r>
            <a:r>
              <a:rPr lang="zh-CN" altLang="en-US"/>
              <a:t>。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AHB</a:t>
            </a:r>
            <a:r>
              <a:rPr lang="zh-CN" altLang="en-US"/>
              <a:t>每次访问，主机都需要持续的发送地址和从机交互，直到通信完成，这会降低主机的工作效率。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AHB</a:t>
            </a:r>
            <a:r>
              <a:rPr lang="zh-CN" altLang="en-US"/>
              <a:t>为半双工的工作模式，读和写不能同时进行，如果当前在读</a:t>
            </a:r>
            <a:r>
              <a:rPr lang="en-US" altLang="zh-CN"/>
              <a:t>/</a:t>
            </a:r>
            <a:r>
              <a:rPr lang="zh-CN" altLang="en-US"/>
              <a:t>写，主机想进行写</a:t>
            </a:r>
            <a:r>
              <a:rPr lang="en-US" altLang="zh-CN"/>
              <a:t>/</a:t>
            </a:r>
            <a:r>
              <a:rPr lang="zh-CN" altLang="en-US"/>
              <a:t>读，就得等当前传输完成才行。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AHB</a:t>
            </a:r>
            <a:r>
              <a:rPr lang="zh-CN" altLang="en-US"/>
              <a:t>的当问，地址必须是对齐位宽的，如果想单独操作某个</a:t>
            </a:r>
            <a:r>
              <a:rPr lang="en-US" altLang="zh-CN"/>
              <a:t>byte</a:t>
            </a:r>
            <a:r>
              <a:rPr lang="zh-CN" altLang="en-US"/>
              <a:t>，需要拆成多次才能完成。</a:t>
            </a:r>
            <a:endParaRPr lang="zh-CN" altLang="en-US"/>
          </a:p>
        </p:txBody>
      </p:sp>
      <p:pic>
        <p:nvPicPr>
          <p:cNvPr id="36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3665" y="2276475"/>
            <a:ext cx="491553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" y="450215"/>
            <a:ext cx="3872230" cy="22440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</a:t>
            </a:r>
            <a:r>
              <a:rPr lang="en-US" altLang="zh-CN"/>
              <a:t>AXI</a:t>
            </a:r>
            <a:r>
              <a:rPr lang="zh-CN" altLang="en-US"/>
              <a:t>协议结构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AXI</a:t>
            </a:r>
            <a:r>
              <a:rPr lang="zh-CN" altLang="en-US"/>
              <a:t>的协议将有效解决上述的痛点，大大提升效率，代价是更多的总线和更复杂的控制设计。</a:t>
            </a:r>
            <a:r>
              <a:rPr lang="en-US" altLang="zh-CN"/>
              <a:t>AXI</a:t>
            </a:r>
            <a:r>
              <a:rPr lang="zh-CN" altLang="en-US"/>
              <a:t>协议拥有</a:t>
            </a:r>
            <a:r>
              <a:rPr lang="en-US" altLang="zh-CN"/>
              <a:t>5</a:t>
            </a:r>
            <a:r>
              <a:rPr lang="zh-CN" altLang="en-US"/>
              <a:t>组通信总线，分别是读地址总线、读数据总线、写地址总线、写数据总线、写反馈总线、由于读写分开，因此可以同时进行写操作和读操作，且地址总线会伴随着通信长度、地址跳转步长、有效</a:t>
            </a:r>
            <a:r>
              <a:rPr lang="en-US" altLang="zh-CN"/>
              <a:t>byte</a:t>
            </a:r>
            <a:r>
              <a:rPr lang="zh-CN" altLang="en-US"/>
              <a:t>等信息，使得一次传输仅需要发送一次地址总线数据，可以支持</a:t>
            </a:r>
            <a:r>
              <a:rPr lang="en-US" altLang="zh-CN"/>
              <a:t>Outstanding</a:t>
            </a:r>
            <a:r>
              <a:rPr lang="zh-CN" altLang="en-US"/>
              <a:t>功能，且每次通信会附带该次通信的</a:t>
            </a:r>
            <a:r>
              <a:rPr lang="en-US" altLang="zh-CN"/>
              <a:t>ID</a:t>
            </a:r>
            <a:r>
              <a:rPr lang="zh-CN" altLang="en-US"/>
              <a:t>码，使得其可以支持乱序传输，相比</a:t>
            </a:r>
            <a:r>
              <a:rPr lang="en-US" altLang="zh-CN"/>
              <a:t>APB</a:t>
            </a:r>
            <a:r>
              <a:rPr lang="zh-CN" altLang="en-US"/>
              <a:t>和</a:t>
            </a:r>
            <a:r>
              <a:rPr lang="en-US" altLang="zh-CN"/>
              <a:t>AHB</a:t>
            </a:r>
            <a:r>
              <a:rPr lang="zh-CN" altLang="en-US"/>
              <a:t>大大提升了连续传输场景下的效率。</a:t>
            </a:r>
            <a:endParaRPr lang="zh-CN" altLang="en-US"/>
          </a:p>
          <a:p>
            <a:r>
              <a:rPr lang="zh-CN" altLang="en-US"/>
              <a:t>全双工模式，读写功能不会复用通道，都有自己独立的完整总线，互不干扰，可以同时进行。</a:t>
            </a:r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3644583"/>
            <a:ext cx="4353560" cy="18497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地址和数据分离，每组总线分别有自己的单独的握手信号，主机可以分开提供地址和数据，不需要一直被占用，且提供一次地址，可以传输多次数据，在大量数据的访问下效率较高。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658" y="2780348"/>
            <a:ext cx="4458335" cy="20008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每组总线握手的交互，都需要靠握手来实现，下图中虚线表示两者没有先后关系，谁先拉高都可以，而实线表示有先后关系，在前的信号必须先拉高，由图中我们可以得出，对于任何一个写传输，天然的需要先发出地址，从机才能回应读数据。对于任何一个写传输，主设备必须先发出写地址，然后才能发出与这个地址对应的第一笔写数据。</a:t>
            </a:r>
            <a:endParaRPr lang="zh-CN" altLang="en-US"/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2996565"/>
            <a:ext cx="4565650" cy="27393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-2147482624"/>
          <p:cNvGraphicFramePr/>
          <p:nvPr/>
        </p:nvGraphicFramePr>
        <p:xfrm>
          <a:off x="2195513" y="1586230"/>
          <a:ext cx="5269865" cy="398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474710" imgH="6400800" progId="Visio.Drawing.15">
                  <p:embed/>
                </p:oleObj>
              </mc:Choice>
              <mc:Fallback>
                <p:oleObj name="" r:id="rId1" imgW="8474710" imgH="6400800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1586230"/>
                        <a:ext cx="5269865" cy="39801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读写的时序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8" y="1196340"/>
            <a:ext cx="5273675" cy="22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403" y="3488373"/>
            <a:ext cx="5271135" cy="21329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</a:t>
            </a:r>
            <a:r>
              <a:rPr lang="en-US" altLang="zh-CN"/>
              <a:t>AXI</a:t>
            </a:r>
            <a:r>
              <a:rPr lang="zh-CN" altLang="en-US"/>
              <a:t>总线信号详解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/>
              <a:t>1</a:t>
            </a:r>
            <a:r>
              <a:rPr lang="zh-CN" altLang="en-US" sz="2400"/>
              <a:t>、</a:t>
            </a:r>
            <a:r>
              <a:rPr lang="en-US" altLang="zh-CN" sz="2400"/>
              <a:t>LEN</a:t>
            </a:r>
            <a:endParaRPr lang="en-US" altLang="zh-CN" sz="2400"/>
          </a:p>
          <a:p>
            <a:r>
              <a:rPr lang="en-US" altLang="zh-CN"/>
              <a:t>“Len[3:0]/[7:0]”</a:t>
            </a:r>
            <a:r>
              <a:rPr lang="zh-CN" altLang="en-US"/>
              <a:t>信号，用来表示该次传输的数据长度，以字节为单位，在</a:t>
            </a:r>
            <a:r>
              <a:rPr lang="en-US" altLang="zh-CN"/>
              <a:t>AXI3</a:t>
            </a:r>
            <a:r>
              <a:rPr lang="zh-CN" altLang="en-US"/>
              <a:t>中仅支持最长</a:t>
            </a:r>
            <a:r>
              <a:rPr lang="en-US" altLang="zh-CN"/>
              <a:t>16byte</a:t>
            </a:r>
            <a:r>
              <a:rPr lang="zh-CN" altLang="en-US"/>
              <a:t>，</a:t>
            </a:r>
            <a:r>
              <a:rPr lang="en-US" altLang="zh-CN"/>
              <a:t>AXI4</a:t>
            </a:r>
            <a:r>
              <a:rPr lang="zh-CN" altLang="en-US"/>
              <a:t>中支持</a:t>
            </a:r>
            <a:r>
              <a:rPr lang="en-US" altLang="zh-CN"/>
              <a:t>256byte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990202"/>
            <a:ext cx="8100000" cy="3655219"/>
          </a:xfrm>
        </p:spPr>
        <p:txBody>
          <a:bodyPr/>
          <a:p>
            <a:pPr marL="0" indent="0">
              <a:buNone/>
            </a:pP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SIZE</a:t>
            </a:r>
            <a:endParaRPr lang="en-US" altLang="zh-CN" sz="2400"/>
          </a:p>
          <a:p>
            <a:r>
              <a:rPr lang="en-US" altLang="zh-CN">
                <a:sym typeface="+mn-ea"/>
              </a:rPr>
              <a:t>“size[2:0]”</a:t>
            </a:r>
            <a:r>
              <a:rPr lang="zh-CN" altLang="en-US">
                <a:sym typeface="+mn-ea"/>
              </a:rPr>
              <a:t>信号用来表示传输的数据位宽，以字节为单位，如下表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9" name="表格 4"/>
          <p:cNvGraphicFramePr/>
          <p:nvPr>
            <p:custDataLst>
              <p:tags r:id="rId1"/>
            </p:custDataLst>
          </p:nvPr>
        </p:nvGraphicFramePr>
        <p:xfrm>
          <a:off x="458470" y="1995170"/>
          <a:ext cx="8234680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490"/>
                <a:gridCol w="1950720"/>
                <a:gridCol w="1383030"/>
                <a:gridCol w="3647440"/>
              </a:tblGrid>
              <a:tr h="47244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1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SIZE</a:t>
                      </a:r>
                      <a:endParaRPr lang="en-US" altLang="zh-CN" sz="1600" b="1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对应数据宽度</a:t>
                      </a:r>
                      <a:endParaRPr lang="zh-CN" sz="1600" b="1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对应位宽</a:t>
                      </a:r>
                      <a:endParaRPr lang="zh-CN" sz="1600" b="1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典型应用场景</a:t>
                      </a:r>
                      <a:endParaRPr lang="zh-CN" sz="1600" b="1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544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3'b000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字节级寄存器访问（如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位外设）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544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3'b001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半字访问（如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位传感器）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3'b010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最常用（如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位处理器、寄存器）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608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3'b011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位内存、高速接口传输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481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3'b100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宽总线传输（如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Cache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行填充）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3'b101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高性能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DDR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控制器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417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3'b110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512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超宽总线（如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PCIe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高速传输）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8544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3'b111</a:t>
                      </a:r>
                      <a:endParaRPr lang="en-US" alt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字节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1024 </a:t>
                      </a:r>
                      <a:r>
                        <a:rPr lang="zh-CN" altLang="en-US" sz="12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</a:t>
                      </a:r>
                      <a:endParaRPr lang="zh-CN" altLang="en-US" sz="12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60">
                          <a:latin typeface="微软雅黑" panose="020B0503020204020204" charset="-122"/>
                          <a:ea typeface="微软雅黑" panose="020B0503020204020204" charset="-122"/>
                        </a:rPr>
                        <a:t>特殊场景（极少使用）</a:t>
                      </a:r>
                      <a:endParaRPr lang="zh-CN" sz="1200" b="0" spc="6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970" y="215050"/>
            <a:ext cx="8100000" cy="540000"/>
          </a:xfrm>
        </p:spPr>
        <p:txBody>
          <a:bodyPr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BURST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692150"/>
            <a:ext cx="8100060" cy="461581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100"/>
              <a:t>“Burst[1:0]”</a:t>
            </a:r>
            <a:r>
              <a:rPr lang="zh-CN" altLang="en-US" sz="1100"/>
              <a:t>信号（突发传输），用来表示该次传输的地址跳变类型，分为</a:t>
            </a:r>
            <a:r>
              <a:rPr lang="en-US" altLang="zh-CN" sz="1100"/>
              <a:t>AW_BURST</a:t>
            </a:r>
            <a:r>
              <a:rPr lang="zh-CN" altLang="en-US" sz="1100"/>
              <a:t>（写突发传输）和</a:t>
            </a:r>
            <a:r>
              <a:rPr lang="en-US" altLang="zh-CN" sz="1100"/>
              <a:t>AR_BURST</a:t>
            </a:r>
            <a:r>
              <a:rPr lang="zh-CN" altLang="en-US" sz="1100"/>
              <a:t>（读突发传输），具体包含三种类型的突发传输</a:t>
            </a:r>
            <a:endParaRPr lang="zh-CN" altLang="en-US" sz="1100"/>
          </a:p>
          <a:p>
            <a:pPr marL="0" indent="0">
              <a:buNone/>
            </a:pPr>
            <a:r>
              <a:rPr lang="en-US" altLang="zh-CN" sz="1100"/>
              <a:t>1. </a:t>
            </a:r>
            <a:r>
              <a:rPr lang="zh-CN" altLang="en-US" sz="1100"/>
              <a:t>固定突发（</a:t>
            </a:r>
            <a:r>
              <a:rPr lang="en-US" altLang="zh-CN" sz="1100"/>
              <a:t>Burst = 2'b00</a:t>
            </a:r>
            <a:r>
              <a:rPr lang="zh-CN" altLang="en-US" sz="1100"/>
              <a:t>）</a:t>
            </a:r>
            <a:endParaRPr lang="zh-CN" altLang="en-US" sz="1100"/>
          </a:p>
          <a:p>
            <a:r>
              <a:rPr lang="zh-CN" altLang="en-US" sz="1100"/>
              <a:t>突发中所有数据项都使用相同的起始地址，即地址不递增。适用于连续访问同一寄存器（如传感器状态读取、</a:t>
            </a:r>
            <a:r>
              <a:rPr lang="en-US" altLang="zh-CN" sz="1100"/>
              <a:t>DMA </a:t>
            </a:r>
            <a:r>
              <a:rPr lang="zh-CN" altLang="en-US" sz="1100"/>
              <a:t>状态查询）、刷新操作等。</a:t>
            </a:r>
            <a:endParaRPr lang="zh-CN" altLang="en-US" sz="1100"/>
          </a:p>
          <a:p>
            <a:pPr marL="0" indent="0">
              <a:buNone/>
            </a:pPr>
            <a:r>
              <a:rPr lang="en-US" altLang="zh-CN" sz="1100"/>
              <a:t>2. </a:t>
            </a:r>
            <a:r>
              <a:rPr lang="zh-CN" altLang="en-US" sz="1100"/>
              <a:t>递增突发（</a:t>
            </a:r>
            <a:r>
              <a:rPr lang="en-US" altLang="zh-CN" sz="1100"/>
              <a:t>Burst = 2'b01</a:t>
            </a:r>
            <a:r>
              <a:rPr lang="zh-CN" altLang="en-US" sz="1100"/>
              <a:t>）</a:t>
            </a:r>
            <a:endParaRPr lang="zh-CN" altLang="en-US" sz="1100"/>
          </a:p>
          <a:p>
            <a:r>
              <a:rPr lang="zh-CN" altLang="en-US" sz="1100"/>
              <a:t>每次传输的地址按数据宽度（</a:t>
            </a:r>
            <a:r>
              <a:rPr lang="en-US" altLang="zh-CN" sz="1100"/>
              <a:t>SIZE</a:t>
            </a:r>
            <a:r>
              <a:rPr lang="zh-CN" altLang="en-US" sz="1100"/>
              <a:t>信号）递增，适用于访问连续内存块（如数组、缓冲区）、</a:t>
            </a:r>
            <a:r>
              <a:rPr lang="en-US" altLang="zh-CN" sz="1100"/>
              <a:t>DDR </a:t>
            </a:r>
            <a:r>
              <a:rPr lang="zh-CN" altLang="en-US" sz="1100"/>
              <a:t>数据读写等。</a:t>
            </a:r>
            <a:endParaRPr lang="zh-CN" altLang="en-US" sz="1100"/>
          </a:p>
          <a:p>
            <a:pPr marL="0" indent="0">
              <a:buNone/>
            </a:pPr>
            <a:r>
              <a:rPr lang="en-US" altLang="zh-CN" sz="1100"/>
              <a:t>3. </a:t>
            </a:r>
            <a:r>
              <a:rPr lang="zh-CN" altLang="en-US" sz="1100"/>
              <a:t>回环突发（</a:t>
            </a:r>
            <a:r>
              <a:rPr lang="en-US" altLang="zh-CN" sz="1100"/>
              <a:t>Burst = 2'b10</a:t>
            </a:r>
            <a:r>
              <a:rPr lang="zh-CN" altLang="en-US" sz="1100"/>
              <a:t>）</a:t>
            </a:r>
            <a:endParaRPr lang="zh-CN" altLang="en-US" sz="1100"/>
          </a:p>
          <a:p>
            <a:r>
              <a:rPr lang="zh-CN" altLang="en-US" sz="1100"/>
              <a:t>地址递增到</a:t>
            </a:r>
            <a:r>
              <a:rPr lang="en-US" altLang="zh-CN" sz="1100"/>
              <a:t> “</a:t>
            </a:r>
            <a:r>
              <a:rPr lang="zh-CN" altLang="en-US" sz="1100"/>
              <a:t>边界</a:t>
            </a:r>
            <a:r>
              <a:rPr lang="en-US" altLang="zh-CN" sz="1100"/>
              <a:t>” </a:t>
            </a:r>
            <a:r>
              <a:rPr lang="zh-CN" altLang="en-US" sz="1100"/>
              <a:t>后，回卷到突发起始地址附近的低地址，形成循环。边界大小</a:t>
            </a:r>
            <a:r>
              <a:rPr lang="en-US" altLang="zh-CN" sz="1100"/>
              <a:t> = </a:t>
            </a:r>
            <a:r>
              <a:rPr lang="zh-CN" altLang="en-US" sz="1100"/>
              <a:t>突发长度（</a:t>
            </a:r>
            <a:r>
              <a:rPr lang="en-US" altLang="zh-CN" sz="1100"/>
              <a:t>LEN+1</a:t>
            </a:r>
            <a:r>
              <a:rPr lang="zh-CN" altLang="en-US" sz="1100"/>
              <a:t>）</a:t>
            </a:r>
            <a:r>
              <a:rPr lang="en-US" altLang="zh-CN" sz="1100"/>
              <a:t> </a:t>
            </a:r>
            <a:r>
              <a:rPr lang="en-US" altLang="en-US" sz="1100"/>
              <a:t>×</a:t>
            </a:r>
            <a:r>
              <a:rPr lang="en-US" altLang="zh-CN" sz="1100"/>
              <a:t> </a:t>
            </a:r>
            <a:r>
              <a:rPr lang="zh-CN" altLang="en-US" sz="1100"/>
              <a:t>数据宽度（</a:t>
            </a:r>
            <a:r>
              <a:rPr lang="en-US" altLang="zh-CN" sz="1100"/>
              <a:t>SIZE</a:t>
            </a:r>
            <a:r>
              <a:rPr lang="zh-CN" altLang="en-US" sz="1100"/>
              <a:t>），起始地址必须对齐到该边界。适用于高速缓存（</a:t>
            </a:r>
            <a:r>
              <a:rPr lang="en-US" altLang="zh-CN" sz="1100"/>
              <a:t>Cache</a:t>
            </a:r>
            <a:r>
              <a:rPr lang="zh-CN" altLang="en-US" sz="1100"/>
              <a:t>）行填充（如</a:t>
            </a:r>
            <a:r>
              <a:rPr lang="en-US" altLang="zh-CN" sz="1100"/>
              <a:t> Cache </a:t>
            </a:r>
            <a:r>
              <a:rPr lang="zh-CN" altLang="en-US" sz="1100"/>
              <a:t>行大小为</a:t>
            </a:r>
            <a:r>
              <a:rPr lang="en-US" altLang="zh-CN" sz="1100"/>
              <a:t> 64 </a:t>
            </a:r>
            <a:r>
              <a:rPr lang="zh-CN" altLang="en-US" sz="1100"/>
              <a:t>字节，用回环突发高效填充）。</a:t>
            </a:r>
            <a:endParaRPr lang="zh-CN" altLang="en-US" sz="1100"/>
          </a:p>
          <a:p>
            <a:r>
              <a:rPr lang="zh-CN" altLang="en-US" sz="1100"/>
              <a:t>例：</a:t>
            </a:r>
            <a:r>
              <a:rPr lang="en-US" altLang="zh-CN" sz="1100"/>
              <a:t>32 </a:t>
            </a:r>
            <a:r>
              <a:rPr lang="zh-CN" altLang="en-US" sz="1100"/>
              <a:t>位数据宽度（步长</a:t>
            </a:r>
            <a:r>
              <a:rPr lang="en-US" altLang="zh-CN" sz="1100"/>
              <a:t> 4</a:t>
            </a:r>
            <a:r>
              <a:rPr lang="zh-CN" altLang="en-US" sz="1100"/>
              <a:t>），突发长度</a:t>
            </a:r>
            <a:r>
              <a:rPr lang="en-US" altLang="zh-CN" sz="1100"/>
              <a:t> 4</a:t>
            </a:r>
            <a:r>
              <a:rPr lang="zh-CN" altLang="en-US" sz="1100"/>
              <a:t>（总大小</a:t>
            </a:r>
            <a:r>
              <a:rPr lang="en-US" altLang="zh-CN" sz="1100"/>
              <a:t> 16 </a:t>
            </a:r>
            <a:r>
              <a:rPr lang="zh-CN" altLang="en-US" sz="1100"/>
              <a:t>字节），起始地址</a:t>
            </a:r>
            <a:r>
              <a:rPr lang="en-US" altLang="en-US" sz="1100"/>
              <a:t> </a:t>
            </a:r>
            <a:r>
              <a:rPr lang="en-US" altLang="zh-CN" sz="1100"/>
              <a:t>0x1000</a:t>
            </a:r>
            <a:r>
              <a:rPr lang="zh-CN" altLang="en-US" sz="1100"/>
              <a:t>（对齐</a:t>
            </a:r>
            <a:r>
              <a:rPr lang="en-US" altLang="zh-CN" sz="1100"/>
              <a:t> 16 </a:t>
            </a:r>
            <a:r>
              <a:rPr lang="zh-CN" altLang="en-US" sz="1100"/>
              <a:t>字节），</a:t>
            </a:r>
            <a:r>
              <a:rPr lang="zh-CN" altLang="en-US" sz="1100">
                <a:sym typeface="+mn-ea"/>
              </a:rPr>
              <a:t>边界就为</a:t>
            </a:r>
            <a:r>
              <a:rPr lang="en-US" altLang="zh-CN" sz="1100">
                <a:sym typeface="+mn-ea"/>
              </a:rPr>
              <a:t> 0x1010</a:t>
            </a:r>
            <a:r>
              <a:rPr lang="zh-CN" altLang="en-US" sz="1100">
                <a:sym typeface="+mn-ea"/>
              </a:rPr>
              <a:t>，</a:t>
            </a:r>
            <a:r>
              <a:rPr lang="zh-CN" altLang="en-US" sz="1100"/>
              <a:t>则地址依次为</a:t>
            </a:r>
            <a:r>
              <a:rPr lang="en-US" altLang="en-US" sz="1100"/>
              <a:t> </a:t>
            </a:r>
            <a:r>
              <a:rPr lang="en-US" altLang="zh-CN" sz="1100"/>
              <a:t>0x1000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0x1004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0x1008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0x100C</a:t>
            </a:r>
            <a:r>
              <a:rPr lang="zh-CN" altLang="en-US" sz="1100"/>
              <a:t>；若起始地址为</a:t>
            </a:r>
            <a:r>
              <a:rPr lang="en-US" altLang="en-US" sz="1100"/>
              <a:t> </a:t>
            </a:r>
            <a:r>
              <a:rPr lang="en-US" altLang="zh-CN" sz="1100"/>
              <a:t>0x100C</a:t>
            </a:r>
            <a:r>
              <a:rPr lang="zh-CN" altLang="en-US" sz="1100"/>
              <a:t>，则地址为</a:t>
            </a:r>
            <a:r>
              <a:rPr lang="en-US" altLang="en-US" sz="1100"/>
              <a:t> </a:t>
            </a:r>
            <a:r>
              <a:rPr lang="en-US" altLang="zh-CN" sz="1100"/>
              <a:t>0x100C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0x1000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0x1004</a:t>
            </a:r>
            <a:r>
              <a:rPr lang="en-US" altLang="en-US" sz="1100"/>
              <a:t> </a:t>
            </a:r>
            <a:r>
              <a:rPr lang="en-US" altLang="en-US" sz="1100"/>
              <a:t>→</a:t>
            </a:r>
            <a:r>
              <a:rPr lang="en-US" altLang="en-US" sz="1100"/>
              <a:t> </a:t>
            </a:r>
            <a:r>
              <a:rPr lang="en-US" altLang="zh-CN" sz="1100"/>
              <a:t>0x1008</a:t>
            </a:r>
            <a:r>
              <a:rPr lang="zh-CN" altLang="en-US" sz="1100"/>
              <a:t>。</a:t>
            </a:r>
            <a:endParaRPr lang="zh-CN" altLang="en-US" sz="1100"/>
          </a:p>
          <a:p>
            <a:pPr marL="0" indent="0">
              <a:buNone/>
            </a:pPr>
            <a:r>
              <a:rPr lang="en-US" altLang="zh-CN" sz="1100"/>
              <a:t>4. </a:t>
            </a:r>
            <a:r>
              <a:rPr lang="zh-CN" altLang="en-US" sz="1100"/>
              <a:t>预留（</a:t>
            </a:r>
            <a:r>
              <a:rPr lang="en-US" altLang="zh-CN" sz="1100"/>
              <a:t>Reserved</a:t>
            </a:r>
            <a:r>
              <a:rPr lang="zh-CN" altLang="en-US" sz="1100"/>
              <a:t>，</a:t>
            </a:r>
            <a:r>
              <a:rPr lang="en-US" altLang="zh-CN" sz="1100"/>
              <a:t>2'b11</a:t>
            </a:r>
            <a:r>
              <a:rPr lang="zh-CN" altLang="en-US" sz="1100"/>
              <a:t>）</a:t>
            </a:r>
            <a:endParaRPr lang="zh-CN" altLang="en-US" sz="1100"/>
          </a:p>
          <a:p>
            <a:r>
              <a:rPr lang="zh-CN" altLang="en-US" sz="1100"/>
              <a:t>协议未定义，禁止使用。</a:t>
            </a:r>
            <a:endParaRPr lang="en-US" altLang="zh-CN" sz="1100"/>
          </a:p>
          <a:p>
            <a:pPr marL="0" indent="0">
              <a:buNone/>
            </a:pPr>
            <a:r>
              <a:rPr lang="en-US" altLang="zh-CN" sz="1100"/>
              <a:t>Burst</a:t>
            </a:r>
            <a:r>
              <a:rPr lang="zh-CN" altLang="en-US" sz="1100"/>
              <a:t>使用的</a:t>
            </a:r>
            <a:r>
              <a:rPr lang="zh-CN" altLang="en-US" sz="1100"/>
              <a:t>注意事项：</a:t>
            </a:r>
            <a:endParaRPr lang="zh-CN" altLang="en-US" sz="1100"/>
          </a:p>
          <a:p>
            <a:r>
              <a:rPr lang="zh-CN" altLang="en-US" sz="1100"/>
              <a:t>回环突发：起始地址必须对齐到</a:t>
            </a:r>
            <a:r>
              <a:rPr lang="en-US" altLang="zh-CN" sz="1100"/>
              <a:t> “</a:t>
            </a:r>
            <a:r>
              <a:rPr lang="zh-CN" altLang="en-US" sz="1100"/>
              <a:t>突发总大小</a:t>
            </a:r>
            <a:r>
              <a:rPr lang="en-US" altLang="zh-CN" sz="1100"/>
              <a:t>”</a:t>
            </a:r>
            <a:r>
              <a:rPr lang="zh-CN" altLang="en-US" sz="1100"/>
              <a:t>（长度</a:t>
            </a:r>
            <a:r>
              <a:rPr lang="en-US" altLang="zh-CN" sz="1100"/>
              <a:t> </a:t>
            </a:r>
            <a:r>
              <a:rPr lang="en-US" altLang="en-US" sz="1100"/>
              <a:t>×</a:t>
            </a:r>
            <a:r>
              <a:rPr lang="en-US" altLang="zh-CN" sz="1100"/>
              <a:t> </a:t>
            </a:r>
            <a:r>
              <a:rPr lang="zh-CN" altLang="en-US" sz="1100"/>
              <a:t>数据宽度）。</a:t>
            </a:r>
            <a:endParaRPr lang="zh-CN" altLang="en-US" sz="1100"/>
          </a:p>
          <a:p>
            <a:r>
              <a:rPr lang="en-US" altLang="zh-CN" sz="1100"/>
              <a:t>AXI3</a:t>
            </a:r>
            <a:r>
              <a:rPr lang="zh-CN" altLang="en-US" sz="1100"/>
              <a:t>：所有突发的起始地址必须对齐到数据宽度（如</a:t>
            </a:r>
            <a:r>
              <a:rPr lang="en-US" altLang="zh-CN" sz="1100"/>
              <a:t> 64 </a:t>
            </a:r>
            <a:r>
              <a:rPr lang="zh-CN" altLang="en-US" sz="1100"/>
              <a:t>位数据需</a:t>
            </a:r>
            <a:r>
              <a:rPr lang="en-US" altLang="zh-CN" sz="1100"/>
              <a:t> 8 </a:t>
            </a:r>
            <a:r>
              <a:rPr lang="zh-CN" altLang="en-US" sz="1100"/>
              <a:t>字节对齐）。</a:t>
            </a:r>
            <a:endParaRPr lang="zh-CN" altLang="en-US" sz="1100"/>
          </a:p>
          <a:p>
            <a:r>
              <a:rPr lang="en-US" altLang="zh-CN" sz="1100"/>
              <a:t>AXI4</a:t>
            </a:r>
            <a:r>
              <a:rPr lang="zh-CN" altLang="en-US" sz="1100"/>
              <a:t>：支持非对齐起始地址（更灵活）。</a:t>
            </a:r>
            <a:endParaRPr lang="zh-CN" altLang="en-US" sz="1100"/>
          </a:p>
          <a:p>
            <a:r>
              <a:rPr lang="zh-CN" altLang="en-US" sz="1100"/>
              <a:t>数据宽度与长度匹配：突发总大小（长度</a:t>
            </a:r>
            <a:r>
              <a:rPr lang="en-US" altLang="zh-CN" sz="1100"/>
              <a:t> </a:t>
            </a:r>
            <a:r>
              <a:rPr lang="en-US" altLang="en-US" sz="1100"/>
              <a:t>×</a:t>
            </a:r>
            <a:r>
              <a:rPr lang="en-US" altLang="zh-CN" sz="1100"/>
              <a:t> </a:t>
            </a:r>
            <a:r>
              <a:rPr lang="zh-CN" altLang="en-US" sz="1100"/>
              <a:t>数据宽度）不能超过从起始地址到地址空间末尾的剩余空间（避免越界）。</a:t>
            </a:r>
            <a:endParaRPr lang="zh-CN" altLang="en-US" sz="11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非对齐</a:t>
            </a:r>
            <a:r>
              <a:rPr lang="zh-CN" altLang="en-US"/>
              <a:t>传输</a:t>
            </a:r>
            <a:endParaRPr lang="zh-CN" altLang="en-US"/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540" y="2125345"/>
            <a:ext cx="5038725" cy="296164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0"/>
              <a:t>4</a:t>
            </a:r>
            <a:r>
              <a:rPr lang="zh-CN" altLang="en-US" b="0"/>
              <a:t>、</a:t>
            </a:r>
            <a:r>
              <a:rPr lang="en-US" altLang="zh-CN" b="0"/>
              <a:t>CACHE</a:t>
            </a:r>
            <a:endParaRPr lang="en-US" altLang="zh-CN" b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990600"/>
            <a:ext cx="8100060" cy="4575175"/>
          </a:xfrm>
        </p:spPr>
        <p:txBody>
          <a:bodyPr/>
          <a:p>
            <a:r>
              <a:rPr lang="en-US" altLang="zh-CN"/>
              <a:t>“Cache[3:0]”</a:t>
            </a:r>
            <a:r>
              <a:rPr lang="zh-CN" altLang="en-US"/>
              <a:t>信号用来表示当前传输的数据的缓存相关信息，即</a:t>
            </a:r>
            <a:r>
              <a:rPr lang="en-US" altLang="zh-CN"/>
              <a:t>“</a:t>
            </a:r>
            <a:r>
              <a:rPr lang="zh-CN" altLang="en-US"/>
              <a:t>是否能被缓存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缓存的策略</a:t>
            </a:r>
            <a:r>
              <a:rPr lang="en-US" altLang="zh-CN"/>
              <a:t>”</a:t>
            </a:r>
            <a:r>
              <a:rPr lang="zh-CN" altLang="en-US"/>
              <a:t>，写操作对应</a:t>
            </a:r>
            <a:r>
              <a:rPr lang="en-US" altLang="en-US"/>
              <a:t> </a:t>
            </a:r>
            <a:r>
              <a:rPr lang="en-US" altLang="zh-CN"/>
              <a:t>AWCACHE</a:t>
            </a:r>
            <a:r>
              <a:rPr lang="zh-CN" altLang="en-US"/>
              <a:t>，读操作对应</a:t>
            </a:r>
            <a:r>
              <a:rPr lang="en-US" altLang="en-US"/>
              <a:t> </a:t>
            </a:r>
            <a:r>
              <a:rPr lang="en-US" altLang="zh-CN"/>
              <a:t>ARCACHE</a:t>
            </a:r>
            <a:r>
              <a:rPr lang="zh-CN" altLang="en-US"/>
              <a:t>，是</a:t>
            </a:r>
            <a:r>
              <a:rPr lang="en-US" altLang="zh-CN"/>
              <a:t> AXI </a:t>
            </a:r>
            <a:r>
              <a:rPr lang="zh-CN" altLang="en-US"/>
              <a:t>协议中支持缓存机制的关键控制信号，这些缓存行为会由互联模块和缓存模块共同完成。其具体内容如下表</a:t>
            </a:r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94970" y="1844675"/>
          <a:ext cx="8298815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65"/>
                <a:gridCol w="1842770"/>
                <a:gridCol w="4907280"/>
              </a:tblGrid>
              <a:tr h="4953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</a:rPr>
                        <a:t>位索引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</a:rPr>
                        <a:t>名称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</a:rPr>
                        <a:t>功能描述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</a:endParaRPr>
                    </a:p>
                  </a:txBody>
                  <a:tcPr marL="171767" marR="171767" marT="114617" marB="114617" anchor="ctr" anchorCtr="0"/>
                </a:tc>
              </a:tr>
              <a:tr h="10287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bit3</a:t>
                      </a:r>
                      <a:endParaRPr lang="en-US" altLang="zh-CN" sz="900" b="1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Bufferable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数据是否可缓冲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：允许缓冲（数据可暂存于写缓冲区，无需立即写入从设备）；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：不可缓冲（需立即提交到从设备）。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</a:tr>
              <a:tr h="10287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bit2</a:t>
                      </a:r>
                      <a:endParaRPr lang="en-US" altLang="zh-CN" sz="900" b="1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Cacheable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数据是否可缓存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-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：允许缓存（主设备可将数据存入本地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）；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：不可缓存（必须每次直接访问从设备，不存入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）。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</a:tr>
              <a:tr h="12954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bit1</a:t>
                      </a:r>
                      <a:endParaRPr lang="en-US" altLang="zh-CN" sz="900" b="1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Read allocate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“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读缺失</a:t>
                      </a:r>
                      <a:r>
                        <a:rPr lang="en-US" altLang="zh-CN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”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（也就是缓存里没有所需读数据）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时，建议缓存里为这次新读来的数据分配一块空间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：读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缺失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时，将数据加载到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（读分配）；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：读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缺失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时，不分配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，直接从从设备读取。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</a:tr>
              <a:tr h="10668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bit0</a:t>
                      </a:r>
                      <a:endParaRPr lang="en-US" altLang="zh-CN" sz="900" b="1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Write allocate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“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写缺失</a:t>
                      </a:r>
                      <a:r>
                        <a:rPr lang="en-US" altLang="zh-CN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”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（也就是缓存里没有所需写数据）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ea typeface="Inter"/>
                          <a:cs typeface="+mn-lt"/>
                          <a:sym typeface="+mn-ea"/>
                        </a:rPr>
                        <a:t>时，建议缓存里为这次要写的数据分配一块空间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：写缺失时，先将数据加载到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再写入（写分配）；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：写确实时，直接写入从设备，不分配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Cache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a typeface="Inter"/>
                          <a:cs typeface="+mn-lt"/>
                        </a:rPr>
                        <a:t>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a typeface="Inter"/>
                        <a:cs typeface="+mn-lt"/>
                      </a:endParaRPr>
                    </a:p>
                  </a:txBody>
                  <a:tcPr marL="171767" marR="171767" marT="114617" marB="114617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0">
                <a:latin typeface="+mn-lt"/>
                <a:cs typeface="+mn-lt"/>
              </a:rPr>
              <a:t>5</a:t>
            </a:r>
            <a:r>
              <a:rPr lang="zh-CN" altLang="en-US" b="0">
                <a:latin typeface="+mn-lt"/>
                <a:cs typeface="+mn-lt"/>
              </a:rPr>
              <a:t>、</a:t>
            </a:r>
            <a:r>
              <a:rPr lang="en-US" altLang="zh-CN" b="0">
                <a:latin typeface="+mn-lt"/>
                <a:cs typeface="+mn-lt"/>
              </a:rPr>
              <a:t>PROT</a:t>
            </a:r>
            <a:endParaRPr lang="en-US" altLang="zh-CN" b="0">
              <a:latin typeface="+mn-lt"/>
              <a:cs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115" y="1125220"/>
            <a:ext cx="8100060" cy="46939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200"/>
              <a:t>“Prot[2:0]”</a:t>
            </a:r>
            <a:r>
              <a:rPr lang="zh-CN" altLang="en-US" sz="1200"/>
              <a:t>信号是用来表示数据的保护属性，即</a:t>
            </a:r>
            <a:r>
              <a:rPr lang="en-US" altLang="zh-CN" sz="1200"/>
              <a:t>“</a:t>
            </a:r>
            <a:r>
              <a:rPr lang="zh-CN" altLang="en-US" sz="1200"/>
              <a:t>访问类型</a:t>
            </a:r>
            <a:r>
              <a:rPr lang="en-US" altLang="zh-CN" sz="1200"/>
              <a:t>”</a:t>
            </a:r>
            <a:r>
              <a:rPr lang="zh-CN" altLang="en-US" sz="1200"/>
              <a:t>和</a:t>
            </a:r>
            <a:r>
              <a:rPr lang="en-US" altLang="zh-CN" sz="1200"/>
              <a:t>“</a:t>
            </a:r>
            <a:r>
              <a:rPr lang="zh-CN" altLang="en-US" sz="1200"/>
              <a:t>安全加密</a:t>
            </a:r>
            <a:r>
              <a:rPr lang="en-US" altLang="zh-CN" sz="1200"/>
              <a:t>”</a:t>
            </a:r>
            <a:r>
              <a:rPr lang="zh-CN" altLang="en-US" sz="1200"/>
              <a:t>，写地址通道中为</a:t>
            </a:r>
            <a:r>
              <a:rPr lang="en-US" altLang="zh-CN" sz="1200"/>
              <a:t>AWPROT[2:0]</a:t>
            </a:r>
            <a:r>
              <a:rPr lang="zh-CN" altLang="en-US" sz="1200"/>
              <a:t>，读地址通道中为</a:t>
            </a:r>
            <a:r>
              <a:rPr lang="en-US" altLang="zh-CN" sz="1200"/>
              <a:t>ARPROT[2:0]</a:t>
            </a:r>
            <a:r>
              <a:rPr lang="zh-CN" altLang="en-US" sz="1200"/>
              <a:t>，每个地址传输都会携带该信号，其具体内容如下</a:t>
            </a:r>
            <a:r>
              <a:rPr lang="en-US" altLang="zh-CN" sz="1200"/>
              <a:t>: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Prot[2]</a:t>
            </a:r>
            <a:r>
              <a:rPr lang="zh-CN" altLang="en-US" sz="1200"/>
              <a:t>：区分当前事务是</a:t>
            </a:r>
            <a:r>
              <a:rPr lang="en-US" altLang="zh-CN" sz="1200"/>
              <a:t> “</a:t>
            </a:r>
            <a:r>
              <a:rPr lang="zh-CN" altLang="en-US" sz="1200"/>
              <a:t>指令访问</a:t>
            </a:r>
            <a:r>
              <a:rPr lang="en-US" altLang="zh-CN" sz="1200"/>
              <a:t>” </a:t>
            </a:r>
            <a:r>
              <a:rPr lang="zh-CN" altLang="en-US" sz="1200"/>
              <a:t>还是</a:t>
            </a:r>
            <a:r>
              <a:rPr lang="en-US" altLang="zh-CN" sz="1200"/>
              <a:t> “</a:t>
            </a:r>
            <a:r>
              <a:rPr lang="zh-CN" altLang="en-US" sz="1200"/>
              <a:t>数据访问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zh-CN" altLang="en-US" sz="1200"/>
          </a:p>
          <a:p>
            <a:r>
              <a:rPr lang="en-US" altLang="zh-CN" sz="1200"/>
              <a:t>0</a:t>
            </a:r>
            <a:r>
              <a:rPr lang="zh-CN" altLang="en-US" sz="1200"/>
              <a:t>：数据访问</a:t>
            </a:r>
            <a:endParaRPr lang="zh-CN" altLang="en-US" sz="1200"/>
          </a:p>
          <a:p>
            <a:r>
              <a:rPr lang="en-US" altLang="zh-CN" sz="1200"/>
              <a:t>1</a:t>
            </a:r>
            <a:r>
              <a:rPr lang="zh-CN" altLang="en-US" sz="1200"/>
              <a:t>：指令访问</a:t>
            </a:r>
            <a:endParaRPr lang="zh-CN" altLang="en-US" sz="1200"/>
          </a:p>
          <a:p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Prot[1]</a:t>
            </a:r>
            <a:r>
              <a:rPr lang="zh-CN" altLang="en-US" sz="1200"/>
              <a:t>：区分当前访问是</a:t>
            </a:r>
            <a:r>
              <a:rPr lang="en-US" altLang="zh-CN" sz="1200"/>
              <a:t>“</a:t>
            </a:r>
            <a:r>
              <a:rPr lang="zh-CN" altLang="en-US" sz="1200"/>
              <a:t>安全访问</a:t>
            </a:r>
            <a:r>
              <a:rPr lang="en-US" altLang="zh-CN" sz="1200"/>
              <a:t>” </a:t>
            </a:r>
            <a:r>
              <a:rPr lang="zh-CN" altLang="en-US" sz="1200"/>
              <a:t>还是</a:t>
            </a:r>
            <a:r>
              <a:rPr lang="en-US" altLang="zh-CN" sz="1200"/>
              <a:t> “</a:t>
            </a:r>
            <a:r>
              <a:rPr lang="zh-CN" altLang="en-US" sz="1200"/>
              <a:t>非安全访问</a:t>
            </a:r>
            <a:r>
              <a:rPr lang="en-US" altLang="zh-CN" sz="1200"/>
              <a:t>”</a:t>
            </a:r>
            <a:r>
              <a:rPr lang="zh-CN" altLang="en-US" sz="1200"/>
              <a:t>，即事务来自不确定的外部环境（如用户应用程序），还是可确定的内部系统。</a:t>
            </a:r>
            <a:endParaRPr lang="zh-CN" altLang="en-US" sz="1200"/>
          </a:p>
          <a:p>
            <a:r>
              <a:rPr lang="en-US" altLang="zh-CN" sz="1200"/>
              <a:t>0</a:t>
            </a:r>
            <a:r>
              <a:rPr lang="zh-CN" altLang="en-US" sz="1200"/>
              <a:t>：安全访问</a:t>
            </a:r>
            <a:endParaRPr lang="zh-CN" altLang="en-US" sz="1200"/>
          </a:p>
          <a:p>
            <a:r>
              <a:rPr lang="en-US" altLang="zh-CN" sz="1200"/>
              <a:t>1</a:t>
            </a:r>
            <a:r>
              <a:rPr lang="zh-CN" altLang="en-US" sz="1200"/>
              <a:t>：非安全访问</a:t>
            </a:r>
            <a:endParaRPr lang="zh-CN" altLang="en-US" sz="1200"/>
          </a:p>
          <a:p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Prot[0]</a:t>
            </a:r>
            <a:r>
              <a:rPr lang="zh-CN" altLang="en-US" sz="1200"/>
              <a:t>：区分当前事务的权限级别，以此来决定指令的重要程度和访问权限</a:t>
            </a:r>
            <a:endParaRPr lang="zh-CN" altLang="en-US" sz="1200"/>
          </a:p>
          <a:p>
            <a:r>
              <a:rPr lang="en-US" altLang="zh-CN" sz="1200"/>
              <a:t>0</a:t>
            </a:r>
            <a:r>
              <a:rPr lang="zh-CN" altLang="en-US" sz="1200"/>
              <a:t>：特权访问，事务来自特权模式（如操作系统内核、中断服务程序）。</a:t>
            </a:r>
            <a:endParaRPr lang="zh-CN" altLang="en-US" sz="1200"/>
          </a:p>
          <a:p>
            <a:r>
              <a:rPr lang="en-US" altLang="zh-CN" sz="1200"/>
              <a:t>1</a:t>
            </a:r>
            <a:r>
              <a:rPr lang="zh-CN" altLang="en-US" sz="1200"/>
              <a:t>：非特权访问，事务来自非特权模式（如用户态应用程序）。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+mn-lt"/>
                <a:cs typeface="+mn-lt"/>
              </a:rPr>
              <a:t>6</a:t>
            </a:r>
            <a:r>
              <a:rPr lang="zh-CN" altLang="en-US">
                <a:latin typeface="+mn-lt"/>
                <a:cs typeface="+mn-lt"/>
              </a:rPr>
              <a:t>、</a:t>
            </a:r>
            <a:r>
              <a:rPr lang="en-US" altLang="zh-CN">
                <a:latin typeface="+mn-lt"/>
                <a:cs typeface="+mn-lt"/>
              </a:rPr>
              <a:t>ID</a:t>
            </a:r>
            <a:endParaRPr lang="en-US" altLang="zh-CN">
              <a:latin typeface="+mn-lt"/>
              <a:cs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165860"/>
            <a:ext cx="8100060" cy="4399915"/>
          </a:xfrm>
        </p:spPr>
        <p:txBody>
          <a:bodyPr/>
          <a:p>
            <a:r>
              <a:rPr lang="en-US" altLang="zh-CN"/>
              <a:t>“ID[x:0]”</a:t>
            </a:r>
            <a:r>
              <a:rPr lang="zh-CN" altLang="en-US"/>
              <a:t>信号，是用于确保是用于标识事务的标记信号，主要作用是在多事务并发或乱序传输场景下，实现</a:t>
            </a:r>
            <a:r>
              <a:rPr lang="en-US" altLang="zh-CN"/>
              <a:t>“</a:t>
            </a:r>
            <a:r>
              <a:rPr lang="zh-CN" altLang="en-US"/>
              <a:t>请求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响应</a:t>
            </a:r>
            <a:r>
              <a:rPr lang="en-US" altLang="zh-CN"/>
              <a:t>”</a:t>
            </a:r>
            <a:r>
              <a:rPr lang="zh-CN" altLang="en-US"/>
              <a:t>的正确匹配，每次主机发起通信时，地址总线都会携带一个独立的</a:t>
            </a:r>
            <a:r>
              <a:rPr lang="en-US" altLang="zh-CN"/>
              <a:t>ID</a:t>
            </a:r>
            <a:r>
              <a:rPr lang="zh-CN" altLang="en-US"/>
              <a:t>，在从机在完成该次通信时，也要返回同样的</a:t>
            </a:r>
            <a:r>
              <a:rPr lang="en-US" altLang="zh-CN"/>
              <a:t>ID</a:t>
            </a:r>
            <a:r>
              <a:rPr lang="zh-CN" altLang="en-US"/>
              <a:t>，这样给每次访问进行了区分，不会因为乱序造成混淆，因此</a:t>
            </a:r>
            <a:r>
              <a:rPr lang="en-US" altLang="zh-CN"/>
              <a:t>ID</a:t>
            </a:r>
            <a:r>
              <a:rPr lang="zh-CN" altLang="en-US"/>
              <a:t>使用时是两两成对的，读地址通道（</a:t>
            </a:r>
            <a:r>
              <a:rPr lang="en-US" altLang="zh-CN"/>
              <a:t>AR_ID</a:t>
            </a:r>
            <a:r>
              <a:rPr lang="zh-CN" altLang="en-US"/>
              <a:t>）和读响应通道（</a:t>
            </a:r>
            <a:r>
              <a:rPr lang="en-US" altLang="zh-CN"/>
              <a:t>R_ID)</a:t>
            </a:r>
            <a:r>
              <a:rPr lang="zh-CN" altLang="en-US"/>
              <a:t>为一组，写地址通道（</a:t>
            </a:r>
            <a:r>
              <a:rPr lang="en-US" altLang="zh-CN"/>
              <a:t>AW_ID</a:t>
            </a:r>
            <a:r>
              <a:rPr lang="zh-CN" altLang="en-US"/>
              <a:t>）和写响应通道（</a:t>
            </a:r>
            <a:r>
              <a:rPr lang="en-US" altLang="zh-CN"/>
              <a:t>B_ID</a:t>
            </a:r>
            <a:r>
              <a:rPr lang="zh-CN" altLang="en-US"/>
              <a:t>）为一组。下面是</a:t>
            </a:r>
            <a:r>
              <a:rPr lang="en-US" altLang="zh-CN"/>
              <a:t>ID</a:t>
            </a:r>
            <a:r>
              <a:rPr lang="zh-CN" altLang="en-US"/>
              <a:t>在</a:t>
            </a:r>
            <a:r>
              <a:rPr lang="en-US" altLang="zh-CN"/>
              <a:t>AXI</a:t>
            </a:r>
            <a:r>
              <a:rPr lang="zh-CN" altLang="en-US"/>
              <a:t>总线上的最重要的功能，</a:t>
            </a:r>
            <a:r>
              <a:rPr lang="en-US" altLang="zh-CN"/>
              <a:t>outstanding</a:t>
            </a:r>
            <a:r>
              <a:rPr lang="zh-CN" altLang="en-US"/>
              <a:t>对比。</a:t>
            </a:r>
            <a:endParaRPr lang="zh-CN" altLang="en-US"/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564765"/>
            <a:ext cx="7315200" cy="145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4077335"/>
            <a:ext cx="6614160" cy="18319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2140" y="764540"/>
            <a:ext cx="6296025" cy="1924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3140710"/>
            <a:ext cx="6227445" cy="14312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5" y="4652645"/>
            <a:ext cx="3892550" cy="305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089660"/>
            <a:ext cx="8100060" cy="4476115"/>
          </a:xfrm>
        </p:spPr>
        <p:txBody>
          <a:bodyPr/>
          <a:p>
            <a:r>
              <a:rPr lang="zh-CN" altLang="en-US"/>
              <a:t>上图可以看出，由于总线上从机的速度有快有慢，传输过程还是会出现响应快的设备等待响应慢的设备，所以</a:t>
            </a:r>
            <a:r>
              <a:rPr lang="en-US" altLang="zh-CN"/>
              <a:t>AXI</a:t>
            </a:r>
            <a:r>
              <a:rPr lang="zh-CN" altLang="en-US"/>
              <a:t>又设计了乱序传输（</a:t>
            </a:r>
            <a:r>
              <a:rPr lang="en-US" altLang="zh-CN"/>
              <a:t>Out-of-Order</a:t>
            </a:r>
            <a:r>
              <a:rPr lang="zh-CN" altLang="en-US"/>
              <a:t>），来进一步提高效率，下面是对比图</a:t>
            </a:r>
            <a:endParaRPr lang="zh-CN" altLang="en-US"/>
          </a:p>
        </p:txBody>
      </p:sp>
      <p:pic>
        <p:nvPicPr>
          <p:cNvPr id="1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628775"/>
            <a:ext cx="7875905" cy="212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3789045"/>
            <a:ext cx="7884795" cy="180784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377315"/>
            <a:ext cx="8100060" cy="4260215"/>
          </a:xfrm>
        </p:spPr>
        <p:txBody>
          <a:bodyPr>
            <a:normAutofit lnSpcReduction="10000"/>
          </a:bodyPr>
          <a:p>
            <a:r>
              <a:rPr lang="zh-CN" altLang="en-US"/>
              <a:t>在</a:t>
            </a:r>
            <a:r>
              <a:rPr lang="en-US" altLang="zh-CN"/>
              <a:t>AXI3</a:t>
            </a:r>
            <a:r>
              <a:rPr lang="zh-CN" altLang="en-US"/>
              <a:t>中还有一个信号</a:t>
            </a:r>
            <a:r>
              <a:rPr lang="en-US" altLang="zh-CN"/>
              <a:t>W_ID</a:t>
            </a:r>
            <a:r>
              <a:rPr lang="zh-CN" altLang="en-US"/>
              <a:t>是</a:t>
            </a:r>
            <a:r>
              <a:rPr lang="en-US" altLang="zh-CN"/>
              <a:t>AXI3</a:t>
            </a:r>
            <a:r>
              <a:rPr lang="zh-CN" altLang="en-US"/>
              <a:t>独有的，用来标注当前的写数据是属于哪个</a:t>
            </a:r>
            <a:r>
              <a:rPr lang="en-US" altLang="zh-CN"/>
              <a:t>ID</a:t>
            </a:r>
            <a:r>
              <a:rPr lang="zh-CN" altLang="en-US"/>
              <a:t>事务，这与</a:t>
            </a:r>
            <a:r>
              <a:rPr lang="en-US" altLang="zh-CN"/>
              <a:t>AW_ID</a:t>
            </a:r>
            <a:r>
              <a:rPr lang="zh-CN" altLang="en-US"/>
              <a:t>和</a:t>
            </a:r>
            <a:r>
              <a:rPr lang="en-US" altLang="zh-CN"/>
              <a:t>B_ID</a:t>
            </a:r>
            <a:r>
              <a:rPr lang="zh-CN" altLang="en-US"/>
              <a:t>并不冲突，因为</a:t>
            </a:r>
            <a:r>
              <a:rPr lang="en-US" altLang="zh-CN"/>
              <a:t>W_ID</a:t>
            </a:r>
            <a:r>
              <a:rPr lang="zh-CN" altLang="en-US"/>
              <a:t>被设计出来，主要是为了支持数据交错（</a:t>
            </a:r>
            <a:r>
              <a:rPr lang="en-US" altLang="zh-CN"/>
              <a:t>interleave</a:t>
            </a:r>
            <a:r>
              <a:rPr lang="zh-CN" altLang="en-US"/>
              <a:t>）传输，如下图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AXI3</a:t>
            </a:r>
            <a:r>
              <a:rPr lang="zh-CN" altLang="en-US"/>
              <a:t>中还规定了，地址</a:t>
            </a:r>
            <a:r>
              <a:rPr lang="en-US" altLang="zh-CN"/>
              <a:t>A</a:t>
            </a:r>
            <a:r>
              <a:rPr lang="zh-CN" altLang="en-US"/>
              <a:t>先发送，那么必须先在数据线上发送了</a:t>
            </a:r>
            <a:r>
              <a:rPr lang="en-US" altLang="zh-CN"/>
              <a:t>A0</a:t>
            </a:r>
            <a:r>
              <a:rPr lang="zh-CN" altLang="en-US"/>
              <a:t>数据，才能发送</a:t>
            </a:r>
            <a:r>
              <a:rPr lang="en-US" altLang="zh-CN"/>
              <a:t>B0</a:t>
            </a:r>
            <a:r>
              <a:rPr lang="zh-CN" altLang="en-US"/>
              <a:t>数据，也就是每次写事务的数据的</a:t>
            </a:r>
            <a:r>
              <a:rPr lang="en-US" altLang="zh-CN"/>
              <a:t>“</a:t>
            </a:r>
            <a:r>
              <a:rPr lang="zh-CN" altLang="en-US"/>
              <a:t>排头兵</a:t>
            </a:r>
            <a:r>
              <a:rPr lang="en-US" altLang="zh-CN"/>
              <a:t>”</a:t>
            </a:r>
            <a:r>
              <a:rPr lang="zh-CN" altLang="en-US"/>
              <a:t>必须按顺序出现，但是在写响应总线上，也同样适用乱序操作，先处理完的事务，可以先返信号。</a:t>
            </a:r>
            <a:endParaRPr lang="zh-CN" altLang="en-US"/>
          </a:p>
        </p:txBody>
      </p:sp>
      <p:pic>
        <p:nvPicPr>
          <p:cNvPr id="39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988185"/>
            <a:ext cx="7679690" cy="2209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AXI4</a:t>
            </a:r>
            <a:r>
              <a:rPr lang="zh-CN" altLang="en-US"/>
              <a:t>中，对于写事务，取消了数据交错这一功能，同时也删除了</a:t>
            </a:r>
            <a:r>
              <a:rPr lang="en-US" altLang="zh-CN"/>
              <a:t>W_ID</a:t>
            </a:r>
            <a:r>
              <a:rPr lang="zh-CN" altLang="en-US"/>
              <a:t>这一信号，所以</a:t>
            </a:r>
            <a:r>
              <a:rPr lang="en-US" altLang="zh-CN"/>
              <a:t>AXI4</a:t>
            </a:r>
            <a:r>
              <a:rPr lang="zh-CN" altLang="en-US"/>
              <a:t>中数据的传输，必须按照发送地址的顺序来完成，但从机写响应信号，可以乱序。</a:t>
            </a:r>
            <a:endParaRPr lang="zh-CN" altLang="en-US"/>
          </a:p>
        </p:txBody>
      </p:sp>
      <p:pic>
        <p:nvPicPr>
          <p:cNvPr id="17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2708910"/>
            <a:ext cx="6583045" cy="18992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交错传输在</a:t>
            </a:r>
            <a:r>
              <a:rPr lang="en-US" altLang="zh-CN"/>
              <a:t>AXI3</a:t>
            </a:r>
            <a:r>
              <a:rPr lang="zh-CN" altLang="en-US"/>
              <a:t>和</a:t>
            </a:r>
            <a:r>
              <a:rPr lang="en-US" altLang="zh-CN"/>
              <a:t>AXI4</a:t>
            </a:r>
            <a:r>
              <a:rPr lang="zh-CN" altLang="en-US"/>
              <a:t>的读事务中，都支持，但是写事务，仅在</a:t>
            </a:r>
            <a:r>
              <a:rPr lang="en-US" altLang="zh-CN"/>
              <a:t>AXI3</a:t>
            </a:r>
            <a:r>
              <a:rPr lang="zh-CN" altLang="en-US"/>
              <a:t>中支持，因为</a:t>
            </a:r>
            <a:r>
              <a:rPr lang="en-US" altLang="zh-CN"/>
              <a:t>AXI3</a:t>
            </a:r>
            <a:r>
              <a:rPr lang="zh-CN" altLang="en-US"/>
              <a:t>有</a:t>
            </a:r>
            <a:r>
              <a:rPr lang="en-US" altLang="zh-CN"/>
              <a:t>WID</a:t>
            </a:r>
            <a:r>
              <a:rPr lang="zh-CN" altLang="en-US"/>
              <a:t>信号。</a:t>
            </a:r>
            <a:endParaRPr lang="zh-CN" altLang="en-US"/>
          </a:p>
        </p:txBody>
      </p:sp>
      <p:pic>
        <p:nvPicPr>
          <p:cNvPr id="15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" y="2780665"/>
            <a:ext cx="8098790" cy="19291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无论是写事务还是读事务，都遵循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保序原则，同一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的不同事务，必须按顺序完成传输。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总结：</a:t>
            </a:r>
            <a:endParaRPr lang="zh-CN" altLang="en-US"/>
          </a:p>
          <a:p>
            <a:r>
              <a:rPr lang="en-US" altLang="zh-CN"/>
              <a:t>AXI3</a:t>
            </a:r>
            <a:r>
              <a:rPr lang="zh-CN" altLang="en-US"/>
              <a:t>和</a:t>
            </a:r>
            <a:r>
              <a:rPr lang="en-US" altLang="zh-CN"/>
              <a:t>AXI4</a:t>
            </a:r>
            <a:r>
              <a:rPr lang="zh-CN" altLang="en-US"/>
              <a:t>的读事务和写事务都支持乱序传输。</a:t>
            </a:r>
            <a:endParaRPr lang="zh-CN" altLang="en-US"/>
          </a:p>
          <a:p>
            <a:r>
              <a:rPr lang="zh-CN" altLang="en-US"/>
              <a:t>仅</a:t>
            </a:r>
            <a:r>
              <a:rPr lang="en-US" altLang="zh-CN"/>
              <a:t>XAI3</a:t>
            </a:r>
            <a:r>
              <a:rPr lang="zh-CN" altLang="en-US"/>
              <a:t>支持写事务的数据交错。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AXI3</a:t>
            </a:r>
            <a:r>
              <a:rPr lang="zh-CN" altLang="en-US"/>
              <a:t>和</a:t>
            </a:r>
            <a:r>
              <a:rPr lang="en-US" altLang="zh-CN"/>
              <a:t>AXI4</a:t>
            </a:r>
            <a:r>
              <a:rPr lang="zh-CN" altLang="en-US"/>
              <a:t>都支持读事务的数据交错。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AXI3</a:t>
            </a:r>
            <a:r>
              <a:rPr lang="zh-CN" altLang="en-US"/>
              <a:t>和</a:t>
            </a:r>
            <a:r>
              <a:rPr lang="en-US" altLang="zh-CN"/>
              <a:t>AXI4</a:t>
            </a:r>
            <a:r>
              <a:rPr lang="zh-CN" altLang="en-US"/>
              <a:t>中都遵循，不同</a:t>
            </a:r>
            <a:r>
              <a:rPr lang="en-US" altLang="zh-CN"/>
              <a:t>ID</a:t>
            </a:r>
            <a:r>
              <a:rPr lang="zh-CN" altLang="en-US"/>
              <a:t>可乱序，同样</a:t>
            </a:r>
            <a:r>
              <a:rPr lang="en-US" altLang="zh-CN"/>
              <a:t>ID</a:t>
            </a:r>
            <a:r>
              <a:rPr lang="zh-CN" altLang="en-US"/>
              <a:t>要按顺序完成的原则。</a:t>
            </a:r>
            <a:endParaRPr lang="zh-CN" altLang="en-US"/>
          </a:p>
        </p:txBody>
      </p:sp>
      <p:pic>
        <p:nvPicPr>
          <p:cNvPr id="40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4076700"/>
            <a:ext cx="7244080" cy="14890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AXI </a:t>
            </a:r>
            <a:r>
              <a:rPr lang="zh-CN" altLang="en-US"/>
              <a:t>协议不规定</a:t>
            </a:r>
            <a:r>
              <a:rPr lang="en-US" altLang="zh-CN"/>
              <a:t> ID </a:t>
            </a:r>
            <a:r>
              <a:rPr lang="zh-CN" altLang="en-US"/>
              <a:t>信号的固定位宽，其位宽系统设计决定，通常根据</a:t>
            </a:r>
            <a:r>
              <a:rPr lang="en-US" altLang="zh-CN"/>
              <a:t> “</a:t>
            </a:r>
            <a:r>
              <a:rPr lang="zh-CN" altLang="en-US"/>
              <a:t>最大并发事务数</a:t>
            </a:r>
            <a:r>
              <a:rPr lang="en-US" altLang="zh-CN"/>
              <a:t>” </a:t>
            </a:r>
            <a:r>
              <a:rPr lang="zh-CN" altLang="en-US"/>
              <a:t>需求配置：</a:t>
            </a:r>
            <a:endParaRPr lang="zh-CN" altLang="en-US"/>
          </a:p>
          <a:p>
            <a:r>
              <a:rPr lang="zh-CN" altLang="en-US"/>
              <a:t>若位宽为</a:t>
            </a:r>
            <a:r>
              <a:rPr lang="en-US" altLang="zh-CN"/>
              <a:t>N</a:t>
            </a:r>
            <a:r>
              <a:rPr lang="zh-CN" altLang="en-US"/>
              <a:t>，则最多支持</a:t>
            </a:r>
            <a:r>
              <a:rPr lang="en-US" altLang="zh-CN"/>
              <a:t>2^(N+1)</a:t>
            </a:r>
            <a:r>
              <a:rPr lang="zh-CN" altLang="en-US"/>
              <a:t>个并发事务（每个事务需唯一</a:t>
            </a:r>
            <a:r>
              <a:rPr lang="en-US" altLang="zh-CN"/>
              <a:t> ID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如：</a:t>
            </a:r>
            <a:r>
              <a:rPr lang="en-US" altLang="zh-CN"/>
              <a:t>8 </a:t>
            </a:r>
            <a:r>
              <a:rPr lang="zh-CN" altLang="en-US"/>
              <a:t>位</a:t>
            </a:r>
            <a:r>
              <a:rPr lang="en-US" altLang="zh-CN"/>
              <a:t>ID</a:t>
            </a:r>
            <a:r>
              <a:rPr lang="zh-CN" altLang="en-US"/>
              <a:t>支持</a:t>
            </a:r>
            <a:r>
              <a:rPr lang="en-US" altLang="zh-CN"/>
              <a:t>256</a:t>
            </a:r>
            <a:r>
              <a:rPr lang="zh-CN" altLang="en-US"/>
              <a:t>个并发事务，</a:t>
            </a:r>
            <a:r>
              <a:rPr lang="en-US" altLang="zh-CN"/>
              <a:t>16</a:t>
            </a:r>
            <a:r>
              <a:rPr lang="zh-CN" altLang="en-US"/>
              <a:t>位</a:t>
            </a:r>
            <a:r>
              <a:rPr lang="en-US" altLang="zh-CN"/>
              <a:t>ID</a:t>
            </a:r>
            <a:r>
              <a:rPr lang="zh-CN" altLang="en-US"/>
              <a:t>支持</a:t>
            </a:r>
            <a:r>
              <a:rPr lang="en-US" altLang="zh-CN"/>
              <a:t>65536</a:t>
            </a:r>
            <a:r>
              <a:rPr lang="zh-CN" altLang="en-US"/>
              <a:t>个并发事务。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ID</a:t>
            </a:r>
            <a:r>
              <a:rPr lang="zh-CN" altLang="en-US"/>
              <a:t>是</a:t>
            </a:r>
            <a:r>
              <a:rPr lang="en-US" altLang="zh-CN"/>
              <a:t>“</a:t>
            </a:r>
            <a:r>
              <a:rPr lang="zh-CN" altLang="en-US"/>
              <a:t>临时标识</a:t>
            </a:r>
            <a:r>
              <a:rPr lang="en-US" altLang="zh-CN"/>
              <a:t>”</a:t>
            </a:r>
            <a:r>
              <a:rPr lang="zh-CN" altLang="en-US"/>
              <a:t>，当一个事务的响应被主设备正确接收后，其</a:t>
            </a:r>
            <a:r>
              <a:rPr lang="en-US" altLang="zh-CN"/>
              <a:t>ID</a:t>
            </a:r>
            <a:r>
              <a:rPr lang="zh-CN" altLang="en-US"/>
              <a:t>可被重新分配给新的事务。在多主设备（如</a:t>
            </a:r>
            <a:r>
              <a:rPr lang="en-US" altLang="zh-CN"/>
              <a:t>CPU</a:t>
            </a:r>
            <a:r>
              <a:rPr lang="zh-CN" altLang="en-US"/>
              <a:t>、</a:t>
            </a:r>
            <a:r>
              <a:rPr lang="en-US" altLang="zh-CN"/>
              <a:t>GPU</a:t>
            </a:r>
            <a:r>
              <a:rPr lang="zh-CN" altLang="en-US"/>
              <a:t>、</a:t>
            </a:r>
            <a:r>
              <a:rPr lang="en-US" altLang="zh-CN"/>
              <a:t>DMA</a:t>
            </a:r>
            <a:r>
              <a:rPr lang="zh-CN" altLang="en-US"/>
              <a:t>同时连接</a:t>
            </a:r>
            <a:r>
              <a:rPr lang="en-US" altLang="zh-CN"/>
              <a:t>AXI</a:t>
            </a:r>
            <a:r>
              <a:rPr lang="zh-CN" altLang="en-US"/>
              <a:t>总线）的系统中，</a:t>
            </a:r>
            <a:r>
              <a:rPr lang="en-US" altLang="zh-CN"/>
              <a:t>ID</a:t>
            </a:r>
            <a:r>
              <a:rPr lang="zh-CN" altLang="en-US"/>
              <a:t>信号通常需要包含</a:t>
            </a:r>
            <a:r>
              <a:rPr lang="en-US" altLang="zh-CN"/>
              <a:t>“</a:t>
            </a:r>
            <a:r>
              <a:rPr lang="zh-CN" altLang="en-US"/>
              <a:t>主设备标识</a:t>
            </a:r>
            <a:r>
              <a:rPr lang="en-US" altLang="zh-CN"/>
              <a:t>”</a:t>
            </a:r>
            <a:r>
              <a:rPr lang="zh-CN" altLang="en-US"/>
              <a:t>，以区分不同主设备的事务，例如：</a:t>
            </a:r>
            <a:r>
              <a:rPr lang="en-US" altLang="zh-CN"/>
              <a:t>8</a:t>
            </a:r>
            <a:r>
              <a:rPr lang="zh-CN" altLang="en-US"/>
              <a:t>位</a:t>
            </a:r>
            <a:r>
              <a:rPr lang="en-US" altLang="zh-CN"/>
              <a:t>ID</a:t>
            </a:r>
            <a:r>
              <a:rPr lang="zh-CN" altLang="en-US"/>
              <a:t>中，高</a:t>
            </a:r>
            <a:r>
              <a:rPr lang="en-US" altLang="zh-CN"/>
              <a:t>3</a:t>
            </a:r>
            <a:r>
              <a:rPr lang="zh-CN" altLang="en-US"/>
              <a:t>位用于标识主设备，低</a:t>
            </a:r>
            <a:r>
              <a:rPr lang="en-US" altLang="zh-CN"/>
              <a:t>5</a:t>
            </a:r>
            <a:r>
              <a:rPr lang="zh-CN" altLang="en-US"/>
              <a:t>位用于标识该主设备的并发事务。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AXI</a:t>
            </a:r>
            <a:r>
              <a:rPr lang="zh-CN" altLang="en-US"/>
              <a:t>和</a:t>
            </a:r>
            <a:r>
              <a:rPr lang="en-US" altLang="zh-CN"/>
              <a:t>AHB</a:t>
            </a:r>
            <a:r>
              <a:rPr lang="zh-CN" altLang="en-US"/>
              <a:t>的效率对比图</a:t>
            </a:r>
            <a:endParaRPr lang="zh-CN" altLang="en-US"/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2420620"/>
            <a:ext cx="6984365" cy="29083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虽然</a:t>
            </a:r>
            <a:r>
              <a:rPr lang="en-US" altLang="zh-CN"/>
              <a:t>AXI</a:t>
            </a:r>
            <a:r>
              <a:rPr lang="zh-CN" altLang="en-US"/>
              <a:t>用了</a:t>
            </a:r>
            <a:r>
              <a:rPr lang="en-US" altLang="zh-CN"/>
              <a:t>outstanding</a:t>
            </a:r>
            <a:r>
              <a:rPr lang="zh-CN" altLang="en-US"/>
              <a:t>、乱序传输、交错传输的机制来提升效率，但是仍然避免不了效率浪费的情况，假设我们要进行的事务组合，是写</a:t>
            </a:r>
            <a:r>
              <a:rPr lang="en-US" altLang="zh-CN"/>
              <a:t>---</a:t>
            </a:r>
            <a:r>
              <a:rPr lang="zh-CN" altLang="en-US"/>
              <a:t>读</a:t>
            </a:r>
            <a:r>
              <a:rPr lang="en-US" altLang="zh-CN"/>
              <a:t>---</a:t>
            </a:r>
            <a:r>
              <a:rPr lang="zh-CN" altLang="en-US"/>
              <a:t>写，且这三个事务中的数据有前后关连，那么读和写就不能并行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780665"/>
            <a:ext cx="8449310" cy="207899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RESP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“Resp[1:0]”</a:t>
            </a:r>
            <a:r>
              <a:rPr lang="zh-CN" altLang="en-US"/>
              <a:t>信号，是从机用来响应主机的状态返回信号，用于告诉主机当此访问是否成功，其具体含义如下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2276475"/>
            <a:ext cx="3813175" cy="34302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LOCK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108075"/>
            <a:ext cx="8100060" cy="4878705"/>
          </a:xfrm>
        </p:spPr>
        <p:txBody>
          <a:bodyPr>
            <a:normAutofit/>
          </a:bodyPr>
          <a:p>
            <a:r>
              <a:rPr lang="en-US" altLang="zh-CN" sz="1200"/>
              <a:t>“Lock”</a:t>
            </a:r>
            <a:r>
              <a:rPr lang="zh-CN" altLang="en-US" sz="1200"/>
              <a:t>信号，是用来确认通信完整性和数据一致性的，当通信中伴随着有效的</a:t>
            </a:r>
            <a:r>
              <a:rPr lang="en-US" altLang="zh-CN" sz="1200"/>
              <a:t>LOCK</a:t>
            </a:r>
            <a:r>
              <a:rPr lang="zh-CN" altLang="en-US" sz="1200"/>
              <a:t>信号时，该次通信地址将被标记为独占，独占功能通常以</a:t>
            </a:r>
            <a:r>
              <a:rPr lang="en-US" altLang="zh-CN" sz="1200"/>
              <a:t> “</a:t>
            </a:r>
            <a:r>
              <a:rPr lang="zh-CN" altLang="en-US" sz="1200"/>
              <a:t>独占读</a:t>
            </a:r>
            <a:r>
              <a:rPr lang="en-US" altLang="zh-CN" sz="1200"/>
              <a:t> + </a:t>
            </a:r>
            <a:r>
              <a:rPr lang="zh-CN" altLang="en-US" sz="1200"/>
              <a:t>独占写</a:t>
            </a:r>
            <a:r>
              <a:rPr lang="en-US" altLang="zh-CN" sz="1200"/>
              <a:t>” </a:t>
            </a:r>
            <a:r>
              <a:rPr lang="zh-CN" altLang="en-US" sz="1200"/>
              <a:t>为一次完整操作。</a:t>
            </a:r>
            <a:endParaRPr lang="zh-CN" altLang="en-US" sz="1200"/>
          </a:p>
          <a:p>
            <a:r>
              <a:rPr lang="zh-CN" altLang="en-US" sz="1200"/>
              <a:t>从机看到</a:t>
            </a:r>
            <a:r>
              <a:rPr lang="en-US" altLang="zh-CN" sz="1200"/>
              <a:t>LOCK=1</a:t>
            </a:r>
            <a:r>
              <a:rPr lang="zh-CN" altLang="en-US" sz="1200"/>
              <a:t>的读事务，且当前地址未被独占时，会完成这次读事务，且会通过</a:t>
            </a:r>
            <a:r>
              <a:rPr lang="en-US" altLang="zh-CN" sz="1200"/>
              <a:t>Resp[1:0]</a:t>
            </a:r>
            <a:r>
              <a:rPr lang="zh-CN" altLang="en-US" sz="1200"/>
              <a:t>信号返回</a:t>
            </a:r>
            <a:r>
              <a:rPr lang="en-US" altLang="zh-CN" sz="1200"/>
              <a:t>01</a:t>
            </a:r>
            <a:r>
              <a:rPr lang="zh-CN" altLang="en-US" sz="1200"/>
              <a:t>来告知主机，地址独占成功。然后对于该地址，从机只能响应当前独占主机的通信指令，其余主机的访问将被回复</a:t>
            </a:r>
            <a:r>
              <a:rPr lang="en-US" altLang="zh-CN" sz="1200"/>
              <a:t>Resp[1:0]=10</a:t>
            </a:r>
            <a:r>
              <a:rPr lang="zh-CN" altLang="en-US" sz="1200"/>
              <a:t>。</a:t>
            </a:r>
            <a:endParaRPr lang="zh-CN" altLang="en-US" sz="1200"/>
          </a:p>
          <a:p>
            <a:r>
              <a:rPr lang="zh-CN" altLang="en-US" sz="1200"/>
              <a:t>在从机接收完一次独占状态下的写事务以后，会清除掉这个独占标志，再通过</a:t>
            </a:r>
            <a:r>
              <a:rPr lang="en-US" altLang="zh-CN" sz="1200"/>
              <a:t>Resp[1:0]</a:t>
            </a:r>
            <a:r>
              <a:rPr lang="zh-CN" altLang="en-US" sz="1200"/>
              <a:t>信号返回</a:t>
            </a:r>
            <a:r>
              <a:rPr lang="en-US" altLang="zh-CN" sz="1200"/>
              <a:t>01</a:t>
            </a:r>
            <a:r>
              <a:rPr lang="zh-CN" altLang="en-US" sz="1200"/>
              <a:t>来告知主机，独占写成功，如果在主机还没来的及写入时，该地址数据被强制修改了，从机会通过</a:t>
            </a:r>
            <a:r>
              <a:rPr lang="en-US" altLang="zh-CN" sz="1200"/>
              <a:t>Resp[1:0]</a:t>
            </a:r>
            <a:r>
              <a:rPr lang="zh-CN" altLang="en-US" sz="1200"/>
              <a:t>信号返回</a:t>
            </a:r>
            <a:r>
              <a:rPr lang="en-US" altLang="zh-CN" sz="1200"/>
              <a:t>00</a:t>
            </a:r>
            <a:r>
              <a:rPr lang="zh-CN" altLang="en-US" sz="1200"/>
              <a:t>来告知主机，独占写失败。主机需要重新尝试。</a:t>
            </a:r>
            <a:endParaRPr lang="zh-CN" altLang="en-US" sz="1200"/>
          </a:p>
          <a:p>
            <a:r>
              <a:rPr lang="zh-CN" altLang="en-US" sz="1200"/>
              <a:t>如果从机不支持</a:t>
            </a:r>
            <a:r>
              <a:rPr lang="en-US" altLang="zh-CN" sz="1200"/>
              <a:t>LOCK</a:t>
            </a:r>
            <a:r>
              <a:rPr lang="zh-CN" altLang="en-US" sz="1200"/>
              <a:t>功能，则</a:t>
            </a:r>
            <a:r>
              <a:rPr lang="en-US" altLang="zh-CN" sz="1200"/>
              <a:t>Resp[1:0]</a:t>
            </a:r>
            <a:r>
              <a:rPr lang="zh-CN" altLang="en-US" sz="1200"/>
              <a:t>信号只会返回</a:t>
            </a:r>
            <a:r>
              <a:rPr lang="en-US" altLang="zh-CN" sz="1200"/>
              <a:t>00</a:t>
            </a:r>
            <a:r>
              <a:rPr lang="zh-CN" altLang="en-US" sz="1200"/>
              <a:t>。</a:t>
            </a:r>
            <a:endParaRPr lang="zh-CN" altLang="en-US" sz="1200"/>
          </a:p>
          <a:p>
            <a:endParaRPr lang="en-US" altLang="zh-CN" sz="1200"/>
          </a:p>
          <a:p>
            <a:pPr marL="0" indent="0">
              <a:buNone/>
            </a:pPr>
            <a:r>
              <a:rPr lang="zh-CN" altLang="en-US" sz="1200"/>
              <a:t>例：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主设备</a:t>
            </a:r>
            <a:r>
              <a:rPr lang="en-US" altLang="zh-CN" sz="1200"/>
              <a:t>A</a:t>
            </a:r>
            <a:r>
              <a:rPr lang="zh-CN" altLang="en-US" sz="1200"/>
              <a:t>发送读地址事务：</a:t>
            </a:r>
            <a:r>
              <a:rPr lang="en-US" altLang="zh-CN" sz="1200"/>
              <a:t>ARADDR=0x2000</a:t>
            </a:r>
            <a:r>
              <a:rPr lang="zh-CN" altLang="en-US" sz="1200"/>
              <a:t>，</a:t>
            </a:r>
            <a:r>
              <a:rPr lang="en-US" altLang="zh-CN" sz="1200"/>
              <a:t>ARLOCK=1</a:t>
            </a:r>
            <a:r>
              <a:rPr lang="zh-CN" altLang="en-US" sz="1200"/>
              <a:t>（开始地址</a:t>
            </a:r>
            <a:r>
              <a:rPr lang="zh-CN" altLang="en-US" sz="1200"/>
              <a:t>独占）；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从设备返回</a:t>
            </a:r>
            <a:r>
              <a:rPr lang="en-US" altLang="zh-CN" sz="1200"/>
              <a:t>X</a:t>
            </a:r>
            <a:r>
              <a:rPr lang="zh-CN" altLang="en-US" sz="1200"/>
              <a:t>的值（</a:t>
            </a:r>
            <a:r>
              <a:rPr lang="en-US" altLang="zh-CN" sz="1200"/>
              <a:t>X=5</a:t>
            </a:r>
            <a:r>
              <a:rPr lang="zh-CN" altLang="en-US" sz="1200"/>
              <a:t>），</a:t>
            </a:r>
            <a:r>
              <a:rPr lang="en-US" altLang="zh-CN" sz="1200">
                <a:sym typeface="+mn-ea"/>
              </a:rPr>
              <a:t>Resp[1:0]=10</a:t>
            </a:r>
            <a:r>
              <a:rPr lang="zh-CN" altLang="en-US" sz="1200"/>
              <a:t>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主设备</a:t>
            </a:r>
            <a:r>
              <a:rPr lang="en-US" altLang="zh-CN" sz="1200"/>
              <a:t>A</a:t>
            </a:r>
            <a:r>
              <a:rPr lang="zh-CN" altLang="en-US" sz="1200"/>
              <a:t>计算</a:t>
            </a:r>
            <a:r>
              <a:rPr lang="en-US" altLang="zh-CN" sz="1200"/>
              <a:t>X'=X+1=6</a:t>
            </a:r>
            <a:r>
              <a:rPr lang="zh-CN" altLang="en-US" sz="1200"/>
              <a:t>，发送写地址事务：</a:t>
            </a:r>
            <a:r>
              <a:rPr lang="en-US" altLang="zh-CN" sz="1200"/>
              <a:t>AWADDR=0x2000</a:t>
            </a:r>
            <a:r>
              <a:rPr lang="zh-CN" altLang="en-US" sz="1200"/>
              <a:t>，</a:t>
            </a:r>
            <a:r>
              <a:rPr lang="en-US" altLang="zh-CN" sz="1200"/>
              <a:t>AWLOCK=1</a:t>
            </a:r>
            <a:r>
              <a:rPr lang="zh-CN" altLang="en-US" sz="1200"/>
              <a:t>（继续</a:t>
            </a:r>
            <a:r>
              <a:rPr lang="zh-CN" altLang="en-US" sz="1200"/>
              <a:t>独占）；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发送写数据：</a:t>
            </a:r>
            <a:r>
              <a:rPr lang="en-US" altLang="zh-CN" sz="1200"/>
              <a:t>WDATA=6</a:t>
            </a:r>
            <a:r>
              <a:rPr lang="zh-CN" altLang="en-US" sz="1200"/>
              <a:t>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>
                <a:sym typeface="+mn-ea"/>
              </a:rPr>
              <a:t>从设备将</a:t>
            </a:r>
            <a:r>
              <a:rPr lang="en-US" altLang="zh-CN" sz="1200">
                <a:sym typeface="+mn-ea"/>
              </a:rPr>
              <a:t>6</a:t>
            </a:r>
            <a:r>
              <a:rPr lang="zh-CN" altLang="en-US" sz="1200">
                <a:sym typeface="+mn-ea"/>
              </a:rPr>
              <a:t>写入</a:t>
            </a:r>
            <a:r>
              <a:rPr lang="en-US" altLang="zh-CN" sz="1200">
                <a:sym typeface="+mn-ea"/>
              </a:rPr>
              <a:t>0x2000</a:t>
            </a:r>
            <a:r>
              <a:rPr lang="zh-CN" altLang="en-US" sz="1200">
                <a:sym typeface="+mn-ea"/>
              </a:rPr>
              <a:t>地址，返回</a:t>
            </a:r>
            <a:r>
              <a:rPr lang="en-US" altLang="zh-CN" sz="1200">
                <a:sym typeface="+mn-ea"/>
              </a:rPr>
              <a:t>Resp[1:0]=10</a:t>
            </a:r>
            <a:r>
              <a:rPr lang="zh-CN" altLang="en-US" sz="1200">
                <a:sym typeface="+mn-ea"/>
              </a:rPr>
              <a:t>，清除地址独占</a:t>
            </a:r>
            <a:r>
              <a:rPr lang="zh-CN" altLang="en-US" sz="1200"/>
              <a:t>。</a:t>
            </a:r>
            <a:endParaRPr lang="zh-CN" altLang="en-US" sz="1200"/>
          </a:p>
          <a:p>
            <a:endParaRPr lang="en-US" altLang="zh-CN" sz="1200"/>
          </a:p>
          <a:p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757045"/>
            <a:ext cx="8100060" cy="4243070"/>
          </a:xfrm>
        </p:spPr>
        <p:txBody>
          <a:bodyPr>
            <a:normAutofit/>
          </a:bodyPr>
          <a:p>
            <a:r>
              <a:rPr lang="zh-CN" altLang="en-US" sz="1200">
                <a:sym typeface="+mn-ea"/>
              </a:rPr>
              <a:t>在</a:t>
            </a:r>
            <a:r>
              <a:rPr lang="en-US" altLang="zh-CN" sz="1200">
                <a:sym typeface="+mn-ea"/>
              </a:rPr>
              <a:t>AXI3</a:t>
            </a:r>
            <a:r>
              <a:rPr lang="zh-CN" altLang="en-US" sz="1200">
                <a:sym typeface="+mn-ea"/>
              </a:rPr>
              <a:t>中，</a:t>
            </a:r>
            <a:r>
              <a:rPr lang="en-US" altLang="zh-CN" sz="1200">
                <a:sym typeface="+mn-ea"/>
              </a:rPr>
              <a:t>lock</a:t>
            </a:r>
            <a:r>
              <a:rPr lang="zh-CN" altLang="en-US" sz="1200">
                <a:sym typeface="+mn-ea"/>
              </a:rPr>
              <a:t>信号为</a:t>
            </a:r>
            <a:r>
              <a:rPr lang="en-US" altLang="zh-CN" sz="1200">
                <a:sym typeface="+mn-ea"/>
              </a:rPr>
              <a:t>2bit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00</a:t>
            </a:r>
            <a:r>
              <a:rPr lang="zh-CN" altLang="en-US" sz="1200">
                <a:sym typeface="+mn-ea"/>
              </a:rPr>
              <a:t>代表不独占，</a:t>
            </a:r>
            <a:r>
              <a:rPr lang="en-US" altLang="zh-CN" sz="1200">
                <a:sym typeface="+mn-ea"/>
              </a:rPr>
              <a:t>01</a:t>
            </a:r>
            <a:r>
              <a:rPr lang="zh-CN" altLang="en-US" sz="1200">
                <a:sym typeface="+mn-ea"/>
              </a:rPr>
              <a:t>则是对仅对当前地址独占，</a:t>
            </a:r>
            <a:r>
              <a:rPr lang="en-US" altLang="zh-CN" sz="1200">
                <a:sym typeface="+mn-ea"/>
              </a:rPr>
              <a:t>10</a:t>
            </a:r>
            <a:r>
              <a:rPr lang="zh-CN" altLang="en-US" sz="1200">
                <a:sym typeface="+mn-ea"/>
              </a:rPr>
              <a:t>代表锁定访问，</a:t>
            </a:r>
            <a:r>
              <a:rPr lang="en-US" altLang="zh-CN" sz="1200">
                <a:sym typeface="+mn-ea"/>
              </a:rPr>
              <a:t>11</a:t>
            </a:r>
            <a:r>
              <a:rPr lang="zh-CN" altLang="en-US" sz="1200">
                <a:sym typeface="+mn-ea"/>
              </a:rPr>
              <a:t>为解除锁定访问，锁定访问会占用整条主从机的通信总线，会影响效率，使用较少，大多在老旧外设中使用，所以在</a:t>
            </a:r>
            <a:r>
              <a:rPr lang="en-US" altLang="zh-CN" sz="1200">
                <a:sym typeface="+mn-ea"/>
              </a:rPr>
              <a:t>AXI4</a:t>
            </a:r>
            <a:r>
              <a:rPr lang="zh-CN" altLang="en-US" sz="1200">
                <a:sym typeface="+mn-ea"/>
              </a:rPr>
              <a:t>中，将</a:t>
            </a:r>
            <a:r>
              <a:rPr lang="en-US" altLang="zh-CN" sz="1200">
                <a:sym typeface="+mn-ea"/>
              </a:rPr>
              <a:t>lock</a:t>
            </a:r>
            <a:r>
              <a:rPr lang="zh-CN" altLang="en-US" sz="1200">
                <a:sym typeface="+mn-ea"/>
              </a:rPr>
              <a:t>信号精简为</a:t>
            </a:r>
            <a:r>
              <a:rPr lang="en-US" altLang="zh-CN" sz="1200">
                <a:sym typeface="+mn-ea"/>
              </a:rPr>
              <a:t>1bit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1</a:t>
            </a:r>
            <a:r>
              <a:rPr lang="zh-CN" altLang="en-US" sz="1200">
                <a:sym typeface="+mn-ea"/>
              </a:rPr>
              <a:t>代表仅对当前地址独占，</a:t>
            </a:r>
            <a:r>
              <a:rPr lang="en-US" altLang="zh-CN" sz="1200">
                <a:sym typeface="+mn-ea"/>
              </a:rPr>
              <a:t>00</a:t>
            </a:r>
            <a:r>
              <a:rPr lang="zh-CN" altLang="en-US" sz="1200">
                <a:sym typeface="+mn-ea"/>
              </a:rPr>
              <a:t>代表不独占。</a:t>
            </a:r>
            <a:endParaRPr lang="zh-CN" altLang="en-US" sz="1200">
              <a:sym typeface="+mn-ea"/>
            </a:endParaRPr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例</a:t>
            </a:r>
            <a:endParaRPr lang="zh-CN" altLang="en-US" sz="1200">
              <a:sym typeface="+mn-ea"/>
            </a:endParaRPr>
          </a:p>
          <a:p>
            <a:r>
              <a:rPr lang="en-US" altLang="en-US" sz="1200"/>
              <a:t></a:t>
            </a:r>
            <a:r>
              <a:rPr lang="zh-CN" altLang="en-US" sz="1200"/>
              <a:t>主设备</a:t>
            </a:r>
            <a:r>
              <a:rPr lang="en-US" altLang="zh-CN" sz="1200"/>
              <a:t>A</a:t>
            </a:r>
            <a:r>
              <a:rPr lang="zh-CN" altLang="en-US" sz="1200"/>
              <a:t>发送读地址事务：</a:t>
            </a:r>
            <a:r>
              <a:rPr lang="en-US" altLang="zh-CN" sz="1200"/>
              <a:t>ARADDR=0x2000</a:t>
            </a:r>
            <a:r>
              <a:rPr lang="zh-CN" altLang="en-US" sz="1200"/>
              <a:t>，</a:t>
            </a:r>
            <a:r>
              <a:rPr lang="en-US" altLang="zh-CN" sz="1200"/>
              <a:t>ARLOCK=10</a:t>
            </a:r>
            <a:r>
              <a:rPr lang="zh-CN" altLang="en-US" sz="1200"/>
              <a:t>（开始锁定总线）；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从设备返回</a:t>
            </a:r>
            <a:r>
              <a:rPr lang="en-US" altLang="zh-CN" sz="1200"/>
              <a:t>X</a:t>
            </a:r>
            <a:r>
              <a:rPr lang="zh-CN" altLang="en-US" sz="1200"/>
              <a:t>的值（</a:t>
            </a:r>
            <a:r>
              <a:rPr lang="en-US" altLang="zh-CN" sz="1200"/>
              <a:t>X=5</a:t>
            </a:r>
            <a:r>
              <a:rPr lang="zh-CN" altLang="en-US" sz="1200"/>
              <a:t>）；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主设备</a:t>
            </a:r>
            <a:r>
              <a:rPr lang="en-US" altLang="zh-CN" sz="1200"/>
              <a:t>A</a:t>
            </a:r>
            <a:r>
              <a:rPr lang="zh-CN" altLang="en-US" sz="1200"/>
              <a:t>计算</a:t>
            </a:r>
            <a:r>
              <a:rPr lang="en-US" altLang="zh-CN" sz="1200"/>
              <a:t>X'=X+1=6</a:t>
            </a:r>
            <a:r>
              <a:rPr lang="zh-CN" altLang="en-US" sz="1200"/>
              <a:t>，发送写地址事务：</a:t>
            </a:r>
            <a:r>
              <a:rPr lang="en-US" altLang="zh-CN" sz="1200"/>
              <a:t>AWADDR=0x2000</a:t>
            </a:r>
            <a:r>
              <a:rPr lang="zh-CN" altLang="en-US" sz="1200"/>
              <a:t>，</a:t>
            </a:r>
            <a:r>
              <a:rPr lang="en-US" altLang="zh-CN" sz="1200"/>
              <a:t>AWLOCK=10</a:t>
            </a:r>
            <a:r>
              <a:rPr lang="zh-CN" altLang="en-US" sz="1200"/>
              <a:t>（继续锁定）；</a:t>
            </a:r>
            <a:endParaRPr lang="zh-CN" altLang="en-US" sz="1200"/>
          </a:p>
          <a:p>
            <a:r>
              <a:rPr lang="en-US" altLang="en-US" sz="1200"/>
              <a:t></a:t>
            </a:r>
            <a:r>
              <a:rPr lang="zh-CN" altLang="en-US" sz="1200"/>
              <a:t>发送写数据：</a:t>
            </a:r>
            <a:r>
              <a:rPr lang="en-US" altLang="zh-CN" sz="1200"/>
              <a:t>WDATA=6</a:t>
            </a:r>
            <a:r>
              <a:rPr lang="zh-CN" altLang="en-US" sz="1200"/>
              <a:t>；</a:t>
            </a:r>
            <a:endParaRPr lang="zh-CN" altLang="en-US" sz="1200"/>
          </a:p>
          <a:p>
            <a:r>
              <a:rPr lang="zh-CN" altLang="en-US" sz="1200"/>
              <a:t>发送最后一个事务（可空操作）：</a:t>
            </a:r>
            <a:r>
              <a:rPr lang="en-US" altLang="zh-CN" sz="1200"/>
              <a:t>ARLOCK=11</a:t>
            </a:r>
            <a:r>
              <a:rPr lang="zh-CN" altLang="en-US" sz="1200"/>
              <a:t>（或</a:t>
            </a:r>
            <a:r>
              <a:rPr lang="en-US" altLang="zh-CN" sz="1200"/>
              <a:t>AWLOCK=11</a:t>
            </a:r>
            <a:r>
              <a:rPr lang="zh-CN" altLang="en-US" sz="1200"/>
              <a:t>），释放总线锁定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>
                <a:sym typeface="+mn-ea"/>
              </a:rPr>
              <a:t>注：</a:t>
            </a:r>
            <a:r>
              <a:rPr lang="en-US" altLang="zh-CN" sz="1200">
                <a:sym typeface="+mn-ea"/>
              </a:rPr>
              <a:t>AXI</a:t>
            </a:r>
            <a:r>
              <a:rPr lang="zh-CN" altLang="en-US" sz="1200">
                <a:sym typeface="+mn-ea"/>
              </a:rPr>
              <a:t>的独占功能通常以</a:t>
            </a:r>
            <a:r>
              <a:rPr lang="en-US" altLang="zh-CN" sz="1200">
                <a:sym typeface="+mn-ea"/>
              </a:rPr>
              <a:t> “</a:t>
            </a:r>
            <a:r>
              <a:rPr lang="zh-CN" altLang="en-US" sz="1200">
                <a:sym typeface="+mn-ea"/>
              </a:rPr>
              <a:t>独占读</a:t>
            </a:r>
            <a:r>
              <a:rPr lang="en-US" altLang="zh-CN" sz="1200">
                <a:sym typeface="+mn-ea"/>
              </a:rPr>
              <a:t> + </a:t>
            </a:r>
            <a:r>
              <a:rPr lang="zh-CN" altLang="en-US" sz="1200">
                <a:sym typeface="+mn-ea"/>
              </a:rPr>
              <a:t>独占写</a:t>
            </a:r>
            <a:r>
              <a:rPr lang="en-US" altLang="zh-CN" sz="1200">
                <a:sym typeface="+mn-ea"/>
              </a:rPr>
              <a:t>” </a:t>
            </a:r>
            <a:r>
              <a:rPr lang="zh-CN" altLang="en-US" sz="1200">
                <a:sym typeface="+mn-ea"/>
              </a:rPr>
              <a:t>为一次完整操作，若仅执行独占读而不执行独占写，从设备的独占标记需在超时后自动清除（避免永久锁定）。</a:t>
            </a:r>
            <a:endParaRPr lang="zh-CN" altLang="en-US" sz="1200"/>
          </a:p>
          <a:p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0">
                <a:latin typeface="+mn-lt"/>
                <a:cs typeface="+mn-lt"/>
              </a:rPr>
              <a:t>9</a:t>
            </a:r>
            <a:r>
              <a:rPr lang="zh-CN" altLang="en-US" b="0">
                <a:latin typeface="+mn-lt"/>
                <a:cs typeface="+mn-lt"/>
              </a:rPr>
              <a:t>、</a:t>
            </a:r>
            <a:r>
              <a:rPr lang="en-US" altLang="zh-CN" b="0">
                <a:latin typeface="+mn-lt"/>
                <a:cs typeface="+mn-lt"/>
              </a:rPr>
              <a:t>WSTRB</a:t>
            </a:r>
            <a:endParaRPr lang="en-US" altLang="zh-CN" b="0">
              <a:latin typeface="+mn-lt"/>
              <a:cs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765935"/>
            <a:ext cx="8100060" cy="3799840"/>
          </a:xfrm>
        </p:spPr>
        <p:txBody>
          <a:bodyPr/>
          <a:p>
            <a:r>
              <a:rPr lang="en-US" altLang="zh-CN"/>
              <a:t>“Wstrb[x:0]”</a:t>
            </a:r>
            <a:r>
              <a:rPr lang="zh-CN" altLang="en-US"/>
              <a:t>信号，用来表示写操作里的一个数据位宽里有效的</a:t>
            </a:r>
            <a:r>
              <a:rPr lang="en-US" altLang="zh-CN"/>
              <a:t>byte</a:t>
            </a:r>
            <a:r>
              <a:rPr lang="zh-CN" altLang="en-US"/>
              <a:t>，假设数据位宽为</a:t>
            </a:r>
            <a:r>
              <a:rPr lang="en-US" altLang="zh-CN"/>
              <a:t>32bit</a:t>
            </a:r>
            <a:r>
              <a:rPr lang="zh-CN" altLang="en-US"/>
              <a:t>，</a:t>
            </a:r>
            <a:r>
              <a:rPr lang="en-US" altLang="zh-CN"/>
              <a:t>wstrb[3:0]</a:t>
            </a:r>
            <a:r>
              <a:rPr lang="zh-CN" altLang="en-US"/>
              <a:t>每个</a:t>
            </a:r>
            <a:r>
              <a:rPr lang="en-US" altLang="zh-CN"/>
              <a:t>bit</a:t>
            </a:r>
            <a:r>
              <a:rPr lang="zh-CN" altLang="en-US"/>
              <a:t>分别对应一个</a:t>
            </a:r>
            <a:r>
              <a:rPr lang="en-US" altLang="zh-CN"/>
              <a:t>byte</a:t>
            </a:r>
            <a:r>
              <a:rPr lang="zh-CN" altLang="en-US"/>
              <a:t>，</a:t>
            </a:r>
            <a:r>
              <a:rPr lang="en-US" altLang="zh-CN"/>
              <a:t>wstrb[3:0]=1111</a:t>
            </a:r>
            <a:r>
              <a:rPr lang="zh-CN" altLang="en-US"/>
              <a:t>时，</a:t>
            </a:r>
            <a:r>
              <a:rPr lang="en-US" altLang="zh-CN"/>
              <a:t>32bit</a:t>
            </a:r>
            <a:r>
              <a:rPr lang="zh-CN" altLang="en-US"/>
              <a:t>全有效，</a:t>
            </a:r>
            <a:r>
              <a:rPr lang="en-US" altLang="zh-CN"/>
              <a:t>wstrb[3:0]=1110</a:t>
            </a:r>
            <a:r>
              <a:rPr lang="zh-CN" altLang="en-US"/>
              <a:t>时，</a:t>
            </a:r>
            <a:r>
              <a:rPr lang="en-US" altLang="zh-CN"/>
              <a:t>[31:8]</a:t>
            </a:r>
            <a:r>
              <a:rPr lang="zh-CN" altLang="en-US"/>
              <a:t>有效，</a:t>
            </a:r>
            <a:r>
              <a:rPr lang="en-US" altLang="zh-CN"/>
              <a:t>wstrb[3:0]=1100</a:t>
            </a:r>
            <a:r>
              <a:rPr lang="zh-CN" altLang="en-US"/>
              <a:t>时，</a:t>
            </a:r>
            <a:r>
              <a:rPr lang="en-US" altLang="zh-CN"/>
              <a:t>[31:16]</a:t>
            </a:r>
            <a:r>
              <a:rPr lang="zh-CN" altLang="en-US"/>
              <a:t>有效，依此类推。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10</a:t>
            </a:r>
            <a:r>
              <a:rPr lang="zh-CN" altLang="en-US"/>
              <a:t>、</a:t>
            </a:r>
            <a:r>
              <a:rPr lang="en-US" altLang="zh-CN"/>
              <a:t>QOS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102995"/>
            <a:ext cx="8100060" cy="4462780"/>
          </a:xfrm>
        </p:spPr>
        <p:txBody>
          <a:bodyPr/>
          <a:p>
            <a:r>
              <a:rPr lang="en-US" altLang="zh-CN"/>
              <a:t>“QOS[x:0]”</a:t>
            </a:r>
            <a:r>
              <a:rPr lang="zh-CN" altLang="en-US"/>
              <a:t>信号分为</a:t>
            </a:r>
            <a:r>
              <a:rPr lang="en-US" altLang="zh-CN"/>
              <a:t>AWQOS</a:t>
            </a:r>
            <a:r>
              <a:rPr lang="zh-CN" altLang="en-US"/>
              <a:t>和</a:t>
            </a:r>
            <a:r>
              <a:rPr lang="en-US" altLang="zh-CN"/>
              <a:t>ARQOS</a:t>
            </a:r>
            <a:r>
              <a:rPr lang="zh-CN" altLang="en-US"/>
              <a:t>，仅在</a:t>
            </a:r>
            <a:r>
              <a:rPr lang="en-US" altLang="zh-CN"/>
              <a:t>AXI4</a:t>
            </a:r>
            <a:r>
              <a:rPr lang="zh-CN" altLang="en-US"/>
              <a:t>中支持，是用来表示事务优先级高低的信号，主要在多主机和乱序传输的场景发挥作用，通常为</a:t>
            </a:r>
            <a:r>
              <a:rPr lang="en-US" altLang="zh-CN"/>
              <a:t> 4 </a:t>
            </a:r>
            <a:r>
              <a:rPr lang="zh-CN" altLang="en-US"/>
              <a:t>位，具体宽度可根据系统需求扩展，通常值越大，优先级越高，通常由</a:t>
            </a:r>
            <a:r>
              <a:rPr lang="en-US" altLang="zh-CN"/>
              <a:t>AXI</a:t>
            </a:r>
            <a:r>
              <a:rPr lang="zh-CN" altLang="en-US"/>
              <a:t>总线控制器来仲裁，优先传输哪个主机的事务到同一从机，部分从机内部也有该仲裁功能，</a:t>
            </a:r>
            <a:endParaRPr lang="zh-CN" altLang="en-US"/>
          </a:p>
          <a:p>
            <a:r>
              <a:rPr lang="zh-CN" altLang="en-US"/>
              <a:t>例如：中断响应等紧急事务可设为</a:t>
            </a:r>
            <a:r>
              <a:rPr lang="en-US" altLang="en-US"/>
              <a:t> </a:t>
            </a:r>
            <a:r>
              <a:rPr lang="en-US" altLang="zh-CN"/>
              <a:t>15</a:t>
            </a:r>
            <a:r>
              <a:rPr lang="zh-CN" altLang="en-US"/>
              <a:t>（最高优先级），</a:t>
            </a:r>
            <a:r>
              <a:rPr lang="en-US" altLang="zh-CN"/>
              <a:t>DMA</a:t>
            </a:r>
            <a:r>
              <a:rPr lang="zh-CN" altLang="en-US"/>
              <a:t>数据搬运等普通批量传输事务可设为</a:t>
            </a:r>
            <a:r>
              <a:rPr lang="en-US" altLang="en-US"/>
              <a:t> </a:t>
            </a:r>
            <a:r>
              <a:rPr lang="en-US" altLang="zh-CN"/>
              <a:t>5</a:t>
            </a:r>
            <a:r>
              <a:rPr lang="zh-CN" altLang="en-US"/>
              <a:t>（中优先级），日志写入等低优先级事务可设为</a:t>
            </a:r>
            <a:r>
              <a:rPr lang="en-US" altLang="en-US"/>
              <a:t> </a:t>
            </a:r>
            <a:r>
              <a:rPr lang="en-US" altLang="zh-CN"/>
              <a:t>0</a:t>
            </a:r>
            <a:r>
              <a:rPr lang="zh-CN" altLang="en-US"/>
              <a:t>（最低优先级）。</a:t>
            </a:r>
            <a:endParaRPr lang="zh-CN" altLang="en-US"/>
          </a:p>
        </p:txBody>
      </p:sp>
      <p:pic>
        <p:nvPicPr>
          <p:cNvPr id="21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2659380"/>
            <a:ext cx="4422140" cy="29063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11</a:t>
            </a:r>
            <a:r>
              <a:rPr lang="zh-CN" altLang="en-US"/>
              <a:t>、</a:t>
            </a:r>
            <a:r>
              <a:rPr lang="en-US" altLang="zh-CN"/>
              <a:t>REGION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“REGION[3:0]”</a:t>
            </a:r>
            <a:r>
              <a:rPr lang="zh-CN" altLang="en-US"/>
              <a:t>信号分为</a:t>
            </a:r>
            <a:r>
              <a:rPr lang="en-US" altLang="zh-CN"/>
              <a:t>AWREGION</a:t>
            </a:r>
            <a:r>
              <a:rPr lang="zh-CN" altLang="en-US"/>
              <a:t>和</a:t>
            </a:r>
            <a:r>
              <a:rPr lang="en-US" altLang="zh-CN"/>
              <a:t>ARREGION</a:t>
            </a:r>
            <a:r>
              <a:rPr lang="zh-CN" altLang="en-US"/>
              <a:t>，仅在</a:t>
            </a:r>
            <a:r>
              <a:rPr lang="en-US" altLang="zh-CN"/>
              <a:t>AXI4</a:t>
            </a:r>
            <a:r>
              <a:rPr lang="zh-CN" altLang="en-US"/>
              <a:t>中支持，用来给事务访问的区域进行分区，比如</a:t>
            </a:r>
            <a:r>
              <a:rPr lang="en-US" altLang="zh-CN"/>
              <a:t>0000</a:t>
            </a:r>
            <a:r>
              <a:rPr lang="zh-CN" altLang="en-US"/>
              <a:t>对应数据寄存器，</a:t>
            </a:r>
            <a:r>
              <a:rPr lang="en-US" altLang="zh-CN"/>
              <a:t>0001</a:t>
            </a:r>
            <a:r>
              <a:rPr lang="zh-CN" altLang="en-US"/>
              <a:t>对应控制寄存器，通常为</a:t>
            </a:r>
            <a:r>
              <a:rPr lang="en-US" altLang="zh-CN"/>
              <a:t> 4 </a:t>
            </a:r>
            <a:r>
              <a:rPr lang="zh-CN" altLang="en-US"/>
              <a:t>位（</a:t>
            </a:r>
            <a:r>
              <a:rPr lang="en-US" altLang="zh-CN"/>
              <a:t>16</a:t>
            </a:r>
            <a:r>
              <a:rPr lang="zh-CN" altLang="en-US"/>
              <a:t>个区），具体宽度可根据系统需求扩展。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分区的目的：</a:t>
            </a:r>
            <a:endParaRPr lang="zh-CN" altLang="en-US"/>
          </a:p>
          <a:p>
            <a:r>
              <a:rPr lang="zh-CN" altLang="en-US"/>
              <a:t>第一是减少地址译码的复杂度；</a:t>
            </a:r>
            <a:endParaRPr lang="zh-CN" altLang="en-US"/>
          </a:p>
          <a:p>
            <a:r>
              <a:rPr lang="zh-CN" altLang="en-US"/>
              <a:t>第二是不同区可以单独控制其安全性或权限；</a:t>
            </a:r>
            <a:endParaRPr lang="zh-CN" altLang="en-US"/>
          </a:p>
          <a:p>
            <a:r>
              <a:rPr lang="zh-CN" altLang="en-US"/>
              <a:t>第三是可以单独对区设置访问长度，例如，</a:t>
            </a:r>
            <a:r>
              <a:rPr lang="en-US" altLang="zh-CN"/>
              <a:t>REGION=0</a:t>
            </a:r>
            <a:r>
              <a:rPr lang="zh-CN" altLang="en-US"/>
              <a:t>对应高带宽外设，允许最长</a:t>
            </a:r>
            <a:r>
              <a:rPr lang="en-US" altLang="zh-CN"/>
              <a:t>256</a:t>
            </a:r>
            <a:r>
              <a:rPr lang="zh-CN" altLang="en-US"/>
              <a:t>拍突发，</a:t>
            </a:r>
            <a:r>
              <a:rPr lang="en-US" altLang="zh-CN"/>
              <a:t>REGION=1</a:t>
            </a:r>
            <a:r>
              <a:rPr lang="zh-CN" altLang="en-US"/>
              <a:t>对应低速外设，限制突发长度为</a:t>
            </a:r>
            <a:r>
              <a:rPr lang="en-US" altLang="zh-CN"/>
              <a:t>1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第四是可以同一物理地址在不同</a:t>
            </a:r>
            <a:r>
              <a:rPr lang="en-US" altLang="zh-CN"/>
              <a:t>REGION</a:t>
            </a:r>
            <a:r>
              <a:rPr lang="zh-CN" altLang="en-US"/>
              <a:t>下可映射到不同功能，例如，地址</a:t>
            </a:r>
            <a:r>
              <a:rPr lang="en-US" altLang="zh-CN"/>
              <a:t>0x1000+REGION=0</a:t>
            </a:r>
            <a:r>
              <a:rPr lang="zh-CN" altLang="en-US"/>
              <a:t>对应数据寄存器，地址</a:t>
            </a:r>
            <a:r>
              <a:rPr lang="en-US" altLang="zh-CN"/>
              <a:t>0x1000+REGION=1</a:t>
            </a:r>
            <a:r>
              <a:rPr lang="zh-CN" altLang="en-US"/>
              <a:t>对应控制寄存；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0">
                <a:latin typeface="+mn-lt"/>
                <a:cs typeface="+mn-lt"/>
                <a:sym typeface="+mn-ea"/>
              </a:rPr>
              <a:t>12</a:t>
            </a:r>
            <a:r>
              <a:rPr lang="zh-CN" altLang="en-US" b="0">
                <a:latin typeface="+mn-lt"/>
                <a:cs typeface="+mn-lt"/>
                <a:sym typeface="+mn-ea"/>
              </a:rPr>
              <a:t>、</a:t>
            </a:r>
            <a:r>
              <a:rPr lang="en-US" altLang="zh-CN" b="0">
                <a:latin typeface="+mn-lt"/>
                <a:cs typeface="+mn-lt"/>
                <a:sym typeface="+mn-ea"/>
              </a:rPr>
              <a:t>USER</a:t>
            </a:r>
            <a:endParaRPr lang="zh-CN" altLang="en-US" b="0">
              <a:latin typeface="+mn-lt"/>
              <a:cs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“User[3:0]”</a:t>
            </a:r>
            <a:r>
              <a:rPr lang="zh-CN" altLang="en-US"/>
              <a:t>信号是留给用户自定义功能和长度，仅在</a:t>
            </a:r>
            <a:r>
              <a:rPr lang="en-US" altLang="zh-CN"/>
              <a:t>AXI4</a:t>
            </a:r>
            <a:r>
              <a:rPr lang="zh-CN" altLang="en-US"/>
              <a:t>中支持。要注意该功能需要在多个主从设备中达成协议一致，也就是兼容性问题。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</a:t>
            </a:r>
            <a:r>
              <a:rPr lang="en-US" altLang="zh-CN"/>
              <a:t>AXI</a:t>
            </a:r>
            <a:r>
              <a:rPr lang="zh-CN" altLang="en-US"/>
              <a:t>机制和应用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、地址寻址</a:t>
            </a:r>
            <a:endParaRPr lang="zh-CN" altLang="en-US"/>
          </a:p>
          <a:p>
            <a:r>
              <a:rPr lang="zh-CN" altLang="en-US"/>
              <a:t>对于数量众多的主机和从机，我们使用地址分区的方式来寻址，以保证主机能准确访问到从机，互联模块也能准确识别并仲裁主机。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585" y="2852420"/>
            <a:ext cx="4465955" cy="36087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332105"/>
            <a:ext cx="8100060" cy="4652010"/>
          </a:xfrm>
        </p:spPr>
        <p:txBody>
          <a:bodyPr/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、实际应用结构</a:t>
            </a:r>
            <a:endParaRPr lang="zh-CN" altLang="en-US"/>
          </a:p>
          <a:p>
            <a:r>
              <a:rPr lang="zh-CN" altLang="en-US"/>
              <a:t>下面介绍的是实际应用里常见的多主多从的结构，其中右下角的主从结构，对于左边可以看作是一个</a:t>
            </a:r>
            <a:r>
              <a:rPr lang="en-US" altLang="zh-CN"/>
              <a:t>SLAVE</a:t>
            </a:r>
            <a:r>
              <a:rPr lang="zh-CN" altLang="en-US"/>
              <a:t>，形成了一种</a:t>
            </a:r>
            <a:r>
              <a:rPr lang="en-US" altLang="zh-CN"/>
              <a:t>“</a:t>
            </a:r>
            <a:r>
              <a:rPr lang="zh-CN" altLang="en-US"/>
              <a:t>级联</a:t>
            </a:r>
            <a:r>
              <a:rPr lang="en-US" altLang="zh-CN"/>
              <a:t>”</a:t>
            </a:r>
            <a:r>
              <a:rPr lang="zh-CN" altLang="en-US"/>
              <a:t>或者叫</a:t>
            </a:r>
            <a:r>
              <a:rPr lang="en-US" altLang="zh-CN"/>
              <a:t>“</a:t>
            </a:r>
            <a:r>
              <a:rPr lang="zh-CN" altLang="en-US"/>
              <a:t>分层</a:t>
            </a:r>
            <a:r>
              <a:rPr lang="en-US" altLang="zh-CN"/>
              <a:t>”</a:t>
            </a:r>
            <a:r>
              <a:rPr lang="zh-CN" altLang="en-US"/>
              <a:t>的结构。这种结构可以让已有子系统高度可复用，直接</a:t>
            </a:r>
            <a:r>
              <a:rPr lang="en-US" altLang="zh-CN"/>
              <a:t>“</a:t>
            </a:r>
            <a:r>
              <a:rPr lang="zh-CN" altLang="en-US"/>
              <a:t>挂到</a:t>
            </a:r>
            <a:r>
              <a:rPr lang="en-US" altLang="zh-CN"/>
              <a:t>”SOC</a:t>
            </a:r>
            <a:r>
              <a:rPr lang="zh-CN" altLang="en-US"/>
              <a:t>总线上，避免重复设计。</a:t>
            </a:r>
            <a:endParaRPr lang="zh-CN" altLang="en-US"/>
          </a:p>
          <a:p>
            <a:r>
              <a:rPr lang="zh-CN" altLang="en-US"/>
              <a:t>但是这也带来了一个问题，部分主从之间的总线路径过长，在设计时时序比较难满足，这时候我们常见的解决方案，就是在路径中间加寄存器组来把路径切为两段，形成流水总线，这么做坏处时会让总线信息到达的时间晚一些，但是可以保证我们整个系统依旧工作在高频下，在大量数据数据传输的场景下，该延带来的效率影响迟可以忽略不计。</a:t>
            </a:r>
            <a:endParaRPr lang="zh-CN" altLang="en-US"/>
          </a:p>
        </p:txBody>
      </p:sp>
      <p:pic>
        <p:nvPicPr>
          <p:cNvPr id="43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995" y="2708593"/>
            <a:ext cx="5271770" cy="365696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392430"/>
            <a:ext cx="8100060" cy="5173345"/>
          </a:xfrm>
        </p:spPr>
        <p:txBody>
          <a:bodyPr/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、互联模块</a:t>
            </a:r>
            <a:endParaRPr lang="zh-CN" altLang="en-US"/>
          </a:p>
          <a:p>
            <a:r>
              <a:rPr lang="en-US" altLang="zh-CN" sz="1200"/>
              <a:t>“</a:t>
            </a:r>
            <a:r>
              <a:rPr lang="zh-CN" altLang="en-US" sz="1200"/>
              <a:t>互连架构</a:t>
            </a:r>
            <a:r>
              <a:rPr lang="en-US" altLang="zh-CN" sz="1200"/>
              <a:t>”</a:t>
            </a:r>
            <a:r>
              <a:rPr lang="zh-CN" altLang="en-US" sz="1200"/>
              <a:t>，</a:t>
            </a:r>
            <a:r>
              <a:rPr lang="en-US" altLang="zh-CN" sz="1200"/>
              <a:t>Inter-connection architecture</a:t>
            </a:r>
            <a:r>
              <a:rPr lang="zh-CN" altLang="en-US" sz="1200"/>
              <a:t>。是连接主从之间的重要部分，可以把它想象成一个非常智能的立交桥系统，所有的数据请求和传输都要经过它，所以我们也称其为</a:t>
            </a:r>
            <a:r>
              <a:rPr lang="en-US" altLang="zh-CN" sz="1200"/>
              <a:t>“</a:t>
            </a:r>
            <a:r>
              <a:rPr lang="zh-CN" altLang="en-US" sz="1200"/>
              <a:t>桥</a:t>
            </a:r>
            <a:r>
              <a:rPr lang="en-US" altLang="zh-CN" sz="1200"/>
              <a:t>”</a:t>
            </a:r>
            <a:r>
              <a:rPr lang="zh-CN" altLang="en-US" sz="1200"/>
              <a:t>，和我们系统里的南桥、北桥是一样的角色，只是服务的主从机和支持的协议不同。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互联模块功能主要有三点，</a:t>
            </a:r>
            <a:endParaRPr lang="zh-CN" altLang="en-US" sz="1200"/>
          </a:p>
          <a:p>
            <a:r>
              <a:rPr lang="zh-CN" altLang="en-US" sz="1200"/>
              <a:t>第一，协议转换，这是最核心的功能，可以让我们的主机和多种多样协议的从机进行交互，比如</a:t>
            </a:r>
            <a:r>
              <a:rPr lang="en-US" altLang="zh-CN" sz="1200"/>
              <a:t>AHB</a:t>
            </a:r>
            <a:r>
              <a:rPr lang="zh-CN" altLang="en-US" sz="1200"/>
              <a:t>、</a:t>
            </a:r>
            <a:r>
              <a:rPr lang="en-US" altLang="zh-CN" sz="1200"/>
              <a:t>APB</a:t>
            </a:r>
            <a:r>
              <a:rPr lang="zh-CN" altLang="en-US" sz="1200"/>
              <a:t>、</a:t>
            </a:r>
            <a:r>
              <a:rPr lang="en-US" altLang="zh-CN" sz="1200"/>
              <a:t>OCP</a:t>
            </a:r>
            <a:r>
              <a:rPr lang="zh-CN" altLang="en-US" sz="1200"/>
              <a:t>等，一个强大的互连架构，可以支持市面上绝大多数总线协议，使得系统兼容性较高，大部分</a:t>
            </a:r>
            <a:r>
              <a:rPr lang="en-US" altLang="zh-CN" sz="1200"/>
              <a:t>IP</a:t>
            </a:r>
            <a:r>
              <a:rPr lang="zh-CN" altLang="en-US" sz="1200"/>
              <a:t>可以直接</a:t>
            </a:r>
            <a:r>
              <a:rPr lang="en-US" altLang="zh-CN" sz="1200"/>
              <a:t>“</a:t>
            </a:r>
            <a:r>
              <a:rPr lang="zh-CN" altLang="en-US" sz="1200"/>
              <a:t>挂</a:t>
            </a:r>
            <a:r>
              <a:rPr lang="en-US" altLang="zh-CN" sz="1200"/>
              <a:t>”</a:t>
            </a:r>
            <a:r>
              <a:rPr lang="zh-CN" altLang="en-US" sz="1200"/>
              <a:t>上使用。</a:t>
            </a:r>
            <a:endParaRPr lang="zh-CN" altLang="en-US" sz="1200"/>
          </a:p>
          <a:p>
            <a:r>
              <a:rPr lang="zh-CN" altLang="en-US" sz="1200"/>
              <a:t>第二，数据位宽转换，它可以把不同位宽的主从机的访问拆分或者拼接，满足双方的协议要求，比如把主机的</a:t>
            </a:r>
            <a:r>
              <a:rPr lang="en-US" altLang="zh-CN" sz="1200"/>
              <a:t>64</a:t>
            </a:r>
            <a:r>
              <a:rPr lang="zh-CN" altLang="en-US" sz="1200"/>
              <a:t>位的数据拆成两次</a:t>
            </a:r>
            <a:r>
              <a:rPr lang="en-US" altLang="zh-CN" sz="1200"/>
              <a:t>32</a:t>
            </a:r>
            <a:r>
              <a:rPr lang="zh-CN" altLang="en-US" sz="1200"/>
              <a:t>位的数据发送给从机，或者反过来，把两次从机的</a:t>
            </a:r>
            <a:r>
              <a:rPr lang="en-US" altLang="zh-CN" sz="1200"/>
              <a:t>32</a:t>
            </a:r>
            <a:r>
              <a:rPr lang="zh-CN" altLang="en-US" sz="1200"/>
              <a:t>位的数据合并成一次</a:t>
            </a:r>
            <a:r>
              <a:rPr lang="en-US" altLang="zh-CN" sz="1200"/>
              <a:t>64</a:t>
            </a:r>
            <a:r>
              <a:rPr lang="zh-CN" altLang="en-US" sz="1200"/>
              <a:t>位的数据发送给主机。</a:t>
            </a:r>
            <a:endParaRPr lang="zh-CN" altLang="en-US" sz="1200"/>
          </a:p>
          <a:p>
            <a:r>
              <a:rPr lang="zh-CN" altLang="en-US" sz="1200"/>
              <a:t>第三，频率转换，主机和从机往往不在同一个频率的时钟下工作，这时候跨时钟的信号传递会出现亚稳态，需要对信号做同步处理，也就是我们常说的跨时钟域信号的同步。</a:t>
            </a:r>
            <a:endParaRPr lang="zh-CN" altLang="en-US" sz="1200"/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3860800"/>
            <a:ext cx="7578090" cy="17919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71830"/>
            <a:ext cx="8100060" cy="5158740"/>
          </a:xfrm>
        </p:spPr>
        <p:txBody>
          <a:bodyPr/>
          <a:p>
            <a:pPr marL="0" indent="0">
              <a:buNone/>
            </a:pPr>
            <a:r>
              <a:rPr lang="zh-CN" altLang="en-US"/>
              <a:t>此外，互联模块还可能根据实际需求，补充其他功能，比如</a:t>
            </a:r>
            <a:r>
              <a:rPr lang="en-US" altLang="zh-CN">
                <a:solidFill>
                  <a:srgbClr val="FF0000"/>
                </a:solidFill>
              </a:rPr>
              <a:t>ID</a:t>
            </a:r>
            <a:r>
              <a:rPr lang="zh-CN" altLang="en-US">
                <a:solidFill>
                  <a:srgbClr val="FF0000"/>
                </a:solidFill>
              </a:rPr>
              <a:t>补位、防锁死、主机仲裁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/>
              <a:t>下面是互联模块对</a:t>
            </a:r>
            <a:r>
              <a:rPr lang="en-US" altLang="zh-CN"/>
              <a:t>ID</a:t>
            </a:r>
            <a:r>
              <a:rPr lang="zh-CN" altLang="en-US"/>
              <a:t>进行补位的两个例子</a:t>
            </a:r>
            <a:endParaRPr lang="zh-CN" altLang="en-US"/>
          </a:p>
        </p:txBody>
      </p:sp>
      <p:pic>
        <p:nvPicPr>
          <p:cNvPr id="3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1699260"/>
            <a:ext cx="353123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1750695"/>
            <a:ext cx="3910330" cy="30206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350520"/>
            <a:ext cx="8100060" cy="5215255"/>
          </a:xfrm>
        </p:spPr>
        <p:txBody>
          <a:bodyPr/>
          <a:p>
            <a:r>
              <a:rPr lang="zh-CN" altLang="en-US"/>
              <a:t>对于</a:t>
            </a:r>
            <a:r>
              <a:rPr lang="en-US" altLang="zh-CN"/>
              <a:t>AXI3</a:t>
            </a:r>
            <a:r>
              <a:rPr lang="zh-CN" altLang="en-US"/>
              <a:t>协议，没有</a:t>
            </a:r>
            <a:r>
              <a:rPr lang="en-US" altLang="zh-CN"/>
              <a:t>QOS</a:t>
            </a:r>
            <a:r>
              <a:rPr lang="zh-CN" altLang="en-US"/>
              <a:t>来进行优先级分配，但同样会遇到多主机抢从机的问题，这时候，就需要互联模块来仲裁，最简单的方式就是对主机分组，根据组别优先级来决定谁先访问，而对于同组内的主机设备，可以采用轮询的方式，让优先级高的主机，多占几个轮询位，来实现仲裁。或者采用</a:t>
            </a:r>
            <a:r>
              <a:rPr lang="en-US" altLang="zh-CN"/>
              <a:t>“</a:t>
            </a:r>
            <a:r>
              <a:rPr lang="zh-CN" altLang="en-US"/>
              <a:t>最久未被授权</a:t>
            </a:r>
            <a:r>
              <a:rPr lang="en-US" altLang="zh-CN"/>
              <a:t>”</a:t>
            </a:r>
            <a:r>
              <a:rPr lang="zh-CN" altLang="en-US"/>
              <a:t>或者</a:t>
            </a:r>
            <a:r>
              <a:rPr lang="en-US" altLang="zh-CN"/>
              <a:t>“</a:t>
            </a:r>
            <a:r>
              <a:rPr lang="zh-CN" altLang="en-US"/>
              <a:t>最近最少使用</a:t>
            </a:r>
            <a:r>
              <a:rPr lang="en-US" altLang="zh-CN"/>
              <a:t>”</a:t>
            </a:r>
            <a:r>
              <a:rPr lang="zh-CN" altLang="en-US"/>
              <a:t>的主机优先策略，也就是</a:t>
            </a:r>
            <a:r>
              <a:rPr lang="en-US" altLang="zh-CN"/>
              <a:t>Least Recently Granted</a:t>
            </a:r>
            <a:r>
              <a:rPr lang="zh-CN" altLang="en-US"/>
              <a:t>，简称</a:t>
            </a:r>
            <a:r>
              <a:rPr lang="en-US" altLang="zh-CN"/>
              <a:t>LRG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4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285" y="1484630"/>
            <a:ext cx="31623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3789045"/>
            <a:ext cx="6725920" cy="16490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76530"/>
            <a:ext cx="8100060" cy="5389245"/>
          </a:xfrm>
        </p:spPr>
        <p:txBody>
          <a:bodyPr/>
          <a:p>
            <a:r>
              <a:rPr lang="zh-CN" altLang="en-US"/>
              <a:t>由于</a:t>
            </a:r>
            <a:r>
              <a:rPr lang="en-US" altLang="zh-CN"/>
              <a:t>AXI</a:t>
            </a:r>
            <a:r>
              <a:rPr lang="zh-CN" altLang="en-US"/>
              <a:t>协议支持乱序传输，在多主多从的结构里，就有可能出现如下的锁死状态，这个时候就需要互联模块来提供防锁死的机制，保证系统的稳定运行，具体过程如下图，当</a:t>
            </a:r>
            <a:r>
              <a:rPr lang="en-US" altLang="zh-CN"/>
              <a:t>M0</a:t>
            </a:r>
            <a:r>
              <a:rPr lang="zh-CN" altLang="en-US"/>
              <a:t>想依次访问</a:t>
            </a:r>
            <a:r>
              <a:rPr lang="en-US" altLang="zh-CN"/>
              <a:t>SA</a:t>
            </a:r>
            <a:r>
              <a:rPr lang="zh-CN" altLang="en-US"/>
              <a:t>、</a:t>
            </a:r>
            <a:r>
              <a:rPr lang="en-US" altLang="zh-CN"/>
              <a:t>SB</a:t>
            </a:r>
            <a:r>
              <a:rPr lang="zh-CN" altLang="en-US"/>
              <a:t>，而</a:t>
            </a:r>
            <a:r>
              <a:rPr lang="en-US" altLang="zh-CN"/>
              <a:t>M1</a:t>
            </a:r>
            <a:r>
              <a:rPr lang="zh-CN" altLang="en-US"/>
              <a:t>想依次访问</a:t>
            </a:r>
            <a:r>
              <a:rPr lang="en-US" altLang="zh-CN"/>
              <a:t>SB</a:t>
            </a:r>
            <a:r>
              <a:rPr lang="zh-CN" altLang="en-US"/>
              <a:t>、</a:t>
            </a:r>
            <a:r>
              <a:rPr lang="en-US" altLang="zh-CN"/>
              <a:t>SA</a:t>
            </a:r>
            <a:r>
              <a:rPr lang="zh-CN" altLang="en-US"/>
              <a:t>时，由于从机有乱序机制，假设</a:t>
            </a:r>
            <a:r>
              <a:rPr lang="en-US" altLang="zh-CN"/>
              <a:t>SA</a:t>
            </a:r>
            <a:r>
              <a:rPr lang="zh-CN" altLang="en-US"/>
              <a:t>先处理完了</a:t>
            </a:r>
            <a:r>
              <a:rPr lang="en-US" altLang="zh-CN"/>
              <a:t>M1</a:t>
            </a:r>
            <a:r>
              <a:rPr lang="zh-CN" altLang="en-US"/>
              <a:t>的事务，想先回复</a:t>
            </a:r>
            <a:r>
              <a:rPr lang="en-US" altLang="zh-CN"/>
              <a:t>M1</a:t>
            </a:r>
            <a:r>
              <a:rPr lang="zh-CN" altLang="en-US"/>
              <a:t>，</a:t>
            </a:r>
            <a:r>
              <a:rPr lang="en-US" altLang="zh-CN"/>
              <a:t>SB</a:t>
            </a:r>
            <a:r>
              <a:rPr lang="zh-CN" altLang="en-US"/>
              <a:t>先处理完了</a:t>
            </a:r>
            <a:r>
              <a:rPr lang="en-US" altLang="zh-CN"/>
              <a:t>M0</a:t>
            </a:r>
            <a:r>
              <a:rPr lang="zh-CN" altLang="en-US"/>
              <a:t>的事务，想先回复</a:t>
            </a:r>
            <a:r>
              <a:rPr lang="en-US" altLang="zh-CN"/>
              <a:t>M0</a:t>
            </a:r>
            <a:r>
              <a:rPr lang="zh-CN" altLang="en-US"/>
              <a:t>，就会造成：</a:t>
            </a:r>
            <a:r>
              <a:rPr lang="en-US" altLang="zh-CN"/>
              <a:t>	</a:t>
            </a:r>
            <a:r>
              <a:rPr lang="zh-CN" altLang="en-US"/>
              <a:t>由于</a:t>
            </a:r>
            <a:r>
              <a:rPr lang="en-US" altLang="zh-CN"/>
              <a:t>ID</a:t>
            </a:r>
            <a:r>
              <a:rPr lang="zh-CN" altLang="en-US"/>
              <a:t>相同，有同号保序原则</a:t>
            </a:r>
            <a:endParaRPr lang="zh-CN" altLang="en-US"/>
          </a:p>
          <a:p>
            <a:r>
              <a:rPr lang="en-US" altLang="zh-CN"/>
              <a:t>M1</a:t>
            </a:r>
            <a:r>
              <a:rPr lang="zh-CN" altLang="en-US"/>
              <a:t>必须按顺序得到</a:t>
            </a:r>
            <a:r>
              <a:rPr lang="en-US" altLang="zh-CN"/>
              <a:t>SA</a:t>
            </a:r>
            <a:r>
              <a:rPr lang="zh-CN" altLang="en-US"/>
              <a:t>、</a:t>
            </a:r>
            <a:r>
              <a:rPr lang="en-US" altLang="zh-CN"/>
              <a:t>SB</a:t>
            </a:r>
            <a:r>
              <a:rPr lang="zh-CN" altLang="en-US"/>
              <a:t>回复，但没等到</a:t>
            </a:r>
            <a:r>
              <a:rPr lang="en-US" altLang="zh-CN"/>
              <a:t>SA</a:t>
            </a:r>
            <a:r>
              <a:rPr lang="zh-CN" altLang="en-US"/>
              <a:t>，而等到了</a:t>
            </a:r>
            <a:r>
              <a:rPr lang="en-US" altLang="zh-CN"/>
              <a:t>SB</a:t>
            </a:r>
            <a:endParaRPr lang="en-US" altLang="zh-CN"/>
          </a:p>
          <a:p>
            <a:r>
              <a:rPr lang="en-US" altLang="zh-CN"/>
              <a:t>M0</a:t>
            </a:r>
            <a:r>
              <a:rPr lang="zh-CN" altLang="en-US"/>
              <a:t>必须按顺序得到</a:t>
            </a:r>
            <a:r>
              <a:rPr lang="en-US" altLang="zh-CN"/>
              <a:t>SB</a:t>
            </a:r>
            <a:r>
              <a:rPr lang="zh-CN" altLang="en-US"/>
              <a:t>、</a:t>
            </a:r>
            <a:r>
              <a:rPr lang="en-US" altLang="zh-CN"/>
              <a:t>SA</a:t>
            </a:r>
            <a:r>
              <a:rPr lang="zh-CN" altLang="en-US"/>
              <a:t>回复，但没等到</a:t>
            </a:r>
            <a:r>
              <a:rPr lang="en-US" altLang="zh-CN"/>
              <a:t>SB</a:t>
            </a:r>
            <a:r>
              <a:rPr lang="zh-CN" altLang="en-US"/>
              <a:t>，而等到了</a:t>
            </a:r>
            <a:r>
              <a:rPr lang="en-US" altLang="zh-CN"/>
              <a:t>SA</a:t>
            </a:r>
            <a:endParaRPr lang="en-US" altLang="zh-CN"/>
          </a:p>
          <a:p>
            <a:r>
              <a:rPr lang="zh-CN" altLang="en-US"/>
              <a:t>此时会出现大家都在互相等，从而锁死的情况。</a:t>
            </a:r>
            <a:endParaRPr lang="zh-CN" altLang="en-US"/>
          </a:p>
        </p:txBody>
      </p:sp>
      <p:pic>
        <p:nvPicPr>
          <p:cNvPr id="31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2420620"/>
            <a:ext cx="6809740" cy="32581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661035"/>
            <a:ext cx="8100060" cy="4904740"/>
          </a:xfrm>
        </p:spPr>
        <p:txBody>
          <a:bodyPr/>
          <a:p>
            <a:r>
              <a:rPr lang="zh-CN" altLang="en-US"/>
              <a:t>这时候就需要我们的互联模块，在中间协调，让主机有且仅有一个正在执行的交互事务，也就是放弃</a:t>
            </a:r>
            <a:r>
              <a:rPr lang="en-US" altLang="zh-CN"/>
              <a:t>outstanding</a:t>
            </a:r>
            <a:r>
              <a:rPr lang="zh-CN" altLang="en-US"/>
              <a:t>机制，来确保完系统的稳定，当互联模块收到主机的第二个事务请求地址时，会将其暂存（完成握手，后续发给从机）或者等待（不握手）。这个机制也可以主机内部自己实现，不用互联模块来辅助完成。</a:t>
            </a:r>
            <a:endParaRPr lang="zh-CN" altLang="en-US"/>
          </a:p>
        </p:txBody>
      </p:sp>
      <p:pic>
        <p:nvPicPr>
          <p:cNvPr id="32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916430"/>
            <a:ext cx="7406640" cy="35242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337185"/>
            <a:ext cx="8100060" cy="5228590"/>
          </a:xfrm>
        </p:spPr>
        <p:txBody>
          <a:bodyPr/>
          <a:p>
            <a:r>
              <a:rPr lang="zh-CN" altLang="en-US"/>
              <a:t>在系统级的多层结构中，也会因为系统级循环依赖（</a:t>
            </a:r>
            <a:r>
              <a:rPr lang="en-US" altLang="zh-CN"/>
              <a:t>Cyclic Dependency</a:t>
            </a:r>
            <a:r>
              <a:rPr lang="zh-CN" altLang="en-US"/>
              <a:t>）导致总线锁死，核心原因是多个主机形成了</a:t>
            </a:r>
            <a:r>
              <a:rPr lang="en-US" altLang="zh-CN"/>
              <a:t> “</a:t>
            </a:r>
            <a:r>
              <a:rPr lang="zh-CN" altLang="en-US"/>
              <a:t>相互等待对方释放资源</a:t>
            </a:r>
            <a:r>
              <a:rPr lang="en-US" altLang="zh-CN"/>
              <a:t>” </a:t>
            </a:r>
            <a:r>
              <a:rPr lang="zh-CN" altLang="en-US"/>
              <a:t>的闭环，如下图，假设</a:t>
            </a:r>
            <a:r>
              <a:rPr lang="en-US" altLang="zh-CN"/>
              <a:t>M0</a:t>
            </a:r>
            <a:r>
              <a:rPr lang="zh-CN" altLang="en-US"/>
              <a:t>正在访问</a:t>
            </a:r>
            <a:r>
              <a:rPr lang="en-US" altLang="zh-CN"/>
              <a:t>S1</a:t>
            </a:r>
            <a:r>
              <a:rPr lang="zh-CN" altLang="en-US"/>
              <a:t>，</a:t>
            </a:r>
            <a:r>
              <a:rPr lang="en-US" altLang="zh-CN"/>
              <a:t>M1</a:t>
            </a:r>
            <a:r>
              <a:rPr lang="zh-CN" altLang="en-US"/>
              <a:t>正在访问</a:t>
            </a:r>
            <a:r>
              <a:rPr lang="en-US" altLang="zh-CN"/>
              <a:t>S0</a:t>
            </a:r>
            <a:r>
              <a:rPr lang="zh-CN" altLang="en-US"/>
              <a:t>，此时</a:t>
            </a:r>
            <a:r>
              <a:rPr lang="en-US" altLang="zh-CN"/>
              <a:t>M0</a:t>
            </a:r>
            <a:r>
              <a:rPr lang="zh-CN" altLang="en-US"/>
              <a:t>还需要再访问</a:t>
            </a:r>
            <a:r>
              <a:rPr lang="en-US" altLang="zh-CN"/>
              <a:t>S0</a:t>
            </a:r>
            <a:r>
              <a:rPr lang="zh-CN" altLang="en-US"/>
              <a:t>后，才能释放</a:t>
            </a:r>
            <a:r>
              <a:rPr lang="en-US" altLang="zh-CN"/>
              <a:t>S1</a:t>
            </a:r>
            <a:r>
              <a:rPr lang="zh-CN" altLang="en-US"/>
              <a:t>，同样</a:t>
            </a:r>
            <a:r>
              <a:rPr lang="en-US" altLang="zh-CN"/>
              <a:t>M1</a:t>
            </a:r>
            <a:r>
              <a:rPr lang="zh-CN" altLang="en-US"/>
              <a:t>还需要再访问</a:t>
            </a:r>
            <a:r>
              <a:rPr lang="en-US" altLang="zh-CN"/>
              <a:t>S1</a:t>
            </a:r>
            <a:r>
              <a:rPr lang="zh-CN" altLang="en-US"/>
              <a:t>后，才能释放</a:t>
            </a:r>
            <a:r>
              <a:rPr lang="en-US" altLang="zh-CN"/>
              <a:t>S0</a:t>
            </a:r>
            <a:r>
              <a:rPr lang="zh-CN" altLang="en-US"/>
              <a:t>，就形成了一个互锁的闭环。</a:t>
            </a:r>
            <a:endParaRPr lang="zh-CN" altLang="en-US"/>
          </a:p>
          <a:p>
            <a:r>
              <a:rPr lang="zh-CN" altLang="en-US"/>
              <a:t>解决这个系统级互锁的方法，首先是设计上尽量避免交叉依赖的事务路径，然后可以设计超时释放逻辑，还可以使用我们的互联总线协调等方法解决。</a:t>
            </a:r>
            <a:endParaRPr lang="zh-CN" altLang="en-US"/>
          </a:p>
        </p:txBody>
      </p:sp>
      <p:pic>
        <p:nvPicPr>
          <p:cNvPr id="33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558" y="1844358"/>
            <a:ext cx="4105275" cy="38385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五、</a:t>
            </a:r>
            <a:r>
              <a:rPr lang="en-US" altLang="zh-CN"/>
              <a:t>AXI</a:t>
            </a:r>
            <a:r>
              <a:rPr lang="zh-CN" altLang="en-US"/>
              <a:t>扩展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922020"/>
            <a:ext cx="8100060" cy="4643755"/>
          </a:xfrm>
        </p:spPr>
        <p:txBody>
          <a:bodyPr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AXI4_lite</a:t>
            </a:r>
            <a:r>
              <a:rPr lang="zh-CN" altLang="en-US"/>
              <a:t>（青春版）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所有事务的突发长度为</a:t>
            </a:r>
            <a:r>
              <a:rPr lang="en-US" altLang="zh-CN"/>
              <a:t> 1</a:t>
            </a:r>
            <a:endParaRPr lang="en-US" altLang="zh-CN"/>
          </a:p>
          <a:p>
            <a:r>
              <a:rPr lang="en-US" altLang="en-US"/>
              <a:t></a:t>
            </a:r>
            <a:r>
              <a:rPr lang="zh-CN" altLang="en-US"/>
              <a:t>所有数据访问使用数据总线的完整位宽（</a:t>
            </a:r>
            <a:r>
              <a:rPr lang="en-US" altLang="zh-CN"/>
              <a:t>32 </a:t>
            </a:r>
            <a:r>
              <a:rPr lang="zh-CN" altLang="en-US"/>
              <a:t>位或</a:t>
            </a:r>
            <a:r>
              <a:rPr lang="en-US" altLang="zh-CN"/>
              <a:t> 64 </a:t>
            </a:r>
            <a:r>
              <a:rPr lang="zh-CN" altLang="en-US"/>
              <a:t>位）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所有访问均为不可修改、不可缓冲</a:t>
            </a:r>
            <a:endParaRPr lang="zh-CN" altLang="en-US"/>
          </a:p>
          <a:p>
            <a:r>
              <a:rPr lang="en-US" altLang="en-US"/>
              <a:t></a:t>
            </a:r>
            <a:r>
              <a:rPr lang="zh-CN" altLang="en-US"/>
              <a:t>不支持独占访问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2852420"/>
            <a:ext cx="7355840" cy="22428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</p:nvPr>
        </p:nvGraphicFramePr>
        <p:xfrm>
          <a:off x="539750" y="548877"/>
          <a:ext cx="81000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15"/>
                <a:gridCol w="2025015"/>
                <a:gridCol w="2025015"/>
                <a:gridCol w="2025015"/>
              </a:tblGrid>
              <a:tr h="381000"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特性</a:t>
                      </a:r>
                      <a:endParaRPr lang="zh-CN" sz="1100" b="1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AXI3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AXI4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AXI4-Lite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最大突发长度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拍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256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拍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1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拍（无突发）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数据宽度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32~1024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位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32~1024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位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仅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32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位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非对齐传输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不支持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支持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不支持（需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 </a:t>
                      </a: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4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字节对齐）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Q</a:t>
                      </a: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O</a:t>
                      </a: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S 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信号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USER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信号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REGION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信号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有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支持写事务的交错传输（</a:t>
                      </a: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WID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）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有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LOCK</a:t>
                      </a:r>
                      <a:r>
                        <a:rPr lang="zh-CN" altLang="en-US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锁定访问</a:t>
                      </a:r>
                      <a:endParaRPr lang="zh-CN" altLang="en-US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有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无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资源开销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中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高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低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典型应用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中等数据量传输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大数据量高速传输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i="0">
                          <a:solidFill>
                            <a:srgbClr val="000000"/>
                          </a:solidFill>
                          <a:latin typeface="Segoe UI" panose="020B0502040204020203"/>
                          <a:ea typeface="Segoe UI" panose="020B0502040204020203"/>
                        </a:rPr>
                        <a:t>控制类寄存器访问</a:t>
                      </a:r>
                      <a:endParaRPr lang="zh-CN" sz="1100" i="0">
                        <a:solidFill>
                          <a:srgbClr val="000000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171450" marR="171450" marT="114300" marB="114300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363220"/>
            <a:ext cx="8100060" cy="5202555"/>
          </a:xfrm>
        </p:spPr>
        <p:txBody>
          <a:bodyPr/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AXI Stream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AXI4-Stream</a:t>
            </a:r>
            <a:r>
              <a:rPr lang="en-US" altLang="en-US"/>
              <a:t> </a:t>
            </a:r>
            <a:r>
              <a:rPr lang="en-US" altLang="zh-CN"/>
              <a:t>AMBA </a:t>
            </a:r>
            <a:r>
              <a:rPr lang="zh-CN" altLang="en-US"/>
              <a:t>协议族中专为流式数据传输设计的轻量级协议，主要用于连续、无地址的数据流交互（如视频帧、音频采样、网络数据包、传感器数据等）。</a:t>
            </a:r>
            <a:r>
              <a:rPr lang="en-US" altLang="zh-CN"/>
              <a:t>AXI Stream </a:t>
            </a:r>
            <a:r>
              <a:rPr lang="zh-CN" altLang="en-US"/>
              <a:t>无需地址信号，专注于高效传递连续数据，适用于实时性要求高、高带宽的场景。。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下面是一个</a:t>
            </a:r>
            <a:r>
              <a:rPr lang="en-US" altLang="zh-CN"/>
              <a:t>AXI Stream</a:t>
            </a:r>
            <a:r>
              <a:rPr lang="zh-CN" altLang="en-US"/>
              <a:t>和</a:t>
            </a:r>
            <a:r>
              <a:rPr lang="en-US" altLang="zh-CN"/>
              <a:t>AXI3/AXI4</a:t>
            </a:r>
            <a:r>
              <a:rPr lang="zh-CN" altLang="en-US"/>
              <a:t>的总线结构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020" y="2204403"/>
            <a:ext cx="5267960" cy="31045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400050"/>
            <a:ext cx="8100060" cy="5309235"/>
          </a:xfrm>
        </p:spPr>
        <p:txBody>
          <a:bodyPr/>
          <a:p>
            <a:r>
              <a:rPr lang="en-US" altLang="zh-CN"/>
              <a:t>AXI Stream</a:t>
            </a:r>
            <a:r>
              <a:rPr lang="zh-CN" altLang="en-US"/>
              <a:t>其具体的总线结构如下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5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836295"/>
            <a:ext cx="7009765" cy="21564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4925" y="3087370"/>
          <a:ext cx="9052560" cy="275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350"/>
                <a:gridCol w="1530985"/>
                <a:gridCol w="1318895"/>
                <a:gridCol w="4672330"/>
              </a:tblGrid>
              <a:tr h="495300"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KEEP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TSTRB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数据类型</a:t>
                      </a:r>
                      <a:endParaRPr lang="zh-CN" sz="9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  <a:endParaRPr lang="zh-CN" sz="9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</a:tr>
              <a:tr h="55372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HIGH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HIGH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数据字节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相关字节包含必须在源和目标之间传输的有效信息。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</a:tr>
              <a:tr h="696595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HIGH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LOW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位置字节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相关字节指示数据流中数据字节的相对位置，但不包含任何相关数据值。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</a:tr>
              <a:tr h="51689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LOW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LOW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空字节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相关字节不包含信息，可从流中移除。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</a:tr>
              <a:tr h="495300"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LOW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HIGH</a:t>
                      </a:r>
                      <a:endParaRPr lang="en-US" alt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保留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不得使用。</a:t>
                      </a:r>
                      <a:endParaRPr lang="zh-CN" sz="9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1450" marR="171450" marT="114300" marB="114300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29540"/>
            <a:ext cx="8100060" cy="5436235"/>
          </a:xfrm>
        </p:spPr>
        <p:txBody>
          <a:bodyPr/>
          <a:p>
            <a:pPr marL="0" indent="0">
              <a:buNone/>
            </a:pPr>
            <a:r>
              <a:rPr lang="zh-CN" altLang="en-US"/>
              <a:t>在长长的流式数据链里，包含了三种信息：</a:t>
            </a:r>
            <a:endParaRPr lang="zh-CN" altLang="en-US"/>
          </a:p>
          <a:p>
            <a:r>
              <a:rPr lang="zh-CN" altLang="en-US"/>
              <a:t>第一种，也是最基本的一种，叫做数据字节（</a:t>
            </a:r>
            <a:r>
              <a:rPr lang="en-US" altLang="zh-CN"/>
              <a:t>Date byte</a:t>
            </a:r>
            <a:r>
              <a:rPr lang="zh-CN" altLang="en-US"/>
              <a:t>）。它就是我们真正想要传输的、有价值的信息本身。</a:t>
            </a:r>
            <a:endParaRPr lang="zh-CN" altLang="en-US"/>
          </a:p>
          <a:p>
            <a:r>
              <a:rPr lang="zh-CN" altLang="en-US"/>
              <a:t>第二种，叫做</a:t>
            </a:r>
            <a:r>
              <a:rPr lang="en-US" altLang="zh-CN"/>
              <a:t>“</a:t>
            </a:r>
            <a:r>
              <a:rPr lang="zh-CN" altLang="en-US"/>
              <a:t>位置字节</a:t>
            </a:r>
            <a:r>
              <a:rPr lang="en-US" altLang="zh-CN"/>
              <a:t>”</a:t>
            </a:r>
            <a:r>
              <a:rPr lang="zh-CN" altLang="en-US"/>
              <a:t>，也就是</a:t>
            </a:r>
            <a:r>
              <a:rPr lang="en-US" altLang="zh-CN"/>
              <a:t> Position byte</a:t>
            </a:r>
            <a:r>
              <a:rPr lang="zh-CN" altLang="en-US"/>
              <a:t>。这个字节本身不包含有效的数据，但它携带了一个非常重要的位置信息。它就像数据流中的一个标记，用来指示某个数据字节在整个流中的相对位置。举个例子，在传输一帧视频画面时，我们可以用一个位置字节来标记</a:t>
            </a:r>
            <a:r>
              <a:rPr lang="en-US" altLang="zh-CN"/>
              <a:t>“</a:t>
            </a:r>
            <a:r>
              <a:rPr lang="zh-CN" altLang="en-US"/>
              <a:t>这一帧画面的第一个像素从这里开始</a:t>
            </a:r>
            <a:r>
              <a:rPr lang="en-US" altLang="zh-CN"/>
              <a:t>”</a:t>
            </a:r>
            <a:r>
              <a:rPr lang="zh-CN" altLang="en-US"/>
              <a:t>。这个标记对于接收端正确地解析数据至关重要，所以协议规定，位置字节必须从源头完整地传输到目的地，中途不能被丢弃。</a:t>
            </a:r>
            <a:r>
              <a:rPr lang="en-US" altLang="zh-CN"/>
              <a:t> </a:t>
            </a:r>
            <a:r>
              <a:rPr lang="zh-CN" altLang="en-US"/>
              <a:t>该字节还可以用来做数据校验的标记位置，每次看到该字节，就对之前收到的数据做校验（</a:t>
            </a:r>
            <a:r>
              <a:rPr lang="en-US" altLang="zh-CN"/>
              <a:t>CRC</a:t>
            </a:r>
            <a:r>
              <a:rPr lang="zh-CN" altLang="en-US"/>
              <a:t>、奇偶），也可以用来对数据包作为分块标记。具体功能定义，可以用户自由发挥，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bit</a:t>
            </a:r>
            <a:r>
              <a:rPr lang="zh-CN" altLang="en-US"/>
              <a:t>自定义功能。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第三种，是</a:t>
            </a:r>
            <a:r>
              <a:rPr lang="en-US" altLang="zh-CN"/>
              <a:t>“</a:t>
            </a:r>
            <a:r>
              <a:rPr lang="zh-CN" altLang="en-US"/>
              <a:t>空字节</a:t>
            </a:r>
            <a:r>
              <a:rPr lang="en-US" altLang="zh-CN"/>
              <a:t>”</a:t>
            </a:r>
            <a:r>
              <a:rPr lang="zh-CN" altLang="en-US"/>
              <a:t>，</a:t>
            </a:r>
            <a:r>
              <a:rPr lang="en-US" altLang="zh-CN"/>
              <a:t>Null byte</a:t>
            </a:r>
            <a:r>
              <a:rPr lang="zh-CN" altLang="en-US"/>
              <a:t>。顾名思义，这个它不包含任何有效的信息，它通常用作填充或者占位。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2924810"/>
            <a:ext cx="6770370" cy="185674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 altLang="zh-CN" sz="4000" b="1">
              <a:latin typeface="+mj-lt"/>
              <a:cs typeface="+mj-lt"/>
            </a:endParaRPr>
          </a:p>
          <a:p>
            <a:pPr marL="0" indent="0" algn="ctr">
              <a:buNone/>
            </a:pPr>
            <a:r>
              <a:rPr lang="en-US" altLang="zh-CN" sz="4000" b="1">
                <a:latin typeface="+mj-lt"/>
                <a:cs typeface="+mj-lt"/>
              </a:rPr>
              <a:t>Thanks</a:t>
            </a:r>
            <a:endParaRPr lang="en-US" altLang="zh-CN" sz="4000" b="1">
              <a:latin typeface="+mj-lt"/>
              <a:cs typeface="+mj-lt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3"/>
  <p:tag name="KSO_WM_UNIT_SUBTYPE" val="g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TYPE" val="f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1_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231"/>
  <p:tag name="KSO_WM_UNIT_TYPE" val="h_f"/>
  <p:tag name="KSO_WM_UNIT_INDEX" val="2_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720"/>
  <p:tag name="KSO_WM_UNIT_TYPE" val="f"/>
  <p:tag name="KSO_WM_UNIT_INDEX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0"/>
  <p:tag name="KSO_WM_UNIT_LAYERLEVEL" val="1"/>
  <p:tag name="KSO_WM_TAG_VERSION" val="1.0"/>
  <p:tag name="KSO_WM_BEAUTIFY_FLAG" val="#wm#"/>
  <p:tag name="KSO_WM_UNIT_TYPE" val="i"/>
  <p:tag name="KSO_WM_UNIT_INDEX" val="30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2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16"/>
  <p:tag name="KSO_WM_UNIT_TYPE" val="f"/>
  <p:tag name="KSO_WM_UNIT_INDEX" val="2"/>
  <p:tag name="KSO_WM_UNIT_SUBTYPE" val="g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1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2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96_1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TEXT_TYPE" val="1"/>
  <p:tag name="KSO_WM_UNIT_PRESET_TEXT" val="单击添加文档标题"/>
</p:tagLst>
</file>

<file path=ppt/tags/tag214.xml><?xml version="1.0" encoding="utf-8"?>
<p:tagLst xmlns:p="http://schemas.openxmlformats.org/presentationml/2006/main"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0996_1*f*2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SUBTYPE" val="g"/>
</p:tagLst>
</file>

<file path=ppt/tags/tag215.xml><?xml version="1.0" encoding="utf-8"?>
<p:tagLst xmlns:p="http://schemas.openxmlformats.org/presentationml/2006/main">
  <p:tag name="KSO_WM_UNIT_SUBTYPE" val="c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96_1*f*1"/>
  <p:tag name="KSO_WM_TEMPLATE_CATEGORY" val="custom"/>
  <p:tag name="KSO_WM_TEMPLATE_INDEX" val="20230996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SUBTYPE" val="b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0996_1*f*3"/>
  <p:tag name="KSO_WM_TEMPLATE_CATEGORY" val="custom"/>
  <p:tag name="KSO_WM_TEMPLATE_INDEX" val="20230996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ID" val="custom20230996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96"/>
  <p:tag name="KSO_WM_SLIDE_LAYOUT" val="a_b_f"/>
  <p:tag name="KSO_WM_SLIDE_LAYOUT_CNT" val="1_1_3"/>
  <p:tag name="KSO_WM_SLIDE_TYPE" val="title"/>
  <p:tag name="KSO_WM_SLIDE_SUBTYPE" val="pureTxt"/>
  <p:tag name="KSO_WM_TEMPLATE_THUMBS_INDEX" val="1、9"/>
  <p:tag name="KSO_WM_SLIDE_THEME_ID" val="3313005"/>
  <p:tag name="KSO_WM_SLIDE_THEME_NAME" val="黄绿色简约风简单几何形状主题模板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7.xml><?xml version="1.0" encoding="utf-8"?>
<p:tagLst xmlns:p="http://schemas.openxmlformats.org/presentationml/2006/main">
  <p:tag name="TABLE_ENDDRAG_ORIGIN_RECT" val="648*226"/>
  <p:tag name="TABLE_ENDDRAG_RECT" val="36*210*648*226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2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1.xml><?xml version="1.0" encoding="utf-8"?>
<p:tagLst xmlns:p="http://schemas.openxmlformats.org/presentationml/2006/main">
  <p:tag name="TABLE_ENDDRAG_ORIGIN_RECT" val="653*333"/>
  <p:tag name="TABLE_ENDDRAG_RECT" val="25*150*653*333"/>
</p:tagLst>
</file>

<file path=ppt/tags/tag23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4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5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6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62.xml><?xml version="1.0" encoding="utf-8"?>
<p:tagLst xmlns:p="http://schemas.openxmlformats.org/presentationml/2006/main">
  <p:tag name="TABLE_ENDDRAG_ORIGIN_RECT" val="712*213"/>
  <p:tag name="TABLE_ENDDRAG_RECT" val="2*247*712*213"/>
</p:tagLst>
</file>

<file path=ppt/tags/tag26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37">
      <a:dk1>
        <a:sysClr val="windowText" lastClr="000000"/>
      </a:dk1>
      <a:lt1>
        <a:sysClr val="window" lastClr="FFFFFF"/>
      </a:lt1>
      <a:dk2>
        <a:srgbClr val="44546A"/>
      </a:dk2>
      <a:lt2>
        <a:srgbClr val="FDFAF5"/>
      </a:lt2>
      <a:accent1>
        <a:srgbClr val="F3BB28"/>
      </a:accent1>
      <a:accent2>
        <a:srgbClr val="D9C573"/>
      </a:accent2>
      <a:accent3>
        <a:srgbClr val="B6B679"/>
      </a:accent3>
      <a:accent4>
        <a:srgbClr val="94A87F"/>
      </a:accent4>
      <a:accent5>
        <a:srgbClr val="719985"/>
      </a:accent5>
      <a:accent6>
        <a:srgbClr val="4F8A8B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8872</Words>
  <Application>WPS 演示</Application>
  <PresentationFormat/>
  <Paragraphs>474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Arial Unicode MS</vt:lpstr>
      <vt:lpstr>Calibri</vt:lpstr>
      <vt:lpstr>Inter</vt:lpstr>
      <vt:lpstr>Segoe Print</vt:lpstr>
      <vt:lpstr>Segoe UI</vt:lpstr>
      <vt:lpstr>默认设计模板</vt:lpstr>
      <vt:lpstr>Office 主题​​</vt:lpstr>
      <vt:lpstr>Visio.Drawing.15</vt:lpstr>
      <vt:lpstr>AXI学习分享</vt:lpstr>
      <vt:lpstr>PowerPoint 演示文稿</vt:lpstr>
      <vt:lpstr>一、AXI的来源</vt:lpstr>
      <vt:lpstr>PowerPoint 演示文稿</vt:lpstr>
      <vt:lpstr>二、AXI协议结构</vt:lpstr>
      <vt:lpstr>PowerPoint 演示文稿</vt:lpstr>
      <vt:lpstr>PowerPoint 演示文稿</vt:lpstr>
      <vt:lpstr>PowerPoint 演示文稿</vt:lpstr>
      <vt:lpstr>读写的时序</vt:lpstr>
      <vt:lpstr>三、AXI总线信号详解</vt:lpstr>
      <vt:lpstr>PowerPoint 演示文稿</vt:lpstr>
      <vt:lpstr>3、BURST</vt:lpstr>
      <vt:lpstr>PowerPoint 演示文稿</vt:lpstr>
      <vt:lpstr>4、CACHE</vt:lpstr>
      <vt:lpstr>5、PROT</vt:lpstr>
      <vt:lpstr>6、ID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7、RESP</vt:lpstr>
      <vt:lpstr>8、LOCK</vt:lpstr>
      <vt:lpstr>PowerPoint 演示文稿</vt:lpstr>
      <vt:lpstr>9、WSTRB</vt:lpstr>
      <vt:lpstr>10、QOS</vt:lpstr>
      <vt:lpstr>11、REGION</vt:lpstr>
      <vt:lpstr>12、USER</vt:lpstr>
      <vt:lpstr>四、AXI机制和应用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五、AXI扩展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AXI学习分享</dc:title>
  <dc:creator>hichip</dc:creator>
  <cp:lastModifiedBy>小桓同学</cp:lastModifiedBy>
  <cp:revision>5</cp:revision>
  <dcterms:created xsi:type="dcterms:W3CDTF">2025-11-19T06:39:00Z</dcterms:created>
  <dcterms:modified xsi:type="dcterms:W3CDTF">2025-11-20T06:51:22Z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AFF2E185686346248EFAB55C615B61A0_12</vt:lpwstr>
  </property>
</Properties>
</file>