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Default Extension="wdp" ContentType="image/vnd.ms-photo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8" r:id="rId2"/>
  </p:sldMasterIdLst>
  <p:notesMasterIdLst>
    <p:notesMasterId r:id="rId36"/>
  </p:notesMasterIdLst>
  <p:sldIdLst>
    <p:sldId id="483" r:id="rId3"/>
    <p:sldId id="508" r:id="rId4"/>
    <p:sldId id="505" r:id="rId5"/>
    <p:sldId id="724" r:id="rId6"/>
    <p:sldId id="670" r:id="rId7"/>
    <p:sldId id="698" r:id="rId8"/>
    <p:sldId id="677" r:id="rId9"/>
    <p:sldId id="696" r:id="rId10"/>
    <p:sldId id="697" r:id="rId11"/>
    <p:sldId id="707" r:id="rId12"/>
    <p:sldId id="702" r:id="rId13"/>
    <p:sldId id="706" r:id="rId14"/>
    <p:sldId id="699" r:id="rId15"/>
    <p:sldId id="695" r:id="rId16"/>
    <p:sldId id="708" r:id="rId17"/>
    <p:sldId id="709" r:id="rId18"/>
    <p:sldId id="710" r:id="rId19"/>
    <p:sldId id="711" r:id="rId20"/>
    <p:sldId id="703" r:id="rId21"/>
    <p:sldId id="725" r:id="rId22"/>
    <p:sldId id="726" r:id="rId23"/>
    <p:sldId id="700" r:id="rId24"/>
    <p:sldId id="712" r:id="rId25"/>
    <p:sldId id="716" r:id="rId26"/>
    <p:sldId id="721" r:id="rId27"/>
    <p:sldId id="723" r:id="rId28"/>
    <p:sldId id="717" r:id="rId29"/>
    <p:sldId id="718" r:id="rId30"/>
    <p:sldId id="722" r:id="rId31"/>
    <p:sldId id="719" r:id="rId32"/>
    <p:sldId id="704" r:id="rId33"/>
    <p:sldId id="701" r:id="rId34"/>
    <p:sldId id="491" r:id="rId35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686">
          <p15:clr>
            <a:srgbClr val="A4A3A4"/>
          </p15:clr>
        </p15:guide>
        <p15:guide id="2" pos="3840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3407">
          <p15:clr>
            <a:srgbClr val="A4A3A4"/>
          </p15:clr>
        </p15:guide>
        <p15:guide id="5" pos="579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FD9"/>
    <a:srgbClr val="FF9933"/>
    <a:srgbClr val="DCFFC1"/>
    <a:srgbClr val="D4FFB3"/>
    <a:srgbClr val="01EF29"/>
    <a:srgbClr val="ED395C"/>
    <a:srgbClr val="FF9900"/>
    <a:srgbClr val="CC3333"/>
    <a:srgbClr val="0788BB"/>
    <a:srgbClr val="00609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6" autoAdjust="0"/>
    <p:restoredTop sz="86455" autoAdjust="0"/>
  </p:normalViewPr>
  <p:slideViewPr>
    <p:cSldViewPr snapToGrid="0">
      <p:cViewPr>
        <p:scale>
          <a:sx n="75" d="100"/>
          <a:sy n="75" d="100"/>
        </p:scale>
        <p:origin x="-2028" y="-564"/>
      </p:cViewPr>
      <p:guideLst>
        <p:guide orient="horz" pos="686"/>
        <p:guide orient="horz" pos="3407"/>
        <p:guide pos="3840"/>
        <p:guide pos="1935"/>
        <p:guide pos="57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5" d="100"/>
        <a:sy n="65" d="100"/>
      </p:scale>
      <p:origin x="0" y="-267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47C8E-FAE5-43D1-82C0-196E816DC300}" type="datetimeFigureOut">
              <a:rPr lang="zh-CN" altLang="en-US" smtClean="0"/>
              <a:pPr/>
              <a:t>2023/6/14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2AF99-A73B-44C9-96FA-736798B6D18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2AF99-A73B-44C9-96FA-736798B6D18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456552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A95E3C-5BAA-4AAA-AF4C-3E158FDB55E0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91716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2AF99-A73B-44C9-96FA-736798B6D18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078203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4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5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6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7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9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2AF99-A73B-44C9-96FA-736798B6D18B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0782030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12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13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14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15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16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17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18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2AF99-A73B-44C9-96FA-736798B6D18B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0782030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20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21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22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23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24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25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26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27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28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29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30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2AF99-A73B-44C9-96FA-736798B6D18B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0782030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9EC556-0E4F-4361-96C2-0C2CAFEAB7B8}" type="slidenum">
              <a:rPr lang="zh-CN" altLang="en-US" smtClean="0">
                <a:solidFill>
                  <a:prstClr val="black"/>
                </a:solidFill>
              </a:rPr>
              <a:pPr/>
              <a:t>32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72AF99-A73B-44C9-96FA-736798B6D18B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470168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jpeg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t="32403" b="324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3800" t="25281" r="14061" b="200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t="15457" b="49349"/>
          <a:stretch>
            <a:fillRect/>
          </a:stretch>
        </p:blipFill>
        <p:spPr>
          <a:xfrm>
            <a:off x="0" y="15890"/>
            <a:ext cx="12214302" cy="687054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" y="3922487"/>
            <a:ext cx="12214303" cy="298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3800" t="25281" r="14061" b="2006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3"/>
          <p:cNvGrpSpPr/>
          <p:nvPr userDrawn="1"/>
        </p:nvGrpSpPr>
        <p:grpSpPr bwMode="auto">
          <a:xfrm flipH="1">
            <a:off x="4869886" y="1573505"/>
            <a:ext cx="2452228" cy="2460614"/>
            <a:chOff x="3607592" y="2403133"/>
            <a:chExt cx="718723" cy="718723"/>
          </a:xfrm>
        </p:grpSpPr>
        <p:sp>
          <p:nvSpPr>
            <p:cNvPr id="6" name="Oval 372"/>
            <p:cNvSpPr/>
            <p:nvPr/>
          </p:nvSpPr>
          <p:spPr>
            <a:xfrm>
              <a:off x="3607592" y="2403133"/>
              <a:ext cx="718723" cy="718723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nb-NO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7" name="Oval 373"/>
            <p:cNvSpPr/>
            <p:nvPr/>
          </p:nvSpPr>
          <p:spPr>
            <a:xfrm>
              <a:off x="3664803" y="2459591"/>
              <a:ext cx="604300" cy="605807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0"/>
            </a:gra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nb-NO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</p:grpSp>
      <p:sp>
        <p:nvSpPr>
          <p:cNvPr id="9" name="等腰三角形 8"/>
          <p:cNvSpPr/>
          <p:nvPr userDrawn="1"/>
        </p:nvSpPr>
        <p:spPr>
          <a:xfrm rot="10800000">
            <a:off x="5793686" y="5604734"/>
            <a:ext cx="604629" cy="412430"/>
          </a:xfrm>
          <a:prstGeom prst="triangl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 cstate="print"/>
          <a:srcRect t="32403" b="324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3"/>
          <p:cNvGrpSpPr/>
          <p:nvPr userDrawn="1"/>
        </p:nvGrpSpPr>
        <p:grpSpPr bwMode="auto">
          <a:xfrm flipH="1">
            <a:off x="4869886" y="1573505"/>
            <a:ext cx="2452228" cy="2460614"/>
            <a:chOff x="3607592" y="2403133"/>
            <a:chExt cx="718723" cy="718723"/>
          </a:xfrm>
        </p:grpSpPr>
        <p:sp>
          <p:nvSpPr>
            <p:cNvPr id="6" name="Oval 372"/>
            <p:cNvSpPr/>
            <p:nvPr/>
          </p:nvSpPr>
          <p:spPr>
            <a:xfrm>
              <a:off x="3607592" y="2403133"/>
              <a:ext cx="718723" cy="718723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nb-NO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7" name="Oval 373"/>
            <p:cNvSpPr/>
            <p:nvPr/>
          </p:nvSpPr>
          <p:spPr>
            <a:xfrm>
              <a:off x="3664803" y="2459591"/>
              <a:ext cx="604300" cy="605807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0"/>
            </a:gra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nb-NO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/>
          <a:srcRect t="32403" b="324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12192000" cy="6679096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2ACD0D-F3E6-47F8-A1C7-23F2EE7488C6}" type="datetimeFigureOut">
              <a:rPr lang="zh-CN" altLang="en-US" smtClean="0"/>
              <a:pPr/>
              <a:t>2023/6/14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F22221B-351D-4E6B-86C1-51D2132F07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1681410"/>
      </p:ext>
    </p:extLst>
  </p:cSld>
  <p:clrMapOvr>
    <a:masterClrMapping/>
  </p:clrMapOvr>
  <p:transition spd="slow"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6" y="2130426"/>
            <a:ext cx="10363200" cy="1470026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7" y="3886200"/>
            <a:ext cx="8534401" cy="17526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  <a:lvl2pPr marL="622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5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8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90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34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5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80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6" y="274644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6" y="1600202"/>
            <a:ext cx="10972801" cy="4525963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6" y="4406904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5395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6" y="2906716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75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  <a:lvl2pPr marL="622935" indent="0">
              <a:buNone/>
              <a:defRPr sz="2435">
                <a:solidFill>
                  <a:schemeClr val="tx1">
                    <a:tint val="75000"/>
                  </a:schemeClr>
                </a:solidFill>
              </a:defRPr>
            </a:lvl2pPr>
            <a:lvl3pPr marL="1245235" indent="0">
              <a:buNone/>
              <a:defRPr sz="2220">
                <a:solidFill>
                  <a:schemeClr val="tx1">
                    <a:tint val="75000"/>
                  </a:schemeClr>
                </a:solidFill>
              </a:defRPr>
            </a:lvl3pPr>
            <a:lvl4pPr marL="1868170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4pPr>
            <a:lvl5pPr marL="2490470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5pPr>
            <a:lvl6pPr marL="31134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6pPr>
            <a:lvl7pPr marL="3735705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7pPr>
            <a:lvl8pPr marL="4358640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8pPr>
            <a:lvl9pPr marL="4980940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6" y="274644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4" y="1260483"/>
            <a:ext cx="5384800" cy="3563938"/>
          </a:xfrm>
          <a:prstGeom prst="rect">
            <a:avLst/>
          </a:prstGeom>
        </p:spPr>
        <p:txBody>
          <a:bodyPr/>
          <a:lstStyle>
            <a:lvl1pPr>
              <a:defRPr sz="3810">
                <a:ea typeface="微软雅黑" panose="020B0503020204020204" pitchFamily="34" charset="-122"/>
              </a:defRPr>
            </a:lvl1pPr>
            <a:lvl2pPr>
              <a:defRPr sz="3280">
                <a:ea typeface="微软雅黑" panose="020B0503020204020204" pitchFamily="34" charset="-122"/>
              </a:defRPr>
            </a:lvl2pPr>
            <a:lvl3pPr>
              <a:defRPr sz="2750">
                <a:ea typeface="微软雅黑" panose="020B0503020204020204" pitchFamily="34" charset="-122"/>
              </a:defRPr>
            </a:lvl3pPr>
            <a:lvl4pPr>
              <a:defRPr sz="2435">
                <a:ea typeface="微软雅黑" panose="020B0503020204020204" pitchFamily="34" charset="-122"/>
              </a:defRPr>
            </a:lvl4pPr>
            <a:lvl5pPr>
              <a:defRPr sz="2435">
                <a:ea typeface="微软雅黑" panose="020B0503020204020204" pitchFamily="34" charset="-122"/>
              </a:defRPr>
            </a:lvl5pPr>
            <a:lvl6pPr>
              <a:defRPr sz="2435"/>
            </a:lvl6pPr>
            <a:lvl7pPr>
              <a:defRPr sz="2435"/>
            </a:lvl7pPr>
            <a:lvl8pPr>
              <a:defRPr sz="2435"/>
            </a:lvl8pPr>
            <a:lvl9pPr>
              <a:defRPr sz="2435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5" y="1260483"/>
            <a:ext cx="5384800" cy="3563938"/>
          </a:xfrm>
          <a:prstGeom prst="rect">
            <a:avLst/>
          </a:prstGeom>
        </p:spPr>
        <p:txBody>
          <a:bodyPr/>
          <a:lstStyle>
            <a:lvl1pPr>
              <a:defRPr sz="3810">
                <a:ea typeface="微软雅黑" panose="020B0503020204020204" pitchFamily="34" charset="-122"/>
              </a:defRPr>
            </a:lvl1pPr>
            <a:lvl2pPr>
              <a:defRPr sz="3280">
                <a:ea typeface="微软雅黑" panose="020B0503020204020204" pitchFamily="34" charset="-122"/>
              </a:defRPr>
            </a:lvl2pPr>
            <a:lvl3pPr>
              <a:defRPr sz="2750">
                <a:ea typeface="微软雅黑" panose="020B0503020204020204" pitchFamily="34" charset="-122"/>
              </a:defRPr>
            </a:lvl3pPr>
            <a:lvl4pPr>
              <a:defRPr sz="2435">
                <a:ea typeface="微软雅黑" panose="020B0503020204020204" pitchFamily="34" charset="-122"/>
              </a:defRPr>
            </a:lvl4pPr>
            <a:lvl5pPr>
              <a:defRPr sz="2435">
                <a:ea typeface="微软雅黑" panose="020B0503020204020204" pitchFamily="34" charset="-122"/>
              </a:defRPr>
            </a:lvl5pPr>
            <a:lvl6pPr>
              <a:defRPr sz="2435"/>
            </a:lvl6pPr>
            <a:lvl7pPr>
              <a:defRPr sz="2435"/>
            </a:lvl7pPr>
            <a:lvl8pPr>
              <a:defRPr sz="2435"/>
            </a:lvl8pPr>
            <a:lvl9pPr>
              <a:defRPr sz="2435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6" y="274644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4" y="1535117"/>
            <a:ext cx="538691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80" b="1">
                <a:ea typeface="微软雅黑" panose="020B0503020204020204" pitchFamily="34" charset="-122"/>
              </a:defRPr>
            </a:lvl1pPr>
            <a:lvl2pPr marL="622935" indent="0">
              <a:buNone/>
              <a:defRPr sz="2750" b="1"/>
            </a:lvl2pPr>
            <a:lvl3pPr marL="1245235" indent="0">
              <a:buNone/>
              <a:defRPr sz="2435" b="1"/>
            </a:lvl3pPr>
            <a:lvl4pPr marL="1868170" indent="0">
              <a:buNone/>
              <a:defRPr sz="2220" b="1"/>
            </a:lvl4pPr>
            <a:lvl5pPr marL="2490470" indent="0">
              <a:buNone/>
              <a:defRPr sz="2220" b="1"/>
            </a:lvl5pPr>
            <a:lvl6pPr marL="3113405" indent="0">
              <a:buNone/>
              <a:defRPr sz="2220" b="1"/>
            </a:lvl6pPr>
            <a:lvl7pPr marL="3735705" indent="0">
              <a:buNone/>
              <a:defRPr sz="2220" b="1"/>
            </a:lvl7pPr>
            <a:lvl8pPr marL="4358640" indent="0">
              <a:buNone/>
              <a:defRPr sz="2220" b="1"/>
            </a:lvl8pPr>
            <a:lvl9pPr marL="4980940" indent="0">
              <a:buNone/>
              <a:defRPr sz="222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4" y="2174879"/>
            <a:ext cx="5386918" cy="3951288"/>
          </a:xfrm>
          <a:prstGeom prst="rect">
            <a:avLst/>
          </a:prstGeom>
        </p:spPr>
        <p:txBody>
          <a:bodyPr/>
          <a:lstStyle>
            <a:lvl1pPr>
              <a:defRPr sz="3280">
                <a:ea typeface="微软雅黑" panose="020B0503020204020204" pitchFamily="34" charset="-122"/>
              </a:defRPr>
            </a:lvl1pPr>
            <a:lvl2pPr>
              <a:defRPr sz="2750">
                <a:ea typeface="微软雅黑" panose="020B0503020204020204" pitchFamily="34" charset="-122"/>
              </a:defRPr>
            </a:lvl2pPr>
            <a:lvl3pPr>
              <a:defRPr sz="2435">
                <a:ea typeface="微软雅黑" panose="020B0503020204020204" pitchFamily="34" charset="-122"/>
              </a:defRPr>
            </a:lvl3pPr>
            <a:lvl4pPr>
              <a:defRPr sz="2220">
                <a:ea typeface="微软雅黑" panose="020B0503020204020204" pitchFamily="34" charset="-122"/>
              </a:defRPr>
            </a:lvl4pPr>
            <a:lvl5pPr>
              <a:defRPr sz="2220">
                <a:ea typeface="微软雅黑" panose="020B0503020204020204" pitchFamily="34" charset="-122"/>
              </a:defRPr>
            </a:lvl5pPr>
            <a:lvl6pPr>
              <a:defRPr sz="2220"/>
            </a:lvl6pPr>
            <a:lvl7pPr>
              <a:defRPr sz="2220"/>
            </a:lvl7pPr>
            <a:lvl8pPr>
              <a:defRPr sz="2220"/>
            </a:lvl8pPr>
            <a:lvl9pPr>
              <a:defRPr sz="222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7" y="1535117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80" b="1">
                <a:ea typeface="微软雅黑" panose="020B0503020204020204" pitchFamily="34" charset="-122"/>
              </a:defRPr>
            </a:lvl1pPr>
            <a:lvl2pPr marL="622935" indent="0">
              <a:buNone/>
              <a:defRPr sz="2750" b="1"/>
            </a:lvl2pPr>
            <a:lvl3pPr marL="1245235" indent="0">
              <a:buNone/>
              <a:defRPr sz="2435" b="1"/>
            </a:lvl3pPr>
            <a:lvl4pPr marL="1868170" indent="0">
              <a:buNone/>
              <a:defRPr sz="2220" b="1"/>
            </a:lvl4pPr>
            <a:lvl5pPr marL="2490470" indent="0">
              <a:buNone/>
              <a:defRPr sz="2220" b="1"/>
            </a:lvl5pPr>
            <a:lvl6pPr marL="3113405" indent="0">
              <a:buNone/>
              <a:defRPr sz="2220" b="1"/>
            </a:lvl6pPr>
            <a:lvl7pPr marL="3735705" indent="0">
              <a:buNone/>
              <a:defRPr sz="2220" b="1"/>
            </a:lvl7pPr>
            <a:lvl8pPr marL="4358640" indent="0">
              <a:buNone/>
              <a:defRPr sz="2220" b="1"/>
            </a:lvl8pPr>
            <a:lvl9pPr marL="4980940" indent="0">
              <a:buNone/>
              <a:defRPr sz="222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7" y="2174879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3280">
                <a:ea typeface="微软雅黑" panose="020B0503020204020204" pitchFamily="34" charset="-122"/>
              </a:defRPr>
            </a:lvl1pPr>
            <a:lvl2pPr>
              <a:defRPr sz="2750">
                <a:ea typeface="微软雅黑" panose="020B0503020204020204" pitchFamily="34" charset="-122"/>
              </a:defRPr>
            </a:lvl2pPr>
            <a:lvl3pPr>
              <a:defRPr sz="2435">
                <a:ea typeface="微软雅黑" panose="020B0503020204020204" pitchFamily="34" charset="-122"/>
              </a:defRPr>
            </a:lvl3pPr>
            <a:lvl4pPr>
              <a:defRPr sz="2220">
                <a:ea typeface="微软雅黑" panose="020B0503020204020204" pitchFamily="34" charset="-122"/>
              </a:defRPr>
            </a:lvl4pPr>
            <a:lvl5pPr>
              <a:defRPr sz="2220">
                <a:ea typeface="微软雅黑" panose="020B0503020204020204" pitchFamily="34" charset="-122"/>
              </a:defRPr>
            </a:lvl5pPr>
            <a:lvl6pPr>
              <a:defRPr sz="2220"/>
            </a:lvl6pPr>
            <a:lvl7pPr>
              <a:defRPr sz="2220"/>
            </a:lvl7pPr>
            <a:lvl8pPr>
              <a:defRPr sz="2220"/>
            </a:lvl8pPr>
            <a:lvl9pPr>
              <a:defRPr sz="222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 advClick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6" y="274644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 advClick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3" y="-1"/>
            <a:ext cx="12190133" cy="6858000"/>
          </a:xfrm>
          <a:prstGeom prst="rect">
            <a:avLst/>
          </a:prstGeom>
        </p:spPr>
      </p:pic>
      <p:sp>
        <p:nvSpPr>
          <p:cNvPr id="7" name="Shape 5209"/>
          <p:cNvSpPr/>
          <p:nvPr/>
        </p:nvSpPr>
        <p:spPr>
          <a:xfrm>
            <a:off x="1" y="6657588"/>
            <a:ext cx="1651000" cy="234259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40315" tIns="40315" rIns="40315" bIns="40315" anchor="ctr"/>
          <a:lstStyle/>
          <a:p>
            <a:pPr algn="ctr" defTabSz="1245235">
              <a:buClr>
                <a:srgbClr val="FFFFFF"/>
              </a:buCl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 sz="2575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微软雅黑"/>
            </a:endParaRPr>
          </a:p>
        </p:txBody>
      </p:sp>
      <p:sp>
        <p:nvSpPr>
          <p:cNvPr id="8" name="Shape 5209"/>
          <p:cNvSpPr/>
          <p:nvPr/>
        </p:nvSpPr>
        <p:spPr>
          <a:xfrm>
            <a:off x="1651001" y="6657588"/>
            <a:ext cx="1651000" cy="234259"/>
          </a:xfrm>
          <a:prstGeom prst="rect">
            <a:avLst/>
          </a:prstGeom>
          <a:solidFill>
            <a:srgbClr val="00B0F0"/>
          </a:solidFill>
          <a:ln w="12700">
            <a:miter lim="400000"/>
          </a:ln>
        </p:spPr>
        <p:txBody>
          <a:bodyPr lIns="40315" tIns="40315" rIns="40315" bIns="40315" anchor="ctr"/>
          <a:lstStyle/>
          <a:p>
            <a:pPr algn="ctr" defTabSz="1245235">
              <a:buClr>
                <a:srgbClr val="FFFFFF"/>
              </a:buCl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 sz="2575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微软雅黑"/>
            </a:endParaRPr>
          </a:p>
        </p:txBody>
      </p:sp>
      <p:sp>
        <p:nvSpPr>
          <p:cNvPr id="9" name="Shape 5209"/>
          <p:cNvSpPr/>
          <p:nvPr/>
        </p:nvSpPr>
        <p:spPr>
          <a:xfrm>
            <a:off x="3302001" y="6657588"/>
            <a:ext cx="1651000" cy="234259"/>
          </a:xfrm>
          <a:prstGeom prst="rect">
            <a:avLst/>
          </a:prstGeom>
          <a:solidFill>
            <a:srgbClr val="66CCFF"/>
          </a:solidFill>
          <a:ln w="12700">
            <a:miter lim="400000"/>
          </a:ln>
        </p:spPr>
        <p:txBody>
          <a:bodyPr lIns="40315" tIns="40315" rIns="40315" bIns="40315" anchor="ctr"/>
          <a:lstStyle/>
          <a:p>
            <a:pPr algn="ctr" defTabSz="1245235">
              <a:buClr>
                <a:srgbClr val="FFFFFF"/>
              </a:buCl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 sz="2575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微软雅黑"/>
            </a:endParaRPr>
          </a:p>
        </p:txBody>
      </p:sp>
      <p:sp>
        <p:nvSpPr>
          <p:cNvPr id="10" name="Shape 5209"/>
          <p:cNvSpPr/>
          <p:nvPr/>
        </p:nvSpPr>
        <p:spPr>
          <a:xfrm>
            <a:off x="4953000" y="6657587"/>
            <a:ext cx="1651000" cy="234259"/>
          </a:xfrm>
          <a:prstGeom prst="rect">
            <a:avLst/>
          </a:prstGeom>
          <a:solidFill>
            <a:srgbClr val="CCECFF"/>
          </a:solidFill>
          <a:ln w="12700">
            <a:miter lim="400000"/>
          </a:ln>
        </p:spPr>
        <p:txBody>
          <a:bodyPr lIns="40315" tIns="40315" rIns="40315" bIns="40315" anchor="ctr"/>
          <a:lstStyle/>
          <a:p>
            <a:pPr algn="ctr" defTabSz="1245235">
              <a:buClr>
                <a:srgbClr val="FFFFFF"/>
              </a:buCl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 sz="2575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微软雅黑"/>
            </a:endParaRPr>
          </a:p>
        </p:txBody>
      </p:sp>
      <p:sp>
        <p:nvSpPr>
          <p:cNvPr id="11" name="Shape 5209"/>
          <p:cNvSpPr/>
          <p:nvPr userDrawn="1"/>
        </p:nvSpPr>
        <p:spPr>
          <a:xfrm>
            <a:off x="6499305" y="6657587"/>
            <a:ext cx="5691761" cy="20041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miter lim="400000"/>
          </a:ln>
        </p:spPr>
        <p:txBody>
          <a:bodyPr lIns="40315" tIns="40315" rIns="40315" bIns="40315" anchor="ctr"/>
          <a:lstStyle/>
          <a:p>
            <a:pPr algn="ctr" defTabSz="1245235">
              <a:buClr>
                <a:srgbClr val="FFFFFF"/>
              </a:buCl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 sz="2575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微软雅黑"/>
            </a:endParaRPr>
          </a:p>
        </p:txBody>
      </p:sp>
      <p:grpSp>
        <p:nvGrpSpPr>
          <p:cNvPr id="6" name="组合 11"/>
          <p:cNvGrpSpPr/>
          <p:nvPr userDrawn="1"/>
        </p:nvGrpSpPr>
        <p:grpSpPr>
          <a:xfrm>
            <a:off x="0" y="380743"/>
            <a:ext cx="686173" cy="456951"/>
            <a:chOff x="0" y="-1"/>
            <a:chExt cx="9985800" cy="287760"/>
          </a:xfrm>
        </p:grpSpPr>
        <p:sp>
          <p:nvSpPr>
            <p:cNvPr id="13" name="Shape 5209"/>
            <p:cNvSpPr/>
            <p:nvPr/>
          </p:nvSpPr>
          <p:spPr>
            <a:xfrm>
              <a:off x="0" y="0"/>
              <a:ext cx="2496450" cy="287759"/>
            </a:xfrm>
            <a:prstGeom prst="rect">
              <a:avLst/>
            </a:prstGeom>
            <a:solidFill>
              <a:srgbClr val="0070C0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algn="ctr" defTabSz="1245235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257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微软雅黑"/>
              </a:endParaRPr>
            </a:p>
          </p:txBody>
        </p:sp>
        <p:sp>
          <p:nvSpPr>
            <p:cNvPr id="14" name="Shape 5209"/>
            <p:cNvSpPr/>
            <p:nvPr/>
          </p:nvSpPr>
          <p:spPr>
            <a:xfrm>
              <a:off x="2496450" y="0"/>
              <a:ext cx="2496450" cy="287759"/>
            </a:xfrm>
            <a:prstGeom prst="rect">
              <a:avLst/>
            </a:prstGeom>
            <a:solidFill>
              <a:srgbClr val="00B0F0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algn="ctr" defTabSz="1245235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257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微软雅黑"/>
              </a:endParaRPr>
            </a:p>
          </p:txBody>
        </p:sp>
        <p:sp>
          <p:nvSpPr>
            <p:cNvPr id="15" name="Shape 5209"/>
            <p:cNvSpPr/>
            <p:nvPr/>
          </p:nvSpPr>
          <p:spPr>
            <a:xfrm>
              <a:off x="4992900" y="0"/>
              <a:ext cx="2496450" cy="287759"/>
            </a:xfrm>
            <a:prstGeom prst="rect">
              <a:avLst/>
            </a:prstGeom>
            <a:solidFill>
              <a:srgbClr val="66CC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algn="ctr" defTabSz="1245235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257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微软雅黑"/>
              </a:endParaRPr>
            </a:p>
          </p:txBody>
        </p:sp>
        <p:sp>
          <p:nvSpPr>
            <p:cNvPr id="16" name="Shape 5209"/>
            <p:cNvSpPr/>
            <p:nvPr/>
          </p:nvSpPr>
          <p:spPr>
            <a:xfrm>
              <a:off x="7489350" y="-1"/>
              <a:ext cx="2496450" cy="287759"/>
            </a:xfrm>
            <a:prstGeom prst="rect">
              <a:avLst/>
            </a:prstGeom>
            <a:solidFill>
              <a:srgbClr val="CCEC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algn="ctr" defTabSz="1245235">
                <a:buClr>
                  <a:srgbClr val="FFFFFF"/>
                </a:buClr>
                <a:defRPr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</a:defRPr>
              </a:pPr>
              <a:endParaRPr sz="257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微软雅黑"/>
              </a:endParaRPr>
            </a:p>
          </p:txBody>
        </p:sp>
      </p:grpSp>
    </p:spTree>
  </p:cSld>
  <p:clrMapOvr>
    <a:masterClrMapping/>
  </p:clrMapOvr>
  <p:transition spd="slow" advClick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3" y="-1"/>
            <a:ext cx="12190133" cy="6858000"/>
          </a:xfrm>
          <a:prstGeom prst="rect">
            <a:avLst/>
          </a:prstGeom>
        </p:spPr>
      </p:pic>
    </p:spTree>
  </p:cSld>
  <p:clrMapOvr>
    <a:masterClrMapping/>
  </p:clrMapOvr>
  <p:transition spd="slow" advClick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3" y="-1"/>
            <a:ext cx="12190133" cy="6858000"/>
          </a:xfrm>
          <a:prstGeom prst="rect">
            <a:avLst/>
          </a:prstGeom>
        </p:spPr>
      </p:pic>
      <p:sp>
        <p:nvSpPr>
          <p:cNvPr id="6" name="Shape 5209"/>
          <p:cNvSpPr/>
          <p:nvPr userDrawn="1"/>
        </p:nvSpPr>
        <p:spPr>
          <a:xfrm>
            <a:off x="1" y="525"/>
            <a:ext cx="12192000" cy="43935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 w="12700">
            <a:miter lim="400000"/>
          </a:ln>
        </p:spPr>
        <p:txBody>
          <a:bodyPr lIns="40315" tIns="40315" rIns="40315" bIns="40315" anchor="ctr"/>
          <a:lstStyle/>
          <a:p>
            <a:pPr algn="ctr" defTabSz="1245235">
              <a:buClr>
                <a:srgbClr val="FFFFFF"/>
              </a:buClr>
              <a:defRPr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defRPr>
            </a:pPr>
            <a:endParaRPr sz="2575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微软雅黑"/>
            </a:endParaRPr>
          </a:p>
        </p:txBody>
      </p:sp>
    </p:spTree>
  </p:cSld>
  <p:clrMapOvr>
    <a:masterClrMapping/>
  </p:clrMapOvr>
  <p:transition spd="slow" advClick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3" y="-1"/>
            <a:ext cx="12190133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</p:spTree>
  </p:cSld>
  <p:clrMapOvr>
    <a:masterClrMapping/>
  </p:clrMapOvr>
  <p:transition spd="slow" advClick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3" y="-1"/>
            <a:ext cx="12190133" cy="6858000"/>
          </a:xfrm>
          <a:prstGeom prst="rect">
            <a:avLst/>
          </a:prstGeom>
        </p:spPr>
      </p:pic>
      <p:pic>
        <p:nvPicPr>
          <p:cNvPr id="6" name="Drag-image3.jpg"/>
          <p:cNvPicPr/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" y="42"/>
            <a:ext cx="12192000" cy="6858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  <a:ln w="12700">
            <a:miter lim="400000"/>
            <a:headEnd/>
            <a:tailEnd/>
          </a:ln>
        </p:spPr>
      </p:pic>
      <p:sp>
        <p:nvSpPr>
          <p:cNvPr id="7" name="Shape 1424"/>
          <p:cNvSpPr/>
          <p:nvPr userDrawn="1"/>
        </p:nvSpPr>
        <p:spPr>
          <a:xfrm>
            <a:off x="-935" y="-43"/>
            <a:ext cx="12192001" cy="6857999"/>
          </a:xfrm>
          <a:prstGeom prst="rect">
            <a:avLst/>
          </a:prstGeom>
          <a:solidFill>
            <a:schemeClr val="tx1">
              <a:lumMod val="95000"/>
              <a:lumOff val="5000"/>
              <a:alpha val="9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1245235"/>
            <a:endParaRPr sz="2575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75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7" y="273054"/>
            <a:ext cx="6815668" cy="5853113"/>
          </a:xfrm>
          <a:prstGeom prst="rect">
            <a:avLst/>
          </a:prstGeom>
        </p:spPr>
        <p:txBody>
          <a:bodyPr/>
          <a:lstStyle>
            <a:lvl1pPr>
              <a:defRPr sz="4340">
                <a:ea typeface="微软雅黑" panose="020B0503020204020204" pitchFamily="34" charset="-122"/>
              </a:defRPr>
            </a:lvl1pPr>
            <a:lvl2pPr>
              <a:defRPr sz="3810">
                <a:ea typeface="微软雅黑" panose="020B0503020204020204" pitchFamily="34" charset="-122"/>
              </a:defRPr>
            </a:lvl2pPr>
            <a:lvl3pPr>
              <a:defRPr sz="3280">
                <a:ea typeface="微软雅黑" panose="020B0503020204020204" pitchFamily="34" charset="-122"/>
              </a:defRPr>
            </a:lvl3pPr>
            <a:lvl4pPr>
              <a:defRPr sz="2750">
                <a:ea typeface="微软雅黑" panose="020B0503020204020204" pitchFamily="34" charset="-122"/>
              </a:defRPr>
            </a:lvl4pPr>
            <a:lvl5pPr>
              <a:defRPr sz="2750">
                <a:ea typeface="微软雅黑" panose="020B0503020204020204" pitchFamily="34" charset="-122"/>
              </a:defRPr>
            </a:lvl5pPr>
            <a:lvl6pPr>
              <a:defRPr sz="2750"/>
            </a:lvl6pPr>
            <a:lvl7pPr>
              <a:defRPr sz="2750"/>
            </a:lvl7pPr>
            <a:lvl8pPr>
              <a:defRPr sz="2750"/>
            </a:lvl8pPr>
            <a:lvl9pPr>
              <a:defRPr sz="2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0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5">
                <a:ea typeface="微软雅黑" panose="020B0503020204020204" pitchFamily="34" charset="-122"/>
              </a:defRPr>
            </a:lvl1pPr>
            <a:lvl2pPr marL="622935" indent="0">
              <a:buNone/>
              <a:defRPr sz="1585"/>
            </a:lvl2pPr>
            <a:lvl3pPr marL="1245235" indent="0">
              <a:buNone/>
              <a:defRPr sz="1375"/>
            </a:lvl3pPr>
            <a:lvl4pPr marL="1868170" indent="0">
              <a:buNone/>
              <a:defRPr sz="1270"/>
            </a:lvl4pPr>
            <a:lvl5pPr marL="2490470" indent="0">
              <a:buNone/>
              <a:defRPr sz="1270"/>
            </a:lvl5pPr>
            <a:lvl6pPr marL="3113405" indent="0">
              <a:buNone/>
              <a:defRPr sz="1270"/>
            </a:lvl6pPr>
            <a:lvl7pPr marL="3735705" indent="0">
              <a:buNone/>
              <a:defRPr sz="1270"/>
            </a:lvl7pPr>
            <a:lvl8pPr marL="4358640" indent="0">
              <a:buNone/>
              <a:defRPr sz="1270"/>
            </a:lvl8pPr>
            <a:lvl9pPr marL="4980940" indent="0">
              <a:buNone/>
              <a:defRPr sz="127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 advClick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9" y="4800606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75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9" y="612780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40">
                <a:ea typeface="微软雅黑" panose="020B0503020204020204" pitchFamily="34" charset="-122"/>
              </a:defRPr>
            </a:lvl1pPr>
            <a:lvl2pPr marL="622935" indent="0">
              <a:buNone/>
              <a:defRPr sz="3810"/>
            </a:lvl2pPr>
            <a:lvl3pPr marL="1245235" indent="0">
              <a:buNone/>
              <a:defRPr sz="3280"/>
            </a:lvl3pPr>
            <a:lvl4pPr marL="1868170" indent="0">
              <a:buNone/>
              <a:defRPr sz="2750"/>
            </a:lvl4pPr>
            <a:lvl5pPr marL="2490470" indent="0">
              <a:buNone/>
              <a:defRPr sz="2750"/>
            </a:lvl5pPr>
            <a:lvl6pPr marL="3113405" indent="0">
              <a:buNone/>
              <a:defRPr sz="2750"/>
            </a:lvl6pPr>
            <a:lvl7pPr marL="3735705" indent="0">
              <a:buNone/>
              <a:defRPr sz="2750"/>
            </a:lvl7pPr>
            <a:lvl8pPr marL="4358640" indent="0">
              <a:buNone/>
              <a:defRPr sz="2750"/>
            </a:lvl8pPr>
            <a:lvl9pPr marL="4980940" indent="0">
              <a:buNone/>
              <a:defRPr sz="275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9" y="5367341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5">
                <a:ea typeface="微软雅黑" panose="020B0503020204020204" pitchFamily="34" charset="-122"/>
              </a:defRPr>
            </a:lvl1pPr>
            <a:lvl2pPr marL="622935" indent="0">
              <a:buNone/>
              <a:defRPr sz="1585"/>
            </a:lvl2pPr>
            <a:lvl3pPr marL="1245235" indent="0">
              <a:buNone/>
              <a:defRPr sz="1375"/>
            </a:lvl3pPr>
            <a:lvl4pPr marL="1868170" indent="0">
              <a:buNone/>
              <a:defRPr sz="1270"/>
            </a:lvl4pPr>
            <a:lvl5pPr marL="2490470" indent="0">
              <a:buNone/>
              <a:defRPr sz="1270"/>
            </a:lvl5pPr>
            <a:lvl6pPr marL="3113405" indent="0">
              <a:buNone/>
              <a:defRPr sz="1270"/>
            </a:lvl6pPr>
            <a:lvl7pPr marL="3735705" indent="0">
              <a:buNone/>
              <a:defRPr sz="1270"/>
            </a:lvl7pPr>
            <a:lvl8pPr marL="4358640" indent="0">
              <a:buNone/>
              <a:defRPr sz="1270"/>
            </a:lvl8pPr>
            <a:lvl9pPr marL="4980940" indent="0">
              <a:buNone/>
              <a:defRPr sz="127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 advClick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6" y="274644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6" y="1600202"/>
            <a:ext cx="10972801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 advClick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5" y="215906"/>
            <a:ext cx="2743201" cy="460851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99" y="215906"/>
            <a:ext cx="8026400" cy="460851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1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FD725410-BEFA-4075-99F8-9B76E6135EB8}" type="datetimeFigureOut">
              <a:rPr lang="zh-CN" altLang="en-US" sz="2435" smtClean="0">
                <a:solidFill>
                  <a:prstClr val="black"/>
                </a:solidFill>
              </a:rPr>
              <a:pPr defTabSz="1245235"/>
              <a:t>2023/6/14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8" y="6356357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endParaRPr lang="zh-CN" altLang="en-US" sz="2435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defTabSz="1245235"/>
            <a:fld id="{ABCBC4E8-88EF-4446-9533-1BB591964EAE}" type="slidenum">
              <a:rPr lang="zh-CN" altLang="en-US" sz="2435" smtClean="0">
                <a:solidFill>
                  <a:prstClr val="black"/>
                </a:solidFill>
              </a:rPr>
              <a:pPr defTabSz="1245235"/>
              <a:t>‹#›</a:t>
            </a:fld>
            <a:endParaRPr lang="zh-CN" altLang="en-US" sz="2435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 spd="slow"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-1" y="-8908"/>
            <a:ext cx="12214303" cy="686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Click="0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transition spd="slow" advClick="0"/>
  <p:txStyles>
    <p:titleStyle>
      <a:lvl1pPr algn="ctr" defTabSz="1245235" rtl="0" eaLnBrk="1" latinLnBrk="0" hangingPunct="1">
        <a:spcBef>
          <a:spcPct val="0"/>
        </a:spcBef>
        <a:buNone/>
        <a:defRPr sz="60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25" indent="-466725" algn="l" defTabSz="124523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40" kern="1200">
          <a:solidFill>
            <a:schemeClr val="tx1"/>
          </a:solidFill>
          <a:latin typeface="+mn-lt"/>
          <a:ea typeface="+mn-ea"/>
          <a:cs typeface="+mn-cs"/>
        </a:defRPr>
      </a:lvl1pPr>
      <a:lvl2pPr marL="1011555" indent="-389255" algn="l" defTabSz="1245235" rtl="0" eaLnBrk="1" latinLnBrk="0" hangingPunct="1">
        <a:spcBef>
          <a:spcPct val="20000"/>
        </a:spcBef>
        <a:buFont typeface="Arial" panose="020B0604020202020204" pitchFamily="34" charset="0"/>
        <a:buChar char="–"/>
        <a:defRPr sz="3810" kern="1200">
          <a:solidFill>
            <a:schemeClr val="tx1"/>
          </a:solidFill>
          <a:latin typeface="+mn-lt"/>
          <a:ea typeface="+mn-ea"/>
          <a:cs typeface="+mn-cs"/>
        </a:defRPr>
      </a:lvl2pPr>
      <a:lvl3pPr marL="1556385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80" kern="1200">
          <a:solidFill>
            <a:schemeClr val="tx1"/>
          </a:solidFill>
          <a:latin typeface="+mn-lt"/>
          <a:ea typeface="+mn-ea"/>
          <a:cs typeface="+mn-cs"/>
        </a:defRPr>
      </a:lvl3pPr>
      <a:lvl4pPr marL="2179320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50" kern="1200">
          <a:solidFill>
            <a:schemeClr val="tx1"/>
          </a:solidFill>
          <a:latin typeface="+mn-lt"/>
          <a:ea typeface="+mn-ea"/>
          <a:cs typeface="+mn-cs"/>
        </a:defRPr>
      </a:lvl4pPr>
      <a:lvl5pPr marL="2801620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»"/>
        <a:defRPr sz="2750" kern="1200">
          <a:solidFill>
            <a:schemeClr val="tx1"/>
          </a:solidFill>
          <a:latin typeface="+mn-lt"/>
          <a:ea typeface="+mn-ea"/>
          <a:cs typeface="+mn-cs"/>
        </a:defRPr>
      </a:lvl5pPr>
      <a:lvl6pPr marL="3424555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6pPr>
      <a:lvl7pPr marL="4047490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7pPr>
      <a:lvl8pPr marL="4669790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8pPr>
      <a:lvl9pPr marL="5292725" indent="-311150" algn="l" defTabSz="12452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1pPr>
      <a:lvl2pPr marL="622935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2pPr>
      <a:lvl3pPr marL="1245235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3pPr>
      <a:lvl4pPr marL="1868170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4pPr>
      <a:lvl5pPr marL="2490470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5pPr>
      <a:lvl6pPr marL="3113405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5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7pPr>
      <a:lvl8pPr marL="4358640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8pPr>
      <a:lvl9pPr marL="4980940" algn="l" defTabSz="1245235" rtl="0" eaLnBrk="1" latinLnBrk="0" hangingPunct="1">
        <a:defRPr sz="24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4952992" y="4572008"/>
            <a:ext cx="24219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08167" y="2984401"/>
            <a:ext cx="96308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集成电路</a:t>
            </a:r>
            <a:r>
              <a:rPr lang="zh-CN" altLang="en-US" sz="5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产业情况</a:t>
            </a:r>
            <a:endParaRPr lang="zh-CN" altLang="en-US" sz="5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633784" y="4262113"/>
            <a:ext cx="2990335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34464" y="1805075"/>
            <a:ext cx="1661993" cy="289598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9600" dirty="0">
                <a:solidFill>
                  <a:srgbClr val="0091D6"/>
                </a:solidFill>
                <a:latin typeface="方正尚酷简体" panose="03000509000000000000" pitchFamily="65" charset="-122"/>
                <a:ea typeface="方正尚酷简体" panose="03000509000000000000" pitchFamily="65" charset="-122"/>
              </a:rPr>
              <a:t>目 录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2055910" y="1016514"/>
            <a:ext cx="0" cy="395323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398471" y="1527137"/>
            <a:ext cx="5125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集成电路产业趋势</a:t>
            </a:r>
            <a:endParaRPr lang="zh-CN" altLang="en-US" sz="4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9"/>
          <p:cNvGrpSpPr/>
          <p:nvPr/>
        </p:nvGrpSpPr>
        <p:grpSpPr>
          <a:xfrm>
            <a:off x="4810116" y="1500564"/>
            <a:ext cx="6638673" cy="639760"/>
            <a:chOff x="4732318" y="1493841"/>
            <a:chExt cx="5180417" cy="639760"/>
          </a:xfrm>
        </p:grpSpPr>
        <p:sp>
          <p:nvSpPr>
            <p:cNvPr id="11" name="矩形 10"/>
            <p:cNvSpPr/>
            <p:nvPr/>
          </p:nvSpPr>
          <p:spPr>
            <a:xfrm>
              <a:off x="5881509" y="1493841"/>
              <a:ext cx="4031226" cy="639760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4732318" y="1493841"/>
              <a:ext cx="1201192" cy="639760"/>
            </a:xfrm>
            <a:prstGeom prst="rect">
              <a:avLst/>
            </a:prstGeom>
            <a:solidFill>
              <a:srgbClr val="0091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/>
              <a:r>
                <a:rPr lang="en-US" altLang="zh-CN" sz="3600" spc="300" dirty="0">
                  <a:latin typeface="Agency FB" panose="020B0503020202020204" pitchFamily="34" charset="0"/>
                </a:rPr>
                <a:t>01</a:t>
              </a:r>
              <a:endParaRPr lang="zh-CN" altLang="en-US" sz="3600" spc="300" dirty="0">
                <a:latin typeface="Agency FB" panose="020B0503020202020204" pitchFamily="34" charset="0"/>
              </a:endParaRPr>
            </a:p>
          </p:txBody>
        </p:sp>
      </p:grpSp>
      <p:grpSp>
        <p:nvGrpSpPr>
          <p:cNvPr id="22" name="组合 9"/>
          <p:cNvGrpSpPr/>
          <p:nvPr/>
        </p:nvGrpSpPr>
        <p:grpSpPr>
          <a:xfrm>
            <a:off x="4810116" y="2357298"/>
            <a:ext cx="6626147" cy="643074"/>
            <a:chOff x="4611330" y="1493840"/>
            <a:chExt cx="5278717" cy="643073"/>
          </a:xfrm>
        </p:grpSpPr>
        <p:sp>
          <p:nvSpPr>
            <p:cNvPr id="25" name="矩形 24"/>
            <p:cNvSpPr/>
            <p:nvPr/>
          </p:nvSpPr>
          <p:spPr>
            <a:xfrm>
              <a:off x="5858821" y="1493841"/>
              <a:ext cx="4031226" cy="639760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4611330" y="1493840"/>
              <a:ext cx="1252497" cy="643073"/>
            </a:xfrm>
            <a:prstGeom prst="rect">
              <a:avLst/>
            </a:prstGeom>
            <a:solidFill>
              <a:srgbClr val="0091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/>
              <a:r>
                <a:rPr lang="en-US" altLang="zh-CN" sz="3600" spc="300" dirty="0" smtClean="0">
                  <a:latin typeface="Agency FB" panose="020B0503020202020204" pitchFamily="34" charset="0"/>
                </a:rPr>
                <a:t>02</a:t>
              </a:r>
              <a:endParaRPr lang="zh-CN" altLang="en-US" sz="3600" spc="300" dirty="0">
                <a:latin typeface="Agency FB" panose="020B0503020202020204" pitchFamily="34" charset="0"/>
              </a:endParaRPr>
            </a:p>
          </p:txBody>
        </p:sp>
      </p:grpSp>
      <p:grpSp>
        <p:nvGrpSpPr>
          <p:cNvPr id="27" name="组合 9"/>
          <p:cNvGrpSpPr/>
          <p:nvPr/>
        </p:nvGrpSpPr>
        <p:grpSpPr>
          <a:xfrm>
            <a:off x="4775877" y="3201679"/>
            <a:ext cx="6685437" cy="639760"/>
            <a:chOff x="4611330" y="1493841"/>
            <a:chExt cx="5301405" cy="639760"/>
          </a:xfrm>
        </p:grpSpPr>
        <p:sp>
          <p:nvSpPr>
            <p:cNvPr id="28" name="矩形 27"/>
            <p:cNvSpPr/>
            <p:nvPr/>
          </p:nvSpPr>
          <p:spPr>
            <a:xfrm>
              <a:off x="5881509" y="1493841"/>
              <a:ext cx="4031226" cy="639760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4611330" y="1493841"/>
              <a:ext cx="1266255" cy="639760"/>
            </a:xfrm>
            <a:prstGeom prst="rect">
              <a:avLst/>
            </a:prstGeom>
            <a:solidFill>
              <a:srgbClr val="0091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/>
              <a:r>
                <a:rPr lang="en-US" altLang="zh-CN" sz="3600" spc="300" dirty="0" smtClean="0">
                  <a:latin typeface="Agency FB" panose="020B0503020202020204" pitchFamily="34" charset="0"/>
                </a:rPr>
                <a:t>03</a:t>
              </a:r>
              <a:endParaRPr lang="zh-CN" altLang="en-US" sz="3600" spc="300" dirty="0">
                <a:latin typeface="Agency FB" panose="020B0503020202020204" pitchFamily="34" charset="0"/>
              </a:endParaRPr>
            </a:p>
          </p:txBody>
        </p:sp>
      </p:grpSp>
      <p:grpSp>
        <p:nvGrpSpPr>
          <p:cNvPr id="30" name="组合 9"/>
          <p:cNvGrpSpPr/>
          <p:nvPr/>
        </p:nvGrpSpPr>
        <p:grpSpPr>
          <a:xfrm>
            <a:off x="4779997" y="4046055"/>
            <a:ext cx="6693844" cy="639760"/>
            <a:chOff x="4611330" y="1493841"/>
            <a:chExt cx="5301405" cy="639760"/>
          </a:xfrm>
        </p:grpSpPr>
        <p:sp>
          <p:nvSpPr>
            <p:cNvPr id="31" name="矩形 30"/>
            <p:cNvSpPr/>
            <p:nvPr/>
          </p:nvSpPr>
          <p:spPr>
            <a:xfrm>
              <a:off x="5881509" y="1493841"/>
              <a:ext cx="4031226" cy="639760"/>
            </a:xfrm>
            <a:prstGeom prst="rect">
              <a:avLst/>
            </a:prstGeom>
            <a:noFill/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4611330" y="1493841"/>
              <a:ext cx="1266255" cy="639760"/>
            </a:xfrm>
            <a:prstGeom prst="rect">
              <a:avLst/>
            </a:prstGeom>
            <a:solidFill>
              <a:srgbClr val="0091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0" rtlCol="0" anchor="ctr"/>
            <a:lstStyle/>
            <a:p>
              <a:pPr algn="ctr"/>
              <a:r>
                <a:rPr lang="en-US" altLang="zh-CN" sz="3600" spc="300" dirty="0" smtClean="0">
                  <a:latin typeface="Agency FB" panose="020B0503020202020204" pitchFamily="34" charset="0"/>
                </a:rPr>
                <a:t>04</a:t>
              </a:r>
              <a:endParaRPr lang="zh-CN" altLang="en-US" sz="3600" spc="300" dirty="0">
                <a:latin typeface="Agency FB" panose="020B0503020202020204" pitchFamily="34" charset="0"/>
              </a:endParaRPr>
            </a:p>
          </p:txBody>
        </p:sp>
      </p:grpSp>
      <p:sp>
        <p:nvSpPr>
          <p:cNvPr id="36" name="文本框 8"/>
          <p:cNvSpPr txBox="1"/>
          <p:nvPr/>
        </p:nvSpPr>
        <p:spPr>
          <a:xfrm>
            <a:off x="6453190" y="2391290"/>
            <a:ext cx="4376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集成电路产业地图</a:t>
            </a:r>
            <a:endParaRPr lang="zh-CN" altLang="en-US" sz="4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文本框 8"/>
          <p:cNvSpPr txBox="1"/>
          <p:nvPr/>
        </p:nvSpPr>
        <p:spPr>
          <a:xfrm>
            <a:off x="6453190" y="3214686"/>
            <a:ext cx="5119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集成电路人才情况</a:t>
            </a:r>
            <a:endParaRPr lang="zh-CN" altLang="en-US" sz="4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文本框 8"/>
          <p:cNvSpPr txBox="1"/>
          <p:nvPr/>
        </p:nvSpPr>
        <p:spPr>
          <a:xfrm>
            <a:off x="6444953" y="4071421"/>
            <a:ext cx="5491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校企</a:t>
            </a:r>
            <a:r>
              <a:rPr lang="zh-CN" altLang="en-US" sz="4000" dirty="0" smtClean="0">
                <a:latin typeface="微软雅黑" pitchFamily="34" charset="-122"/>
                <a:ea typeface="微软雅黑" pitchFamily="34" charset="-122"/>
              </a:rPr>
              <a:t>面对面互动</a:t>
            </a:r>
            <a:endParaRPr lang="zh-CN" altLang="en-US" sz="4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6"/>
          <p:cNvSpPr txBox="1"/>
          <p:nvPr/>
        </p:nvSpPr>
        <p:spPr>
          <a:xfrm>
            <a:off x="1176850" y="1038083"/>
            <a:ext cx="738664" cy="2963901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>
              <a:defRPr/>
            </a:pPr>
            <a:r>
              <a:rPr lang="en-US" altLang="zh-CN" sz="3600" dirty="0">
                <a:solidFill>
                  <a:srgbClr val="FF993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CONTENTS</a:t>
            </a:r>
            <a:endParaRPr lang="zh-CN" altLang="en-US" sz="3600" dirty="0">
              <a:solidFill>
                <a:srgbClr val="FF993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38835105"/>
      </p:ext>
    </p:extLst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3808428" y="4125580"/>
            <a:ext cx="47820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集成电路产业趋势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507064" y="1556951"/>
            <a:ext cx="99578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solidFill>
                  <a:srgbClr val="006095"/>
                </a:solidFill>
                <a:latin typeface="Impact" panose="020B0806030902050204" pitchFamily="34" charset="0"/>
              </a:rPr>
              <a:t>1</a:t>
            </a:r>
            <a:endParaRPr lang="zh-CN" altLang="en-US" sz="16600" dirty="0">
              <a:solidFill>
                <a:srgbClr val="006095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集成电路产业趋势</a:t>
            </a:r>
          </a:p>
        </p:txBody>
      </p:sp>
      <p:cxnSp>
        <p:nvCxnSpPr>
          <p:cNvPr id="12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矩形 5"/>
          <p:cNvSpPr/>
          <p:nvPr/>
        </p:nvSpPr>
        <p:spPr>
          <a:xfrm>
            <a:off x="604749" y="3588388"/>
            <a:ext cx="11056982" cy="480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latinLnBrk="1">
              <a:lnSpc>
                <a:spcPts val="3500"/>
              </a:lnSpc>
              <a:buFontTx/>
              <a:buChar char="-"/>
            </a:pPr>
            <a:endParaRPr lang="en-US" altLang="zh-CN" sz="2400" kern="0" dirty="0" smtClean="0">
              <a:solidFill>
                <a:sysClr val="windowText" lastClr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943824" y="2314865"/>
            <a:ext cx="647700" cy="2873662"/>
          </a:xfrm>
          <a:prstGeom prst="rect">
            <a:avLst/>
          </a:prstGeom>
          <a:solidFill>
            <a:srgbClr val="FFC2C2"/>
          </a:solidFill>
          <a:ln w="9525">
            <a:solidFill>
              <a:srgbClr val="000000"/>
            </a:solidFill>
            <a:round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C00000"/>
              </a:buClr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半导体产品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2951886" y="2386303"/>
            <a:ext cx="1511300" cy="431800"/>
          </a:xfrm>
          <a:prstGeom prst="rect">
            <a:avLst/>
          </a:prstGeom>
          <a:solidFill>
            <a:srgbClr val="92D050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zh-CN" altLang="en-US" sz="2000" b="1" dirty="0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集成电路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2951886" y="3107028"/>
            <a:ext cx="1511300" cy="431800"/>
          </a:xfrm>
          <a:prstGeom prst="rect">
            <a:avLst/>
          </a:prstGeom>
          <a:solidFill>
            <a:srgbClr val="FFC000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zh-CN" altLang="en-US" sz="20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分立器件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2951886" y="3826165"/>
            <a:ext cx="1511300" cy="431800"/>
          </a:xfrm>
          <a:prstGeom prst="rect">
            <a:avLst/>
          </a:prstGeom>
          <a:solidFill>
            <a:srgbClr val="FFE44B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zh-CN" altLang="en-US" sz="2000" b="1" dirty="0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光电子器件</a:t>
            </a: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2951886" y="4546890"/>
            <a:ext cx="1511300" cy="431800"/>
          </a:xfrm>
          <a:prstGeom prst="rect">
            <a:avLst/>
          </a:prstGeom>
          <a:solidFill>
            <a:srgbClr val="CAF600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zh-CN" altLang="en-US" sz="20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传感器</a:t>
            </a:r>
          </a:p>
        </p:txBody>
      </p:sp>
      <p:sp>
        <p:nvSpPr>
          <p:cNvPr id="16" name="矩形 10"/>
          <p:cNvSpPr>
            <a:spLocks noChangeArrowheads="1"/>
          </p:cNvSpPr>
          <p:nvPr/>
        </p:nvSpPr>
        <p:spPr bwMode="auto">
          <a:xfrm>
            <a:off x="4823549" y="1522703"/>
            <a:ext cx="1511300" cy="431800"/>
          </a:xfrm>
          <a:prstGeom prst="rect">
            <a:avLst/>
          </a:prstGeom>
          <a:solidFill>
            <a:srgbClr val="43E1ED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zh-CN" altLang="en-US" sz="20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数字电路</a:t>
            </a:r>
          </a:p>
        </p:txBody>
      </p:sp>
      <p:sp>
        <p:nvSpPr>
          <p:cNvPr id="17" name="矩形 11"/>
          <p:cNvSpPr>
            <a:spLocks noChangeArrowheads="1"/>
          </p:cNvSpPr>
          <p:nvPr/>
        </p:nvSpPr>
        <p:spPr bwMode="auto">
          <a:xfrm>
            <a:off x="4823549" y="4186528"/>
            <a:ext cx="1511300" cy="431800"/>
          </a:xfrm>
          <a:prstGeom prst="rect">
            <a:avLst/>
          </a:prstGeom>
          <a:solidFill>
            <a:srgbClr val="8FC3FF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zh-CN" altLang="en-US" sz="20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模拟电路</a:t>
            </a:r>
          </a:p>
        </p:txBody>
      </p:sp>
      <p:sp>
        <p:nvSpPr>
          <p:cNvPr id="20" name="矩形 12"/>
          <p:cNvSpPr>
            <a:spLocks noChangeArrowheads="1"/>
          </p:cNvSpPr>
          <p:nvPr/>
        </p:nvSpPr>
        <p:spPr bwMode="auto">
          <a:xfrm>
            <a:off x="4823549" y="5915315"/>
            <a:ext cx="1511300" cy="431800"/>
          </a:xfrm>
          <a:prstGeom prst="rect">
            <a:avLst/>
          </a:prstGeom>
          <a:solidFill>
            <a:srgbClr val="FF9BD4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zh-CN" altLang="en-US" sz="20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存储器</a:t>
            </a:r>
          </a:p>
        </p:txBody>
      </p:sp>
      <p:sp>
        <p:nvSpPr>
          <p:cNvPr id="21" name="矩形 13"/>
          <p:cNvSpPr>
            <a:spLocks noChangeArrowheads="1"/>
          </p:cNvSpPr>
          <p:nvPr/>
        </p:nvSpPr>
        <p:spPr bwMode="auto">
          <a:xfrm>
            <a:off x="6742713" y="1348238"/>
            <a:ext cx="1512888" cy="431800"/>
          </a:xfrm>
          <a:prstGeom prst="rect">
            <a:avLst/>
          </a:prstGeom>
          <a:solidFill>
            <a:srgbClr val="9DDDFF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zh-CN" altLang="en-US" sz="20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处理器</a:t>
            </a:r>
          </a:p>
        </p:txBody>
      </p:sp>
      <p:sp>
        <p:nvSpPr>
          <p:cNvPr id="22" name="矩形 14"/>
          <p:cNvSpPr>
            <a:spLocks noChangeArrowheads="1"/>
          </p:cNvSpPr>
          <p:nvPr/>
        </p:nvSpPr>
        <p:spPr bwMode="auto">
          <a:xfrm>
            <a:off x="8592212" y="977962"/>
            <a:ext cx="1511300" cy="287337"/>
          </a:xfrm>
          <a:prstGeom prst="rect">
            <a:avLst/>
          </a:prstGeom>
          <a:solidFill>
            <a:srgbClr val="9DDDFF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en-US" altLang="zh-CN" sz="16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CPU</a:t>
            </a:r>
            <a:endParaRPr lang="zh-CN" altLang="en-US" sz="1600" b="1">
              <a:solidFill>
                <a:srgbClr val="4F6228"/>
              </a:solidFill>
              <a:latin typeface="楷体-简" panose="02010600040101010101" pitchFamily="2" charset="-122"/>
              <a:ea typeface="楷体-简" panose="02010600040101010101" pitchFamily="2" charset="-122"/>
            </a:endParaRPr>
          </a:p>
        </p:txBody>
      </p:sp>
      <p:sp>
        <p:nvSpPr>
          <p:cNvPr id="23" name="矩形 15"/>
          <p:cNvSpPr>
            <a:spLocks noChangeArrowheads="1"/>
          </p:cNvSpPr>
          <p:nvPr/>
        </p:nvSpPr>
        <p:spPr bwMode="auto">
          <a:xfrm>
            <a:off x="6695211" y="2768265"/>
            <a:ext cx="1512888" cy="431800"/>
          </a:xfrm>
          <a:prstGeom prst="rect">
            <a:avLst/>
          </a:prstGeom>
          <a:solidFill>
            <a:srgbClr val="E3FBFA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zh-CN" altLang="en-US" sz="2000" b="1" dirty="0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其他器件</a:t>
            </a:r>
          </a:p>
        </p:txBody>
      </p:sp>
      <p:sp>
        <p:nvSpPr>
          <p:cNvPr id="24" name="矩形 21"/>
          <p:cNvSpPr>
            <a:spLocks noChangeArrowheads="1"/>
          </p:cNvSpPr>
          <p:nvPr/>
        </p:nvSpPr>
        <p:spPr bwMode="auto">
          <a:xfrm>
            <a:off x="6695211" y="3681703"/>
            <a:ext cx="1512888" cy="433387"/>
          </a:xfrm>
          <a:prstGeom prst="rect">
            <a:avLst/>
          </a:prstGeom>
          <a:solidFill>
            <a:srgbClr val="FF9B54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zh-CN" altLang="en-US" sz="20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通用器件</a:t>
            </a:r>
          </a:p>
        </p:txBody>
      </p:sp>
      <p:sp>
        <p:nvSpPr>
          <p:cNvPr id="26" name="矩形 22"/>
          <p:cNvSpPr>
            <a:spLocks noChangeArrowheads="1"/>
          </p:cNvSpPr>
          <p:nvPr/>
        </p:nvSpPr>
        <p:spPr bwMode="auto">
          <a:xfrm>
            <a:off x="8568461" y="3394365"/>
            <a:ext cx="1655763" cy="1008063"/>
          </a:xfrm>
          <a:prstGeom prst="rect">
            <a:avLst/>
          </a:prstGeom>
          <a:solidFill>
            <a:srgbClr val="FF9B54"/>
          </a:solidFill>
          <a:ln w="9525">
            <a:solidFill>
              <a:srgbClr val="000000"/>
            </a:solidFill>
            <a:round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zh-CN" altLang="en-US" sz="16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运算放大器、锁相环、</a:t>
            </a:r>
            <a:r>
              <a:rPr lang="en-US" altLang="zh-CN" sz="16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AD/DA</a:t>
            </a:r>
            <a:r>
              <a:rPr lang="zh-CN" altLang="en-US" sz="16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、电源控制</a:t>
            </a:r>
          </a:p>
        </p:txBody>
      </p:sp>
      <p:sp>
        <p:nvSpPr>
          <p:cNvPr id="27" name="矩形 23"/>
          <p:cNvSpPr>
            <a:spLocks noChangeArrowheads="1"/>
          </p:cNvSpPr>
          <p:nvPr/>
        </p:nvSpPr>
        <p:spPr bwMode="auto">
          <a:xfrm>
            <a:off x="6695211" y="4762790"/>
            <a:ext cx="1512888" cy="431800"/>
          </a:xfrm>
          <a:prstGeom prst="rect">
            <a:avLst/>
          </a:prstGeom>
          <a:solidFill>
            <a:srgbClr val="FED3B3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zh-CN" altLang="en-US" sz="20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专用器件</a:t>
            </a:r>
            <a:endParaRPr lang="en-US" altLang="zh-CN" sz="2000" b="1">
              <a:solidFill>
                <a:srgbClr val="4F6228"/>
              </a:solidFill>
              <a:latin typeface="楷体-简" panose="02010600040101010101" pitchFamily="2" charset="-122"/>
              <a:ea typeface="楷体-简" panose="02010600040101010101" pitchFamily="2" charset="-122"/>
            </a:endParaRPr>
          </a:p>
        </p:txBody>
      </p:sp>
      <p:sp>
        <p:nvSpPr>
          <p:cNvPr id="28" name="矩形 24"/>
          <p:cNvSpPr>
            <a:spLocks noChangeArrowheads="1"/>
          </p:cNvSpPr>
          <p:nvPr/>
        </p:nvSpPr>
        <p:spPr bwMode="auto">
          <a:xfrm>
            <a:off x="8568461" y="4762790"/>
            <a:ext cx="1871663" cy="360363"/>
          </a:xfrm>
          <a:prstGeom prst="rect">
            <a:avLst/>
          </a:prstGeom>
          <a:solidFill>
            <a:srgbClr val="FED3B3"/>
          </a:solidFill>
          <a:ln w="9525">
            <a:solidFill>
              <a:srgbClr val="000000"/>
            </a:solidFill>
            <a:round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zh-CN" altLang="en-US" sz="16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音响、电视、通讯</a:t>
            </a:r>
          </a:p>
        </p:txBody>
      </p:sp>
      <p:sp>
        <p:nvSpPr>
          <p:cNvPr id="29" name="矩形 25"/>
          <p:cNvSpPr>
            <a:spLocks noChangeArrowheads="1"/>
          </p:cNvSpPr>
          <p:nvPr/>
        </p:nvSpPr>
        <p:spPr bwMode="auto">
          <a:xfrm>
            <a:off x="8568461" y="1374138"/>
            <a:ext cx="1511300" cy="288925"/>
          </a:xfrm>
          <a:prstGeom prst="rect">
            <a:avLst/>
          </a:prstGeom>
          <a:solidFill>
            <a:srgbClr val="9DDDFF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en-US" altLang="zh-CN" sz="16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GPU</a:t>
            </a:r>
            <a:endParaRPr lang="zh-CN" altLang="en-US" sz="1600" b="1">
              <a:solidFill>
                <a:srgbClr val="4F6228"/>
              </a:solidFill>
              <a:latin typeface="楷体-简" panose="02010600040101010101" pitchFamily="2" charset="-122"/>
              <a:ea typeface="楷体-简" panose="02010600040101010101" pitchFamily="2" charset="-122"/>
            </a:endParaRPr>
          </a:p>
        </p:txBody>
      </p:sp>
      <p:sp>
        <p:nvSpPr>
          <p:cNvPr id="30" name="矩形 26"/>
          <p:cNvSpPr>
            <a:spLocks noChangeArrowheads="1"/>
          </p:cNvSpPr>
          <p:nvPr/>
        </p:nvSpPr>
        <p:spPr bwMode="auto">
          <a:xfrm>
            <a:off x="8568461" y="1782186"/>
            <a:ext cx="1511300" cy="288925"/>
          </a:xfrm>
          <a:prstGeom prst="rect">
            <a:avLst/>
          </a:prstGeom>
          <a:solidFill>
            <a:srgbClr val="9DDDFF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en-US" altLang="zh-CN" sz="1600" b="1" dirty="0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MCU/MPU</a:t>
            </a:r>
            <a:endParaRPr lang="zh-CN" altLang="en-US" sz="1600" b="1" dirty="0">
              <a:solidFill>
                <a:srgbClr val="4F6228"/>
              </a:solidFill>
              <a:latin typeface="楷体-简" panose="02010600040101010101" pitchFamily="2" charset="-122"/>
              <a:ea typeface="楷体-简" panose="02010600040101010101" pitchFamily="2" charset="-122"/>
            </a:endParaRPr>
          </a:p>
        </p:txBody>
      </p:sp>
      <p:sp>
        <p:nvSpPr>
          <p:cNvPr id="31" name="矩形 27"/>
          <p:cNvSpPr>
            <a:spLocks noChangeArrowheads="1"/>
          </p:cNvSpPr>
          <p:nvPr/>
        </p:nvSpPr>
        <p:spPr bwMode="auto">
          <a:xfrm>
            <a:off x="8580336" y="2178360"/>
            <a:ext cx="1511300" cy="288925"/>
          </a:xfrm>
          <a:prstGeom prst="rect">
            <a:avLst/>
          </a:prstGeom>
          <a:solidFill>
            <a:srgbClr val="9DDDFF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en-US" altLang="zh-CN" sz="1600" b="1" dirty="0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DSP</a:t>
            </a:r>
            <a:endParaRPr lang="zh-CN" altLang="en-US" sz="1600" b="1" dirty="0">
              <a:solidFill>
                <a:srgbClr val="4F6228"/>
              </a:solidFill>
              <a:latin typeface="楷体-简" panose="02010600040101010101" pitchFamily="2" charset="-122"/>
              <a:ea typeface="楷体-简" panose="02010600040101010101" pitchFamily="2" charset="-122"/>
            </a:endParaRPr>
          </a:p>
        </p:txBody>
      </p:sp>
      <p:sp>
        <p:nvSpPr>
          <p:cNvPr id="32" name="矩形 28"/>
          <p:cNvSpPr>
            <a:spLocks noChangeArrowheads="1"/>
          </p:cNvSpPr>
          <p:nvPr/>
        </p:nvSpPr>
        <p:spPr bwMode="auto">
          <a:xfrm>
            <a:off x="8568461" y="2576303"/>
            <a:ext cx="1511300" cy="287337"/>
          </a:xfrm>
          <a:prstGeom prst="rect">
            <a:avLst/>
          </a:prstGeom>
          <a:solidFill>
            <a:srgbClr val="E3FBFA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en-US" altLang="zh-CN" sz="1600" b="1" dirty="0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FPGA/PLD</a:t>
            </a:r>
            <a:endParaRPr lang="zh-CN" altLang="en-US" sz="1600" b="1" dirty="0">
              <a:solidFill>
                <a:srgbClr val="4F6228"/>
              </a:solidFill>
              <a:latin typeface="楷体-简" panose="02010600040101010101" pitchFamily="2" charset="-122"/>
              <a:ea typeface="楷体-简" panose="02010600040101010101" pitchFamily="2" charset="-122"/>
            </a:endParaRPr>
          </a:p>
        </p:txBody>
      </p:sp>
      <p:sp>
        <p:nvSpPr>
          <p:cNvPr id="33" name="矩形 29"/>
          <p:cNvSpPr>
            <a:spLocks noChangeArrowheads="1"/>
          </p:cNvSpPr>
          <p:nvPr/>
        </p:nvSpPr>
        <p:spPr bwMode="auto">
          <a:xfrm>
            <a:off x="8568461" y="2972478"/>
            <a:ext cx="1511300" cy="288925"/>
          </a:xfrm>
          <a:prstGeom prst="rect">
            <a:avLst/>
          </a:prstGeom>
          <a:solidFill>
            <a:srgbClr val="E3FBFA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en-US" altLang="zh-CN" sz="1600" b="1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SOC</a:t>
            </a:r>
            <a:endParaRPr lang="zh-CN" altLang="en-US" sz="1600" b="1">
              <a:solidFill>
                <a:srgbClr val="4F6228"/>
              </a:solidFill>
              <a:latin typeface="楷体-简" panose="02010600040101010101" pitchFamily="2" charset="-122"/>
              <a:ea typeface="楷体-简" panose="02010600040101010101" pitchFamily="2" charset="-122"/>
            </a:endParaRPr>
          </a:p>
        </p:txBody>
      </p:sp>
      <p:sp>
        <p:nvSpPr>
          <p:cNvPr id="34" name="矩形 30"/>
          <p:cNvSpPr>
            <a:spLocks noChangeArrowheads="1"/>
          </p:cNvSpPr>
          <p:nvPr/>
        </p:nvSpPr>
        <p:spPr bwMode="auto">
          <a:xfrm>
            <a:off x="6695211" y="5626390"/>
            <a:ext cx="1873250" cy="431800"/>
          </a:xfrm>
          <a:prstGeom prst="rect">
            <a:avLst/>
          </a:prstGeom>
          <a:solidFill>
            <a:srgbClr val="DCC9F5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en-US" altLang="zh-CN" sz="2000" b="1" dirty="0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DRAM/SRAM</a:t>
            </a:r>
          </a:p>
        </p:txBody>
      </p:sp>
      <p:sp>
        <p:nvSpPr>
          <p:cNvPr id="35" name="矩形 31"/>
          <p:cNvSpPr>
            <a:spLocks noChangeArrowheads="1"/>
          </p:cNvSpPr>
          <p:nvPr/>
        </p:nvSpPr>
        <p:spPr bwMode="auto">
          <a:xfrm>
            <a:off x="6695211" y="6347115"/>
            <a:ext cx="1873250" cy="431800"/>
          </a:xfrm>
          <a:prstGeom prst="rect">
            <a:avLst/>
          </a:prstGeom>
          <a:solidFill>
            <a:srgbClr val="F1B3FF"/>
          </a:solidFill>
          <a:ln w="9525">
            <a:solidFill>
              <a:srgbClr val="000000"/>
            </a:solidFill>
            <a:round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20000"/>
              </a:spcBef>
              <a:buClr>
                <a:srgbClr val="C00000"/>
              </a:buClr>
              <a:buFontTx/>
              <a:buNone/>
            </a:pPr>
            <a:r>
              <a:rPr lang="en-US" altLang="zh-CN" sz="2000" b="1" dirty="0">
                <a:solidFill>
                  <a:srgbClr val="4F6228"/>
                </a:solidFill>
                <a:latin typeface="楷体-简" panose="02010600040101010101" pitchFamily="2" charset="-122"/>
                <a:ea typeface="楷体-简" panose="02010600040101010101" pitchFamily="2" charset="-122"/>
              </a:rPr>
              <a:t>FLASH/ROM</a:t>
            </a:r>
          </a:p>
        </p:txBody>
      </p:sp>
      <p:cxnSp>
        <p:nvCxnSpPr>
          <p:cNvPr id="36" name="直线连接符 33"/>
          <p:cNvCxnSpPr>
            <a:cxnSpLocks noChangeShapeType="1"/>
          </p:cNvCxnSpPr>
          <p:nvPr/>
        </p:nvCxnSpPr>
        <p:spPr bwMode="auto">
          <a:xfrm>
            <a:off x="2576945" y="3609109"/>
            <a:ext cx="180110" cy="0"/>
          </a:xfrm>
          <a:prstGeom prst="line">
            <a:avLst/>
          </a:prstGeom>
          <a:noFill/>
          <a:ln w="38100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7" name="直线连接符 35"/>
          <p:cNvCxnSpPr>
            <a:cxnSpLocks noChangeShapeType="1"/>
          </p:cNvCxnSpPr>
          <p:nvPr/>
        </p:nvCxnSpPr>
        <p:spPr bwMode="auto">
          <a:xfrm rot="5400000" flipH="1" flipV="1">
            <a:off x="2238811" y="3092739"/>
            <a:ext cx="986123" cy="5054"/>
          </a:xfrm>
          <a:prstGeom prst="line">
            <a:avLst/>
          </a:prstGeom>
          <a:noFill/>
          <a:ln w="38100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线连接符 37"/>
          <p:cNvCxnSpPr>
            <a:cxnSpLocks noChangeShapeType="1"/>
            <a:stCxn id="11" idx="1"/>
          </p:cNvCxnSpPr>
          <p:nvPr/>
        </p:nvCxnSpPr>
        <p:spPr bwMode="auto">
          <a:xfrm flipH="1">
            <a:off x="2734399" y="2602203"/>
            <a:ext cx="217487" cy="0"/>
          </a:xfrm>
          <a:prstGeom prst="line">
            <a:avLst/>
          </a:prstGeom>
          <a:noFill/>
          <a:ln w="38100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线连接符 39"/>
          <p:cNvCxnSpPr>
            <a:cxnSpLocks noChangeShapeType="1"/>
            <a:stCxn id="13" idx="1"/>
          </p:cNvCxnSpPr>
          <p:nvPr/>
        </p:nvCxnSpPr>
        <p:spPr bwMode="auto">
          <a:xfrm flipH="1">
            <a:off x="2734399" y="3322928"/>
            <a:ext cx="217487" cy="0"/>
          </a:xfrm>
          <a:prstGeom prst="line">
            <a:avLst/>
          </a:prstGeom>
          <a:noFill/>
          <a:ln w="38100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线连接符 41"/>
          <p:cNvCxnSpPr>
            <a:cxnSpLocks noChangeShapeType="1"/>
          </p:cNvCxnSpPr>
          <p:nvPr/>
        </p:nvCxnSpPr>
        <p:spPr bwMode="auto">
          <a:xfrm rot="16200000" flipH="1">
            <a:off x="2150579" y="4167093"/>
            <a:ext cx="1176441" cy="14950"/>
          </a:xfrm>
          <a:prstGeom prst="line">
            <a:avLst/>
          </a:prstGeom>
          <a:noFill/>
          <a:ln w="38100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线连接符 43"/>
          <p:cNvCxnSpPr>
            <a:cxnSpLocks noChangeShapeType="1"/>
            <a:stCxn id="15" idx="1"/>
          </p:cNvCxnSpPr>
          <p:nvPr/>
        </p:nvCxnSpPr>
        <p:spPr bwMode="auto">
          <a:xfrm flipH="1">
            <a:off x="2734399" y="4762790"/>
            <a:ext cx="217487" cy="0"/>
          </a:xfrm>
          <a:prstGeom prst="line">
            <a:avLst/>
          </a:prstGeom>
          <a:noFill/>
          <a:ln w="38100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线连接符 45"/>
          <p:cNvCxnSpPr>
            <a:cxnSpLocks noChangeShapeType="1"/>
            <a:stCxn id="14" idx="1"/>
          </p:cNvCxnSpPr>
          <p:nvPr/>
        </p:nvCxnSpPr>
        <p:spPr bwMode="auto">
          <a:xfrm flipH="1" flipV="1">
            <a:off x="2734399" y="4042065"/>
            <a:ext cx="217487" cy="0"/>
          </a:xfrm>
          <a:prstGeom prst="line">
            <a:avLst/>
          </a:prstGeom>
          <a:noFill/>
          <a:ln w="38100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3" name="直线连接符 47"/>
          <p:cNvCxnSpPr>
            <a:cxnSpLocks noChangeShapeType="1"/>
            <a:stCxn id="11" idx="3"/>
          </p:cNvCxnSpPr>
          <p:nvPr/>
        </p:nvCxnSpPr>
        <p:spPr bwMode="auto">
          <a:xfrm>
            <a:off x="4463186" y="2602203"/>
            <a:ext cx="21590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4" name="直线连接符 49"/>
          <p:cNvCxnSpPr>
            <a:cxnSpLocks noChangeShapeType="1"/>
            <a:stCxn id="11" idx="3"/>
          </p:cNvCxnSpPr>
          <p:nvPr/>
        </p:nvCxnSpPr>
        <p:spPr bwMode="auto">
          <a:xfrm flipV="1">
            <a:off x="4679086" y="1738603"/>
            <a:ext cx="0" cy="86360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5" name="直线连接符 51"/>
          <p:cNvCxnSpPr>
            <a:cxnSpLocks noChangeShapeType="1"/>
            <a:stCxn id="11" idx="3"/>
            <a:endCxn id="16" idx="1"/>
          </p:cNvCxnSpPr>
          <p:nvPr/>
        </p:nvCxnSpPr>
        <p:spPr bwMode="auto">
          <a:xfrm>
            <a:off x="4679086" y="1738603"/>
            <a:ext cx="144463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6" name="直线连接符 53"/>
          <p:cNvCxnSpPr>
            <a:cxnSpLocks noChangeShapeType="1"/>
            <a:stCxn id="11" idx="3"/>
          </p:cNvCxnSpPr>
          <p:nvPr/>
        </p:nvCxnSpPr>
        <p:spPr bwMode="auto">
          <a:xfrm>
            <a:off x="4679086" y="2602203"/>
            <a:ext cx="0" cy="1800225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7" name="直线连接符 55"/>
          <p:cNvCxnSpPr>
            <a:cxnSpLocks noChangeShapeType="1"/>
            <a:stCxn id="17" idx="1"/>
          </p:cNvCxnSpPr>
          <p:nvPr/>
        </p:nvCxnSpPr>
        <p:spPr bwMode="auto">
          <a:xfrm flipH="1">
            <a:off x="4679086" y="4402428"/>
            <a:ext cx="144463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线连接符 57"/>
          <p:cNvCxnSpPr>
            <a:cxnSpLocks noChangeShapeType="1"/>
          </p:cNvCxnSpPr>
          <p:nvPr/>
        </p:nvCxnSpPr>
        <p:spPr bwMode="auto">
          <a:xfrm rot="16200000" flipV="1">
            <a:off x="5797977" y="2235368"/>
            <a:ext cx="1523445" cy="14719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9" name="直线连接符 63"/>
          <p:cNvCxnSpPr>
            <a:cxnSpLocks noChangeShapeType="1"/>
          </p:cNvCxnSpPr>
          <p:nvPr/>
        </p:nvCxnSpPr>
        <p:spPr bwMode="auto">
          <a:xfrm flipH="1">
            <a:off x="6552336" y="2996040"/>
            <a:ext cx="142875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0" name="直线连接符 71"/>
          <p:cNvCxnSpPr>
            <a:cxnSpLocks noChangeShapeType="1"/>
          </p:cNvCxnSpPr>
          <p:nvPr/>
        </p:nvCxnSpPr>
        <p:spPr bwMode="auto">
          <a:xfrm rot="16200000" flipH="1">
            <a:off x="7773779" y="1741114"/>
            <a:ext cx="1236670" cy="7482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1" name="直线连接符 92"/>
          <p:cNvCxnSpPr>
            <a:cxnSpLocks noChangeShapeType="1"/>
            <a:stCxn id="23" idx="3"/>
          </p:cNvCxnSpPr>
          <p:nvPr/>
        </p:nvCxnSpPr>
        <p:spPr bwMode="auto">
          <a:xfrm>
            <a:off x="8208099" y="2984165"/>
            <a:ext cx="21590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2" name="直线连接符 94"/>
          <p:cNvCxnSpPr>
            <a:cxnSpLocks noChangeShapeType="1"/>
            <a:stCxn id="24" idx="3"/>
            <a:endCxn id="26" idx="1"/>
          </p:cNvCxnSpPr>
          <p:nvPr/>
        </p:nvCxnSpPr>
        <p:spPr bwMode="auto">
          <a:xfrm>
            <a:off x="8208099" y="3899190"/>
            <a:ext cx="360362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3" name="直线连接符 96"/>
          <p:cNvCxnSpPr>
            <a:cxnSpLocks noChangeShapeType="1"/>
            <a:stCxn id="24" idx="3"/>
            <a:endCxn id="26" idx="1"/>
          </p:cNvCxnSpPr>
          <p:nvPr/>
        </p:nvCxnSpPr>
        <p:spPr bwMode="auto">
          <a:xfrm>
            <a:off x="8208099" y="4978690"/>
            <a:ext cx="360362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4" name="直线连接符 100"/>
          <p:cNvCxnSpPr>
            <a:cxnSpLocks noChangeShapeType="1"/>
            <a:stCxn id="24" idx="3"/>
            <a:endCxn id="26" idx="1"/>
          </p:cNvCxnSpPr>
          <p:nvPr/>
        </p:nvCxnSpPr>
        <p:spPr bwMode="auto">
          <a:xfrm>
            <a:off x="6552336" y="3899190"/>
            <a:ext cx="0" cy="1150938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5" name="直线连接符 101"/>
          <p:cNvCxnSpPr>
            <a:cxnSpLocks noChangeShapeType="1"/>
            <a:stCxn id="24" idx="3"/>
            <a:endCxn id="26" idx="1"/>
          </p:cNvCxnSpPr>
          <p:nvPr/>
        </p:nvCxnSpPr>
        <p:spPr bwMode="auto">
          <a:xfrm flipH="1">
            <a:off x="6552336" y="3899190"/>
            <a:ext cx="142875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6" name="直线连接符 102"/>
          <p:cNvCxnSpPr>
            <a:cxnSpLocks noChangeShapeType="1"/>
            <a:stCxn id="24" idx="3"/>
            <a:endCxn id="26" idx="1"/>
          </p:cNvCxnSpPr>
          <p:nvPr/>
        </p:nvCxnSpPr>
        <p:spPr bwMode="auto">
          <a:xfrm flipH="1">
            <a:off x="6552336" y="5050128"/>
            <a:ext cx="142875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7" name="直线连接符 104"/>
          <p:cNvCxnSpPr>
            <a:cxnSpLocks noChangeShapeType="1"/>
            <a:stCxn id="17" idx="3"/>
            <a:endCxn id="26" idx="1"/>
          </p:cNvCxnSpPr>
          <p:nvPr/>
        </p:nvCxnSpPr>
        <p:spPr bwMode="auto">
          <a:xfrm>
            <a:off x="6334849" y="4402428"/>
            <a:ext cx="217487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8" name="直线连接符 105"/>
          <p:cNvCxnSpPr>
            <a:cxnSpLocks noChangeShapeType="1"/>
            <a:stCxn id="17" idx="3"/>
            <a:endCxn id="26" idx="1"/>
          </p:cNvCxnSpPr>
          <p:nvPr/>
        </p:nvCxnSpPr>
        <p:spPr bwMode="auto">
          <a:xfrm>
            <a:off x="6334849" y="6131215"/>
            <a:ext cx="217487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59" name="直线连接符 106"/>
          <p:cNvCxnSpPr>
            <a:cxnSpLocks noChangeShapeType="1"/>
            <a:stCxn id="17" idx="3"/>
            <a:endCxn id="26" idx="1"/>
          </p:cNvCxnSpPr>
          <p:nvPr/>
        </p:nvCxnSpPr>
        <p:spPr bwMode="auto">
          <a:xfrm>
            <a:off x="6552336" y="5842290"/>
            <a:ext cx="0" cy="720725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0" name="直线连接符 108"/>
          <p:cNvCxnSpPr>
            <a:cxnSpLocks noChangeShapeType="1"/>
            <a:stCxn id="17" idx="3"/>
            <a:endCxn id="26" idx="1"/>
          </p:cNvCxnSpPr>
          <p:nvPr/>
        </p:nvCxnSpPr>
        <p:spPr bwMode="auto">
          <a:xfrm flipH="1">
            <a:off x="6552336" y="5842290"/>
            <a:ext cx="142875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1" name="直线连接符 109"/>
          <p:cNvCxnSpPr>
            <a:cxnSpLocks noChangeShapeType="1"/>
            <a:stCxn id="17" idx="3"/>
            <a:endCxn id="26" idx="1"/>
          </p:cNvCxnSpPr>
          <p:nvPr/>
        </p:nvCxnSpPr>
        <p:spPr bwMode="auto">
          <a:xfrm flipH="1">
            <a:off x="6552336" y="6563015"/>
            <a:ext cx="142875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2" name="直线连接符 111"/>
          <p:cNvCxnSpPr>
            <a:cxnSpLocks noChangeShapeType="1"/>
            <a:stCxn id="17" idx="3"/>
            <a:endCxn id="26" idx="1"/>
          </p:cNvCxnSpPr>
          <p:nvPr/>
        </p:nvCxnSpPr>
        <p:spPr bwMode="auto">
          <a:xfrm>
            <a:off x="4679086" y="4402428"/>
            <a:ext cx="0" cy="1728787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3" name="直线连接符 113"/>
          <p:cNvCxnSpPr>
            <a:cxnSpLocks noChangeShapeType="1"/>
            <a:stCxn id="17" idx="3"/>
            <a:endCxn id="20" idx="1"/>
          </p:cNvCxnSpPr>
          <p:nvPr/>
        </p:nvCxnSpPr>
        <p:spPr bwMode="auto">
          <a:xfrm>
            <a:off x="4679086" y="6131215"/>
            <a:ext cx="144463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4" name="直线连接符 106"/>
          <p:cNvCxnSpPr>
            <a:cxnSpLocks noChangeShapeType="1"/>
          </p:cNvCxnSpPr>
          <p:nvPr/>
        </p:nvCxnSpPr>
        <p:spPr bwMode="auto">
          <a:xfrm rot="16200000" flipH="1">
            <a:off x="8193976" y="2968830"/>
            <a:ext cx="475013" cy="2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5" name="直线连接符 55"/>
          <p:cNvCxnSpPr>
            <a:cxnSpLocks noChangeShapeType="1"/>
          </p:cNvCxnSpPr>
          <p:nvPr/>
        </p:nvCxnSpPr>
        <p:spPr bwMode="auto">
          <a:xfrm flipH="1">
            <a:off x="8441585" y="3177290"/>
            <a:ext cx="144463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6" name="直线连接符 55"/>
          <p:cNvCxnSpPr>
            <a:cxnSpLocks noChangeShapeType="1"/>
          </p:cNvCxnSpPr>
          <p:nvPr/>
        </p:nvCxnSpPr>
        <p:spPr bwMode="auto">
          <a:xfrm flipH="1">
            <a:off x="8427730" y="2735924"/>
            <a:ext cx="144463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7" name="直线连接符 92"/>
          <p:cNvCxnSpPr>
            <a:cxnSpLocks noChangeShapeType="1"/>
          </p:cNvCxnSpPr>
          <p:nvPr/>
        </p:nvCxnSpPr>
        <p:spPr bwMode="auto">
          <a:xfrm>
            <a:off x="8396125" y="1153386"/>
            <a:ext cx="21590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8" name="直线连接符 92"/>
          <p:cNvCxnSpPr>
            <a:cxnSpLocks noChangeShapeType="1"/>
          </p:cNvCxnSpPr>
          <p:nvPr/>
        </p:nvCxnSpPr>
        <p:spPr bwMode="auto">
          <a:xfrm>
            <a:off x="8384250" y="1533396"/>
            <a:ext cx="21590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69" name="直线连接符 92"/>
          <p:cNvCxnSpPr>
            <a:cxnSpLocks noChangeShapeType="1"/>
          </p:cNvCxnSpPr>
          <p:nvPr/>
        </p:nvCxnSpPr>
        <p:spPr bwMode="auto">
          <a:xfrm>
            <a:off x="8384250" y="1949032"/>
            <a:ext cx="21590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70" name="直线连接符 92"/>
          <p:cNvCxnSpPr>
            <a:cxnSpLocks noChangeShapeType="1"/>
          </p:cNvCxnSpPr>
          <p:nvPr/>
        </p:nvCxnSpPr>
        <p:spPr bwMode="auto">
          <a:xfrm>
            <a:off x="8384249" y="2352794"/>
            <a:ext cx="215900" cy="0"/>
          </a:xfrm>
          <a:prstGeom prst="line">
            <a:avLst/>
          </a:prstGeom>
          <a:noFill/>
          <a:ln w="28575">
            <a:solidFill>
              <a:srgbClr val="CC3333"/>
            </a:solidFill>
            <a:rou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集成电路产业趋势</a:t>
            </a:r>
          </a:p>
        </p:txBody>
      </p:sp>
      <p:sp>
        <p:nvSpPr>
          <p:cNvPr id="18" name="矩形 17"/>
          <p:cNvSpPr/>
          <p:nvPr/>
        </p:nvSpPr>
        <p:spPr>
          <a:xfrm>
            <a:off x="1642761" y="1688653"/>
            <a:ext cx="871252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 smtClean="0"/>
              <a:t>       </a:t>
            </a:r>
            <a:r>
              <a:rPr lang="zh-CN" altLang="en-US" sz="4000" b="1" dirty="0" smtClean="0"/>
              <a:t>半导体产品被</a:t>
            </a:r>
            <a:r>
              <a:rPr lang="zh-CN" altLang="en-US" sz="4000" b="1" dirty="0" smtClean="0"/>
              <a:t>称为现代工业的</a:t>
            </a:r>
            <a:r>
              <a:rPr lang="zh-CN" altLang="en-US" sz="4000" b="1" dirty="0" smtClean="0">
                <a:solidFill>
                  <a:srgbClr val="FF0000"/>
                </a:solidFill>
              </a:rPr>
              <a:t>“粮食”</a:t>
            </a:r>
            <a:r>
              <a:rPr lang="zh-CN" altLang="en-US" sz="4000" b="1" dirty="0" smtClean="0"/>
              <a:t>，在牵引国家或地区科技进步、经济发展中具有举足轻重的作用。相关研究显示，每</a:t>
            </a:r>
            <a:r>
              <a:rPr lang="en-US" altLang="zh-CN" sz="4000" b="1" dirty="0" smtClean="0"/>
              <a:t>1</a:t>
            </a:r>
            <a:r>
              <a:rPr lang="zh-CN" altLang="en-US" sz="4000" b="1" dirty="0" smtClean="0"/>
              <a:t>元半导体产值</a:t>
            </a:r>
            <a:r>
              <a:rPr lang="zh-CN" altLang="en-US" sz="4000" b="1" dirty="0" smtClean="0"/>
              <a:t>能带动</a:t>
            </a:r>
            <a:r>
              <a:rPr lang="en-US" altLang="zh-CN" sz="4000" b="1" dirty="0" smtClean="0"/>
              <a:t>10</a:t>
            </a:r>
            <a:r>
              <a:rPr lang="zh-CN" altLang="en-US" sz="4000" b="1" dirty="0" smtClean="0"/>
              <a:t>元左右电子信息产业产值，进而带动增加</a:t>
            </a:r>
            <a:r>
              <a:rPr lang="en-US" altLang="zh-CN" sz="4000" b="1" dirty="0" smtClean="0"/>
              <a:t>100</a:t>
            </a:r>
            <a:r>
              <a:rPr lang="zh-CN" altLang="en-US" sz="4000" b="1" dirty="0" smtClean="0"/>
              <a:t>元左右的</a:t>
            </a:r>
            <a:r>
              <a:rPr lang="en-US" altLang="zh-CN" sz="4000" b="1" dirty="0" smtClean="0"/>
              <a:t>GDP</a:t>
            </a:r>
            <a:r>
              <a:rPr lang="zh-CN" altLang="en-US" sz="4000" b="1" dirty="0" smtClean="0"/>
              <a:t>。</a:t>
            </a:r>
            <a:endParaRPr lang="zh-CN" altLang="en-US" sz="4000" b="1" dirty="0"/>
          </a:p>
        </p:txBody>
      </p:sp>
      <p:cxnSp>
        <p:nvCxnSpPr>
          <p:cNvPr id="12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集成电路产业趋势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35627" y="942975"/>
            <a:ext cx="10287000" cy="591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集成电路产业趋势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2500" y="973776"/>
            <a:ext cx="10287000" cy="5700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集成电路产业趋势</a:t>
            </a:r>
          </a:p>
        </p:txBody>
      </p:sp>
      <p:sp>
        <p:nvSpPr>
          <p:cNvPr id="5" name="矩形 4"/>
          <p:cNvSpPr/>
          <p:nvPr/>
        </p:nvSpPr>
        <p:spPr>
          <a:xfrm>
            <a:off x="1254211" y="1439285"/>
            <a:ext cx="996138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 smtClean="0"/>
              <a:t>行业竞争本质上为专利、人才、资本的竞争</a:t>
            </a:r>
            <a:endParaRPr lang="zh-CN" altLang="en-US" sz="4000" dirty="0"/>
          </a:p>
        </p:txBody>
      </p:sp>
      <p:sp>
        <p:nvSpPr>
          <p:cNvPr id="6" name="矩形 5"/>
          <p:cNvSpPr/>
          <p:nvPr/>
        </p:nvSpPr>
        <p:spPr>
          <a:xfrm>
            <a:off x="1814069" y="2721810"/>
            <a:ext cx="89098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/>
              <a:t>真正掌握在我国创新主体手中的</a:t>
            </a:r>
            <a:r>
              <a:rPr lang="zh-CN" altLang="en-US" sz="3200" b="1" dirty="0" smtClean="0"/>
              <a:t>专利技术仅占</a:t>
            </a:r>
            <a:r>
              <a:rPr lang="en-US" altLang="zh-CN" sz="3200" b="1" dirty="0" smtClean="0"/>
              <a:t>5%</a:t>
            </a:r>
            <a:endParaRPr lang="zh-CN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3174674" y="3434329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/>
              <a:t>技术人</a:t>
            </a:r>
            <a:r>
              <a:rPr lang="zh-CN" altLang="en-US" sz="3200" b="1" dirty="0" smtClean="0"/>
              <a:t>才是集成电路产业</a:t>
            </a:r>
            <a:r>
              <a:rPr lang="zh-CN" altLang="en-US" sz="3200" b="1" dirty="0" smtClean="0"/>
              <a:t>的基石</a:t>
            </a:r>
            <a:endParaRPr lang="zh-CN" altLang="en-US" sz="3200" dirty="0"/>
          </a:p>
        </p:txBody>
      </p:sp>
      <p:sp>
        <p:nvSpPr>
          <p:cNvPr id="10" name="矩形 9"/>
          <p:cNvSpPr/>
          <p:nvPr/>
        </p:nvSpPr>
        <p:spPr>
          <a:xfrm>
            <a:off x="1610487" y="4194351"/>
            <a:ext cx="96327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/>
              <a:t>集成电路产业“烧钱”的特性决定了它</a:t>
            </a:r>
            <a:r>
              <a:rPr lang="zh-CN" altLang="en-US" sz="3200" b="1" dirty="0" smtClean="0"/>
              <a:t>对资本的依赖</a:t>
            </a:r>
            <a:endParaRPr lang="zh-CN" altLang="en-US" sz="3200" dirty="0"/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集成电路产业趋势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16244" y="1252847"/>
            <a:ext cx="9716833" cy="4886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集成电路产业趋势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1925" y="1735034"/>
            <a:ext cx="113919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3317523" y="6070662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强化设计与工艺的协同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6070619" y="6068684"/>
            <a:ext cx="2833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Chiplet</a:t>
            </a:r>
            <a:r>
              <a:rPr lang="zh-CN" altLang="en-US" dirty="0" smtClean="0"/>
              <a:t>，苹果的</a:t>
            </a:r>
            <a:r>
              <a:rPr lang="en-US" altLang="zh-CN" dirty="0" smtClean="0"/>
              <a:t>M2 Ultra</a:t>
            </a:r>
            <a:r>
              <a:rPr lang="zh-CN" altLang="en-US" dirty="0" smtClean="0"/>
              <a:t>？</a:t>
            </a:r>
            <a:endParaRPr lang="zh-CN" altLang="en-US" dirty="0"/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3808428" y="4125580"/>
            <a:ext cx="47820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集成电路产业地图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602064" y="1556951"/>
            <a:ext cx="99578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solidFill>
                  <a:srgbClr val="006095"/>
                </a:solidFill>
                <a:latin typeface="Impact" panose="020B0806030902050204" pitchFamily="34" charset="0"/>
              </a:rPr>
              <a:t>2</a:t>
            </a:r>
            <a:endParaRPr lang="zh-CN" altLang="en-US" sz="16600" dirty="0">
              <a:solidFill>
                <a:srgbClr val="006095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集成电路产业趋势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9963" y="1078613"/>
            <a:ext cx="11839575" cy="535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产业地图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40620" y="952500"/>
            <a:ext cx="10287000" cy="590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产业地图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83180" y="890649"/>
            <a:ext cx="8098972" cy="596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产业地图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3750" y="969324"/>
            <a:ext cx="10426535" cy="586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产业地图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4436" y="1189491"/>
            <a:ext cx="5524500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66519" y="2005466"/>
            <a:ext cx="542925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产业地图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1" y="1147307"/>
            <a:ext cx="5791200" cy="511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60620" y="76200"/>
            <a:ext cx="6000750" cy="678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产业地图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7362" y="1300838"/>
            <a:ext cx="5686425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99654" y="1278842"/>
            <a:ext cx="5763168" cy="497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3808428" y="4125580"/>
            <a:ext cx="47820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集成电路人才情况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602064" y="1556951"/>
            <a:ext cx="99578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solidFill>
                  <a:srgbClr val="006095"/>
                </a:solidFill>
                <a:latin typeface="Impact" panose="020B0806030902050204" pitchFamily="34" charset="0"/>
              </a:rPr>
              <a:t>3</a:t>
            </a:r>
            <a:endParaRPr lang="zh-CN" altLang="en-US" sz="16600" dirty="0">
              <a:solidFill>
                <a:srgbClr val="006095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集成电路人才情况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282699" y="1674132"/>
          <a:ext cx="9664700" cy="4396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722"/>
                <a:gridCol w="1592158"/>
                <a:gridCol w="1932940"/>
                <a:gridCol w="1932940"/>
                <a:gridCol w="1932940"/>
              </a:tblGrid>
              <a:tr h="607557">
                <a:tc rowSpan="6">
                  <a:txBody>
                    <a:bodyPr/>
                    <a:lstStyle/>
                    <a:p>
                      <a:pPr marL="0" marR="0" indent="0" algn="ctr" defTabSz="12452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中国集成电路产业人才发展报告（</a:t>
                      </a:r>
                      <a:r>
                        <a:rPr lang="en-US" altLang="zh-CN" sz="2800" b="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2020-2021</a:t>
                      </a:r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年版）统计显示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en-US" altLang="zh-CN" sz="28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CN" sz="2800" b="0" dirty="0" smtClean="0">
                          <a:solidFill>
                            <a:schemeClr val="tx1"/>
                          </a:solidFill>
                        </a:rPr>
                        <a:t>2020</a:t>
                      </a:r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年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en-US" altLang="zh-CN" sz="28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12452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 smtClean="0">
                          <a:solidFill>
                            <a:schemeClr val="tx1"/>
                          </a:solidFill>
                        </a:rPr>
                        <a:t>54.1</a:t>
                      </a:r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万人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设计业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452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dirty="0" smtClean="0">
                          <a:solidFill>
                            <a:schemeClr val="tx1"/>
                          </a:solidFill>
                        </a:rPr>
                        <a:t>19.96</a:t>
                      </a:r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万人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5778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制造业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18.12</a:t>
                      </a:r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万人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577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封测业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16.02</a:t>
                      </a:r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万人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577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endParaRPr lang="en-US" altLang="zh-CN" sz="28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CN" sz="2800" b="0" dirty="0" smtClean="0">
                          <a:solidFill>
                            <a:schemeClr val="tx1"/>
                          </a:solidFill>
                        </a:rPr>
                        <a:t>2023</a:t>
                      </a:r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年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en-US" altLang="zh-CN" sz="28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CN" sz="2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76.65</a:t>
                      </a:r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万人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设计业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28.83</a:t>
                      </a:r>
                      <a:r>
                        <a:rPr lang="zh-CN" altLang="en-US" sz="28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万</a:t>
                      </a:r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人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5778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制造业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28.27</a:t>
                      </a:r>
                      <a:r>
                        <a:rPr lang="zh-CN" altLang="en-US" sz="28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万</a:t>
                      </a:r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人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57782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封测业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0" i="0" u="none" strike="noStrike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19.55</a:t>
                      </a:r>
                      <a:r>
                        <a:rPr lang="zh-CN" altLang="en-US" sz="2800" b="0" dirty="0" smtClean="0">
                          <a:solidFill>
                            <a:schemeClr val="tx1"/>
                          </a:solidFill>
                        </a:rPr>
                        <a:t>万人</a:t>
                      </a:r>
                      <a:endParaRPr lang="zh-CN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集成电路人才情况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863" y="1042988"/>
            <a:ext cx="5934075" cy="553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03950" y="1084263"/>
            <a:ext cx="5924550" cy="555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650" name="Picture 2" descr="图片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62100" y="1049337"/>
            <a:ext cx="9205911" cy="5523548"/>
          </a:xfrm>
          <a:prstGeom prst="rect">
            <a:avLst/>
          </a:prstGeom>
          <a:noFill/>
        </p:spPr>
      </p:pic>
      <p:sp>
        <p:nvSpPr>
          <p:cNvPr id="6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集成电路人才情况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8926" y="2297113"/>
            <a:ext cx="12003074" cy="62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5738" y="1150938"/>
            <a:ext cx="12006262" cy="881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3732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7488" y="3198812"/>
            <a:ext cx="11974512" cy="59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3733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25424" y="4027488"/>
            <a:ext cx="11966576" cy="56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3734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71463" y="5414963"/>
            <a:ext cx="11883654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3735" name="Picture 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74638" y="4767263"/>
            <a:ext cx="11917362" cy="490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集成电路人才情况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矩形 5"/>
          <p:cNvSpPr/>
          <p:nvPr/>
        </p:nvSpPr>
        <p:spPr>
          <a:xfrm>
            <a:off x="215900" y="1756539"/>
            <a:ext cx="117348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系统架构师</a:t>
            </a:r>
            <a:endParaRPr lang="zh-CN" altLang="en-US" sz="2800" dirty="0" smtClean="0"/>
          </a:p>
          <a:p>
            <a:r>
              <a:rPr lang="en-US" altLang="zh-CN" sz="2400" dirty="0" smtClean="0"/>
              <a:t>IC</a:t>
            </a:r>
            <a:r>
              <a:rPr lang="zh-CN" altLang="en-US" sz="2400" dirty="0" smtClean="0"/>
              <a:t>岗位天花板，对技术深度和技术广度的要求都非常高。至少需要十年以上的经验才能胜任，或者说才有机会、有资格成为架构师。</a:t>
            </a:r>
          </a:p>
          <a:p>
            <a:r>
              <a:rPr lang="zh-CN" altLang="en-US" sz="2400" dirty="0" smtClean="0"/>
              <a:t>岗位内容：分析产品需求、设计系统方案、芯片架构规划、定义芯片</a:t>
            </a:r>
            <a:r>
              <a:rPr lang="en-US" altLang="zh-CN" sz="2400" dirty="0" smtClean="0"/>
              <a:t>Spec</a:t>
            </a:r>
            <a:r>
              <a:rPr lang="zh-CN" altLang="en-US" sz="2400" dirty="0" smtClean="0"/>
              <a:t>任职要求：</a:t>
            </a:r>
            <a:r>
              <a:rPr lang="en-US" altLang="zh-CN" sz="2400" dirty="0" smtClean="0"/>
              <a:t>10</a:t>
            </a:r>
            <a:r>
              <a:rPr lang="zh-CN" altLang="en-US" sz="2400" dirty="0" smtClean="0"/>
              <a:t>年</a:t>
            </a:r>
            <a:r>
              <a:rPr lang="en-US" altLang="zh-CN" sz="2400" dirty="0" smtClean="0"/>
              <a:t>+</a:t>
            </a:r>
            <a:r>
              <a:rPr lang="zh-CN" altLang="en-US" sz="2400" dirty="0" smtClean="0"/>
              <a:t>经验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2984500" y="1200835"/>
            <a:ext cx="8356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/>
              <a:t>芯片设计环节</a:t>
            </a:r>
            <a:r>
              <a:rPr lang="zh-CN" altLang="en-US" sz="3200" dirty="0" smtClean="0"/>
              <a:t> </a:t>
            </a:r>
            <a:r>
              <a:rPr lang="en-US" altLang="zh-CN" sz="3200" dirty="0" smtClean="0"/>
              <a:t>IC Design  </a:t>
            </a:r>
            <a:r>
              <a:rPr lang="zh-CN" altLang="en-US" sz="3200" dirty="0" smtClean="0"/>
              <a:t>（数字）</a:t>
            </a:r>
            <a:r>
              <a:rPr lang="en-US" altLang="zh-CN" dirty="0" smtClean="0"/>
              <a:t> 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54000" y="4052838"/>
            <a:ext cx="114935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前端设计</a:t>
            </a:r>
            <a:r>
              <a:rPr lang="en-US" altLang="zh-CN" sz="2800" b="1" dirty="0" smtClean="0"/>
              <a:t>- DE</a:t>
            </a:r>
            <a:endParaRPr lang="zh-CN" altLang="en-US" sz="2800" dirty="0" smtClean="0"/>
          </a:p>
          <a:p>
            <a:r>
              <a:rPr lang="zh-CN" altLang="en-US" sz="2400" dirty="0" smtClean="0"/>
              <a:t>负责描述并实现芯片的具体行为和功能，主要是逻辑设计。前端设计工程师要根据</a:t>
            </a:r>
            <a:r>
              <a:rPr lang="en-US" altLang="zh-CN" sz="2400" dirty="0" smtClean="0"/>
              <a:t>Spec</a:t>
            </a:r>
            <a:r>
              <a:rPr lang="zh-CN" altLang="en-US" sz="2400" dirty="0" smtClean="0"/>
              <a:t>，通过硬件描述语言设计</a:t>
            </a:r>
            <a:r>
              <a:rPr lang="en-US" altLang="zh-CN" sz="2400" dirty="0" smtClean="0"/>
              <a:t>RTL</a:t>
            </a:r>
            <a:r>
              <a:rPr lang="zh-CN" altLang="en-US" sz="2400" dirty="0" smtClean="0"/>
              <a:t>代码，实现芯片的功能。</a:t>
            </a:r>
          </a:p>
          <a:p>
            <a:r>
              <a:rPr lang="zh-CN" altLang="en-US" sz="2400" dirty="0" smtClean="0"/>
              <a:t>岗位内容：</a:t>
            </a:r>
            <a:r>
              <a:rPr lang="en-US" altLang="zh-CN" sz="2400" dirty="0" smtClean="0"/>
              <a:t>HDL</a:t>
            </a:r>
            <a:r>
              <a:rPr lang="zh-CN" altLang="en-US" sz="2400" dirty="0" smtClean="0"/>
              <a:t>编码、仿真验证、</a:t>
            </a:r>
            <a:r>
              <a:rPr lang="en-US" altLang="zh-CN" sz="2400" dirty="0" smtClean="0"/>
              <a:t>SDC</a:t>
            </a:r>
            <a:r>
              <a:rPr lang="zh-CN" altLang="en-US" sz="2400" dirty="0" smtClean="0"/>
              <a:t>编写、逻辑综合、</a:t>
            </a:r>
            <a:r>
              <a:rPr lang="en-US" altLang="zh-CN" sz="2400" dirty="0" smtClean="0"/>
              <a:t>STA</a:t>
            </a:r>
            <a:r>
              <a:rPr lang="zh-CN" altLang="en-US" sz="2400" dirty="0" smtClean="0"/>
              <a:t>检查、形式化验证任职要求：熟悉逻辑设计，熟悉数字芯片</a:t>
            </a:r>
            <a:r>
              <a:rPr lang="en-US" altLang="zh-CN" sz="2400" dirty="0" smtClean="0"/>
              <a:t>IP</a:t>
            </a:r>
            <a:r>
              <a:rPr lang="zh-CN" altLang="en-US" sz="2400" dirty="0" smtClean="0"/>
              <a:t>模块，熟练掌握</a:t>
            </a:r>
            <a:r>
              <a:rPr lang="en-US" altLang="zh-CN" sz="2400" dirty="0" err="1" smtClean="0"/>
              <a:t>Verilog</a:t>
            </a:r>
            <a:r>
              <a:rPr lang="en-US" altLang="zh-CN" sz="2400" dirty="0" smtClean="0"/>
              <a:t> HDL</a:t>
            </a:r>
            <a:r>
              <a:rPr lang="zh-CN" altLang="en-US" sz="2400" dirty="0" smtClean="0"/>
              <a:t>语言。微电子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集成电路硕士优先</a:t>
            </a:r>
            <a:endParaRPr lang="zh-CN" altLang="en-US" sz="2400" dirty="0"/>
          </a:p>
        </p:txBody>
      </p:sp>
      <p:sp>
        <p:nvSpPr>
          <p:cNvPr id="11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集成电路人才情况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2806700" y="1137335"/>
            <a:ext cx="8356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/>
              <a:t>芯片设计环节</a:t>
            </a:r>
            <a:r>
              <a:rPr lang="zh-CN" altLang="en-US" sz="3200" dirty="0" smtClean="0"/>
              <a:t> </a:t>
            </a:r>
            <a:r>
              <a:rPr lang="en-US" altLang="zh-CN" sz="3200" dirty="0" smtClean="0"/>
              <a:t>IC Design  </a:t>
            </a:r>
            <a:r>
              <a:rPr lang="zh-CN" altLang="en-US" sz="3200" dirty="0" smtClean="0"/>
              <a:t>（数字）</a:t>
            </a:r>
            <a:r>
              <a:rPr lang="en-US" altLang="zh-CN" dirty="0" smtClean="0"/>
              <a:t> 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11200" y="1777137"/>
            <a:ext cx="110998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功能验证</a:t>
            </a:r>
            <a:r>
              <a:rPr lang="en-US" altLang="zh-CN" sz="2800" b="1" dirty="0" smtClean="0"/>
              <a:t>- DV</a:t>
            </a:r>
            <a:endParaRPr lang="zh-CN" altLang="en-US" sz="2800" dirty="0" smtClean="0"/>
          </a:p>
          <a:p>
            <a:r>
              <a:rPr lang="zh-CN" altLang="en-US" sz="2400" dirty="0" smtClean="0"/>
              <a:t>是保证芯片功能正确性和完整性最关键的环节。功能验证工程师要对</a:t>
            </a:r>
            <a:r>
              <a:rPr lang="en-US" altLang="zh-CN" sz="2400" dirty="0" smtClean="0"/>
              <a:t>RTL</a:t>
            </a:r>
            <a:r>
              <a:rPr lang="zh-CN" altLang="en-US" sz="2400" dirty="0" smtClean="0"/>
              <a:t>代码进⾏</a:t>
            </a:r>
            <a:r>
              <a:rPr lang="en-US" altLang="zh-CN" sz="2400" dirty="0" smtClean="0"/>
              <a:t>EDA</a:t>
            </a:r>
            <a:r>
              <a:rPr lang="zh-CN" altLang="en-US" sz="2400" dirty="0" smtClean="0"/>
              <a:t>仿真，从中发现</a:t>
            </a:r>
            <a:r>
              <a:rPr lang="en-US" altLang="zh-CN" sz="2400" dirty="0" smtClean="0"/>
              <a:t>RTL</a:t>
            </a:r>
            <a:r>
              <a:rPr lang="zh-CN" altLang="en-US" sz="2400" dirty="0" smtClean="0"/>
              <a:t>代码</a:t>
            </a:r>
            <a:r>
              <a:rPr lang="en-US" altLang="zh-CN" sz="2400" dirty="0" smtClean="0"/>
              <a:t>BUG</a:t>
            </a:r>
            <a:r>
              <a:rPr lang="zh-CN" altLang="en-US" sz="2400" dirty="0" smtClean="0"/>
              <a:t>后，再提交设计⼯程师进⾏</a:t>
            </a:r>
            <a:r>
              <a:rPr lang="en-US" altLang="zh-CN" sz="2400" dirty="0" smtClean="0"/>
              <a:t>BUG</a:t>
            </a:r>
            <a:r>
              <a:rPr lang="zh-CN" altLang="en-US" sz="2400" dirty="0" smtClean="0"/>
              <a:t>修复。岗位内容：搭建验证环境、设计测试向量、收集验证覆盖率任职要求：熟练掌握验证工具，需要涉及部分软件编程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711200" y="4190137"/>
            <a:ext cx="11176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/>
              <a:t>DFT</a:t>
            </a:r>
            <a:r>
              <a:rPr lang="zh-CN" altLang="en-US" sz="2800" b="1" dirty="0" smtClean="0"/>
              <a:t>设计</a:t>
            </a:r>
            <a:r>
              <a:rPr lang="en-US" altLang="zh-CN" sz="2800" b="1" dirty="0" smtClean="0"/>
              <a:t>- DFT</a:t>
            </a:r>
            <a:endParaRPr lang="zh-CN" altLang="en-US" sz="2800" dirty="0" smtClean="0"/>
          </a:p>
          <a:p>
            <a:r>
              <a:rPr lang="zh-CN" altLang="en-US" sz="2400" dirty="0" smtClean="0"/>
              <a:t>在设计阶段就考虑到测试阶段，提高芯片流片之后的可测试性。</a:t>
            </a:r>
            <a:r>
              <a:rPr lang="en-US" altLang="zh-CN" sz="2400" dirty="0" smtClean="0"/>
              <a:t>DFT</a:t>
            </a:r>
            <a:r>
              <a:rPr lang="zh-CN" altLang="en-US" sz="2400" dirty="0" smtClean="0"/>
              <a:t>设计工程师对技术广度要求比较高，需要懂设计、懂测试、懂电路。岗位内容：</a:t>
            </a:r>
            <a:r>
              <a:rPr lang="en-US" altLang="zh-CN" sz="2400" dirty="0" smtClean="0"/>
              <a:t>DFT</a:t>
            </a:r>
            <a:r>
              <a:rPr lang="zh-CN" altLang="en-US" sz="2400" dirty="0" smtClean="0"/>
              <a:t>架构定义、</a:t>
            </a:r>
            <a:r>
              <a:rPr lang="en-US" altLang="zh-CN" sz="2400" dirty="0" smtClean="0"/>
              <a:t>DFT</a:t>
            </a:r>
            <a:r>
              <a:rPr lang="zh-CN" altLang="en-US" sz="2400" dirty="0" smtClean="0"/>
              <a:t>电路设计、生成测试向量任职要求：熟悉</a:t>
            </a:r>
            <a:r>
              <a:rPr lang="en-US" altLang="zh-CN" sz="2400" dirty="0" smtClean="0"/>
              <a:t>DFT</a:t>
            </a:r>
            <a:r>
              <a:rPr lang="zh-CN" altLang="en-US" sz="2400" dirty="0" smtClean="0"/>
              <a:t>原理、流程，熟悉相关</a:t>
            </a:r>
            <a:r>
              <a:rPr lang="en-US" altLang="zh-CN" sz="2400" dirty="0" smtClean="0"/>
              <a:t>EDA</a:t>
            </a:r>
            <a:r>
              <a:rPr lang="zh-CN" altLang="en-US" sz="2400" dirty="0" smtClean="0"/>
              <a:t>工具</a:t>
            </a:r>
            <a:endParaRPr lang="zh-CN" altLang="en-US" sz="2400" dirty="0"/>
          </a:p>
        </p:txBody>
      </p:sp>
      <p:sp>
        <p:nvSpPr>
          <p:cNvPr id="10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集成电路人才情况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2806700" y="1137335"/>
            <a:ext cx="8356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/>
              <a:t>芯片设计环节</a:t>
            </a:r>
            <a:r>
              <a:rPr lang="zh-CN" altLang="en-US" sz="3200" dirty="0" smtClean="0"/>
              <a:t> </a:t>
            </a:r>
            <a:r>
              <a:rPr lang="en-US" altLang="zh-CN" sz="3200" dirty="0" smtClean="0"/>
              <a:t>IC Design  </a:t>
            </a:r>
            <a:r>
              <a:rPr lang="zh-CN" altLang="en-US" sz="3200" dirty="0" smtClean="0"/>
              <a:t>（数字）</a:t>
            </a:r>
            <a:r>
              <a:rPr lang="en-US" altLang="zh-CN" dirty="0" smtClean="0"/>
              <a:t> 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711200" y="2337138"/>
            <a:ext cx="111633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后端实现（后端设计）</a:t>
            </a:r>
            <a:r>
              <a:rPr lang="en-US" altLang="zh-CN" sz="2800" b="1" dirty="0" smtClean="0"/>
              <a:t>- PR</a:t>
            </a:r>
            <a:endParaRPr lang="zh-CN" altLang="en-US" sz="2800" dirty="0" smtClean="0"/>
          </a:p>
          <a:p>
            <a:r>
              <a:rPr lang="zh-CN" altLang="en-US" sz="2400" dirty="0" smtClean="0"/>
              <a:t>是连接设计与制造的桥梁，主要是物理设计。后端实现工程师要把验证后的</a:t>
            </a:r>
            <a:r>
              <a:rPr lang="en-US" altLang="zh-CN" sz="2400" dirty="0" smtClean="0"/>
              <a:t>RTL</a:t>
            </a:r>
            <a:r>
              <a:rPr lang="zh-CN" altLang="en-US" sz="2400" dirty="0" smtClean="0"/>
              <a:t>代码转化成门级网表，再通过布局布线、物理验证，最终产⽣供制造⽤的</a:t>
            </a:r>
            <a:r>
              <a:rPr lang="en-US" altLang="zh-CN" sz="2400" dirty="0" smtClean="0"/>
              <a:t>GDSII</a:t>
            </a:r>
            <a:r>
              <a:rPr lang="zh-CN" altLang="en-US" sz="2400" dirty="0" smtClean="0"/>
              <a:t>数据。岗位内容：物理结构分析、逻辑分析、布局布线、版图编辑、版图物理验证任职要求：熟悉后端设计工具，熟悉版图，了解芯片制造工艺</a:t>
            </a:r>
            <a:endParaRPr lang="zh-CN" altLang="en-US" sz="2400" dirty="0"/>
          </a:p>
        </p:txBody>
      </p:sp>
      <p:sp>
        <p:nvSpPr>
          <p:cNvPr id="10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集成电路人才情况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矩形 5"/>
          <p:cNvSpPr/>
          <p:nvPr/>
        </p:nvSpPr>
        <p:spPr>
          <a:xfrm>
            <a:off x="698500" y="1979136"/>
            <a:ext cx="110617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模拟电路设计（模拟设计）</a:t>
            </a:r>
            <a:r>
              <a:rPr lang="en-US" altLang="zh-CN" sz="2800" b="1" dirty="0" smtClean="0"/>
              <a:t>- AD</a:t>
            </a:r>
            <a:endParaRPr lang="zh-CN" altLang="en-US" sz="2800" dirty="0" smtClean="0"/>
          </a:p>
          <a:p>
            <a:r>
              <a:rPr lang="zh-CN" altLang="en-US" sz="2400" dirty="0" smtClean="0"/>
              <a:t>就是通过宏观测量约束子电路的性能而实现电路功能与设计。岗位内容：高层次布局规划、电路设计、仿真优化、版图指导任职要求：熟悉模拟电路原理，熟悉电路单元结构，熟悉半导体器件及工艺，熟练掌握相应</a:t>
            </a:r>
            <a:r>
              <a:rPr lang="en-US" altLang="zh-CN" sz="2400" dirty="0" smtClean="0"/>
              <a:t>EDA</a:t>
            </a:r>
            <a:r>
              <a:rPr lang="zh-CN" altLang="en-US" sz="2400" dirty="0" smtClean="0"/>
              <a:t>工具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723900" y="3848438"/>
            <a:ext cx="108712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模拟版图设计（模拟版图）</a:t>
            </a:r>
            <a:r>
              <a:rPr lang="en-US" altLang="zh-CN" sz="2800" b="1" dirty="0" smtClean="0"/>
              <a:t>- Layout</a:t>
            </a:r>
            <a:endParaRPr lang="zh-CN" altLang="en-US" sz="2800" dirty="0" smtClean="0"/>
          </a:p>
          <a:p>
            <a:r>
              <a:rPr lang="zh-CN" altLang="en-US" sz="2400" dirty="0" smtClean="0"/>
              <a:t>就是把电路语⾔转化成可输出的芯⽚，是连接模拟芯片设计和制造的桥梁。模拟版图工程师要通过</a:t>
            </a:r>
            <a:r>
              <a:rPr lang="en-US" altLang="zh-CN" sz="2400" dirty="0" smtClean="0"/>
              <a:t>EDA</a:t>
            </a:r>
            <a:r>
              <a:rPr lang="zh-CN" altLang="en-US" sz="2400" dirty="0" smtClean="0"/>
              <a:t>设计⼯具，进⾏布局布线等工作，最终⽣成可供芯⽚输出的</a:t>
            </a:r>
            <a:r>
              <a:rPr lang="en-US" altLang="zh-CN" sz="2400" dirty="0" smtClean="0"/>
              <a:t>GDSII</a:t>
            </a:r>
            <a:r>
              <a:rPr lang="zh-CN" altLang="en-US" sz="2400" dirty="0" smtClean="0"/>
              <a:t>数据。岗位内容：物理布局布线、设计规则检查、电路与版图⼀致性检查、寄⽣参数提取及后仿真任职要求：熟练掌握版图设计工具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2984500" y="1200835"/>
            <a:ext cx="8356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/>
              <a:t>芯片设计环节</a:t>
            </a:r>
            <a:r>
              <a:rPr lang="zh-CN" altLang="en-US" sz="3200" dirty="0" smtClean="0"/>
              <a:t> </a:t>
            </a:r>
            <a:r>
              <a:rPr lang="en-US" altLang="zh-CN" sz="3200" dirty="0" smtClean="0"/>
              <a:t>IC Design  </a:t>
            </a:r>
            <a:r>
              <a:rPr lang="zh-CN" altLang="en-US" sz="3200" dirty="0" smtClean="0"/>
              <a:t>（模拟）</a:t>
            </a:r>
            <a:r>
              <a:rPr lang="en-US" altLang="zh-CN" dirty="0" smtClean="0"/>
              <a:t> </a:t>
            </a:r>
            <a:endParaRPr lang="zh-CN" altLang="en-US" dirty="0"/>
          </a:p>
        </p:txBody>
      </p:sp>
      <p:sp>
        <p:nvSpPr>
          <p:cNvPr id="11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集成电路人才情况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矩形 5"/>
          <p:cNvSpPr/>
          <p:nvPr/>
        </p:nvSpPr>
        <p:spPr>
          <a:xfrm>
            <a:off x="4038600" y="1302435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b="1" dirty="0" smtClean="0"/>
              <a:t>芯片制造、封测环节</a:t>
            </a:r>
            <a:r>
              <a:rPr lang="en-US" altLang="zh-CN" sz="3200" dirty="0" smtClean="0"/>
              <a:t> </a:t>
            </a:r>
            <a:endParaRPr lang="en-US" altLang="zh-CN" sz="3200" dirty="0"/>
          </a:p>
        </p:txBody>
      </p:sp>
      <p:sp>
        <p:nvSpPr>
          <p:cNvPr id="7" name="矩形 6"/>
          <p:cNvSpPr/>
          <p:nvPr/>
        </p:nvSpPr>
        <p:spPr>
          <a:xfrm>
            <a:off x="1066800" y="4658836"/>
            <a:ext cx="10668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设备工程师 </a:t>
            </a:r>
            <a:r>
              <a:rPr lang="en-US" altLang="zh-CN" sz="2800" b="1" dirty="0" smtClean="0"/>
              <a:t>- EE</a:t>
            </a:r>
            <a:endParaRPr lang="zh-CN" altLang="en-US" sz="2800" dirty="0" smtClean="0"/>
          </a:p>
          <a:p>
            <a:r>
              <a:rPr lang="zh-CN" altLang="en-US" sz="2400" dirty="0" smtClean="0"/>
              <a:t>需要保证生产设备的正常运转。设备是要日夜持续运转的，所以这个岗位有夜班要求。岗位内容：监控设备运行参数、日常保养设备、解决设备问题、配合工艺提升良率任职要求：相关专业背景，熟悉设备仪器</a:t>
            </a:r>
            <a:endParaRPr lang="zh-CN" altLang="en-US" sz="2400" dirty="0"/>
          </a:p>
        </p:txBody>
      </p:sp>
      <p:sp>
        <p:nvSpPr>
          <p:cNvPr id="11" name="矩形 10"/>
          <p:cNvSpPr/>
          <p:nvPr/>
        </p:nvSpPr>
        <p:spPr>
          <a:xfrm>
            <a:off x="1092200" y="2234337"/>
            <a:ext cx="102997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工艺整合工程师 </a:t>
            </a:r>
            <a:r>
              <a:rPr lang="en-US" altLang="zh-CN" sz="2800" b="1" dirty="0" smtClean="0"/>
              <a:t>- PIE</a:t>
            </a:r>
            <a:endParaRPr lang="zh-CN" altLang="en-US" sz="2800" dirty="0" smtClean="0"/>
          </a:p>
          <a:p>
            <a:r>
              <a:rPr lang="en-US" altLang="zh-CN" sz="2400" dirty="0" smtClean="0"/>
              <a:t>PIE</a:t>
            </a:r>
            <a:r>
              <a:rPr lang="zh-CN" altLang="en-US" sz="2400" dirty="0" smtClean="0"/>
              <a:t>工程师需要针对特定技术节点或特定产品，去解决芯片制造过程中出现的问题。岗位内容：工艺流程的搭建与优化、定义设计规则、监控工艺数据任职要求：精通半导体物理、器件物理，熟悉工艺、沟通协调能力高，擅长问题分析及溯源</a:t>
            </a:r>
            <a:endParaRPr lang="zh-CN" altLang="en-US" sz="2400" dirty="0"/>
          </a:p>
        </p:txBody>
      </p:sp>
      <p:sp>
        <p:nvSpPr>
          <p:cNvPr id="10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集成电路人才情况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矩形 5"/>
          <p:cNvSpPr/>
          <p:nvPr/>
        </p:nvSpPr>
        <p:spPr>
          <a:xfrm>
            <a:off x="4038600" y="1302435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b="1" dirty="0" smtClean="0"/>
              <a:t>芯片制造、封测环节</a:t>
            </a:r>
            <a:r>
              <a:rPr lang="en-US" altLang="zh-CN" sz="3200" dirty="0" smtClean="0"/>
              <a:t> </a:t>
            </a:r>
            <a:endParaRPr lang="en-US" altLang="zh-CN" sz="3200" dirty="0"/>
          </a:p>
        </p:txBody>
      </p:sp>
      <p:sp>
        <p:nvSpPr>
          <p:cNvPr id="10" name="矩形 9"/>
          <p:cNvSpPr/>
          <p:nvPr/>
        </p:nvSpPr>
        <p:spPr>
          <a:xfrm>
            <a:off x="762000" y="2196237"/>
            <a:ext cx="109601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工艺工程师 </a:t>
            </a:r>
            <a:r>
              <a:rPr lang="en-US" altLang="zh-CN" sz="2800" b="1" dirty="0" smtClean="0"/>
              <a:t>- PE</a:t>
            </a:r>
            <a:endParaRPr lang="zh-CN" altLang="en-US" sz="2800" dirty="0" smtClean="0"/>
          </a:p>
          <a:p>
            <a:r>
              <a:rPr lang="zh-CN" altLang="en-US" sz="2400" dirty="0" smtClean="0"/>
              <a:t>也叫单项工艺工程师，需要保证工艺的稳定性。岗位内容：负责芯片制造过程中，氧化、刻蚀、光刻、金属、注入、外延等单项工艺步骤的研发与量产支持。任职要求：精通单项工艺原理、工艺步骤的设备仪器，熟悉工艺研发和量产迁移的科学方法。</a:t>
            </a:r>
            <a:endParaRPr lang="zh-CN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698500" y="4468336"/>
            <a:ext cx="108839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良率工程师 </a:t>
            </a:r>
            <a:r>
              <a:rPr lang="en-US" altLang="zh-CN" sz="2800" b="1" dirty="0" smtClean="0"/>
              <a:t>- YE</a:t>
            </a:r>
            <a:endParaRPr lang="zh-CN" altLang="en-US" sz="2800" dirty="0" smtClean="0"/>
          </a:p>
          <a:p>
            <a:r>
              <a:rPr lang="zh-CN" altLang="en-US" sz="2400" dirty="0" smtClean="0"/>
              <a:t>主要围绕“缺陷分析”和“良率提升”展开工作。岗位内容：研究和监测生产过程中的缺陷产生、消除系统性缺陷、提升芯片良品率任职要求：熟悉工艺流程和缺陷，熟悉统计分析，了解半导体物理，器件物理</a:t>
            </a:r>
            <a:endParaRPr lang="zh-CN" altLang="en-US" sz="2400" dirty="0"/>
          </a:p>
        </p:txBody>
      </p:sp>
      <p:sp>
        <p:nvSpPr>
          <p:cNvPr id="11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集成电路人才情况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矩形 4"/>
          <p:cNvSpPr/>
          <p:nvPr/>
        </p:nvSpPr>
        <p:spPr>
          <a:xfrm>
            <a:off x="939800" y="2196237"/>
            <a:ext cx="1041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质量工程师 </a:t>
            </a:r>
            <a:r>
              <a:rPr lang="en-US" altLang="zh-CN" sz="2800" b="1" dirty="0" smtClean="0"/>
              <a:t>- QE</a:t>
            </a:r>
            <a:endParaRPr lang="zh-CN" altLang="en-US" sz="2800" dirty="0" smtClean="0"/>
          </a:p>
          <a:p>
            <a:r>
              <a:rPr lang="zh-CN" altLang="en-US" sz="2400" dirty="0" smtClean="0"/>
              <a:t>保证制程稳定性和芯片可靠性，需要监督各部门、各环节的生产情况</a:t>
            </a:r>
          </a:p>
          <a:p>
            <a:r>
              <a:rPr lang="zh-CN" altLang="en-US" sz="2400" dirty="0" smtClean="0"/>
              <a:t>岗位内容：可靠性测试、失效分析、质量管理、提供解决方案</a:t>
            </a:r>
          </a:p>
          <a:p>
            <a:r>
              <a:rPr lang="zh-CN" altLang="en-US" sz="2400" dirty="0" smtClean="0"/>
              <a:t>任职要求：熟悉工艺流程、熟练掌握质量分析工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965200" y="4442936"/>
            <a:ext cx="105537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封装工程师</a:t>
            </a:r>
            <a:endParaRPr lang="zh-CN" altLang="en-US" sz="2800" dirty="0" smtClean="0"/>
          </a:p>
          <a:p>
            <a:r>
              <a:rPr lang="zh-CN" altLang="en-US" sz="2400" dirty="0" smtClean="0"/>
              <a:t>需要配合研发团队对芯片进行封装，确保可生产制造性。</a:t>
            </a:r>
          </a:p>
          <a:p>
            <a:r>
              <a:rPr lang="zh-CN" altLang="en-US" sz="2400" dirty="0" smtClean="0"/>
              <a:t>岗位内容：芯片封装设计、维护管理设计文档、优化工艺流程、开发新工艺</a:t>
            </a:r>
          </a:p>
          <a:p>
            <a:r>
              <a:rPr lang="zh-CN" altLang="en-US" sz="2400" dirty="0" smtClean="0"/>
              <a:t>任职要求：了解晶圆制造工艺、封装流程，熟悉</a:t>
            </a:r>
            <a:r>
              <a:rPr lang="en-US" altLang="zh-CN" sz="2400" dirty="0" smtClean="0"/>
              <a:t>EDA</a:t>
            </a:r>
            <a:r>
              <a:rPr lang="zh-CN" altLang="en-US" sz="2400" dirty="0" smtClean="0"/>
              <a:t>工具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038600" y="1302435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b="1" dirty="0" smtClean="0"/>
              <a:t>芯片制造、封测环节</a:t>
            </a:r>
            <a:r>
              <a:rPr lang="en-US" altLang="zh-CN" sz="3200" dirty="0" smtClean="0"/>
              <a:t> </a:t>
            </a:r>
            <a:endParaRPr lang="en-US" altLang="zh-CN" sz="3200" dirty="0"/>
          </a:p>
        </p:txBody>
      </p:sp>
      <p:sp>
        <p:nvSpPr>
          <p:cNvPr id="10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集成电路人才情况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3490928" y="4125580"/>
            <a:ext cx="55260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</a:t>
            </a:r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企面对面互动</a:t>
            </a:r>
            <a:endParaRPr lang="zh-CN" altLang="en-US" sz="4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602064" y="1556951"/>
            <a:ext cx="99578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solidFill>
                  <a:srgbClr val="006095"/>
                </a:solidFill>
                <a:latin typeface="Impact" panose="020B0806030902050204" pitchFamily="34" charset="0"/>
              </a:rPr>
              <a:t>4</a:t>
            </a:r>
            <a:endParaRPr lang="zh-CN" altLang="en-US" sz="16600" dirty="0">
              <a:solidFill>
                <a:srgbClr val="006095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2"/>
          <p:cNvCxnSpPr/>
          <p:nvPr/>
        </p:nvCxnSpPr>
        <p:spPr>
          <a:xfrm>
            <a:off x="0" y="890649"/>
            <a:ext cx="12192000" cy="23751"/>
          </a:xfrm>
          <a:prstGeom prst="line">
            <a:avLst/>
          </a:prstGeom>
          <a:ln w="57150">
            <a:solidFill>
              <a:srgbClr val="0099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7" descr="C:\Users\yq_zheng\AppData\Roaming\Tencent\Users\15348972\QQ\WinTemp\RichOle\}G3SYYE`}5I%ICZ~RD{GW@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60473" y="154379"/>
            <a:ext cx="1750478" cy="665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itle 1"/>
          <p:cNvSpPr txBox="1"/>
          <p:nvPr/>
        </p:nvSpPr>
        <p:spPr>
          <a:xfrm>
            <a:off x="633409" y="372772"/>
            <a:ext cx="6219931" cy="492047"/>
          </a:xfrm>
          <a:prstGeom prst="rect">
            <a:avLst/>
          </a:prstGeom>
        </p:spPr>
        <p:txBody>
          <a:bodyPr vert="horz" lIns="121913" tIns="60956" rIns="121913" bIns="60956" rtlCol="0" anchor="ctr">
            <a:noAutofit/>
          </a:bodyPr>
          <a:lstStyle>
            <a:lvl1pPr algn="ctr" defTabSz="1151890" rtl="0" eaLnBrk="1" latinLnBrk="0" hangingPunct="1">
              <a:spcBef>
                <a:spcPct val="0"/>
              </a:spcBef>
              <a:buNone/>
              <a:defRPr sz="5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1218565"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校企面对面互动</a:t>
            </a:r>
          </a:p>
        </p:txBody>
      </p:sp>
      <p:grpSp>
        <p:nvGrpSpPr>
          <p:cNvPr id="28" name="Group 14">
            <a:extLst>
              <a:ext uri="{FF2B5EF4-FFF2-40B4-BE49-F238E27FC236}">
                <a16:creationId xmlns:a16="http://schemas.microsoft.com/office/drawing/2014/main" xmlns="" id="{2DC950CC-10B8-429F-9267-FBC018FE5B39}"/>
              </a:ext>
            </a:extLst>
          </p:cNvPr>
          <p:cNvGrpSpPr/>
          <p:nvPr/>
        </p:nvGrpSpPr>
        <p:grpSpPr>
          <a:xfrm>
            <a:off x="8340686" y="2120192"/>
            <a:ext cx="1414667" cy="1619124"/>
            <a:chOff x="5379142" y="2991066"/>
            <a:chExt cx="1414667" cy="1619124"/>
          </a:xfrm>
          <a:solidFill>
            <a:srgbClr val="5B9BD5">
              <a:lumMod val="40000"/>
              <a:lumOff val="60000"/>
            </a:srgbClr>
          </a:solidFill>
        </p:grpSpPr>
        <p:sp>
          <p:nvSpPr>
            <p:cNvPr id="29" name="Shape 1723">
              <a:extLst>
                <a:ext uri="{FF2B5EF4-FFF2-40B4-BE49-F238E27FC236}">
                  <a16:creationId xmlns:a16="http://schemas.microsoft.com/office/drawing/2014/main" xmlns="" id="{65014B70-F096-4239-A08D-F1EF0E9F0698}"/>
                </a:ext>
              </a:extLst>
            </p:cNvPr>
            <p:cNvSpPr/>
            <p:nvPr/>
          </p:nvSpPr>
          <p:spPr>
            <a:xfrm rot="18900000">
              <a:off x="5379143" y="2991066"/>
              <a:ext cx="1414666" cy="1414666"/>
            </a:xfrm>
            <a:prstGeom prst="roundRect">
              <a:avLst>
                <a:gd name="adj" fmla="val 15000"/>
              </a:avLst>
            </a:prstGeom>
            <a:grpFill/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30" name="Shape 1726">
              <a:extLst>
                <a:ext uri="{FF2B5EF4-FFF2-40B4-BE49-F238E27FC236}">
                  <a16:creationId xmlns:a16="http://schemas.microsoft.com/office/drawing/2014/main" xmlns="" id="{1BB1763F-CA4F-4773-A0D6-5E036C757900}"/>
                </a:ext>
              </a:extLst>
            </p:cNvPr>
            <p:cNvSpPr/>
            <p:nvPr/>
          </p:nvSpPr>
          <p:spPr>
            <a:xfrm rot="18900000">
              <a:off x="5379142" y="3195523"/>
              <a:ext cx="1414666" cy="1414667"/>
            </a:xfrm>
            <a:prstGeom prst="roundRect">
              <a:avLst>
                <a:gd name="adj" fmla="val 15000"/>
              </a:avLst>
            </a:prstGeom>
            <a:grpFill/>
            <a:ln w="38100" cap="flat">
              <a:solidFill>
                <a:sysClr val="window" lastClr="FFFFFF"/>
              </a:solidFill>
              <a:miter lim="400000"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67733" tIns="67733" rIns="67733" bIns="67733" numCol="1" anchor="ctr">
              <a:noAutofit/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1" name="Group 12">
            <a:extLst>
              <a:ext uri="{FF2B5EF4-FFF2-40B4-BE49-F238E27FC236}">
                <a16:creationId xmlns:a16="http://schemas.microsoft.com/office/drawing/2014/main" xmlns="" id="{1D90E93A-0B22-42F9-BF72-183426FBF4D8}"/>
              </a:ext>
            </a:extLst>
          </p:cNvPr>
          <p:cNvGrpSpPr/>
          <p:nvPr/>
        </p:nvGrpSpPr>
        <p:grpSpPr>
          <a:xfrm>
            <a:off x="2203078" y="2099935"/>
            <a:ext cx="1414667" cy="1619124"/>
            <a:chOff x="3563871" y="3199409"/>
            <a:chExt cx="1414666" cy="1619124"/>
          </a:xfrm>
          <a:solidFill>
            <a:srgbClr val="ED7D31">
              <a:lumMod val="60000"/>
              <a:lumOff val="40000"/>
            </a:srgbClr>
          </a:solidFill>
        </p:grpSpPr>
        <p:sp>
          <p:nvSpPr>
            <p:cNvPr id="32" name="Shape 1722">
              <a:extLst>
                <a:ext uri="{FF2B5EF4-FFF2-40B4-BE49-F238E27FC236}">
                  <a16:creationId xmlns:a16="http://schemas.microsoft.com/office/drawing/2014/main" xmlns="" id="{15034B8B-17D2-4702-A585-B2476C7C8590}"/>
                </a:ext>
              </a:extLst>
            </p:cNvPr>
            <p:cNvSpPr/>
            <p:nvPr/>
          </p:nvSpPr>
          <p:spPr>
            <a:xfrm rot="8100000">
              <a:off x="3563871" y="3403867"/>
              <a:ext cx="1414666" cy="1414666"/>
            </a:xfrm>
            <a:prstGeom prst="roundRect">
              <a:avLst>
                <a:gd name="adj" fmla="val 15000"/>
              </a:avLst>
            </a:prstGeom>
            <a:grpFill/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33" name="Shape 1729">
              <a:extLst>
                <a:ext uri="{FF2B5EF4-FFF2-40B4-BE49-F238E27FC236}">
                  <a16:creationId xmlns:a16="http://schemas.microsoft.com/office/drawing/2014/main" xmlns="" id="{F3FE76B8-EC98-485F-A951-4C636D223839}"/>
                </a:ext>
              </a:extLst>
            </p:cNvPr>
            <p:cNvSpPr/>
            <p:nvPr/>
          </p:nvSpPr>
          <p:spPr>
            <a:xfrm rot="8100000">
              <a:off x="3563871" y="3199409"/>
              <a:ext cx="1414666" cy="1414667"/>
            </a:xfrm>
            <a:prstGeom prst="roundRect">
              <a:avLst>
                <a:gd name="adj" fmla="val 15000"/>
              </a:avLst>
            </a:prstGeom>
            <a:grpFill/>
            <a:ln w="38100" cap="flat">
              <a:solidFill>
                <a:sysClr val="window" lastClr="FFFFFF"/>
              </a:solidFill>
              <a:miter lim="400000"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67733" tIns="67733" rIns="67733" bIns="67733" numCol="1" anchor="ctr">
              <a:noAutofit/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4" name="Group 11">
            <a:extLst>
              <a:ext uri="{FF2B5EF4-FFF2-40B4-BE49-F238E27FC236}">
                <a16:creationId xmlns:a16="http://schemas.microsoft.com/office/drawing/2014/main" xmlns="" id="{855FE6CF-AFC2-475B-996E-98A516500439}"/>
              </a:ext>
            </a:extLst>
          </p:cNvPr>
          <p:cNvGrpSpPr/>
          <p:nvPr/>
        </p:nvGrpSpPr>
        <p:grpSpPr>
          <a:xfrm>
            <a:off x="243476" y="1891592"/>
            <a:ext cx="1414667" cy="1619124"/>
            <a:chOff x="1743076" y="2991066"/>
            <a:chExt cx="1414666" cy="1619124"/>
          </a:xfrm>
          <a:solidFill>
            <a:srgbClr val="5B9BD5">
              <a:lumMod val="40000"/>
              <a:lumOff val="60000"/>
            </a:srgbClr>
          </a:solidFill>
        </p:grpSpPr>
        <p:sp>
          <p:nvSpPr>
            <p:cNvPr id="35" name="Shape 1721">
              <a:extLst>
                <a:ext uri="{FF2B5EF4-FFF2-40B4-BE49-F238E27FC236}">
                  <a16:creationId xmlns:a16="http://schemas.microsoft.com/office/drawing/2014/main" xmlns="" id="{70E05DB2-EC53-4CB7-B94A-0985C43EF6BB}"/>
                </a:ext>
              </a:extLst>
            </p:cNvPr>
            <p:cNvSpPr/>
            <p:nvPr/>
          </p:nvSpPr>
          <p:spPr>
            <a:xfrm rot="18900000">
              <a:off x="1743076" y="2991066"/>
              <a:ext cx="1414666" cy="1414666"/>
            </a:xfrm>
            <a:prstGeom prst="roundRect">
              <a:avLst>
                <a:gd name="adj" fmla="val 15000"/>
              </a:avLst>
            </a:prstGeom>
            <a:grpFill/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36" name="Shape 1732">
              <a:extLst>
                <a:ext uri="{FF2B5EF4-FFF2-40B4-BE49-F238E27FC236}">
                  <a16:creationId xmlns:a16="http://schemas.microsoft.com/office/drawing/2014/main" xmlns="" id="{41CA21ED-C3C8-431F-81F7-9E2314B3F89D}"/>
                </a:ext>
              </a:extLst>
            </p:cNvPr>
            <p:cNvSpPr/>
            <p:nvPr/>
          </p:nvSpPr>
          <p:spPr>
            <a:xfrm rot="18900000">
              <a:off x="1743076" y="3195523"/>
              <a:ext cx="1414666" cy="1414667"/>
            </a:xfrm>
            <a:prstGeom prst="roundRect">
              <a:avLst>
                <a:gd name="adj" fmla="val 15000"/>
              </a:avLst>
            </a:prstGeom>
            <a:grpFill/>
            <a:ln w="50800" cap="flat">
              <a:solidFill>
                <a:sysClr val="window" lastClr="FFFFFF"/>
              </a:solidFill>
              <a:miter lim="400000"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67733" tIns="67733" rIns="67733" bIns="67733" numCol="1" anchor="ctr">
              <a:noAutofit/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7" name="Group 15">
            <a:extLst>
              <a:ext uri="{FF2B5EF4-FFF2-40B4-BE49-F238E27FC236}">
                <a16:creationId xmlns:a16="http://schemas.microsoft.com/office/drawing/2014/main" xmlns="" id="{010FEE27-C71E-4228-8B64-7F8154A72A3C}"/>
              </a:ext>
            </a:extLst>
          </p:cNvPr>
          <p:cNvGrpSpPr/>
          <p:nvPr/>
        </p:nvGrpSpPr>
        <p:grpSpPr>
          <a:xfrm>
            <a:off x="6270617" y="2179489"/>
            <a:ext cx="1414667" cy="1619125"/>
            <a:chOff x="7199937" y="3199409"/>
            <a:chExt cx="1414666" cy="1619125"/>
          </a:xfrm>
          <a:solidFill>
            <a:srgbClr val="F76D6D"/>
          </a:solidFill>
        </p:grpSpPr>
        <p:sp>
          <p:nvSpPr>
            <p:cNvPr id="39" name="Shape 1724">
              <a:extLst>
                <a:ext uri="{FF2B5EF4-FFF2-40B4-BE49-F238E27FC236}">
                  <a16:creationId xmlns:a16="http://schemas.microsoft.com/office/drawing/2014/main" xmlns="" id="{A0F71CCC-BD2B-4AC6-A0A0-33BAFD3C32B2}"/>
                </a:ext>
              </a:extLst>
            </p:cNvPr>
            <p:cNvSpPr/>
            <p:nvPr/>
          </p:nvSpPr>
          <p:spPr>
            <a:xfrm rot="8100000">
              <a:off x="7199937" y="3403868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FFC000">
                <a:lumMod val="60000"/>
                <a:lumOff val="40000"/>
              </a:srgbClr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40" name="Shape 1735">
              <a:extLst>
                <a:ext uri="{FF2B5EF4-FFF2-40B4-BE49-F238E27FC236}">
                  <a16:creationId xmlns:a16="http://schemas.microsoft.com/office/drawing/2014/main" xmlns="" id="{C1DC7AEC-38B7-40A1-9E36-107D98128ABF}"/>
                </a:ext>
              </a:extLst>
            </p:cNvPr>
            <p:cNvSpPr/>
            <p:nvPr/>
          </p:nvSpPr>
          <p:spPr>
            <a:xfrm rot="8100000">
              <a:off x="7199937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rgbClr val="FFC000">
                <a:lumMod val="60000"/>
                <a:lumOff val="40000"/>
              </a:srgbClr>
            </a:solidFill>
            <a:ln w="38100" cap="flat">
              <a:solidFill>
                <a:sysClr val="window" lastClr="FFFFFF"/>
              </a:solidFill>
              <a:miter lim="400000"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67733" tIns="67733" rIns="67733" bIns="67733" numCol="1" anchor="ctr">
              <a:noAutofit/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41" name="Text Placeholder 4">
            <a:extLst>
              <a:ext uri="{FF2B5EF4-FFF2-40B4-BE49-F238E27FC236}">
                <a16:creationId xmlns:a16="http://schemas.microsoft.com/office/drawing/2014/main" xmlns="" id="{7A1A0065-9B26-4C2D-AD47-FE907D5BFB95}"/>
              </a:ext>
            </a:extLst>
          </p:cNvPr>
          <p:cNvSpPr txBox="1">
            <a:spLocks/>
          </p:cNvSpPr>
          <p:nvPr/>
        </p:nvSpPr>
        <p:spPr>
          <a:xfrm>
            <a:off x="345400" y="2669499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219170">
              <a:buNone/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亿智</a:t>
            </a:r>
            <a:endParaRPr lang="en-GB" altLang="zh-CN" sz="4000" b="1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xmlns="" id="{9F2A5CF3-3D30-463B-B474-945713469C7D}"/>
              </a:ext>
            </a:extLst>
          </p:cNvPr>
          <p:cNvSpPr txBox="1">
            <a:spLocks/>
          </p:cNvSpPr>
          <p:nvPr/>
        </p:nvSpPr>
        <p:spPr>
          <a:xfrm>
            <a:off x="2358096" y="2708600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219170">
              <a:buNone/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海奇</a:t>
            </a:r>
            <a:endParaRPr lang="en-US" altLang="zh-CN" sz="4000" b="1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xmlns="" id="{61284E41-F81E-48D0-A6A9-6D1FCCFB79F0}"/>
              </a:ext>
            </a:extLst>
          </p:cNvPr>
          <p:cNvSpPr txBox="1">
            <a:spLocks/>
          </p:cNvSpPr>
          <p:nvPr/>
        </p:nvSpPr>
        <p:spPr>
          <a:xfrm>
            <a:off x="8441896" y="2898099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219170">
              <a:buNone/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正和微</a:t>
            </a:r>
            <a:endParaRPr lang="en-GB" altLang="zh-CN" sz="4000" b="1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xmlns="" id="{C6C8BB63-83BA-4678-82CA-3DF889827983}"/>
              </a:ext>
            </a:extLst>
          </p:cNvPr>
          <p:cNvSpPr txBox="1">
            <a:spLocks/>
          </p:cNvSpPr>
          <p:nvPr/>
        </p:nvSpPr>
        <p:spPr>
          <a:xfrm>
            <a:off x="6369066" y="2771099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219170">
              <a:buNone/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巨晟</a:t>
            </a:r>
            <a:endParaRPr lang="en-GB" altLang="zh-CN" sz="4000" b="1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grpSp>
        <p:nvGrpSpPr>
          <p:cNvPr id="45" name="Group 14">
            <a:extLst>
              <a:ext uri="{FF2B5EF4-FFF2-40B4-BE49-F238E27FC236}">
                <a16:creationId xmlns:a16="http://schemas.microsoft.com/office/drawing/2014/main" xmlns="" id="{2DC950CC-10B8-429F-9267-FBC018FE5B39}"/>
              </a:ext>
            </a:extLst>
          </p:cNvPr>
          <p:cNvGrpSpPr/>
          <p:nvPr/>
        </p:nvGrpSpPr>
        <p:grpSpPr>
          <a:xfrm>
            <a:off x="4264021" y="2094040"/>
            <a:ext cx="1414667" cy="1619124"/>
            <a:chOff x="5379142" y="2991066"/>
            <a:chExt cx="1414667" cy="1619124"/>
          </a:xfrm>
          <a:solidFill>
            <a:srgbClr val="5B9BD5">
              <a:lumMod val="40000"/>
              <a:lumOff val="60000"/>
            </a:srgbClr>
          </a:solidFill>
        </p:grpSpPr>
        <p:sp>
          <p:nvSpPr>
            <p:cNvPr id="46" name="Shape 1723">
              <a:extLst>
                <a:ext uri="{FF2B5EF4-FFF2-40B4-BE49-F238E27FC236}">
                  <a16:creationId xmlns:a16="http://schemas.microsoft.com/office/drawing/2014/main" xmlns="" id="{65014B70-F096-4239-A08D-F1EF0E9F0698}"/>
                </a:ext>
              </a:extLst>
            </p:cNvPr>
            <p:cNvSpPr/>
            <p:nvPr/>
          </p:nvSpPr>
          <p:spPr>
            <a:xfrm rot="18900000">
              <a:off x="5379143" y="2991066"/>
              <a:ext cx="1414666" cy="1414666"/>
            </a:xfrm>
            <a:prstGeom prst="roundRect">
              <a:avLst>
                <a:gd name="adj" fmla="val 15000"/>
              </a:avLst>
            </a:prstGeom>
            <a:grpFill/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47" name="Shape 1726">
              <a:extLst>
                <a:ext uri="{FF2B5EF4-FFF2-40B4-BE49-F238E27FC236}">
                  <a16:creationId xmlns:a16="http://schemas.microsoft.com/office/drawing/2014/main" xmlns="" id="{1BB1763F-CA4F-4773-A0D6-5E036C757900}"/>
                </a:ext>
              </a:extLst>
            </p:cNvPr>
            <p:cNvSpPr/>
            <p:nvPr/>
          </p:nvSpPr>
          <p:spPr>
            <a:xfrm rot="18900000">
              <a:off x="5379142" y="3195523"/>
              <a:ext cx="1414666" cy="1414667"/>
            </a:xfrm>
            <a:prstGeom prst="roundRect">
              <a:avLst>
                <a:gd name="adj" fmla="val 15000"/>
              </a:avLst>
            </a:prstGeom>
            <a:grpFill/>
            <a:ln w="38100" cap="flat">
              <a:solidFill>
                <a:sysClr val="window" lastClr="FFFFFF"/>
              </a:solidFill>
              <a:miter lim="400000"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67733" tIns="67733" rIns="67733" bIns="67733" numCol="1" anchor="ctr">
              <a:noAutofit/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48" name="Text Placeholder 4">
            <a:extLst>
              <a:ext uri="{FF2B5EF4-FFF2-40B4-BE49-F238E27FC236}">
                <a16:creationId xmlns:a16="http://schemas.microsoft.com/office/drawing/2014/main" xmlns="" id="{61284E41-F81E-48D0-A6A9-6D1FCCFB79F0}"/>
              </a:ext>
            </a:extLst>
          </p:cNvPr>
          <p:cNvSpPr txBox="1">
            <a:spLocks/>
          </p:cNvSpPr>
          <p:nvPr/>
        </p:nvSpPr>
        <p:spPr>
          <a:xfrm>
            <a:off x="4365231" y="2871947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219170">
              <a:buNone/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泰芯</a:t>
            </a:r>
            <a:endParaRPr lang="en-GB" altLang="zh-CN" sz="4000" b="1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grpSp>
        <p:nvGrpSpPr>
          <p:cNvPr id="54" name="Group 15">
            <a:extLst>
              <a:ext uri="{FF2B5EF4-FFF2-40B4-BE49-F238E27FC236}">
                <a16:creationId xmlns:a16="http://schemas.microsoft.com/office/drawing/2014/main" xmlns="" id="{010FEE27-C71E-4228-8B64-7F8154A72A3C}"/>
              </a:ext>
            </a:extLst>
          </p:cNvPr>
          <p:cNvGrpSpPr/>
          <p:nvPr/>
        </p:nvGrpSpPr>
        <p:grpSpPr>
          <a:xfrm>
            <a:off x="10334617" y="2319189"/>
            <a:ext cx="1414667" cy="1619125"/>
            <a:chOff x="7199937" y="3199409"/>
            <a:chExt cx="1414666" cy="1619125"/>
          </a:xfrm>
          <a:solidFill>
            <a:srgbClr val="F76D6D"/>
          </a:solidFill>
        </p:grpSpPr>
        <p:sp>
          <p:nvSpPr>
            <p:cNvPr id="55" name="Shape 1724">
              <a:extLst>
                <a:ext uri="{FF2B5EF4-FFF2-40B4-BE49-F238E27FC236}">
                  <a16:creationId xmlns:a16="http://schemas.microsoft.com/office/drawing/2014/main" xmlns="" id="{A0F71CCC-BD2B-4AC6-A0A0-33BAFD3C32B2}"/>
                </a:ext>
              </a:extLst>
            </p:cNvPr>
            <p:cNvSpPr/>
            <p:nvPr/>
          </p:nvSpPr>
          <p:spPr>
            <a:xfrm rot="8100000">
              <a:off x="7199937" y="3403868"/>
              <a:ext cx="1414666" cy="1414666"/>
            </a:xfrm>
            <a:prstGeom prst="roundRect">
              <a:avLst>
                <a:gd name="adj" fmla="val 15000"/>
              </a:avLst>
            </a:prstGeom>
            <a:solidFill>
              <a:srgbClr val="FFC000">
                <a:lumMod val="60000"/>
                <a:lumOff val="40000"/>
              </a:srgbClr>
            </a:solidFill>
            <a:ln w="12700">
              <a:miter lim="400000"/>
            </a:ln>
          </p:spPr>
          <p:txBody>
            <a:bodyPr lIns="67733" tIns="67733" rIns="67733" bIns="67733" anchor="ctr"/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  <p:sp>
          <p:nvSpPr>
            <p:cNvPr id="56" name="Shape 1735">
              <a:extLst>
                <a:ext uri="{FF2B5EF4-FFF2-40B4-BE49-F238E27FC236}">
                  <a16:creationId xmlns:a16="http://schemas.microsoft.com/office/drawing/2014/main" xmlns="" id="{C1DC7AEC-38B7-40A1-9E36-107D98128ABF}"/>
                </a:ext>
              </a:extLst>
            </p:cNvPr>
            <p:cNvSpPr/>
            <p:nvPr/>
          </p:nvSpPr>
          <p:spPr>
            <a:xfrm rot="8100000">
              <a:off x="7199937" y="3199409"/>
              <a:ext cx="1414666" cy="1414667"/>
            </a:xfrm>
            <a:prstGeom prst="roundRect">
              <a:avLst>
                <a:gd name="adj" fmla="val 15000"/>
              </a:avLst>
            </a:prstGeom>
            <a:solidFill>
              <a:srgbClr val="FFC000">
                <a:lumMod val="60000"/>
                <a:lumOff val="40000"/>
              </a:srgbClr>
            </a:solidFill>
            <a:ln w="38100" cap="flat">
              <a:solidFill>
                <a:sysClr val="window" lastClr="FFFFFF"/>
              </a:solidFill>
              <a:miter lim="400000"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lIns="67733" tIns="67733" rIns="67733" bIns="67733" numCol="1" anchor="ctr">
              <a:noAutofit/>
            </a:bodyPr>
            <a:lstStyle/>
            <a:p>
              <a:pPr marL="0" marR="0" lvl="0" indent="0" defTabSz="1219170" eaLnBrk="1" fontAlgn="auto" latinLnBrk="0" hangingPunct="1">
                <a:lnSpc>
                  <a:spcPct val="100000"/>
                </a:lnSpc>
                <a:spcBef>
                  <a:spcPts val="4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latin typeface="Aller Light"/>
                  <a:ea typeface="Aller Light"/>
                  <a:cs typeface="Aller Light"/>
                  <a:sym typeface="Aller Light"/>
                </a:defRPr>
              </a:pPr>
              <a:endParaRPr kumimoji="0" sz="333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57" name="Text Placeholder 4">
            <a:extLst>
              <a:ext uri="{FF2B5EF4-FFF2-40B4-BE49-F238E27FC236}">
                <a16:creationId xmlns:a16="http://schemas.microsoft.com/office/drawing/2014/main" xmlns="" id="{C6C8BB63-83BA-4678-82CA-3DF889827983}"/>
              </a:ext>
            </a:extLst>
          </p:cNvPr>
          <p:cNvSpPr txBox="1">
            <a:spLocks/>
          </p:cNvSpPr>
          <p:nvPr/>
        </p:nvSpPr>
        <p:spPr>
          <a:xfrm>
            <a:off x="10433066" y="2910799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1219170">
              <a:buNone/>
              <a:defRPr/>
            </a:pP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  <a:cs typeface="+mn-ea"/>
                <a:sym typeface="+mn-lt"/>
              </a:rPr>
              <a:t>昇生微</a:t>
            </a:r>
            <a:endParaRPr lang="en-GB" altLang="zh-CN" sz="4000" b="1" dirty="0">
              <a:latin typeface="微软雅黑" pitchFamily="34" charset="-122"/>
              <a:ea typeface="微软雅黑" pitchFamily="34" charset="-122"/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175000" y="4452035"/>
            <a:ext cx="584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 smtClean="0"/>
              <a:t>企业情况</a:t>
            </a:r>
            <a:r>
              <a:rPr lang="en-US" altLang="zh-CN" sz="4000" b="1" dirty="0" smtClean="0"/>
              <a:t>&amp;</a:t>
            </a:r>
            <a:r>
              <a:rPr lang="zh-CN" altLang="en-US" sz="4000" b="1" dirty="0" smtClean="0"/>
              <a:t>岗位需求情况</a:t>
            </a:r>
            <a:r>
              <a:rPr lang="en-US" altLang="zh-CN" sz="3200" dirty="0" smtClean="0"/>
              <a:t> </a:t>
            </a:r>
            <a:endParaRPr lang="en-US" altLang="zh-CN" sz="3200" dirty="0"/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4217421" y="3374869"/>
            <a:ext cx="38209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交流</a:t>
            </a:r>
            <a:r>
              <a:rPr lang="en-US" altLang="zh-CN" sz="5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5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答疑</a:t>
            </a:r>
            <a:endParaRPr lang="pt-BR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5037.pptx"/>
</p:tagLst>
</file>

<file path=ppt/theme/theme1.xml><?xml version="1.0" encoding="utf-8"?>
<a:theme xmlns:a="http://schemas.openxmlformats.org/drawingml/2006/main" name="Office 主题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C333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Constantia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1123</Words>
  <Application>Microsoft Office PowerPoint</Application>
  <PresentationFormat>自定义</PresentationFormat>
  <Paragraphs>176</Paragraphs>
  <Slides>33</Slides>
  <Notes>33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35" baseType="lpstr">
      <vt:lpstr>Office 主题</vt:lpstr>
      <vt:lpstr>Office 主题​​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IC介绍</dc:title>
  <dc:subject>培训</dc:subject>
  <dc:creator/>
  <cp:lastModifiedBy/>
  <cp:revision>1</cp:revision>
  <dcterms:created xsi:type="dcterms:W3CDTF">2017-04-11T15:39:43Z</dcterms:created>
  <dcterms:modified xsi:type="dcterms:W3CDTF">2023-06-14T13:12:16Z</dcterms:modified>
</cp:coreProperties>
</file>