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3" r:id="rId3"/>
    <p:sldMasterId id="2147483685" r:id="rId4"/>
  </p:sldMasterIdLst>
  <p:notesMasterIdLst>
    <p:notesMasterId r:id="rId26"/>
  </p:notesMasterIdLst>
  <p:sldIdLst>
    <p:sldId id="257" r:id="rId5"/>
    <p:sldId id="258" r:id="rId6"/>
    <p:sldId id="358" r:id="rId7"/>
    <p:sldId id="277" r:id="rId8"/>
    <p:sldId id="341" r:id="rId9"/>
    <p:sldId id="315" r:id="rId10"/>
    <p:sldId id="363" r:id="rId11"/>
    <p:sldId id="348" r:id="rId12"/>
    <p:sldId id="342" r:id="rId13"/>
    <p:sldId id="343" r:id="rId14"/>
    <p:sldId id="345" r:id="rId15"/>
    <p:sldId id="359" r:id="rId16"/>
    <p:sldId id="346" r:id="rId17"/>
    <p:sldId id="360" r:id="rId18"/>
    <p:sldId id="361" r:id="rId19"/>
    <p:sldId id="347" r:id="rId20"/>
    <p:sldId id="362" r:id="rId21"/>
    <p:sldId id="356" r:id="rId22"/>
    <p:sldId id="349" r:id="rId23"/>
    <p:sldId id="350" r:id="rId24"/>
    <p:sldId id="275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>
          <p15:clr>
            <a:srgbClr val="A4A3A4"/>
          </p15:clr>
        </p15:guide>
        <p15:guide id="2" pos="3807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小凤" initials="张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82" y="114"/>
      </p:cViewPr>
      <p:guideLst>
        <p:guide orient="horz" pos="2137"/>
        <p:guide pos="38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DCF33-B22A-4FE9-8D7D-67A52490DBA9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48359D-01A7-4A18-AD9D-46F04F4A12C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8359D-01A7-4A18-AD9D-46F04F4A12C6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0CDE5-F0F2-4811-AF7F-9EBBDE1C973C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0B30D-3D34-485A-B84F-DD260DB3793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1863304"/>
            <a:ext cx="12192000" cy="4994696"/>
            <a:chOff x="0" y="0"/>
            <a:chExt cx="12192000" cy="4994696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2" cstate="print"/>
            <a:srcRect t="10904" r="2328" b="17962"/>
            <a:stretch>
              <a:fillRect/>
            </a:stretch>
          </p:blipFill>
          <p:spPr>
            <a:xfrm>
              <a:off x="0" y="0"/>
              <a:ext cx="12192000" cy="4994696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112135">
              <a:off x="5583873" y="2183047"/>
              <a:ext cx="1195701" cy="1257250"/>
            </a:xfrm>
            <a:prstGeom prst="rect">
              <a:avLst/>
            </a:prstGeom>
            <a:effectLst>
              <a:outerShdw blurRad="152400" dist="317500" dir="5400000" sx="90000" sy="-19000" rotWithShape="0">
                <a:schemeClr val="bg1">
                  <a:lumMod val="95000"/>
                  <a:alpha val="15000"/>
                </a:schemeClr>
              </a:outerShdw>
            </a:effectLst>
          </p:spPr>
        </p:pic>
      </p:grpSp>
      <p:sp>
        <p:nvSpPr>
          <p:cNvPr id="10" name="矩形 9"/>
          <p:cNvSpPr/>
          <p:nvPr userDrawn="1"/>
        </p:nvSpPr>
        <p:spPr>
          <a:xfrm>
            <a:off x="0" y="0"/>
            <a:ext cx="12192000" cy="6000750"/>
          </a:xfrm>
          <a:prstGeom prst="rect">
            <a:avLst/>
          </a:prstGeom>
          <a:gradFill flip="none" rotWithShape="1">
            <a:gsLst>
              <a:gs pos="48000">
                <a:schemeClr val="tx1"/>
              </a:gs>
              <a:gs pos="62000">
                <a:schemeClr val="tx1">
                  <a:alpha val="78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0" y="-18167"/>
            <a:ext cx="6438900" cy="6876167"/>
            <a:chOff x="0" y="-18167"/>
            <a:chExt cx="6438900" cy="6876167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2" cstate="print"/>
            <a:srcRect l="27609" r="21146" b="2709"/>
            <a:stretch>
              <a:fillRect/>
            </a:stretch>
          </p:blipFill>
          <p:spPr>
            <a:xfrm>
              <a:off x="0" y="-18167"/>
              <a:ext cx="6438900" cy="6876167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161081">
              <a:off x="2066580" y="2905319"/>
              <a:ext cx="1195701" cy="1257250"/>
            </a:xfrm>
            <a:prstGeom prst="rect">
              <a:avLst/>
            </a:prstGeom>
            <a:effectLst>
              <a:outerShdw blurRad="152400" dist="317500" dir="5400000" sx="90000" sy="-19000" rotWithShape="0">
                <a:schemeClr val="bg1">
                  <a:lumMod val="95000"/>
                  <a:alpha val="15000"/>
                </a:schemeClr>
              </a:outerShdw>
            </a:effectLst>
          </p:spPr>
        </p:pic>
      </p:grpSp>
      <p:sp>
        <p:nvSpPr>
          <p:cNvPr id="10" name="矩形 9"/>
          <p:cNvSpPr/>
          <p:nvPr userDrawn="1"/>
        </p:nvSpPr>
        <p:spPr>
          <a:xfrm rot="5400000">
            <a:off x="2664143" y="-2664143"/>
            <a:ext cx="6863704" cy="12191990"/>
          </a:xfrm>
          <a:prstGeom prst="rect">
            <a:avLst/>
          </a:prstGeom>
          <a:gradFill flip="none" rotWithShape="1">
            <a:gsLst>
              <a:gs pos="48000">
                <a:schemeClr val="tx1"/>
              </a:gs>
              <a:gs pos="62000">
                <a:schemeClr val="tx1">
                  <a:alpha val="78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540000" cy="54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28162" y="-31066"/>
            <a:ext cx="587142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0" y="531857"/>
            <a:ext cx="12192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0" y="6440192"/>
            <a:ext cx="12203970" cy="2380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 userDrawn="1"/>
        </p:nvSpPr>
        <p:spPr>
          <a:xfrm>
            <a:off x="28162" y="6491513"/>
            <a:ext cx="2549400" cy="338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珠海海奇半导体有限公司</a:t>
            </a: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40791" y="3035"/>
            <a:ext cx="446143" cy="50342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540000" cy="54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28162" y="-31066"/>
            <a:ext cx="587142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0" y="531857"/>
            <a:ext cx="12192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0" y="6440192"/>
            <a:ext cx="12203970" cy="2380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 userDrawn="1"/>
        </p:nvSpPr>
        <p:spPr>
          <a:xfrm>
            <a:off x="28162" y="6491513"/>
            <a:ext cx="2549400" cy="338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珠海海奇半导体有限公司</a:t>
            </a:r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40791" y="3035"/>
            <a:ext cx="446143" cy="503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540000" cy="54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28162" y="-31066"/>
            <a:ext cx="587142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531857"/>
            <a:ext cx="12192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/>
        </p:nvCxnSpPr>
        <p:spPr>
          <a:xfrm>
            <a:off x="0" y="6440192"/>
            <a:ext cx="12203970" cy="2380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 userDrawn="1"/>
        </p:nvSpPr>
        <p:spPr>
          <a:xfrm>
            <a:off x="28162" y="6491513"/>
            <a:ext cx="2549400" cy="338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珠海海奇半导体有限公司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40791" y="3035"/>
            <a:ext cx="446143" cy="503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540000" cy="54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 userDrawn="1"/>
        </p:nvSpPr>
        <p:spPr>
          <a:xfrm>
            <a:off x="28162" y="-31066"/>
            <a:ext cx="587142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531857"/>
            <a:ext cx="12192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/>
        </p:nvCxnSpPr>
        <p:spPr>
          <a:xfrm>
            <a:off x="0" y="6440192"/>
            <a:ext cx="12203970" cy="2380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 userDrawn="1"/>
        </p:nvSpPr>
        <p:spPr>
          <a:xfrm>
            <a:off x="28162" y="6491513"/>
            <a:ext cx="2549400" cy="338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珠海海奇半导体有限公司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40791" y="3035"/>
            <a:ext cx="446143" cy="503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0" y="-12098"/>
            <a:ext cx="540000" cy="54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6" name="文本框 11"/>
          <p:cNvSpPr txBox="1"/>
          <p:nvPr userDrawn="1"/>
        </p:nvSpPr>
        <p:spPr>
          <a:xfrm>
            <a:off x="28162" y="-43164"/>
            <a:ext cx="587142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0" y="519759"/>
            <a:ext cx="12192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0" y="6428094"/>
            <a:ext cx="12203970" cy="2380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4"/>
          <p:cNvSpPr txBox="1"/>
          <p:nvPr userDrawn="1"/>
        </p:nvSpPr>
        <p:spPr>
          <a:xfrm>
            <a:off x="28162" y="6479415"/>
            <a:ext cx="2549400" cy="3384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lnSpc>
                <a:spcPct val="100000"/>
              </a:lnSpc>
            </a:pP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珠海海奇半导体有限公司</a:t>
            </a: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40791" y="-9063"/>
            <a:ext cx="446143" cy="503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-5985" y="-3216"/>
            <a:ext cx="540000" cy="54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文本框 11"/>
          <p:cNvSpPr txBox="1"/>
          <p:nvPr userDrawn="1"/>
        </p:nvSpPr>
        <p:spPr>
          <a:xfrm>
            <a:off x="22177" y="-34282"/>
            <a:ext cx="587142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-5985" y="528641"/>
            <a:ext cx="12192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-5985" y="6436976"/>
            <a:ext cx="12203970" cy="2380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4"/>
          <p:cNvSpPr txBox="1"/>
          <p:nvPr userDrawn="1"/>
        </p:nvSpPr>
        <p:spPr>
          <a:xfrm>
            <a:off x="22177" y="6488297"/>
            <a:ext cx="2549400" cy="3384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lnSpc>
                <a:spcPct val="100000"/>
              </a:lnSpc>
            </a:pP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珠海海奇半导体有限公司</a:t>
            </a: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34806" y="-181"/>
            <a:ext cx="446143" cy="503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5985" y="-3216"/>
            <a:ext cx="540000" cy="54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文本框 11"/>
          <p:cNvSpPr txBox="1"/>
          <p:nvPr userDrawn="1"/>
        </p:nvSpPr>
        <p:spPr>
          <a:xfrm>
            <a:off x="22177" y="-34282"/>
            <a:ext cx="587142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-5985" y="528641"/>
            <a:ext cx="12192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>
            <a:off x="-5985" y="6436976"/>
            <a:ext cx="12203970" cy="2380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4"/>
          <p:cNvSpPr txBox="1"/>
          <p:nvPr userDrawn="1"/>
        </p:nvSpPr>
        <p:spPr>
          <a:xfrm>
            <a:off x="22177" y="6488297"/>
            <a:ext cx="2549400" cy="3384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lnSpc>
                <a:spcPct val="100000"/>
              </a:lnSpc>
            </a:pP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珠海海奇半导体有限公司</a:t>
            </a: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34806" y="-181"/>
            <a:ext cx="446143" cy="503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5985" y="-3216"/>
            <a:ext cx="540000" cy="54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文本框 11"/>
          <p:cNvSpPr txBox="1"/>
          <p:nvPr userDrawn="1"/>
        </p:nvSpPr>
        <p:spPr>
          <a:xfrm>
            <a:off x="22177" y="-34282"/>
            <a:ext cx="587142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-5985" y="528641"/>
            <a:ext cx="12192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 userDrawn="1"/>
        </p:nvCxnSpPr>
        <p:spPr>
          <a:xfrm>
            <a:off x="-5985" y="6436976"/>
            <a:ext cx="12203970" cy="2380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4"/>
          <p:cNvSpPr txBox="1"/>
          <p:nvPr userDrawn="1"/>
        </p:nvSpPr>
        <p:spPr>
          <a:xfrm>
            <a:off x="22177" y="6488297"/>
            <a:ext cx="2549400" cy="3384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lnSpc>
                <a:spcPct val="100000"/>
              </a:lnSpc>
            </a:pP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珠海海奇半导体有限公司</a:t>
            </a: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34806" y="-181"/>
            <a:ext cx="446143" cy="503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/>
        </p:nvSpPr>
        <p:spPr>
          <a:xfrm>
            <a:off x="-5985" y="-3216"/>
            <a:ext cx="540000" cy="54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5" name="文本框 11"/>
          <p:cNvSpPr txBox="1"/>
          <p:nvPr userDrawn="1"/>
        </p:nvSpPr>
        <p:spPr>
          <a:xfrm>
            <a:off x="22177" y="-34282"/>
            <a:ext cx="587142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-5985" y="528641"/>
            <a:ext cx="121920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 userDrawn="1"/>
        </p:nvCxnSpPr>
        <p:spPr>
          <a:xfrm>
            <a:off x="-5985" y="6436976"/>
            <a:ext cx="12203970" cy="23801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4"/>
          <p:cNvSpPr txBox="1"/>
          <p:nvPr userDrawn="1"/>
        </p:nvSpPr>
        <p:spPr>
          <a:xfrm>
            <a:off x="22177" y="6488297"/>
            <a:ext cx="2549400" cy="3384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>
              <a:lnSpc>
                <a:spcPct val="100000"/>
              </a:lnSpc>
            </a:pPr>
            <a:r>
              <a:rPr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珠海海奇半导体有限公司</a:t>
            </a:r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734806" y="-181"/>
            <a:ext cx="446143" cy="5034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5E919-DA01-4C45-A52D-4544C365A6B2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EE2B-5929-486B-B269-05647122C4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5E919-DA01-4C45-A52D-4544C365A6B2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EE2B-5929-486B-B269-05647122C4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5E919-DA01-4C45-A52D-4544C365A6B2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EE2B-5929-486B-B269-05647122C4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5E919-DA01-4C45-A52D-4544C365A6B2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EE2B-5929-486B-B269-05647122C4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/>
        </p:nvGrpSpPr>
        <p:grpSpPr>
          <a:xfrm>
            <a:off x="0" y="0"/>
            <a:ext cx="12192000" cy="6134100"/>
            <a:chOff x="0" y="457200"/>
            <a:chExt cx="12192000" cy="6134100"/>
          </a:xfrm>
        </p:grpSpPr>
        <p:pic>
          <p:nvPicPr>
            <p:cNvPr id="5124" name="Picture 4" descr="查看源图像"/>
            <p:cNvPicPr>
              <a:picLocks noChangeAspect="1" noChangeArrowheads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856" b="16106"/>
            <a:stretch>
              <a:fillRect/>
            </a:stretch>
          </p:blipFill>
          <p:spPr bwMode="auto">
            <a:xfrm>
              <a:off x="0" y="457200"/>
              <a:ext cx="12192000" cy="61341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53242" y="2876550"/>
              <a:ext cx="1539979" cy="1619250"/>
            </a:xfrm>
            <a:prstGeom prst="rect">
              <a:avLst/>
            </a:prstGeom>
            <a:effectLst>
              <a:outerShdw blurRad="152400" dist="317500" dir="5400000" sx="90000" sy="-19000" rotWithShape="0">
                <a:schemeClr val="bg1">
                  <a:lumMod val="95000"/>
                  <a:alpha val="15000"/>
                </a:schemeClr>
              </a:outerShdw>
            </a:effectLst>
          </p:spPr>
        </p:pic>
      </p:grpSp>
      <p:sp>
        <p:nvSpPr>
          <p:cNvPr id="7" name="矩形 6"/>
          <p:cNvSpPr/>
          <p:nvPr userDrawn="1"/>
        </p:nvSpPr>
        <p:spPr>
          <a:xfrm rot="10800000">
            <a:off x="0" y="1727200"/>
            <a:ext cx="12192000" cy="5130800"/>
          </a:xfrm>
          <a:prstGeom prst="rect">
            <a:avLst/>
          </a:prstGeom>
          <a:gradFill flip="none" rotWithShape="1">
            <a:gsLst>
              <a:gs pos="48000">
                <a:schemeClr val="tx1"/>
              </a:gs>
              <a:gs pos="62000">
                <a:schemeClr val="tx1">
                  <a:alpha val="78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5E919-DA01-4C45-A52D-4544C365A6B2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EE2B-5929-486B-B269-05647122C4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5E919-DA01-4C45-A52D-4544C365A6B2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EE2B-5929-486B-B269-05647122C4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5E919-DA01-4C45-A52D-4544C365A6B2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EE2B-5929-486B-B269-05647122C4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5E919-DA01-4C45-A52D-4544C365A6B2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EE2B-5929-486B-B269-05647122C4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5E919-DA01-4C45-A52D-4544C365A6B2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3EE2B-5929-486B-B269-05647122C4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3481-59CC-4C05-9A48-018CF764FF4A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EC4C-6DE1-463C-A608-CBE18CAA04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3481-59CC-4C05-9A48-018CF764FF4A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EC4C-6DE1-463C-A608-CBE18CAA04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3481-59CC-4C05-9A48-018CF764FF4A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EC4C-6DE1-463C-A608-CBE18CAA04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3481-59CC-4C05-9A48-018CF764FF4A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EC4C-6DE1-463C-A608-CBE18CAA04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3481-59CC-4C05-9A48-018CF764FF4A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EC4C-6DE1-463C-A608-CBE18CAA04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3481-59CC-4C05-9A48-018CF764FF4A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EC4C-6DE1-463C-A608-CBE18CAA04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3481-59CC-4C05-9A48-018CF764FF4A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EC4C-6DE1-463C-A608-CBE18CAA04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3481-59CC-4C05-9A48-018CF764FF4A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EC4C-6DE1-463C-A608-CBE18CAA04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3481-59CC-4C05-9A48-018CF764FF4A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EC4C-6DE1-463C-A608-CBE18CAA04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3481-59CC-4C05-9A48-018CF764FF4A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EC4C-6DE1-463C-A608-CBE18CAA04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B3481-59CC-4C05-9A48-018CF764FF4A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EC4C-6DE1-463C-A608-CBE18CAA04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6AFA6-12AA-44B2-94C9-C9A6A9E904BB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B115-A1FD-48F6-A563-096F2B9686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6AFA6-12AA-44B2-94C9-C9A6A9E904BB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B115-A1FD-48F6-A563-096F2B9686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6AFA6-12AA-44B2-94C9-C9A6A9E904BB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B115-A1FD-48F6-A563-096F2B9686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6AFA6-12AA-44B2-94C9-C9A6A9E904BB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B115-A1FD-48F6-A563-096F2B9686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6AFA6-12AA-44B2-94C9-C9A6A9E904BB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B115-A1FD-48F6-A563-096F2B9686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6AFA6-12AA-44B2-94C9-C9A6A9E904BB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B115-A1FD-48F6-A563-096F2B9686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6AFA6-12AA-44B2-94C9-C9A6A9E904BB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B115-A1FD-48F6-A563-096F2B9686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6AFA6-12AA-44B2-94C9-C9A6A9E904BB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B115-A1FD-48F6-A563-096F2B9686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6AFA6-12AA-44B2-94C9-C9A6A9E904BB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B115-A1FD-48F6-A563-096F2B9686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6AFA6-12AA-44B2-94C9-C9A6A9E904BB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B115-A1FD-48F6-A563-096F2B9686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6AFA6-12AA-44B2-94C9-C9A6A9E904BB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B115-A1FD-48F6-A563-096F2B9686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0CDE5-F0F2-4811-AF7F-9EBBDE1C973C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0B30D-3D34-485A-B84F-DD260DB3793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C5E919-DA01-4C45-A52D-4544C365A6B2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3EE2B-5929-486B-B269-05647122C48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B3481-59CC-4C05-9A48-018CF764FF4A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0EC4C-6DE1-463C-A608-CBE18CAA042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E6AFA6-12AA-44B2-94C9-C9A6A9E904BB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CB115-A1FD-48F6-A563-096F2B9686C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323430" y="1453984"/>
            <a:ext cx="5545109" cy="707886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D31</a:t>
            </a:r>
            <a:r>
              <a:rPr lang="zh-CN" sz="40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lang="en-US" altLang="zh-CN" sz="40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40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系统设计介绍</a:t>
            </a:r>
          </a:p>
        </p:txBody>
      </p:sp>
      <p:sp>
        <p:nvSpPr>
          <p:cNvPr id="16" name="矩形 15"/>
          <p:cNvSpPr/>
          <p:nvPr/>
        </p:nvSpPr>
        <p:spPr>
          <a:xfrm>
            <a:off x="0" y="5140617"/>
            <a:ext cx="12192000" cy="1231010"/>
          </a:xfrm>
          <a:prstGeom prst="rect">
            <a:avLst/>
          </a:prstGeom>
          <a:solidFill>
            <a:schemeClr val="tx1">
              <a:lumMod val="95000"/>
              <a:lumOff val="5000"/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059456" y="4618638"/>
            <a:ext cx="4513580" cy="521970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zh-CN" altLang="en-US" sz="2800" b="1" spc="3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珠海海奇半导体有限公司</a:t>
            </a:r>
          </a:p>
        </p:txBody>
      </p:sp>
      <p:cxnSp>
        <p:nvCxnSpPr>
          <p:cNvPr id="18" name="直接连接符 17"/>
          <p:cNvCxnSpPr/>
          <p:nvPr/>
        </p:nvCxnSpPr>
        <p:spPr>
          <a:xfrm>
            <a:off x="1650351" y="2887343"/>
            <a:ext cx="9030349" cy="0"/>
          </a:xfrm>
          <a:prstGeom prst="line">
            <a:avLst/>
          </a:prstGeom>
          <a:ln w="9525"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650351" y="1185543"/>
            <a:ext cx="9030349" cy="0"/>
          </a:xfrm>
          <a:prstGeom prst="line">
            <a:avLst/>
          </a:prstGeom>
          <a:ln w="9525"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771927" y="758334"/>
            <a:ext cx="1887729" cy="1124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25000"/>
              </a:lnSpc>
            </a:pPr>
            <a:r>
              <a:rPr lang="zh-CN" altLang="en-US" sz="3200" b="1" dirty="0">
                <a:solidFill>
                  <a:schemeClr val="bg2">
                    <a:lumMod val="9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目录</a:t>
            </a:r>
            <a:r>
              <a:rPr lang="en-US" altLang="zh-CN" sz="2400" b="1" dirty="0">
                <a:solidFill>
                  <a:schemeClr val="bg2">
                    <a:lumMod val="90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CONTENTS</a:t>
            </a:r>
            <a:endParaRPr lang="zh-CN" altLang="en-US" sz="4800" b="1" dirty="0">
              <a:solidFill>
                <a:schemeClr val="bg2">
                  <a:lumMod val="90000"/>
                </a:schemeClr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375664" y="1460237"/>
            <a:ext cx="5289550" cy="1732280"/>
            <a:chOff x="6641382" y="891765"/>
            <a:chExt cx="8315564" cy="173228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文本框 7"/>
            <p:cNvSpPr txBox="1"/>
            <p:nvPr/>
          </p:nvSpPr>
          <p:spPr>
            <a:xfrm>
              <a:off x="7508876" y="931770"/>
              <a:ext cx="6431419" cy="578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lang="en-US" altLang="zh-CN" sz="2800" b="1" dirty="0">
                  <a:solidFill>
                    <a:schemeClr val="bg2">
                      <a:lumMod val="9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Projector</a:t>
              </a:r>
              <a:r>
                <a:rPr lang="zh-CN" altLang="en-US" sz="2800" b="1" dirty="0">
                  <a:solidFill>
                    <a:schemeClr val="bg2">
                      <a:lumMod val="9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Solutions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6641382" y="891765"/>
              <a:ext cx="992380" cy="707886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bg2">
                      <a:lumMod val="9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4000" b="1" dirty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7466949" y="1457550"/>
              <a:ext cx="5611259" cy="62992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lang="en-US" altLang="zh-CN" sz="2800" b="1" dirty="0">
                  <a:solidFill>
                    <a:schemeClr val="bg2">
                      <a:lumMod val="9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1.1 </a:t>
              </a:r>
              <a:r>
                <a:rPr lang="zh-CN" altLang="en-US" sz="2800" b="1" dirty="0">
                  <a:solidFill>
                    <a:schemeClr val="bg2">
                      <a:lumMod val="9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IC Introduction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7463954" y="1994125"/>
              <a:ext cx="7492992" cy="62992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lang="en-US" altLang="zh-CN" sz="2800" b="1" dirty="0">
                  <a:solidFill>
                    <a:schemeClr val="bg2">
                      <a:lumMod val="9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1.2 </a:t>
              </a:r>
              <a:r>
                <a:rPr lang="zh-CN" altLang="en-US" sz="2800" b="1" dirty="0">
                  <a:solidFill>
                    <a:schemeClr val="bg2">
                      <a:lumMod val="9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System Block Diagram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375664" y="4642876"/>
            <a:ext cx="3098979" cy="707886"/>
            <a:chOff x="6705882" y="3442646"/>
            <a:chExt cx="4870760" cy="70788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4" name="文本框 13"/>
            <p:cNvSpPr txBox="1"/>
            <p:nvPr/>
          </p:nvSpPr>
          <p:spPr>
            <a:xfrm>
              <a:off x="7682700" y="3479611"/>
              <a:ext cx="3893942" cy="6299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lang="en-US" altLang="zh-CN" sz="2800" b="1" dirty="0">
                  <a:solidFill>
                    <a:schemeClr val="bg2">
                      <a:lumMod val="9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+mn-ea"/>
                </a:rPr>
                <a:t>Q&amp;A</a:t>
              </a:r>
              <a:endParaRPr lang="en-US" altLang="zh-CN" sz="2800" b="1" dirty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705882" y="3442646"/>
              <a:ext cx="992380" cy="707886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bg2">
                      <a:lumMod val="9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4000" b="1" dirty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375400" y="3084817"/>
            <a:ext cx="4925695" cy="706755"/>
            <a:chOff x="6636002" y="3071628"/>
            <a:chExt cx="9319695" cy="70661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文本框 16"/>
            <p:cNvSpPr txBox="1"/>
            <p:nvPr/>
          </p:nvSpPr>
          <p:spPr>
            <a:xfrm>
              <a:off x="7624265" y="3098298"/>
              <a:ext cx="8331432" cy="5779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lang="zh-CN" altLang="en-US" sz="2800" b="1" dirty="0">
                  <a:solidFill>
                    <a:schemeClr val="bg2">
                      <a:lumMod val="9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Hardware Design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636002" y="3071628"/>
              <a:ext cx="992379" cy="706616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4000" b="1" dirty="0">
                  <a:solidFill>
                    <a:schemeClr val="bg2">
                      <a:lumMod val="9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4000" b="1" dirty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1" name="图片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3106" y="1343"/>
            <a:ext cx="698894" cy="734869"/>
          </a:xfrm>
          <a:prstGeom prst="rect">
            <a:avLst/>
          </a:prstGeom>
          <a:effectLst>
            <a:outerShdw blurRad="152400" dist="317500" dir="5400000" sx="90000" sy="-19000" rotWithShape="0">
              <a:schemeClr val="bg1">
                <a:lumMod val="95000"/>
                <a:alpha val="15000"/>
              </a:scheme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6894195" y="3620135"/>
            <a:ext cx="4124325" cy="62992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800" b="1" dirty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2.1 </a:t>
            </a:r>
            <a:r>
              <a:rPr lang="zh-CN" altLang="en-US" sz="2800" b="1" dirty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 Sch Design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892554" y="4156447"/>
            <a:ext cx="4766310" cy="57804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800" b="1" dirty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2.2 </a:t>
            </a:r>
            <a:r>
              <a:rPr lang="zh-CN" altLang="en-US" sz="2800" b="1" dirty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 </a:t>
            </a:r>
            <a:r>
              <a:rPr lang="en-US" altLang="zh-CN" sz="2800" b="1" dirty="0">
                <a:solidFill>
                  <a:schemeClr val="bg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PCBA Debug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0395" y="-5080"/>
            <a:ext cx="7125970" cy="5174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IC </a:t>
            </a:r>
            <a:r>
              <a:rPr lang="zh-CN" altLang="en-US" dirty="0"/>
              <a:t>Introduction</a:t>
            </a:r>
            <a:r>
              <a:rPr lang="en-US" altLang="zh-CN" dirty="0"/>
              <a:t>-</a:t>
            </a:r>
            <a:r>
              <a:rPr lang="zh-CN" altLang="en-US" dirty="0"/>
              <a:t>芯</a:t>
            </a: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片</a:t>
            </a:r>
            <a:r>
              <a:rPr lang="zh-CN" altLang="en-US" dirty="0"/>
              <a:t>列表</a:t>
            </a:r>
            <a:endParaRPr lang="en-US" altLang="zh-CN" dirty="0">
              <a:latin typeface="Calibri" panose="020F0502020204030204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25596" y="3585462"/>
            <a:ext cx="1604803" cy="1032668"/>
          </a:xfrm>
          <a:prstGeom prst="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A110(QFN68)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A210(QFP128)</a:t>
            </a:r>
          </a:p>
        </p:txBody>
      </p:sp>
      <p:sp>
        <p:nvSpPr>
          <p:cNvPr id="36" name="矩形 35"/>
          <p:cNvSpPr/>
          <p:nvPr/>
        </p:nvSpPr>
        <p:spPr>
          <a:xfrm>
            <a:off x="2661697" y="3585462"/>
            <a:ext cx="1574611" cy="1040796"/>
          </a:xfrm>
          <a:prstGeom prst="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noProof="1"/>
              <a:t>B100(QFN88)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noProof="1"/>
              <a:t>B200 (QFP128)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1748409" y="1271649"/>
            <a:ext cx="1600041" cy="1453866"/>
          </a:xfrm>
          <a:prstGeom prst="rect">
            <a:avLst/>
          </a:prstGeom>
          <a:ln w="3810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H1500</a:t>
            </a:r>
            <a:endParaRPr kumimoji="0" lang="en-US" altLang="zh-CN" sz="240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44" name="肘形连接符 43"/>
          <p:cNvCxnSpPr>
            <a:cxnSpLocks/>
            <a:stCxn id="38" idx="2"/>
            <a:endCxn id="35" idx="0"/>
          </p:cNvCxnSpPr>
          <p:nvPr/>
        </p:nvCxnSpPr>
        <p:spPr>
          <a:xfrm rot="5400000">
            <a:off x="1658241" y="2695272"/>
            <a:ext cx="859947" cy="920432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  <a:effectLst>
            <a:outerShdw blurRad="50800" dist="38100" dir="5400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肘形连接符 43">
            <a:extLst>
              <a:ext uri="{FF2B5EF4-FFF2-40B4-BE49-F238E27FC236}">
                <a16:creationId xmlns:a16="http://schemas.microsoft.com/office/drawing/2014/main" id="{D084460B-E1FD-5E57-C747-8D1AF03C50DE}"/>
              </a:ext>
            </a:extLst>
          </p:cNvPr>
          <p:cNvCxnSpPr>
            <a:cxnSpLocks/>
            <a:stCxn id="38" idx="2"/>
            <a:endCxn id="36" idx="0"/>
          </p:cNvCxnSpPr>
          <p:nvPr/>
        </p:nvCxnSpPr>
        <p:spPr>
          <a:xfrm rot="16200000" flipH="1">
            <a:off x="2568743" y="2705201"/>
            <a:ext cx="859947" cy="900573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  <a:effectLst>
            <a:outerShdw blurRad="50800" dist="38100" dir="5400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F1F4204-F320-288F-ABED-C7E469B3F1BB}"/>
              </a:ext>
            </a:extLst>
          </p:cNvPr>
          <p:cNvSpPr/>
          <p:nvPr/>
        </p:nvSpPr>
        <p:spPr>
          <a:xfrm>
            <a:off x="4712810" y="3585464"/>
            <a:ext cx="1574611" cy="1919224"/>
          </a:xfrm>
          <a:prstGeom prst="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A3100</a:t>
            </a:r>
            <a:r>
              <a:rPr lang="en-US" altLang="zh-CN" noProof="1"/>
              <a:t> (QFP128)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A3200</a:t>
            </a:r>
            <a:r>
              <a:rPr lang="en-US" altLang="zh-CN" noProof="1"/>
              <a:t> (QFP176)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A3300</a:t>
            </a:r>
            <a:r>
              <a:rPr lang="en-US" altLang="zh-CN" noProof="1"/>
              <a:t> (QFP128)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431EF2C-E1A2-F4E1-9AC3-24490B7AAC73}"/>
              </a:ext>
            </a:extLst>
          </p:cNvPr>
          <p:cNvSpPr/>
          <p:nvPr/>
        </p:nvSpPr>
        <p:spPr>
          <a:xfrm>
            <a:off x="6518719" y="3585464"/>
            <a:ext cx="1373505" cy="1919224"/>
          </a:xfrm>
          <a:prstGeom prst="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noProof="1"/>
              <a:t>B3100 (QFP128)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1"/>
              <a:t>B3120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noProof="1"/>
              <a:t>(QFP128)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B3200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noProof="1"/>
              <a:t>(QFP176)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20C0ED0-AF0F-01D2-7682-862B7D8F891E}"/>
              </a:ext>
            </a:extLst>
          </p:cNvPr>
          <p:cNvSpPr/>
          <p:nvPr/>
        </p:nvSpPr>
        <p:spPr>
          <a:xfrm>
            <a:off x="5605431" y="1271651"/>
            <a:ext cx="1600041" cy="1453866"/>
          </a:xfrm>
          <a:prstGeom prst="rect">
            <a:avLst/>
          </a:prstGeom>
          <a:ln w="3810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H1600</a:t>
            </a:r>
            <a:endParaRPr kumimoji="0" lang="en-US" altLang="zh-CN" sz="240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9" name="肘形连接符 43">
            <a:extLst>
              <a:ext uri="{FF2B5EF4-FFF2-40B4-BE49-F238E27FC236}">
                <a16:creationId xmlns:a16="http://schemas.microsoft.com/office/drawing/2014/main" id="{1B044AAD-943F-F127-6E61-0C9872B82D5A}"/>
              </a:ext>
            </a:extLst>
          </p:cNvPr>
          <p:cNvCxnSpPr>
            <a:cxnSpLocks/>
            <a:stCxn id="18" idx="2"/>
            <a:endCxn id="16" idx="0"/>
          </p:cNvCxnSpPr>
          <p:nvPr/>
        </p:nvCxnSpPr>
        <p:spPr>
          <a:xfrm rot="5400000">
            <a:off x="5522811" y="2702822"/>
            <a:ext cx="859947" cy="905336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  <a:effectLst>
            <a:outerShdw blurRad="50800" dist="38100" dir="5400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肘形连接符 43">
            <a:extLst>
              <a:ext uri="{FF2B5EF4-FFF2-40B4-BE49-F238E27FC236}">
                <a16:creationId xmlns:a16="http://schemas.microsoft.com/office/drawing/2014/main" id="{D3895360-1FB2-DC3B-A893-A746236B3B15}"/>
              </a:ext>
            </a:extLst>
          </p:cNvPr>
          <p:cNvCxnSpPr>
            <a:cxnSpLocks/>
            <a:stCxn id="18" idx="2"/>
            <a:endCxn id="17" idx="0"/>
          </p:cNvCxnSpPr>
          <p:nvPr/>
        </p:nvCxnSpPr>
        <p:spPr>
          <a:xfrm rot="16200000" flipH="1">
            <a:off x="6375489" y="2755480"/>
            <a:ext cx="859947" cy="800020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  <a:effectLst>
            <a:outerShdw blurRad="50800" dist="38100" dir="5400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9E20E370-5F6B-BD49-210B-E18C2D7BBACF}"/>
              </a:ext>
            </a:extLst>
          </p:cNvPr>
          <p:cNvSpPr/>
          <p:nvPr/>
        </p:nvSpPr>
        <p:spPr>
          <a:xfrm>
            <a:off x="8123522" y="3577336"/>
            <a:ext cx="1373505" cy="1927352"/>
          </a:xfrm>
          <a:prstGeom prst="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C3000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noProof="1"/>
              <a:t>(QFN128)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noProof="1"/>
              <a:t>C3100 (QFP128)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C3200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noProof="1"/>
              <a:t>(QFP176)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1F9048E-4FC6-6220-065B-209AA9D70FA5}"/>
              </a:ext>
            </a:extLst>
          </p:cNvPr>
          <p:cNvSpPr/>
          <p:nvPr/>
        </p:nvSpPr>
        <p:spPr>
          <a:xfrm>
            <a:off x="9728325" y="3577336"/>
            <a:ext cx="1373505" cy="1927352"/>
          </a:xfrm>
          <a:prstGeom prst="rect">
            <a:avLst/>
          </a:prstGeom>
          <a:ln w="254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D3000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noProof="1"/>
              <a:t>(QFN128)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noProof="1">
                <a:solidFill>
                  <a:srgbClr val="FF0000"/>
                </a:solidFill>
                <a:highlight>
                  <a:srgbClr val="FFFF00"/>
                </a:highlight>
              </a:rPr>
              <a:t>D3100</a:t>
            </a:r>
            <a:r>
              <a:rPr lang="en-US" altLang="zh-CN" noProof="1"/>
              <a:t> (QFP128)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D3200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noProof="1"/>
              <a:t>(QFP176)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24" name="肘形连接符 43">
            <a:extLst>
              <a:ext uri="{FF2B5EF4-FFF2-40B4-BE49-F238E27FC236}">
                <a16:creationId xmlns:a16="http://schemas.microsoft.com/office/drawing/2014/main" id="{1EC2232D-AC2B-0D1F-28AE-0675F1039BF7}"/>
              </a:ext>
            </a:extLst>
          </p:cNvPr>
          <p:cNvCxnSpPr>
            <a:cxnSpLocks/>
            <a:stCxn id="18" idx="2"/>
            <a:endCxn id="22" idx="0"/>
          </p:cNvCxnSpPr>
          <p:nvPr/>
        </p:nvCxnSpPr>
        <p:spPr>
          <a:xfrm rot="16200000" flipH="1">
            <a:off x="7181954" y="1949014"/>
            <a:ext cx="851819" cy="2404823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  <a:effectLst>
            <a:outerShdw blurRad="50800" dist="38100" dir="5400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肘形连接符 43">
            <a:extLst>
              <a:ext uri="{FF2B5EF4-FFF2-40B4-BE49-F238E27FC236}">
                <a16:creationId xmlns:a16="http://schemas.microsoft.com/office/drawing/2014/main" id="{1B1047BA-16A7-98E6-E5A0-0D8BB1859A29}"/>
              </a:ext>
            </a:extLst>
          </p:cNvPr>
          <p:cNvCxnSpPr>
            <a:cxnSpLocks/>
            <a:stCxn id="18" idx="2"/>
            <a:endCxn id="23" idx="0"/>
          </p:cNvCxnSpPr>
          <p:nvPr/>
        </p:nvCxnSpPr>
        <p:spPr>
          <a:xfrm rot="16200000" flipH="1">
            <a:off x="7984356" y="1146613"/>
            <a:ext cx="851819" cy="4009626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  <a:effectLst>
            <a:outerShdw blurRad="50800" dist="38100" dir="54000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394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8" grpId="0" animBg="1"/>
      <p:bldP spid="16" grpId="0" animBg="1"/>
      <p:bldP spid="17" grpId="0" animBg="1"/>
      <p:bldP spid="18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3250" y="0"/>
            <a:ext cx="4601796" cy="508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IC Introduction</a:t>
            </a: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-D3100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146" name="内容占位符 2"/>
          <p:cNvSpPr>
            <a:spLocks noGrp="1"/>
          </p:cNvSpPr>
          <p:nvPr>
            <p:ph idx="1"/>
          </p:nvPr>
        </p:nvSpPr>
        <p:spPr>
          <a:xfrm>
            <a:off x="457200" y="794385"/>
            <a:ext cx="8507730" cy="5332095"/>
          </a:xfrm>
        </p:spPr>
        <p:txBody>
          <a:bodyPr vert="horz" wrap="square" lIns="91440" tIns="45720" rIns="91440" bIns="45720" anchor="t" anchorCtr="0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noProof="1"/>
              <a:t>Part:D3100/D3101</a:t>
            </a:r>
            <a:endParaRPr kumimoji="0" lang="en-US" altLang="zh-CN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Package: eLQFP128(14*14)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DDR2/DDR3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 Nor/NAND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noProof="1"/>
              <a:t>Dual 8 bit LVDS</a:t>
            </a:r>
            <a:endParaRPr kumimoji="0" lang="en-US" altLang="zh-CN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HDMI RX 1.4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USB 2.0*2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noProof="1"/>
              <a:t>SDIO 3.0 4bit</a:t>
            </a:r>
            <a:endParaRPr kumimoji="0" lang="en-US" altLang="zh-CN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VADC *1ch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ADC *1ch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SPI/I2C/UART/PWM/IR/I2S/SPDIF etc.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39F4227-CED5-D700-D850-2E367E202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8779" y="669131"/>
            <a:ext cx="5792302" cy="56008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3250" y="0"/>
            <a:ext cx="6435534" cy="508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 Block Diagram</a:t>
            </a: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-Projector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5634" y="3011678"/>
            <a:ext cx="2978150" cy="27051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292" name="文本框 2"/>
          <p:cNvSpPr txBox="1"/>
          <p:nvPr/>
        </p:nvSpPr>
        <p:spPr>
          <a:xfrm>
            <a:off x="5630989" y="3011678"/>
            <a:ext cx="116332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SPDIF</a:t>
            </a:r>
          </a:p>
        </p:txBody>
      </p:sp>
      <p:sp>
        <p:nvSpPr>
          <p:cNvPr id="12293" name="文本框 4"/>
          <p:cNvSpPr txBox="1"/>
          <p:nvPr/>
        </p:nvSpPr>
        <p:spPr>
          <a:xfrm>
            <a:off x="6954964" y="4030853"/>
            <a:ext cx="116332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USB</a:t>
            </a:r>
          </a:p>
        </p:txBody>
      </p:sp>
      <p:sp>
        <p:nvSpPr>
          <p:cNvPr id="6" name="矩形 5"/>
          <p:cNvSpPr/>
          <p:nvPr/>
        </p:nvSpPr>
        <p:spPr>
          <a:xfrm>
            <a:off x="9475914" y="2581783"/>
            <a:ext cx="1108075" cy="72072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STB/OTT</a:t>
            </a:r>
          </a:p>
        </p:txBody>
      </p:sp>
      <p:sp>
        <p:nvSpPr>
          <p:cNvPr id="7" name="矩形 6"/>
          <p:cNvSpPr/>
          <p:nvPr/>
        </p:nvSpPr>
        <p:spPr>
          <a:xfrm>
            <a:off x="8527859" y="3887978"/>
            <a:ext cx="1087755" cy="7207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WIFI/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盘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8" name="肘形连接符 7"/>
          <p:cNvCxnSpPr>
            <a:stCxn id="12307" idx="3"/>
            <a:endCxn id="6" idx="1"/>
          </p:cNvCxnSpPr>
          <p:nvPr/>
        </p:nvCxnSpPr>
        <p:spPr>
          <a:xfrm flipV="1">
            <a:off x="7686484" y="2941828"/>
            <a:ext cx="1789430" cy="625475"/>
          </a:xfrm>
          <a:prstGeom prst="bentConnector3">
            <a:avLst>
              <a:gd name="adj1" fmla="val 50000"/>
            </a:avLst>
          </a:prstGeom>
          <a:ln>
            <a:headEnd type="arrow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603309" y="3011678"/>
            <a:ext cx="1579880" cy="27051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DDR2/DDR3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16bit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1"/>
              <a:t>128</a:t>
            </a: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MB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1"/>
              <a:t>1066MHz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539289" y="4848416"/>
            <a:ext cx="1076325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SFLASH</a:t>
            </a:r>
          </a:p>
        </p:txBody>
      </p:sp>
      <p:cxnSp>
        <p:nvCxnSpPr>
          <p:cNvPr id="15" name="直接箭头连接符 14"/>
          <p:cNvCxnSpPr>
            <a:stCxn id="4" idx="1"/>
            <a:endCxn id="13" idx="3"/>
          </p:cNvCxnSpPr>
          <p:nvPr/>
        </p:nvCxnSpPr>
        <p:spPr>
          <a:xfrm flipH="1">
            <a:off x="4183189" y="4364228"/>
            <a:ext cx="513080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cxnSpLocks/>
            <a:endCxn id="14" idx="1"/>
          </p:cNvCxnSpPr>
          <p:nvPr/>
        </p:nvCxnSpPr>
        <p:spPr>
          <a:xfrm>
            <a:off x="7673784" y="5104003"/>
            <a:ext cx="865505" cy="1588"/>
          </a:xfrm>
          <a:prstGeom prst="straightConnector1">
            <a:avLst/>
          </a:prstGeom>
          <a:ln>
            <a:headEnd type="arrow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303" name="文本框 18"/>
          <p:cNvSpPr txBox="1"/>
          <p:nvPr/>
        </p:nvSpPr>
        <p:spPr>
          <a:xfrm>
            <a:off x="5371909" y="3972433"/>
            <a:ext cx="1849755" cy="11366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D3100</a:t>
            </a:r>
          </a:p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Dual CPU</a:t>
            </a:r>
          </a:p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eLQFP128</a:t>
            </a:r>
          </a:p>
        </p:txBody>
      </p:sp>
      <p:sp>
        <p:nvSpPr>
          <p:cNvPr id="12304" name="文本框 26"/>
          <p:cNvSpPr txBox="1"/>
          <p:nvPr/>
        </p:nvSpPr>
        <p:spPr>
          <a:xfrm>
            <a:off x="4695634" y="3013583"/>
            <a:ext cx="1165225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LVDS</a:t>
            </a:r>
          </a:p>
        </p:txBody>
      </p:sp>
      <p:sp>
        <p:nvSpPr>
          <p:cNvPr id="28" name="矩形 27"/>
          <p:cNvSpPr/>
          <p:nvPr/>
        </p:nvSpPr>
        <p:spPr>
          <a:xfrm>
            <a:off x="4062539" y="1700403"/>
            <a:ext cx="948055" cy="71945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LCD</a:t>
            </a:r>
          </a:p>
        </p:txBody>
      </p:sp>
      <p:cxnSp>
        <p:nvCxnSpPr>
          <p:cNvPr id="29" name="肘形连接符 28"/>
          <p:cNvCxnSpPr>
            <a:endCxn id="28" idx="2"/>
          </p:cNvCxnSpPr>
          <p:nvPr/>
        </p:nvCxnSpPr>
        <p:spPr>
          <a:xfrm rot="16200000" flipV="1">
            <a:off x="4508309" y="2448433"/>
            <a:ext cx="603250" cy="546100"/>
          </a:xfrm>
          <a:prstGeom prst="bentConnector3">
            <a:avLst>
              <a:gd name="adj1" fmla="val 50000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307" name="文本框 4"/>
          <p:cNvSpPr txBox="1"/>
          <p:nvPr/>
        </p:nvSpPr>
        <p:spPr>
          <a:xfrm>
            <a:off x="6622859" y="3383153"/>
            <a:ext cx="10636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HDMI IN</a:t>
            </a:r>
          </a:p>
        </p:txBody>
      </p:sp>
      <p:cxnSp>
        <p:nvCxnSpPr>
          <p:cNvPr id="5" name="肘形连接符 4"/>
          <p:cNvCxnSpPr>
            <a:cxnSpLocks/>
            <a:endCxn id="28" idx="2"/>
          </p:cNvCxnSpPr>
          <p:nvPr/>
        </p:nvCxnSpPr>
        <p:spPr>
          <a:xfrm rot="5400000" flipH="1" flipV="1">
            <a:off x="6898449" y="2586863"/>
            <a:ext cx="2414905" cy="3844925"/>
          </a:xfrm>
          <a:prstGeom prst="bentConnector3">
            <a:avLst>
              <a:gd name="adj1" fmla="val -19851"/>
            </a:avLst>
          </a:prstGeom>
          <a:ln>
            <a:headEnd type="arrow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309" name="文本框 4"/>
          <p:cNvSpPr txBox="1"/>
          <p:nvPr/>
        </p:nvSpPr>
        <p:spPr>
          <a:xfrm>
            <a:off x="5875464" y="5328158"/>
            <a:ext cx="116332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CVBS IN</a:t>
            </a:r>
          </a:p>
        </p:txBody>
      </p:sp>
      <p:cxnSp>
        <p:nvCxnSpPr>
          <p:cNvPr id="9" name="直接箭头连接符 8"/>
          <p:cNvCxnSpPr>
            <a:endCxn id="28" idx="2"/>
          </p:cNvCxnSpPr>
          <p:nvPr/>
        </p:nvCxnSpPr>
        <p:spPr>
          <a:xfrm>
            <a:off x="7675689" y="4246753"/>
            <a:ext cx="852805" cy="11430"/>
          </a:xfrm>
          <a:prstGeom prst="straightConnector1">
            <a:avLst/>
          </a:prstGeom>
          <a:ln>
            <a:headEnd type="arrow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457201" y="904877"/>
            <a:ext cx="3218687" cy="719456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2400" dirty="0"/>
              <a:t>Projector </a:t>
            </a:r>
          </a:p>
        </p:txBody>
      </p:sp>
      <p:cxnSp>
        <p:nvCxnSpPr>
          <p:cNvPr id="26" name="肘形连接符 28">
            <a:extLst>
              <a:ext uri="{FF2B5EF4-FFF2-40B4-BE49-F238E27FC236}">
                <a16:creationId xmlns:a16="http://schemas.microsoft.com/office/drawing/2014/main" id="{B6AB67EC-9BAB-D5F1-1EED-744259174295}"/>
              </a:ext>
            </a:extLst>
          </p:cNvPr>
          <p:cNvCxnSpPr>
            <a:cxnSpLocks/>
            <a:stCxn id="12292" idx="0"/>
            <a:endCxn id="38" idx="2"/>
          </p:cNvCxnSpPr>
          <p:nvPr/>
        </p:nvCxnSpPr>
        <p:spPr>
          <a:xfrm rot="5400000" flipH="1" flipV="1">
            <a:off x="6404234" y="2261241"/>
            <a:ext cx="558853" cy="942022"/>
          </a:xfrm>
          <a:prstGeom prst="bentConnector3">
            <a:avLst>
              <a:gd name="adj1" fmla="val 50000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肘形连接符 28">
            <a:extLst>
              <a:ext uri="{FF2B5EF4-FFF2-40B4-BE49-F238E27FC236}">
                <a16:creationId xmlns:a16="http://schemas.microsoft.com/office/drawing/2014/main" id="{A9E2AFDD-EC84-51E2-E602-0C56769EFC2E}"/>
              </a:ext>
            </a:extLst>
          </p:cNvPr>
          <p:cNvCxnSpPr>
            <a:cxnSpLocks/>
            <a:stCxn id="6" idx="0"/>
          </p:cNvCxnSpPr>
          <p:nvPr/>
        </p:nvCxnSpPr>
        <p:spPr>
          <a:xfrm rot="16200000" flipV="1">
            <a:off x="8774691" y="1326522"/>
            <a:ext cx="448564" cy="2061958"/>
          </a:xfrm>
          <a:prstGeom prst="bentConnector2">
            <a:avLst/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98F30FD8-97BB-EE34-B293-1C0CD81F7734}"/>
              </a:ext>
            </a:extLst>
          </p:cNvPr>
          <p:cNvSpPr/>
          <p:nvPr/>
        </p:nvSpPr>
        <p:spPr>
          <a:xfrm>
            <a:off x="6341348" y="975317"/>
            <a:ext cx="1626646" cy="14775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1"/>
              <a:t>AC69XX</a:t>
            </a: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" name="文本框 4">
            <a:extLst>
              <a:ext uri="{FF2B5EF4-FFF2-40B4-BE49-F238E27FC236}">
                <a16:creationId xmlns:a16="http://schemas.microsoft.com/office/drawing/2014/main" id="{54636E80-0939-3E8F-A7A1-86B73827F1B7}"/>
              </a:ext>
            </a:extLst>
          </p:cNvPr>
          <p:cNvSpPr txBox="1"/>
          <p:nvPr/>
        </p:nvSpPr>
        <p:spPr>
          <a:xfrm>
            <a:off x="7366012" y="2031701"/>
            <a:ext cx="739889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AUX</a:t>
            </a:r>
          </a:p>
        </p:txBody>
      </p:sp>
      <p:cxnSp>
        <p:nvCxnSpPr>
          <p:cNvPr id="43" name="肘形连接符 28">
            <a:extLst>
              <a:ext uri="{FF2B5EF4-FFF2-40B4-BE49-F238E27FC236}">
                <a16:creationId xmlns:a16="http://schemas.microsoft.com/office/drawing/2014/main" id="{418F4D88-CDCF-92D4-65A8-765D7CBD20BB}"/>
              </a:ext>
            </a:extLst>
          </p:cNvPr>
          <p:cNvCxnSpPr>
            <a:cxnSpLocks/>
            <a:stCxn id="38" idx="1"/>
            <a:endCxn id="48" idx="3"/>
          </p:cNvCxnSpPr>
          <p:nvPr/>
        </p:nvCxnSpPr>
        <p:spPr>
          <a:xfrm rot="10800000">
            <a:off x="5019040" y="1180293"/>
            <a:ext cx="1322309" cy="533778"/>
          </a:xfrm>
          <a:prstGeom prst="bentConnector3">
            <a:avLst>
              <a:gd name="adj1" fmla="val 50000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矩形 47">
            <a:extLst>
              <a:ext uri="{FF2B5EF4-FFF2-40B4-BE49-F238E27FC236}">
                <a16:creationId xmlns:a16="http://schemas.microsoft.com/office/drawing/2014/main" id="{5375DEA2-CD50-997D-5EBD-D2442E8772BE}"/>
              </a:ext>
            </a:extLst>
          </p:cNvPr>
          <p:cNvSpPr/>
          <p:nvPr/>
        </p:nvSpPr>
        <p:spPr>
          <a:xfrm>
            <a:off x="4070984" y="820565"/>
            <a:ext cx="948055" cy="71945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1"/>
              <a:t>SPK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" name="流程图: 合并 50">
            <a:extLst>
              <a:ext uri="{FF2B5EF4-FFF2-40B4-BE49-F238E27FC236}">
                <a16:creationId xmlns:a16="http://schemas.microsoft.com/office/drawing/2014/main" id="{8E9980A6-F20F-585F-0801-81EE348452CB}"/>
              </a:ext>
            </a:extLst>
          </p:cNvPr>
          <p:cNvSpPr/>
          <p:nvPr/>
        </p:nvSpPr>
        <p:spPr>
          <a:xfrm>
            <a:off x="8320659" y="1037717"/>
            <a:ext cx="338328" cy="236982"/>
          </a:xfrm>
          <a:prstGeom prst="flowChartMer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08B8E617-3641-3C37-399D-CCBC26AEA770}"/>
              </a:ext>
            </a:extLst>
          </p:cNvPr>
          <p:cNvCxnSpPr>
            <a:cxnSpLocks/>
            <a:stCxn id="38" idx="3"/>
            <a:endCxn id="51" idx="2"/>
          </p:cNvCxnSpPr>
          <p:nvPr/>
        </p:nvCxnSpPr>
        <p:spPr>
          <a:xfrm flipV="1">
            <a:off x="7967994" y="1274699"/>
            <a:ext cx="521829" cy="439372"/>
          </a:xfrm>
          <a:prstGeom prst="bentConnector2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肘形连接符 28">
            <a:extLst>
              <a:ext uri="{FF2B5EF4-FFF2-40B4-BE49-F238E27FC236}">
                <a16:creationId xmlns:a16="http://schemas.microsoft.com/office/drawing/2014/main" id="{C203081F-0077-D435-6C72-BD5FAC69BAE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255583" y="2719273"/>
            <a:ext cx="565865" cy="3"/>
          </a:xfrm>
          <a:prstGeom prst="bentConnector3">
            <a:avLst>
              <a:gd name="adj1" fmla="val 50000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文本框 4">
            <a:extLst>
              <a:ext uri="{FF2B5EF4-FFF2-40B4-BE49-F238E27FC236}">
                <a16:creationId xmlns:a16="http://schemas.microsoft.com/office/drawing/2014/main" id="{5161D289-D904-4783-ECD8-CD07EA9A88BB}"/>
              </a:ext>
            </a:extLst>
          </p:cNvPr>
          <p:cNvSpPr txBox="1"/>
          <p:nvPr/>
        </p:nvSpPr>
        <p:spPr>
          <a:xfrm>
            <a:off x="6880257" y="3010118"/>
            <a:ext cx="10636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UART</a:t>
            </a:r>
          </a:p>
        </p:txBody>
      </p:sp>
      <p:cxnSp>
        <p:nvCxnSpPr>
          <p:cNvPr id="58" name="肘形连接符 4">
            <a:extLst>
              <a:ext uri="{FF2B5EF4-FFF2-40B4-BE49-F238E27FC236}">
                <a16:creationId xmlns:a16="http://schemas.microsoft.com/office/drawing/2014/main" id="{3B8D24D3-2B2C-1A54-54D1-C25BFB914916}"/>
              </a:ext>
            </a:extLst>
          </p:cNvPr>
          <p:cNvCxnSpPr>
            <a:cxnSpLocks/>
            <a:endCxn id="63" idx="2"/>
          </p:cNvCxnSpPr>
          <p:nvPr/>
        </p:nvCxnSpPr>
        <p:spPr>
          <a:xfrm rot="16200000" flipV="1">
            <a:off x="2046358" y="2620880"/>
            <a:ext cx="3278823" cy="2912974"/>
          </a:xfrm>
          <a:prstGeom prst="bentConnector3">
            <a:avLst>
              <a:gd name="adj1" fmla="val -14491"/>
            </a:avLst>
          </a:prstGeom>
          <a:ln>
            <a:headEnd type="arrow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B2513D93-9672-8052-1801-E954AB4E24B1}"/>
              </a:ext>
            </a:extLst>
          </p:cNvPr>
          <p:cNvSpPr/>
          <p:nvPr/>
        </p:nvSpPr>
        <p:spPr>
          <a:xfrm>
            <a:off x="1755254" y="1718500"/>
            <a:ext cx="948055" cy="71945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KEY</a:t>
            </a:r>
          </a:p>
        </p:txBody>
      </p:sp>
      <p:sp>
        <p:nvSpPr>
          <p:cNvPr id="12295" name="文本框 4">
            <a:extLst>
              <a:ext uri="{FF2B5EF4-FFF2-40B4-BE49-F238E27FC236}">
                <a16:creationId xmlns:a16="http://schemas.microsoft.com/office/drawing/2014/main" id="{3C1347E9-C184-207B-26F1-4615666B0E2E}"/>
              </a:ext>
            </a:extLst>
          </p:cNvPr>
          <p:cNvSpPr txBox="1"/>
          <p:nvPr/>
        </p:nvSpPr>
        <p:spPr>
          <a:xfrm>
            <a:off x="4735639" y="5338318"/>
            <a:ext cx="116332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ADC IN</a:t>
            </a:r>
          </a:p>
        </p:txBody>
      </p:sp>
      <p:sp>
        <p:nvSpPr>
          <p:cNvPr id="12296" name="文本框 4">
            <a:extLst>
              <a:ext uri="{FF2B5EF4-FFF2-40B4-BE49-F238E27FC236}">
                <a16:creationId xmlns:a16="http://schemas.microsoft.com/office/drawing/2014/main" id="{26A8E18A-B969-0505-4915-F29AFE9B3BAB}"/>
              </a:ext>
            </a:extLst>
          </p:cNvPr>
          <p:cNvSpPr txBox="1"/>
          <p:nvPr/>
        </p:nvSpPr>
        <p:spPr>
          <a:xfrm>
            <a:off x="7118159" y="4937633"/>
            <a:ext cx="116332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SPI</a:t>
            </a:r>
          </a:p>
        </p:txBody>
      </p:sp>
      <p:sp>
        <p:nvSpPr>
          <p:cNvPr id="12297" name="矩形 12296">
            <a:extLst>
              <a:ext uri="{FF2B5EF4-FFF2-40B4-BE49-F238E27FC236}">
                <a16:creationId xmlns:a16="http://schemas.microsoft.com/office/drawing/2014/main" id="{7C156EA5-FE65-6816-8704-A5418BFE5053}"/>
              </a:ext>
            </a:extLst>
          </p:cNvPr>
          <p:cNvSpPr/>
          <p:nvPr/>
        </p:nvSpPr>
        <p:spPr>
          <a:xfrm>
            <a:off x="8539289" y="5563108"/>
            <a:ext cx="1076325" cy="5143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TF Card</a:t>
            </a:r>
          </a:p>
        </p:txBody>
      </p:sp>
      <p:cxnSp>
        <p:nvCxnSpPr>
          <p:cNvPr id="12302" name="连接符: 肘形 12301">
            <a:extLst>
              <a:ext uri="{FF2B5EF4-FFF2-40B4-BE49-F238E27FC236}">
                <a16:creationId xmlns:a16="http://schemas.microsoft.com/office/drawing/2014/main" id="{3E28BFEB-0A67-F13E-2C7D-8F7ED126E1D9}"/>
              </a:ext>
            </a:extLst>
          </p:cNvPr>
          <p:cNvCxnSpPr>
            <a:endCxn id="12297" idx="1"/>
          </p:cNvCxnSpPr>
          <p:nvPr/>
        </p:nvCxnSpPr>
        <p:spPr>
          <a:xfrm>
            <a:off x="7118159" y="5706618"/>
            <a:ext cx="1421130" cy="113665"/>
          </a:xfrm>
          <a:prstGeom prst="bentConnector3">
            <a:avLst>
              <a:gd name="adj1" fmla="val -268"/>
            </a:avLst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0395" y="-5080"/>
            <a:ext cx="7125970" cy="50860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25000"/>
              </a:lnSpc>
            </a:pP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 Block Diagram</a:t>
            </a: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-Power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内容占位符 2"/>
          <p:cNvSpPr>
            <a:spLocks noGrp="1"/>
          </p:cNvSpPr>
          <p:nvPr>
            <p:ph idx="4294967295"/>
          </p:nvPr>
        </p:nvSpPr>
        <p:spPr>
          <a:xfrm>
            <a:off x="0" y="904875"/>
            <a:ext cx="8507413" cy="4525963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2400" dirty="0"/>
              <a:t>Power Supply System</a:t>
            </a:r>
          </a:p>
        </p:txBody>
      </p:sp>
      <p:sp>
        <p:nvSpPr>
          <p:cNvPr id="35" name="矩形 34"/>
          <p:cNvSpPr/>
          <p:nvPr/>
        </p:nvSpPr>
        <p:spPr>
          <a:xfrm>
            <a:off x="6516611" y="2322548"/>
            <a:ext cx="1363980" cy="6794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DC-DC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5V to 1.2V</a:t>
            </a:r>
          </a:p>
        </p:txBody>
      </p:sp>
      <p:sp>
        <p:nvSpPr>
          <p:cNvPr id="36" name="矩形 35"/>
          <p:cNvSpPr/>
          <p:nvPr/>
        </p:nvSpPr>
        <p:spPr>
          <a:xfrm>
            <a:off x="6507086" y="3481021"/>
            <a:ext cx="1373505" cy="6794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DC-DC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5V to 3.3V</a:t>
            </a:r>
          </a:p>
        </p:txBody>
      </p:sp>
      <p:sp>
        <p:nvSpPr>
          <p:cNvPr id="37" name="矩形 36"/>
          <p:cNvSpPr/>
          <p:nvPr/>
        </p:nvSpPr>
        <p:spPr>
          <a:xfrm>
            <a:off x="6517881" y="4697447"/>
            <a:ext cx="1371600" cy="6794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LDO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3.3V to1.5V</a:t>
            </a:r>
          </a:p>
        </p:txBody>
      </p:sp>
      <p:sp>
        <p:nvSpPr>
          <p:cNvPr id="38" name="矩形 37"/>
          <p:cNvSpPr/>
          <p:nvPr/>
        </p:nvSpPr>
        <p:spPr>
          <a:xfrm>
            <a:off x="8963901" y="2826018"/>
            <a:ext cx="2189480" cy="1992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1"/>
              <a:t>D31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00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1W</a:t>
            </a:r>
          </a:p>
        </p:txBody>
      </p:sp>
      <p:sp>
        <p:nvSpPr>
          <p:cNvPr id="39" name="矩形 38"/>
          <p:cNvSpPr/>
          <p:nvPr/>
        </p:nvSpPr>
        <p:spPr>
          <a:xfrm>
            <a:off x="9023274" y="5354356"/>
            <a:ext cx="948055" cy="71945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USB</a:t>
            </a:r>
          </a:p>
        </p:txBody>
      </p:sp>
      <p:cxnSp>
        <p:nvCxnSpPr>
          <p:cNvPr id="40" name="肘形连接符 39"/>
          <p:cNvCxnSpPr>
            <a:cxnSpLocks/>
            <a:endCxn id="39" idx="1"/>
          </p:cNvCxnSpPr>
          <p:nvPr/>
        </p:nvCxnSpPr>
        <p:spPr>
          <a:xfrm>
            <a:off x="5788155" y="4180286"/>
            <a:ext cx="3235119" cy="1533798"/>
          </a:xfrm>
          <a:prstGeom prst="bentConnector3">
            <a:avLst>
              <a:gd name="adj1" fmla="val 254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肘形连接符 40"/>
          <p:cNvCxnSpPr>
            <a:cxnSpLocks/>
            <a:stCxn id="127" idx="0"/>
            <a:endCxn id="35" idx="1"/>
          </p:cNvCxnSpPr>
          <p:nvPr/>
        </p:nvCxnSpPr>
        <p:spPr>
          <a:xfrm rot="5400000" flipH="1" flipV="1">
            <a:off x="5588678" y="2526146"/>
            <a:ext cx="791805" cy="1064061"/>
          </a:xfrm>
          <a:prstGeom prst="bentConnector2">
            <a:avLst/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文本框 2"/>
          <p:cNvSpPr txBox="1"/>
          <p:nvPr/>
        </p:nvSpPr>
        <p:spPr>
          <a:xfrm>
            <a:off x="7883131" y="2293973"/>
            <a:ext cx="101473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500mA</a:t>
            </a:r>
          </a:p>
        </p:txBody>
      </p:sp>
      <p:sp>
        <p:nvSpPr>
          <p:cNvPr id="47" name="文本框 2"/>
          <p:cNvSpPr txBox="1"/>
          <p:nvPr/>
        </p:nvSpPr>
        <p:spPr>
          <a:xfrm>
            <a:off x="7889481" y="3459198"/>
            <a:ext cx="9239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60mA</a:t>
            </a:r>
          </a:p>
        </p:txBody>
      </p:sp>
      <p:cxnSp>
        <p:nvCxnSpPr>
          <p:cNvPr id="48" name="肘形连接符 47"/>
          <p:cNvCxnSpPr>
            <a:cxnSpLocks/>
            <a:stCxn id="37" idx="3"/>
          </p:cNvCxnSpPr>
          <p:nvPr/>
        </p:nvCxnSpPr>
        <p:spPr>
          <a:xfrm flipV="1">
            <a:off x="7889481" y="4374162"/>
            <a:ext cx="1070687" cy="663010"/>
          </a:xfrm>
          <a:prstGeom prst="bentConnector3">
            <a:avLst>
              <a:gd name="adj1" fmla="val 50000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文本框 2"/>
          <p:cNvSpPr txBox="1"/>
          <p:nvPr/>
        </p:nvSpPr>
        <p:spPr>
          <a:xfrm>
            <a:off x="7926311" y="4649823"/>
            <a:ext cx="9239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200mA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84B2F6-42C7-49F9-F439-0BD962B01F23}"/>
              </a:ext>
            </a:extLst>
          </p:cNvPr>
          <p:cNvSpPr/>
          <p:nvPr/>
        </p:nvSpPr>
        <p:spPr>
          <a:xfrm>
            <a:off x="993253" y="2718065"/>
            <a:ext cx="1047433" cy="2185987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noProof="1"/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DC12V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noProof="1"/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852DF7F3-DD04-23C2-98F0-1E2DFA1E69CF}"/>
              </a:ext>
            </a:extLst>
          </p:cNvPr>
          <p:cNvSpPr/>
          <p:nvPr/>
        </p:nvSpPr>
        <p:spPr>
          <a:xfrm>
            <a:off x="2949731" y="3471334"/>
            <a:ext cx="1373505" cy="6794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DC-DC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12V to 5V</a:t>
            </a:r>
          </a:p>
        </p:txBody>
      </p: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60DE78C7-29B5-B61E-73F4-4817F481C951}"/>
              </a:ext>
            </a:extLst>
          </p:cNvPr>
          <p:cNvCxnSpPr>
            <a:cxnSpLocks/>
            <a:stCxn id="80" idx="3"/>
            <a:endCxn id="127" idx="1"/>
          </p:cNvCxnSpPr>
          <p:nvPr/>
        </p:nvCxnSpPr>
        <p:spPr>
          <a:xfrm>
            <a:off x="4323236" y="3811059"/>
            <a:ext cx="655286" cy="2747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96D17576-884E-0471-7E58-2FA129B97871}"/>
              </a:ext>
            </a:extLst>
          </p:cNvPr>
          <p:cNvCxnSpPr>
            <a:cxnSpLocks/>
            <a:stCxn id="36" idx="3"/>
            <a:endCxn id="38" idx="1"/>
          </p:cNvCxnSpPr>
          <p:nvPr/>
        </p:nvCxnSpPr>
        <p:spPr>
          <a:xfrm>
            <a:off x="7880591" y="3820746"/>
            <a:ext cx="1083310" cy="1392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7A55806A-D8EF-DC29-970D-C2B2E36AB4B9}"/>
              </a:ext>
            </a:extLst>
          </p:cNvPr>
          <p:cNvCxnSpPr>
            <a:cxnSpLocks/>
            <a:stCxn id="6" idx="3"/>
            <a:endCxn id="80" idx="1"/>
          </p:cNvCxnSpPr>
          <p:nvPr/>
        </p:nvCxnSpPr>
        <p:spPr>
          <a:xfrm>
            <a:off x="2040686" y="3811059"/>
            <a:ext cx="909045" cy="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肘形连接符 40">
            <a:extLst>
              <a:ext uri="{FF2B5EF4-FFF2-40B4-BE49-F238E27FC236}">
                <a16:creationId xmlns:a16="http://schemas.microsoft.com/office/drawing/2014/main" id="{C1231323-EBE9-05CB-4445-5C991BE4986E}"/>
              </a:ext>
            </a:extLst>
          </p:cNvPr>
          <p:cNvCxnSpPr>
            <a:cxnSpLocks/>
            <a:stCxn id="6" idx="0"/>
            <a:endCxn id="111" idx="1"/>
          </p:cNvCxnSpPr>
          <p:nvPr/>
        </p:nvCxnSpPr>
        <p:spPr>
          <a:xfrm rot="5400000" flipH="1" flipV="1">
            <a:off x="4770131" y="-1472134"/>
            <a:ext cx="937038" cy="7443360"/>
          </a:xfrm>
          <a:prstGeom prst="bentConnector2">
            <a:avLst/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肘形连接符 47">
            <a:extLst>
              <a:ext uri="{FF2B5EF4-FFF2-40B4-BE49-F238E27FC236}">
                <a16:creationId xmlns:a16="http://schemas.microsoft.com/office/drawing/2014/main" id="{DF05CC79-BADD-A714-5639-7E48B326AE1E}"/>
              </a:ext>
            </a:extLst>
          </p:cNvPr>
          <p:cNvCxnSpPr>
            <a:cxnSpLocks/>
          </p:cNvCxnSpPr>
          <p:nvPr/>
        </p:nvCxnSpPr>
        <p:spPr>
          <a:xfrm>
            <a:off x="7889481" y="2658569"/>
            <a:ext cx="1070849" cy="536098"/>
          </a:xfrm>
          <a:prstGeom prst="bentConnector3">
            <a:avLst>
              <a:gd name="adj1" fmla="val 50000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矩形 110">
            <a:extLst>
              <a:ext uri="{FF2B5EF4-FFF2-40B4-BE49-F238E27FC236}">
                <a16:creationId xmlns:a16="http://schemas.microsoft.com/office/drawing/2014/main" id="{E40076F8-FA49-B7FA-28C1-7A9351CF402C}"/>
              </a:ext>
            </a:extLst>
          </p:cNvPr>
          <p:cNvSpPr/>
          <p:nvPr/>
        </p:nvSpPr>
        <p:spPr>
          <a:xfrm>
            <a:off x="8960330" y="1421299"/>
            <a:ext cx="948055" cy="71945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LED</a:t>
            </a: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1A2DDCBB-6D30-B300-95BA-F5CDCB062A3C}"/>
              </a:ext>
            </a:extLst>
          </p:cNvPr>
          <p:cNvSpPr/>
          <p:nvPr/>
        </p:nvSpPr>
        <p:spPr>
          <a:xfrm>
            <a:off x="3144529" y="4773867"/>
            <a:ext cx="983908" cy="8952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BT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5F39150F-1DB0-0769-E2E8-0027C2306727}"/>
              </a:ext>
            </a:extLst>
          </p:cNvPr>
          <p:cNvSpPr/>
          <p:nvPr/>
        </p:nvSpPr>
        <p:spPr>
          <a:xfrm>
            <a:off x="4978522" y="3454078"/>
            <a:ext cx="948055" cy="71945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MOS</a:t>
            </a:r>
          </a:p>
        </p:txBody>
      </p: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9659886C-B13C-9968-2BA3-8BE3A00CEB5C}"/>
              </a:ext>
            </a:extLst>
          </p:cNvPr>
          <p:cNvCxnSpPr>
            <a:cxnSpLocks/>
            <a:stCxn id="127" idx="3"/>
            <a:endCxn id="36" idx="1"/>
          </p:cNvCxnSpPr>
          <p:nvPr/>
        </p:nvCxnSpPr>
        <p:spPr>
          <a:xfrm>
            <a:off x="5926577" y="3813806"/>
            <a:ext cx="580509" cy="694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肘形连接符 39">
            <a:extLst>
              <a:ext uri="{FF2B5EF4-FFF2-40B4-BE49-F238E27FC236}">
                <a16:creationId xmlns:a16="http://schemas.microsoft.com/office/drawing/2014/main" id="{9A5C6A69-03BE-0CD2-67A4-7C7613D27E4D}"/>
              </a:ext>
            </a:extLst>
          </p:cNvPr>
          <p:cNvCxnSpPr>
            <a:cxnSpLocks/>
            <a:stCxn id="121" idx="3"/>
            <a:endCxn id="127" idx="2"/>
          </p:cNvCxnSpPr>
          <p:nvPr/>
        </p:nvCxnSpPr>
        <p:spPr>
          <a:xfrm flipV="1">
            <a:off x="4128437" y="4173533"/>
            <a:ext cx="1324113" cy="1047970"/>
          </a:xfrm>
          <a:prstGeom prst="bentConnector2">
            <a:avLst/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D3BA7188-DF1C-A1B5-9D6B-487D7CB7CB03}"/>
              </a:ext>
            </a:extLst>
          </p:cNvPr>
          <p:cNvCxnSpPr>
            <a:cxnSpLocks/>
            <a:stCxn id="36" idx="2"/>
            <a:endCxn id="37" idx="0"/>
          </p:cNvCxnSpPr>
          <p:nvPr/>
        </p:nvCxnSpPr>
        <p:spPr>
          <a:xfrm>
            <a:off x="7193839" y="4160471"/>
            <a:ext cx="9842" cy="536976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43398544-5150-9D43-5CDC-9ECD5C02CF7D}"/>
              </a:ext>
            </a:extLst>
          </p:cNvPr>
          <p:cNvCxnSpPr>
            <a:cxnSpLocks/>
            <a:stCxn id="80" idx="2"/>
            <a:endCxn id="121" idx="0"/>
          </p:cNvCxnSpPr>
          <p:nvPr/>
        </p:nvCxnSpPr>
        <p:spPr>
          <a:xfrm flipH="1">
            <a:off x="3636483" y="4150784"/>
            <a:ext cx="1" cy="623083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3" name="文本框 2">
            <a:extLst>
              <a:ext uri="{FF2B5EF4-FFF2-40B4-BE49-F238E27FC236}">
                <a16:creationId xmlns:a16="http://schemas.microsoft.com/office/drawing/2014/main" id="{6538CABA-7186-4317-F999-6BB033EC58C8}"/>
              </a:ext>
            </a:extLst>
          </p:cNvPr>
          <p:cNvSpPr txBox="1"/>
          <p:nvPr/>
        </p:nvSpPr>
        <p:spPr>
          <a:xfrm>
            <a:off x="4248943" y="4853022"/>
            <a:ext cx="1193806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PWR_EN</a:t>
            </a:r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FF81CDD0-0E2D-6655-D653-76390C780EAE}"/>
              </a:ext>
            </a:extLst>
          </p:cNvPr>
          <p:cNvSpPr/>
          <p:nvPr/>
        </p:nvSpPr>
        <p:spPr>
          <a:xfrm>
            <a:off x="3167498" y="2052427"/>
            <a:ext cx="948055" cy="71945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1"/>
              <a:t>SPK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76" name="直接箭头连接符 175">
            <a:extLst>
              <a:ext uri="{FF2B5EF4-FFF2-40B4-BE49-F238E27FC236}">
                <a16:creationId xmlns:a16="http://schemas.microsoft.com/office/drawing/2014/main" id="{CC2DFAEF-B941-71E8-10BF-DA214C59B686}"/>
              </a:ext>
            </a:extLst>
          </p:cNvPr>
          <p:cNvCxnSpPr>
            <a:cxnSpLocks/>
            <a:stCxn id="80" idx="0"/>
            <a:endCxn id="175" idx="2"/>
          </p:cNvCxnSpPr>
          <p:nvPr/>
        </p:nvCxnSpPr>
        <p:spPr>
          <a:xfrm flipV="1">
            <a:off x="3636484" y="2771882"/>
            <a:ext cx="5042" cy="699452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0395" y="-5080"/>
            <a:ext cx="7125970" cy="50860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>
              <a:lnSpc>
                <a:spcPct val="125000"/>
              </a:lnSpc>
            </a:pPr>
            <a:r>
              <a:rPr lang="zh-CN" altLang="en-US" sz="24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 Block Diagram</a:t>
            </a: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-Power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endParaRPr lang="en-US" altLang="zh-CN" sz="2400" b="1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内容占位符 2"/>
          <p:cNvSpPr>
            <a:spLocks noGrp="1"/>
          </p:cNvSpPr>
          <p:nvPr>
            <p:ph idx="4294967295"/>
          </p:nvPr>
        </p:nvSpPr>
        <p:spPr>
          <a:xfrm>
            <a:off x="0" y="904875"/>
            <a:ext cx="8507413" cy="4525963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2400" dirty="0"/>
              <a:t>Power Supply System-SOC Standby</a:t>
            </a:r>
          </a:p>
        </p:txBody>
      </p:sp>
      <p:sp>
        <p:nvSpPr>
          <p:cNvPr id="35" name="矩形 34"/>
          <p:cNvSpPr/>
          <p:nvPr/>
        </p:nvSpPr>
        <p:spPr>
          <a:xfrm>
            <a:off x="6516611" y="2322548"/>
            <a:ext cx="1363980" cy="6794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DC-DC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5V to 1.2V</a:t>
            </a:r>
          </a:p>
        </p:txBody>
      </p:sp>
      <p:sp>
        <p:nvSpPr>
          <p:cNvPr id="36" name="矩形 35"/>
          <p:cNvSpPr/>
          <p:nvPr/>
        </p:nvSpPr>
        <p:spPr>
          <a:xfrm>
            <a:off x="6507086" y="3481021"/>
            <a:ext cx="1373505" cy="6794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DC-DC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5V to 3.3V</a:t>
            </a:r>
          </a:p>
        </p:txBody>
      </p:sp>
      <p:sp>
        <p:nvSpPr>
          <p:cNvPr id="37" name="矩形 36"/>
          <p:cNvSpPr/>
          <p:nvPr/>
        </p:nvSpPr>
        <p:spPr>
          <a:xfrm>
            <a:off x="6517881" y="4697447"/>
            <a:ext cx="1371600" cy="6794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LDO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3.3V to1.5V</a:t>
            </a:r>
          </a:p>
        </p:txBody>
      </p:sp>
      <p:sp>
        <p:nvSpPr>
          <p:cNvPr id="38" name="矩形 37"/>
          <p:cNvSpPr/>
          <p:nvPr/>
        </p:nvSpPr>
        <p:spPr>
          <a:xfrm>
            <a:off x="8963901" y="2826018"/>
            <a:ext cx="2189480" cy="19922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200" b="1" noProof="1"/>
              <a:t>D31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00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400" b="1" noProof="1">
                <a:solidFill>
                  <a:srgbClr val="00B050"/>
                </a:solidFill>
              </a:rPr>
              <a:t>160m</a:t>
            </a:r>
            <a:r>
              <a:rPr kumimoji="0" lang="en-US" altLang="zh-CN" sz="2400" b="1" i="0" u="none" strike="noStrike" kern="1200" cap="none" spc="0" normalizeH="0" baseline="0" noProof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</a:t>
            </a:r>
          </a:p>
        </p:txBody>
      </p:sp>
      <p:sp>
        <p:nvSpPr>
          <p:cNvPr id="39" name="矩形 38"/>
          <p:cNvSpPr/>
          <p:nvPr/>
        </p:nvSpPr>
        <p:spPr>
          <a:xfrm>
            <a:off x="9023274" y="5354356"/>
            <a:ext cx="948055" cy="71945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USB</a:t>
            </a:r>
          </a:p>
        </p:txBody>
      </p:sp>
      <p:cxnSp>
        <p:nvCxnSpPr>
          <p:cNvPr id="40" name="肘形连接符 39"/>
          <p:cNvCxnSpPr>
            <a:cxnSpLocks/>
            <a:endCxn id="39" idx="1"/>
          </p:cNvCxnSpPr>
          <p:nvPr/>
        </p:nvCxnSpPr>
        <p:spPr>
          <a:xfrm>
            <a:off x="5788155" y="4180286"/>
            <a:ext cx="3235119" cy="1533798"/>
          </a:xfrm>
          <a:prstGeom prst="bentConnector3">
            <a:avLst>
              <a:gd name="adj1" fmla="val 254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肘形连接符 40"/>
          <p:cNvCxnSpPr>
            <a:cxnSpLocks/>
            <a:stCxn id="127" idx="0"/>
            <a:endCxn id="35" idx="1"/>
          </p:cNvCxnSpPr>
          <p:nvPr/>
        </p:nvCxnSpPr>
        <p:spPr>
          <a:xfrm rot="5400000" flipH="1" flipV="1">
            <a:off x="5588678" y="2526146"/>
            <a:ext cx="791805" cy="1064061"/>
          </a:xfrm>
          <a:prstGeom prst="bentConnector2">
            <a:avLst/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文本框 2"/>
          <p:cNvSpPr txBox="1"/>
          <p:nvPr/>
        </p:nvSpPr>
        <p:spPr>
          <a:xfrm>
            <a:off x="7883131" y="2293973"/>
            <a:ext cx="101473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65mA</a:t>
            </a:r>
          </a:p>
        </p:txBody>
      </p:sp>
      <p:sp>
        <p:nvSpPr>
          <p:cNvPr id="47" name="文本框 2"/>
          <p:cNvSpPr txBox="1"/>
          <p:nvPr/>
        </p:nvSpPr>
        <p:spPr>
          <a:xfrm>
            <a:off x="7889481" y="3459198"/>
            <a:ext cx="9239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24mA</a:t>
            </a:r>
          </a:p>
        </p:txBody>
      </p:sp>
      <p:cxnSp>
        <p:nvCxnSpPr>
          <p:cNvPr id="48" name="肘形连接符 47"/>
          <p:cNvCxnSpPr>
            <a:cxnSpLocks/>
          </p:cNvCxnSpPr>
          <p:nvPr/>
        </p:nvCxnSpPr>
        <p:spPr>
          <a:xfrm rot="10800000" flipV="1">
            <a:off x="7906870" y="4448217"/>
            <a:ext cx="1038101" cy="576248"/>
          </a:xfrm>
          <a:prstGeom prst="bentConnector3">
            <a:avLst>
              <a:gd name="adj1" fmla="val 50000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文本框 2"/>
          <p:cNvSpPr txBox="1"/>
          <p:nvPr/>
        </p:nvSpPr>
        <p:spPr>
          <a:xfrm>
            <a:off x="7906867" y="4648380"/>
            <a:ext cx="1266902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PWR_EN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84B2F6-42C7-49F9-F439-0BD962B01F23}"/>
              </a:ext>
            </a:extLst>
          </p:cNvPr>
          <p:cNvSpPr/>
          <p:nvPr/>
        </p:nvSpPr>
        <p:spPr>
          <a:xfrm>
            <a:off x="993253" y="2718065"/>
            <a:ext cx="1047433" cy="2185987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AC-DC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DC12V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1">
                <a:solidFill>
                  <a:srgbClr val="00B050"/>
                </a:solidFill>
              </a:rPr>
              <a:t>200mW</a:t>
            </a:r>
            <a:endParaRPr kumimoji="0" lang="en-US" altLang="zh-CN" sz="1800" b="1" i="0" u="none" strike="noStrike" kern="1200" cap="none" spc="0" normalizeH="0" baseline="0" noProof="1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noProof="1"/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852DF7F3-DD04-23C2-98F0-1E2DFA1E69CF}"/>
              </a:ext>
            </a:extLst>
          </p:cNvPr>
          <p:cNvSpPr/>
          <p:nvPr/>
        </p:nvSpPr>
        <p:spPr>
          <a:xfrm>
            <a:off x="2949731" y="3185071"/>
            <a:ext cx="1373505" cy="12631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DC-DC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12V to 5V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1">
                <a:solidFill>
                  <a:srgbClr val="00B050"/>
                </a:solidFill>
              </a:rPr>
              <a:t>180mW</a:t>
            </a:r>
            <a:endParaRPr kumimoji="0" lang="en-US" altLang="zh-CN" sz="1800" b="1" i="0" u="none" strike="noStrike" kern="1200" cap="none" spc="0" normalizeH="0" baseline="0" noProof="1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60DE78C7-29B5-B61E-73F4-4817F481C951}"/>
              </a:ext>
            </a:extLst>
          </p:cNvPr>
          <p:cNvCxnSpPr>
            <a:cxnSpLocks/>
            <a:stCxn id="80" idx="3"/>
            <a:endCxn id="127" idx="1"/>
          </p:cNvCxnSpPr>
          <p:nvPr/>
        </p:nvCxnSpPr>
        <p:spPr>
          <a:xfrm flipV="1">
            <a:off x="4323236" y="3813806"/>
            <a:ext cx="655286" cy="2838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96D17576-884E-0471-7E58-2FA129B97871}"/>
              </a:ext>
            </a:extLst>
          </p:cNvPr>
          <p:cNvCxnSpPr>
            <a:cxnSpLocks/>
            <a:stCxn id="36" idx="3"/>
            <a:endCxn id="38" idx="1"/>
          </p:cNvCxnSpPr>
          <p:nvPr/>
        </p:nvCxnSpPr>
        <p:spPr>
          <a:xfrm>
            <a:off x="7880591" y="3820746"/>
            <a:ext cx="1083310" cy="1392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7A55806A-D8EF-DC29-970D-C2B2E36AB4B9}"/>
              </a:ext>
            </a:extLst>
          </p:cNvPr>
          <p:cNvCxnSpPr>
            <a:cxnSpLocks/>
            <a:stCxn id="6" idx="3"/>
            <a:endCxn id="80" idx="1"/>
          </p:cNvCxnSpPr>
          <p:nvPr/>
        </p:nvCxnSpPr>
        <p:spPr>
          <a:xfrm>
            <a:off x="2040686" y="3811059"/>
            <a:ext cx="909045" cy="5585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肘形连接符 40">
            <a:extLst>
              <a:ext uri="{FF2B5EF4-FFF2-40B4-BE49-F238E27FC236}">
                <a16:creationId xmlns:a16="http://schemas.microsoft.com/office/drawing/2014/main" id="{C1231323-EBE9-05CB-4445-5C991BE4986E}"/>
              </a:ext>
            </a:extLst>
          </p:cNvPr>
          <p:cNvCxnSpPr>
            <a:cxnSpLocks/>
            <a:stCxn id="6" idx="0"/>
            <a:endCxn id="111" idx="1"/>
          </p:cNvCxnSpPr>
          <p:nvPr/>
        </p:nvCxnSpPr>
        <p:spPr>
          <a:xfrm rot="5400000" flipH="1" flipV="1">
            <a:off x="1909832" y="1517767"/>
            <a:ext cx="807437" cy="1593160"/>
          </a:xfrm>
          <a:prstGeom prst="bentConnector2">
            <a:avLst/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肘形连接符 47">
            <a:extLst>
              <a:ext uri="{FF2B5EF4-FFF2-40B4-BE49-F238E27FC236}">
                <a16:creationId xmlns:a16="http://schemas.microsoft.com/office/drawing/2014/main" id="{DF05CC79-BADD-A714-5639-7E48B326AE1E}"/>
              </a:ext>
            </a:extLst>
          </p:cNvPr>
          <p:cNvCxnSpPr>
            <a:cxnSpLocks/>
          </p:cNvCxnSpPr>
          <p:nvPr/>
        </p:nvCxnSpPr>
        <p:spPr>
          <a:xfrm>
            <a:off x="7889481" y="2658569"/>
            <a:ext cx="1070849" cy="536098"/>
          </a:xfrm>
          <a:prstGeom prst="bentConnector3">
            <a:avLst>
              <a:gd name="adj1" fmla="val 50000"/>
            </a:avLst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1" name="矩形 110">
            <a:extLst>
              <a:ext uri="{FF2B5EF4-FFF2-40B4-BE49-F238E27FC236}">
                <a16:creationId xmlns:a16="http://schemas.microsoft.com/office/drawing/2014/main" id="{E40076F8-FA49-B7FA-28C1-7A9351CF402C}"/>
              </a:ext>
            </a:extLst>
          </p:cNvPr>
          <p:cNvSpPr/>
          <p:nvPr/>
        </p:nvSpPr>
        <p:spPr>
          <a:xfrm>
            <a:off x="3110130" y="1550900"/>
            <a:ext cx="948055" cy="71945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LED/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FAN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5F39150F-1DB0-0769-E2E8-0027C2306727}"/>
              </a:ext>
            </a:extLst>
          </p:cNvPr>
          <p:cNvSpPr/>
          <p:nvPr/>
        </p:nvSpPr>
        <p:spPr>
          <a:xfrm>
            <a:off x="4978522" y="3454078"/>
            <a:ext cx="948055" cy="71945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MOS</a:t>
            </a:r>
          </a:p>
        </p:txBody>
      </p: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9659886C-B13C-9968-2BA3-8BE3A00CEB5C}"/>
              </a:ext>
            </a:extLst>
          </p:cNvPr>
          <p:cNvCxnSpPr>
            <a:cxnSpLocks/>
            <a:stCxn id="127" idx="3"/>
            <a:endCxn id="36" idx="1"/>
          </p:cNvCxnSpPr>
          <p:nvPr/>
        </p:nvCxnSpPr>
        <p:spPr>
          <a:xfrm>
            <a:off x="5926577" y="3813806"/>
            <a:ext cx="580509" cy="694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肘形连接符 39">
            <a:extLst>
              <a:ext uri="{FF2B5EF4-FFF2-40B4-BE49-F238E27FC236}">
                <a16:creationId xmlns:a16="http://schemas.microsoft.com/office/drawing/2014/main" id="{9A5C6A69-03BE-0CD2-67A4-7C7613D27E4D}"/>
              </a:ext>
            </a:extLst>
          </p:cNvPr>
          <p:cNvCxnSpPr>
            <a:cxnSpLocks/>
            <a:endCxn id="127" idx="2"/>
          </p:cNvCxnSpPr>
          <p:nvPr/>
        </p:nvCxnSpPr>
        <p:spPr>
          <a:xfrm flipV="1">
            <a:off x="4128437" y="4173533"/>
            <a:ext cx="1324113" cy="1047970"/>
          </a:xfrm>
          <a:prstGeom prst="bentConnector2">
            <a:avLst/>
          </a:prstGeom>
          <a:ln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D3BA7188-DF1C-A1B5-9D6B-487D7CB7CB03}"/>
              </a:ext>
            </a:extLst>
          </p:cNvPr>
          <p:cNvCxnSpPr>
            <a:cxnSpLocks/>
            <a:stCxn id="36" idx="2"/>
            <a:endCxn id="37" idx="0"/>
          </p:cNvCxnSpPr>
          <p:nvPr/>
        </p:nvCxnSpPr>
        <p:spPr>
          <a:xfrm>
            <a:off x="7193839" y="4160471"/>
            <a:ext cx="9842" cy="536976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3" name="文本框 2">
            <a:extLst>
              <a:ext uri="{FF2B5EF4-FFF2-40B4-BE49-F238E27FC236}">
                <a16:creationId xmlns:a16="http://schemas.microsoft.com/office/drawing/2014/main" id="{6538CABA-7186-4317-F999-6BB033EC58C8}"/>
              </a:ext>
            </a:extLst>
          </p:cNvPr>
          <p:cNvSpPr txBox="1"/>
          <p:nvPr/>
        </p:nvSpPr>
        <p:spPr>
          <a:xfrm>
            <a:off x="4248943" y="4853022"/>
            <a:ext cx="1193806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PWR_EN</a:t>
            </a:r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FF81CDD0-0E2D-6655-D653-76390C780EAE}"/>
              </a:ext>
            </a:extLst>
          </p:cNvPr>
          <p:cNvSpPr/>
          <p:nvPr/>
        </p:nvSpPr>
        <p:spPr>
          <a:xfrm>
            <a:off x="4719189" y="1551556"/>
            <a:ext cx="948055" cy="71945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1"/>
              <a:t>SPK</a:t>
            </a: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76" name="直接箭头连接符 175">
            <a:extLst>
              <a:ext uri="{FF2B5EF4-FFF2-40B4-BE49-F238E27FC236}">
                <a16:creationId xmlns:a16="http://schemas.microsoft.com/office/drawing/2014/main" id="{CC2DFAEF-B941-71E8-10BF-DA214C59B686}"/>
              </a:ext>
            </a:extLst>
          </p:cNvPr>
          <p:cNvCxnSpPr>
            <a:cxnSpLocks/>
            <a:endCxn id="175" idx="2"/>
          </p:cNvCxnSpPr>
          <p:nvPr/>
        </p:nvCxnSpPr>
        <p:spPr>
          <a:xfrm flipV="1">
            <a:off x="5193217" y="2271011"/>
            <a:ext cx="0" cy="1183067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框 2">
            <a:extLst>
              <a:ext uri="{FF2B5EF4-FFF2-40B4-BE49-F238E27FC236}">
                <a16:creationId xmlns:a16="http://schemas.microsoft.com/office/drawing/2014/main" id="{128D4621-1D63-517D-B01C-B30B1FD7052E}"/>
              </a:ext>
            </a:extLst>
          </p:cNvPr>
          <p:cNvSpPr txBox="1"/>
          <p:nvPr/>
        </p:nvSpPr>
        <p:spPr>
          <a:xfrm>
            <a:off x="2111549" y="2607188"/>
            <a:ext cx="1193806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PWR_EN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7C66D4B9-55BB-CD4D-B23C-571F27AB5686}"/>
              </a:ext>
            </a:extLst>
          </p:cNvPr>
          <p:cNvCxnSpPr>
            <a:cxnSpLocks/>
          </p:cNvCxnSpPr>
          <p:nvPr/>
        </p:nvCxnSpPr>
        <p:spPr>
          <a:xfrm flipH="1">
            <a:off x="2040686" y="2926617"/>
            <a:ext cx="993253" cy="1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01D90253-1FAE-E667-3B7A-FCBAF085BFF7}"/>
              </a:ext>
            </a:extLst>
          </p:cNvPr>
          <p:cNvSpPr/>
          <p:nvPr/>
        </p:nvSpPr>
        <p:spPr>
          <a:xfrm>
            <a:off x="993252" y="5327352"/>
            <a:ext cx="1047433" cy="848777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noProof="1"/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noProof="1"/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noProof="1"/>
              <a:t>AC220V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b="1" noProof="1">
                <a:solidFill>
                  <a:srgbClr val="00B050"/>
                </a:solidFill>
              </a:rPr>
              <a:t>＜</a:t>
            </a:r>
            <a:r>
              <a:rPr lang="en-US" altLang="zh-CN" b="1" noProof="1">
                <a:solidFill>
                  <a:srgbClr val="00B050"/>
                </a:solidFill>
              </a:rPr>
              <a:t>0.5W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4FAFD3C4-E1CE-7046-08C9-0A3843FB72E5}"/>
              </a:ext>
            </a:extLst>
          </p:cNvPr>
          <p:cNvCxnSpPr>
            <a:cxnSpLocks/>
            <a:stCxn id="58" idx="0"/>
            <a:endCxn id="6" idx="2"/>
          </p:cNvCxnSpPr>
          <p:nvPr/>
        </p:nvCxnSpPr>
        <p:spPr>
          <a:xfrm flipV="1">
            <a:off x="1516969" y="4904052"/>
            <a:ext cx="1" cy="42330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0AAF2100-62D8-9D16-7F78-FC4D0E8159EB}"/>
              </a:ext>
            </a:extLst>
          </p:cNvPr>
          <p:cNvSpPr/>
          <p:nvPr/>
        </p:nvSpPr>
        <p:spPr>
          <a:xfrm>
            <a:off x="9517965" y="1550899"/>
            <a:ext cx="1081351" cy="719455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IR/KEY</a:t>
            </a: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B2D76812-4F0C-B5E9-AEFB-61167FBBFDAA}"/>
              </a:ext>
            </a:extLst>
          </p:cNvPr>
          <p:cNvCxnSpPr>
            <a:cxnSpLocks/>
            <a:stCxn id="63" idx="2"/>
            <a:endCxn id="38" idx="0"/>
          </p:cNvCxnSpPr>
          <p:nvPr/>
        </p:nvCxnSpPr>
        <p:spPr>
          <a:xfrm>
            <a:off x="10058641" y="2270354"/>
            <a:ext cx="0" cy="555664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807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0395" y="-5080"/>
            <a:ext cx="712597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>
              <a:buFont typeface="Wingdings" panose="05000000000000000000" charset="0"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  <a:sym typeface="+mn-ea"/>
              </a:rPr>
              <a:t>System Sch Design</a:t>
            </a:r>
          </a:p>
        </p:txBody>
      </p: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457200" y="904875"/>
            <a:ext cx="8507413" cy="5230749"/>
          </a:xfrm>
        </p:spPr>
        <p:txBody>
          <a:bodyPr vert="horz" wrap="square" lIns="91440" tIns="45720" rIns="91440" bIns="45720" anchor="t" anchorCtr="0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ym typeface="+mn-ea"/>
              </a:rPr>
              <a:t>参考设计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sym typeface="+mn-ea"/>
              </a:rPr>
              <a:t>DB-D3100-V1.2</a:t>
            </a:r>
            <a:r>
              <a:rPr lang="zh-CN" altLang="en-US" sz="2400" dirty="0">
                <a:sym typeface="+mn-ea"/>
              </a:rPr>
              <a:t>是</a:t>
            </a:r>
            <a:r>
              <a:rPr lang="en-US" altLang="zh-CN" sz="2400" dirty="0">
                <a:sym typeface="+mn-ea"/>
              </a:rPr>
              <a:t>DDR3</a:t>
            </a:r>
            <a:r>
              <a:rPr lang="zh-CN" altLang="en-US" sz="2400" dirty="0">
                <a:sym typeface="+mn-ea"/>
              </a:rPr>
              <a:t>，</a:t>
            </a:r>
            <a:r>
              <a:rPr lang="en-US" altLang="zh-CN" sz="2400" dirty="0">
                <a:sym typeface="+mn-ea"/>
              </a:rPr>
              <a:t>1066MHz</a:t>
            </a:r>
            <a:endParaRPr kumimoji="0" lang="en-US" altLang="zh-CN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sym typeface="+mn-ea"/>
              </a:rPr>
              <a:t>DB-D3100-V2</a:t>
            </a:r>
            <a:r>
              <a:rPr lang="zh-CN" altLang="en-US" sz="2400" dirty="0">
                <a:sym typeface="+mn-ea"/>
              </a:rPr>
              <a:t>是</a:t>
            </a:r>
            <a:r>
              <a:rPr lang="en-US" altLang="zh-CN" sz="2400" dirty="0">
                <a:sym typeface="+mn-ea"/>
              </a:rPr>
              <a:t>DDR2</a:t>
            </a:r>
            <a:r>
              <a:rPr lang="zh-CN" altLang="en-US" sz="2400" dirty="0">
                <a:sym typeface="+mn-ea"/>
              </a:rPr>
              <a:t>，</a:t>
            </a:r>
            <a:r>
              <a:rPr lang="en-US" altLang="zh-CN" sz="2400" dirty="0">
                <a:sym typeface="+mn-ea"/>
              </a:rPr>
              <a:t>800MHz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DB-D3100-V3.1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是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DDR3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，</a:t>
            </a:r>
            <a:r>
              <a:rPr lang="en-US" altLang="zh-CN" sz="2400" noProof="1">
                <a:sym typeface="+mn-ea"/>
              </a:rPr>
              <a:t>HDMI switch</a:t>
            </a:r>
            <a:r>
              <a:rPr lang="zh-CN" altLang="en-US" sz="2400" noProof="1">
                <a:sym typeface="+mn-ea"/>
              </a:rPr>
              <a:t>、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蓝牙和电池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ym typeface="+mn-ea"/>
              </a:rPr>
              <a:t>CPU</a:t>
            </a:r>
            <a:r>
              <a:rPr lang="zh-CN" altLang="en-US" sz="2400" dirty="0">
                <a:sym typeface="+mn-ea"/>
              </a:rPr>
              <a:t>温度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sym typeface="+mn-ea"/>
              </a:rPr>
              <a:t>2</a:t>
            </a:r>
            <a:r>
              <a:rPr lang="zh-CN" altLang="en-US" sz="2400" dirty="0">
                <a:sym typeface="+mn-ea"/>
              </a:rPr>
              <a:t>层板</a:t>
            </a:r>
            <a:r>
              <a:rPr lang="en-US" altLang="zh-CN" sz="2400" dirty="0">
                <a:sym typeface="+mn-ea"/>
              </a:rPr>
              <a:t>DDR2/3</a:t>
            </a:r>
            <a:r>
              <a:rPr lang="zh-CN" altLang="en-US" sz="2400" dirty="0">
                <a:sym typeface="+mn-ea"/>
              </a:rPr>
              <a:t>常温下工作温度</a:t>
            </a:r>
            <a:r>
              <a:rPr lang="en-US" altLang="zh-CN" sz="2400" dirty="0">
                <a:sym typeface="+mn-ea"/>
              </a:rPr>
              <a:t>55</a:t>
            </a:r>
            <a:r>
              <a:rPr lang="zh-CN" altLang="en-US" sz="2400" dirty="0">
                <a:sym typeface="+mn-ea"/>
              </a:rPr>
              <a:t>度以内</a:t>
            </a:r>
            <a:endParaRPr lang="en-US" altLang="zh-CN" sz="2400" dirty="0"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ym typeface="+mn-ea"/>
              </a:rPr>
              <a:t>CPU</a:t>
            </a:r>
            <a:r>
              <a:rPr lang="zh-CN" altLang="en-US" sz="2400" dirty="0">
                <a:sym typeface="+mn-ea"/>
              </a:rPr>
              <a:t>功耗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sym typeface="+mn-ea"/>
              </a:rPr>
              <a:t>DB-D3100-V1.2</a:t>
            </a:r>
            <a:r>
              <a:rPr lang="zh-CN" altLang="en-US" sz="2400" dirty="0">
                <a:sym typeface="+mn-ea"/>
              </a:rPr>
              <a:t>用</a:t>
            </a:r>
            <a:r>
              <a:rPr lang="en-US" altLang="zh-CN" sz="2400" dirty="0">
                <a:sym typeface="+mn-ea"/>
              </a:rPr>
              <a:t>U</a:t>
            </a:r>
            <a:r>
              <a:rPr lang="zh-CN" altLang="en-US" sz="2400" dirty="0">
                <a:sym typeface="+mn-ea"/>
              </a:rPr>
              <a:t>盘播放</a:t>
            </a:r>
            <a:r>
              <a:rPr lang="en-US" altLang="zh-CN" sz="2400" dirty="0">
                <a:sym typeface="+mn-ea"/>
              </a:rPr>
              <a:t>1080P</a:t>
            </a:r>
            <a:r>
              <a:rPr lang="zh-CN" altLang="en-US" sz="2400" dirty="0">
                <a:sym typeface="+mn-ea"/>
              </a:rPr>
              <a:t>视频时，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sym typeface="+mn-ea"/>
              </a:rPr>
              <a:t>CPU</a:t>
            </a:r>
            <a:r>
              <a:rPr lang="zh-CN" altLang="en-US" sz="2400" dirty="0">
                <a:sym typeface="+mn-ea"/>
              </a:rPr>
              <a:t>功耗≤</a:t>
            </a:r>
            <a:r>
              <a:rPr lang="en-US" altLang="zh-CN" sz="2400" dirty="0">
                <a:sym typeface="+mn-ea"/>
              </a:rPr>
              <a:t>1W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</a:pP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zh-CN" sz="2400" dirty="0"/>
          </a:p>
        </p:txBody>
      </p:sp>
      <p:pic>
        <p:nvPicPr>
          <p:cNvPr id="20483" name="图片 1" descr="21.11.23_13-20-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6365" y="975677"/>
            <a:ext cx="3680460" cy="490664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780343B-C903-B567-0E89-4A2AB9F296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9404984"/>
              </p:ext>
            </p:extLst>
          </p:nvPr>
        </p:nvGraphicFramePr>
        <p:xfrm>
          <a:off x="457200" y="4959858"/>
          <a:ext cx="3503055" cy="1175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752769" imgH="923709" progId="Excel.Sheet.8">
                  <p:embed/>
                </p:oleObj>
              </mc:Choice>
              <mc:Fallback>
                <p:oleObj name="Worksheet" r:id="rId3" imgW="2752769" imgH="923709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4959858"/>
                        <a:ext cx="3503055" cy="11757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0395" y="-5080"/>
            <a:ext cx="7125970" cy="5198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>
              <a:buFont typeface="Wingdings" panose="05000000000000000000" charset="0"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  <a:sym typeface="+mn-ea"/>
              </a:rPr>
              <a:t>System Sch Design-DDR</a:t>
            </a:r>
          </a:p>
        </p:txBody>
      </p: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457201" y="904875"/>
            <a:ext cx="7877174" cy="5093589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2400" dirty="0">
                <a:sym typeface="+mn-ea"/>
              </a:rPr>
              <a:t>DDR2/DDR3</a:t>
            </a:r>
            <a:r>
              <a:rPr lang="zh-CN" altLang="en-US" sz="2400" dirty="0">
                <a:sym typeface="+mn-ea"/>
              </a:rPr>
              <a:t>两层板</a:t>
            </a:r>
            <a:r>
              <a:rPr lang="en-US" altLang="zh-CN" sz="2400" dirty="0" err="1">
                <a:sym typeface="+mn-ea"/>
              </a:rPr>
              <a:t>最佳的Address</a:t>
            </a:r>
            <a:r>
              <a:rPr lang="en-US" altLang="zh-CN" sz="2400" dirty="0">
                <a:sym typeface="+mn-ea"/>
              </a:rPr>
              <a:t>/CMD匹配电阻为47Ω</a:t>
            </a:r>
            <a:r>
              <a:rPr lang="zh-CN" altLang="en-US" sz="2400" dirty="0">
                <a:sym typeface="+mn-ea"/>
              </a:rPr>
              <a:t>，频率不高时可以省掉</a:t>
            </a:r>
            <a:endParaRPr lang="en-US" altLang="zh-CN" sz="2400" dirty="0"/>
          </a:p>
          <a:p>
            <a:pPr eaLnBrk="1" hangingPunct="1">
              <a:buSzTx/>
            </a:pPr>
            <a:r>
              <a:rPr lang="en-US" altLang="zh-CN" sz="2400" dirty="0">
                <a:sym typeface="+mn-ea"/>
              </a:rPr>
              <a:t>DDR DQ/DQS/DQM 不</a:t>
            </a:r>
            <a:r>
              <a:rPr lang="zh-CN" altLang="zh-CN" sz="2400" dirty="0">
                <a:sym typeface="+mn-ea"/>
              </a:rPr>
              <a:t>用加串阻</a:t>
            </a:r>
            <a:endParaRPr lang="en-US" altLang="zh-CN" sz="2400" dirty="0"/>
          </a:p>
          <a:p>
            <a:pPr eaLnBrk="1" hangingPunct="1">
              <a:buSzTx/>
            </a:pPr>
            <a:r>
              <a:rPr lang="zh-CN" altLang="en-US" sz="2400" dirty="0">
                <a:sym typeface="+mn-ea"/>
              </a:rPr>
              <a:t>同组</a:t>
            </a:r>
            <a:r>
              <a:rPr lang="en-US" altLang="zh-CN" sz="2400" dirty="0">
                <a:sym typeface="+mn-ea"/>
              </a:rPr>
              <a:t>8</a:t>
            </a:r>
            <a:r>
              <a:rPr lang="zh-CN" altLang="en-US" sz="2400" dirty="0">
                <a:sym typeface="+mn-ea"/>
              </a:rPr>
              <a:t>位</a:t>
            </a:r>
            <a:r>
              <a:rPr lang="en-US" altLang="zh-CN" sz="2400" dirty="0">
                <a:sym typeface="+mn-ea"/>
              </a:rPr>
              <a:t>LDQx/UDQx</a:t>
            </a:r>
            <a:r>
              <a:rPr lang="zh-CN" altLang="en-US" sz="2400" dirty="0">
                <a:sym typeface="+mn-ea"/>
              </a:rPr>
              <a:t>内可以根据</a:t>
            </a:r>
            <a:r>
              <a:rPr lang="en-US" altLang="zh-CN" sz="2400" dirty="0">
                <a:sym typeface="+mn-ea"/>
              </a:rPr>
              <a:t>layout</a:t>
            </a:r>
            <a:r>
              <a:rPr lang="zh-CN" altLang="en-US" sz="2400" dirty="0">
                <a:sym typeface="+mn-ea"/>
              </a:rPr>
              <a:t>进行交换</a:t>
            </a:r>
            <a:endParaRPr lang="en-US" altLang="zh-CN" sz="2400" dirty="0"/>
          </a:p>
          <a:p>
            <a:pPr eaLnBrk="1" hangingPunct="1">
              <a:buSzTx/>
            </a:pPr>
            <a:r>
              <a:rPr lang="en-US" altLang="zh-CN" sz="2400" dirty="0">
                <a:sym typeface="+mn-ea"/>
              </a:rPr>
              <a:t>DDR3在differential CLK上并联 100Ω</a:t>
            </a:r>
            <a:r>
              <a:rPr lang="zh-CN" altLang="en-US" sz="2400" dirty="0">
                <a:sym typeface="+mn-ea"/>
              </a:rPr>
              <a:t>负载</a:t>
            </a:r>
            <a:r>
              <a:rPr lang="en-US" altLang="zh-CN" sz="2400" dirty="0">
                <a:sym typeface="+mn-ea"/>
              </a:rPr>
              <a:t>电阻 </a:t>
            </a:r>
            <a:endParaRPr lang="en-US" altLang="zh-CN" sz="2400" dirty="0"/>
          </a:p>
          <a:p>
            <a:pPr eaLnBrk="1" hangingPunct="1">
              <a:buSzTx/>
            </a:pPr>
            <a:r>
              <a:rPr lang="en-US" altLang="zh-CN" sz="2400" dirty="0">
                <a:sym typeface="宋体" panose="02010600030101010101" pitchFamily="2" charset="-122"/>
              </a:rPr>
              <a:t>DDR2在differential CLK上并联 240Ω</a:t>
            </a:r>
            <a:r>
              <a:rPr lang="zh-CN" altLang="en-US" sz="2400" dirty="0">
                <a:sym typeface="宋体" panose="02010600030101010101" pitchFamily="2" charset="-122"/>
              </a:rPr>
              <a:t>负载</a:t>
            </a:r>
            <a:r>
              <a:rPr lang="en-US" altLang="zh-CN" sz="2400" dirty="0">
                <a:sym typeface="宋体" panose="02010600030101010101" pitchFamily="2" charset="-122"/>
              </a:rPr>
              <a:t>电阻</a:t>
            </a:r>
            <a:endParaRPr lang="en-US" altLang="zh-CN" sz="2400" dirty="0"/>
          </a:p>
          <a:p>
            <a:pPr eaLnBrk="1" hangingPunct="1">
              <a:buSzTx/>
            </a:pPr>
            <a:r>
              <a:rPr lang="en-US" altLang="zh-CN" sz="2400" dirty="0">
                <a:sym typeface="+mn-ea"/>
              </a:rPr>
              <a:t>VREF的分压电阻使用精度为1% </a:t>
            </a:r>
            <a:endParaRPr lang="en-US" altLang="zh-CN" sz="2400" dirty="0"/>
          </a:p>
          <a:p>
            <a:pPr eaLnBrk="1" hangingPunct="1">
              <a:buSzTx/>
            </a:pPr>
            <a:r>
              <a:rPr lang="en-US" altLang="zh-CN" sz="2400" dirty="0">
                <a:sym typeface="+mn-ea"/>
              </a:rPr>
              <a:t>DDR</a:t>
            </a:r>
            <a:r>
              <a:rPr lang="zh-CN" altLang="en-US" sz="2400" dirty="0">
                <a:sym typeface="+mn-ea"/>
              </a:rPr>
              <a:t>颗粒频率选型要比实际配置频率高</a:t>
            </a:r>
            <a:endParaRPr lang="en-US" altLang="zh-CN" sz="2400" dirty="0"/>
          </a:p>
          <a:p>
            <a:pPr eaLnBrk="1" hangingPunct="1">
              <a:buSzTx/>
            </a:pPr>
            <a:r>
              <a:rPr lang="en-US" altLang="zh-CN" sz="2400" dirty="0">
                <a:sym typeface="+mn-ea"/>
              </a:rPr>
              <a:t>软件DDR</a:t>
            </a:r>
            <a:r>
              <a:rPr lang="zh-CN" altLang="zh-CN" sz="2400" dirty="0">
                <a:sym typeface="+mn-ea"/>
              </a:rPr>
              <a:t>配置参数</a:t>
            </a:r>
            <a:r>
              <a:rPr lang="en-US" altLang="zh-CN" sz="2400" dirty="0">
                <a:sym typeface="+mn-ea"/>
              </a:rPr>
              <a:t>必须</a:t>
            </a:r>
            <a:r>
              <a:rPr lang="zh-CN" altLang="en-US" sz="2400" dirty="0">
                <a:sym typeface="+mn-ea"/>
              </a:rPr>
              <a:t>板子设计匹配</a:t>
            </a:r>
            <a:r>
              <a:rPr lang="en-US" altLang="zh-CN" sz="2400" dirty="0">
                <a:sym typeface="+mn-ea"/>
              </a:rPr>
              <a:t>，</a:t>
            </a:r>
            <a:r>
              <a:rPr lang="zh-CN" altLang="en-US" sz="2400" dirty="0">
                <a:sym typeface="+mn-ea"/>
              </a:rPr>
              <a:t>推荐</a:t>
            </a:r>
            <a:r>
              <a:rPr lang="en-US" altLang="zh-CN" sz="2400" dirty="0">
                <a:sym typeface="+mn-ea"/>
              </a:rPr>
              <a:t>使用AVL Support list 内DDR型号。(具体</a:t>
            </a:r>
            <a:r>
              <a:rPr lang="zh-CN" altLang="en-US" sz="2400" dirty="0">
                <a:sym typeface="+mn-ea"/>
              </a:rPr>
              <a:t>看</a:t>
            </a:r>
            <a:r>
              <a:rPr lang="en-US" altLang="zh-CN" sz="2400" dirty="0">
                <a:sym typeface="+mn-ea"/>
              </a:rPr>
              <a:t>DDR AVL Support List)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8030151-25F3-1B7C-A656-98346B665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6788" y="777239"/>
            <a:ext cx="3410214" cy="54724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0395" y="-5080"/>
            <a:ext cx="7125970" cy="5198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>
              <a:buFont typeface="Wingdings" panose="05000000000000000000" charset="0"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  <a:sym typeface="+mn-ea"/>
              </a:rPr>
              <a:t>System Sch Design-HDMI RX</a:t>
            </a:r>
          </a:p>
        </p:txBody>
      </p: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457200" y="904875"/>
            <a:ext cx="10386695" cy="452628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sz="2400" dirty="0">
                <a:sym typeface="+mn-ea"/>
              </a:rPr>
              <a:t>HDMI I2C4通道支持到5V电压，不需要Level Shift电路</a:t>
            </a:r>
          </a:p>
          <a:p>
            <a:pPr eaLnBrk="1" hangingPunct="1"/>
            <a:r>
              <a:rPr lang="en-US" altLang="zh-CN" sz="2400" dirty="0"/>
              <a:t>HDMI I2C4复用</a:t>
            </a:r>
            <a:r>
              <a:rPr lang="zh-CN" altLang="en-US" sz="2400" dirty="0"/>
              <a:t>升级</a:t>
            </a:r>
            <a:r>
              <a:rPr lang="en-US" altLang="zh-CN" sz="2400" dirty="0"/>
              <a:t>UART1，可用HCProgrammer进行flash空片升级</a:t>
            </a:r>
          </a:p>
          <a:p>
            <a:pPr eaLnBrk="1" hangingPunct="1"/>
            <a:r>
              <a:rPr lang="en-US" altLang="zh-CN" sz="2400" dirty="0"/>
              <a:t>I2C4</a:t>
            </a:r>
            <a:r>
              <a:rPr lang="zh-CN" altLang="en-US" sz="2400" dirty="0"/>
              <a:t>增加</a:t>
            </a:r>
            <a:r>
              <a:rPr lang="en-US" altLang="zh-CN" sz="2400" dirty="0"/>
              <a:t>ESD</a:t>
            </a:r>
            <a:r>
              <a:rPr lang="zh-CN" altLang="en-US" sz="2400" dirty="0"/>
              <a:t>器件对外设拔</a:t>
            </a:r>
            <a:endParaRPr lang="en-US" altLang="zh-CN" sz="2400" dirty="0"/>
          </a:p>
          <a:p>
            <a:pPr marL="0" indent="0" eaLnBrk="1" hangingPunct="1">
              <a:buNone/>
            </a:pPr>
            <a:r>
              <a:rPr lang="zh-CN" altLang="en-US" sz="2400" dirty="0"/>
              <a:t>插后不输出画面有帮助</a:t>
            </a:r>
            <a:endParaRPr lang="en-US" altLang="zh-CN" sz="2400" dirty="0"/>
          </a:p>
          <a:p>
            <a:pPr eaLnBrk="1" hangingPunct="1"/>
            <a:r>
              <a:rPr lang="en-US" altLang="zh-CN" sz="2400" dirty="0"/>
              <a:t>HPD</a:t>
            </a:r>
            <a:r>
              <a:rPr lang="zh-CN" altLang="en-US" sz="2400" dirty="0"/>
              <a:t>的</a:t>
            </a:r>
            <a:r>
              <a:rPr lang="en-US" altLang="zh-CN" sz="2400" dirty="0"/>
              <a:t>RC</a:t>
            </a:r>
            <a:r>
              <a:rPr lang="zh-CN" altLang="en-US" sz="2400" dirty="0"/>
              <a:t>电路必须保留，对</a:t>
            </a:r>
            <a:endParaRPr lang="en-US" altLang="zh-CN" sz="2400" dirty="0"/>
          </a:p>
          <a:p>
            <a:pPr marL="0" indent="0" eaLnBrk="1" hangingPunct="1">
              <a:buNone/>
            </a:pPr>
            <a:r>
              <a:rPr lang="zh-CN" altLang="en-US" sz="2400" dirty="0"/>
              <a:t>抗抖动引起的当机有帮助</a:t>
            </a:r>
            <a:endParaRPr lang="en-US" altLang="zh-CN" sz="2400" dirty="0"/>
          </a:p>
          <a:p>
            <a:pPr eaLnBrk="1" hangingPunct="1"/>
            <a:r>
              <a:rPr lang="en-US" altLang="zh-CN" sz="2400" dirty="0"/>
              <a:t>HPD</a:t>
            </a:r>
            <a:r>
              <a:rPr lang="zh-CN" altLang="en-US" sz="2400" dirty="0"/>
              <a:t>分压电路经过</a:t>
            </a:r>
            <a:r>
              <a:rPr lang="en-US" altLang="zh-CN" sz="2400" dirty="0"/>
              <a:t>CTS</a:t>
            </a:r>
            <a:r>
              <a:rPr lang="zh-CN" altLang="en-US" sz="2400" dirty="0"/>
              <a:t>认证，</a:t>
            </a:r>
            <a:endParaRPr lang="en-US" altLang="zh-CN" sz="2400" dirty="0"/>
          </a:p>
          <a:p>
            <a:pPr marL="0" indent="0" eaLnBrk="1" hangingPunct="1">
              <a:buNone/>
            </a:pPr>
            <a:r>
              <a:rPr lang="zh-CN" altLang="en-US" sz="2400" dirty="0"/>
              <a:t>不建议去改动分压参数</a:t>
            </a:r>
            <a:endParaRPr lang="en-US" altLang="zh-CN" sz="2400" dirty="0"/>
          </a:p>
          <a:p>
            <a:pPr marL="0" indent="0" eaLnBrk="1" hangingPunct="1">
              <a:buNone/>
            </a:pPr>
            <a:endParaRPr lang="en-US" altLang="zh-CN" sz="2400" dirty="0"/>
          </a:p>
          <a:p>
            <a:pPr eaLnBrk="1" hangingPunct="1"/>
            <a:endParaRPr lang="en-US" altLang="zh-CN" sz="2400" dirty="0"/>
          </a:p>
          <a:p>
            <a:pPr marL="0" indent="0" eaLnBrk="1" hangingPunct="1">
              <a:buNone/>
            </a:pPr>
            <a:endParaRPr lang="en-US" altLang="zh-CN" sz="2400" dirty="0"/>
          </a:p>
          <a:p>
            <a:pPr eaLnBrk="1" hangingPunct="1"/>
            <a:endParaRPr lang="en-US" altLang="zh-CN" sz="2400" dirty="0"/>
          </a:p>
          <a:p>
            <a:pPr eaLnBrk="1" hangingPunct="1"/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591280E-6E64-A4E8-7D21-5B078E17D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205" y="1838318"/>
            <a:ext cx="6561030" cy="44077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0395" y="-5080"/>
            <a:ext cx="7125970" cy="5198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>
              <a:buFont typeface="Wingdings" panose="05000000000000000000" charset="0"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  <a:sym typeface="+mn-ea"/>
              </a:rPr>
              <a:t>System Sch Design-USB</a:t>
            </a:r>
          </a:p>
        </p:txBody>
      </p: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457200" y="904875"/>
            <a:ext cx="10996930" cy="4526280"/>
          </a:xfrm>
        </p:spPr>
        <p:txBody>
          <a:bodyPr vert="horz" wrap="square" lIns="91440" tIns="45720" rIns="91440" bIns="45720" anchor="t" anchorCtr="0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ym typeface="+mn-ea"/>
              </a:rPr>
              <a:t>USB0/1</a:t>
            </a:r>
            <a:r>
              <a:rPr lang="zh-CN" altLang="en-US" sz="2400" dirty="0">
                <a:sym typeface="+mn-ea"/>
              </a:rPr>
              <a:t>都支持</a:t>
            </a:r>
            <a:r>
              <a:rPr lang="en-US" altLang="zh-CN" sz="2400" dirty="0">
                <a:sym typeface="+mn-ea"/>
              </a:rPr>
              <a:t>Host/Device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ym typeface="+mn-ea"/>
              </a:rPr>
              <a:t>Host</a:t>
            </a:r>
            <a:r>
              <a:rPr lang="zh-CN" altLang="en-US" sz="2400" dirty="0">
                <a:sym typeface="+mn-ea"/>
              </a:rPr>
              <a:t> </a:t>
            </a:r>
            <a:r>
              <a:rPr lang="en-US" altLang="zh-CN" sz="2400" dirty="0">
                <a:sym typeface="+mn-ea"/>
              </a:rPr>
              <a:t>mode</a:t>
            </a:r>
            <a:r>
              <a:rPr lang="zh-CN" altLang="en-US" sz="2400" dirty="0">
                <a:sym typeface="+mn-ea"/>
              </a:rPr>
              <a:t>支持</a:t>
            </a:r>
            <a:r>
              <a:rPr lang="en-US" altLang="zh-CN" sz="2400" dirty="0">
                <a:sym typeface="+mn-ea"/>
              </a:rPr>
              <a:t>WIFI</a:t>
            </a:r>
            <a:r>
              <a:rPr lang="zh-CN" altLang="en-US" sz="2400" dirty="0">
                <a:sym typeface="+mn-ea"/>
              </a:rPr>
              <a:t>，</a:t>
            </a:r>
            <a:r>
              <a:rPr lang="en-US" altLang="zh-CN" sz="2400" dirty="0">
                <a:sym typeface="+mn-ea"/>
              </a:rPr>
              <a:t>U</a:t>
            </a:r>
            <a:r>
              <a:rPr lang="zh-CN" altLang="en-US" sz="2400" dirty="0">
                <a:sym typeface="+mn-ea"/>
              </a:rPr>
              <a:t>盘，读卡器，</a:t>
            </a:r>
            <a:r>
              <a:rPr lang="en-US" altLang="zh-CN" sz="2400" dirty="0">
                <a:sym typeface="+mn-ea"/>
              </a:rPr>
              <a:t>HUB</a:t>
            </a:r>
            <a:r>
              <a:rPr lang="zh-CN" altLang="en-US" sz="2400" dirty="0">
                <a:sym typeface="+mn-ea"/>
              </a:rPr>
              <a:t>，</a:t>
            </a:r>
            <a:r>
              <a:rPr lang="en-US" altLang="zh-CN" sz="2400" dirty="0">
                <a:sym typeface="+mn-ea"/>
              </a:rPr>
              <a:t>HID</a:t>
            </a:r>
            <a:r>
              <a:rPr lang="zh-CN" altLang="en-US" sz="2400" dirty="0">
                <a:sym typeface="+mn-ea"/>
              </a:rPr>
              <a:t>鼠键，</a:t>
            </a:r>
            <a:r>
              <a:rPr lang="en-US" altLang="zh-CN" sz="2400" dirty="0">
                <a:sym typeface="+mn-ea"/>
              </a:rPr>
              <a:t>UVC</a:t>
            </a:r>
            <a:r>
              <a:rPr lang="zh-CN" altLang="en-US" sz="2400" dirty="0">
                <a:sym typeface="+mn-ea"/>
              </a:rPr>
              <a:t>摄像头等</a:t>
            </a:r>
            <a:endParaRPr lang="en-US" altLang="zh-CN" sz="2400" dirty="0"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ym typeface="+mn-ea"/>
              </a:rPr>
              <a:t>Device</a:t>
            </a:r>
            <a:r>
              <a:rPr lang="zh-CN" altLang="en-US" sz="2400" dirty="0">
                <a:sym typeface="+mn-ea"/>
              </a:rPr>
              <a:t> </a:t>
            </a:r>
            <a:r>
              <a:rPr lang="en-US" altLang="zh-CN" sz="2400" dirty="0">
                <a:sym typeface="+mn-ea"/>
              </a:rPr>
              <a:t>mode</a:t>
            </a:r>
            <a:r>
              <a:rPr lang="zh-CN" altLang="en-US" sz="2400" dirty="0">
                <a:sym typeface="+mn-ea"/>
              </a:rPr>
              <a:t>支持空片升级，也支持模拟成存储器，串口，</a:t>
            </a:r>
            <a:r>
              <a:rPr lang="en-US" altLang="zh-CN" sz="2400" dirty="0">
                <a:sym typeface="+mn-ea"/>
              </a:rPr>
              <a:t>UVC</a:t>
            </a:r>
            <a:r>
              <a:rPr lang="zh-CN" altLang="en-US" sz="2400" dirty="0">
                <a:sym typeface="+mn-ea"/>
              </a:rPr>
              <a:t>等。</a:t>
            </a:r>
            <a:endParaRPr kumimoji="0" 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zh-CN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E3CA9C4-3F4F-E749-0797-1B8C2AD51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2792509"/>
            <a:ext cx="6694932" cy="31606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0395" y="-5080"/>
            <a:ext cx="7125970" cy="5198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>
              <a:buFont typeface="Wingdings" panose="05000000000000000000" charset="0"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  <a:sym typeface="+mn-ea"/>
              </a:rPr>
              <a:t>System Sch Design-SDIO</a:t>
            </a:r>
          </a:p>
        </p:txBody>
      </p: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457200" y="904875"/>
            <a:ext cx="10996930" cy="4526280"/>
          </a:xfrm>
        </p:spPr>
        <p:txBody>
          <a:bodyPr vert="horz" wrap="square" lIns="91440" tIns="45720" rIns="91440" bIns="45720" anchor="t" anchorCtr="0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ym typeface="+mn-ea"/>
              </a:rPr>
              <a:t>SDIO3.0 IO</a:t>
            </a:r>
            <a:r>
              <a:rPr lang="zh-CN" altLang="en-US" sz="2400" dirty="0">
                <a:sym typeface="+mn-ea"/>
              </a:rPr>
              <a:t>支持</a:t>
            </a:r>
            <a:r>
              <a:rPr lang="en-US" altLang="zh-CN" sz="2400" dirty="0">
                <a:sym typeface="+mn-ea"/>
              </a:rPr>
              <a:t>3.3V</a:t>
            </a:r>
            <a:r>
              <a:rPr lang="zh-CN" altLang="en-US" sz="2400" dirty="0">
                <a:sym typeface="+mn-ea"/>
              </a:rPr>
              <a:t>和</a:t>
            </a:r>
            <a:r>
              <a:rPr lang="en-US" altLang="zh-CN" sz="2400" dirty="0">
                <a:sym typeface="+mn-ea"/>
              </a:rPr>
              <a:t>1.8V</a:t>
            </a:r>
            <a:r>
              <a:rPr lang="zh-CN" altLang="en-US" sz="2400" dirty="0">
                <a:sym typeface="+mn-ea"/>
              </a:rPr>
              <a:t>切换</a:t>
            </a:r>
            <a:endParaRPr lang="en-US" altLang="zh-CN" sz="2400" dirty="0"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dirty="0">
                <a:sym typeface="+mn-ea"/>
              </a:rPr>
              <a:t>位宽支持</a:t>
            </a:r>
            <a:r>
              <a:rPr lang="en-US" altLang="zh-CN" sz="2400" dirty="0">
                <a:sym typeface="+mn-ea"/>
              </a:rPr>
              <a:t>1/4bit SD mode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noProof="1">
                <a:sym typeface="+mn-ea"/>
              </a:rPr>
              <a:t>速率支持</a:t>
            </a:r>
            <a:r>
              <a:rPr lang="en-US" altLang="zh-CN" sz="2400" noProof="1">
                <a:sym typeface="+mn-ea"/>
              </a:rPr>
              <a:t>SDR12M/SDR25M/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</a:pPr>
            <a:r>
              <a:rPr lang="en-US" sz="2400" noProof="1">
                <a:sym typeface="+mn-ea"/>
              </a:rPr>
              <a:t>SDR50M/SDR104M/DDR50M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noProof="1">
                <a:sym typeface="+mn-ea"/>
              </a:rPr>
              <a:t>当</a:t>
            </a:r>
            <a:r>
              <a:rPr lang="en-US" altLang="zh-CN" sz="2400" noProof="1">
                <a:sym typeface="+mn-ea"/>
              </a:rPr>
              <a:t>T0~T5</a:t>
            </a:r>
            <a:r>
              <a:rPr lang="zh-CN" altLang="en-US" sz="2400" noProof="1">
                <a:sym typeface="+mn-ea"/>
              </a:rPr>
              <a:t>用作</a:t>
            </a:r>
            <a:r>
              <a:rPr lang="en-US" altLang="zh-CN" sz="2400" noProof="1">
                <a:sym typeface="+mn-ea"/>
              </a:rPr>
              <a:t>GPIO</a:t>
            </a:r>
            <a:r>
              <a:rPr lang="zh-CN" altLang="en-US" sz="2400" noProof="1">
                <a:sym typeface="+mn-ea"/>
              </a:rPr>
              <a:t>时，需要软件或</a:t>
            </a:r>
            <a:endParaRPr lang="en-US" altLang="zh-CN" sz="2400" noProof="1"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noProof="1">
                <a:sym typeface="+mn-ea"/>
              </a:rPr>
              <a:t>硬件去</a:t>
            </a:r>
            <a:r>
              <a:rPr lang="en-US" altLang="zh-CN" sz="2400" noProof="1">
                <a:sym typeface="+mn-ea"/>
              </a:rPr>
              <a:t>bypass LDO</a:t>
            </a:r>
            <a:r>
              <a:rPr lang="zh-CN" altLang="en-US" sz="2400" noProof="1">
                <a:sym typeface="+mn-ea"/>
              </a:rPr>
              <a:t>，提高驱动能力</a:t>
            </a:r>
            <a:endParaRPr lang="en-US" altLang="zh-CN" sz="2400" noProof="1"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noProof="1">
                <a:sym typeface="+mn-ea"/>
              </a:rPr>
              <a:t>TF</a:t>
            </a:r>
            <a:r>
              <a:rPr lang="zh-CN" altLang="en-US" sz="2400" noProof="1">
                <a:sym typeface="+mn-ea"/>
              </a:rPr>
              <a:t>卡插入时对</a:t>
            </a:r>
            <a:r>
              <a:rPr lang="en-US" altLang="zh-CN" sz="2400" noProof="1">
                <a:sym typeface="+mn-ea"/>
              </a:rPr>
              <a:t>3.3V</a:t>
            </a:r>
            <a:r>
              <a:rPr lang="zh-CN" altLang="en-US" sz="2400" noProof="1">
                <a:sym typeface="+mn-ea"/>
              </a:rPr>
              <a:t>供电负载较大，</a:t>
            </a:r>
            <a:endParaRPr lang="en-US" altLang="zh-CN" sz="2400" noProof="1"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noProof="1">
                <a:sym typeface="+mn-ea"/>
              </a:rPr>
              <a:t>容易产生</a:t>
            </a:r>
            <a:r>
              <a:rPr lang="en-US" altLang="zh-CN" sz="2400" noProof="1">
                <a:sym typeface="+mn-ea"/>
              </a:rPr>
              <a:t>DC-DC</a:t>
            </a:r>
            <a:r>
              <a:rPr lang="zh-CN" altLang="en-US" sz="2400" noProof="1">
                <a:sym typeface="+mn-ea"/>
              </a:rPr>
              <a:t>瞬态响应不及时出现电压</a:t>
            </a:r>
            <a:endParaRPr lang="en-US" altLang="zh-CN" sz="2400" noProof="1"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noProof="1">
                <a:sym typeface="+mn-ea"/>
              </a:rPr>
              <a:t>跌落，所以在卡供电串联限流电阻能提高</a:t>
            </a:r>
            <a:endParaRPr lang="en-US" altLang="zh-CN" sz="2400" noProof="1"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400" noProof="1">
                <a:sym typeface="+mn-ea"/>
              </a:rPr>
              <a:t>系统稳定性</a:t>
            </a:r>
            <a:endParaRPr lang="en-US" altLang="zh-CN" sz="2400" noProof="1">
              <a:sym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10F9238-CBCA-EC11-C65A-ADDCF71B9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164" y="2190360"/>
            <a:ext cx="4732043" cy="407860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374F930-0C3C-5EF8-5540-D0D4AAA0C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164" y="784102"/>
            <a:ext cx="4799882" cy="128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09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0395" y="-5080"/>
            <a:ext cx="7125970" cy="5198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>
              <a:buFont typeface="Wingdings" panose="05000000000000000000" charset="0"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  <a:sym typeface="+mn-ea"/>
              </a:rPr>
              <a:t>System Sch Design-CVBS IN</a:t>
            </a:r>
          </a:p>
        </p:txBody>
      </p: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457200" y="904875"/>
            <a:ext cx="8507413" cy="4525963"/>
          </a:xfrm>
        </p:spPr>
        <p:txBody>
          <a:bodyPr vert="horz" wrap="square" lIns="91440" tIns="45720" rIns="91440" bIns="45720" anchor="t" anchorCtr="0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sz="2400" dirty="0">
                <a:sym typeface="+mn-ea"/>
              </a:rPr>
              <a:t>VADC</a:t>
            </a:r>
            <a:r>
              <a:rPr lang="zh-CN" sz="2400" dirty="0">
                <a:sym typeface="+mn-ea"/>
              </a:rPr>
              <a:t>支持</a:t>
            </a:r>
            <a:r>
              <a:rPr lang="en-US" altLang="zh-CN" sz="2400" dirty="0">
                <a:sym typeface="+mn-ea"/>
              </a:rPr>
              <a:t>1</a:t>
            </a:r>
            <a:r>
              <a:rPr lang="zh-CN" altLang="en-US" sz="2400" dirty="0">
                <a:sym typeface="+mn-ea"/>
              </a:rPr>
              <a:t>通道，可配置成</a:t>
            </a:r>
            <a:r>
              <a:rPr lang="en-US" altLang="zh-CN" sz="2400" dirty="0">
                <a:sym typeface="+mn-ea"/>
              </a:rPr>
              <a:t>CVBS IN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noProof="1">
                <a:sym typeface="+mn-ea"/>
              </a:rPr>
              <a:t>信号是交流耦合进来，需要增加直流偏置和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同步头</a:t>
            </a:r>
            <a:endParaRPr kumimoji="0" lang="en-US" altLang="zh-CN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</a:pP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钳位</a:t>
            </a:r>
            <a:r>
              <a:rPr lang="zh-CN" altLang="en-US" sz="2400" noProof="1">
                <a:sym typeface="+mn-ea"/>
              </a:rPr>
              <a:t>才能</a:t>
            </a:r>
            <a:r>
              <a:rPr lang="en-US" altLang="zh-CN" sz="2400" noProof="1">
                <a:sym typeface="+mn-ea"/>
              </a:rPr>
              <a:t>Lock</a:t>
            </a:r>
            <a:r>
              <a:rPr lang="zh-CN" altLang="en-US" sz="2400" noProof="1">
                <a:sym typeface="+mn-ea"/>
              </a:rPr>
              <a:t>住，增加</a:t>
            </a:r>
            <a:r>
              <a:rPr lang="en-US" altLang="zh-CN" sz="2400" noProof="1">
                <a:sym typeface="+mn-ea"/>
              </a:rPr>
              <a:t>Buffer</a:t>
            </a:r>
            <a:r>
              <a:rPr lang="zh-CN" altLang="en-US" sz="2400" noProof="1">
                <a:sym typeface="+mn-ea"/>
              </a:rPr>
              <a:t>电路能有效解决这个问题</a:t>
            </a:r>
            <a:endParaRPr kumimoji="0" lang="en-US" altLang="zh-CN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81255D0-85FF-63D2-8335-BE9197EA7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28" y="3103437"/>
            <a:ext cx="11245544" cy="284968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AC17728-7D92-B9D8-6250-64FB87ECB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3540" y="904875"/>
            <a:ext cx="3283585" cy="23937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0395" y="-5080"/>
            <a:ext cx="7125970" cy="5198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>
              <a:buFont typeface="Wingdings" panose="05000000000000000000" charset="0"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  <a:sym typeface="+mn-ea"/>
              </a:rPr>
              <a:t>System Sch Design-SAR ADC</a:t>
            </a:r>
          </a:p>
        </p:txBody>
      </p: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457200" y="904875"/>
            <a:ext cx="10848975" cy="5210175"/>
          </a:xfrm>
        </p:spPr>
        <p:txBody>
          <a:bodyPr vert="horz" wrap="square" lIns="91440" tIns="45720" rIns="91440" bIns="45720" anchor="t" anchorCtr="0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ym typeface="+mn-ea"/>
              </a:rPr>
              <a:t>SAR ADC 8bit</a:t>
            </a:r>
            <a:r>
              <a:rPr lang="zh-CN" altLang="en-US" sz="2400" dirty="0">
                <a:sym typeface="+mn-ea"/>
              </a:rPr>
              <a:t>精度，输入范围</a:t>
            </a:r>
            <a:r>
              <a:rPr lang="en-US" altLang="zh-CN" sz="2400" dirty="0">
                <a:sym typeface="+mn-ea"/>
              </a:rPr>
              <a:t>0~2V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dirty="0"/>
              <a:t>作为</a:t>
            </a:r>
            <a:r>
              <a:rPr lang="en-US" altLang="zh-CN" sz="2400" dirty="0"/>
              <a:t>ADC KEY</a:t>
            </a:r>
            <a:r>
              <a:rPr lang="zh-CN" altLang="en-US" sz="2400" dirty="0"/>
              <a:t>按键使用时，把未触发按键的电平读到的值，跟参考值</a:t>
            </a:r>
            <a:r>
              <a:rPr lang="en-US" altLang="zh-CN" sz="2400" dirty="0"/>
              <a:t>(</a:t>
            </a:r>
            <a:r>
              <a:rPr lang="zh-CN" altLang="en-US" sz="2400" dirty="0"/>
              <a:t>电压</a:t>
            </a:r>
            <a:r>
              <a:rPr lang="en-US" altLang="zh-CN" sz="2400" dirty="0"/>
              <a:t>*128)</a:t>
            </a:r>
            <a:r>
              <a:rPr lang="zh-CN" altLang="en-US" sz="2400" dirty="0"/>
              <a:t>做等比例校准，从而提高</a:t>
            </a:r>
            <a:r>
              <a:rPr lang="en-US" altLang="zh-CN" sz="2400" dirty="0"/>
              <a:t>ADC</a:t>
            </a:r>
            <a:r>
              <a:rPr lang="zh-CN" altLang="en-US" sz="2400" dirty="0"/>
              <a:t>精准度。按下表黄色区输入硬件参数，通过绿色裕量进行判断硬件参数是否合理。最右边黄色产生软件配置按键范围</a:t>
            </a:r>
            <a:endParaRPr lang="en-US" altLang="zh-CN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B9AA26A-4197-6B05-35B9-F3EC8B2853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6262468"/>
              </p:ext>
            </p:extLst>
          </p:nvPr>
        </p:nvGraphicFramePr>
        <p:xfrm>
          <a:off x="1633537" y="2572893"/>
          <a:ext cx="8924925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8924969" imgH="3809902" progId="Excel.Sheet.8">
                  <p:embed/>
                </p:oleObj>
              </mc:Choice>
              <mc:Fallback>
                <p:oleObj name="Worksheet" r:id="rId2" imgW="8924969" imgH="3809902" progId="Excel.Sheet.8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33537" y="2572893"/>
                        <a:ext cx="8924925" cy="381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28050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0395" y="-5080"/>
            <a:ext cx="7125970" cy="5198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>
              <a:buFont typeface="Wingdings" panose="05000000000000000000" charset="0"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  <a:sym typeface="+mn-ea"/>
              </a:rPr>
              <a:t>System Sch Design-SAR ADC</a:t>
            </a:r>
          </a:p>
        </p:txBody>
      </p: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457200" y="904875"/>
            <a:ext cx="10763250" cy="5210175"/>
          </a:xfrm>
        </p:spPr>
        <p:txBody>
          <a:bodyPr vert="horz" wrap="square" lIns="91440" tIns="45720" rIns="91440" bIns="45720" anchor="t" anchorCtr="0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dirty="0"/>
              <a:t>驱动为了消抖，把参考值</a:t>
            </a:r>
            <a:r>
              <a:rPr lang="en-US" altLang="zh-CN" sz="2400" dirty="0"/>
              <a:t>±5%</a:t>
            </a:r>
            <a:r>
              <a:rPr lang="zh-CN" altLang="en-US" sz="2400" dirty="0"/>
              <a:t>范围内不触发按键中断，从而提高稳定性。所以默认参数的</a:t>
            </a:r>
            <a:r>
              <a:rPr lang="en-US" altLang="zh-CN" sz="2400" dirty="0"/>
              <a:t>1.75~2V</a:t>
            </a:r>
            <a:r>
              <a:rPr lang="zh-CN" altLang="en-US" sz="2400" dirty="0"/>
              <a:t>范围内不会产生键值，最高电压按键值必须低于</a:t>
            </a:r>
            <a:r>
              <a:rPr lang="en-US" altLang="zh-CN" sz="2400" dirty="0"/>
              <a:t>1.75V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dirty="0"/>
              <a:t>当作为</a:t>
            </a:r>
            <a:r>
              <a:rPr lang="en-US" altLang="zh-CN" sz="2400" dirty="0"/>
              <a:t>Volt meter</a:t>
            </a:r>
            <a:r>
              <a:rPr lang="zh-CN" altLang="en-US" sz="2400" dirty="0"/>
              <a:t>，可检测</a:t>
            </a:r>
            <a:r>
              <a:rPr lang="en-US" altLang="zh-CN" sz="2400" dirty="0"/>
              <a:t>1</a:t>
            </a:r>
            <a:r>
              <a:rPr lang="zh-CN" altLang="en-US" sz="2400" dirty="0"/>
              <a:t>节锂电池电量。按下图参数，可以做到</a:t>
            </a:r>
            <a:r>
              <a:rPr lang="en-US" altLang="zh-CN" sz="2400" dirty="0"/>
              <a:t>4</a:t>
            </a:r>
            <a:r>
              <a:rPr lang="zh-CN" altLang="en-US" sz="2400" dirty="0"/>
              <a:t>档电量显示</a:t>
            </a:r>
            <a:endParaRPr lang="en-US" altLang="zh-CN" sz="2400" dirty="0"/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/>
              <a:t>NTC</a:t>
            </a:r>
            <a:r>
              <a:rPr lang="zh-CN" altLang="en-US" sz="2400" dirty="0"/>
              <a:t>测温原理同上，</a:t>
            </a:r>
            <a:r>
              <a:rPr lang="en-US" altLang="zh-CN" sz="2400" dirty="0"/>
              <a:t>NTC</a:t>
            </a:r>
            <a:r>
              <a:rPr lang="zh-CN" altLang="en-US" sz="2400" dirty="0"/>
              <a:t>做下臂电阻，分压后可查询寄存器值做温度显示</a:t>
            </a:r>
            <a:endParaRPr lang="en-US" altLang="zh-CN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1AB00D-2E7B-6440-14C3-265ADB50CF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842"/>
          <a:stretch/>
        </p:blipFill>
        <p:spPr bwMode="auto">
          <a:xfrm>
            <a:off x="1528863" y="3429000"/>
            <a:ext cx="5597137" cy="233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4207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0395" y="-5080"/>
            <a:ext cx="7125970" cy="5198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>
              <a:buFont typeface="Wingdings" panose="05000000000000000000" charset="0"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  <a:sym typeface="+mn-ea"/>
              </a:rPr>
              <a:t>System Sch Design-</a:t>
            </a:r>
            <a:r>
              <a:rPr lang="en-US" altLang="zh-CN" dirty="0" err="1">
                <a:latin typeface="Calibri" panose="020F0502020204030204"/>
                <a:ea typeface="宋体" panose="02010600030101010101" pitchFamily="2" charset="-122"/>
                <a:sym typeface="+mn-ea"/>
              </a:rPr>
              <a:t>Strappin</a:t>
            </a:r>
            <a:endParaRPr lang="en-US" altLang="zh-CN" dirty="0">
              <a:latin typeface="Calibri" panose="020F0502020204030204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457200" y="904875"/>
            <a:ext cx="11301730" cy="4526280"/>
          </a:xfrm>
        </p:spPr>
        <p:txBody>
          <a:bodyPr vert="horz" wrap="square" lIns="91440" tIns="45720" rIns="91440" bIns="45720" anchor="t" anchorCtr="0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ym typeface="+mn-ea"/>
              </a:rPr>
              <a:t>D3100 Strappin setting</a:t>
            </a:r>
            <a:endParaRPr kumimoji="0" lang="en-US" altLang="zh-CN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sym typeface="+mn-ea"/>
              </a:rPr>
              <a:t>CPU_PROB_ENJ</a:t>
            </a:r>
            <a:r>
              <a:rPr lang="zh-CN" altLang="en-US" sz="2400" dirty="0">
                <a:sym typeface="+mn-ea"/>
              </a:rPr>
              <a:t>，默认打开，</a:t>
            </a:r>
            <a:r>
              <a:rPr lang="en-US" altLang="zh-CN" sz="2400" dirty="0">
                <a:sym typeface="+mn-ea"/>
              </a:rPr>
              <a:t>GPIO_L[1:5]</a:t>
            </a:r>
            <a:r>
              <a:rPr lang="zh-CN" altLang="en-US" sz="2400" dirty="0">
                <a:sym typeface="+mn-ea"/>
              </a:rPr>
              <a:t>需要关掉</a:t>
            </a:r>
            <a:r>
              <a:rPr lang="en-US" altLang="zh-CN" sz="2400" dirty="0">
                <a:sym typeface="+mn-ea"/>
              </a:rPr>
              <a:t>EJTAG</a:t>
            </a:r>
            <a:r>
              <a:rPr lang="zh-CN" altLang="en-US" sz="2400" dirty="0">
                <a:sym typeface="+mn-ea"/>
              </a:rPr>
              <a:t>才能使用</a:t>
            </a:r>
            <a:r>
              <a:rPr lang="en-US" altLang="zh-CN" sz="2400" dirty="0">
                <a:sym typeface="+mn-ea"/>
              </a:rPr>
              <a:t>PINMUX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sym typeface="+mn-ea"/>
              </a:rPr>
              <a:t>T15</a:t>
            </a:r>
            <a:r>
              <a:rPr lang="zh-CN" altLang="en-US" sz="2400" dirty="0">
                <a:sym typeface="+mn-ea"/>
              </a:rPr>
              <a:t>是</a:t>
            </a:r>
            <a:r>
              <a:rPr lang="en-US" altLang="zh-CN" sz="2400" dirty="0">
                <a:sym typeface="+mn-ea"/>
              </a:rPr>
              <a:t>BOOT SEL[0]</a:t>
            </a:r>
            <a:r>
              <a:rPr lang="zh-CN" altLang="en-US" sz="2400" dirty="0">
                <a:sym typeface="+mn-ea"/>
              </a:rPr>
              <a:t>，默认上拉为</a:t>
            </a:r>
            <a:r>
              <a:rPr lang="en-US" altLang="zh-CN" sz="2400" dirty="0">
                <a:sym typeface="+mn-ea"/>
              </a:rPr>
              <a:t>SPI NOR Boot</a:t>
            </a:r>
            <a:r>
              <a:rPr lang="zh-CN" altLang="en-US" sz="2400" dirty="0">
                <a:sym typeface="+mn-ea"/>
              </a:rPr>
              <a:t>，拉低为</a:t>
            </a:r>
            <a:r>
              <a:rPr lang="en-US" altLang="zh-CN" sz="2400" dirty="0">
                <a:sym typeface="+mn-ea"/>
              </a:rPr>
              <a:t>SPI NAND Boot</a:t>
            </a:r>
            <a:endParaRPr kumimoji="0" lang="en-US" altLang="zh-CN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sym typeface="+mn-ea"/>
              </a:rPr>
              <a:t>T16</a:t>
            </a:r>
            <a:r>
              <a:rPr lang="zh-CN" altLang="en-US" sz="2400" dirty="0">
                <a:sym typeface="+mn-ea"/>
              </a:rPr>
              <a:t>是</a:t>
            </a:r>
            <a:r>
              <a:rPr lang="en-US" altLang="zh-CN" sz="2400" dirty="0">
                <a:sym typeface="+mn-ea"/>
              </a:rPr>
              <a:t>USB</a:t>
            </a:r>
            <a:r>
              <a:rPr lang="zh-CN" altLang="en-US" sz="2400" dirty="0">
                <a:sym typeface="+mn-ea"/>
              </a:rPr>
              <a:t>_</a:t>
            </a:r>
            <a:r>
              <a:rPr lang="en-US" altLang="zh-CN" sz="2400" dirty="0">
                <a:sym typeface="+mn-ea"/>
              </a:rPr>
              <a:t>UPGRADE</a:t>
            </a:r>
            <a:r>
              <a:rPr lang="zh-CN" altLang="en-US" sz="2400" dirty="0">
                <a:sym typeface="+mn-ea"/>
              </a:rPr>
              <a:t>_</a:t>
            </a:r>
            <a:r>
              <a:rPr lang="en-US" altLang="zh-CN" sz="2400" dirty="0">
                <a:sym typeface="+mn-ea"/>
              </a:rPr>
              <a:t>DIS</a:t>
            </a:r>
            <a:r>
              <a:rPr lang="zh-CN" altLang="en-US" sz="2400" dirty="0">
                <a:sym typeface="+mn-ea"/>
              </a:rPr>
              <a:t>，默认上拉，拉低上电触发进入</a:t>
            </a:r>
            <a:r>
              <a:rPr lang="en-US" altLang="zh-CN" sz="2400" dirty="0">
                <a:sym typeface="+mn-ea"/>
              </a:rPr>
              <a:t>USB</a:t>
            </a:r>
            <a:r>
              <a:rPr lang="zh-CN" altLang="en-US" sz="2400" dirty="0">
                <a:sym typeface="+mn-ea"/>
              </a:rPr>
              <a:t>空片升级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dirty="0">
                <a:sym typeface="+mn-ea"/>
              </a:rPr>
              <a:t>T14</a:t>
            </a:r>
            <a:r>
              <a:rPr lang="zh-CN" altLang="en-US" sz="2400" dirty="0">
                <a:sym typeface="+mn-ea"/>
              </a:rPr>
              <a:t>是UART_UPGRADE，默认上拉，拉低关闭</a:t>
            </a:r>
            <a:r>
              <a:rPr lang="en-US" altLang="zh-CN" sz="2400" dirty="0">
                <a:sym typeface="+mn-ea"/>
              </a:rPr>
              <a:t>UART</a:t>
            </a:r>
            <a:r>
              <a:rPr lang="zh-CN" altLang="en-US" sz="2400" dirty="0">
                <a:sym typeface="+mn-ea"/>
              </a:rPr>
              <a:t>空片升级，启动快</a:t>
            </a:r>
            <a:r>
              <a:rPr lang="en-US" altLang="zh-CN" sz="2400" dirty="0">
                <a:sym typeface="+mn-ea"/>
              </a:rPr>
              <a:t>100ms</a:t>
            </a:r>
            <a:endParaRPr kumimoji="0" lang="zh-CN" alt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5D2424-6D23-CC85-5C10-AF3ED4D971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162"/>
          <a:stretch/>
        </p:blipFill>
        <p:spPr>
          <a:xfrm>
            <a:off x="1628775" y="3429000"/>
            <a:ext cx="4381190" cy="253460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0395" y="-5080"/>
            <a:ext cx="7125970" cy="5198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>
              <a:buFont typeface="Wingdings" panose="05000000000000000000" charset="0"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  <a:sym typeface="+mn-ea"/>
              </a:rPr>
              <a:t>System Sch Design-GPIO</a:t>
            </a:r>
          </a:p>
        </p:txBody>
      </p: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457200" y="904875"/>
            <a:ext cx="10848975" cy="3859149"/>
          </a:xfrm>
        </p:spPr>
        <p:txBody>
          <a:bodyPr vert="horz" wrap="square" lIns="91440" tIns="45720" rIns="91440" bIns="45720" anchor="t" anchorCtr="0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/>
              <a:t>GPIO</a:t>
            </a:r>
            <a:r>
              <a:rPr lang="zh-CN" altLang="en-US" sz="2400" dirty="0"/>
              <a:t>有丰富的</a:t>
            </a:r>
            <a:r>
              <a:rPr lang="en-US" altLang="zh-CN" sz="2400" dirty="0"/>
              <a:t>PINMUX</a:t>
            </a:r>
            <a:r>
              <a:rPr lang="zh-CN" altLang="en-US" sz="2400" dirty="0"/>
              <a:t>配置，类型也比较多，使用时检查配置避免冲突</a:t>
            </a:r>
            <a:endParaRPr lang="en-US" altLang="zh-CN" sz="2400" dirty="0"/>
          </a:p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lang="en-US" altLang="zh-CN" sz="2400" dirty="0"/>
              <a:t>GPIO_L[1:5]</a:t>
            </a:r>
            <a:r>
              <a:rPr lang="zh-CN" altLang="en-US" sz="2400" dirty="0"/>
              <a:t>复用了</a:t>
            </a:r>
            <a:r>
              <a:rPr lang="en-US" altLang="zh-CN" sz="2400" dirty="0"/>
              <a:t>EJTAG/I2S</a:t>
            </a:r>
            <a:r>
              <a:rPr lang="zh-CN" altLang="en-US" sz="2400" dirty="0"/>
              <a:t>，做</a:t>
            </a:r>
            <a:r>
              <a:rPr lang="en-US" altLang="zh-CN" sz="2400" dirty="0"/>
              <a:t>GPIO</a:t>
            </a:r>
            <a:r>
              <a:rPr lang="zh-CN" altLang="en-US" sz="2400" dirty="0"/>
              <a:t>使用要先关掉</a:t>
            </a:r>
            <a:r>
              <a:rPr lang="en-US" altLang="zh-CN" sz="2400" dirty="0"/>
              <a:t>EJTAG</a:t>
            </a:r>
          </a:p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lang="en-US" altLang="zh-CN" sz="2400" dirty="0"/>
              <a:t>GPIO_L14</a:t>
            </a:r>
            <a:r>
              <a:rPr lang="zh-CN" altLang="en-US" sz="2400" dirty="0"/>
              <a:t>复用红外接收，只能复用做开机一次初始化的功能</a:t>
            </a:r>
            <a:endParaRPr lang="en-US" altLang="zh-CN" sz="2400" dirty="0"/>
          </a:p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lang="en-US" altLang="zh-CN" sz="2400" dirty="0"/>
              <a:t>LVDS_N[0:7]</a:t>
            </a:r>
            <a:r>
              <a:rPr lang="zh-CN" altLang="en-US" sz="2400" dirty="0"/>
              <a:t> 只能做输出，通电瞬间管脚输出</a:t>
            </a:r>
            <a:r>
              <a:rPr lang="en-US" altLang="zh-CN" sz="2400" dirty="0"/>
              <a:t>1.8V</a:t>
            </a:r>
            <a:r>
              <a:rPr lang="zh-CN" altLang="en-US" sz="2400" dirty="0"/>
              <a:t>，持续</a:t>
            </a:r>
            <a:r>
              <a:rPr lang="en-US" altLang="zh-CN" sz="2400" dirty="0"/>
              <a:t>1</a:t>
            </a:r>
            <a:r>
              <a:rPr lang="zh-CN" altLang="en-US" sz="2400" dirty="0"/>
              <a:t>秒才能软件配置受控</a:t>
            </a:r>
            <a:endParaRPr lang="en-US" altLang="zh-CN" sz="2400" dirty="0"/>
          </a:p>
          <a:p>
            <a:pPr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zh-CN" sz="2400" dirty="0"/>
              <a:t>LVDS_P[0:7]</a:t>
            </a:r>
            <a:r>
              <a:rPr lang="zh-CN" altLang="en-US" sz="2400" dirty="0"/>
              <a:t> 只能做输出，通电瞬间管脚输出</a:t>
            </a:r>
            <a:r>
              <a:rPr lang="en-US" altLang="zh-CN" sz="2400" dirty="0"/>
              <a:t>0.6V</a:t>
            </a:r>
            <a:r>
              <a:rPr lang="zh-CN" altLang="en-US" sz="2400" dirty="0"/>
              <a:t>，持续</a:t>
            </a:r>
            <a:r>
              <a:rPr lang="en-US" altLang="zh-CN" sz="2400" dirty="0"/>
              <a:t>1</a:t>
            </a:r>
            <a:r>
              <a:rPr lang="zh-CN" altLang="en-US" sz="2400" dirty="0"/>
              <a:t>秒才能软件配置受控</a:t>
            </a:r>
            <a:endParaRPr lang="en-US" altLang="zh-CN" sz="2400" dirty="0"/>
          </a:p>
          <a:p>
            <a:pPr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zh-CN" sz="2400" dirty="0"/>
              <a:t>GPIO_T[0:5]</a:t>
            </a:r>
            <a:r>
              <a:rPr lang="zh-CN" altLang="en-US" sz="2400" dirty="0"/>
              <a:t>复用</a:t>
            </a:r>
            <a:r>
              <a:rPr lang="en-US" altLang="zh-CN" sz="2400" dirty="0"/>
              <a:t>SDIO</a:t>
            </a:r>
            <a:r>
              <a:rPr lang="zh-CN" altLang="en-US" sz="2400" dirty="0"/>
              <a:t>，做</a:t>
            </a:r>
            <a:r>
              <a:rPr lang="en-US" altLang="zh-CN" sz="2400" dirty="0"/>
              <a:t>GPIO</a:t>
            </a:r>
            <a:r>
              <a:rPr lang="zh-CN" altLang="en-US" sz="2400" dirty="0"/>
              <a:t>使用会受</a:t>
            </a:r>
            <a:r>
              <a:rPr lang="en-US" altLang="zh-CN" sz="2400" dirty="0"/>
              <a:t>SDIO3_DVCC</a:t>
            </a:r>
            <a:r>
              <a:rPr lang="zh-CN" altLang="en-US" sz="2400" dirty="0"/>
              <a:t>和</a:t>
            </a:r>
            <a:r>
              <a:rPr lang="en-US" altLang="zh-CN" sz="2400" dirty="0"/>
              <a:t>MMC</a:t>
            </a:r>
            <a:r>
              <a:rPr lang="zh-CN" altLang="en-US" sz="2400" dirty="0"/>
              <a:t>驱动控制</a:t>
            </a:r>
            <a:endParaRPr lang="en-US" altLang="zh-CN" sz="2400" dirty="0"/>
          </a:p>
          <a:p>
            <a:pPr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zh-CN" sz="2400" dirty="0"/>
              <a:t>GPIO_T[14:19]</a:t>
            </a:r>
            <a:r>
              <a:rPr lang="zh-CN" altLang="en-US" sz="2400" dirty="0"/>
              <a:t>复用</a:t>
            </a:r>
            <a:r>
              <a:rPr lang="en-US" altLang="zh-CN" sz="2400" dirty="0"/>
              <a:t>SPI/UART</a:t>
            </a:r>
            <a:r>
              <a:rPr lang="zh-CN" altLang="en-US" sz="2400" dirty="0"/>
              <a:t>，只能复用做开机一次初始化的功能</a:t>
            </a:r>
            <a:endParaRPr lang="en-US" altLang="zh-CN" sz="2400" dirty="0"/>
          </a:p>
          <a:p>
            <a:pPr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charset="0"/>
              <a:buChar char="Ø"/>
            </a:pPr>
            <a:r>
              <a:rPr lang="en-US" altLang="zh-CN" sz="2400" dirty="0"/>
              <a:t>GPIO_T[21:23]</a:t>
            </a:r>
            <a:r>
              <a:rPr lang="zh-CN" altLang="en-US" sz="2400" dirty="0"/>
              <a:t>复用</a:t>
            </a:r>
            <a:r>
              <a:rPr lang="en-US" altLang="zh-CN" sz="2400" dirty="0"/>
              <a:t>I2C4</a:t>
            </a:r>
            <a:r>
              <a:rPr lang="zh-CN" altLang="en-US" sz="2400" dirty="0"/>
              <a:t>，只能复用做开机一次初始化的功能</a:t>
            </a:r>
            <a:endParaRPr lang="en-US" altLang="zh-CN" sz="2400" dirty="0"/>
          </a:p>
          <a:p>
            <a:pPr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charset="0"/>
              <a:buChar char="Ø"/>
            </a:pPr>
            <a:endParaRPr lang="en-US" altLang="zh-CN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B9AA26A-4197-6B05-35B9-F3EC8B2853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4991185"/>
              </p:ext>
            </p:extLst>
          </p:nvPr>
        </p:nvGraphicFramePr>
        <p:xfrm>
          <a:off x="1836991" y="4483608"/>
          <a:ext cx="8353425" cy="176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8353469" imgH="1762046" progId="Excel.Sheet.8">
                  <p:embed/>
                </p:oleObj>
              </mc:Choice>
              <mc:Fallback>
                <p:oleObj name="Worksheet" r:id="rId2" imgW="8353469" imgH="1762046" progId="Excel.Sheet.8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B9AA26A-4197-6B05-35B9-F3EC8B2853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36991" y="4483608"/>
                        <a:ext cx="8353425" cy="1762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3455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0395" y="-5080"/>
            <a:ext cx="7125970" cy="5198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>
              <a:buFont typeface="Wingdings" panose="05000000000000000000" charset="0"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  <a:sym typeface="+mn-ea"/>
              </a:rPr>
              <a:t>System Sch Design-Other</a:t>
            </a:r>
          </a:p>
        </p:txBody>
      </p: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457200" y="904875"/>
            <a:ext cx="7125970" cy="5048250"/>
          </a:xfrm>
        </p:spPr>
        <p:txBody>
          <a:bodyPr vert="horz" wrap="square" lIns="91440" tIns="45720" rIns="91440" bIns="45720" anchor="t" anchorCtr="0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dirty="0">
                <a:sym typeface="+mn-ea"/>
              </a:rPr>
              <a:t>Other</a:t>
            </a:r>
          </a:p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lang="en-US" altLang="zh-CN" sz="2400" dirty="0">
                <a:sym typeface="+mn-ea"/>
              </a:rPr>
              <a:t>Efuse</a:t>
            </a:r>
            <a:r>
              <a:rPr lang="zh-CN" altLang="en-US" sz="2400" dirty="0">
                <a:sym typeface="+mn-ea"/>
              </a:rPr>
              <a:t>编程电压为</a:t>
            </a:r>
            <a:r>
              <a:rPr lang="en-US" altLang="zh-CN" sz="2400" dirty="0">
                <a:sym typeface="+mn-ea"/>
              </a:rPr>
              <a:t>2.5V</a:t>
            </a:r>
            <a:r>
              <a:rPr lang="zh-CN" altLang="en-US" sz="2400" dirty="0">
                <a:sym typeface="+mn-ea"/>
              </a:rPr>
              <a:t>，默认工作</a:t>
            </a:r>
            <a:r>
              <a:rPr lang="en-US" altLang="zh-CN" sz="2400" dirty="0">
                <a:sym typeface="+mn-ea"/>
              </a:rPr>
              <a:t>3.3V</a:t>
            </a:r>
            <a:r>
              <a:rPr lang="zh-CN" altLang="en-US" sz="2400" dirty="0">
                <a:sym typeface="+mn-ea"/>
              </a:rPr>
              <a:t>，可参考右图的可调稳压烧录电路，利用</a:t>
            </a:r>
            <a:r>
              <a:rPr lang="en-US" altLang="zh-CN" sz="2400" dirty="0">
                <a:sym typeface="+mn-ea"/>
              </a:rPr>
              <a:t>IO</a:t>
            </a:r>
            <a:r>
              <a:rPr lang="zh-CN" altLang="en-US" sz="2400" dirty="0">
                <a:sym typeface="+mn-ea"/>
              </a:rPr>
              <a:t>进行电压切换</a:t>
            </a:r>
          </a:p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lang="zh-CN" altLang="en-US" sz="2400" dirty="0">
                <a:sym typeface="+mn-ea"/>
              </a:rPr>
              <a:t>上电时序只需保证电压稳定后给复位，由于</a:t>
            </a:r>
            <a:r>
              <a:rPr lang="en-US" altLang="zh-CN" sz="2400" dirty="0">
                <a:sym typeface="+mn-ea"/>
              </a:rPr>
              <a:t>HDMI RX</a:t>
            </a:r>
            <a:r>
              <a:rPr lang="zh-CN" altLang="en-US" sz="2400" dirty="0">
                <a:sym typeface="+mn-ea"/>
              </a:rPr>
              <a:t>容易被外设漏电导致复位无效，所以必须增加复位</a:t>
            </a:r>
            <a:r>
              <a:rPr lang="en-US" altLang="zh-CN" sz="2400" dirty="0">
                <a:sym typeface="+mn-ea"/>
              </a:rPr>
              <a:t>IC</a:t>
            </a:r>
            <a:endParaRPr lang="zh-CN" altLang="en-US" sz="2400" dirty="0">
              <a:sym typeface="+mn-ea"/>
            </a:endParaRPr>
          </a:p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lang="en-US" altLang="zh-CN" sz="2400" dirty="0">
                <a:sym typeface="+mn-ea"/>
              </a:rPr>
              <a:t>EMI</a:t>
            </a:r>
            <a:r>
              <a:rPr lang="zh-CN" altLang="en-US" sz="2400" dirty="0">
                <a:sym typeface="+mn-ea"/>
              </a:rPr>
              <a:t>和</a:t>
            </a:r>
            <a:r>
              <a:rPr lang="en-US" altLang="zh-CN" sz="2400" dirty="0">
                <a:sym typeface="+mn-ea"/>
              </a:rPr>
              <a:t>ESD</a:t>
            </a:r>
            <a:r>
              <a:rPr lang="zh-CN" altLang="en-US" sz="2400" dirty="0">
                <a:sym typeface="+mn-ea"/>
              </a:rPr>
              <a:t>考虑时，尽量上屏蔽壳或</a:t>
            </a:r>
            <a:r>
              <a:rPr lang="en-US" altLang="zh-CN" sz="2400" dirty="0">
                <a:sym typeface="+mn-ea"/>
              </a:rPr>
              <a:t>4</a:t>
            </a:r>
            <a:r>
              <a:rPr lang="zh-CN" altLang="en-US" sz="2400" dirty="0">
                <a:sym typeface="+mn-ea"/>
              </a:rPr>
              <a:t>层板。</a:t>
            </a:r>
            <a:r>
              <a:rPr lang="en-US" altLang="zh-CN" sz="2400" dirty="0">
                <a:sym typeface="+mn-ea"/>
              </a:rPr>
              <a:t>HDMI</a:t>
            </a:r>
            <a:r>
              <a:rPr lang="zh-CN" altLang="en-US" sz="2400" dirty="0">
                <a:sym typeface="+mn-ea"/>
              </a:rPr>
              <a:t>和</a:t>
            </a:r>
            <a:r>
              <a:rPr lang="en-US" altLang="zh-CN" sz="2400" dirty="0">
                <a:sym typeface="+mn-ea"/>
              </a:rPr>
              <a:t>USB</a:t>
            </a:r>
            <a:r>
              <a:rPr lang="zh-CN" altLang="en-US" sz="2400" dirty="0">
                <a:sym typeface="+mn-ea"/>
              </a:rPr>
              <a:t>都要加共模滤波器和</a:t>
            </a:r>
            <a:r>
              <a:rPr lang="en-US" altLang="zh-CN" sz="2400" dirty="0">
                <a:sym typeface="+mn-ea"/>
              </a:rPr>
              <a:t>ESD</a:t>
            </a:r>
            <a:r>
              <a:rPr lang="zh-CN" altLang="en-US" sz="2400" dirty="0">
                <a:sym typeface="+mn-ea"/>
              </a:rPr>
              <a:t>保护器件，各</a:t>
            </a:r>
            <a:r>
              <a:rPr lang="en-US" altLang="zh-CN" sz="2400" dirty="0">
                <a:sym typeface="+mn-ea"/>
              </a:rPr>
              <a:t>IP POWER</a:t>
            </a:r>
            <a:r>
              <a:rPr lang="zh-CN" altLang="en-US" sz="2400" dirty="0">
                <a:sym typeface="+mn-ea"/>
              </a:rPr>
              <a:t>串磁珠，尤其是</a:t>
            </a:r>
            <a:r>
              <a:rPr lang="en-US" altLang="zh-CN" sz="2400" dirty="0">
                <a:sym typeface="+mn-ea"/>
              </a:rPr>
              <a:t>layout</a:t>
            </a:r>
            <a:r>
              <a:rPr lang="zh-CN" altLang="en-US" sz="2400" dirty="0">
                <a:sym typeface="+mn-ea"/>
              </a:rPr>
              <a:t>上要注意包地和地回路路径</a:t>
            </a:r>
            <a:endParaRPr lang="en-US" altLang="zh-CN" sz="2400" dirty="0">
              <a:sym typeface="+mn-ea"/>
            </a:endParaRPr>
          </a:p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lang="en-US" altLang="zh-CN" sz="2400" dirty="0">
                <a:sym typeface="+mn-ea"/>
              </a:rPr>
              <a:t>PCB</a:t>
            </a:r>
            <a:r>
              <a:rPr lang="zh-CN" altLang="en-US" sz="2400" dirty="0">
                <a:sym typeface="+mn-ea"/>
              </a:rPr>
              <a:t>设计</a:t>
            </a:r>
            <a:r>
              <a:rPr lang="en-US" altLang="zh-CN" sz="2400" dirty="0">
                <a:sym typeface="+mn-ea"/>
              </a:rPr>
              <a:t>HICHIP PCB Layout Guide.pdf</a:t>
            </a:r>
            <a:endParaRPr lang="zh-CN" altLang="en-US" sz="2400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170" y="791223"/>
            <a:ext cx="3955161" cy="308093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C43BCA2-22EE-7A5E-F6A1-BA57B2F67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578" y="3990634"/>
            <a:ext cx="3522345" cy="207614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0395" y="-5080"/>
            <a:ext cx="7125970" cy="5198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>
              <a:buFont typeface="Wingdings" panose="05000000000000000000" charset="0"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  <a:sym typeface="+mn-ea"/>
              </a:rPr>
              <a:t>System PCBA Debug-Boot</a:t>
            </a:r>
          </a:p>
        </p:txBody>
      </p: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457200" y="904874"/>
            <a:ext cx="11173968" cy="5431917"/>
          </a:xfrm>
        </p:spPr>
        <p:txBody>
          <a:bodyPr vert="horz" wrap="square" lIns="91440" tIns="45720" rIns="91440" bIns="45720" anchor="t" anchorCtr="0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通电检查</a:t>
            </a:r>
            <a:endParaRPr kumimoji="0" 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533400" indent="-533400" defTabSz="1082675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Ø"/>
            </a:pP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检查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VDD11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，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VDD15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，</a:t>
            </a: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VDD33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三路</a:t>
            </a:r>
            <a:r>
              <a:rPr lang="zh-CN" altLang="en-US" sz="2400" noProof="1"/>
              <a:t>量测供电通路正常</a:t>
            </a:r>
            <a:endParaRPr lang="en-US" altLang="zh-CN" sz="2400" noProof="1"/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noProof="1">
                <a:sym typeface="+mn-ea"/>
              </a:rPr>
              <a:t>系统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检查</a:t>
            </a:r>
            <a:endParaRPr kumimoji="0" lang="en-US" altLang="zh-CN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533400" marR="0" indent="-533400" algn="l" defTabSz="10826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noProof="1">
                <a:sym typeface="+mn-ea"/>
              </a:rPr>
              <a:t>使用示波器检查晶振是否正常</a:t>
            </a:r>
            <a:endParaRPr lang="en-US" altLang="zh-CN" sz="2400" noProof="1">
              <a:sym typeface="+mn-ea"/>
            </a:endParaRPr>
          </a:p>
          <a:p>
            <a:pPr marL="533400" marR="0" indent="-533400" algn="l" defTabSz="10826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noProof="1">
                <a:sym typeface="+mn-ea"/>
              </a:rPr>
              <a:t>使用示波器量测</a:t>
            </a:r>
            <a:r>
              <a:rPr lang="en-US" altLang="zh-CN" sz="2400" noProof="1">
                <a:sym typeface="+mn-ea"/>
              </a:rPr>
              <a:t>Flash CSJ</a:t>
            </a:r>
            <a:r>
              <a:rPr lang="zh-CN" altLang="en-US" sz="2400" noProof="1">
                <a:sym typeface="+mn-ea"/>
              </a:rPr>
              <a:t>，通过复位</a:t>
            </a:r>
            <a:r>
              <a:rPr lang="en-US" altLang="zh-CN" sz="2400" noProof="1">
                <a:sym typeface="+mn-ea"/>
              </a:rPr>
              <a:t>RESET</a:t>
            </a:r>
            <a:r>
              <a:rPr lang="zh-CN" altLang="en-US" sz="2400" noProof="1">
                <a:sym typeface="+mn-ea"/>
              </a:rPr>
              <a:t>触发</a:t>
            </a:r>
            <a:r>
              <a:rPr lang="en-US" altLang="zh-CN" sz="2400" noProof="1">
                <a:sym typeface="+mn-ea"/>
              </a:rPr>
              <a:t>Boot Rom</a:t>
            </a:r>
            <a:r>
              <a:rPr lang="zh-CN" altLang="en-US" sz="2400" noProof="1">
                <a:sym typeface="+mn-ea"/>
              </a:rPr>
              <a:t>引导</a:t>
            </a:r>
            <a:r>
              <a:rPr lang="en-US" altLang="zh-CN" sz="2400" noProof="1">
                <a:sym typeface="+mn-ea"/>
              </a:rPr>
              <a:t>flash</a:t>
            </a:r>
            <a:r>
              <a:rPr lang="zh-CN" altLang="en-US" sz="2400" noProof="1">
                <a:sym typeface="+mn-ea"/>
              </a:rPr>
              <a:t>，可以通过占空比判断系统是否正常</a:t>
            </a:r>
            <a:endParaRPr lang="en-US" altLang="zh-CN" sz="2400" noProof="1">
              <a:sym typeface="+mn-ea"/>
            </a:endParaRPr>
          </a:p>
          <a:p>
            <a:pPr marL="0" marR="0" indent="0" algn="l" defTabSz="10826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None/>
            </a:pPr>
            <a:r>
              <a:rPr lang="en-US" altLang="zh-CN" sz="2400" noProof="1">
                <a:sym typeface="+mn-ea"/>
              </a:rPr>
              <a:t>Case1</a:t>
            </a:r>
            <a:r>
              <a:rPr lang="zh-CN" altLang="en-US" sz="2400" noProof="1">
                <a:sym typeface="+mn-ea"/>
              </a:rPr>
              <a:t>波形稳定，</a:t>
            </a:r>
            <a:r>
              <a:rPr lang="en-US" altLang="zh-CN" sz="2400" noProof="1">
                <a:sym typeface="+mn-ea"/>
              </a:rPr>
              <a:t>T0&gt;T1</a:t>
            </a:r>
            <a:r>
              <a:rPr lang="zh-CN" altLang="en-US" sz="2400" noProof="1">
                <a:sym typeface="+mn-ea"/>
              </a:rPr>
              <a:t>，说明读不到</a:t>
            </a:r>
            <a:r>
              <a:rPr lang="en-US" altLang="zh-CN" sz="2400" noProof="1">
                <a:sym typeface="+mn-ea"/>
              </a:rPr>
              <a:t>NOR</a:t>
            </a:r>
            <a:r>
              <a:rPr lang="zh-CN" altLang="en-US" sz="2400" noProof="1">
                <a:sym typeface="+mn-ea"/>
              </a:rPr>
              <a:t>的</a:t>
            </a:r>
            <a:r>
              <a:rPr lang="en-US" altLang="zh-CN" sz="2400" noProof="1">
                <a:sym typeface="+mn-ea"/>
              </a:rPr>
              <a:t>BL</a:t>
            </a:r>
            <a:r>
              <a:rPr lang="zh-CN" altLang="en-US" sz="2400" noProof="1">
                <a:sym typeface="+mn-ea"/>
              </a:rPr>
              <a:t>数据，需要烧录固件</a:t>
            </a:r>
            <a:endParaRPr lang="en-US" altLang="zh-CN" sz="2400" noProof="1">
              <a:sym typeface="+mn-ea"/>
            </a:endParaRPr>
          </a:p>
          <a:p>
            <a:pPr marL="0" marR="0" indent="0" algn="l" defTabSz="10826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None/>
            </a:pPr>
            <a:r>
              <a:rPr lang="en-US" altLang="zh-CN" sz="2400" noProof="1">
                <a:sym typeface="+mn-ea"/>
              </a:rPr>
              <a:t>Case2</a:t>
            </a:r>
            <a:r>
              <a:rPr lang="zh-CN" altLang="en-US" sz="2400" noProof="1">
                <a:sym typeface="+mn-ea"/>
              </a:rPr>
              <a:t>波形稳定，</a:t>
            </a:r>
            <a:r>
              <a:rPr lang="en-US" altLang="zh-CN" sz="2400" noProof="1">
                <a:sym typeface="+mn-ea"/>
              </a:rPr>
              <a:t>T0&lt;T1</a:t>
            </a:r>
            <a:r>
              <a:rPr lang="zh-CN" altLang="en-US" sz="2400" noProof="1">
                <a:sym typeface="+mn-ea"/>
              </a:rPr>
              <a:t>，说明读不到</a:t>
            </a:r>
            <a:r>
              <a:rPr lang="en-US" altLang="zh-CN" sz="2400" noProof="1">
                <a:sym typeface="+mn-ea"/>
              </a:rPr>
              <a:t>NAND</a:t>
            </a:r>
            <a:r>
              <a:rPr lang="zh-CN" altLang="en-US" sz="2400" noProof="1">
                <a:sym typeface="+mn-ea"/>
              </a:rPr>
              <a:t>的</a:t>
            </a:r>
            <a:r>
              <a:rPr lang="en-US" altLang="zh-CN" sz="2400" noProof="1">
                <a:sym typeface="+mn-ea"/>
              </a:rPr>
              <a:t>BL</a:t>
            </a:r>
            <a:r>
              <a:rPr lang="zh-CN" altLang="en-US" sz="2400" noProof="1">
                <a:sym typeface="+mn-ea"/>
              </a:rPr>
              <a:t>数据，检查</a:t>
            </a:r>
            <a:r>
              <a:rPr lang="en-US" altLang="zh-CN" sz="2400" noProof="1">
                <a:sym typeface="+mn-ea"/>
              </a:rPr>
              <a:t>strappin</a:t>
            </a:r>
            <a:r>
              <a:rPr lang="zh-CN" altLang="en-US" sz="2400" noProof="1">
                <a:sym typeface="+mn-ea"/>
              </a:rPr>
              <a:t>的</a:t>
            </a:r>
            <a:r>
              <a:rPr lang="en-US" altLang="zh-CN" sz="2400" noProof="1">
                <a:sym typeface="+mn-ea"/>
              </a:rPr>
              <a:t>Boot SEL</a:t>
            </a:r>
          </a:p>
          <a:p>
            <a:pPr marL="0" marR="0" indent="0" algn="l" defTabSz="10826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None/>
            </a:pPr>
            <a:r>
              <a:rPr lang="en-US" altLang="zh-CN" sz="2400" noProof="1">
                <a:sym typeface="+mn-ea"/>
              </a:rPr>
              <a:t>Case3</a:t>
            </a:r>
            <a:r>
              <a:rPr lang="zh-CN" altLang="en-US" sz="2400" noProof="1">
                <a:sym typeface="+mn-ea"/>
              </a:rPr>
              <a:t>波形不断变化，但</a:t>
            </a:r>
            <a:r>
              <a:rPr lang="en-US" altLang="zh-CN" sz="2400" noProof="1">
                <a:sym typeface="+mn-ea"/>
              </a:rPr>
              <a:t>1</a:t>
            </a:r>
            <a:r>
              <a:rPr lang="zh-CN" altLang="en-US" sz="2400" noProof="1">
                <a:sym typeface="+mn-ea"/>
              </a:rPr>
              <a:t>秒内停止，说明</a:t>
            </a:r>
            <a:r>
              <a:rPr lang="en-US" altLang="zh-CN" sz="2400" noProof="1">
                <a:sym typeface="+mn-ea"/>
              </a:rPr>
              <a:t>BL</a:t>
            </a:r>
            <a:r>
              <a:rPr lang="zh-CN" altLang="en-US" sz="2400" noProof="1">
                <a:sym typeface="+mn-ea"/>
              </a:rPr>
              <a:t>初始化失败，可以通过烧录工具和固件的打印信息检查具体问题，大概率</a:t>
            </a:r>
            <a:r>
              <a:rPr lang="en-US" altLang="zh-CN" sz="2400" noProof="1">
                <a:sym typeface="+mn-ea"/>
              </a:rPr>
              <a:t>DDR</a:t>
            </a:r>
            <a:r>
              <a:rPr lang="zh-CN" altLang="en-US" sz="2400" noProof="1">
                <a:sym typeface="+mn-ea"/>
              </a:rPr>
              <a:t>初始化失败</a:t>
            </a:r>
            <a:endParaRPr lang="en-US" altLang="zh-CN" sz="2400" noProof="1">
              <a:sym typeface="+mn-ea"/>
            </a:endParaRPr>
          </a:p>
          <a:p>
            <a:pPr marL="0" marR="0" indent="0" algn="l" defTabSz="10826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None/>
            </a:pPr>
            <a:r>
              <a:rPr lang="en-US" altLang="zh-CN" sz="2400" noProof="1">
                <a:sym typeface="+mn-ea"/>
              </a:rPr>
              <a:t>Case4</a:t>
            </a:r>
            <a:r>
              <a:rPr lang="zh-CN" altLang="en-US" sz="2400" noProof="1">
                <a:sym typeface="+mn-ea"/>
              </a:rPr>
              <a:t>波形不断变化，持续</a:t>
            </a:r>
            <a:r>
              <a:rPr lang="en-US" altLang="zh-CN" sz="2400" noProof="1">
                <a:sym typeface="+mn-ea"/>
              </a:rPr>
              <a:t>3</a:t>
            </a:r>
            <a:r>
              <a:rPr lang="zh-CN" altLang="en-US" sz="2400" noProof="1">
                <a:sym typeface="+mn-ea"/>
              </a:rPr>
              <a:t>秒以上，说明已经</a:t>
            </a:r>
            <a:r>
              <a:rPr lang="en-US" altLang="zh-CN" sz="2400" noProof="1">
                <a:sym typeface="+mn-ea"/>
              </a:rPr>
              <a:t>load</a:t>
            </a:r>
            <a:r>
              <a:rPr lang="zh-CN" altLang="en-US" sz="2400" noProof="1">
                <a:sym typeface="+mn-ea"/>
              </a:rPr>
              <a:t>进固件，可以量测对应的</a:t>
            </a:r>
            <a:r>
              <a:rPr lang="en-US" altLang="zh-CN" sz="2400" noProof="1">
                <a:sym typeface="+mn-ea"/>
              </a:rPr>
              <a:t>UART_TX</a:t>
            </a:r>
            <a:r>
              <a:rPr lang="zh-CN" altLang="en-US" sz="2400" noProof="1">
                <a:sym typeface="+mn-ea"/>
              </a:rPr>
              <a:t>看是否有打印的波形</a:t>
            </a:r>
            <a:endParaRPr lang="en-US" altLang="zh-CN" sz="2400" noProof="1">
              <a:sym typeface="+mn-ea"/>
            </a:endParaRPr>
          </a:p>
          <a:p>
            <a:pPr marL="0" marR="0" indent="0" algn="l" defTabSz="10826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None/>
            </a:pPr>
            <a:r>
              <a:rPr lang="en-US" altLang="zh-CN" sz="2400" noProof="1">
                <a:sym typeface="+mn-ea"/>
              </a:rPr>
              <a:t>Case5</a:t>
            </a:r>
            <a:r>
              <a:rPr lang="zh-CN" altLang="en-US" sz="2400" noProof="1">
                <a:sym typeface="+mn-ea"/>
              </a:rPr>
              <a:t>没有波形，说明芯片引导的基本条件不满足，检查焊接，必要是更换主控</a:t>
            </a:r>
            <a:endParaRPr kumimoji="0" 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555D5ED-CDBF-BC89-2436-DC3CCFA60031}"/>
              </a:ext>
            </a:extLst>
          </p:cNvPr>
          <p:cNvGrpSpPr/>
          <p:nvPr/>
        </p:nvGrpSpPr>
        <p:grpSpPr>
          <a:xfrm>
            <a:off x="9138793" y="904874"/>
            <a:ext cx="2175383" cy="1192911"/>
            <a:chOff x="8769096" y="3891153"/>
            <a:chExt cx="2175383" cy="1192911"/>
          </a:xfrm>
        </p:grpSpPr>
        <p:cxnSp>
          <p:nvCxnSpPr>
            <p:cNvPr id="4" name="连接符: 肘形 3">
              <a:extLst>
                <a:ext uri="{FF2B5EF4-FFF2-40B4-BE49-F238E27FC236}">
                  <a16:creationId xmlns:a16="http://schemas.microsoft.com/office/drawing/2014/main" id="{663B6E1D-7259-7206-DBA7-0E9F13AF58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69096" y="4247388"/>
              <a:ext cx="1033272" cy="82753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连接符: 肘形 8">
              <a:extLst>
                <a:ext uri="{FF2B5EF4-FFF2-40B4-BE49-F238E27FC236}">
                  <a16:creationId xmlns:a16="http://schemas.microsoft.com/office/drawing/2014/main" id="{FF34C5C7-F062-BDEE-0BFB-3B4EED0291A3}"/>
                </a:ext>
              </a:extLst>
            </p:cNvPr>
            <p:cNvCxnSpPr>
              <a:cxnSpLocks/>
            </p:cNvCxnSpPr>
            <p:nvPr/>
          </p:nvCxnSpPr>
          <p:spPr>
            <a:xfrm>
              <a:off x="9299448" y="4247388"/>
              <a:ext cx="1013746" cy="820674"/>
            </a:xfrm>
            <a:prstGeom prst="bentConnector3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连接符: 肘形 10">
              <a:extLst>
                <a:ext uri="{FF2B5EF4-FFF2-40B4-BE49-F238E27FC236}">
                  <a16:creationId xmlns:a16="http://schemas.microsoft.com/office/drawing/2014/main" id="{47EFFB9A-5256-C7E8-9536-C78916789A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11207" y="4240530"/>
              <a:ext cx="1033272" cy="82753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D208E60-6722-4419-7709-3E9518B860BB}"/>
                </a:ext>
              </a:extLst>
            </p:cNvPr>
            <p:cNvSpPr txBox="1"/>
            <p:nvPr/>
          </p:nvSpPr>
          <p:spPr>
            <a:xfrm>
              <a:off x="9946076" y="4714732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T</a:t>
              </a:r>
              <a:r>
                <a:rPr lang="en-US" altLang="zh-CN" baseline="-25000" dirty="0"/>
                <a:t>0</a:t>
              </a:r>
              <a:endParaRPr lang="zh-CN" altLang="en-US" baseline="-250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D200E42-29A9-9F06-3354-294240AB805E}"/>
                </a:ext>
              </a:extLst>
            </p:cNvPr>
            <p:cNvSpPr txBox="1"/>
            <p:nvPr/>
          </p:nvSpPr>
          <p:spPr>
            <a:xfrm>
              <a:off x="9361269" y="3891153"/>
              <a:ext cx="386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T</a:t>
              </a:r>
              <a:r>
                <a:rPr lang="en-US" altLang="zh-CN" baseline="-25000" dirty="0"/>
                <a:t>1</a:t>
              </a:r>
              <a:endParaRPr lang="zh-CN" altLang="en-US" baseline="-25000"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0395" y="-5080"/>
            <a:ext cx="7125970" cy="5198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dist">
              <a:lnSpc>
                <a:spcPct val="125000"/>
              </a:lnSpc>
              <a:defRPr sz="2400" b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l">
              <a:buFont typeface="Wingdings" panose="05000000000000000000" charset="0"/>
            </a:pPr>
            <a:r>
              <a:rPr lang="en-US" altLang="zh-CN" dirty="0">
                <a:latin typeface="Calibri" panose="020F0502020204030204"/>
                <a:ea typeface="宋体" panose="02010600030101010101" pitchFamily="2" charset="-122"/>
                <a:sym typeface="+mn-ea"/>
              </a:rPr>
              <a:t>System PCBA Debug-Upgrade</a:t>
            </a:r>
          </a:p>
        </p:txBody>
      </p:sp>
      <p:sp>
        <p:nvSpPr>
          <p:cNvPr id="13314" name="内容占位符 2"/>
          <p:cNvSpPr>
            <a:spLocks noGrp="1"/>
          </p:cNvSpPr>
          <p:nvPr>
            <p:ph idx="1"/>
          </p:nvPr>
        </p:nvSpPr>
        <p:spPr>
          <a:xfrm>
            <a:off x="457200" y="904874"/>
            <a:ext cx="11059795" cy="5386198"/>
          </a:xfrm>
        </p:spPr>
        <p:txBody>
          <a:bodyPr vert="horz" wrap="square" lIns="91440" tIns="45720" rIns="91440" bIns="45720" anchor="t" anchorCtr="0"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USB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空片升级</a:t>
            </a:r>
            <a:endParaRPr kumimoji="0" lang="en-US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533400" marR="0" indent="-533400" algn="l" defTabSz="10826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Ø"/>
            </a:pPr>
            <a:r>
              <a:rPr lang="en-US" altLang="zh-CN" sz="2400" dirty="0">
                <a:sym typeface="+mn-ea"/>
              </a:rPr>
              <a:t>T16</a:t>
            </a:r>
            <a:r>
              <a:rPr lang="zh-CN" altLang="en-US" sz="2400" dirty="0">
                <a:sym typeface="+mn-ea"/>
              </a:rPr>
              <a:t>可用按键下拉或镊子拉地，再对板子通电或复位后可以放开</a:t>
            </a:r>
            <a:r>
              <a:rPr lang="en-US" altLang="zh-CN" sz="2400" dirty="0">
                <a:sym typeface="+mn-ea"/>
              </a:rPr>
              <a:t>T16</a:t>
            </a:r>
            <a:r>
              <a:rPr lang="zh-CN" altLang="en-US" sz="2400" dirty="0">
                <a:sym typeface="+mn-ea"/>
              </a:rPr>
              <a:t>，此时连接任意</a:t>
            </a:r>
            <a:r>
              <a:rPr lang="en-US" altLang="zh-CN" sz="2400" dirty="0">
                <a:sym typeface="+mn-ea"/>
              </a:rPr>
              <a:t>USB</a:t>
            </a:r>
            <a:r>
              <a:rPr lang="zh-CN" altLang="en-US" sz="2400" dirty="0">
                <a:sym typeface="+mn-ea"/>
              </a:rPr>
              <a:t>，</a:t>
            </a:r>
            <a:r>
              <a:rPr lang="en-US" altLang="zh-CN" sz="2400" dirty="0"/>
              <a:t> </a:t>
            </a:r>
            <a:r>
              <a:rPr lang="en-US" altLang="zh-CN" sz="2400" dirty="0" err="1"/>
              <a:t>HCProgrammer</a:t>
            </a:r>
            <a:r>
              <a:rPr lang="zh-CN" altLang="en-US" sz="2400" dirty="0"/>
              <a:t>会弹出设备</a:t>
            </a:r>
            <a:r>
              <a:rPr lang="en-US" altLang="zh-CN" sz="2400" dirty="0"/>
              <a:t>0</a:t>
            </a:r>
            <a:r>
              <a:rPr lang="zh-CN" altLang="en-US" sz="2400" dirty="0"/>
              <a:t>已连接，选择固件即可开始烧录</a:t>
            </a:r>
            <a:endParaRPr lang="en-US" altLang="zh-CN" sz="2400" dirty="0"/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zh-CN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UART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空片升级</a:t>
            </a:r>
            <a:endParaRPr kumimoji="0" lang="en-US" altLang="zh-CN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533400" marR="0" indent="-533400" algn="l" defTabSz="10826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dirty="0"/>
              <a:t>把</a:t>
            </a:r>
            <a:r>
              <a:rPr lang="en-US" altLang="zh-CN" sz="2400" dirty="0"/>
              <a:t>T22/T23/GND</a:t>
            </a:r>
            <a:r>
              <a:rPr lang="zh-CN" altLang="en-US" sz="2400" dirty="0"/>
              <a:t>引出来跟电脑串口对接</a:t>
            </a:r>
            <a:endParaRPr lang="en-US" altLang="zh-CN" sz="2400" dirty="0"/>
          </a:p>
          <a:p>
            <a:pPr marL="533400" marR="0" indent="-533400" algn="l" defTabSz="10826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dirty="0">
                <a:sym typeface="+mn-ea"/>
              </a:rPr>
              <a:t>给板子通电，如果没发现设备连接，再</a:t>
            </a:r>
            <a:endParaRPr lang="en-US" altLang="zh-CN" sz="2400" dirty="0">
              <a:sym typeface="+mn-ea"/>
            </a:endParaRPr>
          </a:p>
          <a:p>
            <a:pPr marL="0" marR="0" indent="0" algn="l" defTabSz="10826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None/>
            </a:pPr>
            <a:r>
              <a:rPr lang="zh-CN" altLang="en-US" sz="2400" dirty="0">
                <a:sym typeface="+mn-ea"/>
              </a:rPr>
              <a:t>给复位信号重新接收上位机的</a:t>
            </a:r>
            <a:r>
              <a:rPr lang="en-US" altLang="zh-CN" sz="2400" dirty="0">
                <a:sym typeface="+mn-ea"/>
              </a:rPr>
              <a:t>sync</a:t>
            </a:r>
            <a:r>
              <a:rPr lang="zh-CN" altLang="en-US" sz="2400" dirty="0">
                <a:sym typeface="+mn-ea"/>
              </a:rPr>
              <a:t>信号</a:t>
            </a:r>
            <a:endParaRPr lang="en-US" altLang="zh-CN" sz="2400" dirty="0"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noProof="1">
                <a:sym typeface="+mn-ea"/>
              </a:rPr>
              <a:t>EJTAG</a:t>
            </a:r>
            <a:r>
              <a:rPr kumimoji="0" lang="zh-CN" altLang="en-US" sz="2400" b="0" i="0" u="none" strike="noStrike" kern="120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升级</a:t>
            </a:r>
            <a:endParaRPr kumimoji="0" lang="en-US" altLang="zh-CN" sz="2400" b="0" i="0" u="none" strike="noStrike" kern="120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533400" marR="0" indent="-533400" algn="l" defTabSz="10826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Char char="Ø"/>
            </a:pPr>
            <a:r>
              <a:rPr lang="zh-CN" altLang="en-US" sz="2400" dirty="0"/>
              <a:t>利用</a:t>
            </a:r>
            <a:r>
              <a:rPr lang="en-US" altLang="zh-CN" sz="2400" dirty="0"/>
              <a:t>HC ICE</a:t>
            </a:r>
            <a:r>
              <a:rPr lang="zh-CN" altLang="en-US" sz="2400" dirty="0"/>
              <a:t>连接平台，</a:t>
            </a:r>
            <a:r>
              <a:rPr lang="en-US" altLang="zh-CN" sz="2400" dirty="0" err="1"/>
              <a:t>HiChipGDB</a:t>
            </a:r>
            <a:r>
              <a:rPr lang="zh-CN" altLang="en-US" sz="2400" dirty="0"/>
              <a:t>使用</a:t>
            </a:r>
            <a:endParaRPr lang="en-US" altLang="zh-CN" sz="2400" dirty="0"/>
          </a:p>
          <a:p>
            <a:pPr marL="0" marR="0" indent="0" algn="l" defTabSz="10826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None/>
            </a:pPr>
            <a:r>
              <a:rPr lang="zh-CN" altLang="en-US" sz="2400" dirty="0"/>
              <a:t>平台的</a:t>
            </a:r>
            <a:r>
              <a:rPr lang="en-US" altLang="zh-CN" sz="2400" dirty="0"/>
              <a:t>platform setting</a:t>
            </a:r>
            <a:r>
              <a:rPr lang="zh-CN" altLang="en-US" sz="2400" dirty="0"/>
              <a:t>，进行</a:t>
            </a:r>
            <a:r>
              <a:rPr lang="en-US" altLang="zh-CN" sz="2400" dirty="0"/>
              <a:t>EJTAG Init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pPr marL="0" marR="0" indent="0" algn="l" defTabSz="10826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None/>
            </a:pPr>
            <a:r>
              <a:rPr lang="zh-CN" altLang="en-US" sz="2400" dirty="0"/>
              <a:t>当提示                      ，需要对平台复位。</a:t>
            </a:r>
            <a:endParaRPr lang="en-US" altLang="zh-CN" sz="2400" dirty="0"/>
          </a:p>
          <a:p>
            <a:pPr marL="0" marR="0" indent="0" algn="l" defTabSz="10826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None/>
            </a:pPr>
            <a:r>
              <a:rPr lang="zh-CN" altLang="en-US" sz="2400" dirty="0"/>
              <a:t>如果提示消失后</a:t>
            </a:r>
            <a:r>
              <a:rPr lang="en-US" altLang="zh-CN" sz="2400" dirty="0"/>
              <a:t>download fail</a:t>
            </a:r>
            <a:r>
              <a:rPr lang="zh-CN" altLang="en-US" sz="2400" dirty="0"/>
              <a:t>，需要检查</a:t>
            </a:r>
            <a:endParaRPr lang="en-US" altLang="zh-CN" sz="2400" dirty="0"/>
          </a:p>
          <a:p>
            <a:pPr marL="0" marR="0" indent="0" algn="l" defTabSz="10826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None/>
            </a:pPr>
            <a:r>
              <a:rPr lang="en-US" altLang="zh-CN" sz="2400" dirty="0"/>
              <a:t>DDR</a:t>
            </a:r>
            <a:r>
              <a:rPr lang="zh-CN" altLang="en-US" sz="2400" dirty="0"/>
              <a:t>。如果</a:t>
            </a:r>
            <a:r>
              <a:rPr lang="en-US" altLang="zh-CN" sz="2400" dirty="0"/>
              <a:t>RUN</a:t>
            </a:r>
            <a:r>
              <a:rPr lang="zh-CN" altLang="en-US" sz="2400" dirty="0"/>
              <a:t>后</a:t>
            </a:r>
            <a:r>
              <a:rPr lang="en-US" altLang="zh-CN" sz="2400" dirty="0"/>
              <a:t>Upgrade success</a:t>
            </a:r>
            <a:r>
              <a:rPr lang="zh-CN" altLang="en-US" sz="2400" dirty="0"/>
              <a:t>，说明</a:t>
            </a:r>
            <a:endParaRPr lang="en-US" altLang="zh-CN" sz="2400" dirty="0"/>
          </a:p>
          <a:p>
            <a:pPr marL="0" marR="0" indent="0" algn="l" defTabSz="1082675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Pct val="80000"/>
              <a:buNone/>
            </a:pPr>
            <a:r>
              <a:rPr lang="zh-CN" altLang="en-US" sz="2400" dirty="0"/>
              <a:t>平台系统三大件正常，可进行配板</a:t>
            </a:r>
            <a:endParaRPr lang="en-US" altLang="zh-CN" sz="24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8EAFC86-9B31-97CD-ABFA-330F9FCF7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642" y="2127821"/>
            <a:ext cx="5274310" cy="28949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DB5AD8E-00DA-8F70-70E1-A6044611F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642" y="5248307"/>
            <a:ext cx="5201158" cy="97569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728B7FB-3A65-E639-6283-D72A464905E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081" t="29230" r="36425" b="33161"/>
          <a:stretch/>
        </p:blipFill>
        <p:spPr>
          <a:xfrm>
            <a:off x="1527047" y="4702746"/>
            <a:ext cx="1719073" cy="40836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377"/>
            <a:ext cx="12192000" cy="6818924"/>
          </a:xfrm>
          <a:prstGeom prst="rect">
            <a:avLst/>
          </a:prstGeom>
          <a:solidFill>
            <a:schemeClr val="tx1">
              <a:lumMod val="85000"/>
              <a:lumOff val="1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4022877" y="4709621"/>
            <a:ext cx="3467616" cy="0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4330654" y="4709621"/>
            <a:ext cx="2749471" cy="53104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dist">
              <a:lnSpc>
                <a:spcPts val="3800"/>
              </a:lnSpc>
            </a:pPr>
            <a:r>
              <a:rPr lang="zh-CN" altLang="en-US" sz="2400" b="1" spc="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欢迎您的宝贵意见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026083" y="4129975"/>
            <a:ext cx="3464410" cy="57964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dist">
              <a:lnSpc>
                <a:spcPts val="3800"/>
              </a:lnSpc>
            </a:pPr>
            <a:r>
              <a:rPr lang="zh-CN" altLang="en-US" sz="3200" b="1" spc="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珠海海奇半导体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3106" y="1343"/>
            <a:ext cx="698894" cy="734869"/>
          </a:xfrm>
          <a:prstGeom prst="rect">
            <a:avLst/>
          </a:prstGeom>
          <a:effectLst>
            <a:outerShdw blurRad="152400" dist="317500" dir="5400000" sx="90000" sy="-19000" rotWithShape="0">
              <a:schemeClr val="bg1">
                <a:lumMod val="95000"/>
                <a:alpha val="15000"/>
              </a:schemeClr>
            </a:outerShdw>
          </a:effectLst>
        </p:spPr>
      </p:pic>
      <p:pic>
        <p:nvPicPr>
          <p:cNvPr id="8" name="Picture 2" descr="F:\公众号\公众号QRcod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0214" y="5240664"/>
            <a:ext cx="675700" cy="67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28"/>
          <p:cNvSpPr txBox="1"/>
          <p:nvPr/>
        </p:nvSpPr>
        <p:spPr>
          <a:xfrm>
            <a:off x="1841268" y="1862528"/>
            <a:ext cx="8638746" cy="1017942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46912" tIns="46912" rIns="46912" bIns="46912" numCol="1" spcCol="38100" rtlCol="0" anchor="t" forceAA="0">
            <a:spAutoFit/>
          </a:bodyPr>
          <a:lstStyle/>
          <a:p>
            <a:pPr defTabSz="938530" hangingPunct="0"/>
            <a:r>
              <a:rPr lang="zh-CN" alt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Calibri" panose="020F0502020204030204"/>
              </a:rPr>
              <a:t>海</a:t>
            </a:r>
            <a:r>
              <a: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Calibri" panose="020F0502020204030204"/>
              </a:rPr>
              <a:t>纳天下英才    </a:t>
            </a:r>
            <a:r>
              <a:rPr lang="zh-CN" alt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Calibri" panose="020F0502020204030204"/>
              </a:rPr>
              <a:t>奇</a:t>
            </a:r>
            <a:r>
              <a: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Calibri" panose="020F0502020204030204"/>
              </a:rPr>
              <a:t>迹中华芯片</a:t>
            </a:r>
          </a:p>
        </p:txBody>
      </p:sp>
      <p:sp>
        <p:nvSpPr>
          <p:cNvPr id="2" name="文本框 28">
            <a:extLst>
              <a:ext uri="{FF2B5EF4-FFF2-40B4-BE49-F238E27FC236}">
                <a16:creationId xmlns:a16="http://schemas.microsoft.com/office/drawing/2014/main" id="{9EC7698C-D42C-A319-D0B7-6A1D4FC807AE}"/>
              </a:ext>
            </a:extLst>
          </p:cNvPr>
          <p:cNvSpPr txBox="1"/>
          <p:nvPr/>
        </p:nvSpPr>
        <p:spPr>
          <a:xfrm>
            <a:off x="5197116" y="2798698"/>
            <a:ext cx="1479735" cy="833404"/>
          </a:xfrm>
          <a:prstGeom prst="rect">
            <a:avLst/>
          </a:prstGeom>
          <a:noFill/>
          <a:ln w="12700" cap="flat">
            <a:noFill/>
            <a:miter lim="4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46912" tIns="46912" rIns="46912" bIns="46912" numCol="1" spcCol="38100" rtlCol="0" anchor="t" forceAA="0">
            <a:spAutoFit/>
          </a:bodyPr>
          <a:lstStyle/>
          <a:p>
            <a:pPr defTabSz="938530" hangingPunct="0"/>
            <a:r>
              <a:rPr lang="en-US" altLang="zh-CN" sz="4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sym typeface="Calibri" panose="020F0502020204030204"/>
              </a:rPr>
              <a:t>Q&amp;A</a:t>
            </a:r>
            <a:endParaRPr lang="zh-CN" altLang="en-US" sz="4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1351</TotalTime>
  <Words>1551</Words>
  <Application>Microsoft Office PowerPoint</Application>
  <PresentationFormat>宽屏</PresentationFormat>
  <Paragraphs>251</Paragraphs>
  <Slides>21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等线</vt:lpstr>
      <vt:lpstr>等线 Light</vt:lpstr>
      <vt:lpstr>宋体</vt:lpstr>
      <vt:lpstr>微软雅黑</vt:lpstr>
      <vt:lpstr>Arial</vt:lpstr>
      <vt:lpstr>Calibri</vt:lpstr>
      <vt:lpstr>Wingdings</vt:lpstr>
      <vt:lpstr>Office 主题​​</vt:lpstr>
      <vt:lpstr>2_自定义设计方案</vt:lpstr>
      <vt:lpstr>1_自定义设计方案</vt:lpstr>
      <vt:lpstr>自定义设计方案</vt:lpstr>
      <vt:lpstr>Worksheet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 小凤</dc:creator>
  <cp:lastModifiedBy>terry_lzc@outlook.com</cp:lastModifiedBy>
  <cp:revision>593</cp:revision>
  <dcterms:created xsi:type="dcterms:W3CDTF">2021-04-01T06:50:00Z</dcterms:created>
  <dcterms:modified xsi:type="dcterms:W3CDTF">2024-03-14T10:49:52Z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3C5DC3148F8549328B0E6A6642EA1A89</vt:lpwstr>
  </property>
  <property fmtid="{D5CDD505-2E9C-101B-9397-08002B2CF9AE}" pid="3" name="KSOProductBuildVer">
    <vt:lpwstr>2052-11.1.0.11115</vt:lpwstr>
  </property>
</Properties>
</file>