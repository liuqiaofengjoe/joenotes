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3" r:id="rId3"/>
    <p:sldMasterId id="2147483685" r:id="rId4"/>
  </p:sldMasterIdLst>
  <p:notesMasterIdLst>
    <p:notesMasterId r:id="rId19"/>
  </p:notesMasterIdLst>
  <p:sldIdLst>
    <p:sldId id="257" r:id="rId5"/>
    <p:sldId id="258" r:id="rId6"/>
    <p:sldId id="277" r:id="rId7"/>
    <p:sldId id="341" r:id="rId8"/>
    <p:sldId id="315" r:id="rId9"/>
    <p:sldId id="357" r:id="rId10"/>
    <p:sldId id="361" r:id="rId11"/>
    <p:sldId id="358" r:id="rId12"/>
    <p:sldId id="359" r:id="rId13"/>
    <p:sldId id="360" r:id="rId14"/>
    <p:sldId id="347" r:id="rId15"/>
    <p:sldId id="362" r:id="rId16"/>
    <p:sldId id="352" r:id="rId17"/>
    <p:sldId id="275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>
          <p15:clr>
            <a:srgbClr val="A4A3A4"/>
          </p15:clr>
        </p15:guide>
        <p15:guide id="2" pos="3807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小凤" initials="张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50" y="114"/>
      </p:cViewPr>
      <p:guideLst>
        <p:guide orient="horz" pos="2137"/>
        <p:guide pos="38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DCF33-B22A-4FE9-8D7D-67A52490DBA9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8359D-01A7-4A18-AD9D-46F04F4A12C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8359D-01A7-4A18-AD9D-46F04F4A12C6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0CDE5-F0F2-4811-AF7F-9EBBDE1C973C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0B30D-3D34-485A-B84F-DD260DB3793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1863304"/>
            <a:ext cx="12192000" cy="4994696"/>
            <a:chOff x="0" y="0"/>
            <a:chExt cx="12192000" cy="4994696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2" cstate="print"/>
            <a:srcRect t="10904" r="2328" b="17962"/>
            <a:stretch>
              <a:fillRect/>
            </a:stretch>
          </p:blipFill>
          <p:spPr>
            <a:xfrm>
              <a:off x="0" y="0"/>
              <a:ext cx="12192000" cy="4994696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112135">
              <a:off x="5583873" y="2183047"/>
              <a:ext cx="1195701" cy="1257250"/>
            </a:xfrm>
            <a:prstGeom prst="rect">
              <a:avLst/>
            </a:prstGeom>
            <a:effectLst>
              <a:outerShdw blurRad="152400" dist="317500" dir="5400000" sx="90000" sy="-19000" rotWithShape="0">
                <a:schemeClr val="bg1">
                  <a:lumMod val="95000"/>
                  <a:alpha val="15000"/>
                </a:schemeClr>
              </a:outerShdw>
            </a:effectLst>
          </p:spPr>
        </p:pic>
      </p:grpSp>
      <p:sp>
        <p:nvSpPr>
          <p:cNvPr id="10" name="矩形 9"/>
          <p:cNvSpPr/>
          <p:nvPr userDrawn="1"/>
        </p:nvSpPr>
        <p:spPr>
          <a:xfrm>
            <a:off x="0" y="0"/>
            <a:ext cx="12192000" cy="6000750"/>
          </a:xfrm>
          <a:prstGeom prst="rect">
            <a:avLst/>
          </a:prstGeom>
          <a:gradFill flip="none" rotWithShape="1">
            <a:gsLst>
              <a:gs pos="48000">
                <a:schemeClr val="tx1"/>
              </a:gs>
              <a:gs pos="62000">
                <a:schemeClr val="tx1">
                  <a:alpha val="78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0" y="-18167"/>
            <a:ext cx="6438900" cy="6876167"/>
            <a:chOff x="0" y="-18167"/>
            <a:chExt cx="6438900" cy="6876167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2" cstate="print"/>
            <a:srcRect l="27609" r="21146" b="2709"/>
            <a:stretch>
              <a:fillRect/>
            </a:stretch>
          </p:blipFill>
          <p:spPr>
            <a:xfrm>
              <a:off x="0" y="-18167"/>
              <a:ext cx="6438900" cy="6876167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161081">
              <a:off x="2066580" y="2905319"/>
              <a:ext cx="1195701" cy="1257250"/>
            </a:xfrm>
            <a:prstGeom prst="rect">
              <a:avLst/>
            </a:prstGeom>
            <a:effectLst>
              <a:outerShdw blurRad="152400" dist="317500" dir="5400000" sx="90000" sy="-19000" rotWithShape="0">
                <a:schemeClr val="bg1">
                  <a:lumMod val="95000"/>
                  <a:alpha val="15000"/>
                </a:schemeClr>
              </a:outerShdw>
            </a:effectLst>
          </p:spPr>
        </p:pic>
      </p:grpSp>
      <p:sp>
        <p:nvSpPr>
          <p:cNvPr id="10" name="矩形 9"/>
          <p:cNvSpPr/>
          <p:nvPr userDrawn="1"/>
        </p:nvSpPr>
        <p:spPr>
          <a:xfrm rot="5400000">
            <a:off x="2664143" y="-2664143"/>
            <a:ext cx="6863704" cy="12191990"/>
          </a:xfrm>
          <a:prstGeom prst="rect">
            <a:avLst/>
          </a:prstGeom>
          <a:gradFill flip="none" rotWithShape="1">
            <a:gsLst>
              <a:gs pos="48000">
                <a:schemeClr val="tx1"/>
              </a:gs>
              <a:gs pos="62000">
                <a:schemeClr val="tx1">
                  <a:alpha val="78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540000" cy="54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28162" y="-31066"/>
            <a:ext cx="58714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531857"/>
            <a:ext cx="1219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0" y="6440192"/>
            <a:ext cx="12203970" cy="2380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 userDrawn="1"/>
        </p:nvSpPr>
        <p:spPr>
          <a:xfrm>
            <a:off x="28162" y="6491513"/>
            <a:ext cx="2549400" cy="338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珠海海奇半导体有限公司</a:t>
            </a: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40791" y="3035"/>
            <a:ext cx="446143" cy="50342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540000" cy="54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28162" y="-31066"/>
            <a:ext cx="58714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31857"/>
            <a:ext cx="1219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0" y="6440192"/>
            <a:ext cx="12203970" cy="2380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 userDrawn="1"/>
        </p:nvSpPr>
        <p:spPr>
          <a:xfrm>
            <a:off x="28162" y="6491513"/>
            <a:ext cx="2549400" cy="338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珠海海奇半导体有限公司</a:t>
            </a: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40791" y="3035"/>
            <a:ext cx="446143" cy="503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540000" cy="54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28162" y="-31066"/>
            <a:ext cx="58714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531857"/>
            <a:ext cx="1219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0" y="6440192"/>
            <a:ext cx="12203970" cy="2380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 userDrawn="1"/>
        </p:nvSpPr>
        <p:spPr>
          <a:xfrm>
            <a:off x="28162" y="6491513"/>
            <a:ext cx="2549400" cy="338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珠海海奇半导体有限公司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40791" y="3035"/>
            <a:ext cx="446143" cy="503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540000" cy="54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28162" y="-31066"/>
            <a:ext cx="58714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531857"/>
            <a:ext cx="1219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0" y="6440192"/>
            <a:ext cx="12203970" cy="2380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 userDrawn="1"/>
        </p:nvSpPr>
        <p:spPr>
          <a:xfrm>
            <a:off x="28162" y="6491513"/>
            <a:ext cx="2549400" cy="338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珠海海奇半导体有限公司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40791" y="3035"/>
            <a:ext cx="446143" cy="503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-12098"/>
            <a:ext cx="540000" cy="54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6" name="文本框 11"/>
          <p:cNvSpPr txBox="1"/>
          <p:nvPr userDrawn="1"/>
        </p:nvSpPr>
        <p:spPr>
          <a:xfrm>
            <a:off x="28162" y="-43164"/>
            <a:ext cx="58714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0" y="519759"/>
            <a:ext cx="1219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0" y="6428094"/>
            <a:ext cx="12203970" cy="2380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4"/>
          <p:cNvSpPr txBox="1"/>
          <p:nvPr userDrawn="1"/>
        </p:nvSpPr>
        <p:spPr>
          <a:xfrm>
            <a:off x="28162" y="6479415"/>
            <a:ext cx="2549400" cy="3384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lnSpc>
                <a:spcPct val="100000"/>
              </a:lnSpc>
            </a:pP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珠海海奇半导体有限公司</a:t>
            </a: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40791" y="-9063"/>
            <a:ext cx="446143" cy="503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-5985" y="-3216"/>
            <a:ext cx="540000" cy="54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文本框 11"/>
          <p:cNvSpPr txBox="1"/>
          <p:nvPr userDrawn="1"/>
        </p:nvSpPr>
        <p:spPr>
          <a:xfrm>
            <a:off x="22177" y="-34282"/>
            <a:ext cx="58714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-5985" y="528641"/>
            <a:ext cx="1219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-5985" y="6436976"/>
            <a:ext cx="12203970" cy="2380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4"/>
          <p:cNvSpPr txBox="1"/>
          <p:nvPr userDrawn="1"/>
        </p:nvSpPr>
        <p:spPr>
          <a:xfrm>
            <a:off x="22177" y="6488297"/>
            <a:ext cx="2549400" cy="3384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lnSpc>
                <a:spcPct val="100000"/>
              </a:lnSpc>
            </a:pP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珠海海奇半导体有限公司</a:t>
            </a: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34806" y="-181"/>
            <a:ext cx="446143" cy="503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5985" y="-3216"/>
            <a:ext cx="540000" cy="54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文本框 11"/>
          <p:cNvSpPr txBox="1"/>
          <p:nvPr userDrawn="1"/>
        </p:nvSpPr>
        <p:spPr>
          <a:xfrm>
            <a:off x="22177" y="-34282"/>
            <a:ext cx="58714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-5985" y="528641"/>
            <a:ext cx="1219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-5985" y="6436976"/>
            <a:ext cx="12203970" cy="2380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4"/>
          <p:cNvSpPr txBox="1"/>
          <p:nvPr userDrawn="1"/>
        </p:nvSpPr>
        <p:spPr>
          <a:xfrm>
            <a:off x="22177" y="6488297"/>
            <a:ext cx="2549400" cy="3384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lnSpc>
                <a:spcPct val="100000"/>
              </a:lnSpc>
            </a:pP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珠海海奇半导体有限公司</a:t>
            </a: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34806" y="-181"/>
            <a:ext cx="446143" cy="503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5985" y="-3216"/>
            <a:ext cx="540000" cy="54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文本框 11"/>
          <p:cNvSpPr txBox="1"/>
          <p:nvPr userDrawn="1"/>
        </p:nvSpPr>
        <p:spPr>
          <a:xfrm>
            <a:off x="22177" y="-34282"/>
            <a:ext cx="58714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-5985" y="528641"/>
            <a:ext cx="1219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-5985" y="6436976"/>
            <a:ext cx="12203970" cy="2380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4"/>
          <p:cNvSpPr txBox="1"/>
          <p:nvPr userDrawn="1"/>
        </p:nvSpPr>
        <p:spPr>
          <a:xfrm>
            <a:off x="22177" y="6488297"/>
            <a:ext cx="2549400" cy="3384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lnSpc>
                <a:spcPct val="100000"/>
              </a:lnSpc>
            </a:pP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珠海海奇半导体有限公司</a:t>
            </a: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34806" y="-181"/>
            <a:ext cx="446143" cy="503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>
          <a:xfrm>
            <a:off x="-5985" y="-3216"/>
            <a:ext cx="540000" cy="54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5" name="文本框 11"/>
          <p:cNvSpPr txBox="1"/>
          <p:nvPr userDrawn="1"/>
        </p:nvSpPr>
        <p:spPr>
          <a:xfrm>
            <a:off x="22177" y="-34282"/>
            <a:ext cx="58714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-5985" y="528641"/>
            <a:ext cx="1219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/>
        </p:nvCxnSpPr>
        <p:spPr>
          <a:xfrm>
            <a:off x="-5985" y="6436976"/>
            <a:ext cx="12203970" cy="2380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4"/>
          <p:cNvSpPr txBox="1"/>
          <p:nvPr userDrawn="1"/>
        </p:nvSpPr>
        <p:spPr>
          <a:xfrm>
            <a:off x="22177" y="6488297"/>
            <a:ext cx="2549400" cy="3384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lnSpc>
                <a:spcPct val="100000"/>
              </a:lnSpc>
            </a:pP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珠海海奇半导体有限公司</a:t>
            </a:r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34806" y="-181"/>
            <a:ext cx="446143" cy="503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5E919-DA01-4C45-A52D-4544C365A6B2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EE2B-5929-486B-B269-05647122C4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5E919-DA01-4C45-A52D-4544C365A6B2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EE2B-5929-486B-B269-05647122C4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5E919-DA01-4C45-A52D-4544C365A6B2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EE2B-5929-486B-B269-05647122C4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5E919-DA01-4C45-A52D-4544C365A6B2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EE2B-5929-486B-B269-05647122C4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/>
        </p:nvGrpSpPr>
        <p:grpSpPr>
          <a:xfrm>
            <a:off x="0" y="0"/>
            <a:ext cx="12192000" cy="6134100"/>
            <a:chOff x="0" y="457200"/>
            <a:chExt cx="12192000" cy="6134100"/>
          </a:xfrm>
        </p:grpSpPr>
        <p:pic>
          <p:nvPicPr>
            <p:cNvPr id="5124" name="Picture 4" descr="查看源图像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56" b="16106"/>
            <a:stretch>
              <a:fillRect/>
            </a:stretch>
          </p:blipFill>
          <p:spPr bwMode="auto">
            <a:xfrm>
              <a:off x="0" y="457200"/>
              <a:ext cx="12192000" cy="6134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3242" y="2876550"/>
              <a:ext cx="1539979" cy="1619250"/>
            </a:xfrm>
            <a:prstGeom prst="rect">
              <a:avLst/>
            </a:prstGeom>
            <a:effectLst>
              <a:outerShdw blurRad="152400" dist="317500" dir="5400000" sx="90000" sy="-19000" rotWithShape="0">
                <a:schemeClr val="bg1">
                  <a:lumMod val="95000"/>
                  <a:alpha val="15000"/>
                </a:schemeClr>
              </a:outerShdw>
            </a:effectLst>
          </p:spPr>
        </p:pic>
      </p:grpSp>
      <p:sp>
        <p:nvSpPr>
          <p:cNvPr id="7" name="矩形 6"/>
          <p:cNvSpPr/>
          <p:nvPr userDrawn="1"/>
        </p:nvSpPr>
        <p:spPr>
          <a:xfrm rot="10800000">
            <a:off x="0" y="1727200"/>
            <a:ext cx="12192000" cy="5130800"/>
          </a:xfrm>
          <a:prstGeom prst="rect">
            <a:avLst/>
          </a:prstGeom>
          <a:gradFill flip="none" rotWithShape="1">
            <a:gsLst>
              <a:gs pos="48000">
                <a:schemeClr val="tx1"/>
              </a:gs>
              <a:gs pos="62000">
                <a:schemeClr val="tx1">
                  <a:alpha val="78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5E919-DA01-4C45-A52D-4544C365A6B2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EE2B-5929-486B-B269-05647122C4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5E919-DA01-4C45-A52D-4544C365A6B2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EE2B-5929-486B-B269-05647122C4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5E919-DA01-4C45-A52D-4544C365A6B2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EE2B-5929-486B-B269-05647122C4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5E919-DA01-4C45-A52D-4544C365A6B2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EE2B-5929-486B-B269-05647122C4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5E919-DA01-4C45-A52D-4544C365A6B2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EE2B-5929-486B-B269-05647122C4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0CDE5-F0F2-4811-AF7F-9EBBDE1C973C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0B30D-3D34-485A-B84F-DD260DB3793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C5E919-DA01-4C45-A52D-4544C365A6B2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3EE2B-5929-486B-B269-05647122C4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B3481-59CC-4C05-9A48-018CF764FF4A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E6AFA6-12AA-44B2-94C9-C9A6A9E904BB}" type="datetimeFigureOut">
              <a:rPr lang="zh-CN" altLang="en-US" smtClean="0"/>
              <a:t>2023/7/11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172.16.100.74/svn/SVN/HW/FPGA" TargetMode="External"/><Relationship Id="rId2" Type="http://schemas.openxmlformats.org/officeDocument/2006/relationships/hyperlink" Target="https://172.16.100.74/svn/SVN/HW/SOC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172.16.100.74/svn/SVN/Datasheet" TargetMode="External"/><Relationship Id="rId4" Type="http://schemas.openxmlformats.org/officeDocument/2006/relationships/hyperlink" Target="https://172.16.100.74/svn/SVN/Customers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695055" y="1453984"/>
            <a:ext cx="6801862" cy="707886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嵌入式硬件基础与调试方法</a:t>
            </a:r>
            <a:endParaRPr lang="zh-CN" sz="40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5140617"/>
            <a:ext cx="12192000" cy="1231010"/>
          </a:xfrm>
          <a:prstGeom prst="rect">
            <a:avLst/>
          </a:prstGeom>
          <a:solidFill>
            <a:schemeClr val="tx1">
              <a:lumMod val="95000"/>
              <a:lumOff val="5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059456" y="4618638"/>
            <a:ext cx="4513580" cy="52197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zh-CN" altLang="en-US" sz="28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珠海海奇半导体有限公司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1650351" y="2887343"/>
            <a:ext cx="9030349" cy="0"/>
          </a:xfrm>
          <a:prstGeom prst="line">
            <a:avLst/>
          </a:prstGeom>
          <a:ln w="9525"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650351" y="1185543"/>
            <a:ext cx="9030349" cy="0"/>
          </a:xfrm>
          <a:prstGeom prst="line">
            <a:avLst/>
          </a:prstGeom>
          <a:ln w="9525"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A228E662-D948-E40A-439A-C09A495D78C5}"/>
              </a:ext>
            </a:extLst>
          </p:cNvPr>
          <p:cNvSpPr txBox="1"/>
          <p:nvPr/>
        </p:nvSpPr>
        <p:spPr>
          <a:xfrm>
            <a:off x="5175606" y="3764844"/>
            <a:ext cx="1979837" cy="52322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2800" b="1" spc="3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Terry.lin</a:t>
            </a:r>
            <a:endParaRPr lang="zh-CN" altLang="en-US" sz="28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71927" y="758334"/>
            <a:ext cx="1887729" cy="1124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25000"/>
              </a:lnSpc>
            </a:pPr>
            <a:r>
              <a:rPr lang="zh-CN" altLang="en-US" sz="3200" b="1" dirty="0">
                <a:solidFill>
                  <a:schemeClr val="bg2">
                    <a:lumMod val="9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目录</a:t>
            </a:r>
            <a:r>
              <a:rPr lang="en-US" altLang="zh-CN" sz="2400" b="1" dirty="0">
                <a:solidFill>
                  <a:schemeClr val="bg2">
                    <a:lumMod val="9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CONTENTS</a:t>
            </a:r>
            <a:endParaRPr lang="zh-CN" altLang="en-US" sz="4800" b="1" dirty="0">
              <a:solidFill>
                <a:schemeClr val="bg2">
                  <a:lumMod val="90000"/>
                </a:schemeClr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927479" y="1500242"/>
            <a:ext cx="3524113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800" b="1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海奇嵌入式系统基础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375664" y="1460237"/>
            <a:ext cx="631255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4000" b="1" dirty="0">
              <a:solidFill>
                <a:schemeClr val="bg2">
                  <a:lumMod val="9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6375664" y="4642876"/>
            <a:ext cx="3098979" cy="707886"/>
            <a:chOff x="6705882" y="3442646"/>
            <a:chExt cx="4870760" cy="7078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4" name="文本框 13"/>
            <p:cNvSpPr txBox="1"/>
            <p:nvPr/>
          </p:nvSpPr>
          <p:spPr>
            <a:xfrm>
              <a:off x="7682700" y="3479611"/>
              <a:ext cx="3893942" cy="581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lang="zh-CN" altLang="en-US" sz="2800" b="1" dirty="0">
                  <a:solidFill>
                    <a:schemeClr val="bg2">
                      <a:lumMod val="9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硬件开发资源</a:t>
              </a:r>
              <a:endParaRPr lang="en-US" altLang="zh-CN" sz="2800" b="1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705882" y="3442646"/>
              <a:ext cx="992380" cy="707886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bg2">
                      <a:lumMod val="9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4000" b="1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375400" y="3084817"/>
            <a:ext cx="4925695" cy="706755"/>
            <a:chOff x="6636002" y="3071628"/>
            <a:chExt cx="9319695" cy="70661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文本框 16"/>
            <p:cNvSpPr txBox="1"/>
            <p:nvPr/>
          </p:nvSpPr>
          <p:spPr>
            <a:xfrm>
              <a:off x="7624265" y="3098298"/>
              <a:ext cx="8331432" cy="5779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lang="zh-CN" altLang="en-US" sz="2800" b="1" dirty="0">
                  <a:solidFill>
                    <a:schemeClr val="bg2">
                      <a:lumMod val="9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平台调试与使用方法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636002" y="3071628"/>
              <a:ext cx="992379" cy="706616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bg2">
                      <a:lumMod val="9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4000" b="1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3106" y="1343"/>
            <a:ext cx="698894" cy="734869"/>
          </a:xfrm>
          <a:prstGeom prst="rect">
            <a:avLst/>
          </a:prstGeom>
          <a:effectLst>
            <a:outerShdw blurRad="152400" dist="317500" dir="5400000" sx="90000" sy="-19000" rotWithShape="0">
              <a:schemeClr val="bg1">
                <a:lumMod val="95000"/>
                <a:alpha val="15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3250" y="0"/>
            <a:ext cx="4601796" cy="508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海奇嵌入式系统组成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146" name="内容占位符 2"/>
          <p:cNvSpPr>
            <a:spLocks noGrp="1"/>
          </p:cNvSpPr>
          <p:nvPr>
            <p:ph idx="1"/>
          </p:nvPr>
        </p:nvSpPr>
        <p:spPr>
          <a:xfrm>
            <a:off x="457200" y="794385"/>
            <a:ext cx="10671048" cy="5332095"/>
          </a:xfrm>
        </p:spPr>
        <p:txBody>
          <a:bodyPr vert="horz" wrap="square" lIns="91440" tIns="45720" rIns="91440" bIns="45720" anchor="t" anchorCtr="0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</a:t>
            </a:r>
            <a:r>
              <a:rPr lang="zh-CN" altLang="en-US" noProof="1"/>
              <a:t>：</a:t>
            </a: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CPU</a:t>
            </a:r>
            <a:r>
              <a:rPr kumimoji="0" lang="zh-CN" altLang="en-US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noProof="1"/>
              <a:t>PLL</a:t>
            </a:r>
            <a:r>
              <a:rPr lang="zh-CN" altLang="en-US" noProof="1"/>
              <a:t>、</a:t>
            </a: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NB</a:t>
            </a:r>
            <a:r>
              <a:rPr kumimoji="0" lang="zh-CN" altLang="en-US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SB</a:t>
            </a:r>
            <a:r>
              <a:rPr lang="zh-CN" altLang="en-US" noProof="1"/>
              <a:t>、</a:t>
            </a:r>
            <a:r>
              <a:rPr lang="en-US" altLang="zh-CN" noProof="1"/>
              <a:t>BUS</a:t>
            </a:r>
            <a:r>
              <a:rPr lang="zh-CN" altLang="en-US" noProof="1"/>
              <a:t>、</a:t>
            </a:r>
            <a:r>
              <a:rPr lang="en-US" altLang="zh-CN" noProof="1"/>
              <a:t>IP</a:t>
            </a:r>
            <a:r>
              <a:rPr lang="zh-CN" altLang="en-US" noProof="1"/>
              <a:t> </a:t>
            </a:r>
            <a:r>
              <a:rPr lang="en-US" altLang="zh-CN" noProof="1"/>
              <a:t>etc.</a:t>
            </a:r>
            <a:endParaRPr kumimoji="0" lang="en-US" altLang="zh-CN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Memory</a:t>
            </a:r>
            <a:r>
              <a:rPr lang="zh-CN" altLang="en-US" noProof="1"/>
              <a:t>：</a:t>
            </a: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DDR2/DDR3 Ram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Storage</a:t>
            </a:r>
            <a:r>
              <a:rPr kumimoji="0" lang="zh-CN" altLang="en-US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 Nor/NAND Rom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Interface</a:t>
            </a:r>
            <a:r>
              <a:rPr kumimoji="0" lang="zh-CN" altLang="en-US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HDMI TX/RX</a:t>
            </a:r>
            <a:r>
              <a:rPr kumimoji="0" lang="zh-CN" altLang="en-US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USB</a:t>
            </a:r>
            <a:r>
              <a:rPr kumimoji="0" lang="zh-CN" altLang="en-US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noProof="1"/>
              <a:t>MIPI DSI</a:t>
            </a:r>
            <a:r>
              <a:rPr lang="zh-CN" altLang="en-US" noProof="1"/>
              <a:t>、</a:t>
            </a:r>
            <a:r>
              <a:rPr lang="en-US" altLang="zh-CN" noProof="1"/>
              <a:t>LVDS</a:t>
            </a:r>
            <a:r>
              <a:rPr lang="zh-CN" altLang="en-US" noProof="1"/>
              <a:t>、</a:t>
            </a: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VGA OUT</a:t>
            </a:r>
            <a:r>
              <a:rPr kumimoji="0" lang="zh-CN" altLang="en-US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CVBS IN</a:t>
            </a:r>
            <a:r>
              <a:rPr kumimoji="0" lang="zh-CN" altLang="en-US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AUDIO OUT</a:t>
            </a:r>
            <a:r>
              <a:rPr kumimoji="0" lang="zh-CN" altLang="en-US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CN" noProof="1"/>
              <a:t>RGB888</a:t>
            </a:r>
            <a:r>
              <a:rPr lang="zh-CN" altLang="en-US" noProof="1"/>
              <a:t>、</a:t>
            </a:r>
            <a:r>
              <a:rPr lang="en-US" altLang="zh-CN" noProof="1"/>
              <a:t>RMII</a:t>
            </a:r>
            <a:r>
              <a:rPr lang="zh-CN" altLang="en-US" noProof="1"/>
              <a:t>、</a:t>
            </a:r>
            <a:r>
              <a:rPr lang="en-US" altLang="zh-CN" noProof="1"/>
              <a:t>DVP CSI</a:t>
            </a:r>
            <a:r>
              <a:rPr lang="zh-CN" altLang="en-US" noProof="1"/>
              <a:t>、</a:t>
            </a:r>
            <a:r>
              <a:rPr lang="en-US" altLang="zh-CN" noProof="1"/>
              <a:t>SDIO</a:t>
            </a:r>
            <a:r>
              <a:rPr lang="zh-CN" altLang="en-US" noProof="1"/>
              <a:t>、</a:t>
            </a: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IIC</a:t>
            </a:r>
            <a:r>
              <a:rPr kumimoji="0" lang="zh-CN" altLang="en-US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</a:t>
            </a:r>
            <a:r>
              <a:rPr kumimoji="0" lang="zh-CN" altLang="en-US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UART</a:t>
            </a:r>
            <a:r>
              <a:rPr lang="zh-CN" altLang="en-US" noProof="1"/>
              <a:t>、</a:t>
            </a: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PWM</a:t>
            </a:r>
            <a:r>
              <a:rPr lang="zh-CN" altLang="en-US" noProof="1"/>
              <a:t>、</a:t>
            </a: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IRRX</a:t>
            </a:r>
            <a:r>
              <a:rPr lang="zh-CN" altLang="en-US" noProof="1"/>
              <a:t>、</a:t>
            </a: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I2S</a:t>
            </a:r>
            <a:r>
              <a:rPr kumimoji="0" lang="zh-CN" altLang="en-US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PCM</a:t>
            </a:r>
            <a:r>
              <a:rPr kumimoji="0" lang="zh-CN" altLang="en-US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TDM</a:t>
            </a:r>
            <a:r>
              <a:rPr kumimoji="0" lang="zh-CN" altLang="en-US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PDM</a:t>
            </a:r>
            <a:r>
              <a:rPr lang="zh-CN" altLang="en-US" noProof="1"/>
              <a:t>、</a:t>
            </a: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SPDIF</a:t>
            </a:r>
            <a:r>
              <a:rPr kumimoji="0" lang="zh-CN" altLang="en-US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SAR ADC etc.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noProof="1"/>
              <a:t>Power</a:t>
            </a:r>
            <a:r>
              <a:rPr lang="zh-CN" altLang="en-US" noProof="1"/>
              <a:t>：</a:t>
            </a:r>
            <a:r>
              <a:rPr lang="en-US" altLang="zh-CN" noProof="1"/>
              <a:t>5V</a:t>
            </a:r>
            <a:r>
              <a:rPr lang="zh-CN" altLang="en-US" noProof="1"/>
              <a:t>、</a:t>
            </a:r>
            <a:r>
              <a:rPr lang="en-US" altLang="zh-CN" noProof="1"/>
              <a:t>3.3V</a:t>
            </a:r>
            <a:r>
              <a:rPr lang="zh-CN" altLang="en-US" noProof="1"/>
              <a:t>、</a:t>
            </a:r>
            <a:r>
              <a:rPr lang="en-US" altLang="zh-CN" noProof="1"/>
              <a:t>1.8/1.5V</a:t>
            </a:r>
            <a:r>
              <a:rPr lang="zh-CN" altLang="en-US" noProof="1"/>
              <a:t>、</a:t>
            </a:r>
            <a:r>
              <a:rPr lang="en-US" altLang="zh-CN" noProof="1"/>
              <a:t>1.1V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noProof="1"/>
              <a:t>O</a:t>
            </a:r>
            <a:r>
              <a:rPr lang="en-US" altLang="zh-CN" dirty="0" err="1"/>
              <a:t>perating</a:t>
            </a:r>
            <a:r>
              <a:rPr lang="en-US" altLang="zh-CN" dirty="0"/>
              <a:t> system</a:t>
            </a:r>
            <a:r>
              <a:rPr lang="zh-CN" altLang="en-US" dirty="0"/>
              <a:t>：</a:t>
            </a:r>
            <a:r>
              <a:rPr lang="en-US" altLang="zh-CN" dirty="0"/>
              <a:t>RTOS/LINUX</a:t>
            </a:r>
            <a:endParaRPr lang="en-US" altLang="zh-CN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3250" y="0"/>
            <a:ext cx="4601796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 Block Diagram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856232" y="1512951"/>
            <a:ext cx="7980045" cy="4016375"/>
            <a:chOff x="1140" y="2750"/>
            <a:chExt cx="12567" cy="6325"/>
          </a:xfrm>
        </p:grpSpPr>
        <p:sp>
          <p:nvSpPr>
            <p:cNvPr id="4" name="矩形 3"/>
            <p:cNvSpPr/>
            <p:nvPr/>
          </p:nvSpPr>
          <p:spPr>
            <a:xfrm>
              <a:off x="4435" y="4815"/>
              <a:ext cx="4690" cy="42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292" name="文本框 2"/>
            <p:cNvSpPr txBox="1"/>
            <p:nvPr/>
          </p:nvSpPr>
          <p:spPr>
            <a:xfrm>
              <a:off x="5908" y="4815"/>
              <a:ext cx="1832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VGA</a:t>
              </a:r>
            </a:p>
          </p:txBody>
        </p:sp>
        <p:sp>
          <p:nvSpPr>
            <p:cNvPr id="12293" name="文本框 4"/>
            <p:cNvSpPr txBox="1"/>
            <p:nvPr/>
          </p:nvSpPr>
          <p:spPr>
            <a:xfrm>
              <a:off x="7993" y="6420"/>
              <a:ext cx="1832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USB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11963" y="4138"/>
              <a:ext cx="1745" cy="1135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STB/OTT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10470" y="6195"/>
              <a:ext cx="1493" cy="1135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WIFI</a:t>
              </a:r>
            </a:p>
          </p:txBody>
        </p:sp>
        <p:cxnSp>
          <p:nvCxnSpPr>
            <p:cNvPr id="8" name="肘形连接符 7"/>
            <p:cNvCxnSpPr>
              <a:stCxn id="12307" idx="3"/>
              <a:endCxn id="6" idx="1"/>
            </p:cNvCxnSpPr>
            <p:nvPr/>
          </p:nvCxnSpPr>
          <p:spPr>
            <a:xfrm flipV="1">
              <a:off x="9145" y="4705"/>
              <a:ext cx="2818" cy="985"/>
            </a:xfrm>
            <a:prstGeom prst="bentConnector3">
              <a:avLst>
                <a:gd name="adj1" fmla="val 50000"/>
              </a:avLst>
            </a:prstGeom>
            <a:ln>
              <a:headEnd type="arrow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1140" y="4815"/>
              <a:ext cx="2488" cy="426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DDR2/DDR3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16bit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64~256MB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10488" y="7733"/>
              <a:ext cx="1695" cy="81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SFLASH</a:t>
              </a:r>
            </a:p>
          </p:txBody>
        </p:sp>
        <p:cxnSp>
          <p:nvCxnSpPr>
            <p:cNvPr id="15" name="直接箭头连接符 14"/>
            <p:cNvCxnSpPr>
              <a:stCxn id="4" idx="1"/>
              <a:endCxn id="13" idx="3"/>
            </p:cNvCxnSpPr>
            <p:nvPr/>
          </p:nvCxnSpPr>
          <p:spPr>
            <a:xfrm flipH="1">
              <a:off x="3628" y="6945"/>
              <a:ext cx="808" cy="0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>
              <a:stCxn id="4" idx="1"/>
              <a:endCxn id="13" idx="3"/>
            </p:cNvCxnSpPr>
            <p:nvPr/>
          </p:nvCxnSpPr>
          <p:spPr>
            <a:xfrm>
              <a:off x="9125" y="8130"/>
              <a:ext cx="1360" cy="15"/>
            </a:xfrm>
            <a:prstGeom prst="straightConnector1">
              <a:avLst/>
            </a:prstGeom>
            <a:ln>
              <a:headEnd type="arrow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6078" y="2750"/>
              <a:ext cx="1493" cy="1133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LCD</a:t>
              </a:r>
            </a:p>
          </p:txBody>
        </p:sp>
        <p:cxnSp>
          <p:nvCxnSpPr>
            <p:cNvPr id="18" name="直接箭头连接符 17"/>
            <p:cNvCxnSpPr>
              <a:stCxn id="12292" idx="0"/>
              <a:endCxn id="17" idx="2"/>
            </p:cNvCxnSpPr>
            <p:nvPr/>
          </p:nvCxnSpPr>
          <p:spPr>
            <a:xfrm flipV="1">
              <a:off x="6825" y="3883"/>
              <a:ext cx="0" cy="933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303" name="文本框 18"/>
            <p:cNvSpPr txBox="1"/>
            <p:nvPr/>
          </p:nvSpPr>
          <p:spPr>
            <a:xfrm>
              <a:off x="5500" y="6328"/>
              <a:ext cx="2913" cy="17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sz="3200" b="1" dirty="0">
                  <a:latin typeface="Arial" panose="020B0604020202020204" pitchFamily="34" charset="0"/>
                  <a:ea typeface="宋体" panose="02010600030101010101" pitchFamily="2" charset="-122"/>
                </a:rPr>
                <a:t>A3300</a:t>
              </a:r>
            </a:p>
            <a:p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Dual CPU</a:t>
              </a:r>
            </a:p>
            <a:p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 eLQFP128</a:t>
              </a:r>
            </a:p>
          </p:txBody>
        </p:sp>
        <p:sp>
          <p:nvSpPr>
            <p:cNvPr id="12304" name="文本框 26"/>
            <p:cNvSpPr txBox="1"/>
            <p:nvPr/>
          </p:nvSpPr>
          <p:spPr>
            <a:xfrm>
              <a:off x="4435" y="4818"/>
              <a:ext cx="1835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HDMI TX</a:t>
              </a:r>
            </a:p>
          </p:txBody>
        </p:sp>
        <p:sp>
          <p:nvSpPr>
            <p:cNvPr id="28" name="矩形 27"/>
            <p:cNvSpPr/>
            <p:nvPr/>
          </p:nvSpPr>
          <p:spPr>
            <a:xfrm>
              <a:off x="3438" y="2750"/>
              <a:ext cx="1493" cy="1133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TV</a:t>
              </a:r>
            </a:p>
          </p:txBody>
        </p:sp>
        <p:cxnSp>
          <p:nvCxnSpPr>
            <p:cNvPr id="29" name="肘形连接符 28"/>
            <p:cNvCxnSpPr>
              <a:endCxn id="28" idx="2"/>
            </p:cNvCxnSpPr>
            <p:nvPr/>
          </p:nvCxnSpPr>
          <p:spPr>
            <a:xfrm rot="16200000" flipV="1">
              <a:off x="4140" y="3928"/>
              <a:ext cx="950" cy="860"/>
            </a:xfrm>
            <a:prstGeom prst="bentConnector3">
              <a:avLst>
                <a:gd name="adj1" fmla="val 50000"/>
              </a:avLst>
            </a:prstGeom>
            <a:ln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307" name="文本框 4"/>
            <p:cNvSpPr txBox="1"/>
            <p:nvPr/>
          </p:nvSpPr>
          <p:spPr>
            <a:xfrm>
              <a:off x="7470" y="5400"/>
              <a:ext cx="1675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HDMI IN</a:t>
              </a:r>
            </a:p>
          </p:txBody>
        </p:sp>
        <p:cxnSp>
          <p:nvCxnSpPr>
            <p:cNvPr id="5" name="肘形连接符 4"/>
            <p:cNvCxnSpPr>
              <a:endCxn id="28" idx="2"/>
            </p:cNvCxnSpPr>
            <p:nvPr/>
          </p:nvCxnSpPr>
          <p:spPr>
            <a:xfrm rot="5400000" flipH="1" flipV="1">
              <a:off x="7904" y="4146"/>
              <a:ext cx="3803" cy="6055"/>
            </a:xfrm>
            <a:prstGeom prst="bentConnector3">
              <a:avLst>
                <a:gd name="adj1" fmla="val -9850"/>
              </a:avLst>
            </a:prstGeom>
            <a:ln>
              <a:headEnd type="arrow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309" name="文本框 4"/>
            <p:cNvSpPr txBox="1"/>
            <p:nvPr/>
          </p:nvSpPr>
          <p:spPr>
            <a:xfrm>
              <a:off x="6293" y="8463"/>
              <a:ext cx="1832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CVBS IN</a:t>
              </a:r>
            </a:p>
          </p:txBody>
        </p:sp>
        <p:cxnSp>
          <p:nvCxnSpPr>
            <p:cNvPr id="9" name="直接箭头连接符 8"/>
            <p:cNvCxnSpPr>
              <a:endCxn id="28" idx="2"/>
            </p:cNvCxnSpPr>
            <p:nvPr/>
          </p:nvCxnSpPr>
          <p:spPr>
            <a:xfrm>
              <a:off x="9128" y="6760"/>
              <a:ext cx="1343" cy="18"/>
            </a:xfrm>
            <a:prstGeom prst="straightConnector1">
              <a:avLst/>
            </a:prstGeom>
            <a:ln>
              <a:headEnd type="arrow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457200" y="904875"/>
            <a:ext cx="8507413" cy="4525963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400" dirty="0"/>
              <a:t>DB-A3300-V1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394D81-0EEB-A7C1-6B10-483B7BFCF3FA}"/>
              </a:ext>
            </a:extLst>
          </p:cNvPr>
          <p:cNvSpPr/>
          <p:nvPr/>
        </p:nvSpPr>
        <p:spPr>
          <a:xfrm>
            <a:off x="6251766" y="1525714"/>
            <a:ext cx="948055" cy="71945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1"/>
              <a:t>Crystal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1"/>
              <a:t>24MHz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C148456-126D-2B40-0807-279155CDA1E2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6725794" y="2245169"/>
            <a:ext cx="0" cy="574009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0395" y="-5080"/>
            <a:ext cx="7125970" cy="9814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Power supply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Block Diagram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l">
              <a:buFont typeface="Wingdings" panose="05000000000000000000" charset="0"/>
            </a:pPr>
            <a:endParaRPr lang="en-US" altLang="zh-CN" dirty="0">
              <a:latin typeface="Calibri" panose="020F0502020204030204"/>
              <a:ea typeface="宋体" panose="02010600030101010101" pitchFamily="2" charset="-122"/>
              <a:sym typeface="+mn-ea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2289810" y="2130425"/>
            <a:ext cx="7068820" cy="3801745"/>
            <a:chOff x="1303" y="3315"/>
            <a:chExt cx="11132" cy="5987"/>
          </a:xfrm>
        </p:grpSpPr>
        <p:sp>
          <p:nvSpPr>
            <p:cNvPr id="34" name="矩形 33"/>
            <p:cNvSpPr/>
            <p:nvPr/>
          </p:nvSpPr>
          <p:spPr>
            <a:xfrm>
              <a:off x="1303" y="3813"/>
              <a:ext cx="1355" cy="3825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DC5V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4253" y="3360"/>
              <a:ext cx="2148" cy="107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DC-DC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5V to 1.1V</a:t>
              </a:r>
            </a:p>
          </p:txBody>
        </p:sp>
        <p:sp>
          <p:nvSpPr>
            <p:cNvPr id="36" name="矩形 35"/>
            <p:cNvSpPr/>
            <p:nvPr/>
          </p:nvSpPr>
          <p:spPr>
            <a:xfrm>
              <a:off x="4230" y="5190"/>
              <a:ext cx="2163" cy="107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DC-DC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5V to 3.3V</a:t>
              </a:r>
            </a:p>
          </p:txBody>
        </p:sp>
        <p:sp>
          <p:nvSpPr>
            <p:cNvPr id="37" name="矩形 36"/>
            <p:cNvSpPr/>
            <p:nvPr/>
          </p:nvSpPr>
          <p:spPr>
            <a:xfrm>
              <a:off x="4230" y="7100"/>
              <a:ext cx="2160" cy="107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LDO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3.3V to1.5V</a:t>
              </a:r>
            </a:p>
          </p:txBody>
        </p:sp>
        <p:sp>
          <p:nvSpPr>
            <p:cNvPr id="38" name="矩形 37"/>
            <p:cNvSpPr/>
            <p:nvPr/>
          </p:nvSpPr>
          <p:spPr>
            <a:xfrm>
              <a:off x="8108" y="4160"/>
              <a:ext cx="3448" cy="313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A3300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i="0" u="none" strike="noStrike" kern="12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1.5W</a:t>
              </a:r>
            </a:p>
          </p:txBody>
        </p:sp>
        <p:sp>
          <p:nvSpPr>
            <p:cNvPr id="39" name="矩形 38"/>
            <p:cNvSpPr/>
            <p:nvPr/>
          </p:nvSpPr>
          <p:spPr>
            <a:xfrm>
              <a:off x="10943" y="8170"/>
              <a:ext cx="1493" cy="1133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USB</a:t>
              </a:r>
            </a:p>
          </p:txBody>
        </p:sp>
        <p:cxnSp>
          <p:nvCxnSpPr>
            <p:cNvPr id="40" name="肘形连接符 39"/>
            <p:cNvCxnSpPr>
              <a:stCxn id="34" idx="2"/>
              <a:endCxn id="39" idx="1"/>
            </p:cNvCxnSpPr>
            <p:nvPr/>
          </p:nvCxnSpPr>
          <p:spPr>
            <a:xfrm rot="5400000" flipV="1">
              <a:off x="5911" y="3706"/>
              <a:ext cx="1100" cy="8963"/>
            </a:xfrm>
            <a:prstGeom prst="bentConnector2">
              <a:avLst/>
            </a:prstGeom>
            <a:ln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肘形连接符 40"/>
            <p:cNvCxnSpPr>
              <a:stCxn id="34" idx="2"/>
              <a:endCxn id="35" idx="1"/>
            </p:cNvCxnSpPr>
            <p:nvPr/>
          </p:nvCxnSpPr>
          <p:spPr>
            <a:xfrm flipV="1">
              <a:off x="2665" y="3895"/>
              <a:ext cx="1588" cy="370"/>
            </a:xfrm>
            <a:prstGeom prst="bentConnector3">
              <a:avLst>
                <a:gd name="adj1" fmla="val 50063"/>
              </a:avLst>
            </a:prstGeom>
            <a:ln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肘形连接符 41"/>
            <p:cNvCxnSpPr>
              <a:stCxn id="34" idx="3"/>
              <a:endCxn id="36" idx="1"/>
            </p:cNvCxnSpPr>
            <p:nvPr/>
          </p:nvCxnSpPr>
          <p:spPr>
            <a:xfrm>
              <a:off x="2658" y="5725"/>
              <a:ext cx="1573" cy="5"/>
            </a:xfrm>
            <a:prstGeom prst="bentConnector2">
              <a:avLst/>
            </a:prstGeom>
            <a:ln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肘形连接符 42"/>
            <p:cNvCxnSpPr>
              <a:stCxn id="36" idx="3"/>
              <a:endCxn id="38" idx="1"/>
            </p:cNvCxnSpPr>
            <p:nvPr/>
          </p:nvCxnSpPr>
          <p:spPr>
            <a:xfrm>
              <a:off x="6393" y="5725"/>
              <a:ext cx="1715" cy="3"/>
            </a:xfrm>
            <a:prstGeom prst="bentConnector3">
              <a:avLst>
                <a:gd name="adj1" fmla="val 50029"/>
              </a:avLst>
            </a:prstGeom>
            <a:ln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肘形连接符 43"/>
            <p:cNvCxnSpPr>
              <a:stCxn id="36" idx="2"/>
              <a:endCxn id="37" idx="0"/>
            </p:cNvCxnSpPr>
            <p:nvPr/>
          </p:nvCxnSpPr>
          <p:spPr>
            <a:xfrm rot="5400000">
              <a:off x="4891" y="6679"/>
              <a:ext cx="840" cy="3"/>
            </a:xfrm>
            <a:prstGeom prst="bentConnector3">
              <a:avLst>
                <a:gd name="adj1" fmla="val 49940"/>
              </a:avLst>
            </a:prstGeom>
            <a:ln w="25400">
              <a:solidFill>
                <a:schemeClr val="tx1"/>
              </a:solidFill>
              <a:tailEnd type="arrow"/>
            </a:ln>
            <a:effectLst>
              <a:outerShdw blurRad="50800" dist="38100" dir="5400000" algn="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肘形连接符 44"/>
            <p:cNvCxnSpPr>
              <a:stCxn id="36" idx="2"/>
              <a:endCxn id="37" idx="0"/>
            </p:cNvCxnSpPr>
            <p:nvPr/>
          </p:nvCxnSpPr>
          <p:spPr>
            <a:xfrm>
              <a:off x="6405" y="3895"/>
              <a:ext cx="1703" cy="825"/>
            </a:xfrm>
            <a:prstGeom prst="bentConnector3">
              <a:avLst>
                <a:gd name="adj1" fmla="val 50029"/>
              </a:avLst>
            </a:prstGeom>
            <a:ln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文本框 2"/>
            <p:cNvSpPr txBox="1"/>
            <p:nvPr/>
          </p:nvSpPr>
          <p:spPr>
            <a:xfrm>
              <a:off x="6405" y="3315"/>
              <a:ext cx="1598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600mA</a:t>
              </a:r>
            </a:p>
          </p:txBody>
        </p:sp>
        <p:sp>
          <p:nvSpPr>
            <p:cNvPr id="47" name="文本框 2"/>
            <p:cNvSpPr txBox="1"/>
            <p:nvPr/>
          </p:nvSpPr>
          <p:spPr>
            <a:xfrm>
              <a:off x="6415" y="5150"/>
              <a:ext cx="1455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180mA</a:t>
              </a:r>
            </a:p>
          </p:txBody>
        </p:sp>
        <p:cxnSp>
          <p:nvCxnSpPr>
            <p:cNvPr id="48" name="肘形连接符 47"/>
            <p:cNvCxnSpPr>
              <a:stCxn id="37" idx="3"/>
              <a:endCxn id="37" idx="0"/>
            </p:cNvCxnSpPr>
            <p:nvPr/>
          </p:nvCxnSpPr>
          <p:spPr>
            <a:xfrm flipV="1">
              <a:off x="6390" y="6648"/>
              <a:ext cx="1718" cy="988"/>
            </a:xfrm>
            <a:prstGeom prst="bentConnector3">
              <a:avLst>
                <a:gd name="adj1" fmla="val 50000"/>
              </a:avLst>
            </a:prstGeom>
            <a:ln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文本框 2"/>
            <p:cNvSpPr txBox="1"/>
            <p:nvPr/>
          </p:nvSpPr>
          <p:spPr>
            <a:xfrm>
              <a:off x="6473" y="7025"/>
              <a:ext cx="1455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220mA</a:t>
              </a:r>
            </a:p>
          </p:txBody>
        </p:sp>
      </p:grp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DDBDAB84-1D1C-A5D0-CC13-C02F8A14399D}"/>
              </a:ext>
            </a:extLst>
          </p:cNvPr>
          <p:cNvSpPr txBox="1">
            <a:spLocks/>
          </p:cNvSpPr>
          <p:nvPr/>
        </p:nvSpPr>
        <p:spPr>
          <a:xfrm>
            <a:off x="457200" y="904875"/>
            <a:ext cx="8507413" cy="4525963"/>
          </a:xfr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DB-A3300-V1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0395" y="-5080"/>
            <a:ext cx="7125970" cy="5174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海奇芯片</a:t>
            </a:r>
            <a:r>
              <a:rPr lang="zh-CN" altLang="en-US" dirty="0"/>
              <a:t>列表</a:t>
            </a:r>
            <a:endParaRPr lang="en-US" altLang="zh-CN" dirty="0">
              <a:latin typeface="Calibri" panose="020F0502020204030204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101249" y="3210560"/>
            <a:ext cx="1363980" cy="1032668"/>
          </a:xfrm>
          <a:prstGeom prst="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A110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A210</a:t>
            </a:r>
          </a:p>
        </p:txBody>
      </p:sp>
      <p:sp>
        <p:nvSpPr>
          <p:cNvPr id="36" name="矩形 35"/>
          <p:cNvSpPr/>
          <p:nvPr/>
        </p:nvSpPr>
        <p:spPr>
          <a:xfrm>
            <a:off x="2696527" y="3210560"/>
            <a:ext cx="1373505" cy="1040796"/>
          </a:xfrm>
          <a:prstGeom prst="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1"/>
              <a:t>B100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1"/>
              <a:t>B200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783239" y="896747"/>
            <a:ext cx="1600041" cy="1453866"/>
          </a:xfrm>
          <a:prstGeom prst="rect">
            <a:avLst/>
          </a:prstGeom>
          <a:ln w="381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H1500</a:t>
            </a:r>
            <a:endParaRPr kumimoji="0" lang="en-US" altLang="zh-CN" sz="240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44" name="肘形连接符 43"/>
          <p:cNvCxnSpPr>
            <a:cxnSpLocks/>
            <a:stCxn id="38" idx="2"/>
            <a:endCxn id="35" idx="0"/>
          </p:cNvCxnSpPr>
          <p:nvPr/>
        </p:nvCxnSpPr>
        <p:spPr>
          <a:xfrm rot="5400000">
            <a:off x="1753277" y="2380576"/>
            <a:ext cx="859947" cy="800021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  <a:effectLst>
            <a:outerShdw blurRad="50800" dist="38100" dir="5400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肘形连接符 43">
            <a:extLst>
              <a:ext uri="{FF2B5EF4-FFF2-40B4-BE49-F238E27FC236}">
                <a16:creationId xmlns:a16="http://schemas.microsoft.com/office/drawing/2014/main" id="{D084460B-E1FD-5E57-C747-8D1AF03C50DE}"/>
              </a:ext>
            </a:extLst>
          </p:cNvPr>
          <p:cNvCxnSpPr>
            <a:cxnSpLocks/>
            <a:stCxn id="38" idx="2"/>
            <a:endCxn id="36" idx="0"/>
          </p:cNvCxnSpPr>
          <p:nvPr/>
        </p:nvCxnSpPr>
        <p:spPr>
          <a:xfrm rot="16200000" flipH="1">
            <a:off x="2553297" y="2380576"/>
            <a:ext cx="859947" cy="800020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  <a:effectLst>
            <a:outerShdw blurRad="50800" dist="38100" dir="5400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F1F4204-F320-288F-ABED-C7E469B3F1BB}"/>
              </a:ext>
            </a:extLst>
          </p:cNvPr>
          <p:cNvSpPr/>
          <p:nvPr/>
        </p:nvSpPr>
        <p:spPr>
          <a:xfrm>
            <a:off x="4712810" y="3210560"/>
            <a:ext cx="1574611" cy="1040796"/>
          </a:xfrm>
          <a:prstGeom prst="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A3100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A3200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A3300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431EF2C-E1A2-F4E1-9AC3-24490B7AAC73}"/>
              </a:ext>
            </a:extLst>
          </p:cNvPr>
          <p:cNvSpPr/>
          <p:nvPr/>
        </p:nvSpPr>
        <p:spPr>
          <a:xfrm>
            <a:off x="6518719" y="3210560"/>
            <a:ext cx="1373505" cy="1040796"/>
          </a:xfrm>
          <a:prstGeom prst="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1"/>
              <a:t>B3100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1"/>
              <a:t>B3120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B3200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0C0ED0-AF0F-01D2-7682-862B7D8F891E}"/>
              </a:ext>
            </a:extLst>
          </p:cNvPr>
          <p:cNvSpPr/>
          <p:nvPr/>
        </p:nvSpPr>
        <p:spPr>
          <a:xfrm>
            <a:off x="5605431" y="896747"/>
            <a:ext cx="1600041" cy="1453866"/>
          </a:xfrm>
          <a:prstGeom prst="rect">
            <a:avLst/>
          </a:prstGeom>
          <a:ln w="381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H1600</a:t>
            </a:r>
            <a:endParaRPr kumimoji="0" lang="en-US" altLang="zh-CN" sz="240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9" name="肘形连接符 43">
            <a:extLst>
              <a:ext uri="{FF2B5EF4-FFF2-40B4-BE49-F238E27FC236}">
                <a16:creationId xmlns:a16="http://schemas.microsoft.com/office/drawing/2014/main" id="{1B044AAD-943F-F127-6E61-0C9872B82D5A}"/>
              </a:ext>
            </a:extLst>
          </p:cNvPr>
          <p:cNvCxnSpPr>
            <a:cxnSpLocks/>
            <a:stCxn id="18" idx="2"/>
            <a:endCxn id="16" idx="0"/>
          </p:cNvCxnSpPr>
          <p:nvPr/>
        </p:nvCxnSpPr>
        <p:spPr>
          <a:xfrm rot="5400000">
            <a:off x="5522811" y="2327918"/>
            <a:ext cx="859947" cy="905336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  <a:effectLst>
            <a:outerShdw blurRad="50800" dist="38100" dir="5400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肘形连接符 43">
            <a:extLst>
              <a:ext uri="{FF2B5EF4-FFF2-40B4-BE49-F238E27FC236}">
                <a16:creationId xmlns:a16="http://schemas.microsoft.com/office/drawing/2014/main" id="{D3895360-1FB2-DC3B-A893-A746236B3B15}"/>
              </a:ext>
            </a:extLst>
          </p:cNvPr>
          <p:cNvCxnSpPr>
            <a:cxnSpLocks/>
            <a:stCxn id="18" idx="2"/>
            <a:endCxn id="17" idx="0"/>
          </p:cNvCxnSpPr>
          <p:nvPr/>
        </p:nvCxnSpPr>
        <p:spPr>
          <a:xfrm rot="16200000" flipH="1">
            <a:off x="6375489" y="2380576"/>
            <a:ext cx="859947" cy="800020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  <a:effectLst>
            <a:outerShdw blurRad="50800" dist="38100" dir="5400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9E20E370-5F6B-BD49-210B-E18C2D7BBACF}"/>
              </a:ext>
            </a:extLst>
          </p:cNvPr>
          <p:cNvSpPr/>
          <p:nvPr/>
        </p:nvSpPr>
        <p:spPr>
          <a:xfrm>
            <a:off x="8123522" y="3202432"/>
            <a:ext cx="1373505" cy="1040796"/>
          </a:xfrm>
          <a:prstGeom prst="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C3000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1"/>
              <a:t>C3100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C3200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1F9048E-4FC6-6220-065B-209AA9D70FA5}"/>
              </a:ext>
            </a:extLst>
          </p:cNvPr>
          <p:cNvSpPr/>
          <p:nvPr/>
        </p:nvSpPr>
        <p:spPr>
          <a:xfrm>
            <a:off x="9728325" y="3202432"/>
            <a:ext cx="1373505" cy="1048924"/>
          </a:xfrm>
          <a:prstGeom prst="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D3000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1"/>
              <a:t>D3100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D3200</a:t>
            </a:r>
          </a:p>
        </p:txBody>
      </p:sp>
      <p:cxnSp>
        <p:nvCxnSpPr>
          <p:cNvPr id="24" name="肘形连接符 43">
            <a:extLst>
              <a:ext uri="{FF2B5EF4-FFF2-40B4-BE49-F238E27FC236}">
                <a16:creationId xmlns:a16="http://schemas.microsoft.com/office/drawing/2014/main" id="{1EC2232D-AC2B-0D1F-28AE-0675F1039BF7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 rot="16200000" flipH="1">
            <a:off x="7181954" y="1574110"/>
            <a:ext cx="851819" cy="2404823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  <a:effectLst>
            <a:outerShdw blurRad="50800" dist="38100" dir="5400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连接符 43">
            <a:extLst>
              <a:ext uri="{FF2B5EF4-FFF2-40B4-BE49-F238E27FC236}">
                <a16:creationId xmlns:a16="http://schemas.microsoft.com/office/drawing/2014/main" id="{1B1047BA-16A7-98E6-E5A0-0D8BB1859A29}"/>
              </a:ext>
            </a:extLst>
          </p:cNvPr>
          <p:cNvCxnSpPr>
            <a:cxnSpLocks/>
            <a:stCxn id="18" idx="2"/>
            <a:endCxn id="23" idx="0"/>
          </p:cNvCxnSpPr>
          <p:nvPr/>
        </p:nvCxnSpPr>
        <p:spPr>
          <a:xfrm rot="16200000" flipH="1">
            <a:off x="7984356" y="771709"/>
            <a:ext cx="851819" cy="4009626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  <a:effectLst>
            <a:outerShdw blurRad="50800" dist="38100" dir="5400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B155EA64-38CE-76C3-9A5A-F9F738DA8C9A}"/>
              </a:ext>
            </a:extLst>
          </p:cNvPr>
          <p:cNvSpPr/>
          <p:nvPr/>
        </p:nvSpPr>
        <p:spPr>
          <a:xfrm>
            <a:off x="1783240" y="4577902"/>
            <a:ext cx="1600041" cy="1453866"/>
          </a:xfrm>
          <a:prstGeom prst="rect">
            <a:avLst/>
          </a:prstGeom>
          <a:ln w="381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H5100</a:t>
            </a:r>
            <a:endParaRPr kumimoji="0" lang="en-US" altLang="zh-CN" sz="240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951A905-C7D9-3C3A-1346-6EF3CD089244}"/>
              </a:ext>
            </a:extLst>
          </p:cNvPr>
          <p:cNvSpPr/>
          <p:nvPr/>
        </p:nvSpPr>
        <p:spPr>
          <a:xfrm>
            <a:off x="5605431" y="4577902"/>
            <a:ext cx="1600041" cy="1453866"/>
          </a:xfrm>
          <a:prstGeom prst="rect">
            <a:avLst/>
          </a:prstGeom>
          <a:ln w="381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H5200</a:t>
            </a:r>
          </a:p>
        </p:txBody>
      </p:sp>
    </p:spTree>
    <p:extLst>
      <p:ext uri="{BB962C8B-B14F-4D97-AF65-F5344CB8AC3E}">
        <p14:creationId xmlns:p14="http://schemas.microsoft.com/office/powerpoint/2010/main" val="3218394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8" grpId="0" animBg="1"/>
      <p:bldP spid="16" grpId="0" animBg="1"/>
      <p:bldP spid="17" grpId="0" animBg="1"/>
      <p:bldP spid="18" grpId="0" animBg="1"/>
      <p:bldP spid="22" grpId="0" animBg="1"/>
      <p:bldP spid="23" grpId="0" animBg="1"/>
      <p:bldP spid="56" grpId="0" animBg="1"/>
      <p:bldP spid="6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5FB5FD5-D035-1825-EFAB-E6B686F805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46" t="9162" r="5359" b="10595"/>
          <a:stretch/>
        </p:blipFill>
        <p:spPr>
          <a:xfrm>
            <a:off x="2313432" y="1591056"/>
            <a:ext cx="6796660" cy="4526280"/>
          </a:xfrm>
          <a:prstGeom prst="rect">
            <a:avLst/>
          </a:prstGeom>
          <a:effectLst>
            <a:glow rad="101600">
              <a:schemeClr val="bg2">
                <a:lumMod val="95000"/>
                <a:alpha val="40000"/>
              </a:schemeClr>
            </a:glow>
          </a:effec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70F6555-4816-193E-3B95-31EE277F7714}"/>
              </a:ext>
            </a:extLst>
          </p:cNvPr>
          <p:cNvSpPr txBox="1"/>
          <p:nvPr/>
        </p:nvSpPr>
        <p:spPr>
          <a:xfrm>
            <a:off x="620395" y="-5080"/>
            <a:ext cx="7125970" cy="5174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/>
            <a:r>
              <a:rPr lang="zh-CN" altLang="en-US" dirty="0">
                <a:latin typeface="Calibri" panose="020F0502020204030204"/>
                <a:ea typeface="宋体" panose="02010600030101010101" pitchFamily="2" charset="-122"/>
                <a:sym typeface="+mn-ea"/>
              </a:rPr>
              <a:t>平台使用与调试</a:t>
            </a:r>
            <a:endParaRPr lang="en-US" altLang="zh-CN" dirty="0">
              <a:latin typeface="Calibri" panose="020F0502020204030204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60253684-3E11-8A12-4DBD-8FF6F1C2167F}"/>
              </a:ext>
            </a:extLst>
          </p:cNvPr>
          <p:cNvSpPr txBox="1">
            <a:spLocks/>
          </p:cNvSpPr>
          <p:nvPr/>
        </p:nvSpPr>
        <p:spPr>
          <a:xfrm>
            <a:off x="457200" y="904875"/>
            <a:ext cx="11301730" cy="4526280"/>
          </a:xfr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400" dirty="0"/>
              <a:t>B200</a:t>
            </a:r>
            <a:r>
              <a:rPr lang="zh-CN" altLang="en-US" sz="2400" dirty="0"/>
              <a:t>开发板平台的接口如下：</a:t>
            </a:r>
            <a:endParaRPr lang="en-US" altLang="zh-CN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944D79-DB78-7A7B-2E66-86D382520D79}"/>
              </a:ext>
            </a:extLst>
          </p:cNvPr>
          <p:cNvSpPr txBox="1"/>
          <p:nvPr/>
        </p:nvSpPr>
        <p:spPr>
          <a:xfrm>
            <a:off x="4630801" y="6127750"/>
            <a:ext cx="10382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FF0000"/>
                </a:solidFill>
              </a:rPr>
              <a:t>IR</a:t>
            </a:r>
            <a:r>
              <a:rPr lang="zh-CN" altLang="en-US" sz="1000" dirty="0">
                <a:solidFill>
                  <a:srgbClr val="FF0000"/>
                </a:solidFill>
              </a:rPr>
              <a:t>红外接收头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E7A093-0D08-5902-CA41-086BF3D698E4}"/>
              </a:ext>
            </a:extLst>
          </p:cNvPr>
          <p:cNvSpPr txBox="1"/>
          <p:nvPr/>
        </p:nvSpPr>
        <p:spPr>
          <a:xfrm>
            <a:off x="6346127" y="6117463"/>
            <a:ext cx="10382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FF0000"/>
                </a:solidFill>
              </a:rPr>
              <a:t>UART</a:t>
            </a:r>
            <a:r>
              <a:rPr lang="zh-CN" altLang="en-US" sz="1000" dirty="0">
                <a:solidFill>
                  <a:srgbClr val="FF0000"/>
                </a:solidFill>
              </a:rPr>
              <a:t>接口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8FCFEC0-B71A-39B3-F536-BAC06311C070}"/>
              </a:ext>
            </a:extLst>
          </p:cNvPr>
          <p:cNvSpPr txBox="1"/>
          <p:nvPr/>
        </p:nvSpPr>
        <p:spPr>
          <a:xfrm>
            <a:off x="7469060" y="6111494"/>
            <a:ext cx="1038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FF0000"/>
                </a:solidFill>
              </a:rPr>
              <a:t>EJTAG</a:t>
            </a:r>
            <a:r>
              <a:rPr lang="zh-CN" altLang="en-US" sz="1000" dirty="0">
                <a:solidFill>
                  <a:srgbClr val="FF0000"/>
                </a:solidFill>
              </a:rPr>
              <a:t>仿真口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0B152A7-1061-835F-6917-145A0C4F3BF6}"/>
              </a:ext>
            </a:extLst>
          </p:cNvPr>
          <p:cNvSpPr txBox="1"/>
          <p:nvPr/>
        </p:nvSpPr>
        <p:spPr>
          <a:xfrm>
            <a:off x="9140000" y="4067556"/>
            <a:ext cx="792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FF0000"/>
                </a:solidFill>
              </a:rPr>
              <a:t>FFC 5</a:t>
            </a:r>
            <a:r>
              <a:rPr lang="zh-CN" altLang="en-US" sz="1000" dirty="0">
                <a:solidFill>
                  <a:srgbClr val="FF0000"/>
                </a:solidFill>
              </a:rPr>
              <a:t>寸液晶屏接口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5ED2F31-768C-892B-8B7D-6151EC268974}"/>
              </a:ext>
            </a:extLst>
          </p:cNvPr>
          <p:cNvSpPr txBox="1"/>
          <p:nvPr/>
        </p:nvSpPr>
        <p:spPr>
          <a:xfrm>
            <a:off x="9066403" y="1960499"/>
            <a:ext cx="8690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FF0000"/>
                </a:solidFill>
              </a:rPr>
              <a:t>USB A</a:t>
            </a:r>
            <a:r>
              <a:rPr lang="zh-CN" altLang="en-US" sz="1000" dirty="0">
                <a:solidFill>
                  <a:srgbClr val="FF0000"/>
                </a:solidFill>
              </a:rPr>
              <a:t>接口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DA24F7D-F03B-9A39-D372-72047D96E0E6}"/>
              </a:ext>
            </a:extLst>
          </p:cNvPr>
          <p:cNvSpPr txBox="1"/>
          <p:nvPr/>
        </p:nvSpPr>
        <p:spPr>
          <a:xfrm>
            <a:off x="7326406" y="1363186"/>
            <a:ext cx="7029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FF0000"/>
                </a:solidFill>
              </a:rPr>
              <a:t>TF</a:t>
            </a:r>
            <a:r>
              <a:rPr lang="zh-CN" altLang="en-US" sz="1000" dirty="0">
                <a:solidFill>
                  <a:srgbClr val="FF0000"/>
                </a:solidFill>
              </a:rPr>
              <a:t>卡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0868BD-3D2F-3A7D-C8AE-32E470F2C6CC}"/>
              </a:ext>
            </a:extLst>
          </p:cNvPr>
          <p:cNvSpPr txBox="1"/>
          <p:nvPr/>
        </p:nvSpPr>
        <p:spPr>
          <a:xfrm>
            <a:off x="3206305" y="1362075"/>
            <a:ext cx="10717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FF0000"/>
                </a:solidFill>
              </a:rPr>
              <a:t>CVBS</a:t>
            </a:r>
            <a:r>
              <a:rPr lang="zh-CN" altLang="en-US" sz="1000" dirty="0">
                <a:solidFill>
                  <a:srgbClr val="FF0000"/>
                </a:solidFill>
              </a:rPr>
              <a:t>输出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F7286DA-8364-FCF2-8E12-FADAAAB596B3}"/>
              </a:ext>
            </a:extLst>
          </p:cNvPr>
          <p:cNvSpPr txBox="1"/>
          <p:nvPr/>
        </p:nvSpPr>
        <p:spPr>
          <a:xfrm>
            <a:off x="1510602" y="1758315"/>
            <a:ext cx="702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rgbClr val="FF0000"/>
                </a:solidFill>
              </a:rPr>
              <a:t>耳机音频输出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54759B-C282-6405-D673-5D505080C30A}"/>
              </a:ext>
            </a:extLst>
          </p:cNvPr>
          <p:cNvSpPr txBox="1"/>
          <p:nvPr/>
        </p:nvSpPr>
        <p:spPr>
          <a:xfrm>
            <a:off x="1342961" y="5356116"/>
            <a:ext cx="1038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rgbClr val="FF0000"/>
                </a:solidFill>
              </a:rPr>
              <a:t>电源</a:t>
            </a:r>
            <a:r>
              <a:rPr lang="en-US" altLang="zh-CN" sz="1000" dirty="0">
                <a:solidFill>
                  <a:srgbClr val="FF0000"/>
                </a:solidFill>
              </a:rPr>
              <a:t>5V</a:t>
            </a:r>
          </a:p>
          <a:p>
            <a:pPr algn="ctr"/>
            <a:r>
              <a:rPr lang="zh-CN" altLang="en-US" sz="1000" dirty="0">
                <a:solidFill>
                  <a:srgbClr val="FF0000"/>
                </a:solidFill>
              </a:rPr>
              <a:t>输入接口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0322B30-3497-8052-5A34-AC3D704C34F4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2213547" y="1958370"/>
            <a:ext cx="1175829" cy="284323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E55FF74-72BD-3A38-D739-9F3C02958795}"/>
              </a:ext>
            </a:extLst>
          </p:cNvPr>
          <p:cNvCxnSpPr>
            <a:cxnSpLocks/>
          </p:cNvCxnSpPr>
          <p:nvPr/>
        </p:nvCxnSpPr>
        <p:spPr>
          <a:xfrm>
            <a:off x="3867183" y="1608423"/>
            <a:ext cx="469629" cy="528383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6646F0A-52BF-A77B-B0B9-A3E66343C28E}"/>
              </a:ext>
            </a:extLst>
          </p:cNvPr>
          <p:cNvCxnSpPr>
            <a:cxnSpLocks/>
          </p:cNvCxnSpPr>
          <p:nvPr/>
        </p:nvCxnSpPr>
        <p:spPr>
          <a:xfrm flipH="1">
            <a:off x="6242748" y="1608296"/>
            <a:ext cx="1381887" cy="888016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0F54032-36FA-0E53-B4D8-83D968F3596C}"/>
              </a:ext>
            </a:extLst>
          </p:cNvPr>
          <p:cNvCxnSpPr>
            <a:cxnSpLocks/>
          </p:cNvCxnSpPr>
          <p:nvPr/>
        </p:nvCxnSpPr>
        <p:spPr>
          <a:xfrm flipH="1">
            <a:off x="8343646" y="2086800"/>
            <a:ext cx="759333" cy="100013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2F3FDF2-844A-D8C8-AD0F-D20FD9DF4375}"/>
              </a:ext>
            </a:extLst>
          </p:cNvPr>
          <p:cNvCxnSpPr>
            <a:cxnSpLocks/>
          </p:cNvCxnSpPr>
          <p:nvPr/>
        </p:nvCxnSpPr>
        <p:spPr>
          <a:xfrm flipH="1">
            <a:off x="8758618" y="3032379"/>
            <a:ext cx="540830" cy="49149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0D04E216-8096-58AC-5106-1E3D49BA6B27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8553196" y="4267611"/>
            <a:ext cx="586804" cy="5812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6E87086-8FD6-E2B0-4C86-A599F62BAB08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7624635" y="5444744"/>
            <a:ext cx="363538" cy="666750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FD8BB37-C7CA-A731-3DC8-E7027AC167D6}"/>
              </a:ext>
            </a:extLst>
          </p:cNvPr>
          <p:cNvCxnSpPr/>
          <p:nvPr/>
        </p:nvCxnSpPr>
        <p:spPr>
          <a:xfrm flipH="1" flipV="1">
            <a:off x="6394514" y="5719318"/>
            <a:ext cx="132080" cy="520700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F75844A2-5FEA-F6ED-965E-265BF5A4C7F7}"/>
              </a:ext>
            </a:extLst>
          </p:cNvPr>
          <p:cNvCxnSpPr>
            <a:cxnSpLocks/>
          </p:cNvCxnSpPr>
          <p:nvPr/>
        </p:nvCxnSpPr>
        <p:spPr>
          <a:xfrm flipV="1">
            <a:off x="5551551" y="5838698"/>
            <a:ext cx="266700" cy="406146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6D37236-0AEE-50FD-0EA5-647B4A6CD93A}"/>
              </a:ext>
            </a:extLst>
          </p:cNvPr>
          <p:cNvCxnSpPr>
            <a:cxnSpLocks/>
          </p:cNvCxnSpPr>
          <p:nvPr/>
        </p:nvCxnSpPr>
        <p:spPr>
          <a:xfrm>
            <a:off x="2213547" y="5548884"/>
            <a:ext cx="529653" cy="318008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EF288714-6E88-C147-8F54-25EF466D1085}"/>
              </a:ext>
            </a:extLst>
          </p:cNvPr>
          <p:cNvSpPr txBox="1"/>
          <p:nvPr/>
        </p:nvSpPr>
        <p:spPr>
          <a:xfrm>
            <a:off x="9229344" y="2881473"/>
            <a:ext cx="702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FF0000"/>
                </a:solidFill>
              </a:rPr>
              <a:t>Micro USB</a:t>
            </a:r>
            <a:r>
              <a:rPr lang="zh-CN" altLang="en-US" sz="1000" dirty="0">
                <a:solidFill>
                  <a:srgbClr val="FF0000"/>
                </a:solidFill>
              </a:rPr>
              <a:t>接口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B1FDF492-EE69-1DE8-6361-ABF9829BB0F0}"/>
              </a:ext>
            </a:extLst>
          </p:cNvPr>
          <p:cNvCxnSpPr>
            <a:cxnSpLocks/>
          </p:cNvCxnSpPr>
          <p:nvPr/>
        </p:nvCxnSpPr>
        <p:spPr>
          <a:xfrm>
            <a:off x="2112264" y="3854196"/>
            <a:ext cx="950976" cy="68580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E8C82495-3762-A4BA-1AB0-C45D8C622656}"/>
              </a:ext>
            </a:extLst>
          </p:cNvPr>
          <p:cNvSpPr txBox="1"/>
          <p:nvPr/>
        </p:nvSpPr>
        <p:spPr>
          <a:xfrm>
            <a:off x="1192911" y="3728309"/>
            <a:ext cx="1038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rgbClr val="FF0000"/>
                </a:solidFill>
              </a:rPr>
              <a:t>喇叭输出</a:t>
            </a: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BAD4FC85-49AC-EE04-7A0C-0E3888602E50}"/>
              </a:ext>
            </a:extLst>
          </p:cNvPr>
          <p:cNvCxnSpPr>
            <a:cxnSpLocks/>
            <a:stCxn id="50" idx="2"/>
          </p:cNvCxnSpPr>
          <p:nvPr/>
        </p:nvCxnSpPr>
        <p:spPr>
          <a:xfrm>
            <a:off x="5333429" y="1590802"/>
            <a:ext cx="8447" cy="630348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503D7CA6-636B-04C0-1321-1ADC9157F698}"/>
              </a:ext>
            </a:extLst>
          </p:cNvPr>
          <p:cNvSpPr txBox="1"/>
          <p:nvPr/>
        </p:nvSpPr>
        <p:spPr>
          <a:xfrm>
            <a:off x="4981956" y="1344581"/>
            <a:ext cx="7029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rgbClr val="FF0000"/>
                </a:solidFill>
              </a:rPr>
              <a:t>复位按键</a:t>
            </a: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785FD820-3E4E-649B-57D0-1B01D60FF4B9}"/>
              </a:ext>
            </a:extLst>
          </p:cNvPr>
          <p:cNvCxnSpPr>
            <a:cxnSpLocks/>
            <a:stCxn id="55" idx="2"/>
          </p:cNvCxnSpPr>
          <p:nvPr/>
        </p:nvCxnSpPr>
        <p:spPr>
          <a:xfrm flipH="1">
            <a:off x="5441761" y="1568276"/>
            <a:ext cx="926083" cy="1238932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34F6B9C0-3E33-C552-3275-95FD335B4F24}"/>
              </a:ext>
            </a:extLst>
          </p:cNvPr>
          <p:cNvSpPr txBox="1"/>
          <p:nvPr/>
        </p:nvSpPr>
        <p:spPr>
          <a:xfrm>
            <a:off x="5813998" y="1322055"/>
            <a:ext cx="11076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FF0000"/>
                </a:solidFill>
              </a:rPr>
              <a:t>EJTAG</a:t>
            </a:r>
            <a:r>
              <a:rPr lang="zh-CN" altLang="en-US" sz="1000" dirty="0">
                <a:solidFill>
                  <a:srgbClr val="FF0000"/>
                </a:solidFill>
              </a:rPr>
              <a:t>使能跳线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76B54C0-4199-97FC-6CFC-B1E6B46D5FD9}"/>
              </a:ext>
            </a:extLst>
          </p:cNvPr>
          <p:cNvSpPr txBox="1"/>
          <p:nvPr/>
        </p:nvSpPr>
        <p:spPr>
          <a:xfrm>
            <a:off x="9229344" y="3488376"/>
            <a:ext cx="702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FF0000"/>
                </a:solidFill>
              </a:rPr>
              <a:t>ADC</a:t>
            </a:r>
            <a:r>
              <a:rPr lang="zh-CN" altLang="en-US" sz="1000" dirty="0">
                <a:solidFill>
                  <a:srgbClr val="FF0000"/>
                </a:solidFill>
              </a:rPr>
              <a:t>按键接口</a:t>
            </a: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884A11FB-8F8F-0ACC-FAE4-BB0ECDD1CABC}"/>
              </a:ext>
            </a:extLst>
          </p:cNvPr>
          <p:cNvCxnSpPr>
            <a:cxnSpLocks/>
          </p:cNvCxnSpPr>
          <p:nvPr/>
        </p:nvCxnSpPr>
        <p:spPr>
          <a:xfrm flipH="1" flipV="1">
            <a:off x="8606218" y="3596256"/>
            <a:ext cx="623126" cy="107478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01CAAEE0-0BEB-F671-C53D-082024D10415}"/>
              </a:ext>
            </a:extLst>
          </p:cNvPr>
          <p:cNvSpPr txBox="1"/>
          <p:nvPr/>
        </p:nvSpPr>
        <p:spPr>
          <a:xfrm>
            <a:off x="5429505" y="4236833"/>
            <a:ext cx="79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FF00"/>
                </a:solidFill>
              </a:rPr>
              <a:t>A</a:t>
            </a:r>
            <a:endParaRPr lang="zh-CN" altLang="en-US" sz="2400" b="1" dirty="0">
              <a:solidFill>
                <a:srgbClr val="FFFF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B09DD18-1DDC-322F-7EC0-F5FBDDBDBE34}"/>
              </a:ext>
            </a:extLst>
          </p:cNvPr>
          <p:cNvSpPr txBox="1"/>
          <p:nvPr/>
        </p:nvSpPr>
        <p:spPr>
          <a:xfrm>
            <a:off x="4143820" y="4334369"/>
            <a:ext cx="79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FF00"/>
                </a:solidFill>
              </a:rPr>
              <a:t>B</a:t>
            </a:r>
            <a:endParaRPr lang="zh-CN" altLang="en-US" sz="2400" b="1" dirty="0">
              <a:solidFill>
                <a:srgbClr val="FFFF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78B2B9-AA5A-6288-E254-0EC239ADAF9F}"/>
              </a:ext>
            </a:extLst>
          </p:cNvPr>
          <p:cNvSpPr txBox="1"/>
          <p:nvPr/>
        </p:nvSpPr>
        <p:spPr>
          <a:xfrm>
            <a:off x="6546216" y="2774882"/>
            <a:ext cx="79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FF00"/>
                </a:solidFill>
              </a:rPr>
              <a:t>C</a:t>
            </a:r>
            <a:endParaRPr lang="zh-CN" altLang="en-US" sz="2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12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35" grpId="0"/>
      <p:bldP spid="45" grpId="0"/>
      <p:bldP spid="50" grpId="0"/>
      <p:bldP spid="55" grpId="0"/>
      <p:bldP spid="59" grpId="0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70F6555-4816-193E-3B95-31EE277F7714}"/>
              </a:ext>
            </a:extLst>
          </p:cNvPr>
          <p:cNvSpPr txBox="1"/>
          <p:nvPr/>
        </p:nvSpPr>
        <p:spPr>
          <a:xfrm>
            <a:off x="620395" y="-5080"/>
            <a:ext cx="7125970" cy="5174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/>
            <a:r>
              <a:rPr lang="zh-CN" altLang="en-US" dirty="0">
                <a:latin typeface="Calibri" panose="020F0502020204030204"/>
                <a:ea typeface="宋体" panose="02010600030101010101" pitchFamily="2" charset="-122"/>
                <a:sym typeface="+mn-ea"/>
              </a:rPr>
              <a:t>供电</a:t>
            </a:r>
            <a:endParaRPr lang="en-US" altLang="zh-CN" dirty="0">
              <a:latin typeface="Calibri" panose="020F0502020204030204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3D8176B-7912-9B6F-E5B5-B093D2BA85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1183"/>
          <a:stretch/>
        </p:blipFill>
        <p:spPr>
          <a:xfrm>
            <a:off x="620395" y="2076577"/>
            <a:ext cx="5261610" cy="291909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822E362-1CCB-999B-2299-B7B9814DE1E0}"/>
              </a:ext>
            </a:extLst>
          </p:cNvPr>
          <p:cNvSpPr txBox="1"/>
          <p:nvPr/>
        </p:nvSpPr>
        <p:spPr>
          <a:xfrm>
            <a:off x="1450975" y="5593207"/>
            <a:ext cx="10382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12V</a:t>
            </a:r>
            <a:r>
              <a:rPr lang="zh-CN" altLang="en-US" sz="1600" dirty="0">
                <a:solidFill>
                  <a:srgbClr val="FF0000"/>
                </a:solidFill>
              </a:rPr>
              <a:t>电源接口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90FD07F-1E6D-0CA2-5AD3-BD78E026A48D}"/>
              </a:ext>
            </a:extLst>
          </p:cNvPr>
          <p:cNvCxnSpPr/>
          <p:nvPr/>
        </p:nvCxnSpPr>
        <p:spPr>
          <a:xfrm flipV="1">
            <a:off x="1974850" y="4995672"/>
            <a:ext cx="349250" cy="597535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1885573-A9EF-861A-92DC-77E4265082CE}"/>
              </a:ext>
            </a:extLst>
          </p:cNvPr>
          <p:cNvSpPr txBox="1"/>
          <p:nvPr/>
        </p:nvSpPr>
        <p:spPr>
          <a:xfrm>
            <a:off x="4006850" y="5593207"/>
            <a:ext cx="10382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5V</a:t>
            </a:r>
            <a:r>
              <a:rPr lang="zh-CN" altLang="en-US" sz="1600" dirty="0">
                <a:solidFill>
                  <a:srgbClr val="FF0000"/>
                </a:solidFill>
              </a:rPr>
              <a:t>电源接口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49C6AF8-2BC8-120C-D7F9-092C2FAF9FFC}"/>
              </a:ext>
            </a:extLst>
          </p:cNvPr>
          <p:cNvCxnSpPr/>
          <p:nvPr/>
        </p:nvCxnSpPr>
        <p:spPr>
          <a:xfrm flipH="1" flipV="1">
            <a:off x="4006850" y="4877562"/>
            <a:ext cx="434975" cy="601345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60253684-3E11-8A12-4DBD-8FF6F1C2167F}"/>
              </a:ext>
            </a:extLst>
          </p:cNvPr>
          <p:cNvSpPr txBox="1">
            <a:spLocks/>
          </p:cNvSpPr>
          <p:nvPr/>
        </p:nvSpPr>
        <p:spPr>
          <a:xfrm>
            <a:off x="457200" y="904875"/>
            <a:ext cx="11301730" cy="4526280"/>
          </a:xfr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dirty="0"/>
              <a:t>适配器供电分为</a:t>
            </a:r>
            <a:r>
              <a:rPr lang="en-US" altLang="zh-CN" sz="2400" dirty="0"/>
              <a:t>DC</a:t>
            </a:r>
            <a:r>
              <a:rPr lang="zh-CN" altLang="en-US" sz="2400" dirty="0"/>
              <a:t>大口</a:t>
            </a:r>
            <a:r>
              <a:rPr lang="en-US" altLang="zh-CN" sz="2400" dirty="0"/>
              <a:t>12V</a:t>
            </a:r>
            <a:r>
              <a:rPr lang="zh-CN" altLang="en-US" sz="2400" dirty="0"/>
              <a:t>和小口</a:t>
            </a:r>
            <a:r>
              <a:rPr lang="en-US" altLang="zh-CN" sz="2400" dirty="0"/>
              <a:t>5V</a:t>
            </a:r>
            <a:r>
              <a:rPr lang="zh-CN" altLang="en-US" sz="2400" dirty="0"/>
              <a:t>，还有</a:t>
            </a:r>
            <a:r>
              <a:rPr lang="en-US" altLang="zh-CN" sz="2400" dirty="0"/>
              <a:t>USB</a:t>
            </a:r>
            <a:r>
              <a:rPr lang="zh-CN" altLang="en-US" sz="2400" dirty="0"/>
              <a:t>供电等。</a:t>
            </a:r>
            <a:endParaRPr lang="en-US" altLang="zh-CN" sz="2400" dirty="0"/>
          </a:p>
          <a:p>
            <a:pPr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400" dirty="0"/>
              <a:t>内部电源电路测量点通常在电感或电容的位置。</a:t>
            </a:r>
            <a:endParaRPr lang="en-US" altLang="zh-CN" sz="2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EC29351-B5D1-F509-2C8D-AB3ED53229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332" t="50260" r="53460" b="10595"/>
          <a:stretch/>
        </p:blipFill>
        <p:spPr>
          <a:xfrm>
            <a:off x="7195184" y="2240666"/>
            <a:ext cx="4376421" cy="3853556"/>
          </a:xfrm>
          <a:prstGeom prst="rect">
            <a:avLst/>
          </a:prstGeom>
          <a:effectLst>
            <a:glow rad="101600">
              <a:schemeClr val="bg2">
                <a:lumMod val="95000"/>
                <a:alpha val="40000"/>
              </a:schemeClr>
            </a:glow>
          </a:effectLst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EDB2D87-3B33-1DF1-5EF3-9DD7B82E8CF1}"/>
              </a:ext>
            </a:extLst>
          </p:cNvPr>
          <p:cNvCxnSpPr>
            <a:cxnSpLocks/>
          </p:cNvCxnSpPr>
          <p:nvPr/>
        </p:nvCxnSpPr>
        <p:spPr>
          <a:xfrm flipV="1">
            <a:off x="7007859" y="4474832"/>
            <a:ext cx="1423671" cy="790931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7E45F34-875E-0C87-101B-C436E2E2EBB5}"/>
              </a:ext>
            </a:extLst>
          </p:cNvPr>
          <p:cNvCxnSpPr>
            <a:cxnSpLocks/>
          </p:cNvCxnSpPr>
          <p:nvPr/>
        </p:nvCxnSpPr>
        <p:spPr>
          <a:xfrm flipV="1">
            <a:off x="7007859" y="3557016"/>
            <a:ext cx="869950" cy="1708747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1BAE406-F325-85C7-8A52-FAF61E4154C2}"/>
              </a:ext>
            </a:extLst>
          </p:cNvPr>
          <p:cNvCxnSpPr>
            <a:cxnSpLocks/>
          </p:cNvCxnSpPr>
          <p:nvPr/>
        </p:nvCxnSpPr>
        <p:spPr>
          <a:xfrm flipV="1">
            <a:off x="7007859" y="4867338"/>
            <a:ext cx="3020059" cy="414973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0077A1BB-5DB5-BEC1-AAD0-EA4D500DEBF3}"/>
              </a:ext>
            </a:extLst>
          </p:cNvPr>
          <p:cNvSpPr txBox="1"/>
          <p:nvPr/>
        </p:nvSpPr>
        <p:spPr>
          <a:xfrm>
            <a:off x="5991859" y="5170419"/>
            <a:ext cx="1038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内部电源</a:t>
            </a:r>
          </a:p>
        </p:txBody>
      </p:sp>
    </p:spTree>
    <p:extLst>
      <p:ext uri="{BB962C8B-B14F-4D97-AF65-F5344CB8AC3E}">
        <p14:creationId xmlns:p14="http://schemas.microsoft.com/office/powerpoint/2010/main" val="124969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B46562A-E33E-7DFC-FB82-2B27D8A25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298" y="1582496"/>
            <a:ext cx="5703570" cy="424116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70F6555-4816-193E-3B95-31EE277F7714}"/>
              </a:ext>
            </a:extLst>
          </p:cNvPr>
          <p:cNvSpPr txBox="1"/>
          <p:nvPr/>
        </p:nvSpPr>
        <p:spPr>
          <a:xfrm>
            <a:off x="620395" y="-5080"/>
            <a:ext cx="7125970" cy="5174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/>
            <a:r>
              <a:rPr lang="zh-CN" altLang="en-US" dirty="0">
                <a:latin typeface="Calibri" panose="020F0502020204030204"/>
                <a:ea typeface="宋体" panose="02010600030101010101" pitchFamily="2" charset="-122"/>
                <a:sym typeface="+mn-ea"/>
              </a:rPr>
              <a:t>串口</a:t>
            </a:r>
            <a:endParaRPr lang="en-US" altLang="zh-CN" dirty="0">
              <a:latin typeface="Calibri" panose="020F0502020204030204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60253684-3E11-8A12-4DBD-8FF6F1C2167F}"/>
              </a:ext>
            </a:extLst>
          </p:cNvPr>
          <p:cNvSpPr txBox="1">
            <a:spLocks/>
          </p:cNvSpPr>
          <p:nvPr/>
        </p:nvSpPr>
        <p:spPr>
          <a:xfrm>
            <a:off x="457200" y="904875"/>
            <a:ext cx="11301730" cy="4526280"/>
          </a:xfr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400" dirty="0"/>
              <a:t>UART</a:t>
            </a:r>
            <a:r>
              <a:rPr lang="zh-CN" altLang="en-US" sz="2400" dirty="0"/>
              <a:t>打印工具使用</a:t>
            </a:r>
            <a:r>
              <a:rPr lang="en-US" altLang="zh-CN" sz="2400" dirty="0"/>
              <a:t>2.54mm</a:t>
            </a:r>
            <a:r>
              <a:rPr lang="zh-CN" altLang="en-US" sz="2400" dirty="0"/>
              <a:t>杜邦线连接，先对好</a:t>
            </a:r>
            <a:r>
              <a:rPr lang="en-US" altLang="zh-CN" sz="2400" dirty="0"/>
              <a:t>GND</a:t>
            </a:r>
            <a:r>
              <a:rPr lang="zh-CN" altLang="en-US" sz="2400" dirty="0"/>
              <a:t>，再把</a:t>
            </a:r>
            <a:r>
              <a:rPr lang="en-US" altLang="zh-CN" sz="2400" dirty="0"/>
              <a:t>TX</a:t>
            </a:r>
            <a:r>
              <a:rPr lang="zh-CN" altLang="en-US" sz="2400" dirty="0"/>
              <a:t>对</a:t>
            </a:r>
            <a:r>
              <a:rPr lang="en-US" altLang="zh-CN" sz="2400" dirty="0"/>
              <a:t>RX</a:t>
            </a:r>
            <a:r>
              <a:rPr lang="zh-CN" altLang="en-US" sz="2400" dirty="0"/>
              <a:t>，</a:t>
            </a:r>
            <a:r>
              <a:rPr lang="en-US" altLang="zh-CN" sz="2400" dirty="0"/>
              <a:t>RX</a:t>
            </a:r>
            <a:r>
              <a:rPr lang="zh-CN" altLang="en-US" sz="2400" dirty="0"/>
              <a:t>对</a:t>
            </a:r>
            <a:r>
              <a:rPr lang="en-US" altLang="zh-CN" sz="2400" dirty="0"/>
              <a:t>TX</a:t>
            </a:r>
            <a:r>
              <a:rPr lang="zh-CN" altLang="en-US" sz="2400" dirty="0"/>
              <a:t>接线。</a:t>
            </a:r>
            <a:endParaRPr lang="en-US" altLang="zh-CN" sz="2400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C0376AA-E656-5B79-E399-B1C441D48571}"/>
              </a:ext>
            </a:extLst>
          </p:cNvPr>
          <p:cNvSpPr/>
          <p:nvPr/>
        </p:nvSpPr>
        <p:spPr>
          <a:xfrm>
            <a:off x="3217418" y="3833571"/>
            <a:ext cx="1181100" cy="667385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C2013E-F1AA-A541-E3D2-773906A6A286}"/>
              </a:ext>
            </a:extLst>
          </p:cNvPr>
          <p:cNvSpPr txBox="1"/>
          <p:nvPr/>
        </p:nvSpPr>
        <p:spPr>
          <a:xfrm>
            <a:off x="6895592" y="4554626"/>
            <a:ext cx="205676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UART</a:t>
            </a:r>
            <a:r>
              <a:rPr lang="zh-CN" altLang="en-US" sz="1600" b="1" dirty="0">
                <a:solidFill>
                  <a:srgbClr val="FF0000"/>
                </a:solidFill>
              </a:rPr>
              <a:t>信号管脚，连接至其他设备注意</a:t>
            </a:r>
            <a:r>
              <a:rPr lang="en-US" altLang="zh-CN" sz="1600" b="1" dirty="0">
                <a:solidFill>
                  <a:srgbClr val="FF0000"/>
                </a:solidFill>
              </a:rPr>
              <a:t>“</a:t>
            </a:r>
            <a:r>
              <a:rPr lang="zh-CN" altLang="en-US" sz="1600" b="1" dirty="0">
                <a:solidFill>
                  <a:srgbClr val="FF0000"/>
                </a:solidFill>
              </a:rPr>
              <a:t>对接</a:t>
            </a:r>
            <a:r>
              <a:rPr lang="en-US" altLang="zh-CN" sz="1600" b="1" dirty="0">
                <a:solidFill>
                  <a:srgbClr val="FF0000"/>
                </a:solidFill>
              </a:rPr>
              <a:t>”</a:t>
            </a:r>
            <a:r>
              <a:rPr lang="zh-CN" altLang="en-US" sz="1600" b="1" dirty="0">
                <a:solidFill>
                  <a:srgbClr val="FF0000"/>
                </a:solidFill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</a:rPr>
              <a:t>“RX”</a:t>
            </a:r>
            <a:r>
              <a:rPr lang="zh-CN" altLang="en-US" sz="1600" b="1" dirty="0">
                <a:solidFill>
                  <a:srgbClr val="FF0000"/>
                </a:solidFill>
              </a:rPr>
              <a:t>对</a:t>
            </a:r>
            <a:r>
              <a:rPr lang="en-US" altLang="zh-CN" sz="1600" b="1" dirty="0">
                <a:solidFill>
                  <a:srgbClr val="FF0000"/>
                </a:solidFill>
              </a:rPr>
              <a:t>“TX”,“TX”</a:t>
            </a:r>
            <a:r>
              <a:rPr lang="zh-CN" altLang="en-US" sz="1600" b="1" dirty="0">
                <a:solidFill>
                  <a:srgbClr val="FF0000"/>
                </a:solidFill>
              </a:rPr>
              <a:t>对</a:t>
            </a:r>
            <a:r>
              <a:rPr lang="en-US" altLang="zh-CN" sz="1600" b="1" dirty="0">
                <a:solidFill>
                  <a:srgbClr val="FF0000"/>
                </a:solidFill>
              </a:rPr>
              <a:t>“RX</a:t>
            </a:r>
            <a:r>
              <a:rPr lang="en-US" altLang="zh-CN" sz="16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”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102AA5A-53A0-507D-2255-6AFBCDB7B664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4398518" y="4377087"/>
            <a:ext cx="2497074" cy="715702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884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F64F005A-B6AA-1725-6D17-31C2CF3D1E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46" t="9162" r="5359" b="10595"/>
          <a:stretch/>
        </p:blipFill>
        <p:spPr>
          <a:xfrm>
            <a:off x="7016995" y="3426850"/>
            <a:ext cx="3925667" cy="2614324"/>
          </a:xfrm>
          <a:prstGeom prst="rect">
            <a:avLst/>
          </a:prstGeom>
          <a:effectLst>
            <a:glow rad="101600">
              <a:schemeClr val="bg2">
                <a:lumMod val="95000"/>
                <a:alpha val="40000"/>
              </a:schemeClr>
            </a:glow>
          </a:effec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70F6555-4816-193E-3B95-31EE277F7714}"/>
              </a:ext>
            </a:extLst>
          </p:cNvPr>
          <p:cNvSpPr txBox="1"/>
          <p:nvPr/>
        </p:nvSpPr>
        <p:spPr>
          <a:xfrm>
            <a:off x="620395" y="-5080"/>
            <a:ext cx="7125970" cy="5174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/>
            <a:r>
              <a:rPr lang="zh-CN" altLang="en-US" dirty="0">
                <a:latin typeface="Calibri" panose="020F0502020204030204"/>
                <a:ea typeface="宋体" panose="02010600030101010101" pitchFamily="2" charset="-122"/>
                <a:sym typeface="+mn-ea"/>
              </a:rPr>
              <a:t>仿真口</a:t>
            </a:r>
            <a:endParaRPr lang="en-US" altLang="zh-CN" dirty="0">
              <a:latin typeface="Calibri" panose="020F0502020204030204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60253684-3E11-8A12-4DBD-8FF6F1C2167F}"/>
              </a:ext>
            </a:extLst>
          </p:cNvPr>
          <p:cNvSpPr txBox="1">
            <a:spLocks/>
          </p:cNvSpPr>
          <p:nvPr/>
        </p:nvSpPr>
        <p:spPr>
          <a:xfrm>
            <a:off x="457200" y="904874"/>
            <a:ext cx="6603516" cy="5159205"/>
          </a:xfr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zh-CN" sz="2400" dirty="0"/>
              <a:t>EJTAG</a:t>
            </a:r>
            <a:r>
              <a:rPr lang="zh-CN" altLang="en-US" sz="2400" dirty="0"/>
              <a:t>是仿真器</a:t>
            </a:r>
            <a:r>
              <a:rPr lang="en-US" altLang="zh-CN" sz="2400" dirty="0"/>
              <a:t>HC ICE</a:t>
            </a:r>
            <a:r>
              <a:rPr lang="zh-CN" altLang="en-US" sz="2400" dirty="0"/>
              <a:t>与海奇</a:t>
            </a:r>
            <a:r>
              <a:rPr lang="en-US" altLang="zh-CN" sz="2400" dirty="0"/>
              <a:t>CPU</a:t>
            </a:r>
            <a:r>
              <a:rPr lang="zh-CN" altLang="en-US" sz="2400" dirty="0"/>
              <a:t>之间的入口。</a:t>
            </a:r>
            <a:endParaRPr lang="en-US" altLang="zh-CN" sz="2400" dirty="0"/>
          </a:p>
          <a:p>
            <a:pPr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zh-CN" sz="2400" dirty="0"/>
              <a:t>HC ICE</a:t>
            </a:r>
            <a:r>
              <a:rPr lang="zh-CN" altLang="en-US" sz="2400" dirty="0"/>
              <a:t>需要搭配</a:t>
            </a:r>
            <a:r>
              <a:rPr lang="en-US" altLang="zh-CN" sz="2400" dirty="0" err="1"/>
              <a:t>HichipGDB</a:t>
            </a:r>
            <a:r>
              <a:rPr lang="zh-CN" altLang="en-US" sz="2400" dirty="0"/>
              <a:t>使用。</a:t>
            </a:r>
            <a:endParaRPr lang="en-US" altLang="zh-CN" sz="2400" dirty="0"/>
          </a:p>
          <a:p>
            <a:pPr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zh-CN" altLang="en-US" sz="2400" dirty="0"/>
              <a:t>仿真环境连接分</a:t>
            </a:r>
            <a:r>
              <a:rPr lang="en-US" altLang="zh-CN" sz="2400" dirty="0"/>
              <a:t>2</a:t>
            </a:r>
            <a:r>
              <a:rPr lang="zh-CN" altLang="en-US" sz="2400" dirty="0"/>
              <a:t>种，分别是</a:t>
            </a:r>
            <a:r>
              <a:rPr lang="en-US" altLang="zh-CN" sz="2400" dirty="0" err="1"/>
              <a:t>init</a:t>
            </a:r>
            <a:r>
              <a:rPr lang="zh-CN" altLang="en-US" sz="2400" dirty="0"/>
              <a:t>和</a:t>
            </a:r>
            <a:r>
              <a:rPr lang="en-US" altLang="zh-CN" sz="2400" dirty="0"/>
              <a:t>attach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457200" indent="-4572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zh-CN" sz="2400" dirty="0"/>
              <a:t>Init</a:t>
            </a:r>
            <a:r>
              <a:rPr lang="zh-CN" altLang="en-US" sz="2400" dirty="0"/>
              <a:t>是使用</a:t>
            </a:r>
            <a:r>
              <a:rPr lang="en-US" altLang="zh-CN" sz="2400" dirty="0"/>
              <a:t>GDB</a:t>
            </a:r>
            <a:r>
              <a:rPr lang="zh-CN" altLang="en-US" sz="2400" dirty="0"/>
              <a:t>的初始化配置对</a:t>
            </a:r>
            <a:r>
              <a:rPr lang="en-US" altLang="zh-CN" sz="2400" dirty="0"/>
              <a:t>CPU</a:t>
            </a:r>
            <a:r>
              <a:rPr lang="zh-CN" altLang="en-US" sz="2400" dirty="0"/>
              <a:t>复位并初始化，所以需确保配置正确。</a:t>
            </a:r>
            <a:endParaRPr lang="en-US" altLang="zh-CN" sz="2400" dirty="0"/>
          </a:p>
          <a:p>
            <a:pPr marL="457200" indent="-4572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zh-CN" sz="2400" dirty="0"/>
              <a:t>Attach</a:t>
            </a:r>
            <a:r>
              <a:rPr lang="zh-CN" altLang="en-US" sz="2400" dirty="0"/>
              <a:t>是直接给中断</a:t>
            </a:r>
            <a:r>
              <a:rPr lang="en-US" altLang="zh-CN" sz="2400" dirty="0"/>
              <a:t>CPU</a:t>
            </a:r>
            <a:r>
              <a:rPr lang="zh-CN" altLang="en-US" sz="2400" dirty="0"/>
              <a:t>停下来。</a:t>
            </a:r>
            <a:endParaRPr lang="en-US" altLang="zh-CN" sz="2400" dirty="0"/>
          </a:p>
          <a:p>
            <a:pPr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/>
              <a:t>仿真环境确保先使能</a:t>
            </a:r>
            <a:r>
              <a:rPr lang="en-US" altLang="zh-CN" sz="2400" dirty="0"/>
              <a:t>EJTAG</a:t>
            </a:r>
            <a:r>
              <a:rPr lang="zh-CN" altLang="en-US" sz="2400" dirty="0"/>
              <a:t>，硬件有</a:t>
            </a:r>
            <a:r>
              <a:rPr lang="en-US" altLang="zh-CN" sz="2400" dirty="0" err="1"/>
              <a:t>strappin</a:t>
            </a:r>
            <a:r>
              <a:rPr lang="zh-CN" altLang="en-US" sz="2400" dirty="0"/>
              <a:t>跳线，软件有</a:t>
            </a:r>
            <a:r>
              <a:rPr lang="en-US" altLang="zh-CN" sz="2400" dirty="0" err="1"/>
              <a:t>enejtag</a:t>
            </a:r>
            <a:r>
              <a:rPr lang="zh-CN" altLang="en-US" sz="2400" dirty="0"/>
              <a:t>的命令。</a:t>
            </a:r>
            <a:endParaRPr lang="en-US" altLang="zh-CN" sz="2400" dirty="0"/>
          </a:p>
          <a:p>
            <a:pPr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/>
              <a:t>平台连接操作顺序：</a:t>
            </a:r>
            <a:endParaRPr lang="en-US" altLang="zh-CN" sz="2400" dirty="0"/>
          </a:p>
          <a:p>
            <a:pPr marL="457200" indent="-4572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2400" dirty="0"/>
              <a:t>步骤</a:t>
            </a:r>
            <a:r>
              <a:rPr lang="en-US" altLang="zh-CN" sz="2400" dirty="0"/>
              <a:t>A-&gt;B</a:t>
            </a:r>
          </a:p>
          <a:p>
            <a:pPr marL="457200" indent="-4572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2400" dirty="0"/>
              <a:t>步骤</a:t>
            </a:r>
            <a:r>
              <a:rPr lang="en-US" altLang="zh-CN" sz="2400" dirty="0"/>
              <a:t>B-&gt;A-&gt;C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B2BEB87-CB10-17DF-9684-A7A7558BAEAD}"/>
              </a:ext>
            </a:extLst>
          </p:cNvPr>
          <p:cNvSpPr txBox="1"/>
          <p:nvPr/>
        </p:nvSpPr>
        <p:spPr>
          <a:xfrm>
            <a:off x="6061003" y="5506224"/>
            <a:ext cx="1054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步骤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6D7BC0-B09B-D83F-8263-25CE9D38EB2E}"/>
              </a:ext>
            </a:extLst>
          </p:cNvPr>
          <p:cNvSpPr txBox="1"/>
          <p:nvPr/>
        </p:nvSpPr>
        <p:spPr>
          <a:xfrm>
            <a:off x="11149330" y="5649029"/>
            <a:ext cx="847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步骤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4BEB9024-4726-1F95-9E70-2C6812A9AD26}"/>
              </a:ext>
            </a:extLst>
          </p:cNvPr>
          <p:cNvCxnSpPr>
            <a:cxnSpLocks/>
          </p:cNvCxnSpPr>
          <p:nvPr/>
        </p:nvCxnSpPr>
        <p:spPr>
          <a:xfrm>
            <a:off x="6867136" y="5625855"/>
            <a:ext cx="431323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3BF38D8-5ED8-8058-1D3C-C16A53090379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10255670" y="5475360"/>
            <a:ext cx="893660" cy="358335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31F2D7F7-E7B5-05F7-CA98-9414AD23D608}"/>
              </a:ext>
            </a:extLst>
          </p:cNvPr>
          <p:cNvSpPr/>
          <p:nvPr/>
        </p:nvSpPr>
        <p:spPr>
          <a:xfrm>
            <a:off x="8452778" y="3906020"/>
            <a:ext cx="527050" cy="276603"/>
          </a:xfrm>
          <a:prstGeom prst="ellipse">
            <a:avLst/>
          </a:prstGeom>
          <a:noFill/>
          <a:ln w="254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AACFFD7-37B2-714D-1CC6-40431A5C592D}"/>
              </a:ext>
            </a:extLst>
          </p:cNvPr>
          <p:cNvSpPr txBox="1"/>
          <p:nvPr/>
        </p:nvSpPr>
        <p:spPr>
          <a:xfrm>
            <a:off x="10942662" y="4397757"/>
            <a:ext cx="1038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跳线打开</a:t>
            </a:r>
            <a:r>
              <a:rPr lang="en-US" altLang="zh-CN" sz="1600" dirty="0">
                <a:solidFill>
                  <a:srgbClr val="FF0000"/>
                </a:solidFill>
              </a:rPr>
              <a:t>EJTAG</a:t>
            </a:r>
            <a:r>
              <a:rPr lang="zh-CN" altLang="en-US" sz="1600" dirty="0">
                <a:solidFill>
                  <a:srgbClr val="FF0000"/>
                </a:solidFill>
              </a:rPr>
              <a:t>口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44690ED-6703-3C61-094D-BD3B47ACE8A1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9057806" y="4044322"/>
            <a:ext cx="1884856" cy="645823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5538793E-1FD3-66FF-EE12-AFE6A67C09BA}"/>
              </a:ext>
            </a:extLst>
          </p:cNvPr>
          <p:cNvSpPr/>
          <p:nvPr/>
        </p:nvSpPr>
        <p:spPr>
          <a:xfrm>
            <a:off x="8452778" y="3634593"/>
            <a:ext cx="527050" cy="276603"/>
          </a:xfrm>
          <a:prstGeom prst="ellipse">
            <a:avLst/>
          </a:prstGeom>
          <a:noFill/>
          <a:ln w="254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1DE164B-5ADF-F3AA-A0BA-82A9738D92F5}"/>
              </a:ext>
            </a:extLst>
          </p:cNvPr>
          <p:cNvCxnSpPr>
            <a:cxnSpLocks/>
          </p:cNvCxnSpPr>
          <p:nvPr/>
        </p:nvCxnSpPr>
        <p:spPr>
          <a:xfrm flipH="1">
            <a:off x="9057806" y="3702482"/>
            <a:ext cx="2091524" cy="47930"/>
          </a:xfrm>
          <a:prstGeom prst="straightConnector1">
            <a:avLst/>
          </a:prstGeom>
          <a:ln w="25400">
            <a:solidFill>
              <a:srgbClr val="FF0000"/>
            </a:solidFill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A1787E5F-194D-D6D9-C627-BDC12BA07260}"/>
              </a:ext>
            </a:extLst>
          </p:cNvPr>
          <p:cNvSpPr txBox="1"/>
          <p:nvPr/>
        </p:nvSpPr>
        <p:spPr>
          <a:xfrm>
            <a:off x="11092521" y="3535597"/>
            <a:ext cx="831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步骤</a:t>
            </a:r>
            <a:r>
              <a:rPr lang="en-US" altLang="zh-CN" dirty="0">
                <a:solidFill>
                  <a:srgbClr val="FF0000"/>
                </a:solidFill>
              </a:rPr>
              <a:t>C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464EFB1C-AB67-D8E6-C445-8EA252F2C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365" y="771106"/>
            <a:ext cx="3379569" cy="157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772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0395" y="-5080"/>
            <a:ext cx="7125970" cy="5198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>
              <a:buFont typeface="Wingdings" panose="05000000000000000000" charset="0"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  <a:sym typeface="+mn-ea"/>
              </a:rPr>
              <a:t>STRAPPIN</a:t>
            </a:r>
            <a:r>
              <a:rPr lang="zh-CN" altLang="en-US" dirty="0">
                <a:latin typeface="Calibri" panose="020F0502020204030204"/>
                <a:ea typeface="宋体" panose="02010600030101010101" pitchFamily="2" charset="-122"/>
                <a:sym typeface="+mn-ea"/>
              </a:rPr>
              <a:t>设置</a:t>
            </a:r>
            <a:endParaRPr lang="en-US" altLang="zh-CN" dirty="0">
              <a:latin typeface="Calibri" panose="020F0502020204030204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457200" y="904875"/>
            <a:ext cx="11301730" cy="4526280"/>
          </a:xfrm>
        </p:spPr>
        <p:txBody>
          <a:bodyPr vert="horz" wrap="square" lIns="91440" tIns="45720" rIns="91440" bIns="45720" anchor="t" anchorCtr="0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 err="1">
                <a:sym typeface="+mn-ea"/>
              </a:rPr>
              <a:t>Strappin</a:t>
            </a:r>
            <a:r>
              <a:rPr lang="en-US" altLang="zh-CN" sz="2400" dirty="0">
                <a:sym typeface="+mn-ea"/>
              </a:rPr>
              <a:t> setting</a:t>
            </a:r>
            <a:endParaRPr kumimoji="0" lang="en-US" altLang="zh-CN" sz="2400" b="0" i="0" u="none" strike="noStrike" kern="1200" cap="none" spc="0" normalizeH="0" baseline="0" noProof="1">
              <a:latin typeface="+mn-lt"/>
              <a:ea typeface="+mn-ea"/>
              <a:cs typeface="+mn-cs"/>
              <a:sym typeface="+mn-ea"/>
            </a:endParaRPr>
          </a:p>
          <a:p>
            <a:pPr mar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zh-CN" sz="2400" dirty="0">
                <a:sym typeface="+mn-ea"/>
              </a:rPr>
              <a:t>CPU_PROB_ENJ</a:t>
            </a:r>
            <a:r>
              <a:rPr lang="zh-CN" altLang="en-US" sz="2400" dirty="0">
                <a:sym typeface="+mn-ea"/>
              </a:rPr>
              <a:t>：缺省值关闭，对应的</a:t>
            </a:r>
            <a:r>
              <a:rPr lang="en-US" altLang="zh-CN" sz="2400" dirty="0">
                <a:sym typeface="+mn-ea"/>
              </a:rPr>
              <a:t>EJTAG PIN</a:t>
            </a:r>
            <a:r>
              <a:rPr lang="zh-CN" altLang="en-US" sz="2400" dirty="0">
                <a:sym typeface="+mn-ea"/>
              </a:rPr>
              <a:t>不能使用</a:t>
            </a:r>
            <a:endParaRPr lang="en-US" altLang="zh-CN" sz="2400" dirty="0"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ym typeface="+mn-ea"/>
              </a:rPr>
              <a:t>BOOT SEL</a:t>
            </a:r>
            <a:r>
              <a:rPr lang="zh-CN" altLang="en-US" sz="2400" dirty="0">
                <a:sym typeface="+mn-ea"/>
              </a:rPr>
              <a:t>：缺省值</a:t>
            </a:r>
            <a:r>
              <a:rPr lang="en-US" altLang="zh-CN" sz="2400" dirty="0">
                <a:sym typeface="+mn-ea"/>
              </a:rPr>
              <a:t>SPI NOR boot</a:t>
            </a:r>
            <a:r>
              <a:rPr lang="zh-CN" altLang="en-US" sz="2400" dirty="0">
                <a:sym typeface="+mn-ea"/>
              </a:rPr>
              <a:t>，还可以选择</a:t>
            </a:r>
            <a:r>
              <a:rPr lang="en-US" altLang="zh-CN" sz="2400" dirty="0">
                <a:sym typeface="+mn-ea"/>
              </a:rPr>
              <a:t>SPI NAND</a:t>
            </a:r>
            <a:r>
              <a:rPr lang="zh-CN" altLang="en-US" sz="2400" dirty="0">
                <a:sym typeface="+mn-ea"/>
              </a:rPr>
              <a:t>等</a:t>
            </a:r>
            <a:endParaRPr lang="en-US" altLang="zh-CN" sz="2400" dirty="0"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ym typeface="+mn-ea"/>
              </a:rPr>
              <a:t>UART</a:t>
            </a:r>
            <a:r>
              <a:rPr lang="zh-CN" altLang="en-US" sz="2400" dirty="0">
                <a:sym typeface="+mn-ea"/>
              </a:rPr>
              <a:t>_</a:t>
            </a:r>
            <a:r>
              <a:rPr lang="en-US" altLang="zh-CN" sz="2400" dirty="0">
                <a:sym typeface="+mn-ea"/>
              </a:rPr>
              <a:t>UPGRADE</a:t>
            </a:r>
            <a:r>
              <a:rPr lang="zh-CN" altLang="en-US" sz="2400" dirty="0">
                <a:sym typeface="+mn-ea"/>
              </a:rPr>
              <a:t>：</a:t>
            </a:r>
            <a:r>
              <a:rPr lang="en-US" altLang="zh-CN" sz="2400" dirty="0">
                <a:sym typeface="+mn-ea"/>
              </a:rPr>
              <a:t>H15</a:t>
            </a:r>
            <a:r>
              <a:rPr lang="zh-CN" altLang="en-US" sz="2400" dirty="0">
                <a:sym typeface="+mn-ea"/>
              </a:rPr>
              <a:t>缺省值关闭，</a:t>
            </a:r>
            <a:r>
              <a:rPr lang="en-US" altLang="zh-CN" sz="2400" dirty="0">
                <a:sym typeface="+mn-ea"/>
              </a:rPr>
              <a:t>H16</a:t>
            </a:r>
            <a:r>
              <a:rPr lang="zh-CN" altLang="en-US" sz="2400" dirty="0">
                <a:sym typeface="+mn-ea"/>
              </a:rPr>
              <a:t>缺省值打开</a:t>
            </a:r>
            <a:endParaRPr lang="en-US" altLang="zh-CN" sz="2400" dirty="0"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ym typeface="+mn-ea"/>
              </a:rPr>
              <a:t>USB</a:t>
            </a:r>
            <a:r>
              <a:rPr lang="zh-CN" altLang="en-US" sz="2400" dirty="0">
                <a:sym typeface="+mn-ea"/>
              </a:rPr>
              <a:t>_</a:t>
            </a:r>
            <a:r>
              <a:rPr lang="en-US" altLang="zh-CN" sz="2400" dirty="0">
                <a:sym typeface="+mn-ea"/>
              </a:rPr>
              <a:t>UPGRADE</a:t>
            </a:r>
            <a:r>
              <a:rPr lang="zh-CN" altLang="en-US" sz="2400" dirty="0">
                <a:sym typeface="+mn-ea"/>
              </a:rPr>
              <a:t>：缺省值关闭，由按键触发</a:t>
            </a:r>
            <a:endParaRPr lang="en-US" altLang="zh-CN" sz="2400" dirty="0"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ym typeface="+mn-ea"/>
              </a:rPr>
              <a:t>DFT_EN</a:t>
            </a:r>
            <a:r>
              <a:rPr lang="zh-CN" altLang="en-US" sz="2400" dirty="0">
                <a:sym typeface="+mn-ea"/>
              </a:rPr>
              <a:t>：缺省值关闭，打开进入芯片</a:t>
            </a:r>
            <a:r>
              <a:rPr lang="en-US" altLang="zh-CN" sz="2400" dirty="0">
                <a:sym typeface="+mn-ea"/>
              </a:rPr>
              <a:t>DFT mode</a:t>
            </a:r>
            <a:endParaRPr kumimoji="0" lang="en-US" altLang="zh-CN" sz="2400" b="0" i="0" u="none" strike="noStrike" kern="1200" cap="none" spc="0" normalizeH="0" baseline="0" noProof="1">
              <a:latin typeface="+mn-lt"/>
              <a:ea typeface="+mn-ea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/>
              <a:t>BOOTROM_EN</a:t>
            </a:r>
            <a:r>
              <a:rPr lang="zh-CN" altLang="en-US" sz="2400" dirty="0"/>
              <a:t>：</a:t>
            </a:r>
            <a:r>
              <a:rPr lang="zh-CN" altLang="en-US" sz="2400" dirty="0">
                <a:sym typeface="+mn-ea"/>
              </a:rPr>
              <a:t>缺省值打开</a:t>
            </a:r>
            <a:endParaRPr lang="en-US" altLang="zh-CN" sz="2400" dirty="0"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/>
              <a:t>FUNC_MODE</a:t>
            </a:r>
            <a:r>
              <a:rPr lang="zh-CN" altLang="en-US" sz="2400" dirty="0">
                <a:sym typeface="+mn-ea"/>
              </a:rPr>
              <a:t>：缺省值打开，关闭进入芯片</a:t>
            </a:r>
            <a:r>
              <a:rPr lang="en-US" altLang="zh-CN" sz="2400" dirty="0">
                <a:sym typeface="+mn-ea"/>
              </a:rPr>
              <a:t>ES</a:t>
            </a:r>
            <a:r>
              <a:rPr lang="zh-CN" altLang="en-US" sz="2400" dirty="0">
                <a:sym typeface="+mn-ea"/>
              </a:rPr>
              <a:t> </a:t>
            </a:r>
            <a:r>
              <a:rPr lang="en-US" altLang="zh-CN" sz="2400" dirty="0">
                <a:sym typeface="+mn-ea"/>
              </a:rPr>
              <a:t>mode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/>
              <a:t>CPU_CLK_SEL</a:t>
            </a:r>
            <a:r>
              <a:rPr lang="zh-CN" altLang="en-US" sz="2400" dirty="0">
                <a:sym typeface="+mn-ea"/>
              </a:rPr>
              <a:t> ：配置</a:t>
            </a:r>
            <a:r>
              <a:rPr lang="en-US" altLang="zh-CN" sz="2400" dirty="0">
                <a:sym typeface="+mn-ea"/>
              </a:rPr>
              <a:t>CPU</a:t>
            </a:r>
            <a:r>
              <a:rPr lang="zh-CN" altLang="en-US" sz="2400" dirty="0">
                <a:sym typeface="+mn-ea"/>
              </a:rPr>
              <a:t>频率</a:t>
            </a:r>
            <a:endParaRPr lang="en-US" altLang="zh-CN" sz="2400" dirty="0"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/>
              <a:t>MEM_CLK_SEL</a:t>
            </a:r>
            <a:r>
              <a:rPr lang="zh-CN" altLang="en-US" sz="2400" dirty="0">
                <a:sym typeface="+mn-ea"/>
              </a:rPr>
              <a:t> ：配置</a:t>
            </a:r>
            <a:r>
              <a:rPr lang="en-US" altLang="zh-CN" sz="2400" dirty="0">
                <a:sym typeface="+mn-ea"/>
              </a:rPr>
              <a:t>DDR</a:t>
            </a:r>
            <a:r>
              <a:rPr lang="zh-CN" altLang="en-US" sz="2400" dirty="0">
                <a:sym typeface="+mn-ea"/>
              </a:rPr>
              <a:t>频率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DFC89ED-E0F5-D71A-1AD7-8E4DA5EF0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087" y="818197"/>
            <a:ext cx="3570120" cy="52216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0395" y="-5080"/>
            <a:ext cx="7125970" cy="5198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>
              <a:buFont typeface="Wingdings" panose="05000000000000000000" charset="0"/>
            </a:pPr>
            <a:r>
              <a:rPr lang="zh-CN" altLang="en-US" dirty="0">
                <a:latin typeface="Calibri" panose="020F0502020204030204"/>
                <a:ea typeface="宋体" panose="02010600030101010101" pitchFamily="2" charset="-122"/>
                <a:sym typeface="+mn-ea"/>
              </a:rPr>
              <a:t>升级</a:t>
            </a:r>
            <a:endParaRPr lang="en-US" altLang="zh-CN" dirty="0">
              <a:latin typeface="Calibri" panose="020F0502020204030204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457200" y="904875"/>
            <a:ext cx="11301730" cy="4526280"/>
          </a:xfrm>
        </p:spPr>
        <p:txBody>
          <a:bodyPr vert="horz" wrap="square" lIns="91440" tIns="45720" rIns="91440" bIns="45720" anchor="t" anchorCtr="0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ym typeface="+mn-ea"/>
              </a:rPr>
              <a:t>UART</a:t>
            </a:r>
            <a:r>
              <a:rPr lang="zh-CN" altLang="en-US" sz="2400" dirty="0">
                <a:sym typeface="+mn-ea"/>
              </a:rPr>
              <a:t>烧录流程</a:t>
            </a:r>
            <a:endParaRPr lang="en-US" altLang="zh-CN" sz="2400" dirty="0"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dirty="0">
                <a:sym typeface="+mn-ea"/>
              </a:rPr>
              <a:t>       UART</a:t>
            </a:r>
            <a:r>
              <a:rPr lang="zh-CN" altLang="en-US" sz="2400" dirty="0">
                <a:sym typeface="+mn-ea"/>
              </a:rPr>
              <a:t>_UPGRADE打开，通电启动</a:t>
            </a:r>
            <a:r>
              <a:rPr lang="en-US" altLang="zh-CN" sz="2400" dirty="0">
                <a:sym typeface="+mn-ea"/>
              </a:rPr>
              <a:t>BOOTROM</a:t>
            </a:r>
            <a:r>
              <a:rPr lang="zh-CN" altLang="en-US" sz="2400" dirty="0">
                <a:sym typeface="+mn-ea"/>
              </a:rPr>
              <a:t>，读取</a:t>
            </a:r>
            <a:r>
              <a:rPr lang="en-US" altLang="zh-CN" sz="2400" dirty="0">
                <a:sym typeface="+mn-ea"/>
              </a:rPr>
              <a:t>Bonding</a:t>
            </a:r>
            <a:r>
              <a:rPr lang="zh-CN" altLang="en-US" sz="2400" dirty="0">
                <a:sym typeface="+mn-ea"/>
              </a:rPr>
              <a:t>值配置打开对应</a:t>
            </a:r>
            <a:r>
              <a:rPr lang="en-US" altLang="zh-CN" sz="2400" dirty="0">
                <a:sym typeface="+mn-ea"/>
              </a:rPr>
              <a:t>PIN</a:t>
            </a:r>
            <a:r>
              <a:rPr lang="zh-CN" altLang="en-US" sz="2400" dirty="0">
                <a:sym typeface="+mn-ea"/>
              </a:rPr>
              <a:t>脚的</a:t>
            </a:r>
            <a:r>
              <a:rPr lang="en-US" altLang="zh-CN" sz="2400" dirty="0">
                <a:sym typeface="+mn-ea"/>
              </a:rPr>
              <a:t>UART1</a:t>
            </a:r>
            <a:r>
              <a:rPr lang="zh-CN" altLang="en-US" sz="2400" dirty="0">
                <a:sym typeface="+mn-ea"/>
              </a:rPr>
              <a:t>，等待接收</a:t>
            </a:r>
            <a:r>
              <a:rPr lang="en-US" altLang="zh-CN" sz="2400" dirty="0">
                <a:sym typeface="+mn-ea"/>
              </a:rPr>
              <a:t>SYNC</a:t>
            </a:r>
            <a:r>
              <a:rPr lang="zh-CN" altLang="en-US" sz="2400" dirty="0">
                <a:sym typeface="+mn-ea"/>
              </a:rPr>
              <a:t>命令，超过</a:t>
            </a:r>
            <a:r>
              <a:rPr lang="en-US" altLang="zh-CN" sz="2400" dirty="0">
                <a:sym typeface="+mn-ea"/>
              </a:rPr>
              <a:t>100ms</a:t>
            </a:r>
            <a:r>
              <a:rPr lang="zh-CN" altLang="en-US" sz="2400" dirty="0">
                <a:sym typeface="+mn-ea"/>
              </a:rPr>
              <a:t>退出等待。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升级用的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UART1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位置一般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A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系列在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HDMI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的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IIC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上，</a:t>
            </a:r>
            <a:r>
              <a:rPr lang="en-US" altLang="zh-CN" sz="2400" noProof="1">
                <a:sym typeface="+mn-ea"/>
              </a:rPr>
              <a:t>B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系列在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SDIO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的</a:t>
            </a:r>
            <a:r>
              <a:rPr lang="en-US" altLang="zh-CN" sz="2400" noProof="1">
                <a:sym typeface="+mn-ea"/>
              </a:rPr>
              <a:t>D0/D1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上。</a:t>
            </a:r>
            <a:endParaRPr kumimoji="0" lang="en-US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步骤：信号线连好，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HCProgram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配置好，给平台通电，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HCProgram</a:t>
            </a:r>
            <a:r>
              <a:rPr lang="zh-CN" altLang="en-US" sz="2400" noProof="1">
                <a:sym typeface="+mn-ea"/>
              </a:rPr>
              <a:t> 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Sync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成功。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ym typeface="+mn-ea"/>
              </a:rPr>
              <a:t>USB</a:t>
            </a:r>
            <a:r>
              <a:rPr lang="zh-CN" altLang="en-US" sz="2400" dirty="0">
                <a:sym typeface="+mn-ea"/>
              </a:rPr>
              <a:t>烧录流程</a:t>
            </a:r>
            <a:endParaRPr lang="en-US" altLang="zh-CN" sz="2400" dirty="0"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400" dirty="0">
                <a:sym typeface="+mn-ea"/>
              </a:rPr>
              <a:t>       USB</a:t>
            </a:r>
            <a:r>
              <a:rPr lang="zh-CN" altLang="en-US" sz="2400" dirty="0">
                <a:sym typeface="+mn-ea"/>
              </a:rPr>
              <a:t>_UPGRADE按键使能，通电启动</a:t>
            </a:r>
            <a:r>
              <a:rPr lang="en-US" altLang="zh-CN" sz="2400" dirty="0">
                <a:sym typeface="+mn-ea"/>
              </a:rPr>
              <a:t>BOOTROM</a:t>
            </a:r>
            <a:r>
              <a:rPr lang="zh-CN" altLang="en-US" sz="2400" dirty="0">
                <a:sym typeface="+mn-ea"/>
              </a:rPr>
              <a:t>自动切换到</a:t>
            </a:r>
            <a:r>
              <a:rPr lang="en-US" altLang="zh-CN" sz="2400" dirty="0">
                <a:sym typeface="+mn-ea"/>
              </a:rPr>
              <a:t>USB device mode</a:t>
            </a:r>
            <a:r>
              <a:rPr lang="zh-CN" altLang="en-US" sz="2400" dirty="0">
                <a:sym typeface="+mn-ea"/>
              </a:rPr>
              <a:t>，等待主机枚举并</a:t>
            </a:r>
            <a:r>
              <a:rPr lang="en-US" altLang="zh-CN" sz="2400" dirty="0">
                <a:sym typeface="+mn-ea"/>
              </a:rPr>
              <a:t>Sync</a:t>
            </a:r>
            <a:r>
              <a:rPr lang="zh-CN" altLang="en-US" sz="2400" dirty="0">
                <a:sym typeface="+mn-ea"/>
              </a:rPr>
              <a:t>。</a:t>
            </a:r>
            <a:endParaRPr lang="en-US" altLang="zh-CN" sz="2400" dirty="0">
              <a:sym typeface="+mn-ea"/>
            </a:endParaRPr>
          </a:p>
          <a:p>
            <a:pPr mar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步骤：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HCProgram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配置好，按住按键，给平台通电，释放按键，再连接信号线，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HCProgram</a:t>
            </a:r>
            <a:r>
              <a:rPr lang="zh-CN" altLang="en-US" sz="2400" noProof="1">
                <a:sym typeface="+mn-ea"/>
              </a:rPr>
              <a:t> 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Sync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成功。</a:t>
            </a:r>
          </a:p>
        </p:txBody>
      </p:sp>
    </p:spTree>
    <p:extLst>
      <p:ext uri="{BB962C8B-B14F-4D97-AF65-F5344CB8AC3E}">
        <p14:creationId xmlns:p14="http://schemas.microsoft.com/office/powerpoint/2010/main" val="923576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0395" y="-5080"/>
            <a:ext cx="7125970" cy="5198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>
              <a:buFont typeface="Wingdings" panose="05000000000000000000" charset="0"/>
            </a:pPr>
            <a:r>
              <a:rPr lang="zh-CN" altLang="en-US" dirty="0">
                <a:latin typeface="Calibri" panose="020F0502020204030204"/>
                <a:ea typeface="宋体" panose="02010600030101010101" pitchFamily="2" charset="-122"/>
                <a:sym typeface="+mn-ea"/>
              </a:rPr>
              <a:t>硬件开发资源</a:t>
            </a:r>
            <a:endParaRPr lang="en-US" altLang="zh-CN" dirty="0">
              <a:latin typeface="Calibri" panose="020F0502020204030204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314" name="内容占位符 2"/>
          <p:cNvSpPr>
            <a:spLocks noGrp="1"/>
          </p:cNvSpPr>
          <p:nvPr>
            <p:ph idx="4294967295"/>
          </p:nvPr>
        </p:nvSpPr>
        <p:spPr>
          <a:xfrm>
            <a:off x="731520" y="904875"/>
            <a:ext cx="10188893" cy="4956429"/>
          </a:xfrm>
        </p:spPr>
        <p:txBody>
          <a:bodyPr vert="horz" wrap="square" lIns="91440" tIns="45720" rIns="91440" bIns="45720" anchor="t" anchorCtr="0"/>
          <a:lstStyle/>
          <a:p>
            <a:pPr marR="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j-lt"/>
                <a:cs typeface="+mj-lt"/>
                <a:sym typeface="+mn-ea"/>
              </a:rPr>
              <a:t>海奇平台的原理图和</a:t>
            </a:r>
            <a:r>
              <a:rPr lang="en-US" altLang="zh-CN" sz="2400" dirty="0">
                <a:latin typeface="+mj-lt"/>
                <a:cs typeface="+mj-lt"/>
                <a:sym typeface="+mn-ea"/>
              </a:rPr>
              <a:t>PCB</a:t>
            </a:r>
          </a:p>
          <a:p>
            <a:pPr marL="0" marR="0" indent="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None/>
            </a:pPr>
            <a:r>
              <a:rPr lang="en-US" altLang="zh-CN" sz="2400" dirty="0">
                <a:latin typeface="+mj-lt"/>
                <a:cs typeface="+mj-lt"/>
                <a:sym typeface="+mn-ea"/>
                <a:hlinkClick r:id="rId2"/>
              </a:rPr>
              <a:t>https://172.16.100.74/svn/SVN/HW/SOC</a:t>
            </a:r>
            <a:endParaRPr lang="en-US" altLang="zh-CN" sz="2400" dirty="0">
              <a:latin typeface="+mj-lt"/>
              <a:cs typeface="+mj-lt"/>
              <a:sym typeface="+mn-ea"/>
            </a:endParaRPr>
          </a:p>
          <a:p>
            <a:pPr defTabSz="1082675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+mj-lt"/>
                <a:cs typeface="+mj-lt"/>
                <a:sym typeface="+mn-ea"/>
              </a:rPr>
              <a:t>FPGA</a:t>
            </a:r>
            <a:r>
              <a:rPr lang="zh-CN" altLang="en-US" sz="2400" dirty="0">
                <a:latin typeface="+mj-lt"/>
                <a:cs typeface="+mj-lt"/>
                <a:sym typeface="+mn-ea"/>
              </a:rPr>
              <a:t>开发用的主板和子板资料</a:t>
            </a:r>
            <a:endParaRPr lang="en-US" altLang="zh-CN" sz="2400" dirty="0">
              <a:latin typeface="+mj-lt"/>
              <a:cs typeface="+mj-lt"/>
              <a:sym typeface="+mn-ea"/>
            </a:endParaRPr>
          </a:p>
          <a:p>
            <a:pPr marL="0" marR="0" indent="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None/>
            </a:pPr>
            <a:r>
              <a:rPr lang="en-US" altLang="zh-CN" sz="2400" dirty="0">
                <a:hlinkClick r:id="rId3"/>
              </a:rPr>
              <a:t>https://172.16.100.74/svn/SVN/HW/FPGA</a:t>
            </a:r>
            <a:endParaRPr lang="en-US" altLang="zh-CN" sz="2400" dirty="0"/>
          </a:p>
          <a:p>
            <a:pPr defTabSz="1082675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j-lt"/>
                <a:cs typeface="+mj-lt"/>
                <a:sym typeface="+mn-ea"/>
              </a:rPr>
              <a:t>客户支持用的平台原理图和</a:t>
            </a:r>
            <a:r>
              <a:rPr lang="en-US" altLang="zh-CN" sz="2400" dirty="0">
                <a:latin typeface="+mj-lt"/>
                <a:cs typeface="+mj-lt"/>
                <a:sym typeface="+mn-ea"/>
              </a:rPr>
              <a:t>PCB</a:t>
            </a:r>
            <a:endParaRPr lang="en-US" altLang="zh-CN" sz="2400" dirty="0"/>
          </a:p>
          <a:p>
            <a:pPr marL="0" marR="0" indent="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None/>
            </a:pPr>
            <a:r>
              <a:rPr lang="en-US" altLang="zh-CN" sz="2400" dirty="0">
                <a:hlinkClick r:id="rId4"/>
              </a:rPr>
              <a:t>https://172.16.100.74/svn/SVN/Customers</a:t>
            </a:r>
            <a:endParaRPr lang="en-US" altLang="zh-CN" sz="2400" dirty="0"/>
          </a:p>
          <a:p>
            <a:pPr marR="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j-lt"/>
                <a:cs typeface="+mj-lt"/>
                <a:sym typeface="+mn-ea"/>
              </a:rPr>
              <a:t>驱动开发用的外围器件规格书和参考驱动</a:t>
            </a:r>
            <a:endParaRPr lang="en-US" altLang="zh-CN" sz="2400" dirty="0">
              <a:latin typeface="+mj-lt"/>
              <a:cs typeface="+mj-lt"/>
              <a:sym typeface="+mn-ea"/>
            </a:endParaRPr>
          </a:p>
          <a:p>
            <a:pPr marL="0" marR="0" indent="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None/>
            </a:pPr>
            <a:r>
              <a:rPr lang="en-US" altLang="zh-CN" sz="2400" dirty="0">
                <a:latin typeface="+mj-lt"/>
                <a:cs typeface="+mj-lt"/>
                <a:sym typeface="+mn-ea"/>
                <a:hlinkClick r:id="rId5"/>
              </a:rPr>
              <a:t>https://172.16.100.74/svn/SVN/Datasheet</a:t>
            </a:r>
            <a:endParaRPr lang="en-US" altLang="zh-CN" sz="2400" dirty="0">
              <a:latin typeface="+mj-lt"/>
              <a:cs typeface="+mj-lt"/>
              <a:sym typeface="+mn-ea"/>
            </a:endParaRPr>
          </a:p>
          <a:p>
            <a:pPr defTabSz="1082675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j-lt"/>
                <a:cs typeface="+mj-lt"/>
                <a:sym typeface="+mn-ea"/>
              </a:rPr>
              <a:t>资产管理</a:t>
            </a:r>
            <a:r>
              <a:rPr lang="en-US" altLang="zh-CN" sz="2400" dirty="0">
                <a:latin typeface="+mj-lt"/>
                <a:cs typeface="+mj-lt"/>
                <a:sym typeface="+mn-ea"/>
              </a:rPr>
              <a:t>-</a:t>
            </a:r>
            <a:r>
              <a:rPr lang="zh-CN" altLang="en-US" sz="2400" dirty="0">
                <a:latin typeface="+mj-lt"/>
                <a:cs typeface="+mj-lt"/>
                <a:sym typeface="+mn-ea"/>
              </a:rPr>
              <a:t>实验室</a:t>
            </a:r>
            <a:endParaRPr lang="en-US" altLang="zh-CN" sz="2400" dirty="0">
              <a:latin typeface="+mj-lt"/>
              <a:cs typeface="+mj-lt"/>
              <a:sym typeface="+mn-ea"/>
            </a:endParaRPr>
          </a:p>
          <a:p>
            <a:pPr marL="0" indent="0" defTabSz="1082675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None/>
            </a:pPr>
            <a:r>
              <a:rPr lang="zh-CN" altLang="en-US" sz="2400" dirty="0">
                <a:latin typeface="+mj-lt"/>
                <a:cs typeface="+mj-lt"/>
                <a:sym typeface="+mn-ea"/>
              </a:rPr>
              <a:t>仿真器</a:t>
            </a:r>
            <a:r>
              <a:rPr lang="en-US" altLang="zh-CN" sz="2400" dirty="0">
                <a:latin typeface="+mj-lt"/>
                <a:cs typeface="+mj-lt"/>
                <a:sym typeface="+mn-ea"/>
              </a:rPr>
              <a:t>ICE</a:t>
            </a:r>
            <a:r>
              <a:rPr lang="zh-CN" altLang="en-US" sz="2400" dirty="0">
                <a:latin typeface="+mj-lt"/>
                <a:cs typeface="+mj-lt"/>
                <a:sym typeface="+mn-ea"/>
              </a:rPr>
              <a:t>、</a:t>
            </a:r>
            <a:r>
              <a:rPr lang="en-US" altLang="zh-CN" sz="2400" dirty="0">
                <a:latin typeface="+mj-lt"/>
                <a:cs typeface="+mj-lt"/>
                <a:sym typeface="+mn-ea"/>
              </a:rPr>
              <a:t>USB</a:t>
            </a:r>
            <a:r>
              <a:rPr lang="zh-CN" altLang="en-US" sz="2400" dirty="0">
                <a:latin typeface="+mj-lt"/>
                <a:cs typeface="+mj-lt"/>
                <a:sym typeface="+mn-ea"/>
              </a:rPr>
              <a:t>串口打印工具、开发板、适配器、线材、电视、仪器等</a:t>
            </a:r>
            <a:endParaRPr lang="en-US" altLang="zh-CN" sz="2400" dirty="0">
              <a:latin typeface="+mj-lt"/>
              <a:cs typeface="+mj-lt"/>
              <a:sym typeface="+mn-ea"/>
            </a:endParaRPr>
          </a:p>
          <a:p>
            <a:pPr defTabSz="1082675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j-lt"/>
                <a:cs typeface="+mj-lt"/>
                <a:sym typeface="+mn-ea"/>
              </a:rPr>
              <a:t>资产管理</a:t>
            </a:r>
            <a:r>
              <a:rPr lang="en-US" altLang="zh-CN" sz="2400" dirty="0">
                <a:latin typeface="+mj-lt"/>
                <a:cs typeface="+mj-lt"/>
                <a:sym typeface="+mn-ea"/>
              </a:rPr>
              <a:t>-</a:t>
            </a:r>
            <a:r>
              <a:rPr lang="zh-CN" altLang="en-US" sz="2400" dirty="0">
                <a:latin typeface="+mj-lt"/>
                <a:cs typeface="+mj-lt"/>
                <a:sym typeface="+mn-ea"/>
              </a:rPr>
              <a:t>仓库</a:t>
            </a:r>
            <a:endParaRPr lang="en-US" altLang="zh-CN" sz="2400" dirty="0">
              <a:latin typeface="+mj-lt"/>
              <a:cs typeface="+mj-lt"/>
              <a:sym typeface="+mn-ea"/>
            </a:endParaRPr>
          </a:p>
          <a:p>
            <a:pPr marL="0" indent="0" defTabSz="1082675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None/>
            </a:pPr>
            <a:r>
              <a:rPr lang="zh-CN" altLang="en-US" sz="2400" dirty="0">
                <a:latin typeface="+mj-lt"/>
                <a:cs typeface="+mj-lt"/>
                <a:sym typeface="+mn-ea"/>
              </a:rPr>
              <a:t>海奇芯片、芯片测试架、量产烧录器等</a:t>
            </a:r>
            <a:endParaRPr lang="en-US" altLang="zh-CN" sz="2400" dirty="0">
              <a:latin typeface="+mj-lt"/>
              <a:cs typeface="+mj-lt"/>
              <a:sym typeface="+mn-ea"/>
            </a:endParaRPr>
          </a:p>
          <a:p>
            <a:pPr marL="0" marR="0" indent="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None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377"/>
            <a:ext cx="12192000" cy="6818924"/>
          </a:xfrm>
          <a:prstGeom prst="rect">
            <a:avLst/>
          </a:prstGeom>
          <a:solidFill>
            <a:schemeClr val="tx1">
              <a:lumMod val="85000"/>
              <a:lumOff val="1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4022877" y="5111957"/>
            <a:ext cx="3467616" cy="0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4026083" y="4486591"/>
            <a:ext cx="3464410" cy="57964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dist">
              <a:lnSpc>
                <a:spcPts val="3800"/>
              </a:lnSpc>
            </a:pPr>
            <a:r>
              <a:rPr lang="zh-CN" altLang="en-US" sz="3200" b="1" spc="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珠海海奇半导体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3106" y="1343"/>
            <a:ext cx="698894" cy="734869"/>
          </a:xfrm>
          <a:prstGeom prst="rect">
            <a:avLst/>
          </a:prstGeom>
          <a:effectLst>
            <a:outerShdw blurRad="152400" dist="317500" dir="5400000" sx="90000" sy="-19000" rotWithShape="0">
              <a:schemeClr val="bg1">
                <a:lumMod val="95000"/>
                <a:alpha val="15000"/>
              </a:schemeClr>
            </a:outerShdw>
          </a:effectLst>
        </p:spPr>
      </p:pic>
      <p:pic>
        <p:nvPicPr>
          <p:cNvPr id="8" name="Picture 2" descr="F:\公众号\公众号QRcod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0214" y="5240664"/>
            <a:ext cx="675700" cy="67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28"/>
          <p:cNvSpPr txBox="1"/>
          <p:nvPr/>
        </p:nvSpPr>
        <p:spPr>
          <a:xfrm>
            <a:off x="3400990" y="1199584"/>
            <a:ext cx="4711389" cy="194140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46912" tIns="46912" rIns="46912" bIns="46912" numCol="1" spcCol="38100" rtlCol="0" anchor="t" forceAA="0">
            <a:spAutoFit/>
          </a:bodyPr>
          <a:lstStyle/>
          <a:p>
            <a:pPr defTabSz="938530" hangingPunct="0"/>
            <a:r>
              <a:rPr lang="zh-CN" alt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Calibri" panose="020F0502020204030204"/>
              </a:rPr>
              <a:t>培训到此结束</a:t>
            </a:r>
            <a:endParaRPr lang="en-US" altLang="zh-CN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sym typeface="Calibri" panose="020F0502020204030204"/>
            </a:endParaRPr>
          </a:p>
          <a:p>
            <a:pPr defTabSz="938530" hangingPunct="0"/>
            <a:r>
              <a:rPr lang="zh-CN" alt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Calibri" panose="020F0502020204030204"/>
              </a:rPr>
              <a:t>感谢您的观看</a:t>
            </a:r>
            <a:endParaRPr lang="zh-CN" altLang="en-US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827</Words>
  <PresentationFormat>宽屏</PresentationFormat>
  <Paragraphs>151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等线</vt:lpstr>
      <vt:lpstr>等线 Light</vt:lpstr>
      <vt:lpstr>微软雅黑</vt:lpstr>
      <vt:lpstr>Arial</vt:lpstr>
      <vt:lpstr>Calibri</vt:lpstr>
      <vt:lpstr>Wingdings</vt:lpstr>
      <vt:lpstr>Office 主题​​</vt:lpstr>
      <vt:lpstr>2_自定义设计方案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2021-04-01T06:50:00Z</dcterms:created>
  <dcterms:modified xsi:type="dcterms:W3CDTF">2023-07-11T04:35:58Z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3C5DC3148F8549328B0E6A6642EA1A89</vt:lpwstr>
  </property>
  <property fmtid="{D5CDD505-2E9C-101B-9397-08002B2CF9AE}" pid="3" name="KSOProductBuildVer">
    <vt:lpwstr>2052-11.1.0.11115</vt:lpwstr>
  </property>
</Properties>
</file>