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1" r:id="rId5"/>
    <p:sldId id="412" r:id="rId6"/>
    <p:sldId id="418" r:id="rId7"/>
    <p:sldId id="413" r:id="rId8"/>
    <p:sldId id="414" r:id="rId9"/>
    <p:sldId id="415" r:id="rId10"/>
    <p:sldId id="416" r:id="rId11"/>
    <p:sldId id="41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DEMO板调试环境说明</a:t>
            </a:r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一、</a:t>
            </a:r>
            <a:r>
              <a:rPr lang="en-US" altLang="zh-CN"/>
              <a:t>DEMO</a:t>
            </a:r>
            <a:r>
              <a:rPr lang="zh-CN" altLang="en-US"/>
              <a:t>板常用硬件接口介绍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1102340" cy="5187950"/>
          </a:xfrm>
        </p:spPr>
        <p:txBody>
          <a:bodyPr>
            <a:normAutofit fontScale="90000" lnSpcReduction="20000"/>
          </a:bodyPr>
          <a:p>
            <a:pPr indent="0">
              <a:spcAft>
                <a:spcPts val="800"/>
              </a:spcAft>
            </a:pPr>
            <a:r>
              <a:rPr lang="en-US" altLang="zh-CN" sz="1200"/>
              <a:t>1</a:t>
            </a:r>
            <a:r>
              <a:rPr lang="zh-CN" altLang="en-US" sz="1200"/>
              <a:t>、电源接口：DEMO板电源输入</a:t>
            </a:r>
            <a:r>
              <a:rPr lang="zh-CN" altLang="en-US" sz="1200">
                <a:solidFill>
                  <a:srgbClr val="FF0000"/>
                </a:solidFill>
              </a:rPr>
              <a:t>（注：</a:t>
            </a:r>
            <a:r>
              <a:rPr lang="en-US" altLang="zh-CN" sz="1200">
                <a:solidFill>
                  <a:srgbClr val="FF0000"/>
                </a:solidFill>
              </a:rPr>
              <a:t>DEMO</a:t>
            </a:r>
            <a:r>
              <a:rPr lang="zh-CN" altLang="en-US" sz="1200">
                <a:solidFill>
                  <a:srgbClr val="FF0000"/>
                </a:solidFill>
              </a:rPr>
              <a:t>板电源有两种规格：一是</a:t>
            </a:r>
            <a:r>
              <a:rPr lang="en-US" altLang="zh-CN" sz="1200">
                <a:solidFill>
                  <a:srgbClr val="FF0000"/>
                </a:solidFill>
              </a:rPr>
              <a:t>5V</a:t>
            </a:r>
            <a:r>
              <a:rPr lang="zh-CN" altLang="en-US" sz="1200">
                <a:solidFill>
                  <a:srgbClr val="FF0000"/>
                </a:solidFill>
              </a:rPr>
              <a:t>输入；二是</a:t>
            </a:r>
            <a:r>
              <a:rPr lang="en-US" altLang="zh-CN" sz="1200">
                <a:solidFill>
                  <a:srgbClr val="FF0000"/>
                </a:solidFill>
              </a:rPr>
              <a:t>12V</a:t>
            </a:r>
            <a:r>
              <a:rPr lang="zh-CN" altLang="en-US" sz="1200">
                <a:solidFill>
                  <a:srgbClr val="FF0000"/>
                </a:solidFill>
              </a:rPr>
              <a:t>输入，区分细节具体看接口细节）</a:t>
            </a:r>
            <a:endParaRPr lang="zh-CN" altLang="en-US" sz="1200">
              <a:solidFill>
                <a:srgbClr val="FF0000"/>
              </a:solidFill>
            </a:endParaRPr>
          </a:p>
          <a:p>
            <a:pPr indent="0">
              <a:spcAft>
                <a:spcPts val="800"/>
              </a:spcAft>
            </a:pPr>
            <a:r>
              <a:rPr lang="en-US" altLang="zh-CN" sz="1200"/>
              <a:t>2、电源开关：电源输入开关</a:t>
            </a:r>
            <a:r>
              <a:rPr lang="zh-CN" altLang="en-US" sz="1200"/>
              <a:t>（拨动开关，开启电源或关闭电源）</a:t>
            </a:r>
            <a:endParaRPr lang="en-US" altLang="zh-CN" sz="1200"/>
          </a:p>
          <a:p>
            <a:pPr indent="0">
              <a:spcAft>
                <a:spcPts val="800"/>
              </a:spcAft>
            </a:pPr>
            <a:r>
              <a:rPr lang="en-US" altLang="zh-CN" sz="1200"/>
              <a:t>3、EJTAG仿真接口：仿真调试接口</a:t>
            </a:r>
            <a:r>
              <a:rPr lang="zh-CN" altLang="en-US" sz="1200"/>
              <a:t>（接</a:t>
            </a:r>
            <a:r>
              <a:rPr lang="en-US" altLang="zh-CN" sz="1200"/>
              <a:t>EJTAG</a:t>
            </a:r>
            <a:r>
              <a:rPr lang="zh-CN" altLang="en-US" sz="1200"/>
              <a:t>仿真器）</a:t>
            </a:r>
            <a:endParaRPr lang="en-US" altLang="zh-CN" sz="1200"/>
          </a:p>
          <a:p>
            <a:pPr indent="0">
              <a:spcAft>
                <a:spcPts val="800"/>
              </a:spcAft>
            </a:pPr>
            <a:r>
              <a:rPr lang="en-US" altLang="zh-CN" sz="1200"/>
              <a:t>4、复位按键：</a:t>
            </a:r>
            <a:r>
              <a:rPr lang="zh-CN" altLang="en-US" sz="1200"/>
              <a:t>芯片重启复位</a:t>
            </a:r>
            <a:r>
              <a:rPr lang="zh-CN" altLang="en-US" sz="1200">
                <a:solidFill>
                  <a:srgbClr val="FF0000"/>
                </a:solidFill>
              </a:rPr>
              <a:t>（注：该按键有两种模式；一是普通</a:t>
            </a:r>
            <a:r>
              <a:rPr lang="en-US" altLang="zh-CN" sz="1200">
                <a:solidFill>
                  <a:srgbClr val="FF0000"/>
                </a:solidFill>
              </a:rPr>
              <a:t>GPIO</a:t>
            </a:r>
            <a:r>
              <a:rPr lang="zh-CN" altLang="en-US" sz="1200">
                <a:solidFill>
                  <a:srgbClr val="FF0000"/>
                </a:solidFill>
              </a:rPr>
              <a:t>模式，无复位功能；二是复位模式，此模式下才有复位功能；根据需求反馈硬件部门进行更改）</a:t>
            </a:r>
            <a:endParaRPr lang="en-US" altLang="zh-CN" sz="1200">
              <a:solidFill>
                <a:srgbClr val="FF0000"/>
              </a:solidFill>
            </a:endParaRPr>
          </a:p>
          <a:p>
            <a:pPr indent="0">
              <a:spcAft>
                <a:spcPts val="800"/>
              </a:spcAft>
            </a:pPr>
            <a:r>
              <a:rPr lang="en-US" altLang="zh-CN" sz="1200"/>
              <a:t>5、HDMI接口：</a:t>
            </a:r>
            <a:r>
              <a:rPr lang="zh-CN" altLang="en-US" sz="1200"/>
              <a:t>高清数字视频信号接口（接电视）</a:t>
            </a:r>
            <a:endParaRPr lang="en-US" altLang="zh-CN" sz="1200"/>
          </a:p>
          <a:p>
            <a:pPr indent="0">
              <a:spcAft>
                <a:spcPts val="800"/>
              </a:spcAft>
            </a:pPr>
            <a:r>
              <a:rPr lang="en-US" altLang="zh-CN" sz="1200"/>
              <a:t>6</a:t>
            </a:r>
            <a:r>
              <a:rPr lang="zh-CN" altLang="en-US" sz="1200"/>
              <a:t>、</a:t>
            </a:r>
            <a:r>
              <a:rPr lang="en-US" altLang="zh-CN" sz="1200"/>
              <a:t>RCA</a:t>
            </a:r>
            <a:r>
              <a:rPr lang="zh-CN" altLang="en-US" sz="1200"/>
              <a:t>接口：模拟音视频信号接口（接电视）</a:t>
            </a:r>
            <a:endParaRPr lang="en-US" altLang="zh-CN" sz="1200"/>
          </a:p>
          <a:p>
            <a:pPr indent="0">
              <a:spcAft>
                <a:spcPts val="800"/>
              </a:spcAft>
            </a:pPr>
            <a:r>
              <a:rPr lang="en-US" altLang="zh-CN" sz="1200"/>
              <a:t>7、USB 接口：</a:t>
            </a:r>
            <a:r>
              <a:rPr lang="zh-CN" altLang="en-US" sz="1200"/>
              <a:t>通用串行总线（通讯接口）</a:t>
            </a:r>
            <a:endParaRPr lang="en-US" altLang="zh-CN" sz="1200"/>
          </a:p>
          <a:p>
            <a:pPr indent="0">
              <a:spcAft>
                <a:spcPts val="800"/>
              </a:spcAft>
            </a:pPr>
            <a:r>
              <a:rPr lang="en-US" altLang="zh-CN" sz="1200"/>
              <a:t>8、UART</a:t>
            </a:r>
            <a:r>
              <a:rPr lang="zh-CN" altLang="en-US" sz="1200"/>
              <a:t>排针接口</a:t>
            </a:r>
            <a:r>
              <a:rPr lang="en-US" altLang="zh-CN" sz="1200"/>
              <a:t>：通用异步收发传输器</a:t>
            </a:r>
            <a:r>
              <a:rPr lang="zh-CN" altLang="en-US" sz="1200">
                <a:solidFill>
                  <a:srgbClr val="FF0000"/>
                </a:solidFill>
              </a:rPr>
              <a:t>（通讯接口，三根信号线：</a:t>
            </a:r>
            <a:r>
              <a:rPr lang="en-US" altLang="zh-CN" sz="1200">
                <a:solidFill>
                  <a:srgbClr val="FF0000"/>
                </a:solidFill>
              </a:rPr>
              <a:t>RX</a:t>
            </a:r>
            <a:r>
              <a:rPr lang="zh-CN" altLang="en-US" sz="1200">
                <a:solidFill>
                  <a:srgbClr val="FF0000"/>
                </a:solidFill>
              </a:rPr>
              <a:t>、</a:t>
            </a:r>
            <a:r>
              <a:rPr lang="en-US" altLang="zh-CN" sz="1200">
                <a:solidFill>
                  <a:srgbClr val="FF0000"/>
                </a:solidFill>
              </a:rPr>
              <a:t>TX</a:t>
            </a:r>
            <a:r>
              <a:rPr lang="zh-CN" altLang="en-US" sz="1200">
                <a:solidFill>
                  <a:srgbClr val="FF0000"/>
                </a:solidFill>
              </a:rPr>
              <a:t>、</a:t>
            </a:r>
            <a:r>
              <a:rPr lang="en-US" altLang="zh-CN" sz="1200">
                <a:solidFill>
                  <a:srgbClr val="FF0000"/>
                </a:solidFill>
              </a:rPr>
              <a:t>GND</a:t>
            </a:r>
            <a:r>
              <a:rPr lang="zh-CN" altLang="en-US" sz="1200">
                <a:solidFill>
                  <a:srgbClr val="FF0000"/>
                </a:solidFill>
              </a:rPr>
              <a:t>；设备连接时注意交叉相连，</a:t>
            </a:r>
            <a:r>
              <a:rPr lang="en-US" altLang="zh-CN" sz="1200">
                <a:solidFill>
                  <a:srgbClr val="FF0000"/>
                </a:solidFill>
              </a:rPr>
              <a:t>“TX”</a:t>
            </a:r>
            <a:r>
              <a:rPr lang="zh-CN" altLang="en-US" sz="1200">
                <a:solidFill>
                  <a:srgbClr val="FF0000"/>
                </a:solidFill>
              </a:rPr>
              <a:t>对</a:t>
            </a:r>
            <a:r>
              <a:rPr lang="en-US" altLang="zh-CN" sz="1200">
                <a:solidFill>
                  <a:srgbClr val="FF0000"/>
                </a:solidFill>
              </a:rPr>
              <a:t>“RX”,“RX”</a:t>
            </a:r>
            <a:r>
              <a:rPr lang="zh-CN" altLang="en-US" sz="1200">
                <a:solidFill>
                  <a:srgbClr val="FF0000"/>
                </a:solidFill>
              </a:rPr>
              <a:t>对</a:t>
            </a:r>
            <a:r>
              <a:rPr lang="en-US" altLang="zh-CN" sz="1200">
                <a:solidFill>
                  <a:srgbClr val="FF0000"/>
                </a:solidFill>
              </a:rPr>
              <a:t>“TX”</a:t>
            </a:r>
            <a:r>
              <a:rPr lang="zh-CN" altLang="en-US" sz="1200">
                <a:solidFill>
                  <a:srgbClr val="FF0000"/>
                </a:solidFill>
              </a:rPr>
              <a:t>）</a:t>
            </a:r>
            <a:endParaRPr lang="en-US" altLang="zh-CN" sz="1200"/>
          </a:p>
          <a:p>
            <a:pPr indent="0">
              <a:spcAft>
                <a:spcPts val="800"/>
              </a:spcAft>
            </a:pPr>
            <a:r>
              <a:rPr lang="en-US" altLang="zh-CN" sz="1200"/>
              <a:t>9、IR红外</a:t>
            </a:r>
            <a:r>
              <a:rPr lang="zh-CN" altLang="en-US" sz="1200"/>
              <a:t>接收</a:t>
            </a:r>
            <a:r>
              <a:rPr lang="en-US" altLang="zh-CN" sz="1200"/>
              <a:t>头：</a:t>
            </a:r>
            <a:r>
              <a:rPr lang="zh-CN" altLang="en-US" sz="1200"/>
              <a:t>接收遥控器编码信号（实现遥控功能）</a:t>
            </a:r>
            <a:endParaRPr lang="en-US" altLang="zh-CN" sz="1200"/>
          </a:p>
          <a:p>
            <a:pPr indent="0">
              <a:spcAft>
                <a:spcPts val="800"/>
              </a:spcAft>
            </a:pPr>
            <a:r>
              <a:rPr lang="en-US" altLang="zh-CN" sz="1200"/>
              <a:t>10</a:t>
            </a:r>
            <a:r>
              <a:rPr lang="zh-CN" altLang="en-US" sz="1200"/>
              <a:t>、</a:t>
            </a:r>
            <a:r>
              <a:rPr lang="en-US" altLang="zh-CN" sz="1200"/>
              <a:t>FFC</a:t>
            </a:r>
            <a:r>
              <a:rPr lang="zh-CN" altLang="en-US" sz="1200"/>
              <a:t>座子：显示屏软排线连接端子（接显示屏）</a:t>
            </a:r>
            <a:endParaRPr lang="zh-CN" altLang="en-US" sz="1200"/>
          </a:p>
          <a:p>
            <a:pPr indent="0">
              <a:spcAft>
                <a:spcPts val="800"/>
              </a:spcAft>
            </a:pPr>
            <a:r>
              <a:rPr lang="en-US" altLang="zh-CN" sz="1200"/>
              <a:t>11</a:t>
            </a:r>
            <a:r>
              <a:rPr lang="zh-CN" altLang="en-US" sz="1200"/>
              <a:t>、耳机插座：音频信号连接端子（接耳机、音箱）</a:t>
            </a:r>
            <a:endParaRPr lang="zh-CN" altLang="en-US" sz="1200"/>
          </a:p>
          <a:p>
            <a:pPr indent="0">
              <a:spcAft>
                <a:spcPts val="800"/>
              </a:spcAft>
            </a:pPr>
            <a:r>
              <a:rPr lang="en-US" altLang="zh-CN" sz="1200"/>
              <a:t>12</a:t>
            </a:r>
            <a:r>
              <a:rPr lang="zh-CN" altLang="en-US" sz="1200"/>
              <a:t>、</a:t>
            </a:r>
            <a:r>
              <a:rPr lang="en-US" altLang="zh-CN" sz="1200"/>
              <a:t>TF</a:t>
            </a:r>
            <a:r>
              <a:rPr lang="zh-CN" altLang="en-US" sz="1200"/>
              <a:t>卡槽：</a:t>
            </a:r>
            <a:r>
              <a:rPr lang="en-US" altLang="zh-CN" sz="1200"/>
              <a:t>TF</a:t>
            </a:r>
            <a:r>
              <a:rPr lang="zh-CN" altLang="en-US" sz="1200"/>
              <a:t>卡连接端子（接</a:t>
            </a:r>
            <a:r>
              <a:rPr lang="en-US" altLang="zh-CN" sz="1200"/>
              <a:t>TF</a:t>
            </a:r>
            <a:r>
              <a:rPr lang="zh-CN" altLang="en-US" sz="1200"/>
              <a:t>卡）</a:t>
            </a:r>
            <a:endParaRPr lang="zh-CN" altLang="en-US" sz="1200"/>
          </a:p>
          <a:p>
            <a:pPr indent="0">
              <a:spcAft>
                <a:spcPts val="800"/>
              </a:spcAft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13、DEBUG_EN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排针接口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：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仿真调试使能接口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  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）、盖上跳线帽使能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EJTAG,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同时对应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1512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系列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DEMO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的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“T8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T9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T10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T11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T12”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这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5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个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IO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口无法使用；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H1600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系列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DEMO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的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 “L1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L2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L3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、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zh-CN" altLang="en-US" sz="120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    L4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 L5”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无法使用；反之同理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  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（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）、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H1512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系列带显示屏的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DEMO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板，使用显示屏功能会占用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“T8~T12”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这个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5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个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IO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，盖上跳线帽会影响显示效果；调试过程根据需求自行调整跳线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zh-CN" altLang="en-US" sz="120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   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帽状态</a:t>
            </a:r>
            <a:endParaRPr lang="en-US" altLang="zh-CN" sz="1200"/>
          </a:p>
          <a:p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2550" y="6028125"/>
            <a:ext cx="10969200" cy="705600"/>
          </a:xfrm>
        </p:spPr>
        <p:txBody>
          <a:bodyPr/>
          <a:p>
            <a:pPr algn="ctr"/>
            <a:r>
              <a:rPr lang="en-US" altLang="zh-CN"/>
              <a:t>DEMO</a:t>
            </a:r>
            <a:r>
              <a:rPr lang="zh-CN" altLang="en-US"/>
              <a:t>板硬件接口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455" y="141605"/>
            <a:ext cx="7785735" cy="5640705"/>
          </a:xfrm>
          <a:prstGeom prst="rect">
            <a:avLst/>
          </a:prstGeom>
          <a:effectLst>
            <a:glow rad="101600">
              <a:schemeClr val="bg2">
                <a:lumMod val="95000"/>
                <a:alpha val="40000"/>
              </a:schemeClr>
            </a:glow>
          </a:effectLst>
        </p:spPr>
      </p:pic>
      <p:sp>
        <p:nvSpPr>
          <p:cNvPr id="8" name="文本框 7"/>
          <p:cNvSpPr txBox="1"/>
          <p:nvPr/>
        </p:nvSpPr>
        <p:spPr>
          <a:xfrm>
            <a:off x="5478780" y="5449570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solidFill>
                  <a:srgbClr val="FF0000"/>
                </a:solidFill>
              </a:rPr>
              <a:t>IR</a:t>
            </a:r>
            <a:r>
              <a:rPr lang="zh-CN" altLang="en-US" sz="1000">
                <a:solidFill>
                  <a:srgbClr val="FF0000"/>
                </a:solidFill>
              </a:rPr>
              <a:t>红外接收头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66230" y="5392420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solidFill>
                  <a:srgbClr val="FF0000"/>
                </a:solidFill>
              </a:rPr>
              <a:t>UART</a:t>
            </a:r>
            <a:r>
              <a:rPr lang="zh-CN" altLang="en-US" sz="1000">
                <a:solidFill>
                  <a:srgbClr val="FF0000"/>
                </a:solidFill>
              </a:rPr>
              <a:t>接口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48880" y="5147310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solidFill>
                  <a:srgbClr val="FF0000"/>
                </a:solidFill>
              </a:rPr>
              <a:t>EJTAG</a:t>
            </a:r>
            <a:r>
              <a:rPr lang="zh-CN" altLang="en-US" sz="1000">
                <a:solidFill>
                  <a:srgbClr val="FF0000"/>
                </a:solidFill>
              </a:rPr>
              <a:t>接口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005570" y="2839085"/>
            <a:ext cx="7029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solidFill>
                  <a:srgbClr val="FF0000"/>
                </a:solidFill>
              </a:rPr>
              <a:t>FFC</a:t>
            </a:r>
            <a:r>
              <a:rPr lang="zh-CN" altLang="en-US" sz="1000">
                <a:solidFill>
                  <a:srgbClr val="FF0000"/>
                </a:solidFill>
              </a:rPr>
              <a:t>座子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82050" y="728345"/>
            <a:ext cx="7029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solidFill>
                  <a:srgbClr val="FF0000"/>
                </a:solidFill>
              </a:rPr>
              <a:t>USB</a:t>
            </a:r>
            <a:r>
              <a:rPr lang="zh-CN" altLang="en-US" sz="1000">
                <a:solidFill>
                  <a:srgbClr val="FF0000"/>
                </a:solidFill>
              </a:rPr>
              <a:t>接口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61735" y="781050"/>
            <a:ext cx="7029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solidFill>
                  <a:srgbClr val="FF0000"/>
                </a:solidFill>
              </a:rPr>
              <a:t>TF</a:t>
            </a:r>
            <a:r>
              <a:rPr lang="zh-CN" altLang="en-US" sz="1000">
                <a:solidFill>
                  <a:srgbClr val="FF0000"/>
                </a:solidFill>
              </a:rPr>
              <a:t>卡槽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61940" y="285750"/>
            <a:ext cx="8089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solidFill>
                  <a:srgbClr val="FF0000"/>
                </a:solidFill>
              </a:rPr>
              <a:t>RAC</a:t>
            </a:r>
            <a:r>
              <a:rPr lang="zh-CN" altLang="en-US" sz="1000">
                <a:solidFill>
                  <a:srgbClr val="FF0000"/>
                </a:solidFill>
              </a:rPr>
              <a:t>接口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98495" y="795655"/>
            <a:ext cx="7029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rgbClr val="FF0000"/>
                </a:solidFill>
              </a:rPr>
              <a:t>耳机插座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57095" y="3505200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rgbClr val="FF0000"/>
                </a:solidFill>
              </a:rPr>
              <a:t>电源输入接口</a:t>
            </a:r>
            <a:endParaRPr lang="zh-CN" altLang="en-US" sz="1000">
              <a:solidFill>
                <a:srgbClr val="FF0000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3550285" y="998220"/>
            <a:ext cx="213995" cy="31178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5478780" y="496570"/>
            <a:ext cx="203200" cy="28448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6559550" y="1054735"/>
            <a:ext cx="106680" cy="32321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>
            <a:off x="8718550" y="997585"/>
            <a:ext cx="347980" cy="25654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8928100" y="1026160"/>
            <a:ext cx="195580" cy="86296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8928100" y="3084195"/>
            <a:ext cx="347980" cy="25654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0" idx="0"/>
          </p:cNvCxnSpPr>
          <p:nvPr/>
        </p:nvCxnSpPr>
        <p:spPr>
          <a:xfrm flipH="1" flipV="1">
            <a:off x="7704455" y="4480560"/>
            <a:ext cx="363855" cy="66675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 flipV="1">
            <a:off x="6832600" y="4871720"/>
            <a:ext cx="132080" cy="5207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6092825" y="4906010"/>
            <a:ext cx="100330" cy="54356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2459355" y="3750310"/>
            <a:ext cx="337820" cy="50101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75" y="6152585"/>
            <a:ext cx="10969200" cy="705600"/>
          </a:xfrm>
        </p:spPr>
        <p:txBody>
          <a:bodyPr/>
          <a:p>
            <a:pPr algn="ctr"/>
            <a:r>
              <a:rPr lang="en-US" altLang="zh-CN"/>
              <a:t>DEMO</a:t>
            </a:r>
            <a:r>
              <a:rPr lang="zh-CN" altLang="en-US"/>
              <a:t>板硬件接口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121525" y="5464810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rgbClr val="FF0000"/>
                </a:solidFill>
              </a:rPr>
              <a:t>HDMI</a:t>
            </a:r>
            <a:r>
              <a:rPr lang="zh-CN" altLang="en-US" sz="1000">
                <a:solidFill>
                  <a:srgbClr val="FF0000"/>
                </a:solidFill>
              </a:rPr>
              <a:t>接口</a:t>
            </a:r>
            <a:endParaRPr lang="zh-CN" altLang="en-US" sz="1000">
              <a:solidFill>
                <a:srgbClr val="FF0000"/>
              </a:solidFill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7367270" y="5144770"/>
            <a:ext cx="175260" cy="32004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0340" y="264795"/>
            <a:ext cx="9415145" cy="57048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942580" y="5373370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rgbClr val="FF0000"/>
                </a:solidFill>
              </a:rPr>
              <a:t>HDMI</a:t>
            </a:r>
            <a:r>
              <a:rPr lang="zh-CN" altLang="en-US" sz="1000">
                <a:solidFill>
                  <a:srgbClr val="FF0000"/>
                </a:solidFill>
              </a:rPr>
              <a:t>接口</a:t>
            </a:r>
            <a:endParaRPr lang="zh-CN" altLang="en-US" sz="1000">
              <a:solidFill>
                <a:srgbClr val="FF0000"/>
              </a:solidFill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H="1" flipV="1">
            <a:off x="8162925" y="4709795"/>
            <a:ext cx="128905" cy="66357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329045" y="5182235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rgbClr val="FF0000"/>
                </a:solidFill>
              </a:rPr>
              <a:t>IR</a:t>
            </a:r>
            <a:r>
              <a:rPr lang="zh-CN" altLang="en-US" sz="1000">
                <a:solidFill>
                  <a:srgbClr val="FF0000"/>
                </a:solidFill>
              </a:rPr>
              <a:t>红外接收头</a:t>
            </a:r>
            <a:endParaRPr lang="zh-CN" altLang="en-US" sz="1000">
              <a:solidFill>
                <a:srgbClr val="FF0000"/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6486525" y="4023995"/>
            <a:ext cx="191770" cy="115824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707380" y="5544820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复位按键</a:t>
            </a:r>
            <a:endParaRPr lang="zh-CN" altLang="en-US" sz="1000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6075680" y="4633595"/>
            <a:ext cx="39370" cy="91122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735830" y="5427345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rgbClr val="FF0000"/>
                </a:solidFill>
              </a:rPr>
              <a:t>EJTAG</a:t>
            </a:r>
            <a:r>
              <a:rPr lang="zh-CN" altLang="en-US" sz="1000">
                <a:solidFill>
                  <a:srgbClr val="FF0000"/>
                </a:solidFill>
              </a:rPr>
              <a:t>接口</a:t>
            </a:r>
            <a:endParaRPr lang="zh-CN" altLang="en-US" sz="1000">
              <a:solidFill>
                <a:srgbClr val="FF0000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5344160" y="4224020"/>
            <a:ext cx="180340" cy="114935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9565005" y="5544820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电源输入接口</a:t>
            </a:r>
            <a:endParaRPr lang="zh-CN" altLang="en-US" sz="1000">
              <a:solidFill>
                <a:srgbClr val="FF000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9785350" y="4881245"/>
            <a:ext cx="128905" cy="66357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9565005" y="918845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电源开关</a:t>
            </a:r>
            <a:endParaRPr lang="zh-CN" altLang="en-US" sz="1000">
              <a:solidFill>
                <a:srgbClr val="FF0000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9582150" y="1163955"/>
            <a:ext cx="286385" cy="52641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059430" y="5464810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rgbClr val="FF0000"/>
                </a:solidFill>
              </a:rPr>
              <a:t>USB</a:t>
            </a:r>
            <a:r>
              <a:rPr lang="zh-CN" altLang="en-US" sz="1000">
                <a:solidFill>
                  <a:srgbClr val="FF0000"/>
                </a:solidFill>
              </a:rPr>
              <a:t>接口</a:t>
            </a:r>
            <a:endParaRPr lang="zh-CN" altLang="en-US" sz="1000">
              <a:solidFill>
                <a:srgbClr val="FF0000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 flipH="1" flipV="1">
            <a:off x="3298825" y="4757420"/>
            <a:ext cx="128905" cy="66357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3649980" y="4785995"/>
            <a:ext cx="760095" cy="67881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6810" y="1181100"/>
            <a:ext cx="5703570" cy="42411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180465"/>
            <a:ext cx="5261610" cy="4241800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11575" y="5962085"/>
            <a:ext cx="10969200" cy="705600"/>
          </a:xfrm>
        </p:spPr>
        <p:txBody>
          <a:bodyPr/>
          <a:p>
            <a:pPr algn="ctr"/>
            <a:r>
              <a:rPr lang="zh-CN" altLang="en-US"/>
              <a:t>接口</a:t>
            </a:r>
            <a:r>
              <a:rPr lang="zh-CN" altLang="en-US"/>
              <a:t>细节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383030" y="4697095"/>
            <a:ext cx="1038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</a:rPr>
              <a:t>12V</a:t>
            </a:r>
            <a:r>
              <a:rPr lang="zh-CN" altLang="en-US" sz="1600">
                <a:solidFill>
                  <a:srgbClr val="FF0000"/>
                </a:solidFill>
              </a:rPr>
              <a:t>电源接口</a:t>
            </a:r>
            <a:endParaRPr lang="zh-CN" altLang="en-US" sz="1600">
              <a:solidFill>
                <a:srgbClr val="FF0000"/>
              </a:solidFill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1906905" y="4099560"/>
            <a:ext cx="349250" cy="59753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938905" y="4697095"/>
            <a:ext cx="1038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</a:rPr>
              <a:t>5V</a:t>
            </a:r>
            <a:r>
              <a:rPr lang="zh-CN" altLang="en-US" sz="1600">
                <a:solidFill>
                  <a:srgbClr val="FF0000"/>
                </a:solidFill>
              </a:rPr>
              <a:t>电源接口</a:t>
            </a:r>
            <a:endParaRPr lang="zh-CN" altLang="en-US" sz="1600">
              <a:solidFill>
                <a:srgbClr val="FF0000"/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3938905" y="3981450"/>
            <a:ext cx="434975" cy="60134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8456930" y="3432175"/>
            <a:ext cx="1181100" cy="667385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685280" y="1812925"/>
            <a:ext cx="20567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FF0000"/>
                </a:solidFill>
              </a:rPr>
              <a:t>UART</a:t>
            </a:r>
            <a:r>
              <a:rPr lang="zh-CN" altLang="en-US" sz="1600">
                <a:solidFill>
                  <a:srgbClr val="FF0000"/>
                </a:solidFill>
              </a:rPr>
              <a:t>信号管脚，连接至其他设备注意</a:t>
            </a:r>
            <a:r>
              <a:rPr lang="en-US" altLang="zh-CN" sz="1600">
                <a:solidFill>
                  <a:srgbClr val="FF0000"/>
                </a:solidFill>
              </a:rPr>
              <a:t>“</a:t>
            </a:r>
            <a:r>
              <a:rPr lang="zh-CN" altLang="en-US" sz="1600">
                <a:solidFill>
                  <a:srgbClr val="FF0000"/>
                </a:solidFill>
              </a:rPr>
              <a:t>对接</a:t>
            </a:r>
            <a:r>
              <a:rPr lang="en-US" altLang="zh-CN" sz="1600">
                <a:solidFill>
                  <a:srgbClr val="FF0000"/>
                </a:solidFill>
              </a:rPr>
              <a:t>”</a:t>
            </a:r>
            <a:r>
              <a:rPr lang="zh-CN" altLang="en-US" sz="1600">
                <a:solidFill>
                  <a:srgbClr val="FF0000"/>
                </a:solidFill>
              </a:rPr>
              <a:t>，</a:t>
            </a:r>
            <a:r>
              <a:rPr lang="en-US" altLang="zh-CN" sz="1600">
                <a:solidFill>
                  <a:srgbClr val="FF0000"/>
                </a:solidFill>
              </a:rPr>
              <a:t>“RX”</a:t>
            </a:r>
            <a:r>
              <a:rPr lang="zh-CN" altLang="en-US" sz="1600">
                <a:solidFill>
                  <a:srgbClr val="FF0000"/>
                </a:solidFill>
              </a:rPr>
              <a:t>对</a:t>
            </a:r>
            <a:r>
              <a:rPr lang="en-US" altLang="zh-CN" sz="1600">
                <a:solidFill>
                  <a:srgbClr val="FF0000"/>
                </a:solidFill>
              </a:rPr>
              <a:t>“TX”,“TX”</a:t>
            </a:r>
            <a:r>
              <a:rPr lang="zh-CN" altLang="en-US" sz="1600">
                <a:solidFill>
                  <a:srgbClr val="FF0000"/>
                </a:solidFill>
              </a:rPr>
              <a:t>对</a:t>
            </a:r>
            <a:r>
              <a:rPr lang="en-US" altLang="zh-CN" sz="1600">
                <a:solidFill>
                  <a:srgbClr val="FF0000"/>
                </a:solidFill>
              </a:rPr>
              <a:t>“RX</a:t>
            </a:r>
            <a:r>
              <a:rPr lang="en-US" altLang="zh-CN" sz="160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”</a:t>
            </a:r>
            <a:endParaRPr lang="en-US" altLang="zh-CN" sz="160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7835900" y="2889250"/>
            <a:ext cx="822325" cy="62420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二、EJTAG仿真器使用说明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</a:t>
            </a:r>
            <a:r>
              <a:rPr lang="zh-CN" altLang="en-US"/>
              <a:t>、硬件环境连接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）将</a:t>
            </a:r>
            <a:r>
              <a:rPr lang="en-US" altLang="zh-CN"/>
              <a:t>DEMO</a:t>
            </a:r>
            <a:r>
              <a:rPr lang="zh-CN" altLang="en-US"/>
              <a:t>板接上电源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）仿真器通电后，与DEMO板EJATG接口相连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  </a:t>
            </a:r>
            <a:r>
              <a:rPr lang="zh-CN" altLang="en-US">
                <a:solidFill>
                  <a:srgbClr val="FF0000"/>
                </a:solidFill>
              </a:rPr>
              <a:t>注意</a:t>
            </a:r>
            <a:r>
              <a:rPr lang="zh-CN" altLang="en-US">
                <a:solidFill>
                  <a:srgbClr val="FF0000"/>
                </a:solidFill>
              </a:rPr>
              <a:t>事项：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  1</a:t>
            </a:r>
            <a:r>
              <a:rPr lang="zh-CN" altLang="en-US">
                <a:solidFill>
                  <a:srgbClr val="FF0000"/>
                </a:solidFill>
              </a:rPr>
              <a:t>、使用</a:t>
            </a:r>
            <a:r>
              <a:rPr lang="en-US" altLang="zh-CN">
                <a:solidFill>
                  <a:srgbClr val="FF0000"/>
                </a:solidFill>
              </a:rPr>
              <a:t>H1512</a:t>
            </a:r>
            <a:r>
              <a:rPr lang="zh-CN" altLang="en-US">
                <a:solidFill>
                  <a:srgbClr val="FF0000"/>
                </a:solidFill>
              </a:rPr>
              <a:t>系列的</a:t>
            </a:r>
            <a:r>
              <a:rPr lang="en-US" altLang="zh-CN">
                <a:solidFill>
                  <a:srgbClr val="FF0000"/>
                </a:solidFill>
              </a:rPr>
              <a:t>DEMO</a:t>
            </a:r>
            <a:r>
              <a:rPr lang="zh-CN" altLang="en-US">
                <a:solidFill>
                  <a:srgbClr val="FF0000"/>
                </a:solidFill>
              </a:rPr>
              <a:t>板时，必须按照步骤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顺序操作；不可先连接仿真器，再上电（</a:t>
            </a:r>
            <a:r>
              <a:rPr lang="en-US" altLang="zh-CN">
                <a:solidFill>
                  <a:srgbClr val="FF0000"/>
                </a:solidFill>
              </a:rPr>
              <a:t>H1600</a:t>
            </a:r>
            <a:r>
              <a:rPr lang="zh-CN" altLang="en-US">
                <a:solidFill>
                  <a:srgbClr val="FF0000"/>
                </a:solidFill>
              </a:rPr>
              <a:t>系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列</a:t>
            </a:r>
            <a:r>
              <a:rPr lang="en-US" altLang="zh-CN">
                <a:solidFill>
                  <a:srgbClr val="FF0000"/>
                </a:solidFill>
              </a:rPr>
              <a:t>DEMO</a:t>
            </a:r>
            <a:r>
              <a:rPr lang="zh-CN" altLang="en-US">
                <a:solidFill>
                  <a:srgbClr val="FF0000"/>
                </a:solidFill>
              </a:rPr>
              <a:t>板无</a:t>
            </a:r>
            <a:r>
              <a:rPr lang="zh-CN" altLang="en-US">
                <a:solidFill>
                  <a:srgbClr val="FF0000"/>
                </a:solidFill>
              </a:rPr>
              <a:t>影响）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  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DEBUG_EN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排针，必须要盖上跳线帽才能仿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真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07175" y="2258060"/>
            <a:ext cx="441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步骤一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91420" y="2340610"/>
            <a:ext cx="441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步骤二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7049135" y="2867660"/>
            <a:ext cx="373380" cy="20828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>
            <a:off x="9337040" y="2973070"/>
            <a:ext cx="754380" cy="61341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395" y="2047240"/>
            <a:ext cx="5276850" cy="36455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59575" y="2303145"/>
            <a:ext cx="441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步骤一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243820" y="2385695"/>
            <a:ext cx="441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步骤二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7201535" y="2912745"/>
            <a:ext cx="373380" cy="20828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9489440" y="3018155"/>
            <a:ext cx="754380" cy="61341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10197465" y="3705860"/>
            <a:ext cx="527050" cy="58483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539095" y="4544060"/>
            <a:ext cx="1038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FF0000"/>
                </a:solidFill>
              </a:rPr>
              <a:t>注意盖上</a:t>
            </a:r>
            <a:r>
              <a:rPr lang="zh-CN" altLang="en-US" sz="1600">
                <a:solidFill>
                  <a:srgbClr val="FF0000"/>
                </a:solidFill>
              </a:rPr>
              <a:t>跳线帽</a:t>
            </a:r>
            <a:endParaRPr lang="zh-CN" altLang="en-US" sz="1600">
              <a:solidFill>
                <a:srgbClr val="FF0000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 flipV="1">
            <a:off x="10714990" y="4281170"/>
            <a:ext cx="182245" cy="26289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7965" y="205105"/>
            <a:ext cx="11349355" cy="6044565"/>
          </a:xfrm>
        </p:spPr>
        <p:txBody>
          <a:bodyPr/>
          <a:p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、软件配置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</a:t>
            </a:r>
            <a:r>
              <a:rPr lang="zh-CN" altLang="en-US"/>
              <a:t>打开“HiChipGDB”软件，配置好相应选项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165" y="1772285"/>
            <a:ext cx="5156835" cy="3660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1772285"/>
            <a:ext cx="5809615" cy="36607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35200" y="5720080"/>
            <a:ext cx="96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92210" y="5720080"/>
            <a:ext cx="96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970" y="191135"/>
            <a:ext cx="11923395" cy="6525895"/>
          </a:xfrm>
        </p:spPr>
        <p:txBody>
          <a:bodyPr/>
          <a:p>
            <a:endParaRPr lang="en-US" altLang="zh-CN"/>
          </a:p>
          <a:p>
            <a:r>
              <a:rPr lang="en-US" altLang="zh-CN"/>
              <a:t>3</a:t>
            </a:r>
            <a:r>
              <a:rPr lang="zh-CN" altLang="en-US"/>
              <a:t>、加载程序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0" y="1153795"/>
            <a:ext cx="4080510" cy="27019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195" y="1310005"/>
            <a:ext cx="4257040" cy="25457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990" y="4152265"/>
            <a:ext cx="4160520" cy="24403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810" y="4350385"/>
            <a:ext cx="4162425" cy="22421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858895" y="2534920"/>
            <a:ext cx="89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21600" y="2534920"/>
            <a:ext cx="89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32100" y="5929630"/>
            <a:ext cx="89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676130" y="5009515"/>
            <a:ext cx="89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4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60385" y="6117590"/>
            <a:ext cx="30626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出现该提示说明加载成功</a:t>
            </a:r>
            <a:endParaRPr lang="zh-CN" altLang="en-US" sz="120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395" y="219710"/>
            <a:ext cx="11464925" cy="6554470"/>
          </a:xfrm>
        </p:spPr>
        <p:txBody>
          <a:bodyPr/>
          <a:p>
            <a:endParaRPr lang="en-US" altLang="zh-CN"/>
          </a:p>
          <a:p>
            <a:r>
              <a:rPr lang="en-US" altLang="zh-CN"/>
              <a:t>4</a:t>
            </a:r>
            <a:r>
              <a:rPr lang="zh-CN" altLang="en-US"/>
              <a:t>、烧录</a:t>
            </a:r>
            <a:r>
              <a:rPr lang="en-US" altLang="zh-CN"/>
              <a:t>FLASH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090" y="1604645"/>
            <a:ext cx="5457825" cy="36474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295" y="1605280"/>
            <a:ext cx="5590540" cy="36468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39975" y="5481320"/>
            <a:ext cx="96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91550" y="5481320"/>
            <a:ext cx="96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" name="椭圆 1"/>
          <p:cNvSpPr/>
          <p:nvPr/>
        </p:nvSpPr>
        <p:spPr>
          <a:xfrm>
            <a:off x="7015480" y="4664075"/>
            <a:ext cx="1514475" cy="31686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591550" y="4643755"/>
            <a:ext cx="30626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FF0000"/>
                </a:solidFill>
              </a:rPr>
              <a:t>出现该提示说明烧录</a:t>
            </a:r>
            <a:r>
              <a:rPr lang="zh-CN" altLang="en-US" sz="1600">
                <a:solidFill>
                  <a:srgbClr val="FF0000"/>
                </a:solidFill>
              </a:rPr>
              <a:t>成功</a:t>
            </a:r>
            <a:endParaRPr lang="zh-CN" altLang="en-US" sz="1600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605" y="172085"/>
            <a:ext cx="11435715" cy="6545580"/>
          </a:xfrm>
        </p:spPr>
        <p:txBody>
          <a:bodyPr/>
          <a:p>
            <a:endParaRPr lang="zh-CN" altLang="en-US"/>
          </a:p>
          <a:p>
            <a:r>
              <a:rPr lang="en-US" altLang="zh-CN"/>
              <a:t>5</a:t>
            </a:r>
            <a:r>
              <a:rPr lang="zh-CN" altLang="en-US"/>
              <a:t>、常见连接错误解决方法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1</a:t>
            </a:r>
            <a:r>
              <a:rPr lang="zh-CN" altLang="en-US"/>
              <a:t>、出现如图所示错误，按下复位按键（</a:t>
            </a:r>
            <a:r>
              <a:rPr lang="zh-CN" altLang="en-US">
                <a:solidFill>
                  <a:srgbClr val="FF0000"/>
                </a:solidFill>
              </a:rPr>
              <a:t>复位按键要在复位模式下才有效果，如无效果请检查是否处</a:t>
            </a:r>
            <a:r>
              <a:rPr lang="en-US" altLang="zh-CN">
                <a:solidFill>
                  <a:srgbClr val="FF0000"/>
                </a:solidFill>
              </a:rPr>
              <a:t>  </a:t>
            </a:r>
            <a:r>
              <a:rPr lang="zh-CN" altLang="en-US">
                <a:solidFill>
                  <a:srgbClr val="FF0000"/>
                </a:solidFill>
              </a:rPr>
              <a:t>于复位模式下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2</a:t>
            </a:r>
            <a:r>
              <a:rPr lang="zh-CN" altLang="en-US"/>
              <a:t>、复位按键</a:t>
            </a:r>
            <a:r>
              <a:rPr lang="zh-CN" altLang="en-US"/>
              <a:t>依然无效的话，断开硬件连接，重新上电进行连接；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060" y="2691765"/>
            <a:ext cx="6114415" cy="29121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948555" y="5710555"/>
            <a:ext cx="1519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连接错误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1220</Words>
  <Application>WPS 演示</Application>
  <PresentationFormat>宽屏</PresentationFormat>
  <Paragraphs>126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DEMO板调试环境说明</vt:lpstr>
      <vt:lpstr>一、DEMO板常用硬件接口介绍</vt:lpstr>
      <vt:lpstr>DEMO板硬件接口</vt:lpstr>
      <vt:lpstr>DEMO板硬件接口</vt:lpstr>
      <vt:lpstr>接口细节</vt:lpstr>
      <vt:lpstr>二、EJTAG仿真器使用说明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随@影</cp:lastModifiedBy>
  <cp:revision>184</cp:revision>
  <dcterms:created xsi:type="dcterms:W3CDTF">2019-06-19T02:08:00Z</dcterms:created>
  <dcterms:modified xsi:type="dcterms:W3CDTF">2021-04-15T07:55:42Z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2052-11.1.0.10356</vt:lpwstr>
  </property>
  <property fmtid="{D5CDD505-2E9C-101B-9397-08002B2CF9AE}" pid="3" name="ICV">
    <vt:lpwstr>B7568E36B76E43CBA9F06B7C17801E66</vt:lpwstr>
  </property>
</Properties>
</file>