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3" r:id="rId3"/>
    <p:sldMasterId id="2147483685" r:id="rId4"/>
  </p:sldMasterIdLst>
  <p:notesMasterIdLst>
    <p:notesMasterId r:id="rId19"/>
  </p:notesMasterIdLst>
  <p:sldIdLst>
    <p:sldId id="257" r:id="rId5"/>
    <p:sldId id="277" r:id="rId6"/>
    <p:sldId id="349" r:id="rId7"/>
    <p:sldId id="350" r:id="rId8"/>
    <p:sldId id="357" r:id="rId9"/>
    <p:sldId id="358" r:id="rId10"/>
    <p:sldId id="359" r:id="rId11"/>
    <p:sldId id="351" r:id="rId12"/>
    <p:sldId id="361" r:id="rId13"/>
    <p:sldId id="360" r:id="rId14"/>
    <p:sldId id="362" r:id="rId15"/>
    <p:sldId id="363" r:id="rId16"/>
    <p:sldId id="352" r:id="rId17"/>
    <p:sldId id="275" r:id="rId1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p15:clr>
            <a:srgbClr val="A4A3A4"/>
          </p15:clr>
        </p15:guide>
        <p15:guide id="2" pos="3807">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张 小凤" initials="张"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07" autoAdjust="0"/>
    <p:restoredTop sz="94660"/>
  </p:normalViewPr>
  <p:slideViewPr>
    <p:cSldViewPr snapToGrid="0">
      <p:cViewPr varScale="1">
        <p:scale>
          <a:sx n="105" d="100"/>
          <a:sy n="105" d="100"/>
        </p:scale>
        <p:origin x="882" y="114"/>
      </p:cViewPr>
      <p:guideLst>
        <p:guide orient="horz" pos="2137"/>
        <p:guide pos="380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E1DCF33-B22A-4FE9-8D7D-67A52490DBA9}" type="datetimeFigureOut">
              <a:rPr lang="zh-CN" altLang="en-US" smtClean="0"/>
              <a:t>2023/12/21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48359D-01A7-4A18-AD9D-46F04F4A12C6}"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9748359D-01A7-4A18-AD9D-46F04F4A12C6}" type="slidenum">
              <a:rPr lang="zh-CN" altLang="en-US" smtClean="0"/>
              <a:t>14</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A5D0CDE5-F0F2-4811-AF7F-9EBBDE1C973C}" type="datetimeFigureOut">
              <a:rPr lang="zh-CN" altLang="en-US" smtClean="0"/>
              <a:t>2023/12/21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150B30D-3D34-485A-B84F-DD260DB3793D}"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grpSp>
        <p:nvGrpSpPr>
          <p:cNvPr id="7" name="组合 6"/>
          <p:cNvGrpSpPr/>
          <p:nvPr userDrawn="1"/>
        </p:nvGrpSpPr>
        <p:grpSpPr>
          <a:xfrm>
            <a:off x="0" y="1863304"/>
            <a:ext cx="12192000" cy="4994696"/>
            <a:chOff x="0" y="0"/>
            <a:chExt cx="12192000" cy="4994696"/>
          </a:xfrm>
        </p:grpSpPr>
        <p:pic>
          <p:nvPicPr>
            <p:cNvPr id="8" name="图片 7"/>
            <p:cNvPicPr>
              <a:picLocks noChangeAspect="1"/>
            </p:cNvPicPr>
            <p:nvPr/>
          </p:nvPicPr>
          <p:blipFill rotWithShape="1">
            <a:blip r:embed="rId2" cstate="print"/>
            <a:srcRect t="10904" r="2328" b="17962"/>
            <a:stretch>
              <a:fillRect/>
            </a:stretch>
          </p:blipFill>
          <p:spPr>
            <a:xfrm>
              <a:off x="0" y="0"/>
              <a:ext cx="12192000" cy="4994696"/>
            </a:xfrm>
            <a:prstGeom prst="rect">
              <a:avLst/>
            </a:prstGeom>
          </p:spPr>
        </p:pic>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21112135">
              <a:off x="5583873" y="2183047"/>
              <a:ext cx="1195701" cy="1257250"/>
            </a:xfrm>
            <a:prstGeom prst="rect">
              <a:avLst/>
            </a:prstGeom>
            <a:effectLst>
              <a:outerShdw blurRad="152400" dist="317500" dir="5400000" sx="90000" sy="-19000" rotWithShape="0">
                <a:schemeClr val="bg1">
                  <a:lumMod val="95000"/>
                  <a:alpha val="15000"/>
                </a:schemeClr>
              </a:outerShdw>
            </a:effectLst>
          </p:spPr>
        </p:pic>
      </p:grpSp>
      <p:sp>
        <p:nvSpPr>
          <p:cNvPr id="10" name="矩形 9"/>
          <p:cNvSpPr/>
          <p:nvPr userDrawn="1"/>
        </p:nvSpPr>
        <p:spPr>
          <a:xfrm>
            <a:off x="0" y="0"/>
            <a:ext cx="12192000" cy="6000750"/>
          </a:xfrm>
          <a:prstGeom prst="rect">
            <a:avLst/>
          </a:prstGeom>
          <a:gradFill flip="none" rotWithShape="1">
            <a:gsLst>
              <a:gs pos="48000">
                <a:schemeClr val="tx1"/>
              </a:gs>
              <a:gs pos="62000">
                <a:schemeClr val="tx1">
                  <a:alpha val="78000"/>
                </a:schemeClr>
              </a:gs>
              <a:gs pos="100000">
                <a:schemeClr val="tx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grpSp>
        <p:nvGrpSpPr>
          <p:cNvPr id="11" name="组合 10"/>
          <p:cNvGrpSpPr/>
          <p:nvPr userDrawn="1"/>
        </p:nvGrpSpPr>
        <p:grpSpPr>
          <a:xfrm>
            <a:off x="0" y="-18167"/>
            <a:ext cx="6438900" cy="6876167"/>
            <a:chOff x="0" y="-18167"/>
            <a:chExt cx="6438900" cy="6876167"/>
          </a:xfrm>
        </p:grpSpPr>
        <p:pic>
          <p:nvPicPr>
            <p:cNvPr id="8" name="图片 7"/>
            <p:cNvPicPr>
              <a:picLocks noChangeAspect="1"/>
            </p:cNvPicPr>
            <p:nvPr/>
          </p:nvPicPr>
          <p:blipFill rotWithShape="1">
            <a:blip r:embed="rId2" cstate="print"/>
            <a:srcRect l="27609" r="21146" b="2709"/>
            <a:stretch>
              <a:fillRect/>
            </a:stretch>
          </p:blipFill>
          <p:spPr>
            <a:xfrm>
              <a:off x="0" y="-18167"/>
              <a:ext cx="6438900" cy="6876167"/>
            </a:xfrm>
            <a:prstGeom prst="rect">
              <a:avLst/>
            </a:prstGeom>
          </p:spPr>
        </p:pic>
        <p:pic>
          <p:nvPicPr>
            <p:cNvPr id="9" name="图片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21161081">
              <a:off x="2066580" y="2905319"/>
              <a:ext cx="1195701" cy="1257250"/>
            </a:xfrm>
            <a:prstGeom prst="rect">
              <a:avLst/>
            </a:prstGeom>
            <a:effectLst>
              <a:outerShdw blurRad="152400" dist="317500" dir="5400000" sx="90000" sy="-19000" rotWithShape="0">
                <a:schemeClr val="bg1">
                  <a:lumMod val="95000"/>
                  <a:alpha val="15000"/>
                </a:schemeClr>
              </a:outerShdw>
            </a:effectLst>
          </p:spPr>
        </p:pic>
      </p:grpSp>
      <p:sp>
        <p:nvSpPr>
          <p:cNvPr id="10" name="矩形 9"/>
          <p:cNvSpPr/>
          <p:nvPr userDrawn="1"/>
        </p:nvSpPr>
        <p:spPr>
          <a:xfrm rot="5400000">
            <a:off x="2664143" y="-2664143"/>
            <a:ext cx="6863704" cy="12191990"/>
          </a:xfrm>
          <a:prstGeom prst="rect">
            <a:avLst/>
          </a:prstGeom>
          <a:gradFill flip="none" rotWithShape="1">
            <a:gsLst>
              <a:gs pos="48000">
                <a:schemeClr val="tx1"/>
              </a:gs>
              <a:gs pos="62000">
                <a:schemeClr val="tx1">
                  <a:alpha val="78000"/>
                </a:schemeClr>
              </a:gs>
              <a:gs pos="100000">
                <a:schemeClr val="tx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8" name="矩形 7"/>
          <p:cNvSpPr/>
          <p:nvPr userDrawn="1"/>
        </p:nvSpPr>
        <p:spPr>
          <a:xfrm>
            <a:off x="0" y="0"/>
            <a:ext cx="540000" cy="5400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文本框 8"/>
          <p:cNvSpPr txBox="1"/>
          <p:nvPr userDrawn="1"/>
        </p:nvSpPr>
        <p:spPr>
          <a:xfrm>
            <a:off x="28162" y="-31066"/>
            <a:ext cx="587142" cy="646331"/>
          </a:xfrm>
          <a:prstGeom prst="rect">
            <a:avLst/>
          </a:prstGeom>
          <a:noFill/>
        </p:spPr>
        <p:txBody>
          <a:bodyPr vert="horz"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1</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cxnSp>
        <p:nvCxnSpPr>
          <p:cNvPr id="10" name="直接连接符 9"/>
          <p:cNvCxnSpPr/>
          <p:nvPr userDrawn="1"/>
        </p:nvCxnSpPr>
        <p:spPr>
          <a:xfrm>
            <a:off x="0" y="531857"/>
            <a:ext cx="12192000" cy="0"/>
          </a:xfrm>
          <a:prstGeom prst="line">
            <a:avLst/>
          </a:prstGeom>
          <a:ln w="19050">
            <a:solidFill>
              <a:schemeClr val="tx1">
                <a:lumMod val="50000"/>
                <a:lumOff val="50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1" name="直接连接符 10"/>
          <p:cNvCxnSpPr/>
          <p:nvPr userDrawn="1"/>
        </p:nvCxnSpPr>
        <p:spPr>
          <a:xfrm>
            <a:off x="0" y="6440192"/>
            <a:ext cx="12203970" cy="23801"/>
          </a:xfrm>
          <a:prstGeom prst="line">
            <a:avLst/>
          </a:prstGeom>
          <a:ln w="19050">
            <a:solidFill>
              <a:schemeClr val="tx1">
                <a:lumMod val="50000"/>
                <a:lumOff val="50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2" name="文本框 11"/>
          <p:cNvSpPr txBox="1"/>
          <p:nvPr userDrawn="1"/>
        </p:nvSpPr>
        <p:spPr>
          <a:xfrm>
            <a:off x="28162" y="6491513"/>
            <a:ext cx="2549400" cy="338447"/>
          </a:xfrm>
          <a:prstGeom prst="rect">
            <a:avLst/>
          </a:prstGeom>
          <a:noFill/>
        </p:spPr>
        <p:txBody>
          <a:bodyPr wrap="square">
            <a:spAutoFit/>
          </a:bodyPr>
          <a:lstStyle/>
          <a:p>
            <a:pPr algn="dist">
              <a:lnSpc>
                <a:spcPct val="100000"/>
              </a:lnSpc>
            </a:pPr>
            <a:r>
              <a:rPr lang="zh-CN" altLang="en-US" sz="1600" b="1" dirty="0">
                <a:solidFill>
                  <a:schemeClr val="tx1">
                    <a:lumMod val="50000"/>
                    <a:lumOff val="50000"/>
                  </a:schemeClr>
                </a:solidFill>
                <a:effectLst/>
                <a:latin typeface="Arial" panose="020B0604020202020204" pitchFamily="34" charset="0"/>
                <a:ea typeface="微软雅黑" panose="020B0503020204020204" pitchFamily="34" charset="-122"/>
                <a:cs typeface="Arial" panose="020B0604020202020204" pitchFamily="34" charset="0"/>
              </a:rPr>
              <a:t>珠海海奇半导体有限公司</a:t>
            </a:r>
          </a:p>
        </p:txBody>
      </p:sp>
      <p:pic>
        <p:nvPicPr>
          <p:cNvPr id="14" name="图片 13"/>
          <p:cNvPicPr>
            <a:picLocks noChangeAspect="1"/>
          </p:cNvPicPr>
          <p:nvPr userDrawn="1"/>
        </p:nvPicPr>
        <p:blipFill>
          <a:blip r:embed="rId2"/>
          <a:stretch>
            <a:fillRect/>
          </a:stretch>
        </p:blipFill>
        <p:spPr>
          <a:xfrm>
            <a:off x="11740791" y="3035"/>
            <a:ext cx="446143" cy="503422"/>
          </a:xfrm>
          <a:prstGeom prst="rect">
            <a:avLst/>
          </a:prstGeom>
        </p:spPr>
      </p:pic>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10" name="矩形 9"/>
          <p:cNvSpPr/>
          <p:nvPr userDrawn="1"/>
        </p:nvSpPr>
        <p:spPr>
          <a:xfrm>
            <a:off x="0" y="0"/>
            <a:ext cx="540000" cy="5400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userDrawn="1"/>
        </p:nvSpPr>
        <p:spPr>
          <a:xfrm>
            <a:off x="28162" y="-31066"/>
            <a:ext cx="587142" cy="646331"/>
          </a:xfrm>
          <a:prstGeom prst="rect">
            <a:avLst/>
          </a:prstGeom>
          <a:noFill/>
        </p:spPr>
        <p:txBody>
          <a:bodyPr vert="horz"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0" y="531857"/>
            <a:ext cx="12192000" cy="0"/>
          </a:xfrm>
          <a:prstGeom prst="line">
            <a:avLst/>
          </a:prstGeom>
          <a:ln w="19050">
            <a:solidFill>
              <a:schemeClr val="tx1">
                <a:lumMod val="50000"/>
                <a:lumOff val="50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0" y="6440192"/>
            <a:ext cx="12203970" cy="23801"/>
          </a:xfrm>
          <a:prstGeom prst="line">
            <a:avLst/>
          </a:prstGeom>
          <a:ln w="19050">
            <a:solidFill>
              <a:schemeClr val="tx1">
                <a:lumMod val="50000"/>
                <a:lumOff val="50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4" name="文本框 13"/>
          <p:cNvSpPr txBox="1"/>
          <p:nvPr userDrawn="1"/>
        </p:nvSpPr>
        <p:spPr>
          <a:xfrm>
            <a:off x="28162" y="6491513"/>
            <a:ext cx="2549400" cy="338447"/>
          </a:xfrm>
          <a:prstGeom prst="rect">
            <a:avLst/>
          </a:prstGeom>
          <a:noFill/>
        </p:spPr>
        <p:txBody>
          <a:bodyPr wrap="square">
            <a:spAutoFit/>
          </a:bodyPr>
          <a:lstStyle/>
          <a:p>
            <a:pPr algn="dist">
              <a:lnSpc>
                <a:spcPct val="100000"/>
              </a:lnSpc>
            </a:pPr>
            <a:r>
              <a:rPr lang="zh-CN" altLang="en-US" sz="1600" b="1" dirty="0">
                <a:solidFill>
                  <a:schemeClr val="tx1">
                    <a:lumMod val="50000"/>
                    <a:lumOff val="50000"/>
                  </a:schemeClr>
                </a:solidFill>
                <a:effectLst/>
                <a:latin typeface="Arial" panose="020B0604020202020204" pitchFamily="34" charset="0"/>
                <a:ea typeface="微软雅黑" panose="020B0503020204020204" pitchFamily="34" charset="-122"/>
                <a:cs typeface="Arial" panose="020B0604020202020204" pitchFamily="34" charset="0"/>
              </a:rPr>
              <a:t>珠海海奇半导体有限公司</a:t>
            </a:r>
          </a:p>
        </p:txBody>
      </p:sp>
      <p:pic>
        <p:nvPicPr>
          <p:cNvPr id="16" name="图片 15"/>
          <p:cNvPicPr>
            <a:picLocks noChangeAspect="1"/>
          </p:cNvPicPr>
          <p:nvPr userDrawn="1"/>
        </p:nvPicPr>
        <p:blipFill>
          <a:blip r:embed="rId2"/>
          <a:stretch>
            <a:fillRect/>
          </a:stretch>
        </p:blipFill>
        <p:spPr>
          <a:xfrm>
            <a:off x="11740791" y="3035"/>
            <a:ext cx="446143" cy="50342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6" name="矩形 5"/>
          <p:cNvSpPr/>
          <p:nvPr userDrawn="1"/>
        </p:nvSpPr>
        <p:spPr>
          <a:xfrm>
            <a:off x="0" y="0"/>
            <a:ext cx="540000" cy="5400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p:cNvSpPr txBox="1"/>
          <p:nvPr userDrawn="1"/>
        </p:nvSpPr>
        <p:spPr>
          <a:xfrm>
            <a:off x="28162" y="-31066"/>
            <a:ext cx="587142" cy="646331"/>
          </a:xfrm>
          <a:prstGeom prst="rect">
            <a:avLst/>
          </a:prstGeom>
          <a:noFill/>
        </p:spPr>
        <p:txBody>
          <a:bodyPr vert="horz"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3</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cxnSp>
        <p:nvCxnSpPr>
          <p:cNvPr id="8" name="直接连接符 7"/>
          <p:cNvCxnSpPr/>
          <p:nvPr userDrawn="1"/>
        </p:nvCxnSpPr>
        <p:spPr>
          <a:xfrm>
            <a:off x="0" y="531857"/>
            <a:ext cx="12192000" cy="0"/>
          </a:xfrm>
          <a:prstGeom prst="line">
            <a:avLst/>
          </a:prstGeom>
          <a:ln w="19050">
            <a:solidFill>
              <a:schemeClr val="tx1">
                <a:lumMod val="50000"/>
                <a:lumOff val="50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9" name="直接连接符 8"/>
          <p:cNvCxnSpPr/>
          <p:nvPr userDrawn="1"/>
        </p:nvCxnSpPr>
        <p:spPr>
          <a:xfrm>
            <a:off x="0" y="6440192"/>
            <a:ext cx="12203970" cy="23801"/>
          </a:xfrm>
          <a:prstGeom prst="line">
            <a:avLst/>
          </a:prstGeom>
          <a:ln w="19050">
            <a:solidFill>
              <a:schemeClr val="tx1">
                <a:lumMod val="50000"/>
                <a:lumOff val="50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0" name="文本框 9"/>
          <p:cNvSpPr txBox="1"/>
          <p:nvPr userDrawn="1"/>
        </p:nvSpPr>
        <p:spPr>
          <a:xfrm>
            <a:off x="28162" y="6491513"/>
            <a:ext cx="2549400" cy="338447"/>
          </a:xfrm>
          <a:prstGeom prst="rect">
            <a:avLst/>
          </a:prstGeom>
          <a:noFill/>
        </p:spPr>
        <p:txBody>
          <a:bodyPr wrap="square">
            <a:spAutoFit/>
          </a:bodyPr>
          <a:lstStyle/>
          <a:p>
            <a:pPr algn="dist">
              <a:lnSpc>
                <a:spcPct val="100000"/>
              </a:lnSpc>
            </a:pPr>
            <a:r>
              <a:rPr lang="zh-CN" altLang="en-US" sz="1600" b="1" dirty="0">
                <a:solidFill>
                  <a:schemeClr val="tx1">
                    <a:lumMod val="50000"/>
                    <a:lumOff val="50000"/>
                  </a:schemeClr>
                </a:solidFill>
                <a:effectLst/>
                <a:latin typeface="Arial" panose="020B0604020202020204" pitchFamily="34" charset="0"/>
                <a:ea typeface="微软雅黑" panose="020B0503020204020204" pitchFamily="34" charset="-122"/>
                <a:cs typeface="Arial" panose="020B0604020202020204" pitchFamily="34" charset="0"/>
              </a:rPr>
              <a:t>珠海海奇半导体有限公司</a:t>
            </a:r>
          </a:p>
        </p:txBody>
      </p:sp>
      <p:pic>
        <p:nvPicPr>
          <p:cNvPr id="12" name="图片 11"/>
          <p:cNvPicPr>
            <a:picLocks noChangeAspect="1"/>
          </p:cNvPicPr>
          <p:nvPr userDrawn="1"/>
        </p:nvPicPr>
        <p:blipFill>
          <a:blip r:embed="rId2"/>
          <a:stretch>
            <a:fillRect/>
          </a:stretch>
        </p:blipFill>
        <p:spPr>
          <a:xfrm>
            <a:off x="11740791" y="3035"/>
            <a:ext cx="446143" cy="50342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矩形 4"/>
          <p:cNvSpPr/>
          <p:nvPr userDrawn="1"/>
        </p:nvSpPr>
        <p:spPr>
          <a:xfrm>
            <a:off x="0" y="0"/>
            <a:ext cx="540000" cy="5400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userDrawn="1"/>
        </p:nvSpPr>
        <p:spPr>
          <a:xfrm>
            <a:off x="28162" y="-31066"/>
            <a:ext cx="587142" cy="646331"/>
          </a:xfrm>
          <a:prstGeom prst="rect">
            <a:avLst/>
          </a:prstGeom>
          <a:noFill/>
        </p:spPr>
        <p:txBody>
          <a:bodyPr vert="horz"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4</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cxnSp>
        <p:nvCxnSpPr>
          <p:cNvPr id="7" name="直接连接符 6"/>
          <p:cNvCxnSpPr/>
          <p:nvPr userDrawn="1"/>
        </p:nvCxnSpPr>
        <p:spPr>
          <a:xfrm>
            <a:off x="0" y="531857"/>
            <a:ext cx="12192000" cy="0"/>
          </a:xfrm>
          <a:prstGeom prst="line">
            <a:avLst/>
          </a:prstGeom>
          <a:ln w="19050">
            <a:solidFill>
              <a:schemeClr val="tx1">
                <a:lumMod val="50000"/>
                <a:lumOff val="50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8" name="直接连接符 7"/>
          <p:cNvCxnSpPr/>
          <p:nvPr userDrawn="1"/>
        </p:nvCxnSpPr>
        <p:spPr>
          <a:xfrm>
            <a:off x="0" y="6440192"/>
            <a:ext cx="12203970" cy="23801"/>
          </a:xfrm>
          <a:prstGeom prst="line">
            <a:avLst/>
          </a:prstGeom>
          <a:ln w="19050">
            <a:solidFill>
              <a:schemeClr val="tx1">
                <a:lumMod val="50000"/>
                <a:lumOff val="50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9" name="文本框 8"/>
          <p:cNvSpPr txBox="1"/>
          <p:nvPr userDrawn="1"/>
        </p:nvSpPr>
        <p:spPr>
          <a:xfrm>
            <a:off x="28162" y="6491513"/>
            <a:ext cx="2549400" cy="338447"/>
          </a:xfrm>
          <a:prstGeom prst="rect">
            <a:avLst/>
          </a:prstGeom>
          <a:noFill/>
        </p:spPr>
        <p:txBody>
          <a:bodyPr wrap="square">
            <a:spAutoFit/>
          </a:bodyPr>
          <a:lstStyle/>
          <a:p>
            <a:pPr algn="dist">
              <a:lnSpc>
                <a:spcPct val="100000"/>
              </a:lnSpc>
            </a:pPr>
            <a:r>
              <a:rPr lang="zh-CN" altLang="en-US" sz="1600" b="1" dirty="0">
                <a:solidFill>
                  <a:schemeClr val="tx1">
                    <a:lumMod val="50000"/>
                    <a:lumOff val="50000"/>
                  </a:schemeClr>
                </a:solidFill>
                <a:effectLst/>
                <a:latin typeface="Arial" panose="020B0604020202020204" pitchFamily="34" charset="0"/>
                <a:ea typeface="微软雅黑" panose="020B0503020204020204" pitchFamily="34" charset="-122"/>
                <a:cs typeface="Arial" panose="020B0604020202020204" pitchFamily="34" charset="0"/>
              </a:rPr>
              <a:t>珠海海奇半导体有限公司</a:t>
            </a:r>
          </a:p>
        </p:txBody>
      </p:sp>
      <p:pic>
        <p:nvPicPr>
          <p:cNvPr id="11" name="图片 10"/>
          <p:cNvPicPr>
            <a:picLocks noChangeAspect="1"/>
          </p:cNvPicPr>
          <p:nvPr userDrawn="1"/>
        </p:nvPicPr>
        <p:blipFill>
          <a:blip r:embed="rId2"/>
          <a:stretch>
            <a:fillRect/>
          </a:stretch>
        </p:blipFill>
        <p:spPr>
          <a:xfrm>
            <a:off x="11740791" y="3035"/>
            <a:ext cx="446143" cy="503422"/>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容与标题">
    <p:spTree>
      <p:nvGrpSpPr>
        <p:cNvPr id="1" name=""/>
        <p:cNvGrpSpPr/>
        <p:nvPr/>
      </p:nvGrpSpPr>
      <p:grpSpPr>
        <a:xfrm>
          <a:off x="0" y="0"/>
          <a:ext cx="0" cy="0"/>
          <a:chOff x="0" y="0"/>
          <a:chExt cx="0" cy="0"/>
        </a:xfrm>
      </p:grpSpPr>
      <p:sp>
        <p:nvSpPr>
          <p:cNvPr id="15" name="矩形 14"/>
          <p:cNvSpPr/>
          <p:nvPr userDrawn="1"/>
        </p:nvSpPr>
        <p:spPr>
          <a:xfrm>
            <a:off x="0" y="-12098"/>
            <a:ext cx="540000" cy="5400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6" name="文本框 11"/>
          <p:cNvSpPr txBox="1"/>
          <p:nvPr userDrawn="1"/>
        </p:nvSpPr>
        <p:spPr>
          <a:xfrm>
            <a:off x="28162" y="-43164"/>
            <a:ext cx="587142" cy="646331"/>
          </a:xfrm>
          <a:prstGeom prst="rect">
            <a:avLst/>
          </a:prstGeom>
          <a:noFill/>
        </p:spPr>
        <p:txBody>
          <a:bodyPr vert="horz"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600" b="1" dirty="0">
                <a:solidFill>
                  <a:schemeClr val="bg1"/>
                </a:solidFill>
                <a:latin typeface="微软雅黑" panose="020B0503020204020204" pitchFamily="34" charset="-122"/>
                <a:ea typeface="微软雅黑" panose="020B0503020204020204" pitchFamily="34" charset="-122"/>
              </a:rPr>
              <a:t>5</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cxnSp>
        <p:nvCxnSpPr>
          <p:cNvPr id="17" name="直接连接符 16"/>
          <p:cNvCxnSpPr/>
          <p:nvPr userDrawn="1"/>
        </p:nvCxnSpPr>
        <p:spPr>
          <a:xfrm>
            <a:off x="0" y="519759"/>
            <a:ext cx="12192000" cy="0"/>
          </a:xfrm>
          <a:prstGeom prst="line">
            <a:avLst/>
          </a:prstGeom>
          <a:ln w="19050">
            <a:solidFill>
              <a:schemeClr val="tx1">
                <a:lumMod val="50000"/>
                <a:lumOff val="50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8" name="直接连接符 17"/>
          <p:cNvCxnSpPr/>
          <p:nvPr userDrawn="1"/>
        </p:nvCxnSpPr>
        <p:spPr>
          <a:xfrm>
            <a:off x="0" y="6428094"/>
            <a:ext cx="12203970" cy="23801"/>
          </a:xfrm>
          <a:prstGeom prst="line">
            <a:avLst/>
          </a:prstGeom>
          <a:ln w="19050">
            <a:solidFill>
              <a:schemeClr val="tx1">
                <a:lumMod val="50000"/>
                <a:lumOff val="50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9" name="文本框 14"/>
          <p:cNvSpPr txBox="1"/>
          <p:nvPr userDrawn="1"/>
        </p:nvSpPr>
        <p:spPr>
          <a:xfrm>
            <a:off x="28162" y="6479415"/>
            <a:ext cx="2549400" cy="338447"/>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lnSpc>
                <a:spcPct val="100000"/>
              </a:lnSpc>
            </a:pPr>
            <a:r>
              <a:rPr lang="zh-CN" altLang="en-US" sz="1600" b="1" dirty="0">
                <a:solidFill>
                  <a:schemeClr val="tx1">
                    <a:lumMod val="50000"/>
                    <a:lumOff val="50000"/>
                  </a:schemeClr>
                </a:solidFill>
                <a:effectLst/>
                <a:latin typeface="Arial" panose="020B0604020202020204" pitchFamily="34" charset="0"/>
                <a:ea typeface="微软雅黑" panose="020B0503020204020204" pitchFamily="34" charset="-122"/>
                <a:cs typeface="Arial" panose="020B0604020202020204" pitchFamily="34" charset="0"/>
              </a:rPr>
              <a:t>珠海海奇半导体有限公司</a:t>
            </a:r>
          </a:p>
        </p:txBody>
      </p:sp>
      <p:pic>
        <p:nvPicPr>
          <p:cNvPr id="21" name="图片 20"/>
          <p:cNvPicPr>
            <a:picLocks noChangeAspect="1"/>
          </p:cNvPicPr>
          <p:nvPr userDrawn="1"/>
        </p:nvPicPr>
        <p:blipFill>
          <a:blip r:embed="rId2"/>
          <a:stretch>
            <a:fillRect/>
          </a:stretch>
        </p:blipFill>
        <p:spPr>
          <a:xfrm>
            <a:off x="11740791" y="-9063"/>
            <a:ext cx="446143" cy="503422"/>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8" name="矩形 7"/>
          <p:cNvSpPr/>
          <p:nvPr userDrawn="1"/>
        </p:nvSpPr>
        <p:spPr>
          <a:xfrm>
            <a:off x="-5985" y="-3216"/>
            <a:ext cx="540000" cy="5400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9" name="文本框 11"/>
          <p:cNvSpPr txBox="1"/>
          <p:nvPr userDrawn="1"/>
        </p:nvSpPr>
        <p:spPr>
          <a:xfrm>
            <a:off x="22177" y="-34282"/>
            <a:ext cx="587142" cy="646331"/>
          </a:xfrm>
          <a:prstGeom prst="rect">
            <a:avLst/>
          </a:prstGeom>
          <a:noFill/>
        </p:spPr>
        <p:txBody>
          <a:bodyPr vert="horz"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600" b="1" dirty="0">
                <a:solidFill>
                  <a:schemeClr val="bg1"/>
                </a:solidFill>
                <a:latin typeface="微软雅黑" panose="020B0503020204020204" pitchFamily="34" charset="-122"/>
                <a:ea typeface="微软雅黑" panose="020B0503020204020204" pitchFamily="34" charset="-122"/>
              </a:rPr>
              <a:t>6</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cxnSp>
        <p:nvCxnSpPr>
          <p:cNvPr id="10" name="直接连接符 9"/>
          <p:cNvCxnSpPr/>
          <p:nvPr userDrawn="1"/>
        </p:nvCxnSpPr>
        <p:spPr>
          <a:xfrm>
            <a:off x="-5985" y="528641"/>
            <a:ext cx="12192000" cy="0"/>
          </a:xfrm>
          <a:prstGeom prst="line">
            <a:avLst/>
          </a:prstGeom>
          <a:ln w="19050">
            <a:solidFill>
              <a:schemeClr val="tx1">
                <a:lumMod val="50000"/>
                <a:lumOff val="50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1" name="直接连接符 10"/>
          <p:cNvCxnSpPr/>
          <p:nvPr userDrawn="1"/>
        </p:nvCxnSpPr>
        <p:spPr>
          <a:xfrm>
            <a:off x="-5985" y="6436976"/>
            <a:ext cx="12203970" cy="23801"/>
          </a:xfrm>
          <a:prstGeom prst="line">
            <a:avLst/>
          </a:prstGeom>
          <a:ln w="19050">
            <a:solidFill>
              <a:schemeClr val="tx1">
                <a:lumMod val="50000"/>
                <a:lumOff val="50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2" name="文本框 14"/>
          <p:cNvSpPr txBox="1"/>
          <p:nvPr userDrawn="1"/>
        </p:nvSpPr>
        <p:spPr>
          <a:xfrm>
            <a:off x="22177" y="6488297"/>
            <a:ext cx="2549400" cy="338447"/>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lnSpc>
                <a:spcPct val="100000"/>
              </a:lnSpc>
            </a:pPr>
            <a:r>
              <a:rPr lang="zh-CN" altLang="en-US" sz="1600" b="1" dirty="0">
                <a:solidFill>
                  <a:schemeClr val="tx1">
                    <a:lumMod val="50000"/>
                    <a:lumOff val="50000"/>
                  </a:schemeClr>
                </a:solidFill>
                <a:effectLst/>
                <a:latin typeface="Arial" panose="020B0604020202020204" pitchFamily="34" charset="0"/>
                <a:ea typeface="微软雅黑" panose="020B0503020204020204" pitchFamily="34" charset="-122"/>
                <a:cs typeface="Arial" panose="020B0604020202020204" pitchFamily="34" charset="0"/>
              </a:rPr>
              <a:t>珠海海奇半导体有限公司</a:t>
            </a:r>
          </a:p>
        </p:txBody>
      </p:sp>
      <p:pic>
        <p:nvPicPr>
          <p:cNvPr id="14" name="图片 13"/>
          <p:cNvPicPr>
            <a:picLocks noChangeAspect="1"/>
          </p:cNvPicPr>
          <p:nvPr userDrawn="1"/>
        </p:nvPicPr>
        <p:blipFill>
          <a:blip r:embed="rId2"/>
          <a:stretch>
            <a:fillRect/>
          </a:stretch>
        </p:blipFill>
        <p:spPr>
          <a:xfrm>
            <a:off x="11734806" y="-181"/>
            <a:ext cx="446143" cy="503422"/>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sp>
        <p:nvSpPr>
          <p:cNvPr id="7" name="矩形 6"/>
          <p:cNvSpPr/>
          <p:nvPr userDrawn="1"/>
        </p:nvSpPr>
        <p:spPr>
          <a:xfrm>
            <a:off x="-5985" y="-3216"/>
            <a:ext cx="540000" cy="5400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8" name="文本框 11"/>
          <p:cNvSpPr txBox="1"/>
          <p:nvPr userDrawn="1"/>
        </p:nvSpPr>
        <p:spPr>
          <a:xfrm>
            <a:off x="22177" y="-34282"/>
            <a:ext cx="587142" cy="646331"/>
          </a:xfrm>
          <a:prstGeom prst="rect">
            <a:avLst/>
          </a:prstGeom>
          <a:noFill/>
        </p:spPr>
        <p:txBody>
          <a:bodyPr vert="horz"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600" b="1" dirty="0">
                <a:solidFill>
                  <a:schemeClr val="bg1"/>
                </a:solidFill>
                <a:latin typeface="微软雅黑" panose="020B0503020204020204" pitchFamily="34" charset="-122"/>
                <a:ea typeface="微软雅黑" panose="020B0503020204020204" pitchFamily="34" charset="-122"/>
              </a:rPr>
              <a:t>7</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cxnSp>
        <p:nvCxnSpPr>
          <p:cNvPr id="9" name="直接连接符 8"/>
          <p:cNvCxnSpPr/>
          <p:nvPr userDrawn="1"/>
        </p:nvCxnSpPr>
        <p:spPr>
          <a:xfrm>
            <a:off x="-5985" y="528641"/>
            <a:ext cx="12192000" cy="0"/>
          </a:xfrm>
          <a:prstGeom prst="line">
            <a:avLst/>
          </a:prstGeom>
          <a:ln w="19050">
            <a:solidFill>
              <a:schemeClr val="tx1">
                <a:lumMod val="50000"/>
                <a:lumOff val="50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0" name="直接连接符 9"/>
          <p:cNvCxnSpPr/>
          <p:nvPr userDrawn="1"/>
        </p:nvCxnSpPr>
        <p:spPr>
          <a:xfrm>
            <a:off x="-5985" y="6436976"/>
            <a:ext cx="12203970" cy="23801"/>
          </a:xfrm>
          <a:prstGeom prst="line">
            <a:avLst/>
          </a:prstGeom>
          <a:ln w="19050">
            <a:solidFill>
              <a:schemeClr val="tx1">
                <a:lumMod val="50000"/>
                <a:lumOff val="50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1" name="文本框 14"/>
          <p:cNvSpPr txBox="1"/>
          <p:nvPr userDrawn="1"/>
        </p:nvSpPr>
        <p:spPr>
          <a:xfrm>
            <a:off x="22177" y="6488297"/>
            <a:ext cx="2549400" cy="338447"/>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lnSpc>
                <a:spcPct val="100000"/>
              </a:lnSpc>
            </a:pPr>
            <a:r>
              <a:rPr lang="zh-CN" altLang="en-US" sz="1600" b="1" dirty="0">
                <a:solidFill>
                  <a:schemeClr val="tx1">
                    <a:lumMod val="50000"/>
                    <a:lumOff val="50000"/>
                  </a:schemeClr>
                </a:solidFill>
                <a:effectLst/>
                <a:latin typeface="Arial" panose="020B0604020202020204" pitchFamily="34" charset="0"/>
                <a:ea typeface="微软雅黑" panose="020B0503020204020204" pitchFamily="34" charset="-122"/>
                <a:cs typeface="Arial" panose="020B0604020202020204" pitchFamily="34" charset="0"/>
              </a:rPr>
              <a:t>珠海海奇半导体有限公司</a:t>
            </a:r>
          </a:p>
        </p:txBody>
      </p:sp>
      <p:pic>
        <p:nvPicPr>
          <p:cNvPr id="13" name="图片 12"/>
          <p:cNvPicPr>
            <a:picLocks noChangeAspect="1"/>
          </p:cNvPicPr>
          <p:nvPr userDrawn="1"/>
        </p:nvPicPr>
        <p:blipFill>
          <a:blip r:embed="rId2"/>
          <a:stretch>
            <a:fillRect/>
          </a:stretch>
        </p:blipFill>
        <p:spPr>
          <a:xfrm>
            <a:off x="11734806" y="-181"/>
            <a:ext cx="446143" cy="503422"/>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竖排标题与文本">
    <p:spTree>
      <p:nvGrpSpPr>
        <p:cNvPr id="1" name=""/>
        <p:cNvGrpSpPr/>
        <p:nvPr/>
      </p:nvGrpSpPr>
      <p:grpSpPr>
        <a:xfrm>
          <a:off x="0" y="0"/>
          <a:ext cx="0" cy="0"/>
          <a:chOff x="0" y="0"/>
          <a:chExt cx="0" cy="0"/>
        </a:xfrm>
      </p:grpSpPr>
      <p:sp>
        <p:nvSpPr>
          <p:cNvPr id="7" name="矩形 6"/>
          <p:cNvSpPr/>
          <p:nvPr userDrawn="1"/>
        </p:nvSpPr>
        <p:spPr>
          <a:xfrm>
            <a:off x="-5985" y="-3216"/>
            <a:ext cx="540000" cy="5400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8" name="文本框 11"/>
          <p:cNvSpPr txBox="1"/>
          <p:nvPr userDrawn="1"/>
        </p:nvSpPr>
        <p:spPr>
          <a:xfrm>
            <a:off x="22177" y="-34282"/>
            <a:ext cx="587142" cy="646331"/>
          </a:xfrm>
          <a:prstGeom prst="rect">
            <a:avLst/>
          </a:prstGeom>
          <a:noFill/>
        </p:spPr>
        <p:txBody>
          <a:bodyPr vert="horz"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600" b="1" dirty="0">
                <a:solidFill>
                  <a:schemeClr val="bg1"/>
                </a:solidFill>
                <a:latin typeface="微软雅黑" panose="020B0503020204020204" pitchFamily="34" charset="-122"/>
                <a:ea typeface="微软雅黑" panose="020B0503020204020204" pitchFamily="34" charset="-122"/>
              </a:rPr>
              <a:t>8</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cxnSp>
        <p:nvCxnSpPr>
          <p:cNvPr id="9" name="直接连接符 8"/>
          <p:cNvCxnSpPr/>
          <p:nvPr userDrawn="1"/>
        </p:nvCxnSpPr>
        <p:spPr>
          <a:xfrm>
            <a:off x="-5985" y="528641"/>
            <a:ext cx="12192000" cy="0"/>
          </a:xfrm>
          <a:prstGeom prst="line">
            <a:avLst/>
          </a:prstGeom>
          <a:ln w="19050">
            <a:solidFill>
              <a:schemeClr val="tx1">
                <a:lumMod val="50000"/>
                <a:lumOff val="50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0" name="直接连接符 9"/>
          <p:cNvCxnSpPr/>
          <p:nvPr userDrawn="1"/>
        </p:nvCxnSpPr>
        <p:spPr>
          <a:xfrm>
            <a:off x="-5985" y="6436976"/>
            <a:ext cx="12203970" cy="23801"/>
          </a:xfrm>
          <a:prstGeom prst="line">
            <a:avLst/>
          </a:prstGeom>
          <a:ln w="19050">
            <a:solidFill>
              <a:schemeClr val="tx1">
                <a:lumMod val="50000"/>
                <a:lumOff val="50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1" name="文本框 14"/>
          <p:cNvSpPr txBox="1"/>
          <p:nvPr userDrawn="1"/>
        </p:nvSpPr>
        <p:spPr>
          <a:xfrm>
            <a:off x="22177" y="6488297"/>
            <a:ext cx="2549400" cy="338447"/>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lnSpc>
                <a:spcPct val="100000"/>
              </a:lnSpc>
            </a:pPr>
            <a:r>
              <a:rPr lang="zh-CN" altLang="en-US" sz="1600" b="1" dirty="0">
                <a:solidFill>
                  <a:schemeClr val="tx1">
                    <a:lumMod val="50000"/>
                    <a:lumOff val="50000"/>
                  </a:schemeClr>
                </a:solidFill>
                <a:effectLst/>
                <a:latin typeface="Arial" panose="020B0604020202020204" pitchFamily="34" charset="0"/>
                <a:ea typeface="微软雅黑" panose="020B0503020204020204" pitchFamily="34" charset="-122"/>
                <a:cs typeface="Arial" panose="020B0604020202020204" pitchFamily="34" charset="0"/>
              </a:rPr>
              <a:t>珠海海奇半导体有限公司</a:t>
            </a:r>
          </a:p>
        </p:txBody>
      </p:sp>
      <p:pic>
        <p:nvPicPr>
          <p:cNvPr id="13" name="图片 12"/>
          <p:cNvPicPr>
            <a:picLocks noChangeAspect="1"/>
          </p:cNvPicPr>
          <p:nvPr userDrawn="1"/>
        </p:nvPicPr>
        <p:blipFill>
          <a:blip r:embed="rId2"/>
          <a:stretch>
            <a:fillRect/>
          </a:stretch>
        </p:blipFill>
        <p:spPr>
          <a:xfrm>
            <a:off x="11734806" y="-181"/>
            <a:ext cx="446143" cy="503422"/>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竖排标题与文本">
    <p:spTree>
      <p:nvGrpSpPr>
        <p:cNvPr id="1" name=""/>
        <p:cNvGrpSpPr/>
        <p:nvPr/>
      </p:nvGrpSpPr>
      <p:grpSpPr>
        <a:xfrm>
          <a:off x="0" y="0"/>
          <a:ext cx="0" cy="0"/>
          <a:chOff x="0" y="0"/>
          <a:chExt cx="0" cy="0"/>
        </a:xfrm>
      </p:grpSpPr>
      <p:sp>
        <p:nvSpPr>
          <p:cNvPr id="7" name="矩形 6"/>
          <p:cNvSpPr/>
          <p:nvPr userDrawn="1"/>
        </p:nvSpPr>
        <p:spPr>
          <a:xfrm>
            <a:off x="-5985" y="-3216"/>
            <a:ext cx="540000" cy="5400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8" name="文本框 11"/>
          <p:cNvSpPr txBox="1"/>
          <p:nvPr userDrawn="1"/>
        </p:nvSpPr>
        <p:spPr>
          <a:xfrm>
            <a:off x="22177" y="-34282"/>
            <a:ext cx="587142" cy="646331"/>
          </a:xfrm>
          <a:prstGeom prst="rect">
            <a:avLst/>
          </a:prstGeom>
          <a:noFill/>
        </p:spPr>
        <p:txBody>
          <a:bodyPr vert="horz"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600" b="1" dirty="0">
                <a:solidFill>
                  <a:schemeClr val="bg1"/>
                </a:solidFill>
                <a:latin typeface="微软雅黑" panose="020B0503020204020204" pitchFamily="34" charset="-122"/>
                <a:ea typeface="微软雅黑" panose="020B0503020204020204" pitchFamily="34" charset="-122"/>
              </a:rPr>
              <a:t>9</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cxnSp>
        <p:nvCxnSpPr>
          <p:cNvPr id="9" name="直接连接符 8"/>
          <p:cNvCxnSpPr/>
          <p:nvPr userDrawn="1"/>
        </p:nvCxnSpPr>
        <p:spPr>
          <a:xfrm>
            <a:off x="-5985" y="528641"/>
            <a:ext cx="12192000" cy="0"/>
          </a:xfrm>
          <a:prstGeom prst="line">
            <a:avLst/>
          </a:prstGeom>
          <a:ln w="19050">
            <a:solidFill>
              <a:schemeClr val="tx1">
                <a:lumMod val="50000"/>
                <a:lumOff val="50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0" name="直接连接符 9"/>
          <p:cNvCxnSpPr/>
          <p:nvPr userDrawn="1"/>
        </p:nvCxnSpPr>
        <p:spPr>
          <a:xfrm>
            <a:off x="-5985" y="6436976"/>
            <a:ext cx="12203970" cy="23801"/>
          </a:xfrm>
          <a:prstGeom prst="line">
            <a:avLst/>
          </a:prstGeom>
          <a:ln w="19050">
            <a:solidFill>
              <a:schemeClr val="tx1">
                <a:lumMod val="50000"/>
                <a:lumOff val="50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1" name="文本框 14"/>
          <p:cNvSpPr txBox="1"/>
          <p:nvPr userDrawn="1"/>
        </p:nvSpPr>
        <p:spPr>
          <a:xfrm>
            <a:off x="22177" y="6488297"/>
            <a:ext cx="2549400" cy="338447"/>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lnSpc>
                <a:spcPct val="100000"/>
              </a:lnSpc>
            </a:pPr>
            <a:r>
              <a:rPr lang="zh-CN" altLang="en-US" sz="1600" b="1" dirty="0">
                <a:solidFill>
                  <a:schemeClr val="tx1">
                    <a:lumMod val="50000"/>
                    <a:lumOff val="50000"/>
                  </a:schemeClr>
                </a:solidFill>
                <a:effectLst/>
                <a:latin typeface="Arial" panose="020B0604020202020204" pitchFamily="34" charset="0"/>
                <a:ea typeface="微软雅黑" panose="020B0503020204020204" pitchFamily="34" charset="-122"/>
                <a:cs typeface="Arial" panose="020B0604020202020204" pitchFamily="34" charset="0"/>
              </a:rPr>
              <a:t>珠海海奇半导体有限公司</a:t>
            </a:r>
          </a:p>
        </p:txBody>
      </p:sp>
      <p:pic>
        <p:nvPicPr>
          <p:cNvPr id="13" name="图片 12"/>
          <p:cNvPicPr>
            <a:picLocks noChangeAspect="1"/>
          </p:cNvPicPr>
          <p:nvPr userDrawn="1"/>
        </p:nvPicPr>
        <p:blipFill>
          <a:blip r:embed="rId2"/>
          <a:stretch>
            <a:fillRect/>
          </a:stretch>
        </p:blipFill>
        <p:spPr>
          <a:xfrm>
            <a:off x="11734806" y="-181"/>
            <a:ext cx="446143" cy="503422"/>
          </a:xfrm>
          <a:prstGeom prst="rect">
            <a:avLst/>
          </a:prstGeom>
        </p:spPr>
      </p:pic>
    </p:spTree>
    <p:extLst>
      <p:ext uri="{BB962C8B-B14F-4D97-AF65-F5344CB8AC3E}">
        <p14:creationId xmlns:p14="http://schemas.microsoft.com/office/powerpoint/2010/main" val="27430290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14" name="矩形 13"/>
          <p:cNvSpPr/>
          <p:nvPr userDrawn="1"/>
        </p:nvSpPr>
        <p:spPr>
          <a:xfrm>
            <a:off x="-5985" y="-3216"/>
            <a:ext cx="540000" cy="540000"/>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5" name="文本框 11"/>
          <p:cNvSpPr txBox="1"/>
          <p:nvPr userDrawn="1"/>
        </p:nvSpPr>
        <p:spPr>
          <a:xfrm>
            <a:off x="22177" y="-34282"/>
            <a:ext cx="587142" cy="646331"/>
          </a:xfrm>
          <a:prstGeom prst="rect">
            <a:avLst/>
          </a:prstGeom>
          <a:noFill/>
        </p:spPr>
        <p:txBody>
          <a:bodyPr vert="horz"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600" b="1" dirty="0">
                <a:solidFill>
                  <a:schemeClr val="bg1"/>
                </a:solidFill>
                <a:latin typeface="微软雅黑" panose="020B0503020204020204" pitchFamily="34" charset="-122"/>
                <a:ea typeface="微软雅黑" panose="020B0503020204020204" pitchFamily="34" charset="-122"/>
              </a:rPr>
              <a:t>9</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cxnSp>
        <p:nvCxnSpPr>
          <p:cNvPr id="16" name="直接连接符 15"/>
          <p:cNvCxnSpPr/>
          <p:nvPr userDrawn="1"/>
        </p:nvCxnSpPr>
        <p:spPr>
          <a:xfrm>
            <a:off x="-5985" y="528641"/>
            <a:ext cx="12192000" cy="0"/>
          </a:xfrm>
          <a:prstGeom prst="line">
            <a:avLst/>
          </a:prstGeom>
          <a:ln w="19050">
            <a:solidFill>
              <a:schemeClr val="tx1">
                <a:lumMod val="50000"/>
                <a:lumOff val="50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cxnSp>
        <p:nvCxnSpPr>
          <p:cNvPr id="17" name="直接连接符 16"/>
          <p:cNvCxnSpPr/>
          <p:nvPr userDrawn="1"/>
        </p:nvCxnSpPr>
        <p:spPr>
          <a:xfrm>
            <a:off x="-5985" y="6436976"/>
            <a:ext cx="12203970" cy="23801"/>
          </a:xfrm>
          <a:prstGeom prst="line">
            <a:avLst/>
          </a:prstGeom>
          <a:ln w="19050">
            <a:solidFill>
              <a:schemeClr val="tx1">
                <a:lumMod val="50000"/>
                <a:lumOff val="50000"/>
              </a:schemeClr>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8" name="文本框 14"/>
          <p:cNvSpPr txBox="1"/>
          <p:nvPr userDrawn="1"/>
        </p:nvSpPr>
        <p:spPr>
          <a:xfrm>
            <a:off x="22177" y="6488297"/>
            <a:ext cx="2549400" cy="338447"/>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dist">
              <a:lnSpc>
                <a:spcPct val="100000"/>
              </a:lnSpc>
            </a:pPr>
            <a:r>
              <a:rPr lang="zh-CN" altLang="en-US" sz="1600" b="1" dirty="0">
                <a:solidFill>
                  <a:schemeClr val="tx1">
                    <a:lumMod val="50000"/>
                    <a:lumOff val="50000"/>
                  </a:schemeClr>
                </a:solidFill>
                <a:effectLst/>
                <a:latin typeface="Arial" panose="020B0604020202020204" pitchFamily="34" charset="0"/>
                <a:ea typeface="微软雅黑" panose="020B0503020204020204" pitchFamily="34" charset="-122"/>
                <a:cs typeface="Arial" panose="020B0604020202020204" pitchFamily="34" charset="0"/>
              </a:rPr>
              <a:t>珠海海奇半导体有限公司</a:t>
            </a:r>
          </a:p>
        </p:txBody>
      </p:sp>
      <p:pic>
        <p:nvPicPr>
          <p:cNvPr id="20" name="图片 19"/>
          <p:cNvPicPr>
            <a:picLocks noChangeAspect="1"/>
          </p:cNvPicPr>
          <p:nvPr userDrawn="1"/>
        </p:nvPicPr>
        <p:blipFill>
          <a:blip r:embed="rId2"/>
          <a:stretch>
            <a:fillRect/>
          </a:stretch>
        </p:blipFill>
        <p:spPr>
          <a:xfrm>
            <a:off x="11734806" y="-181"/>
            <a:ext cx="446143" cy="503422"/>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0C5E919-DA01-4C45-A52D-4544C365A6B2}" type="datetimeFigureOut">
              <a:rPr lang="zh-CN" altLang="en-US" smtClean="0"/>
              <a:t>2023/12/21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B13EE2B-5929-486B-B269-05647122C480}"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00C5E919-DA01-4C45-A52D-4544C365A6B2}" type="datetimeFigureOut">
              <a:rPr lang="zh-CN" altLang="en-US" smtClean="0"/>
              <a:t>2023/12/21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B13EE2B-5929-486B-B269-05647122C480}"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00C5E919-DA01-4C45-A52D-4544C365A6B2}" type="datetimeFigureOut">
              <a:rPr lang="zh-CN" altLang="en-US" smtClean="0"/>
              <a:t>2023/12/21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B13EE2B-5929-486B-B269-05647122C480}"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00C5E919-DA01-4C45-A52D-4544C365A6B2}" type="datetimeFigureOut">
              <a:rPr lang="zh-CN" altLang="en-US" smtClean="0"/>
              <a:t>2023/12/21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B13EE2B-5929-486B-B269-05647122C480}"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grpSp>
        <p:nvGrpSpPr>
          <p:cNvPr id="9" name="组合 8"/>
          <p:cNvGrpSpPr/>
          <p:nvPr userDrawn="1"/>
        </p:nvGrpSpPr>
        <p:grpSpPr>
          <a:xfrm>
            <a:off x="0" y="0"/>
            <a:ext cx="12192000" cy="6134100"/>
            <a:chOff x="0" y="457200"/>
            <a:chExt cx="12192000" cy="6134100"/>
          </a:xfrm>
        </p:grpSpPr>
        <p:pic>
          <p:nvPicPr>
            <p:cNvPr id="5124" name="Picture 4" descr="查看源图像"/>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8856" b="16106"/>
            <a:stretch>
              <a:fillRect/>
            </a:stretch>
          </p:blipFill>
          <p:spPr bwMode="auto">
            <a:xfrm>
              <a:off x="0" y="457200"/>
              <a:ext cx="12192000" cy="6134100"/>
            </a:xfrm>
            <a:prstGeom prst="rect">
              <a:avLst/>
            </a:prstGeom>
            <a:noFill/>
            <a:extLst>
              <a:ext uri="{909E8E84-426E-40DD-AFC4-6F175D3DCCD1}">
                <a14:hiddenFill xmlns:a14="http://schemas.microsoft.com/office/drawing/2010/main">
                  <a:solidFill>
                    <a:srgbClr val="FFFFFF"/>
                  </a:solidFill>
                </a14:hiddenFill>
              </a:ext>
            </a:extLst>
          </p:spPr>
        </p:pic>
        <p:pic>
          <p:nvPicPr>
            <p:cNvPr id="8" name="图片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153242" y="2876550"/>
              <a:ext cx="1539979" cy="1619250"/>
            </a:xfrm>
            <a:prstGeom prst="rect">
              <a:avLst/>
            </a:prstGeom>
            <a:effectLst>
              <a:outerShdw blurRad="152400" dist="317500" dir="5400000" sx="90000" sy="-19000" rotWithShape="0">
                <a:schemeClr val="bg1">
                  <a:lumMod val="95000"/>
                  <a:alpha val="15000"/>
                </a:schemeClr>
              </a:outerShdw>
            </a:effectLst>
          </p:spPr>
        </p:pic>
      </p:grpSp>
      <p:sp>
        <p:nvSpPr>
          <p:cNvPr id="7" name="矩形 6"/>
          <p:cNvSpPr/>
          <p:nvPr userDrawn="1"/>
        </p:nvSpPr>
        <p:spPr>
          <a:xfrm rot="10800000">
            <a:off x="0" y="1727200"/>
            <a:ext cx="12192000" cy="5130800"/>
          </a:xfrm>
          <a:prstGeom prst="rect">
            <a:avLst/>
          </a:prstGeom>
          <a:gradFill flip="none" rotWithShape="1">
            <a:gsLst>
              <a:gs pos="48000">
                <a:schemeClr val="tx1"/>
              </a:gs>
              <a:gs pos="62000">
                <a:schemeClr val="tx1">
                  <a:alpha val="78000"/>
                </a:schemeClr>
              </a:gs>
              <a:gs pos="100000">
                <a:schemeClr val="tx1">
                  <a:alpha val="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0C5E919-DA01-4C45-A52D-4544C365A6B2}" type="datetimeFigureOut">
              <a:rPr lang="zh-CN" altLang="en-US" smtClean="0"/>
              <a:t>2023/12/21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B13EE2B-5929-486B-B269-05647122C480}"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0C5E919-DA01-4C45-A52D-4544C365A6B2}" type="datetimeFigureOut">
              <a:rPr lang="zh-CN" altLang="en-US" smtClean="0"/>
              <a:t>2023/12/21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B13EE2B-5929-486B-B269-05647122C480}"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00C5E919-DA01-4C45-A52D-4544C365A6B2}" type="datetimeFigureOut">
              <a:rPr lang="zh-CN" altLang="en-US" smtClean="0"/>
              <a:t>2023/12/21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B13EE2B-5929-486B-B269-05647122C480}" type="slidenum">
              <a:rPr lang="zh-CN" altLang="en-US" smtClean="0"/>
              <a:t>‹#›</a:t>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0C5E919-DA01-4C45-A52D-4544C365A6B2}" type="datetimeFigureOut">
              <a:rPr lang="zh-CN" altLang="en-US" smtClean="0"/>
              <a:t>2023/12/21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B13EE2B-5929-486B-B269-05647122C480}" type="slidenum">
              <a:rPr lang="zh-CN" altLang="en-US" smtClean="0"/>
              <a:t>‹#›</a:t>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00C5E919-DA01-4C45-A52D-4544C365A6B2}" type="datetimeFigureOut">
              <a:rPr lang="zh-CN" altLang="en-US" smtClean="0"/>
              <a:t>2023/12/21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B13EE2B-5929-486B-B269-05647122C480}" type="slidenum">
              <a:rPr lang="zh-CN" altLang="en-US" smtClean="0"/>
              <a:t>‹#›</a:t>
            </a:fld>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E92B3481-59CC-4C05-9A48-018CF764FF4A}" type="datetimeFigureOut">
              <a:rPr lang="zh-CN" altLang="en-US" smtClean="0"/>
              <a:t>2023/12/21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C10EC4C-6DE1-463C-A608-CBE18CAA042D}" type="slidenum">
              <a:rPr lang="zh-CN" altLang="en-US" smtClean="0"/>
              <a:t>‹#›</a:t>
            </a:fld>
            <a:endParaRPr lang="zh-CN" alt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E92B3481-59CC-4C05-9A48-018CF764FF4A}" type="datetimeFigureOut">
              <a:rPr lang="zh-CN" altLang="en-US" smtClean="0"/>
              <a:t>2023/12/21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C10EC4C-6DE1-463C-A608-CBE18CAA042D}" type="slidenum">
              <a:rPr lang="zh-CN" altLang="en-US" smtClean="0"/>
              <a:t>‹#›</a:t>
            </a:fld>
            <a:endParaRPr lang="zh-CN" alt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E92B3481-59CC-4C05-9A48-018CF764FF4A}" type="datetimeFigureOut">
              <a:rPr lang="zh-CN" altLang="en-US" smtClean="0"/>
              <a:t>2023/12/21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C10EC4C-6DE1-463C-A608-CBE18CAA042D}" type="slidenum">
              <a:rPr lang="zh-CN" altLang="en-US" smtClean="0"/>
              <a:t>‹#›</a:t>
            </a:fld>
            <a:endParaRPr lang="zh-CN" alt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E92B3481-59CC-4C05-9A48-018CF764FF4A}" type="datetimeFigureOut">
              <a:rPr lang="zh-CN" altLang="en-US" smtClean="0"/>
              <a:t>2023/12/21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C10EC4C-6DE1-463C-A608-CBE18CAA042D}" type="slidenum">
              <a:rPr lang="zh-CN" altLang="en-US" smtClean="0"/>
              <a:t>‹#›</a:t>
            </a:fld>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E92B3481-59CC-4C05-9A48-018CF764FF4A}" type="datetimeFigureOut">
              <a:rPr lang="zh-CN" altLang="en-US" smtClean="0"/>
              <a:t>2023/12/21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2C10EC4C-6DE1-463C-A608-CBE18CAA042D}" type="slidenum">
              <a:rPr lang="zh-CN" altLang="en-US" smtClean="0"/>
              <a:t>‹#›</a:t>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E92B3481-59CC-4C05-9A48-018CF764FF4A}" type="datetimeFigureOut">
              <a:rPr lang="zh-CN" altLang="en-US" smtClean="0"/>
              <a:t>2023/12/21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2C10EC4C-6DE1-463C-A608-CBE18CAA042D}" type="slidenum">
              <a:rPr lang="zh-CN" altLang="en-US" smtClean="0"/>
              <a:t>‹#›</a:t>
            </a:fld>
            <a:endParaRPr lang="zh-CN" alt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92B3481-59CC-4C05-9A48-018CF764FF4A}" type="datetimeFigureOut">
              <a:rPr lang="zh-CN" altLang="en-US" smtClean="0"/>
              <a:t>2023/12/21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2C10EC4C-6DE1-463C-A608-CBE18CAA042D}" type="slidenum">
              <a:rPr lang="zh-CN" altLang="en-US" smtClean="0"/>
              <a:t>‹#›</a:t>
            </a:fld>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92B3481-59CC-4C05-9A48-018CF764FF4A}" type="datetimeFigureOut">
              <a:rPr lang="zh-CN" altLang="en-US" smtClean="0"/>
              <a:t>2023/12/21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C10EC4C-6DE1-463C-A608-CBE18CAA042D}" type="slidenum">
              <a:rPr lang="zh-CN" altLang="en-US" smtClean="0"/>
              <a:t>‹#›</a:t>
            </a:fld>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92B3481-59CC-4C05-9A48-018CF764FF4A}" type="datetimeFigureOut">
              <a:rPr lang="zh-CN" altLang="en-US" smtClean="0"/>
              <a:t>2023/12/21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2C10EC4C-6DE1-463C-A608-CBE18CAA042D}" type="slidenum">
              <a:rPr lang="zh-CN" altLang="en-US" smtClean="0"/>
              <a:t>‹#›</a:t>
            </a:fld>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E92B3481-59CC-4C05-9A48-018CF764FF4A}" type="datetimeFigureOut">
              <a:rPr lang="zh-CN" altLang="en-US" smtClean="0"/>
              <a:t>2023/12/21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C10EC4C-6DE1-463C-A608-CBE18CAA042D}" type="slidenum">
              <a:rPr lang="zh-CN" altLang="en-US" smtClean="0"/>
              <a:t>‹#›</a:t>
            </a:fld>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E92B3481-59CC-4C05-9A48-018CF764FF4A}" type="datetimeFigureOut">
              <a:rPr lang="zh-CN" altLang="en-US" smtClean="0"/>
              <a:t>2023/12/21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2C10EC4C-6DE1-463C-A608-CBE18CAA042D}" type="slidenum">
              <a:rPr lang="zh-CN" altLang="en-US" smtClean="0"/>
              <a:t>‹#›</a:t>
            </a:fld>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73E6AFA6-12AA-44B2-94C9-C9A6A9E904BB}" type="datetimeFigureOut">
              <a:rPr lang="zh-CN" altLang="en-US" smtClean="0"/>
              <a:t>2023/12/21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F5CB115-A1FD-48F6-A563-096F2B9686C7}" type="slidenum">
              <a:rPr lang="zh-CN" altLang="en-US" smtClean="0"/>
              <a:t>‹#›</a:t>
            </a:fld>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73E6AFA6-12AA-44B2-94C9-C9A6A9E904BB}" type="datetimeFigureOut">
              <a:rPr lang="zh-CN" altLang="en-US" smtClean="0"/>
              <a:t>2023/12/21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F5CB115-A1FD-48F6-A563-096F2B9686C7}" type="slidenum">
              <a:rPr lang="zh-CN" altLang="en-US" smtClean="0"/>
              <a:t>‹#›</a:t>
            </a:fld>
            <a:endParaRPr lang="zh-CN" alt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73E6AFA6-12AA-44B2-94C9-C9A6A9E904BB}" type="datetimeFigureOut">
              <a:rPr lang="zh-CN" altLang="en-US" smtClean="0"/>
              <a:t>2023/12/21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F5CB115-A1FD-48F6-A563-096F2B9686C7}" type="slidenum">
              <a:rPr lang="zh-CN" altLang="en-US" smtClean="0"/>
              <a:t>‹#›</a:t>
            </a:fld>
            <a:endParaRPr lang="zh-CN" altLang="en-US"/>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73E6AFA6-12AA-44B2-94C9-C9A6A9E904BB}" type="datetimeFigureOut">
              <a:rPr lang="zh-CN" altLang="en-US" smtClean="0"/>
              <a:t>2023/12/21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F5CB115-A1FD-48F6-A563-096F2B9686C7}" type="slidenum">
              <a:rPr lang="zh-CN" altLang="en-US" smtClean="0"/>
              <a:t>‹#›</a:t>
            </a:fld>
            <a:endParaRPr lang="zh-CN" alt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73E6AFA6-12AA-44B2-94C9-C9A6A9E904BB}" type="datetimeFigureOut">
              <a:rPr lang="zh-CN" altLang="en-US" smtClean="0"/>
              <a:t>2023/12/21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8F5CB115-A1FD-48F6-A563-096F2B9686C7}" type="slidenum">
              <a:rPr lang="zh-CN" altLang="en-US" smtClean="0"/>
              <a:t>‹#›</a:t>
            </a:fld>
            <a:endParaRPr lang="zh-CN" alt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73E6AFA6-12AA-44B2-94C9-C9A6A9E904BB}" type="datetimeFigureOut">
              <a:rPr lang="zh-CN" altLang="en-US" smtClean="0"/>
              <a:t>2023/12/21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8F5CB115-A1FD-48F6-A563-096F2B9686C7}" type="slidenum">
              <a:rPr lang="zh-CN" altLang="en-US" smtClean="0"/>
              <a:t>‹#›</a:t>
            </a:fld>
            <a:endParaRPr lang="zh-CN" altLang="en-US"/>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3E6AFA6-12AA-44B2-94C9-C9A6A9E904BB}" type="datetimeFigureOut">
              <a:rPr lang="zh-CN" altLang="en-US" smtClean="0"/>
              <a:t>2023/12/21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8F5CB115-A1FD-48F6-A563-096F2B9686C7}" type="slidenum">
              <a:rPr lang="zh-CN" altLang="en-US" smtClean="0"/>
              <a:t>‹#›</a:t>
            </a:fld>
            <a:endParaRPr lang="zh-CN" alt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73E6AFA6-12AA-44B2-94C9-C9A6A9E904BB}" type="datetimeFigureOut">
              <a:rPr lang="zh-CN" altLang="en-US" smtClean="0"/>
              <a:t>2023/12/21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F5CB115-A1FD-48F6-A563-096F2B9686C7}" type="slidenum">
              <a:rPr lang="zh-CN" altLang="en-US" smtClean="0"/>
              <a:t>‹#›</a:t>
            </a:fld>
            <a:endParaRPr lang="zh-CN" alt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73E6AFA6-12AA-44B2-94C9-C9A6A9E904BB}" type="datetimeFigureOut">
              <a:rPr lang="zh-CN" altLang="en-US" smtClean="0"/>
              <a:t>2023/12/21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8F5CB115-A1FD-48F6-A563-096F2B9686C7}" type="slidenum">
              <a:rPr lang="zh-CN" altLang="en-US" smtClean="0"/>
              <a:t>‹#›</a:t>
            </a:fld>
            <a:endParaRPr lang="zh-CN" altLang="en-US"/>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73E6AFA6-12AA-44B2-94C9-C9A6A9E904BB}" type="datetimeFigureOut">
              <a:rPr lang="zh-CN" altLang="en-US" smtClean="0"/>
              <a:t>2023/12/21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F5CB115-A1FD-48F6-A563-096F2B9686C7}" type="slidenum">
              <a:rPr lang="zh-CN" altLang="en-US" smtClean="0"/>
              <a:t>‹#›</a:t>
            </a:fld>
            <a:endParaRPr lang="zh-CN" altLang="en-US"/>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73E6AFA6-12AA-44B2-94C9-C9A6A9E904BB}" type="datetimeFigureOut">
              <a:rPr lang="zh-CN" altLang="en-US" smtClean="0"/>
              <a:t>2023/12/21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8F5CB115-A1FD-48F6-A563-096F2B9686C7}"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theme" Target="../theme/theme4.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5D0CDE5-F0F2-4811-AF7F-9EBBDE1C973C}" type="datetimeFigureOut">
              <a:rPr lang="zh-CN" altLang="en-US" smtClean="0"/>
              <a:t>2023/12/21</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150B30D-3D34-485A-B84F-DD260DB3793D}"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97" r:id="rId12"/>
    <p:sldLayoutId id="2147483660"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C5E919-DA01-4C45-A52D-4544C365A6B2}" type="datetimeFigureOut">
              <a:rPr lang="zh-CN" altLang="en-US" smtClean="0"/>
              <a:t>2023/12/21</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13EE2B-5929-486B-B269-05647122C480}"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2B3481-59CC-4C05-9A48-018CF764FF4A}" type="datetimeFigureOut">
              <a:rPr lang="zh-CN" altLang="en-US" smtClean="0"/>
              <a:t>2023/12/21</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C10EC4C-6DE1-463C-A608-CBE18CAA042D}"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E6AFA6-12AA-44B2-94C9-C9A6A9E904BB}" type="datetimeFigureOut">
              <a:rPr lang="zh-CN" altLang="en-US" smtClean="0"/>
              <a:t>2023/12/21</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F5CB115-A1FD-48F6-A563-096F2B9686C7}"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9.xml"/><Relationship Id="rId4" Type="http://schemas.openxmlformats.org/officeDocument/2006/relationships/image" Target="../media/image16.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p:cNvSpPr txBox="1"/>
          <p:nvPr/>
        </p:nvSpPr>
        <p:spPr>
          <a:xfrm>
            <a:off x="3290122" y="1453984"/>
            <a:ext cx="5611729" cy="1323439"/>
          </a:xfrm>
          <a:prstGeom prst="rect">
            <a:avLst/>
          </a:prstGeom>
          <a:noFill/>
          <a:effectLst>
            <a:outerShdw blurRad="50800" dist="38100" dir="8100000" algn="tr" rotWithShape="0">
              <a:prstClr val="black">
                <a:alpha val="40000"/>
              </a:prstClr>
            </a:outerShdw>
          </a:effectLst>
        </p:spPr>
        <p:txBody>
          <a:bodyPr wrap="none" rtlCol="0">
            <a:spAutoFit/>
          </a:bodyPr>
          <a:lstStyle/>
          <a:p>
            <a:pPr algn="ctr"/>
            <a:r>
              <a:rPr lang="en-US" altLang="zh-CN" sz="4000" b="1" spc="3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HICHIP</a:t>
            </a:r>
          </a:p>
          <a:p>
            <a:pPr algn="ctr"/>
            <a:r>
              <a:rPr lang="en-US" altLang="zh-CN" sz="4000" b="1" spc="3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PCB Layout Guide</a:t>
            </a:r>
            <a:endParaRPr lang="zh-CN" sz="4000" b="1" spc="3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6" name="矩形 15"/>
          <p:cNvSpPr/>
          <p:nvPr/>
        </p:nvSpPr>
        <p:spPr>
          <a:xfrm>
            <a:off x="0" y="5140617"/>
            <a:ext cx="12192000" cy="1231010"/>
          </a:xfrm>
          <a:prstGeom prst="rect">
            <a:avLst/>
          </a:prstGeom>
          <a:solidFill>
            <a:schemeClr val="tx1">
              <a:lumMod val="95000"/>
              <a:lumOff val="5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4059456" y="4618638"/>
            <a:ext cx="4513580" cy="521970"/>
          </a:xfrm>
          <a:prstGeom prst="rect">
            <a:avLst/>
          </a:prstGeom>
          <a:noFill/>
          <a:effectLst>
            <a:outerShdw blurRad="50800" dist="38100" dir="8100000" algn="tr" rotWithShape="0">
              <a:prstClr val="black">
                <a:alpha val="40000"/>
              </a:prstClr>
            </a:outerShdw>
          </a:effectLst>
        </p:spPr>
        <p:txBody>
          <a:bodyPr wrap="none" rtlCol="0">
            <a:spAutoFit/>
          </a:bodyPr>
          <a:lstStyle/>
          <a:p>
            <a:r>
              <a:rPr lang="zh-CN" altLang="en-US" sz="2800" b="1" spc="3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珠海海奇半导体有限公司</a:t>
            </a:r>
          </a:p>
        </p:txBody>
      </p:sp>
      <p:cxnSp>
        <p:nvCxnSpPr>
          <p:cNvPr id="18" name="直接连接符 17"/>
          <p:cNvCxnSpPr/>
          <p:nvPr/>
        </p:nvCxnSpPr>
        <p:spPr>
          <a:xfrm>
            <a:off x="1650351" y="2887343"/>
            <a:ext cx="9030349" cy="0"/>
          </a:xfrm>
          <a:prstGeom prst="line">
            <a:avLst/>
          </a:prstGeom>
          <a:ln w="9525">
            <a:solidFill>
              <a:schemeClr val="bg1"/>
            </a:solidFill>
          </a:ln>
          <a:effectLst>
            <a:outerShdw blurRad="50800" dist="38100" dir="2700000" algn="tl" rotWithShape="0">
              <a:schemeClr val="bg1">
                <a:alpha val="40000"/>
              </a:schemeClr>
            </a:outerShdw>
          </a:effectLst>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1650351" y="1185543"/>
            <a:ext cx="9030349" cy="0"/>
          </a:xfrm>
          <a:prstGeom prst="line">
            <a:avLst/>
          </a:prstGeom>
          <a:ln w="9525">
            <a:solidFill>
              <a:schemeClr val="bg1"/>
            </a:solidFill>
          </a:ln>
          <a:effectLst>
            <a:outerShdw blurRad="50800" dist="38100" dir="2700000" algn="tl" rotWithShape="0">
              <a:schemeClr val="bg1">
                <a:alpha val="40000"/>
              </a:scheme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603250" y="0"/>
            <a:ext cx="4601796" cy="508601"/>
          </a:xfrm>
          <a:prstGeom prst="rect">
            <a:avLst/>
          </a:prstGeom>
          <a:noFill/>
        </p:spPr>
        <p:txBody>
          <a:bodyPr wrap="square">
            <a:spAutoFit/>
          </a:bodyPr>
          <a:lstStyle/>
          <a:p>
            <a:pPr>
              <a:lnSpc>
                <a:spcPct val="125000"/>
              </a:lnSpc>
            </a:pPr>
            <a:r>
              <a:rPr lang="en-US" altLang="zh-CN" sz="2400" b="1" dirty="0">
                <a:solidFill>
                  <a:schemeClr val="bg2">
                    <a:lumMod val="50000"/>
                  </a:schemeClr>
                </a:solidFill>
                <a:latin typeface="Arial" panose="020B0604020202020204" pitchFamily="34" charset="0"/>
                <a:ea typeface="微软雅黑" panose="020B0503020204020204" pitchFamily="34" charset="-122"/>
                <a:cs typeface="Arial" panose="020B0604020202020204" pitchFamily="34" charset="0"/>
              </a:rPr>
              <a:t>Placement</a:t>
            </a:r>
            <a:r>
              <a:rPr lang="zh-CN" altLang="en-US" sz="2400" b="1" dirty="0">
                <a:solidFill>
                  <a:srgbClr val="FF0000"/>
                </a:solidFill>
                <a:latin typeface="Arial" panose="020B0604020202020204" pitchFamily="34" charset="0"/>
                <a:ea typeface="微软雅黑" panose="020B0503020204020204" pitchFamily="34" charset="-122"/>
                <a:cs typeface="Arial" panose="020B0604020202020204" pitchFamily="34" charset="0"/>
              </a:rPr>
              <a:t>    </a:t>
            </a:r>
            <a:endParaRPr lang="en-US" altLang="zh-CN" sz="2400" b="1" dirty="0">
              <a:solidFill>
                <a:srgbClr val="FF0000"/>
              </a:solidFill>
              <a:latin typeface="Arial" panose="020B0604020202020204" pitchFamily="34" charset="0"/>
              <a:ea typeface="微软雅黑" panose="020B0503020204020204" pitchFamily="34" charset="-122"/>
              <a:cs typeface="Arial" panose="020B0604020202020204" pitchFamily="34" charset="0"/>
            </a:endParaRPr>
          </a:p>
        </p:txBody>
      </p:sp>
      <p:sp>
        <p:nvSpPr>
          <p:cNvPr id="6146" name="内容占位符 2"/>
          <p:cNvSpPr>
            <a:spLocks noGrp="1"/>
          </p:cNvSpPr>
          <p:nvPr>
            <p:ph idx="4294967295"/>
          </p:nvPr>
        </p:nvSpPr>
        <p:spPr>
          <a:xfrm>
            <a:off x="457200" y="794385"/>
            <a:ext cx="10893972" cy="5332095"/>
          </a:xfrm>
        </p:spPr>
        <p:txBody>
          <a:bodyPr vert="horz" wrap="square" lIns="91440" tIns="45720" rIns="91440" bIns="45720" anchor="t" anchorCtr="0"/>
          <a:lstStyle/>
          <a:p>
            <a:pPr marL="0" marR="0" indent="0" algn="l" defTabSz="914400" rtl="0" eaLnBrk="1" fontAlgn="base" latinLnBrk="0" hangingPunct="1">
              <a:lnSpc>
                <a:spcPct val="100000"/>
              </a:lnSpc>
              <a:spcBef>
                <a:spcPct val="20000"/>
              </a:spcBef>
              <a:spcAft>
                <a:spcPct val="0"/>
              </a:spcAft>
              <a:buClrTx/>
              <a:buSzTx/>
              <a:buNone/>
            </a:pPr>
            <a:r>
              <a:rPr kumimoji="0" lang="en-US" altLang="zh-CN" sz="2400" b="0" i="0" u="none" strike="noStrike" kern="1200" cap="none" spc="0" normalizeH="0" baseline="0" noProof="1">
                <a:solidFill>
                  <a:schemeClr val="tx1"/>
                </a:solidFill>
                <a:latin typeface="+mn-lt"/>
                <a:ea typeface="+mn-ea"/>
                <a:cs typeface="+mn-cs"/>
              </a:rPr>
              <a:t>    </a:t>
            </a:r>
            <a:r>
              <a:rPr kumimoji="0" lang="zh-CN" altLang="en-US" sz="2400" b="0" i="0" u="none" strike="noStrike" kern="1200" cap="none" spc="0" normalizeH="0" baseline="0" noProof="1">
                <a:solidFill>
                  <a:schemeClr val="tx1"/>
                </a:solidFill>
                <a:latin typeface="+mn-lt"/>
                <a:ea typeface="+mn-ea"/>
                <a:cs typeface="+mn-cs"/>
              </a:rPr>
              <a:t>从线路板走线</a:t>
            </a:r>
            <a:r>
              <a:rPr kumimoji="0" lang="en-US" altLang="zh-CN" sz="2400" b="0" i="0" u="none" strike="noStrike" kern="1200" cap="none" spc="0" normalizeH="0" baseline="0" noProof="1">
                <a:solidFill>
                  <a:schemeClr val="tx1"/>
                </a:solidFill>
                <a:latin typeface="+mn-lt"/>
                <a:ea typeface="+mn-ea"/>
                <a:cs typeface="+mn-cs"/>
              </a:rPr>
              <a:t>layout</a:t>
            </a:r>
            <a:r>
              <a:rPr kumimoji="0" lang="zh-CN" altLang="en-US" sz="2400" b="0" i="0" u="none" strike="noStrike" kern="1200" cap="none" spc="0" normalizeH="0" baseline="0" noProof="1">
                <a:solidFill>
                  <a:schemeClr val="tx1"/>
                </a:solidFill>
                <a:latin typeface="+mn-lt"/>
                <a:ea typeface="+mn-ea"/>
                <a:cs typeface="+mn-cs"/>
              </a:rPr>
              <a:t>的角度，布局是最基本也是最重要的一步，所以布局的原则有以下几点：</a:t>
            </a:r>
            <a:endParaRPr kumimoji="0" lang="en-US" altLang="zh-CN" sz="2400" b="0" i="0" u="none" strike="noStrike" kern="1200" cap="none" spc="0" normalizeH="0" baseline="0" noProof="1">
              <a:solidFill>
                <a:schemeClr val="tx1"/>
              </a:solidFill>
              <a:latin typeface="+mn-lt"/>
              <a:ea typeface="+mn-ea"/>
              <a:cs typeface="+mn-cs"/>
            </a:endParaRPr>
          </a:p>
          <a:p>
            <a:pPr marL="342900" marR="0" indent="-342900" algn="l" defTabSz="914400" rtl="0" eaLnBrk="1" fontAlgn="base" latinLnBrk="0" hangingPunct="1">
              <a:lnSpc>
                <a:spcPct val="100000"/>
              </a:lnSpc>
              <a:spcBef>
                <a:spcPct val="20000"/>
              </a:spcBef>
              <a:spcAft>
                <a:spcPct val="0"/>
              </a:spcAft>
              <a:buClrTx/>
              <a:buSzTx/>
              <a:buFont typeface="Arial" panose="020B0604020202020204" pitchFamily="34" charset="0"/>
              <a:buChar char="•"/>
            </a:pPr>
            <a:r>
              <a:rPr kumimoji="0" lang="zh-CN" altLang="en-US" sz="2400" b="0" i="0" u="none" strike="noStrike" kern="1200" cap="none" spc="0" normalizeH="0" baseline="0" noProof="1">
                <a:solidFill>
                  <a:schemeClr val="tx1"/>
                </a:solidFill>
                <a:latin typeface="+mn-lt"/>
                <a:ea typeface="+mn-ea"/>
                <a:cs typeface="+mn-cs"/>
              </a:rPr>
              <a:t>连接器接口是固定的，优先布主控</a:t>
            </a:r>
            <a:r>
              <a:rPr lang="en-US" altLang="zh-CN" sz="2400" noProof="1"/>
              <a:t>SOC</a:t>
            </a:r>
            <a:r>
              <a:rPr kumimoji="0" lang="zh-CN" altLang="en-US" sz="2400" b="0" i="0" u="none" strike="noStrike" kern="1200" cap="none" spc="0" normalizeH="0" baseline="0" noProof="1">
                <a:solidFill>
                  <a:schemeClr val="tx1"/>
                </a:solidFill>
                <a:latin typeface="+mn-lt"/>
                <a:ea typeface="+mn-ea"/>
                <a:cs typeface="+mn-cs"/>
              </a:rPr>
              <a:t>，信号之间减少交叉浪费布线面积</a:t>
            </a:r>
            <a:endParaRPr kumimoji="0" lang="en-US" altLang="zh-CN" sz="2400" b="0" i="0" u="none" strike="noStrike" kern="1200" cap="none" spc="0" normalizeH="0" baseline="0" noProof="1">
              <a:solidFill>
                <a:schemeClr val="tx1"/>
              </a:solidFill>
              <a:latin typeface="+mn-lt"/>
              <a:ea typeface="+mn-ea"/>
              <a:cs typeface="+mn-cs"/>
            </a:endParaRPr>
          </a:p>
          <a:p>
            <a:pPr marL="342900" marR="0" indent="-342900" algn="l" defTabSz="914400" rtl="0" eaLnBrk="1" fontAlgn="base" latinLnBrk="0" hangingPunct="1">
              <a:lnSpc>
                <a:spcPct val="100000"/>
              </a:lnSpc>
              <a:spcBef>
                <a:spcPct val="20000"/>
              </a:spcBef>
              <a:spcAft>
                <a:spcPct val="0"/>
              </a:spcAft>
              <a:buClrTx/>
              <a:buSzTx/>
              <a:buFont typeface="Arial" panose="020B0604020202020204" pitchFamily="34" charset="0"/>
              <a:buChar char="•"/>
            </a:pPr>
            <a:r>
              <a:rPr kumimoji="0" lang="zh-CN" altLang="en-US" sz="2400" b="0" i="0" u="none" strike="noStrike" kern="1200" cap="none" spc="0" normalizeH="0" baseline="0" noProof="1">
                <a:solidFill>
                  <a:schemeClr val="tx1"/>
                </a:solidFill>
                <a:latin typeface="+mn-lt"/>
                <a:ea typeface="+mn-ea"/>
                <a:cs typeface="+mn-cs"/>
              </a:rPr>
              <a:t>优先</a:t>
            </a:r>
            <a:r>
              <a:rPr lang="en-US" altLang="zh-CN" sz="2400" noProof="1"/>
              <a:t>DDR-&gt;</a:t>
            </a:r>
            <a:r>
              <a:rPr kumimoji="0" lang="en-US" altLang="zh-CN" sz="2400" b="0" i="0" u="none" strike="noStrike" kern="1200" cap="none" spc="0" normalizeH="0" baseline="0" noProof="1">
                <a:solidFill>
                  <a:schemeClr val="tx1"/>
                </a:solidFill>
                <a:latin typeface="+mn-lt"/>
                <a:ea typeface="+mn-ea"/>
                <a:cs typeface="+mn-cs"/>
              </a:rPr>
              <a:t>HDMI RX</a:t>
            </a:r>
            <a:r>
              <a:rPr lang="en-US" altLang="zh-CN" sz="2400" noProof="1"/>
              <a:t>-&gt;</a:t>
            </a:r>
            <a:r>
              <a:rPr kumimoji="0" lang="en-US" altLang="zh-CN" sz="2400" b="0" i="0" u="none" strike="noStrike" kern="1200" cap="none" spc="0" normalizeH="0" baseline="0" noProof="1">
                <a:solidFill>
                  <a:schemeClr val="tx1"/>
                </a:solidFill>
                <a:latin typeface="+mn-lt"/>
                <a:ea typeface="+mn-ea"/>
                <a:cs typeface="+mn-cs"/>
              </a:rPr>
              <a:t>HDMI TX-&gt;SDIO3.0-&gt;USB</a:t>
            </a:r>
          </a:p>
          <a:p>
            <a:pPr marL="342900" marR="0" indent="-342900" algn="l" defTabSz="914400" rtl="0" eaLnBrk="1" fontAlgn="base" latinLnBrk="0" hangingPunct="1">
              <a:lnSpc>
                <a:spcPct val="100000"/>
              </a:lnSpc>
              <a:spcBef>
                <a:spcPct val="20000"/>
              </a:spcBef>
              <a:spcAft>
                <a:spcPct val="0"/>
              </a:spcAft>
              <a:buClrTx/>
              <a:buSzTx/>
              <a:buFont typeface="Arial" panose="020B0604020202020204" pitchFamily="34" charset="0"/>
              <a:buChar char="•"/>
            </a:pPr>
            <a:r>
              <a:rPr lang="zh-CN" altLang="en-US" sz="2400" noProof="1"/>
              <a:t>供电电源</a:t>
            </a:r>
            <a:r>
              <a:rPr lang="en-US" altLang="zh-CN" sz="2400" noProof="1"/>
              <a:t>VDD33,VDD15,VDD11</a:t>
            </a:r>
            <a:r>
              <a:rPr lang="zh-CN" altLang="en-US" sz="2400" noProof="1"/>
              <a:t>靠近</a:t>
            </a:r>
            <a:r>
              <a:rPr lang="en-US" altLang="zh-CN" sz="2400" noProof="1"/>
              <a:t>SOC</a:t>
            </a:r>
            <a:r>
              <a:rPr lang="zh-CN" altLang="en-US" sz="2400" noProof="1"/>
              <a:t>放置</a:t>
            </a:r>
            <a:endParaRPr lang="en-US" altLang="zh-CN" sz="2400" noProof="1"/>
          </a:p>
          <a:p>
            <a:pPr marL="342900" marR="0" indent="-342900" algn="l" defTabSz="914400" rtl="0" eaLnBrk="1" fontAlgn="base" latinLnBrk="0" hangingPunct="1">
              <a:lnSpc>
                <a:spcPct val="100000"/>
              </a:lnSpc>
              <a:spcBef>
                <a:spcPct val="20000"/>
              </a:spcBef>
              <a:spcAft>
                <a:spcPct val="0"/>
              </a:spcAft>
              <a:buClrTx/>
              <a:buSzTx/>
              <a:buFont typeface="Arial" panose="020B0604020202020204" pitchFamily="34" charset="0"/>
              <a:buChar char="•"/>
            </a:pPr>
            <a:r>
              <a:rPr kumimoji="0" lang="en-US" altLang="zh-CN" sz="2400" b="0" i="0" u="none" strike="noStrike" kern="1200" cap="none" spc="0" normalizeH="0" baseline="0" noProof="1">
                <a:solidFill>
                  <a:schemeClr val="tx1"/>
                </a:solidFill>
                <a:latin typeface="+mn-lt"/>
                <a:ea typeface="+mn-ea"/>
                <a:cs typeface="+mn-cs"/>
              </a:rPr>
              <a:t>Bypass</a:t>
            </a:r>
            <a:r>
              <a:rPr kumimoji="0" lang="zh-CN" altLang="en-US" sz="2400" b="0" i="0" u="none" strike="noStrike" kern="1200" cap="none" spc="0" normalizeH="0" baseline="0" noProof="1">
                <a:solidFill>
                  <a:schemeClr val="tx1"/>
                </a:solidFill>
                <a:latin typeface="+mn-lt"/>
                <a:ea typeface="+mn-ea"/>
                <a:cs typeface="+mn-cs"/>
              </a:rPr>
              <a:t>电容靠近</a:t>
            </a:r>
            <a:r>
              <a:rPr kumimoji="0" lang="en-US" altLang="zh-CN" sz="2400" b="0" i="0" u="none" strike="noStrike" kern="1200" cap="none" spc="0" normalizeH="0" baseline="0" noProof="1">
                <a:solidFill>
                  <a:schemeClr val="tx1"/>
                </a:solidFill>
                <a:latin typeface="+mn-lt"/>
                <a:ea typeface="+mn-ea"/>
                <a:cs typeface="+mn-cs"/>
              </a:rPr>
              <a:t>IC PIN</a:t>
            </a:r>
            <a:r>
              <a:rPr kumimoji="0" lang="zh-CN" altLang="en-US" sz="2400" b="0" i="0" u="none" strike="noStrike" kern="1200" cap="none" spc="0" normalizeH="0" baseline="0" noProof="1">
                <a:solidFill>
                  <a:schemeClr val="tx1"/>
                </a:solidFill>
                <a:latin typeface="+mn-lt"/>
                <a:ea typeface="+mn-ea"/>
                <a:cs typeface="+mn-cs"/>
              </a:rPr>
              <a:t>脚</a:t>
            </a:r>
            <a:endParaRPr kumimoji="0" lang="en-US" altLang="zh-CN" sz="2400" b="0" i="0" u="none" strike="noStrike" kern="1200" cap="none" spc="0" normalizeH="0" baseline="0" noProof="1">
              <a:solidFill>
                <a:schemeClr val="tx1"/>
              </a:solidFill>
              <a:latin typeface="+mn-lt"/>
              <a:ea typeface="+mn-ea"/>
              <a:cs typeface="+mn-cs"/>
            </a:endParaRPr>
          </a:p>
          <a:p>
            <a:pPr marL="342900" marR="0" indent="-342900" algn="l" defTabSz="914400" rtl="0" eaLnBrk="1" fontAlgn="base" latinLnBrk="0" hangingPunct="1">
              <a:lnSpc>
                <a:spcPct val="100000"/>
              </a:lnSpc>
              <a:spcBef>
                <a:spcPct val="20000"/>
              </a:spcBef>
              <a:spcAft>
                <a:spcPct val="0"/>
              </a:spcAft>
              <a:buClrTx/>
              <a:buSzTx/>
              <a:buFont typeface="Arial" panose="020B0604020202020204" pitchFamily="34" charset="0"/>
              <a:buChar char="•"/>
            </a:pPr>
            <a:r>
              <a:rPr lang="zh-CN" altLang="en-US" sz="2400" noProof="1"/>
              <a:t>调整</a:t>
            </a:r>
            <a:r>
              <a:rPr lang="en-US" altLang="zh-CN" sz="2400" noProof="1"/>
              <a:t>GPIO</a:t>
            </a:r>
            <a:r>
              <a:rPr lang="zh-CN" altLang="en-US" sz="2400" noProof="1"/>
              <a:t>位置，避免</a:t>
            </a:r>
            <a:r>
              <a:rPr lang="en-US" altLang="zh-CN" sz="2400" noProof="1"/>
              <a:t>GPIO</a:t>
            </a:r>
            <a:r>
              <a:rPr lang="zh-CN" altLang="en-US" sz="2400" noProof="1"/>
              <a:t>穿越高速信号，破坏高速信号参考平面</a:t>
            </a:r>
            <a:endParaRPr lang="en-US" altLang="zh-CN" sz="2400" noProof="1"/>
          </a:p>
          <a:p>
            <a:pPr marL="342900" marR="0" indent="-342900" algn="l" defTabSz="914400" rtl="0" eaLnBrk="1" fontAlgn="base" latinLnBrk="0" hangingPunct="1">
              <a:lnSpc>
                <a:spcPct val="100000"/>
              </a:lnSpc>
              <a:spcBef>
                <a:spcPct val="20000"/>
              </a:spcBef>
              <a:spcAft>
                <a:spcPct val="0"/>
              </a:spcAft>
              <a:buClrTx/>
              <a:buSzTx/>
              <a:buFont typeface="Arial" panose="020B0604020202020204" pitchFamily="34" charset="0"/>
              <a:buChar char="•"/>
            </a:pPr>
            <a:r>
              <a:rPr kumimoji="0" lang="zh-CN" altLang="en-US" sz="2400" b="0" i="0" u="none" strike="noStrike" kern="1200" cap="none" spc="0" normalizeH="0" baseline="0" noProof="1">
                <a:solidFill>
                  <a:schemeClr val="tx1"/>
                </a:solidFill>
                <a:latin typeface="+mn-lt"/>
                <a:ea typeface="+mn-ea"/>
                <a:cs typeface="+mn-cs"/>
              </a:rPr>
              <a:t>射频电路应靠近板边放置，避免</a:t>
            </a:r>
            <a:r>
              <a:rPr kumimoji="0" lang="en-US" altLang="zh-CN" sz="2400" b="0" i="0" u="none" strike="noStrike" kern="1200" cap="none" spc="0" normalizeH="0" baseline="0" noProof="1">
                <a:solidFill>
                  <a:schemeClr val="tx1"/>
                </a:solidFill>
                <a:latin typeface="+mn-lt"/>
                <a:ea typeface="+mn-ea"/>
                <a:cs typeface="+mn-cs"/>
              </a:rPr>
              <a:t>HDMI TX/RX/DDR</a:t>
            </a:r>
            <a:r>
              <a:rPr lang="zh-CN" altLang="en-US" sz="2400" noProof="1"/>
              <a:t>等高速信号</a:t>
            </a:r>
            <a:endParaRPr kumimoji="0" lang="en-US" altLang="zh-CN" sz="2400" b="0" i="0" u="none" strike="noStrike" kern="1200" cap="none" spc="0" normalizeH="0" baseline="0" noProof="1">
              <a:solidFill>
                <a:schemeClr val="tx1"/>
              </a:solidFill>
              <a:latin typeface="+mn-lt"/>
              <a:ea typeface="+mn-ea"/>
              <a:cs typeface="+mn-cs"/>
            </a:endParaRPr>
          </a:p>
          <a:p>
            <a:pPr marL="342900" marR="0" indent="-342900" algn="l" defTabSz="914400" rtl="0" eaLnBrk="1" fontAlgn="base" latinLnBrk="0" hangingPunct="1">
              <a:lnSpc>
                <a:spcPct val="100000"/>
              </a:lnSpc>
              <a:spcBef>
                <a:spcPct val="20000"/>
              </a:spcBef>
              <a:spcAft>
                <a:spcPct val="0"/>
              </a:spcAft>
              <a:buClrTx/>
              <a:buSzTx/>
              <a:buFont typeface="Arial" panose="020B0604020202020204" pitchFamily="34" charset="0"/>
              <a:buChar char="•"/>
            </a:pPr>
            <a:r>
              <a:rPr kumimoji="0" lang="zh-CN" altLang="en-US" sz="2400" b="0" i="0" u="none" strike="noStrike" kern="1200" cap="none" spc="0" normalizeH="0" baseline="0" noProof="1">
                <a:solidFill>
                  <a:schemeClr val="tx1"/>
                </a:solidFill>
                <a:latin typeface="+mn-lt"/>
                <a:ea typeface="+mn-ea"/>
                <a:cs typeface="+mn-cs"/>
              </a:rPr>
              <a:t>蓝牙和</a:t>
            </a:r>
            <a:r>
              <a:rPr kumimoji="0" lang="en-US" altLang="zh-CN" sz="2400" b="0" i="0" u="none" strike="noStrike" kern="1200" cap="none" spc="0" normalizeH="0" baseline="0" noProof="1">
                <a:solidFill>
                  <a:schemeClr val="tx1"/>
                </a:solidFill>
                <a:latin typeface="+mn-lt"/>
                <a:ea typeface="+mn-ea"/>
                <a:cs typeface="+mn-cs"/>
              </a:rPr>
              <a:t>WIFI</a:t>
            </a:r>
            <a:r>
              <a:rPr kumimoji="0" lang="zh-CN" altLang="en-US" sz="2400" b="0" i="0" u="none" strike="noStrike" kern="1200" cap="none" spc="0" normalizeH="0" baseline="0" noProof="1">
                <a:solidFill>
                  <a:schemeClr val="tx1"/>
                </a:solidFill>
                <a:latin typeface="+mn-lt"/>
                <a:ea typeface="+mn-ea"/>
                <a:cs typeface="+mn-cs"/>
              </a:rPr>
              <a:t>应相互远离放置</a:t>
            </a:r>
            <a:endParaRPr kumimoji="0" lang="en-US" altLang="zh-CN" sz="2400" b="0" i="0" u="none" strike="noStrike" kern="1200" cap="none" spc="0" normalizeH="0" baseline="0" noProof="1">
              <a:solidFill>
                <a:schemeClr val="tx1"/>
              </a:solidFill>
              <a:latin typeface="+mn-lt"/>
              <a:ea typeface="+mn-ea"/>
              <a:cs typeface="+mn-cs"/>
            </a:endParaRPr>
          </a:p>
          <a:p>
            <a:pPr marL="342900" marR="0" indent="-342900" algn="l" defTabSz="914400" rtl="0" eaLnBrk="1" fontAlgn="base" latinLnBrk="0" hangingPunct="1">
              <a:lnSpc>
                <a:spcPct val="100000"/>
              </a:lnSpc>
              <a:spcBef>
                <a:spcPct val="20000"/>
              </a:spcBef>
              <a:spcAft>
                <a:spcPct val="0"/>
              </a:spcAft>
              <a:buClrTx/>
              <a:buSzTx/>
              <a:buFont typeface="Arial" panose="020B0604020202020204" pitchFamily="34" charset="0"/>
              <a:buChar char="•"/>
            </a:pPr>
            <a:r>
              <a:rPr lang="zh-CN" altLang="en-US" sz="2400" noProof="1"/>
              <a:t>大功率或发热器件远离</a:t>
            </a:r>
            <a:r>
              <a:rPr lang="en-US" altLang="zh-CN" sz="2400" noProof="1"/>
              <a:t>SOC</a:t>
            </a:r>
            <a:r>
              <a:rPr lang="zh-CN" altLang="en-US" sz="2400" noProof="1"/>
              <a:t>，均匀分布，避免热传递</a:t>
            </a:r>
            <a:endParaRPr kumimoji="0" lang="en-US" altLang="zh-CN" sz="2400" b="0" i="0" u="none" strike="noStrike" kern="1200" cap="none" spc="0" normalizeH="0" baseline="0" noProof="1">
              <a:solidFill>
                <a:schemeClr val="tx1"/>
              </a:solidFill>
              <a:latin typeface="+mn-lt"/>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20395" y="-5080"/>
            <a:ext cx="7125970" cy="519822"/>
          </a:xfrm>
          <a:prstGeom prst="rect">
            <a:avLst/>
          </a:prstGeom>
          <a:noFill/>
        </p:spPr>
        <p:txBody>
          <a:bodyPr wrap="square">
            <a:spAutoFit/>
          </a:bodyPr>
          <a:lstStyle>
            <a:defPPr>
              <a:defRPr lang="zh-CN"/>
            </a:defPPr>
            <a:lvl1pPr algn="dist">
              <a:lnSpc>
                <a:spcPct val="125000"/>
              </a:lnSpc>
              <a:defRPr sz="2400" b="1">
                <a:solidFill>
                  <a:schemeClr val="bg2">
                    <a:lumMod val="50000"/>
                  </a:schemeClr>
                </a:solidFill>
                <a:latin typeface="Arial" panose="020B0604020202020204" pitchFamily="34" charset="0"/>
                <a:ea typeface="微软雅黑" panose="020B0503020204020204" pitchFamily="34" charset="-122"/>
                <a:cs typeface="Arial" panose="020B0604020202020204" pitchFamily="34" charset="0"/>
              </a:defRPr>
            </a:lvl1pPr>
          </a:lstStyle>
          <a:p>
            <a:pPr algn="l">
              <a:buFont typeface="Wingdings" panose="05000000000000000000" charset="0"/>
            </a:pPr>
            <a:r>
              <a:rPr lang="en-US" altLang="zh-CN" dirty="0">
                <a:ea typeface="宋体" panose="02010600030101010101" pitchFamily="2" charset="-122"/>
                <a:sym typeface="+mn-ea"/>
              </a:rPr>
              <a:t>Power</a:t>
            </a:r>
          </a:p>
        </p:txBody>
      </p:sp>
      <p:sp>
        <p:nvSpPr>
          <p:cNvPr id="13314" name="内容占位符 2"/>
          <p:cNvSpPr>
            <a:spLocks noGrp="1"/>
          </p:cNvSpPr>
          <p:nvPr>
            <p:ph idx="1"/>
          </p:nvPr>
        </p:nvSpPr>
        <p:spPr>
          <a:xfrm>
            <a:off x="457200" y="904875"/>
            <a:ext cx="10843895" cy="4526280"/>
          </a:xfrm>
        </p:spPr>
        <p:txBody>
          <a:bodyPr vert="horz" wrap="square" lIns="91440" tIns="45720" rIns="91440" bIns="45720" anchor="t" anchorCtr="0"/>
          <a:lstStyle/>
          <a:p>
            <a:pPr marL="0" marR="0" indent="0" algn="l" defTabSz="914400" rtl="0" eaLnBrk="1" fontAlgn="base" latinLnBrk="0" hangingPunct="1">
              <a:lnSpc>
                <a:spcPct val="100000"/>
              </a:lnSpc>
              <a:spcBef>
                <a:spcPct val="20000"/>
              </a:spcBef>
              <a:spcAft>
                <a:spcPct val="0"/>
              </a:spcAft>
              <a:buClrTx/>
              <a:buSzTx/>
              <a:buNone/>
            </a:pPr>
            <a:r>
              <a:rPr lang="en-US" sz="2400" dirty="0">
                <a:sym typeface="+mn-ea"/>
              </a:rPr>
              <a:t>     </a:t>
            </a:r>
            <a:r>
              <a:rPr lang="zh-CN" altLang="en-US" sz="2400" dirty="0">
                <a:sym typeface="+mn-ea"/>
              </a:rPr>
              <a:t>电源是系统稳定性的基础，在保证有良好的地回路情况下，要确保以下几点：</a:t>
            </a:r>
            <a:endParaRPr kumimoji="0" lang="en-US" sz="2400" b="0" i="0" u="none" strike="noStrike" kern="1200" cap="none" spc="0" normalizeH="0" baseline="0" noProof="1">
              <a:solidFill>
                <a:schemeClr val="tx1"/>
              </a:solidFill>
              <a:latin typeface="+mn-lt"/>
              <a:ea typeface="+mn-ea"/>
              <a:cs typeface="+mn-cs"/>
              <a:sym typeface="+mn-ea"/>
            </a:endParaRPr>
          </a:p>
          <a:p>
            <a:pPr marL="342900" indent="-342900" fontAlgn="base">
              <a:lnSpc>
                <a:spcPct val="100000"/>
              </a:lnSpc>
              <a:spcBef>
                <a:spcPct val="20000"/>
              </a:spcBef>
              <a:spcAft>
                <a:spcPct val="0"/>
              </a:spcAft>
            </a:pPr>
            <a:r>
              <a:rPr lang="en-US" sz="2400" dirty="0">
                <a:sym typeface="+mn-ea"/>
              </a:rPr>
              <a:t>1.1V  Core power</a:t>
            </a:r>
            <a:r>
              <a:rPr lang="zh-CN" altLang="en-US" sz="2400" dirty="0">
                <a:sym typeface="+mn-ea"/>
              </a:rPr>
              <a:t>走线</a:t>
            </a:r>
            <a:r>
              <a:rPr lang="en-US" altLang="zh-CN" sz="2400" dirty="0">
                <a:sym typeface="+mn-ea"/>
              </a:rPr>
              <a:t>≥</a:t>
            </a:r>
            <a:r>
              <a:rPr lang="en-US" sz="2400" dirty="0">
                <a:sym typeface="+mn-ea"/>
              </a:rPr>
              <a:t>40mil</a:t>
            </a:r>
            <a:r>
              <a:rPr lang="zh-CN" altLang="en-US" sz="2400" dirty="0">
                <a:sym typeface="+mn-ea"/>
              </a:rPr>
              <a:t>，独立供电</a:t>
            </a:r>
            <a:endParaRPr lang="en-US" sz="2400" noProof="1"/>
          </a:p>
          <a:p>
            <a:pPr marL="342900" indent="-342900" fontAlgn="base">
              <a:lnSpc>
                <a:spcPct val="100000"/>
              </a:lnSpc>
              <a:spcBef>
                <a:spcPct val="20000"/>
              </a:spcBef>
              <a:spcAft>
                <a:spcPct val="0"/>
              </a:spcAft>
            </a:pPr>
            <a:r>
              <a:rPr lang="en-US" sz="2400" dirty="0">
                <a:sym typeface="+mn-ea"/>
              </a:rPr>
              <a:t>1.5V /1.8V DDR power </a:t>
            </a:r>
            <a:r>
              <a:rPr lang="zh-CN" altLang="en-US" sz="2400" dirty="0">
                <a:sym typeface="+mn-ea"/>
              </a:rPr>
              <a:t>走线</a:t>
            </a:r>
            <a:r>
              <a:rPr lang="en-US" altLang="zh-CN" sz="2400" dirty="0">
                <a:sym typeface="+mn-ea"/>
              </a:rPr>
              <a:t>≥</a:t>
            </a:r>
            <a:r>
              <a:rPr lang="en-US" sz="2400" dirty="0">
                <a:sym typeface="+mn-ea"/>
              </a:rPr>
              <a:t>22 mil</a:t>
            </a:r>
            <a:r>
              <a:rPr lang="zh-CN" altLang="en-US" sz="2400" dirty="0">
                <a:sym typeface="+mn-ea"/>
              </a:rPr>
              <a:t>，</a:t>
            </a:r>
            <a:r>
              <a:rPr lang="en-US" altLang="zh-CN" sz="2400" dirty="0">
                <a:sym typeface="+mn-ea"/>
              </a:rPr>
              <a:t>PCB</a:t>
            </a:r>
            <a:r>
              <a:rPr lang="zh-CN" altLang="en-US" sz="2400" dirty="0">
                <a:sym typeface="+mn-ea"/>
              </a:rPr>
              <a:t>尽可能把</a:t>
            </a:r>
            <a:r>
              <a:rPr lang="en-US" altLang="zh-CN" sz="2400" dirty="0">
                <a:sym typeface="+mn-ea"/>
              </a:rPr>
              <a:t>DDR</a:t>
            </a:r>
            <a:r>
              <a:rPr lang="zh-CN" altLang="en-US" sz="2400" dirty="0">
                <a:sym typeface="+mn-ea"/>
              </a:rPr>
              <a:t>和</a:t>
            </a:r>
            <a:r>
              <a:rPr lang="en-US" altLang="zh-CN" sz="2400" dirty="0">
                <a:sym typeface="+mn-ea"/>
              </a:rPr>
              <a:t>SOC</a:t>
            </a:r>
            <a:r>
              <a:rPr lang="zh-CN" altLang="en-US" sz="2400" dirty="0">
                <a:sym typeface="+mn-ea"/>
              </a:rPr>
              <a:t>的</a:t>
            </a:r>
            <a:r>
              <a:rPr lang="en-US" altLang="zh-CN" sz="2400" dirty="0">
                <a:sym typeface="+mn-ea"/>
              </a:rPr>
              <a:t>VDDO</a:t>
            </a:r>
            <a:r>
              <a:rPr lang="zh-CN" altLang="en-US" sz="2400" dirty="0">
                <a:sym typeface="+mn-ea"/>
              </a:rPr>
              <a:t>分开</a:t>
            </a:r>
            <a:r>
              <a:rPr lang="en-US" altLang="zh-CN" sz="2400" dirty="0">
                <a:sym typeface="+mn-ea"/>
              </a:rPr>
              <a:t>2</a:t>
            </a:r>
            <a:r>
              <a:rPr lang="zh-CN" altLang="en-US" sz="2400" dirty="0">
                <a:sym typeface="+mn-ea"/>
              </a:rPr>
              <a:t>条支路，避免相互干扰</a:t>
            </a:r>
            <a:endParaRPr lang="en-US" sz="2400" noProof="1"/>
          </a:p>
          <a:p>
            <a:pPr marL="342900" indent="-342900" fontAlgn="base">
              <a:lnSpc>
                <a:spcPct val="100000"/>
              </a:lnSpc>
              <a:spcBef>
                <a:spcPct val="20000"/>
              </a:spcBef>
              <a:spcAft>
                <a:spcPct val="0"/>
              </a:spcAft>
            </a:pPr>
            <a:r>
              <a:rPr lang="en-US" sz="2400" dirty="0">
                <a:sym typeface="+mn-ea"/>
              </a:rPr>
              <a:t>3.3V IO power</a:t>
            </a:r>
            <a:r>
              <a:rPr lang="zh-CN" altLang="en-US" sz="2400" dirty="0">
                <a:sym typeface="+mn-ea"/>
              </a:rPr>
              <a:t>走线</a:t>
            </a:r>
            <a:r>
              <a:rPr lang="en-US" altLang="zh-CN" sz="2400" dirty="0">
                <a:sym typeface="+mn-ea"/>
              </a:rPr>
              <a:t>≥</a:t>
            </a:r>
            <a:r>
              <a:rPr lang="en-US" sz="2400" dirty="0">
                <a:sym typeface="+mn-ea"/>
              </a:rPr>
              <a:t>15mil</a:t>
            </a:r>
            <a:endParaRPr lang="en-US" sz="2400" noProof="1"/>
          </a:p>
          <a:p>
            <a:pPr marL="342900" indent="-342900" fontAlgn="base">
              <a:lnSpc>
                <a:spcPct val="100000"/>
              </a:lnSpc>
              <a:spcBef>
                <a:spcPct val="20000"/>
              </a:spcBef>
              <a:spcAft>
                <a:spcPct val="0"/>
              </a:spcAft>
            </a:pPr>
            <a:r>
              <a:rPr lang="en-US" sz="2400" dirty="0">
                <a:sym typeface="+mn-ea"/>
              </a:rPr>
              <a:t>5V</a:t>
            </a:r>
            <a:r>
              <a:rPr lang="zh-CN" altLang="en-US" sz="2400" dirty="0">
                <a:sym typeface="+mn-ea"/>
              </a:rPr>
              <a:t>走线</a:t>
            </a:r>
            <a:r>
              <a:rPr lang="en-US" altLang="zh-CN" sz="2400" dirty="0">
                <a:sym typeface="+mn-ea"/>
              </a:rPr>
              <a:t>≥5</a:t>
            </a:r>
            <a:r>
              <a:rPr lang="en-US" sz="2400" dirty="0">
                <a:sym typeface="+mn-ea"/>
              </a:rPr>
              <a:t>0mil</a:t>
            </a:r>
            <a:endParaRPr lang="en-US" sz="2400" noProof="1">
              <a:sym typeface="+mn-ea"/>
            </a:endParaRPr>
          </a:p>
          <a:p>
            <a:pPr marL="342900" indent="-342900" fontAlgn="base">
              <a:lnSpc>
                <a:spcPct val="100000"/>
              </a:lnSpc>
              <a:spcBef>
                <a:spcPct val="20000"/>
              </a:spcBef>
              <a:spcAft>
                <a:spcPct val="0"/>
              </a:spcAft>
            </a:pPr>
            <a:r>
              <a:rPr lang="en-US" sz="2400" dirty="0">
                <a:sym typeface="+mn-ea"/>
              </a:rPr>
              <a:t>Power trace换层时，</a:t>
            </a:r>
            <a:r>
              <a:rPr lang="zh-CN" altLang="en-US" sz="2400" dirty="0">
                <a:sym typeface="+mn-ea"/>
              </a:rPr>
              <a:t>要根据电流增加</a:t>
            </a:r>
            <a:r>
              <a:rPr lang="en-US" sz="2400" dirty="0">
                <a:sym typeface="+mn-ea"/>
              </a:rPr>
              <a:t>Via</a:t>
            </a:r>
            <a:r>
              <a:rPr lang="zh-CN" altLang="en-US" sz="2400" dirty="0">
                <a:sym typeface="+mn-ea"/>
              </a:rPr>
              <a:t>数量或</a:t>
            </a:r>
            <a:r>
              <a:rPr lang="en-US" sz="2400" dirty="0" err="1">
                <a:sym typeface="+mn-ea"/>
              </a:rPr>
              <a:t>增大size</a:t>
            </a:r>
            <a:endParaRPr lang="en-US" sz="2400" noProof="1"/>
          </a:p>
          <a:p>
            <a:pPr marL="342900" indent="-342900" fontAlgn="base">
              <a:lnSpc>
                <a:spcPct val="100000"/>
              </a:lnSpc>
              <a:spcBef>
                <a:spcPct val="20000"/>
              </a:spcBef>
              <a:spcAft>
                <a:spcPct val="0"/>
              </a:spcAft>
            </a:pPr>
            <a:r>
              <a:rPr lang="en-US" sz="2400" dirty="0">
                <a:sym typeface="+mn-ea"/>
              </a:rPr>
              <a:t>Power </a:t>
            </a:r>
            <a:r>
              <a:rPr lang="en-US" sz="2400" dirty="0" err="1">
                <a:sym typeface="+mn-ea"/>
              </a:rPr>
              <a:t>trace的源</a:t>
            </a:r>
            <a:r>
              <a:rPr lang="zh-CN" altLang="en-US" sz="2400" dirty="0">
                <a:sym typeface="+mn-ea"/>
              </a:rPr>
              <a:t>端</a:t>
            </a:r>
            <a:r>
              <a:rPr lang="en-US" sz="2400" dirty="0">
                <a:sym typeface="+mn-ea"/>
              </a:rPr>
              <a:t>和末端</a:t>
            </a:r>
            <a:r>
              <a:rPr lang="zh-CN" altLang="en-US" sz="2400" dirty="0">
                <a:sym typeface="+mn-ea"/>
              </a:rPr>
              <a:t>，必须放置去耦电容</a:t>
            </a:r>
            <a:endParaRPr lang="zh-CN" altLang="en-US" sz="2400" noProof="1"/>
          </a:p>
          <a:p>
            <a:pPr marL="342900" indent="-342900" fontAlgn="base">
              <a:lnSpc>
                <a:spcPct val="100000"/>
              </a:lnSpc>
              <a:spcBef>
                <a:spcPct val="20000"/>
              </a:spcBef>
              <a:spcAft>
                <a:spcPct val="0"/>
              </a:spcAft>
            </a:pPr>
            <a:r>
              <a:rPr lang="en-US" sz="2400" dirty="0">
                <a:sym typeface="+mn-ea"/>
              </a:rPr>
              <a:t>Power </a:t>
            </a:r>
            <a:r>
              <a:rPr lang="en-US" sz="2400" dirty="0" err="1">
                <a:sym typeface="+mn-ea"/>
              </a:rPr>
              <a:t>trace从源端到</a:t>
            </a:r>
            <a:r>
              <a:rPr lang="zh-CN" altLang="en-US" sz="2400" dirty="0">
                <a:sym typeface="+mn-ea"/>
              </a:rPr>
              <a:t>各</a:t>
            </a:r>
            <a:r>
              <a:rPr lang="en-US" sz="2400" dirty="0" err="1">
                <a:sym typeface="+mn-ea"/>
              </a:rPr>
              <a:t>供电支路</a:t>
            </a:r>
            <a:r>
              <a:rPr lang="zh-CN" altLang="en-US" sz="2400" dirty="0">
                <a:sym typeface="+mn-ea"/>
              </a:rPr>
              <a:t>，</a:t>
            </a:r>
            <a:r>
              <a:rPr lang="en-US" sz="2400" dirty="0" err="1">
                <a:sym typeface="+mn-ea"/>
              </a:rPr>
              <a:t>从粗到细</a:t>
            </a:r>
            <a:r>
              <a:rPr lang="zh-CN" altLang="en-US" sz="2400" dirty="0">
                <a:sym typeface="+mn-ea"/>
              </a:rPr>
              <a:t>形成</a:t>
            </a:r>
            <a:r>
              <a:rPr lang="en-US" sz="2400" dirty="0">
                <a:sym typeface="+mn-ea"/>
              </a:rPr>
              <a:t>树</a:t>
            </a:r>
            <a:r>
              <a:rPr lang="zh-CN" altLang="en-US" sz="2400" dirty="0">
                <a:sym typeface="+mn-ea"/>
              </a:rPr>
              <a:t>状</a:t>
            </a:r>
            <a:r>
              <a:rPr lang="en-US" sz="2400" dirty="0" err="1">
                <a:sym typeface="+mn-ea"/>
              </a:rPr>
              <a:t>结构</a:t>
            </a:r>
            <a:endParaRPr lang="en-US" sz="2400" dirty="0">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20395" y="-5080"/>
            <a:ext cx="7125970" cy="519822"/>
          </a:xfrm>
          <a:prstGeom prst="rect">
            <a:avLst/>
          </a:prstGeom>
          <a:noFill/>
        </p:spPr>
        <p:txBody>
          <a:bodyPr wrap="square">
            <a:spAutoFit/>
          </a:bodyPr>
          <a:lstStyle>
            <a:defPPr>
              <a:defRPr lang="zh-CN"/>
            </a:defPPr>
            <a:lvl1pPr algn="dist">
              <a:lnSpc>
                <a:spcPct val="125000"/>
              </a:lnSpc>
              <a:defRPr sz="2400" b="1">
                <a:solidFill>
                  <a:schemeClr val="bg2">
                    <a:lumMod val="50000"/>
                  </a:schemeClr>
                </a:solidFill>
                <a:latin typeface="Arial" panose="020B0604020202020204" pitchFamily="34" charset="0"/>
                <a:ea typeface="微软雅黑" panose="020B0503020204020204" pitchFamily="34" charset="-122"/>
                <a:cs typeface="Arial" panose="020B0604020202020204" pitchFamily="34" charset="0"/>
              </a:defRPr>
            </a:lvl1pPr>
          </a:lstStyle>
          <a:p>
            <a:pPr algn="l">
              <a:buFont typeface="Wingdings" panose="05000000000000000000" charset="0"/>
            </a:pPr>
            <a:r>
              <a:rPr lang="en-US" altLang="zh-CN" dirty="0" err="1">
                <a:ea typeface="宋体" panose="02010600030101010101" pitchFamily="2" charset="-122"/>
                <a:sym typeface="+mn-ea"/>
              </a:rPr>
              <a:t>DDRx</a:t>
            </a:r>
            <a:r>
              <a:rPr lang="en-US" altLang="zh-CN" dirty="0">
                <a:ea typeface="宋体" panose="02010600030101010101" pitchFamily="2" charset="-122"/>
                <a:sym typeface="+mn-ea"/>
              </a:rPr>
              <a:t> -2layer</a:t>
            </a:r>
          </a:p>
        </p:txBody>
      </p:sp>
      <p:sp>
        <p:nvSpPr>
          <p:cNvPr id="13314" name="内容占位符 2"/>
          <p:cNvSpPr>
            <a:spLocks noGrp="1"/>
          </p:cNvSpPr>
          <p:nvPr>
            <p:ph idx="4294967295"/>
          </p:nvPr>
        </p:nvSpPr>
        <p:spPr>
          <a:xfrm>
            <a:off x="502732" y="904875"/>
            <a:ext cx="10054648" cy="5086350"/>
          </a:xfrm>
        </p:spPr>
        <p:txBody>
          <a:bodyPr vert="horz" wrap="square" lIns="91440" tIns="45720" rIns="91440" bIns="45720" anchor="t" anchorCtr="0"/>
          <a:lstStyle/>
          <a:p>
            <a:pPr marL="0" marR="0" indent="0" algn="l" defTabSz="914400" rtl="0" eaLnBrk="1" fontAlgn="base" latinLnBrk="0" hangingPunct="1">
              <a:lnSpc>
                <a:spcPct val="100000"/>
              </a:lnSpc>
              <a:spcBef>
                <a:spcPct val="20000"/>
              </a:spcBef>
              <a:spcAft>
                <a:spcPct val="0"/>
              </a:spcAft>
              <a:buClrTx/>
              <a:buSzTx/>
              <a:buNone/>
            </a:pPr>
            <a:r>
              <a:rPr lang="en-US" sz="2400" dirty="0">
                <a:sym typeface="+mn-ea"/>
              </a:rPr>
              <a:t>    DDR </a:t>
            </a:r>
            <a:r>
              <a:rPr lang="en-US" altLang="zh-CN" sz="2400" dirty="0">
                <a:sym typeface="+mn-ea"/>
              </a:rPr>
              <a:t>layout</a:t>
            </a:r>
            <a:r>
              <a:rPr lang="zh-CN" altLang="en-US" sz="2400" dirty="0">
                <a:sym typeface="+mn-ea"/>
              </a:rPr>
              <a:t>直接影响</a:t>
            </a:r>
            <a:r>
              <a:rPr lang="en-US" altLang="zh-CN" sz="2400" dirty="0">
                <a:sym typeface="+mn-ea"/>
              </a:rPr>
              <a:t>DDR</a:t>
            </a:r>
            <a:r>
              <a:rPr lang="zh-CN" altLang="en-US" sz="2400" dirty="0">
                <a:sym typeface="+mn-ea"/>
              </a:rPr>
              <a:t>工作频率和系统稳定性。</a:t>
            </a:r>
            <a:endParaRPr kumimoji="0" lang="en-US" sz="2400" b="0" i="0" u="none" strike="noStrike" kern="1200" cap="none" spc="0" normalizeH="0" baseline="0" noProof="1">
              <a:solidFill>
                <a:schemeClr val="tx1"/>
              </a:solidFill>
              <a:latin typeface="+mn-lt"/>
              <a:ea typeface="+mn-ea"/>
              <a:cs typeface="+mn-cs"/>
              <a:sym typeface="+mn-ea"/>
            </a:endParaRPr>
          </a:p>
          <a:p>
            <a:pPr marL="342900" marR="0" indent="-342900" fontAlgn="base">
              <a:lnSpc>
                <a:spcPct val="100000"/>
              </a:lnSpc>
              <a:spcBef>
                <a:spcPct val="20000"/>
              </a:spcBef>
              <a:spcAft>
                <a:spcPct val="0"/>
              </a:spcAft>
              <a:buClrTx/>
              <a:buSzPct val="80000"/>
            </a:pPr>
            <a:r>
              <a:rPr lang="en-US" altLang="zh-CN" sz="2400" dirty="0">
                <a:sym typeface="+mn-ea"/>
              </a:rPr>
              <a:t>Single end 50ohm</a:t>
            </a:r>
            <a:r>
              <a:rPr lang="zh-CN" altLang="en-US" sz="2400" dirty="0">
                <a:sym typeface="+mn-ea"/>
              </a:rPr>
              <a:t>，</a:t>
            </a:r>
            <a:r>
              <a:rPr lang="en-US" altLang="zh-CN" sz="2400" dirty="0">
                <a:sym typeface="+mn-ea"/>
              </a:rPr>
              <a:t>Differential 100ohm</a:t>
            </a:r>
            <a:endParaRPr lang="en-US" altLang="zh-CN" sz="2400" noProof="1"/>
          </a:p>
          <a:p>
            <a:pPr marL="342900" marR="0" indent="-342900" fontAlgn="base">
              <a:lnSpc>
                <a:spcPct val="100000"/>
              </a:lnSpc>
              <a:spcBef>
                <a:spcPct val="20000"/>
              </a:spcBef>
              <a:spcAft>
                <a:spcPct val="0"/>
              </a:spcAft>
              <a:buClrTx/>
              <a:buSzPct val="80000"/>
            </a:pPr>
            <a:r>
              <a:rPr lang="en-US" altLang="zh-CN" sz="2400" dirty="0">
                <a:sym typeface="+mn-ea"/>
              </a:rPr>
              <a:t>DDR3 1600MHz </a:t>
            </a:r>
            <a:r>
              <a:rPr lang="zh-CN" altLang="en-US" sz="2400" dirty="0">
                <a:sym typeface="+mn-ea"/>
              </a:rPr>
              <a:t>时</a:t>
            </a:r>
            <a:r>
              <a:rPr lang="en-US" altLang="zh-CN" sz="2400" dirty="0">
                <a:sym typeface="+mn-ea"/>
              </a:rPr>
              <a:t>DQ</a:t>
            </a:r>
            <a:r>
              <a:rPr lang="zh-CN" altLang="en-US" sz="2400" dirty="0">
                <a:sym typeface="+mn-ea"/>
              </a:rPr>
              <a:t>单根包地，</a:t>
            </a:r>
            <a:r>
              <a:rPr lang="en-US" altLang="zh-CN" sz="2400" dirty="0">
                <a:sym typeface="+mn-ea"/>
              </a:rPr>
              <a:t>DDR2</a:t>
            </a:r>
            <a:r>
              <a:rPr lang="zh-CN" altLang="en-US" sz="2400" dirty="0">
                <a:sym typeface="+mn-ea"/>
              </a:rPr>
              <a:t>需满足</a:t>
            </a:r>
            <a:r>
              <a:rPr lang="en-US" altLang="zh-CN" sz="2400" dirty="0">
                <a:sym typeface="+mn-ea"/>
              </a:rPr>
              <a:t>DQS</a:t>
            </a:r>
            <a:r>
              <a:rPr lang="zh-CN" altLang="en-US" sz="2400" dirty="0">
                <a:sym typeface="+mn-ea"/>
              </a:rPr>
              <a:t>包地</a:t>
            </a:r>
            <a:endParaRPr lang="en-US" altLang="zh-CN" sz="2400" noProof="1"/>
          </a:p>
          <a:p>
            <a:pPr marL="342900" marR="0" indent="-342900" fontAlgn="base">
              <a:lnSpc>
                <a:spcPct val="100000"/>
              </a:lnSpc>
              <a:spcBef>
                <a:spcPct val="20000"/>
              </a:spcBef>
              <a:spcAft>
                <a:spcPct val="0"/>
              </a:spcAft>
              <a:buClrTx/>
              <a:buSzPct val="80000"/>
            </a:pPr>
            <a:r>
              <a:rPr lang="en-US" altLang="zh-CN" sz="2400" dirty="0">
                <a:sym typeface="+mn-ea"/>
              </a:rPr>
              <a:t>DQ/DQS</a:t>
            </a:r>
            <a:r>
              <a:rPr lang="zh-CN" altLang="en-US" sz="2400" dirty="0">
                <a:sym typeface="+mn-ea"/>
              </a:rPr>
              <a:t>可以不做等长，但需保证阻抗连续性，走线过孔换层需要做好包地，避免和顶层其他走线平行</a:t>
            </a:r>
            <a:endParaRPr lang="zh-CN" altLang="en-US" sz="2400" noProof="1"/>
          </a:p>
          <a:p>
            <a:pPr marL="342900" marR="0" indent="-342900" fontAlgn="base">
              <a:lnSpc>
                <a:spcPct val="100000"/>
              </a:lnSpc>
              <a:spcBef>
                <a:spcPct val="20000"/>
              </a:spcBef>
              <a:spcAft>
                <a:spcPct val="0"/>
              </a:spcAft>
              <a:buClrTx/>
              <a:buSzPct val="80000"/>
            </a:pPr>
            <a:r>
              <a:rPr lang="en-US" altLang="zh-CN" sz="2400" dirty="0">
                <a:sym typeface="+mn-ea"/>
              </a:rPr>
              <a:t>ADDR/CMD</a:t>
            </a:r>
            <a:r>
              <a:rPr lang="zh-CN" altLang="en-US" sz="2400" dirty="0">
                <a:sym typeface="+mn-ea"/>
              </a:rPr>
              <a:t>走线尽量短，尽量保持</a:t>
            </a:r>
            <a:r>
              <a:rPr lang="en-US" altLang="zh-CN" sz="2400" dirty="0">
                <a:sym typeface="+mn-ea"/>
              </a:rPr>
              <a:t>2W</a:t>
            </a:r>
            <a:r>
              <a:rPr lang="zh-CN" altLang="en-US" sz="2400" dirty="0">
                <a:sym typeface="+mn-ea"/>
              </a:rPr>
              <a:t>线距，避免</a:t>
            </a:r>
            <a:r>
              <a:rPr lang="en-US" altLang="zh-CN" sz="2400" dirty="0">
                <a:sym typeface="+mn-ea"/>
              </a:rPr>
              <a:t>Crosstalk</a:t>
            </a:r>
            <a:endParaRPr lang="en-US" altLang="zh-CN" sz="2400" noProof="1"/>
          </a:p>
          <a:p>
            <a:pPr marL="342900" marR="0" indent="-342900" fontAlgn="base">
              <a:lnSpc>
                <a:spcPct val="100000"/>
              </a:lnSpc>
              <a:spcBef>
                <a:spcPct val="20000"/>
              </a:spcBef>
              <a:spcAft>
                <a:spcPct val="0"/>
              </a:spcAft>
              <a:buClrTx/>
              <a:buSzPct val="80000"/>
            </a:pPr>
            <a:r>
              <a:rPr lang="en-US" altLang="zh-CN" sz="2400" dirty="0">
                <a:sym typeface="+mn-ea"/>
              </a:rPr>
              <a:t>Traces</a:t>
            </a:r>
            <a:r>
              <a:rPr lang="zh-CN" altLang="en-US" sz="2400" dirty="0">
                <a:sym typeface="+mn-ea"/>
              </a:rPr>
              <a:t>较长应配串联</a:t>
            </a:r>
            <a:r>
              <a:rPr lang="en-US" altLang="zh-CN" sz="2400" dirty="0">
                <a:sym typeface="+mn-ea"/>
              </a:rPr>
              <a:t>Rs</a:t>
            </a:r>
            <a:r>
              <a:rPr lang="zh-CN" altLang="en-US" sz="2400" dirty="0">
                <a:sym typeface="+mn-ea"/>
              </a:rPr>
              <a:t>靠近</a:t>
            </a:r>
            <a:r>
              <a:rPr lang="en-US" altLang="zh-CN" sz="2400" dirty="0">
                <a:sym typeface="+mn-ea"/>
              </a:rPr>
              <a:t>SOC</a:t>
            </a:r>
            <a:r>
              <a:rPr lang="zh-CN" altLang="en-US" sz="2400" dirty="0">
                <a:sym typeface="+mn-ea"/>
              </a:rPr>
              <a:t>放置，用于阻抗匹配，避免反射和过冲</a:t>
            </a:r>
            <a:endParaRPr lang="zh-CN" altLang="en-US" sz="2400" noProof="1"/>
          </a:p>
          <a:p>
            <a:pPr marL="342900" marR="0" indent="-342900" fontAlgn="base">
              <a:lnSpc>
                <a:spcPct val="100000"/>
              </a:lnSpc>
              <a:spcBef>
                <a:spcPct val="20000"/>
              </a:spcBef>
              <a:spcAft>
                <a:spcPct val="0"/>
              </a:spcAft>
              <a:buClrTx/>
              <a:buSzPct val="80000"/>
            </a:pPr>
            <a:r>
              <a:rPr lang="en-US" altLang="zh-CN" sz="2400" dirty="0">
                <a:sym typeface="+mn-ea"/>
              </a:rPr>
              <a:t>DQS0/DQS1/CK</a:t>
            </a:r>
            <a:r>
              <a:rPr lang="zh-CN" altLang="en-US" sz="2400" dirty="0">
                <a:sym typeface="+mn-ea"/>
              </a:rPr>
              <a:t>要严格差分走线，做等长和包地处理</a:t>
            </a:r>
            <a:endParaRPr lang="zh-CN" altLang="en-US" sz="2400" noProof="1"/>
          </a:p>
          <a:p>
            <a:pPr marL="342900" marR="0" indent="-342900" fontAlgn="base">
              <a:lnSpc>
                <a:spcPct val="100000"/>
              </a:lnSpc>
              <a:spcBef>
                <a:spcPct val="20000"/>
              </a:spcBef>
              <a:spcAft>
                <a:spcPct val="0"/>
              </a:spcAft>
              <a:buClrTx/>
              <a:buSzPct val="80000"/>
            </a:pPr>
            <a:r>
              <a:rPr lang="en-US" altLang="zh-CN" sz="2400" dirty="0">
                <a:sym typeface="+mn-ea"/>
              </a:rPr>
              <a:t>VREF</a:t>
            </a:r>
            <a:r>
              <a:rPr lang="zh-CN" altLang="en-US" sz="2400" dirty="0">
                <a:sym typeface="+mn-ea"/>
              </a:rPr>
              <a:t>分压电阻和滤波电容尽量靠近</a:t>
            </a:r>
            <a:r>
              <a:rPr lang="en-US" altLang="zh-CN" sz="2400" dirty="0">
                <a:sym typeface="+mn-ea"/>
              </a:rPr>
              <a:t>PIN</a:t>
            </a:r>
          </a:p>
          <a:p>
            <a:pPr marL="342900" marR="0" indent="-342900" fontAlgn="base">
              <a:lnSpc>
                <a:spcPct val="100000"/>
              </a:lnSpc>
              <a:spcBef>
                <a:spcPct val="20000"/>
              </a:spcBef>
              <a:spcAft>
                <a:spcPct val="0"/>
              </a:spcAft>
              <a:buClrTx/>
              <a:buSzPct val="80000"/>
            </a:pPr>
            <a:r>
              <a:rPr lang="zh-CN" altLang="en-US" sz="2400" noProof="1">
                <a:sym typeface="+mn-ea"/>
              </a:rPr>
              <a:t>包地线应有充足的</a:t>
            </a:r>
            <a:r>
              <a:rPr lang="en-US" altLang="zh-CN" sz="2400" noProof="1">
                <a:sym typeface="+mn-ea"/>
              </a:rPr>
              <a:t>VIA</a:t>
            </a:r>
            <a:endParaRPr lang="zh-CN" altLang="en-US" sz="2400" noProof="1">
              <a:sym typeface="+mn-ea"/>
            </a:endParaRPr>
          </a:p>
          <a:p>
            <a:pPr marL="609600" marR="0" indent="-609600" algn="l" defTabSz="914400" rtl="0" eaLnBrk="1" fontAlgn="base" latinLnBrk="0" hangingPunct="1">
              <a:lnSpc>
                <a:spcPct val="80000"/>
              </a:lnSpc>
              <a:spcBef>
                <a:spcPct val="20000"/>
              </a:spcBef>
              <a:spcAft>
                <a:spcPct val="0"/>
              </a:spcAft>
              <a:buClrTx/>
              <a:buSzPct val="80000"/>
              <a:buFont typeface="Wingdings" panose="05000000000000000000" pitchFamily="2" charset="2"/>
              <a:buChar char="Ø"/>
            </a:pPr>
            <a:r>
              <a:rPr lang="zh-CN" altLang="en-US" sz="2400" b="1" dirty="0">
                <a:solidFill>
                  <a:srgbClr val="FF0000"/>
                </a:solidFill>
                <a:latin typeface="+mj-lt"/>
                <a:cs typeface="+mj-lt"/>
                <a:sym typeface="+mn-ea"/>
              </a:rPr>
              <a:t>目前</a:t>
            </a:r>
            <a:r>
              <a:rPr lang="en-US" altLang="zh-CN" sz="2400" b="1" dirty="0">
                <a:solidFill>
                  <a:srgbClr val="FF0000"/>
                </a:solidFill>
                <a:latin typeface="+mj-lt"/>
                <a:cs typeface="+mj-lt"/>
                <a:sym typeface="+mn-ea"/>
              </a:rPr>
              <a:t>DDR </a:t>
            </a:r>
            <a:r>
              <a:rPr lang="zh-CN" altLang="en-US" sz="2400" b="1" dirty="0">
                <a:solidFill>
                  <a:srgbClr val="FF0000"/>
                </a:solidFill>
                <a:latin typeface="+mj-lt"/>
                <a:cs typeface="+mj-lt"/>
                <a:sym typeface="+mn-ea"/>
              </a:rPr>
              <a:t>原理图</a:t>
            </a:r>
            <a:r>
              <a:rPr lang="en-US" altLang="zh-CN" sz="2400" b="1" dirty="0">
                <a:solidFill>
                  <a:srgbClr val="FF0000"/>
                </a:solidFill>
                <a:latin typeface="+mj-lt"/>
                <a:cs typeface="+mj-lt"/>
                <a:sym typeface="+mn-ea"/>
              </a:rPr>
              <a:t>&amp;Layout</a:t>
            </a:r>
            <a:r>
              <a:rPr lang="zh-CN" altLang="en-US" sz="2400" b="1" dirty="0">
                <a:solidFill>
                  <a:srgbClr val="FF0000"/>
                </a:solidFill>
                <a:latin typeface="+mj-lt"/>
                <a:cs typeface="+mj-lt"/>
                <a:sym typeface="+mn-ea"/>
              </a:rPr>
              <a:t>公板已经做测试验证。不建议改动，请直接</a:t>
            </a:r>
            <a:r>
              <a:rPr lang="en-US" altLang="zh-CN" sz="2400" b="1" dirty="0">
                <a:solidFill>
                  <a:srgbClr val="FF0000"/>
                </a:solidFill>
                <a:latin typeface="+mj-lt"/>
                <a:cs typeface="+mj-lt"/>
                <a:sym typeface="+mn-ea"/>
              </a:rPr>
              <a:t>Copy</a:t>
            </a:r>
            <a:r>
              <a:rPr lang="zh-CN" altLang="en-US" sz="2400" b="1" dirty="0">
                <a:solidFill>
                  <a:srgbClr val="FF0000"/>
                </a:solidFill>
                <a:latin typeface="+mj-lt"/>
                <a:cs typeface="+mj-lt"/>
                <a:sym typeface="+mn-ea"/>
              </a:rPr>
              <a:t>，如有需要调整的部分，请遵循布线规则和做好老化测试</a:t>
            </a:r>
            <a:r>
              <a:rPr lang="zh-CN" altLang="en-US" sz="2400" b="1" dirty="0">
                <a:solidFill>
                  <a:srgbClr val="FF0000"/>
                </a:solidFill>
                <a:sym typeface="+mn-ea"/>
              </a:rPr>
              <a:t>。</a:t>
            </a:r>
            <a:endParaRPr lang="en-US" altLang="zh-CN" sz="2400" b="1" dirty="0">
              <a:solidFill>
                <a:srgbClr val="FF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20395" y="-5080"/>
            <a:ext cx="7125970" cy="519822"/>
          </a:xfrm>
          <a:prstGeom prst="rect">
            <a:avLst/>
          </a:prstGeom>
          <a:noFill/>
        </p:spPr>
        <p:txBody>
          <a:bodyPr wrap="square">
            <a:spAutoFit/>
          </a:bodyPr>
          <a:lstStyle>
            <a:defPPr>
              <a:defRPr lang="zh-CN"/>
            </a:defPPr>
            <a:lvl1pPr algn="dist">
              <a:lnSpc>
                <a:spcPct val="125000"/>
              </a:lnSpc>
              <a:defRPr sz="2400" b="1">
                <a:solidFill>
                  <a:schemeClr val="bg2">
                    <a:lumMod val="50000"/>
                  </a:schemeClr>
                </a:solidFill>
                <a:latin typeface="Arial" panose="020B0604020202020204" pitchFamily="34" charset="0"/>
                <a:ea typeface="微软雅黑" panose="020B0503020204020204" pitchFamily="34" charset="-122"/>
                <a:cs typeface="Arial" panose="020B0604020202020204" pitchFamily="34" charset="0"/>
              </a:defRPr>
            </a:lvl1pPr>
          </a:lstStyle>
          <a:p>
            <a:pPr algn="l">
              <a:buFont typeface="Wingdings" panose="05000000000000000000" charset="0"/>
            </a:pPr>
            <a:r>
              <a:rPr lang="en-US" altLang="zh-CN" dirty="0" err="1">
                <a:ea typeface="宋体" panose="02010600030101010101" pitchFamily="2" charset="-122"/>
                <a:sym typeface="+mn-ea"/>
              </a:rPr>
              <a:t>DDRx</a:t>
            </a:r>
            <a:r>
              <a:rPr lang="en-US" altLang="zh-CN" dirty="0">
                <a:ea typeface="宋体" panose="02010600030101010101" pitchFamily="2" charset="-122"/>
                <a:sym typeface="+mn-ea"/>
              </a:rPr>
              <a:t> layout-2layer</a:t>
            </a:r>
          </a:p>
        </p:txBody>
      </p:sp>
      <p:sp>
        <p:nvSpPr>
          <p:cNvPr id="13314" name="内容占位符 2"/>
          <p:cNvSpPr>
            <a:spLocks noGrp="1"/>
          </p:cNvSpPr>
          <p:nvPr>
            <p:ph idx="4294967295"/>
          </p:nvPr>
        </p:nvSpPr>
        <p:spPr>
          <a:xfrm>
            <a:off x="247073" y="904875"/>
            <a:ext cx="4941455" cy="4525963"/>
          </a:xfrm>
        </p:spPr>
        <p:txBody>
          <a:bodyPr vert="horz" wrap="square" lIns="91440" tIns="45720" rIns="91440" bIns="45720" anchor="t" anchorCtr="0"/>
          <a:lstStyle/>
          <a:p>
            <a:pPr marL="342900" marR="0" indent="-342900" algn="l" defTabSz="914400" rtl="0" eaLnBrk="1" fontAlgn="base" latinLnBrk="0" hangingPunct="1">
              <a:lnSpc>
                <a:spcPct val="100000"/>
              </a:lnSpc>
              <a:spcBef>
                <a:spcPct val="20000"/>
              </a:spcBef>
              <a:spcAft>
                <a:spcPct val="0"/>
              </a:spcAft>
              <a:buClrTx/>
              <a:buSzTx/>
              <a:buFont typeface="Arial" panose="020B0604020202020204" pitchFamily="34" charset="0"/>
              <a:buChar char="•"/>
            </a:pPr>
            <a:r>
              <a:rPr lang="en-US" sz="2400" dirty="0">
                <a:sym typeface="+mn-ea"/>
              </a:rPr>
              <a:t>DDR2 reference layout</a:t>
            </a:r>
          </a:p>
          <a:p>
            <a:pPr marL="0" marR="0" indent="0" algn="l" defTabSz="914400" rtl="0" eaLnBrk="1" fontAlgn="base" latinLnBrk="0" hangingPunct="1">
              <a:lnSpc>
                <a:spcPct val="100000"/>
              </a:lnSpc>
              <a:spcBef>
                <a:spcPct val="20000"/>
              </a:spcBef>
              <a:spcAft>
                <a:spcPct val="0"/>
              </a:spcAft>
              <a:buClrTx/>
              <a:buSzTx/>
              <a:buNone/>
            </a:pPr>
            <a:r>
              <a:rPr lang="en-US" altLang="zh-CN" sz="1600" b="0" i="0" dirty="0">
                <a:solidFill>
                  <a:srgbClr val="000000"/>
                </a:solidFill>
                <a:effectLst/>
                <a:latin typeface="Arial" panose="020B0604020202020204" pitchFamily="34" charset="0"/>
              </a:rPr>
              <a:t>Line Width(W)= 5 mil</a:t>
            </a:r>
            <a:br>
              <a:rPr lang="en-US" altLang="zh-CN" sz="1600" b="0" i="0" dirty="0">
                <a:solidFill>
                  <a:srgbClr val="000000"/>
                </a:solidFill>
                <a:effectLst/>
                <a:latin typeface="Arial" panose="020B0604020202020204" pitchFamily="34" charset="0"/>
              </a:rPr>
            </a:br>
            <a:r>
              <a:rPr lang="en-US" altLang="zh-CN" sz="1600" b="0" i="0" dirty="0">
                <a:solidFill>
                  <a:srgbClr val="000000"/>
                </a:solidFill>
                <a:effectLst/>
                <a:latin typeface="Arial" panose="020B0604020202020204" pitchFamily="34" charset="0"/>
              </a:rPr>
              <a:t>Line Space(S)</a:t>
            </a:r>
            <a:r>
              <a:rPr lang="zh-CN" altLang="en-US" sz="1600" b="0" i="0" dirty="0">
                <a:solidFill>
                  <a:srgbClr val="000000"/>
                </a:solidFill>
                <a:effectLst/>
                <a:latin typeface="Arial" panose="020B0604020202020204" pitchFamily="34" charset="0"/>
              </a:rPr>
              <a:t>≥</a:t>
            </a:r>
            <a:r>
              <a:rPr lang="en-US" altLang="zh-CN" sz="1600" b="0" i="0" dirty="0">
                <a:solidFill>
                  <a:srgbClr val="000000"/>
                </a:solidFill>
                <a:effectLst/>
                <a:latin typeface="Arial" panose="020B0604020202020204" pitchFamily="34" charset="0"/>
              </a:rPr>
              <a:t> 7 mil</a:t>
            </a:r>
            <a:br>
              <a:rPr lang="en-US" altLang="zh-CN" sz="1600" b="0" i="0" dirty="0">
                <a:solidFill>
                  <a:srgbClr val="000000"/>
                </a:solidFill>
                <a:effectLst/>
                <a:latin typeface="Arial" panose="020B0604020202020204" pitchFamily="34" charset="0"/>
              </a:rPr>
            </a:br>
            <a:r>
              <a:rPr lang="en-US" altLang="zh-CN" sz="1600" b="0" i="0" dirty="0">
                <a:solidFill>
                  <a:srgbClr val="000000"/>
                </a:solidFill>
                <a:effectLst/>
                <a:latin typeface="Arial" panose="020B0604020202020204" pitchFamily="34" charset="0"/>
              </a:rPr>
              <a:t>Clearance (D)= 5 mil</a:t>
            </a:r>
            <a:br>
              <a:rPr lang="en-US" altLang="zh-CN" sz="1600" b="0" i="0" dirty="0">
                <a:solidFill>
                  <a:srgbClr val="000000"/>
                </a:solidFill>
                <a:effectLst/>
                <a:latin typeface="Arial" panose="020B0604020202020204" pitchFamily="34" charset="0"/>
              </a:rPr>
            </a:br>
            <a:r>
              <a:rPr lang="en-US" altLang="zh-CN" sz="1600" b="0" i="0" dirty="0">
                <a:solidFill>
                  <a:srgbClr val="000000"/>
                </a:solidFill>
                <a:effectLst/>
                <a:latin typeface="Arial" panose="020B0604020202020204" pitchFamily="34" charset="0"/>
              </a:rPr>
              <a:t>Note :</a:t>
            </a:r>
            <a:r>
              <a:rPr lang="zh-CN" altLang="en-US" sz="1600" b="0" i="0" dirty="0">
                <a:solidFill>
                  <a:srgbClr val="000000"/>
                </a:solidFill>
                <a:effectLst/>
                <a:latin typeface="宋体" panose="02010600030101010101" pitchFamily="2" charset="-122"/>
                <a:ea typeface="宋体" panose="02010600030101010101" pitchFamily="2" charset="-122"/>
              </a:rPr>
              <a:t>线宽</a:t>
            </a:r>
            <a:r>
              <a:rPr lang="en-US" altLang="zh-CN" sz="1600" b="0" i="0" dirty="0">
                <a:solidFill>
                  <a:srgbClr val="000000"/>
                </a:solidFill>
                <a:effectLst/>
                <a:latin typeface="Arial" panose="020B0604020202020204" pitchFamily="34" charset="0"/>
              </a:rPr>
              <a:t>(W)</a:t>
            </a:r>
            <a:r>
              <a:rPr lang="en-US" altLang="zh-CN" sz="1600" dirty="0"/>
              <a:t> </a:t>
            </a:r>
            <a:r>
              <a:rPr lang="zh-CN" altLang="en-US" sz="1600" b="0" i="0" dirty="0">
                <a:solidFill>
                  <a:srgbClr val="000000"/>
                </a:solidFill>
                <a:effectLst/>
                <a:latin typeface="宋体" panose="02010600030101010101" pitchFamily="2" charset="-122"/>
                <a:ea typeface="宋体" panose="02010600030101010101" pitchFamily="2" charset="-122"/>
              </a:rPr>
              <a:t>信号线间距</a:t>
            </a:r>
            <a:r>
              <a:rPr lang="en-US" altLang="zh-CN" sz="1600" b="0" i="0" dirty="0">
                <a:solidFill>
                  <a:srgbClr val="000000"/>
                </a:solidFill>
                <a:effectLst/>
                <a:latin typeface="Arial" panose="020B0604020202020204" pitchFamily="34" charset="0"/>
              </a:rPr>
              <a:t>(S) </a:t>
            </a:r>
            <a:r>
              <a:rPr lang="zh-CN" altLang="en-US" sz="1600" dirty="0">
                <a:solidFill>
                  <a:srgbClr val="000000"/>
                </a:solidFill>
                <a:latin typeface="宋体" panose="02010600030101010101" pitchFamily="2" charset="-122"/>
                <a:ea typeface="宋体" panose="02010600030101010101" pitchFamily="2" charset="-122"/>
              </a:rPr>
              <a:t>信</a:t>
            </a:r>
            <a:r>
              <a:rPr lang="zh-CN" altLang="en-US" sz="1600" b="0" i="0" dirty="0">
                <a:solidFill>
                  <a:srgbClr val="000000"/>
                </a:solidFill>
                <a:effectLst/>
                <a:latin typeface="宋体" panose="02010600030101010101" pitchFamily="2" charset="-122"/>
                <a:ea typeface="宋体" panose="02010600030101010101" pitchFamily="2" charset="-122"/>
              </a:rPr>
              <a:t>号线与地线间距</a:t>
            </a:r>
            <a:r>
              <a:rPr lang="en-US" altLang="zh-CN" sz="1600" b="0" i="0" dirty="0">
                <a:solidFill>
                  <a:srgbClr val="000000"/>
                </a:solidFill>
                <a:effectLst/>
                <a:latin typeface="Arial" panose="020B0604020202020204" pitchFamily="34" charset="0"/>
              </a:rPr>
              <a:t>(D)</a:t>
            </a:r>
            <a:r>
              <a:rPr lang="en-US" altLang="zh-CN" sz="1600" dirty="0"/>
              <a:t> </a:t>
            </a:r>
            <a:endParaRPr lang="en-US" altLang="zh-CN" sz="2400" dirty="0">
              <a:sym typeface="+mn-ea"/>
            </a:endParaRPr>
          </a:p>
        </p:txBody>
      </p:sp>
      <p:sp>
        <p:nvSpPr>
          <p:cNvPr id="5" name="内容占位符 2"/>
          <p:cNvSpPr>
            <a:spLocks noGrp="1"/>
          </p:cNvSpPr>
          <p:nvPr/>
        </p:nvSpPr>
        <p:spPr>
          <a:xfrm>
            <a:off x="5892800" y="904875"/>
            <a:ext cx="4688205" cy="4526280"/>
          </a:xfrm>
          <a:prstGeom prst="rect">
            <a:avLst/>
          </a:prstGeom>
        </p:spPr>
        <p:txBody>
          <a:bodyPr vert="horz" wrap="square" lIns="91440" tIns="45720" rIns="91440" bIns="45720" rtlCol="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indent="-342900" algn="l" defTabSz="914400" rtl="0" eaLnBrk="1" fontAlgn="base" latinLnBrk="0" hangingPunct="1">
              <a:lnSpc>
                <a:spcPct val="100000"/>
              </a:lnSpc>
              <a:spcBef>
                <a:spcPct val="20000"/>
              </a:spcBef>
              <a:spcAft>
                <a:spcPct val="0"/>
              </a:spcAft>
              <a:buClrTx/>
              <a:buSzTx/>
              <a:buFont typeface="Arial" panose="020B0604020202020204" pitchFamily="34" charset="0"/>
              <a:buChar char="•"/>
            </a:pPr>
            <a:r>
              <a:rPr lang="en-US" sz="2400" dirty="0">
                <a:sym typeface="+mn-ea"/>
              </a:rPr>
              <a:t>DDR3 reference layout</a:t>
            </a:r>
            <a:endParaRPr lang="en-US" altLang="zh-CN" sz="2400" dirty="0"/>
          </a:p>
        </p:txBody>
      </p:sp>
      <p:pic>
        <p:nvPicPr>
          <p:cNvPr id="6" name="图片 5"/>
          <p:cNvPicPr>
            <a:picLocks noChangeAspect="1"/>
          </p:cNvPicPr>
          <p:nvPr/>
        </p:nvPicPr>
        <p:blipFill>
          <a:blip r:embed="rId2"/>
          <a:stretch>
            <a:fillRect/>
          </a:stretch>
        </p:blipFill>
        <p:spPr>
          <a:xfrm>
            <a:off x="6350000" y="1528445"/>
            <a:ext cx="5299710" cy="4337685"/>
          </a:xfrm>
          <a:prstGeom prst="rect">
            <a:avLst/>
          </a:prstGeom>
        </p:spPr>
      </p:pic>
      <p:pic>
        <p:nvPicPr>
          <p:cNvPr id="2" name="图片 1"/>
          <p:cNvPicPr>
            <a:picLocks noChangeAspect="1"/>
          </p:cNvPicPr>
          <p:nvPr/>
        </p:nvPicPr>
        <p:blipFill>
          <a:blip r:embed="rId3"/>
          <a:stretch>
            <a:fillRect/>
          </a:stretch>
        </p:blipFill>
        <p:spPr>
          <a:xfrm>
            <a:off x="457200" y="2871470"/>
            <a:ext cx="5654675" cy="299466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20395" y="-5080"/>
            <a:ext cx="7125970" cy="519822"/>
          </a:xfrm>
          <a:prstGeom prst="rect">
            <a:avLst/>
          </a:prstGeom>
          <a:noFill/>
        </p:spPr>
        <p:txBody>
          <a:bodyPr wrap="square">
            <a:spAutoFit/>
          </a:bodyPr>
          <a:lstStyle>
            <a:defPPr>
              <a:defRPr lang="zh-CN"/>
            </a:defPPr>
            <a:lvl1pPr algn="dist">
              <a:lnSpc>
                <a:spcPct val="125000"/>
              </a:lnSpc>
              <a:defRPr sz="2400" b="1">
                <a:solidFill>
                  <a:schemeClr val="bg2">
                    <a:lumMod val="50000"/>
                  </a:schemeClr>
                </a:solidFill>
                <a:latin typeface="Arial" panose="020B0604020202020204" pitchFamily="34" charset="0"/>
                <a:ea typeface="微软雅黑" panose="020B0503020204020204" pitchFamily="34" charset="-122"/>
                <a:cs typeface="Arial" panose="020B0604020202020204" pitchFamily="34" charset="0"/>
              </a:defRPr>
            </a:lvl1pPr>
          </a:lstStyle>
          <a:p>
            <a:pPr algn="l">
              <a:buFont typeface="Wingdings" panose="05000000000000000000" charset="0"/>
            </a:pPr>
            <a:r>
              <a:rPr lang="en-US" altLang="zh-CN" dirty="0">
                <a:ea typeface="宋体" panose="02010600030101010101" pitchFamily="2" charset="-122"/>
                <a:sym typeface="+mn-ea"/>
              </a:rPr>
              <a:t>DDR3 -4layer</a:t>
            </a:r>
          </a:p>
        </p:txBody>
      </p:sp>
      <p:sp>
        <p:nvSpPr>
          <p:cNvPr id="13314" name="内容占位符 2"/>
          <p:cNvSpPr>
            <a:spLocks noGrp="1"/>
          </p:cNvSpPr>
          <p:nvPr>
            <p:ph idx="4294967295"/>
          </p:nvPr>
        </p:nvSpPr>
        <p:spPr>
          <a:xfrm>
            <a:off x="502732" y="904875"/>
            <a:ext cx="10054648" cy="4525963"/>
          </a:xfrm>
        </p:spPr>
        <p:txBody>
          <a:bodyPr vert="horz" wrap="square" lIns="91440" tIns="45720" rIns="91440" bIns="45720" anchor="t" anchorCtr="0"/>
          <a:lstStyle/>
          <a:p>
            <a:pPr marL="0" indent="0" fontAlgn="base">
              <a:lnSpc>
                <a:spcPct val="100000"/>
              </a:lnSpc>
              <a:spcBef>
                <a:spcPct val="20000"/>
              </a:spcBef>
              <a:spcAft>
                <a:spcPct val="0"/>
              </a:spcAft>
              <a:buNone/>
            </a:pPr>
            <a:r>
              <a:rPr lang="en-US" altLang="zh-CN" sz="2400" dirty="0">
                <a:sym typeface="+mn-ea"/>
              </a:rPr>
              <a:t>    TOP</a:t>
            </a:r>
            <a:r>
              <a:rPr lang="zh-CN" altLang="en-US" sz="2400" dirty="0">
                <a:sym typeface="+mn-ea"/>
              </a:rPr>
              <a:t>层走</a:t>
            </a:r>
            <a:r>
              <a:rPr lang="en-US" altLang="zh-CN" sz="2400" dirty="0">
                <a:sym typeface="+mn-ea"/>
              </a:rPr>
              <a:t>S1</a:t>
            </a:r>
            <a:r>
              <a:rPr lang="zh-CN" altLang="en-US" sz="2400" dirty="0">
                <a:sym typeface="+mn-ea"/>
              </a:rPr>
              <a:t>，</a:t>
            </a:r>
            <a:r>
              <a:rPr lang="en-US" altLang="zh-CN" sz="2400" dirty="0">
                <a:sym typeface="+mn-ea"/>
              </a:rPr>
              <a:t>GND</a:t>
            </a:r>
            <a:r>
              <a:rPr lang="zh-CN" altLang="en-US" sz="2400" dirty="0">
                <a:sym typeface="+mn-ea"/>
              </a:rPr>
              <a:t>层做参考平面，</a:t>
            </a:r>
            <a:r>
              <a:rPr lang="en-US" altLang="zh-CN" sz="2400" dirty="0">
                <a:sym typeface="+mn-ea"/>
              </a:rPr>
              <a:t>VCC</a:t>
            </a:r>
            <a:r>
              <a:rPr lang="zh-CN" altLang="en-US" sz="2400" dirty="0">
                <a:sym typeface="+mn-ea"/>
              </a:rPr>
              <a:t>层走</a:t>
            </a:r>
            <a:r>
              <a:rPr lang="en-US" altLang="zh-CN" sz="2400" dirty="0">
                <a:sym typeface="+mn-ea"/>
              </a:rPr>
              <a:t>S2</a:t>
            </a:r>
            <a:r>
              <a:rPr lang="zh-CN" altLang="en-US" sz="2400" dirty="0">
                <a:sym typeface="+mn-ea"/>
              </a:rPr>
              <a:t>，</a:t>
            </a:r>
            <a:r>
              <a:rPr lang="en-US" altLang="zh-CN" sz="2400" dirty="0">
                <a:sym typeface="+mn-ea"/>
              </a:rPr>
              <a:t>BOTTOM</a:t>
            </a:r>
            <a:r>
              <a:rPr lang="zh-CN" altLang="en-US" sz="2400" dirty="0">
                <a:sym typeface="+mn-ea"/>
              </a:rPr>
              <a:t>层走</a:t>
            </a:r>
            <a:r>
              <a:rPr lang="en-US" altLang="zh-CN" sz="2400" dirty="0">
                <a:sym typeface="+mn-ea"/>
              </a:rPr>
              <a:t>VDDO</a:t>
            </a:r>
            <a:r>
              <a:rPr lang="zh-CN" altLang="en-US" sz="2400" dirty="0">
                <a:sym typeface="+mn-ea"/>
              </a:rPr>
              <a:t>。</a:t>
            </a:r>
            <a:endParaRPr kumimoji="0" lang="en-US" sz="2400" b="0" i="0" u="none" strike="noStrike" kern="1200" cap="none" spc="0" normalizeH="0" baseline="0" noProof="1">
              <a:solidFill>
                <a:schemeClr val="tx1"/>
              </a:solidFill>
              <a:latin typeface="+mn-lt"/>
              <a:ea typeface="+mn-ea"/>
              <a:cs typeface="+mn-cs"/>
              <a:sym typeface="+mn-ea"/>
            </a:endParaRPr>
          </a:p>
          <a:p>
            <a:pPr marL="342900" indent="-342900" fontAlgn="base">
              <a:lnSpc>
                <a:spcPct val="100000"/>
              </a:lnSpc>
              <a:spcBef>
                <a:spcPct val="20000"/>
              </a:spcBef>
              <a:spcAft>
                <a:spcPct val="0"/>
              </a:spcAft>
              <a:buSzPct val="80000"/>
            </a:pPr>
            <a:r>
              <a:rPr lang="en-US" altLang="zh-CN" sz="2400" dirty="0">
                <a:sym typeface="+mn-ea"/>
              </a:rPr>
              <a:t>Single end 50ohm</a:t>
            </a:r>
            <a:r>
              <a:rPr lang="zh-CN" altLang="en-US" sz="2400" dirty="0">
                <a:sym typeface="+mn-ea"/>
              </a:rPr>
              <a:t>，</a:t>
            </a:r>
            <a:r>
              <a:rPr lang="en-US" altLang="zh-CN" sz="2400" dirty="0">
                <a:sym typeface="+mn-ea"/>
              </a:rPr>
              <a:t>Differential 100ohm</a:t>
            </a:r>
            <a:endParaRPr lang="en-US" altLang="zh-CN" sz="2400" noProof="1"/>
          </a:p>
          <a:p>
            <a:pPr marL="342900" indent="-342900" fontAlgn="base">
              <a:lnSpc>
                <a:spcPct val="100000"/>
              </a:lnSpc>
              <a:spcBef>
                <a:spcPct val="20000"/>
              </a:spcBef>
              <a:spcAft>
                <a:spcPct val="0"/>
              </a:spcAft>
              <a:buSzPct val="80000"/>
            </a:pPr>
            <a:r>
              <a:rPr lang="en-US" altLang="zh-CN" sz="2400" dirty="0">
                <a:sym typeface="+mn-ea"/>
              </a:rPr>
              <a:t>DQ/DQS</a:t>
            </a:r>
            <a:r>
              <a:rPr lang="zh-CN" altLang="en-US" sz="2400" dirty="0">
                <a:sym typeface="+mn-ea"/>
              </a:rPr>
              <a:t>可以不做等长，但需保证阻抗连续性</a:t>
            </a:r>
            <a:endParaRPr lang="zh-CN" altLang="en-US" sz="2400" noProof="1"/>
          </a:p>
          <a:p>
            <a:pPr marL="342900" indent="-342900" fontAlgn="base">
              <a:lnSpc>
                <a:spcPct val="100000"/>
              </a:lnSpc>
              <a:spcBef>
                <a:spcPct val="20000"/>
              </a:spcBef>
              <a:spcAft>
                <a:spcPct val="0"/>
              </a:spcAft>
              <a:buSzPct val="80000"/>
            </a:pPr>
            <a:r>
              <a:rPr lang="en-US" altLang="zh-CN" sz="2400" dirty="0">
                <a:sym typeface="+mn-ea"/>
              </a:rPr>
              <a:t>CSJ Rs</a:t>
            </a:r>
            <a:r>
              <a:rPr lang="zh-CN" altLang="en-US" sz="2400" dirty="0">
                <a:sym typeface="+mn-ea"/>
              </a:rPr>
              <a:t>靠近</a:t>
            </a:r>
            <a:r>
              <a:rPr lang="en-US" altLang="zh-CN" sz="2400" dirty="0">
                <a:sym typeface="+mn-ea"/>
              </a:rPr>
              <a:t>SOC</a:t>
            </a:r>
            <a:r>
              <a:rPr lang="zh-CN" altLang="en-US" sz="2400" dirty="0">
                <a:sym typeface="+mn-ea"/>
              </a:rPr>
              <a:t>放置，用于阻抗匹配，避免反射和过冲</a:t>
            </a:r>
            <a:endParaRPr lang="zh-CN" altLang="en-US" sz="2400" noProof="1"/>
          </a:p>
          <a:p>
            <a:pPr marL="342900" marR="0" indent="-342900" fontAlgn="base">
              <a:lnSpc>
                <a:spcPct val="100000"/>
              </a:lnSpc>
              <a:spcBef>
                <a:spcPct val="20000"/>
              </a:spcBef>
              <a:spcAft>
                <a:spcPct val="0"/>
              </a:spcAft>
              <a:buClrTx/>
              <a:buSzPct val="80000"/>
            </a:pPr>
            <a:r>
              <a:rPr lang="en-US" altLang="zh-CN" sz="2400" dirty="0">
                <a:sym typeface="+mn-ea"/>
              </a:rPr>
              <a:t>DQS0/DQS1/CK</a:t>
            </a:r>
            <a:r>
              <a:rPr lang="zh-CN" altLang="en-US" sz="2400" dirty="0">
                <a:sym typeface="+mn-ea"/>
              </a:rPr>
              <a:t>要严格差分走线</a:t>
            </a:r>
            <a:endParaRPr lang="zh-CN" altLang="en-US" sz="2400" noProof="1"/>
          </a:p>
          <a:p>
            <a:pPr marL="342900" indent="-342900" fontAlgn="base">
              <a:lnSpc>
                <a:spcPct val="100000"/>
              </a:lnSpc>
              <a:spcBef>
                <a:spcPct val="20000"/>
              </a:spcBef>
              <a:spcAft>
                <a:spcPct val="0"/>
              </a:spcAft>
              <a:buSzPct val="80000"/>
            </a:pPr>
            <a:r>
              <a:rPr lang="en-US" altLang="zh-CN" sz="2400" dirty="0">
                <a:sym typeface="+mn-ea"/>
              </a:rPr>
              <a:t>VREF</a:t>
            </a:r>
            <a:r>
              <a:rPr lang="zh-CN" altLang="en-US" sz="2400" dirty="0">
                <a:sym typeface="+mn-ea"/>
              </a:rPr>
              <a:t>分压电阻和滤波电容尽量靠近</a:t>
            </a:r>
            <a:r>
              <a:rPr lang="en-US" altLang="zh-CN" sz="2400" dirty="0">
                <a:sym typeface="+mn-ea"/>
              </a:rPr>
              <a:t>PIN</a:t>
            </a:r>
            <a:endParaRPr lang="zh-CN" altLang="en-US" sz="2400" noProof="1">
              <a:sym typeface="+mn-ea"/>
            </a:endParaRPr>
          </a:p>
          <a:p>
            <a:pPr marL="609600" marR="0" indent="-609600" algn="l" defTabSz="914400" rtl="0" eaLnBrk="1" fontAlgn="base" latinLnBrk="0" hangingPunct="1">
              <a:lnSpc>
                <a:spcPct val="80000"/>
              </a:lnSpc>
              <a:spcBef>
                <a:spcPct val="20000"/>
              </a:spcBef>
              <a:spcAft>
                <a:spcPct val="0"/>
              </a:spcAft>
              <a:buClrTx/>
              <a:buSzPct val="80000"/>
              <a:buFont typeface="Wingdings" panose="05000000000000000000" pitchFamily="2" charset="2"/>
              <a:buChar char="Ø"/>
            </a:pPr>
            <a:r>
              <a:rPr lang="zh-CN" altLang="en-US" sz="2400" b="1" dirty="0">
                <a:solidFill>
                  <a:srgbClr val="FF0000"/>
                </a:solidFill>
                <a:latin typeface="+mj-lt"/>
                <a:cs typeface="+mj-lt"/>
                <a:sym typeface="+mn-ea"/>
              </a:rPr>
              <a:t>目前</a:t>
            </a:r>
            <a:r>
              <a:rPr lang="en-US" altLang="zh-CN" sz="2400" b="1" dirty="0">
                <a:solidFill>
                  <a:srgbClr val="FF0000"/>
                </a:solidFill>
                <a:latin typeface="+mj-lt"/>
                <a:cs typeface="+mj-lt"/>
                <a:sym typeface="+mn-ea"/>
              </a:rPr>
              <a:t>DDR </a:t>
            </a:r>
            <a:r>
              <a:rPr lang="zh-CN" altLang="en-US" sz="2400" b="1" dirty="0">
                <a:solidFill>
                  <a:srgbClr val="FF0000"/>
                </a:solidFill>
                <a:latin typeface="+mj-lt"/>
                <a:cs typeface="+mj-lt"/>
                <a:sym typeface="+mn-ea"/>
              </a:rPr>
              <a:t>原理图</a:t>
            </a:r>
            <a:r>
              <a:rPr lang="en-US" altLang="zh-CN" sz="2400" b="1" dirty="0">
                <a:solidFill>
                  <a:srgbClr val="FF0000"/>
                </a:solidFill>
                <a:latin typeface="+mj-lt"/>
                <a:cs typeface="+mj-lt"/>
                <a:sym typeface="+mn-ea"/>
              </a:rPr>
              <a:t>&amp;Layout</a:t>
            </a:r>
            <a:r>
              <a:rPr lang="zh-CN" altLang="en-US" sz="2400" b="1" dirty="0">
                <a:solidFill>
                  <a:srgbClr val="FF0000"/>
                </a:solidFill>
                <a:latin typeface="+mj-lt"/>
                <a:cs typeface="+mj-lt"/>
                <a:sym typeface="+mn-ea"/>
              </a:rPr>
              <a:t>公板已经做测试验证。不建议改动，请直接</a:t>
            </a:r>
            <a:r>
              <a:rPr lang="en-US" altLang="zh-CN" sz="2400" b="1" dirty="0">
                <a:solidFill>
                  <a:srgbClr val="FF0000"/>
                </a:solidFill>
                <a:latin typeface="+mj-lt"/>
                <a:cs typeface="+mj-lt"/>
                <a:sym typeface="+mn-ea"/>
              </a:rPr>
              <a:t>Copy</a:t>
            </a:r>
            <a:r>
              <a:rPr lang="zh-CN" altLang="en-US" sz="2400" b="1" dirty="0">
                <a:solidFill>
                  <a:srgbClr val="FF0000"/>
                </a:solidFill>
                <a:latin typeface="+mj-lt"/>
                <a:cs typeface="+mj-lt"/>
                <a:sym typeface="+mn-ea"/>
              </a:rPr>
              <a:t>，如有需要调整的部分，请遵循布线规则和做好老化测试</a:t>
            </a:r>
            <a:r>
              <a:rPr lang="zh-CN" altLang="en-US" sz="2400" b="1" dirty="0">
                <a:solidFill>
                  <a:srgbClr val="FF0000"/>
                </a:solidFill>
                <a:sym typeface="+mn-ea"/>
              </a:rPr>
              <a:t>。</a:t>
            </a:r>
            <a:endParaRPr lang="en-US" altLang="zh-CN" sz="2400" b="1" dirty="0">
              <a:solidFill>
                <a:srgbClr val="FF0000"/>
              </a:solidFill>
            </a:endParaRPr>
          </a:p>
        </p:txBody>
      </p:sp>
    </p:spTree>
    <p:extLst>
      <p:ext uri="{BB962C8B-B14F-4D97-AF65-F5344CB8AC3E}">
        <p14:creationId xmlns:p14="http://schemas.microsoft.com/office/powerpoint/2010/main" val="21454782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20395" y="-5080"/>
            <a:ext cx="7125970" cy="519822"/>
          </a:xfrm>
          <a:prstGeom prst="rect">
            <a:avLst/>
          </a:prstGeom>
          <a:noFill/>
        </p:spPr>
        <p:txBody>
          <a:bodyPr wrap="square">
            <a:spAutoFit/>
          </a:bodyPr>
          <a:lstStyle>
            <a:defPPr>
              <a:defRPr lang="zh-CN"/>
            </a:defPPr>
            <a:lvl1pPr algn="dist">
              <a:lnSpc>
                <a:spcPct val="125000"/>
              </a:lnSpc>
              <a:defRPr sz="2400" b="1">
                <a:solidFill>
                  <a:schemeClr val="bg2">
                    <a:lumMod val="50000"/>
                  </a:schemeClr>
                </a:solidFill>
                <a:latin typeface="Arial" panose="020B0604020202020204" pitchFamily="34" charset="0"/>
                <a:ea typeface="微软雅黑" panose="020B0503020204020204" pitchFamily="34" charset="-122"/>
                <a:cs typeface="Arial" panose="020B0604020202020204" pitchFamily="34" charset="0"/>
              </a:defRPr>
            </a:lvl1pPr>
          </a:lstStyle>
          <a:p>
            <a:pPr algn="l">
              <a:buFont typeface="Wingdings" panose="05000000000000000000" charset="0"/>
            </a:pPr>
            <a:r>
              <a:rPr lang="en-US" altLang="zh-CN" dirty="0">
                <a:ea typeface="宋体" panose="02010600030101010101" pitchFamily="2" charset="-122"/>
                <a:sym typeface="+mn-ea"/>
              </a:rPr>
              <a:t>DDR3 layout-4layer</a:t>
            </a:r>
          </a:p>
        </p:txBody>
      </p:sp>
      <p:sp>
        <p:nvSpPr>
          <p:cNvPr id="13314" name="内容占位符 2"/>
          <p:cNvSpPr>
            <a:spLocks noGrp="1"/>
          </p:cNvSpPr>
          <p:nvPr>
            <p:ph idx="4294967295"/>
          </p:nvPr>
        </p:nvSpPr>
        <p:spPr>
          <a:xfrm>
            <a:off x="247073" y="904875"/>
            <a:ext cx="4941455" cy="4229100"/>
          </a:xfrm>
        </p:spPr>
        <p:txBody>
          <a:bodyPr vert="horz" wrap="square" lIns="91440" tIns="45720" rIns="91440" bIns="45720" anchor="t" anchorCtr="0"/>
          <a:lstStyle/>
          <a:p>
            <a:pPr marL="342900" marR="0" indent="-342900" algn="l" defTabSz="914400" rtl="0" eaLnBrk="1" fontAlgn="base" latinLnBrk="0" hangingPunct="1">
              <a:lnSpc>
                <a:spcPct val="100000"/>
              </a:lnSpc>
              <a:spcBef>
                <a:spcPct val="20000"/>
              </a:spcBef>
              <a:spcAft>
                <a:spcPct val="0"/>
              </a:spcAft>
              <a:buClrTx/>
              <a:buSzTx/>
              <a:buFont typeface="Arial" panose="020B0604020202020204" pitchFamily="34" charset="0"/>
              <a:buChar char="•"/>
            </a:pPr>
            <a:r>
              <a:rPr lang="en-US" sz="2400" dirty="0">
                <a:sym typeface="+mn-ea"/>
              </a:rPr>
              <a:t>DDR3 reference layout</a:t>
            </a:r>
          </a:p>
          <a:p>
            <a:pPr marL="0" marR="0" indent="0" algn="l" defTabSz="914400" rtl="0" eaLnBrk="1" fontAlgn="base" latinLnBrk="0" hangingPunct="1">
              <a:lnSpc>
                <a:spcPct val="100000"/>
              </a:lnSpc>
              <a:spcBef>
                <a:spcPct val="20000"/>
              </a:spcBef>
              <a:spcAft>
                <a:spcPct val="0"/>
              </a:spcAft>
              <a:buClrTx/>
              <a:buSzTx/>
              <a:buNone/>
            </a:pPr>
            <a:r>
              <a:rPr lang="en-US" altLang="zh-CN" sz="1600" b="0" i="0" dirty="0">
                <a:solidFill>
                  <a:srgbClr val="000000"/>
                </a:solidFill>
                <a:effectLst/>
                <a:latin typeface="Arial" panose="020B0604020202020204" pitchFamily="34" charset="0"/>
              </a:rPr>
              <a:t>Line Width(W)= 5 mil</a:t>
            </a:r>
            <a:br>
              <a:rPr lang="en-US" altLang="zh-CN" sz="1600" b="0" i="0" dirty="0">
                <a:solidFill>
                  <a:srgbClr val="000000"/>
                </a:solidFill>
                <a:effectLst/>
                <a:latin typeface="Arial" panose="020B0604020202020204" pitchFamily="34" charset="0"/>
              </a:rPr>
            </a:br>
            <a:r>
              <a:rPr lang="en-US" altLang="zh-CN" sz="1600" b="0" i="0" dirty="0">
                <a:solidFill>
                  <a:srgbClr val="000000"/>
                </a:solidFill>
                <a:effectLst/>
                <a:latin typeface="Arial" panose="020B0604020202020204" pitchFamily="34" charset="0"/>
              </a:rPr>
              <a:t>Line Space(S)</a:t>
            </a:r>
            <a:r>
              <a:rPr lang="zh-CN" altLang="en-US" sz="1600" b="0" i="0" dirty="0">
                <a:solidFill>
                  <a:srgbClr val="000000"/>
                </a:solidFill>
                <a:effectLst/>
                <a:latin typeface="Arial" panose="020B0604020202020204" pitchFamily="34" charset="0"/>
              </a:rPr>
              <a:t>≥</a:t>
            </a:r>
            <a:r>
              <a:rPr lang="en-US" altLang="zh-CN" sz="1600" b="0" i="0" dirty="0">
                <a:solidFill>
                  <a:srgbClr val="000000"/>
                </a:solidFill>
                <a:effectLst/>
                <a:latin typeface="Arial" panose="020B0604020202020204" pitchFamily="34" charset="0"/>
              </a:rPr>
              <a:t> 5 mil</a:t>
            </a:r>
            <a:br>
              <a:rPr lang="en-US" altLang="zh-CN" sz="1600" b="0" i="0" dirty="0">
                <a:solidFill>
                  <a:srgbClr val="000000"/>
                </a:solidFill>
                <a:effectLst/>
                <a:latin typeface="Arial" panose="020B0604020202020204" pitchFamily="34" charset="0"/>
              </a:rPr>
            </a:br>
            <a:r>
              <a:rPr lang="en-US" altLang="zh-CN" sz="1600" b="0" i="0" dirty="0">
                <a:solidFill>
                  <a:srgbClr val="000000"/>
                </a:solidFill>
                <a:effectLst/>
                <a:latin typeface="Arial" panose="020B0604020202020204" pitchFamily="34" charset="0"/>
              </a:rPr>
              <a:t>Clearance (D)= 5 mil</a:t>
            </a:r>
          </a:p>
          <a:p>
            <a:pPr marL="0" marR="0" indent="0" algn="l" defTabSz="914400" rtl="0" eaLnBrk="1" fontAlgn="base" latinLnBrk="0" hangingPunct="1">
              <a:lnSpc>
                <a:spcPct val="100000"/>
              </a:lnSpc>
              <a:spcBef>
                <a:spcPct val="20000"/>
              </a:spcBef>
              <a:spcAft>
                <a:spcPct val="0"/>
              </a:spcAft>
              <a:buClrTx/>
              <a:buSzTx/>
              <a:buNone/>
            </a:pPr>
            <a:endParaRPr lang="en-US" altLang="zh-CN" sz="2400" dirty="0">
              <a:sym typeface="+mn-ea"/>
            </a:endParaRPr>
          </a:p>
          <a:p>
            <a:pPr marL="0" marR="0" indent="0" algn="l" defTabSz="914400" rtl="0" eaLnBrk="1" fontAlgn="base" latinLnBrk="0" hangingPunct="1">
              <a:lnSpc>
                <a:spcPct val="100000"/>
              </a:lnSpc>
              <a:spcBef>
                <a:spcPct val="20000"/>
              </a:spcBef>
              <a:spcAft>
                <a:spcPct val="0"/>
              </a:spcAft>
              <a:buClrTx/>
              <a:buSzTx/>
              <a:buNone/>
            </a:pPr>
            <a:endParaRPr lang="en-US" altLang="zh-CN" sz="2400" dirty="0">
              <a:sym typeface="+mn-ea"/>
            </a:endParaRPr>
          </a:p>
          <a:p>
            <a:pPr marL="0" marR="0" indent="0" algn="l" defTabSz="914400" rtl="0" eaLnBrk="1" fontAlgn="base" latinLnBrk="0" hangingPunct="1">
              <a:lnSpc>
                <a:spcPct val="100000"/>
              </a:lnSpc>
              <a:spcBef>
                <a:spcPct val="20000"/>
              </a:spcBef>
              <a:spcAft>
                <a:spcPct val="0"/>
              </a:spcAft>
              <a:buClrTx/>
              <a:buSzTx/>
              <a:buNone/>
            </a:pPr>
            <a:endParaRPr lang="en-US" altLang="zh-CN" sz="2400" dirty="0">
              <a:sym typeface="+mn-ea"/>
            </a:endParaRPr>
          </a:p>
          <a:p>
            <a:pPr marL="0" marR="0" indent="0" algn="l" defTabSz="914400" rtl="0" eaLnBrk="1" fontAlgn="base" latinLnBrk="0" hangingPunct="1">
              <a:lnSpc>
                <a:spcPct val="100000"/>
              </a:lnSpc>
              <a:spcBef>
                <a:spcPct val="20000"/>
              </a:spcBef>
              <a:spcAft>
                <a:spcPct val="0"/>
              </a:spcAft>
              <a:buClrTx/>
              <a:buSzTx/>
              <a:buNone/>
            </a:pPr>
            <a:endParaRPr lang="en-US" altLang="zh-CN" sz="2400" dirty="0">
              <a:sym typeface="+mn-ea"/>
            </a:endParaRPr>
          </a:p>
          <a:p>
            <a:pPr marL="0" marR="0" indent="0" algn="l" defTabSz="914400" rtl="0" eaLnBrk="1" fontAlgn="base" latinLnBrk="0" hangingPunct="1">
              <a:lnSpc>
                <a:spcPct val="100000"/>
              </a:lnSpc>
              <a:spcBef>
                <a:spcPct val="20000"/>
              </a:spcBef>
              <a:spcAft>
                <a:spcPct val="0"/>
              </a:spcAft>
              <a:buClrTx/>
              <a:buSzTx/>
              <a:buNone/>
            </a:pPr>
            <a:endParaRPr lang="en-US" altLang="zh-CN" sz="2400" dirty="0">
              <a:sym typeface="+mn-ea"/>
            </a:endParaRPr>
          </a:p>
          <a:p>
            <a:pPr marL="0" marR="0" indent="0" algn="l" defTabSz="914400" rtl="0" eaLnBrk="1" fontAlgn="base" latinLnBrk="0" hangingPunct="1">
              <a:lnSpc>
                <a:spcPct val="100000"/>
              </a:lnSpc>
              <a:spcBef>
                <a:spcPct val="20000"/>
              </a:spcBef>
              <a:spcAft>
                <a:spcPct val="0"/>
              </a:spcAft>
              <a:buClrTx/>
              <a:buSzTx/>
              <a:buNone/>
            </a:pPr>
            <a:endParaRPr lang="en-US" altLang="zh-CN" sz="2400" dirty="0">
              <a:sym typeface="+mn-ea"/>
            </a:endParaRPr>
          </a:p>
          <a:p>
            <a:pPr marL="0" marR="0" indent="0" algn="l" defTabSz="914400" rtl="0" eaLnBrk="1" fontAlgn="base" latinLnBrk="0" hangingPunct="1">
              <a:lnSpc>
                <a:spcPct val="100000"/>
              </a:lnSpc>
              <a:spcBef>
                <a:spcPct val="20000"/>
              </a:spcBef>
              <a:spcAft>
                <a:spcPct val="0"/>
              </a:spcAft>
              <a:buClrTx/>
              <a:buSzTx/>
              <a:buNone/>
            </a:pPr>
            <a:r>
              <a:rPr lang="zh-CN" altLang="en-US" sz="1600" dirty="0">
                <a:solidFill>
                  <a:srgbClr val="000000"/>
                </a:solidFill>
                <a:latin typeface="Arial" panose="020B0604020202020204" pitchFamily="34" charset="0"/>
              </a:rPr>
              <a:t>其他厚度</a:t>
            </a:r>
            <a:r>
              <a:rPr lang="en-US" altLang="zh-CN" sz="1600" dirty="0">
                <a:solidFill>
                  <a:srgbClr val="000000"/>
                </a:solidFill>
                <a:latin typeface="Arial" panose="020B0604020202020204" pitchFamily="34" charset="0"/>
              </a:rPr>
              <a:t>PCB</a:t>
            </a:r>
            <a:r>
              <a:rPr lang="zh-CN" altLang="en-US" sz="1600" dirty="0">
                <a:solidFill>
                  <a:srgbClr val="000000"/>
                </a:solidFill>
                <a:latin typeface="Arial" panose="020B0604020202020204" pitchFamily="34" charset="0"/>
              </a:rPr>
              <a:t>可减少</a:t>
            </a:r>
            <a:r>
              <a:rPr lang="en-US" altLang="zh-CN" sz="1600" dirty="0">
                <a:solidFill>
                  <a:srgbClr val="000000"/>
                </a:solidFill>
                <a:latin typeface="Arial" panose="020B0604020202020204" pitchFamily="34" charset="0"/>
              </a:rPr>
              <a:t>Core thickness</a:t>
            </a:r>
            <a:endParaRPr lang="en-US" altLang="zh-CN" sz="1600" dirty="0">
              <a:solidFill>
                <a:srgbClr val="000000"/>
              </a:solidFill>
              <a:latin typeface="Arial" panose="020B0604020202020204" pitchFamily="34" charset="0"/>
              <a:sym typeface="+mn-ea"/>
            </a:endParaRPr>
          </a:p>
        </p:txBody>
      </p:sp>
      <p:pic>
        <p:nvPicPr>
          <p:cNvPr id="7" name="图片 6">
            <a:extLst>
              <a:ext uri="{FF2B5EF4-FFF2-40B4-BE49-F238E27FC236}">
                <a16:creationId xmlns:a16="http://schemas.microsoft.com/office/drawing/2014/main" id="{B847DBD3-F19C-E99B-E4E7-7F0D231CA69E}"/>
              </a:ext>
            </a:extLst>
          </p:cNvPr>
          <p:cNvPicPr>
            <a:picLocks noChangeAspect="1"/>
          </p:cNvPicPr>
          <p:nvPr/>
        </p:nvPicPr>
        <p:blipFill>
          <a:blip r:embed="rId2"/>
          <a:stretch>
            <a:fillRect/>
          </a:stretch>
        </p:blipFill>
        <p:spPr>
          <a:xfrm>
            <a:off x="4305299" y="807683"/>
            <a:ext cx="3824011" cy="2583195"/>
          </a:xfrm>
          <a:prstGeom prst="rect">
            <a:avLst/>
          </a:prstGeom>
        </p:spPr>
      </p:pic>
      <p:graphicFrame>
        <p:nvGraphicFramePr>
          <p:cNvPr id="12" name="表格 11">
            <a:extLst>
              <a:ext uri="{FF2B5EF4-FFF2-40B4-BE49-F238E27FC236}">
                <a16:creationId xmlns:a16="http://schemas.microsoft.com/office/drawing/2014/main" id="{99752A74-E85A-2967-C9B7-C16770BA1274}"/>
              </a:ext>
            </a:extLst>
          </p:cNvPr>
          <p:cNvGraphicFramePr>
            <a:graphicFrameLocks noGrp="1"/>
          </p:cNvGraphicFramePr>
          <p:nvPr>
            <p:extLst>
              <p:ext uri="{D42A27DB-BD31-4B8C-83A1-F6EECF244321}">
                <p14:modId xmlns:p14="http://schemas.microsoft.com/office/powerpoint/2010/main" val="2403965064"/>
              </p:ext>
            </p:extLst>
          </p:nvPr>
        </p:nvGraphicFramePr>
        <p:xfrm>
          <a:off x="548684" y="2444634"/>
          <a:ext cx="3232742" cy="1968731"/>
        </p:xfrm>
        <a:graphic>
          <a:graphicData uri="http://schemas.openxmlformats.org/drawingml/2006/table">
            <a:tbl>
              <a:tblPr firstRow="1" firstCol="1" bandRow="1">
                <a:tableStyleId>{5C22544A-7EE6-4342-B048-85BDC9FD1C3A}</a:tableStyleId>
              </a:tblPr>
              <a:tblGrid>
                <a:gridCol w="875713">
                  <a:extLst>
                    <a:ext uri="{9D8B030D-6E8A-4147-A177-3AD203B41FA5}">
                      <a16:colId xmlns:a16="http://schemas.microsoft.com/office/drawing/2014/main" val="1163864298"/>
                    </a:ext>
                  </a:extLst>
                </a:gridCol>
                <a:gridCol w="1097688">
                  <a:extLst>
                    <a:ext uri="{9D8B030D-6E8A-4147-A177-3AD203B41FA5}">
                      <a16:colId xmlns:a16="http://schemas.microsoft.com/office/drawing/2014/main" val="2480688910"/>
                    </a:ext>
                  </a:extLst>
                </a:gridCol>
                <a:gridCol w="1259341">
                  <a:extLst>
                    <a:ext uri="{9D8B030D-6E8A-4147-A177-3AD203B41FA5}">
                      <a16:colId xmlns:a16="http://schemas.microsoft.com/office/drawing/2014/main" val="1969164441"/>
                    </a:ext>
                  </a:extLst>
                </a:gridCol>
              </a:tblGrid>
              <a:tr h="325327">
                <a:tc>
                  <a:txBody>
                    <a:bodyPr/>
                    <a:lstStyle/>
                    <a:p>
                      <a:pPr algn="ctr"/>
                      <a:r>
                        <a:rPr lang="zh-CN" sz="1200" kern="100" dirty="0">
                          <a:effectLst/>
                        </a:rPr>
                        <a:t>层数</a:t>
                      </a:r>
                      <a:endParaRPr lang="zh-CN" sz="1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73797" marR="73797" marT="0" marB="0" anchor="ctr"/>
                </a:tc>
                <a:tc>
                  <a:txBody>
                    <a:bodyPr/>
                    <a:lstStyle/>
                    <a:p>
                      <a:pPr algn="ctr"/>
                      <a:r>
                        <a:rPr lang="zh-CN" sz="1200" kern="100">
                          <a:effectLst/>
                        </a:rPr>
                        <a:t>材料</a:t>
                      </a:r>
                      <a:endParaRPr lang="zh-CN" sz="1200" kern="100">
                        <a:effectLst/>
                        <a:latin typeface="Calibri" panose="020F0502020204030204" pitchFamily="34" charset="0"/>
                        <a:ea typeface="宋体" panose="02010600030101010101" pitchFamily="2" charset="-122"/>
                        <a:cs typeface="Times New Roman" panose="02020603050405020304" pitchFamily="18" charset="0"/>
                      </a:endParaRPr>
                    </a:p>
                  </a:txBody>
                  <a:tcPr marL="73797" marR="73797" marT="0" marB="0" anchor="ctr"/>
                </a:tc>
                <a:tc>
                  <a:txBody>
                    <a:bodyPr/>
                    <a:lstStyle/>
                    <a:p>
                      <a:pPr algn="ctr"/>
                      <a:r>
                        <a:rPr lang="zh-CN" sz="1200" kern="100" dirty="0">
                          <a:effectLst/>
                        </a:rPr>
                        <a:t>厚度要求</a:t>
                      </a:r>
                      <a:r>
                        <a:rPr lang="en-US" sz="1200" kern="100" dirty="0">
                          <a:effectLst/>
                        </a:rPr>
                        <a:t>(mm)</a:t>
                      </a:r>
                      <a:endParaRPr lang="zh-CN" sz="1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73797" marR="73797" marT="0" marB="0" anchor="ctr"/>
                </a:tc>
                <a:extLst>
                  <a:ext uri="{0D108BD9-81ED-4DB2-BD59-A6C34878D82A}">
                    <a16:rowId xmlns:a16="http://schemas.microsoft.com/office/drawing/2014/main" val="950892333"/>
                  </a:ext>
                </a:extLst>
              </a:tr>
              <a:tr h="252481">
                <a:tc rowSpan="2">
                  <a:txBody>
                    <a:bodyPr/>
                    <a:lstStyle/>
                    <a:p>
                      <a:pPr algn="ctr"/>
                      <a:r>
                        <a:rPr lang="en-US" sz="1200" kern="100">
                          <a:effectLst/>
                        </a:rPr>
                        <a:t>L1(TOP)</a:t>
                      </a:r>
                      <a:endParaRPr lang="zh-CN" sz="1200" kern="100">
                        <a:effectLst/>
                        <a:latin typeface="Calibri" panose="020F0502020204030204" pitchFamily="34" charset="0"/>
                        <a:ea typeface="宋体" panose="02010600030101010101" pitchFamily="2" charset="-122"/>
                        <a:cs typeface="Times New Roman" panose="02020603050405020304" pitchFamily="18" charset="0"/>
                      </a:endParaRPr>
                    </a:p>
                  </a:txBody>
                  <a:tcPr marL="81972" marR="81972" marT="40986" marB="40986" anchor="ctr"/>
                </a:tc>
                <a:tc>
                  <a:txBody>
                    <a:bodyPr/>
                    <a:lstStyle/>
                    <a:p>
                      <a:pPr algn="ctr"/>
                      <a:r>
                        <a:rPr lang="en-US" sz="1200" kern="100">
                          <a:effectLst/>
                        </a:rPr>
                        <a:t>Copper</a:t>
                      </a:r>
                      <a:endParaRPr lang="zh-CN" sz="1200" kern="100">
                        <a:effectLst/>
                        <a:latin typeface="Calibri" panose="020F0502020204030204" pitchFamily="34" charset="0"/>
                        <a:ea typeface="宋体" panose="02010600030101010101" pitchFamily="2" charset="-122"/>
                        <a:cs typeface="Times New Roman" panose="02020603050405020304" pitchFamily="18" charset="0"/>
                      </a:endParaRPr>
                    </a:p>
                  </a:txBody>
                  <a:tcPr marL="73797" marR="73797" marT="0" marB="0" anchor="ctr"/>
                </a:tc>
                <a:tc>
                  <a:txBody>
                    <a:bodyPr/>
                    <a:lstStyle/>
                    <a:p>
                      <a:pPr algn="ctr"/>
                      <a:r>
                        <a:rPr lang="en-US" sz="1200" kern="100">
                          <a:effectLst/>
                        </a:rPr>
                        <a:t>0.035</a:t>
                      </a:r>
                      <a:endParaRPr lang="zh-CN" sz="1200" kern="100">
                        <a:effectLst/>
                        <a:latin typeface="Calibri" panose="020F0502020204030204" pitchFamily="34" charset="0"/>
                        <a:ea typeface="宋体" panose="02010600030101010101" pitchFamily="2" charset="-122"/>
                        <a:cs typeface="Times New Roman" panose="02020603050405020304" pitchFamily="18" charset="0"/>
                      </a:endParaRPr>
                    </a:p>
                  </a:txBody>
                  <a:tcPr marL="73797" marR="73797" marT="0" marB="0" anchor="ctr"/>
                </a:tc>
                <a:extLst>
                  <a:ext uri="{0D108BD9-81ED-4DB2-BD59-A6C34878D82A}">
                    <a16:rowId xmlns:a16="http://schemas.microsoft.com/office/drawing/2014/main" val="2181371092"/>
                  </a:ext>
                </a:extLst>
              </a:tr>
              <a:tr h="180533">
                <a:tc vMerge="1">
                  <a:txBody>
                    <a:bodyPr/>
                    <a:lstStyle/>
                    <a:p>
                      <a:endParaRPr lang="zh-CN" altLang="en-US"/>
                    </a:p>
                  </a:txBody>
                  <a:tcPr/>
                </a:tc>
                <a:tc>
                  <a:txBody>
                    <a:bodyPr/>
                    <a:lstStyle/>
                    <a:p>
                      <a:pPr algn="ctr"/>
                      <a:r>
                        <a:rPr lang="en-US" sz="1200" kern="100">
                          <a:effectLst/>
                        </a:rPr>
                        <a:t>PP</a:t>
                      </a:r>
                      <a:endParaRPr lang="zh-CN" sz="1200" kern="100">
                        <a:effectLst/>
                        <a:latin typeface="Calibri" panose="020F0502020204030204" pitchFamily="34" charset="0"/>
                        <a:ea typeface="宋体" panose="02010600030101010101" pitchFamily="2" charset="-122"/>
                        <a:cs typeface="Times New Roman" panose="02020603050405020304" pitchFamily="18" charset="0"/>
                      </a:endParaRPr>
                    </a:p>
                  </a:txBody>
                  <a:tcPr marL="73797" marR="73797" marT="0" marB="0" anchor="ctr"/>
                </a:tc>
                <a:tc>
                  <a:txBody>
                    <a:bodyPr/>
                    <a:lstStyle/>
                    <a:p>
                      <a:pPr algn="ctr"/>
                      <a:r>
                        <a:rPr lang="en-US" sz="1200" kern="100">
                          <a:effectLst/>
                        </a:rPr>
                        <a:t>0.1</a:t>
                      </a:r>
                      <a:endParaRPr lang="zh-CN" sz="1200" kern="100">
                        <a:effectLst/>
                        <a:latin typeface="Calibri" panose="020F0502020204030204" pitchFamily="34" charset="0"/>
                        <a:ea typeface="宋体" panose="02010600030101010101" pitchFamily="2" charset="-122"/>
                        <a:cs typeface="Times New Roman" panose="02020603050405020304" pitchFamily="18" charset="0"/>
                      </a:endParaRPr>
                    </a:p>
                  </a:txBody>
                  <a:tcPr marL="73797" marR="73797" marT="0" marB="0" anchor="ctr"/>
                </a:tc>
                <a:extLst>
                  <a:ext uri="{0D108BD9-81ED-4DB2-BD59-A6C34878D82A}">
                    <a16:rowId xmlns:a16="http://schemas.microsoft.com/office/drawing/2014/main" val="3838560359"/>
                  </a:ext>
                </a:extLst>
              </a:tr>
              <a:tr h="177607">
                <a:tc rowSpan="2">
                  <a:txBody>
                    <a:bodyPr/>
                    <a:lstStyle/>
                    <a:p>
                      <a:pPr algn="ctr"/>
                      <a:r>
                        <a:rPr lang="en-US" sz="1200" kern="100">
                          <a:effectLst/>
                        </a:rPr>
                        <a:t>L2(GND)</a:t>
                      </a:r>
                      <a:endParaRPr lang="zh-CN" sz="1200" kern="100">
                        <a:effectLst/>
                        <a:latin typeface="Calibri" panose="020F0502020204030204" pitchFamily="34" charset="0"/>
                        <a:ea typeface="宋体" panose="02010600030101010101" pitchFamily="2" charset="-122"/>
                        <a:cs typeface="Times New Roman" panose="02020603050405020304" pitchFamily="18" charset="0"/>
                      </a:endParaRPr>
                    </a:p>
                  </a:txBody>
                  <a:tcPr marL="81972" marR="81972" marT="40986" marB="40986" anchor="ctr"/>
                </a:tc>
                <a:tc>
                  <a:txBody>
                    <a:bodyPr/>
                    <a:lstStyle/>
                    <a:p>
                      <a:pPr algn="ctr"/>
                      <a:r>
                        <a:rPr lang="en-US" sz="1200" kern="100" dirty="0">
                          <a:effectLst/>
                        </a:rPr>
                        <a:t>Copper</a:t>
                      </a:r>
                      <a:endParaRPr lang="zh-CN" sz="1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73797" marR="73797" marT="0" marB="0" anchor="ctr"/>
                </a:tc>
                <a:tc>
                  <a:txBody>
                    <a:bodyPr/>
                    <a:lstStyle/>
                    <a:p>
                      <a:pPr algn="ctr"/>
                      <a:r>
                        <a:rPr lang="en-US" sz="1200" kern="100">
                          <a:effectLst/>
                        </a:rPr>
                        <a:t>0.015</a:t>
                      </a:r>
                      <a:endParaRPr lang="zh-CN" sz="1200" kern="100">
                        <a:effectLst/>
                        <a:latin typeface="Calibri" panose="020F0502020204030204" pitchFamily="34" charset="0"/>
                        <a:ea typeface="宋体" panose="02010600030101010101" pitchFamily="2" charset="-122"/>
                        <a:cs typeface="Times New Roman" panose="02020603050405020304" pitchFamily="18" charset="0"/>
                      </a:endParaRPr>
                    </a:p>
                  </a:txBody>
                  <a:tcPr marL="73797" marR="73797" marT="0" marB="0" anchor="ctr"/>
                </a:tc>
                <a:extLst>
                  <a:ext uri="{0D108BD9-81ED-4DB2-BD59-A6C34878D82A}">
                    <a16:rowId xmlns:a16="http://schemas.microsoft.com/office/drawing/2014/main" val="1283578712"/>
                  </a:ext>
                </a:extLst>
              </a:tr>
              <a:tr h="177607">
                <a:tc vMerge="1">
                  <a:txBody>
                    <a:bodyPr/>
                    <a:lstStyle/>
                    <a:p>
                      <a:endParaRPr lang="zh-CN" altLang="en-US"/>
                    </a:p>
                  </a:txBody>
                  <a:tcPr/>
                </a:tc>
                <a:tc>
                  <a:txBody>
                    <a:bodyPr/>
                    <a:lstStyle/>
                    <a:p>
                      <a:pPr algn="ctr"/>
                      <a:r>
                        <a:rPr lang="en-US" sz="1200" kern="100">
                          <a:effectLst/>
                        </a:rPr>
                        <a:t>Core</a:t>
                      </a:r>
                      <a:endParaRPr lang="zh-CN" sz="1200" kern="100">
                        <a:effectLst/>
                        <a:latin typeface="Calibri" panose="020F0502020204030204" pitchFamily="34" charset="0"/>
                        <a:ea typeface="宋体" panose="02010600030101010101" pitchFamily="2" charset="-122"/>
                        <a:cs typeface="Times New Roman" panose="02020603050405020304" pitchFamily="18" charset="0"/>
                      </a:endParaRPr>
                    </a:p>
                  </a:txBody>
                  <a:tcPr marL="73797" marR="73797" marT="0" marB="0" anchor="ctr"/>
                </a:tc>
                <a:tc>
                  <a:txBody>
                    <a:bodyPr/>
                    <a:lstStyle/>
                    <a:p>
                      <a:pPr algn="ctr"/>
                      <a:r>
                        <a:rPr lang="en-US" sz="1200" kern="100">
                          <a:effectLst/>
                        </a:rPr>
                        <a:t>1.27</a:t>
                      </a:r>
                      <a:endParaRPr lang="zh-CN" sz="1200" kern="100">
                        <a:effectLst/>
                        <a:latin typeface="Calibri" panose="020F0502020204030204" pitchFamily="34" charset="0"/>
                        <a:ea typeface="宋体" panose="02010600030101010101" pitchFamily="2" charset="-122"/>
                        <a:cs typeface="Times New Roman" panose="02020603050405020304" pitchFamily="18" charset="0"/>
                      </a:endParaRPr>
                    </a:p>
                  </a:txBody>
                  <a:tcPr marL="73797" marR="73797" marT="0" marB="0" anchor="ctr"/>
                </a:tc>
                <a:extLst>
                  <a:ext uri="{0D108BD9-81ED-4DB2-BD59-A6C34878D82A}">
                    <a16:rowId xmlns:a16="http://schemas.microsoft.com/office/drawing/2014/main" val="3437508606"/>
                  </a:ext>
                </a:extLst>
              </a:tr>
              <a:tr h="200519">
                <a:tc>
                  <a:txBody>
                    <a:bodyPr/>
                    <a:lstStyle/>
                    <a:p>
                      <a:pPr algn="ctr"/>
                      <a:r>
                        <a:rPr lang="en-US" sz="1200" kern="100">
                          <a:effectLst/>
                        </a:rPr>
                        <a:t>L3(VCC)</a:t>
                      </a:r>
                      <a:endParaRPr lang="zh-CN" sz="1200" kern="100">
                        <a:effectLst/>
                        <a:latin typeface="Calibri" panose="020F0502020204030204" pitchFamily="34" charset="0"/>
                        <a:ea typeface="宋体" panose="02010600030101010101" pitchFamily="2" charset="-122"/>
                        <a:cs typeface="Times New Roman" panose="02020603050405020304" pitchFamily="18" charset="0"/>
                      </a:endParaRPr>
                    </a:p>
                  </a:txBody>
                  <a:tcPr marL="73797" marR="73797" marT="0" marB="0" anchor="ctr"/>
                </a:tc>
                <a:tc>
                  <a:txBody>
                    <a:bodyPr/>
                    <a:lstStyle/>
                    <a:p>
                      <a:pPr algn="ctr"/>
                      <a:r>
                        <a:rPr lang="en-US" sz="1200" kern="100">
                          <a:effectLst/>
                        </a:rPr>
                        <a:t>Copper</a:t>
                      </a:r>
                      <a:endParaRPr lang="zh-CN" sz="1200" kern="100">
                        <a:effectLst/>
                        <a:latin typeface="Calibri" panose="020F0502020204030204" pitchFamily="34" charset="0"/>
                        <a:ea typeface="宋体" panose="02010600030101010101" pitchFamily="2" charset="-122"/>
                        <a:cs typeface="Times New Roman" panose="02020603050405020304" pitchFamily="18" charset="0"/>
                      </a:endParaRPr>
                    </a:p>
                  </a:txBody>
                  <a:tcPr marL="73797" marR="73797" marT="0" marB="0" anchor="ctr"/>
                </a:tc>
                <a:tc>
                  <a:txBody>
                    <a:bodyPr/>
                    <a:lstStyle/>
                    <a:p>
                      <a:pPr algn="ctr"/>
                      <a:r>
                        <a:rPr lang="en-US" sz="1200" kern="100">
                          <a:effectLst/>
                        </a:rPr>
                        <a:t>0.015</a:t>
                      </a:r>
                      <a:endParaRPr lang="zh-CN" sz="1200" kern="100">
                        <a:effectLst/>
                        <a:latin typeface="Calibri" panose="020F0502020204030204" pitchFamily="34" charset="0"/>
                        <a:ea typeface="宋体" panose="02010600030101010101" pitchFamily="2" charset="-122"/>
                        <a:cs typeface="Times New Roman" panose="02020603050405020304" pitchFamily="18" charset="0"/>
                      </a:endParaRPr>
                    </a:p>
                  </a:txBody>
                  <a:tcPr marL="73797" marR="73797" marT="0" marB="0" anchor="ctr"/>
                </a:tc>
                <a:extLst>
                  <a:ext uri="{0D108BD9-81ED-4DB2-BD59-A6C34878D82A}">
                    <a16:rowId xmlns:a16="http://schemas.microsoft.com/office/drawing/2014/main" val="3643341453"/>
                  </a:ext>
                </a:extLst>
              </a:tr>
              <a:tr h="177607">
                <a:tc rowSpan="2">
                  <a:txBody>
                    <a:bodyPr/>
                    <a:lstStyle/>
                    <a:p>
                      <a:pPr algn="ctr"/>
                      <a:r>
                        <a:rPr lang="en-US" sz="1200" kern="100" dirty="0">
                          <a:effectLst/>
                        </a:rPr>
                        <a:t>L4(BOT)</a:t>
                      </a:r>
                      <a:endParaRPr lang="zh-CN" sz="1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81972" marR="81972" marT="40986" marB="40986" anchor="ctr"/>
                </a:tc>
                <a:tc>
                  <a:txBody>
                    <a:bodyPr/>
                    <a:lstStyle/>
                    <a:p>
                      <a:pPr algn="ctr"/>
                      <a:r>
                        <a:rPr lang="en-US" sz="1200" kern="100">
                          <a:effectLst/>
                        </a:rPr>
                        <a:t>PP</a:t>
                      </a:r>
                      <a:endParaRPr lang="zh-CN" sz="1200" kern="100">
                        <a:effectLst/>
                        <a:latin typeface="Calibri" panose="020F0502020204030204" pitchFamily="34" charset="0"/>
                        <a:ea typeface="宋体" panose="02010600030101010101" pitchFamily="2" charset="-122"/>
                        <a:cs typeface="Times New Roman" panose="02020603050405020304" pitchFamily="18" charset="0"/>
                      </a:endParaRPr>
                    </a:p>
                  </a:txBody>
                  <a:tcPr marL="73797" marR="73797" marT="0" marB="0" anchor="ctr"/>
                </a:tc>
                <a:tc>
                  <a:txBody>
                    <a:bodyPr/>
                    <a:lstStyle/>
                    <a:p>
                      <a:pPr algn="ctr"/>
                      <a:r>
                        <a:rPr lang="en-US" sz="1200" kern="100">
                          <a:effectLst/>
                        </a:rPr>
                        <a:t>0.1</a:t>
                      </a:r>
                      <a:endParaRPr lang="zh-CN" sz="1200" kern="100">
                        <a:effectLst/>
                        <a:latin typeface="Calibri" panose="020F0502020204030204" pitchFamily="34" charset="0"/>
                        <a:ea typeface="宋体" panose="02010600030101010101" pitchFamily="2" charset="-122"/>
                        <a:cs typeface="Times New Roman" panose="02020603050405020304" pitchFamily="18" charset="0"/>
                      </a:endParaRPr>
                    </a:p>
                  </a:txBody>
                  <a:tcPr marL="73797" marR="73797" marT="0" marB="0" anchor="ctr"/>
                </a:tc>
                <a:extLst>
                  <a:ext uri="{0D108BD9-81ED-4DB2-BD59-A6C34878D82A}">
                    <a16:rowId xmlns:a16="http://schemas.microsoft.com/office/drawing/2014/main" val="511159464"/>
                  </a:ext>
                </a:extLst>
              </a:tr>
              <a:tr h="177607">
                <a:tc vMerge="1">
                  <a:txBody>
                    <a:bodyPr/>
                    <a:lstStyle/>
                    <a:p>
                      <a:endParaRPr lang="zh-CN" altLang="en-US"/>
                    </a:p>
                  </a:txBody>
                  <a:tcPr/>
                </a:tc>
                <a:tc>
                  <a:txBody>
                    <a:bodyPr/>
                    <a:lstStyle/>
                    <a:p>
                      <a:pPr algn="ctr"/>
                      <a:r>
                        <a:rPr lang="en-US" sz="1200" kern="100" dirty="0">
                          <a:effectLst/>
                        </a:rPr>
                        <a:t>Copper</a:t>
                      </a:r>
                      <a:endParaRPr lang="zh-CN" sz="1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73797" marR="73797" marT="0" marB="0" anchor="ctr"/>
                </a:tc>
                <a:tc>
                  <a:txBody>
                    <a:bodyPr/>
                    <a:lstStyle/>
                    <a:p>
                      <a:pPr algn="ctr"/>
                      <a:r>
                        <a:rPr lang="en-US" sz="1200" kern="100" dirty="0">
                          <a:effectLst/>
                        </a:rPr>
                        <a:t>0.035</a:t>
                      </a:r>
                      <a:endParaRPr lang="zh-CN" sz="1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73797" marR="73797" marT="0" marB="0" anchor="ctr"/>
                </a:tc>
                <a:extLst>
                  <a:ext uri="{0D108BD9-81ED-4DB2-BD59-A6C34878D82A}">
                    <a16:rowId xmlns:a16="http://schemas.microsoft.com/office/drawing/2014/main" val="4026771368"/>
                  </a:ext>
                </a:extLst>
              </a:tr>
              <a:tr h="276004">
                <a:tc gridSpan="2">
                  <a:txBody>
                    <a:bodyPr/>
                    <a:lstStyle/>
                    <a:p>
                      <a:pPr algn="ctr"/>
                      <a:r>
                        <a:rPr lang="zh-CN" sz="1200" kern="100" baseline="0" dirty="0">
                          <a:solidFill>
                            <a:schemeClr val="tx1"/>
                          </a:solidFill>
                          <a:effectLst/>
                        </a:rPr>
                        <a:t>总厚度</a:t>
                      </a:r>
                      <a:endParaRPr lang="zh-CN" sz="1200" kern="100" baseline="0" dirty="0">
                        <a:solidFill>
                          <a:schemeClr val="tx1"/>
                        </a:solidFill>
                        <a:effectLst/>
                        <a:latin typeface="Calibri" panose="020F0502020204030204" pitchFamily="34" charset="0"/>
                        <a:ea typeface="宋体" panose="02010600030101010101" pitchFamily="2" charset="-122"/>
                        <a:cs typeface="Times New Roman" panose="02020603050405020304" pitchFamily="18" charset="0"/>
                      </a:endParaRPr>
                    </a:p>
                  </a:txBody>
                  <a:tcPr marL="81972" marR="81972" marT="40986" marB="40986" anchor="ctr">
                    <a:noFill/>
                  </a:tcPr>
                </a:tc>
                <a:tc hMerge="1">
                  <a:txBody>
                    <a:bodyPr/>
                    <a:lstStyle/>
                    <a:p>
                      <a:endParaRPr lang="zh-CN" altLang="en-US"/>
                    </a:p>
                  </a:txBody>
                  <a:tcPr/>
                </a:tc>
                <a:tc>
                  <a:txBody>
                    <a:bodyPr/>
                    <a:lstStyle/>
                    <a:p>
                      <a:pPr algn="ctr"/>
                      <a:r>
                        <a:rPr lang="en-US" sz="1200" kern="100" dirty="0">
                          <a:effectLst/>
                        </a:rPr>
                        <a:t>1.6</a:t>
                      </a:r>
                      <a:endParaRPr lang="zh-CN" sz="12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73797" marR="73797" marT="0" marB="0" anchor="ctr"/>
                </a:tc>
                <a:extLst>
                  <a:ext uri="{0D108BD9-81ED-4DB2-BD59-A6C34878D82A}">
                    <a16:rowId xmlns:a16="http://schemas.microsoft.com/office/drawing/2014/main" val="1046422307"/>
                  </a:ext>
                </a:extLst>
              </a:tr>
            </a:tbl>
          </a:graphicData>
        </a:graphic>
      </p:graphicFrame>
      <p:pic>
        <p:nvPicPr>
          <p:cNvPr id="14" name="图片 13">
            <a:extLst>
              <a:ext uri="{FF2B5EF4-FFF2-40B4-BE49-F238E27FC236}">
                <a16:creationId xmlns:a16="http://schemas.microsoft.com/office/drawing/2014/main" id="{4DACA2F0-E4FB-8115-214E-82D2FCC79EB8}"/>
              </a:ext>
            </a:extLst>
          </p:cNvPr>
          <p:cNvPicPr>
            <a:picLocks noChangeAspect="1"/>
          </p:cNvPicPr>
          <p:nvPr/>
        </p:nvPicPr>
        <p:blipFill>
          <a:blip r:embed="rId3"/>
          <a:stretch>
            <a:fillRect/>
          </a:stretch>
        </p:blipFill>
        <p:spPr>
          <a:xfrm>
            <a:off x="4305299" y="3758214"/>
            <a:ext cx="3824011" cy="2554044"/>
          </a:xfrm>
          <a:prstGeom prst="rect">
            <a:avLst/>
          </a:prstGeom>
        </p:spPr>
      </p:pic>
      <p:pic>
        <p:nvPicPr>
          <p:cNvPr id="16" name="图片 15">
            <a:extLst>
              <a:ext uri="{FF2B5EF4-FFF2-40B4-BE49-F238E27FC236}">
                <a16:creationId xmlns:a16="http://schemas.microsoft.com/office/drawing/2014/main" id="{44E8C1D5-95CC-9467-A3D0-8704E32CB3A7}"/>
              </a:ext>
            </a:extLst>
          </p:cNvPr>
          <p:cNvPicPr>
            <a:picLocks noChangeAspect="1"/>
          </p:cNvPicPr>
          <p:nvPr/>
        </p:nvPicPr>
        <p:blipFill>
          <a:blip r:embed="rId4"/>
          <a:stretch>
            <a:fillRect/>
          </a:stretch>
        </p:blipFill>
        <p:spPr>
          <a:xfrm>
            <a:off x="8239125" y="978488"/>
            <a:ext cx="3738284" cy="2412390"/>
          </a:xfrm>
          <a:prstGeom prst="rect">
            <a:avLst/>
          </a:prstGeom>
        </p:spPr>
      </p:pic>
      <p:pic>
        <p:nvPicPr>
          <p:cNvPr id="18" name="图片 17">
            <a:extLst>
              <a:ext uri="{FF2B5EF4-FFF2-40B4-BE49-F238E27FC236}">
                <a16:creationId xmlns:a16="http://schemas.microsoft.com/office/drawing/2014/main" id="{7462724A-945C-2CF5-978A-00FBA3B26779}"/>
              </a:ext>
            </a:extLst>
          </p:cNvPr>
          <p:cNvPicPr>
            <a:picLocks noChangeAspect="1"/>
          </p:cNvPicPr>
          <p:nvPr/>
        </p:nvPicPr>
        <p:blipFill>
          <a:blip r:embed="rId5"/>
          <a:stretch>
            <a:fillRect/>
          </a:stretch>
        </p:blipFill>
        <p:spPr>
          <a:xfrm>
            <a:off x="8239125" y="3758214"/>
            <a:ext cx="3738284" cy="2579942"/>
          </a:xfrm>
          <a:prstGeom prst="rect">
            <a:avLst/>
          </a:prstGeom>
        </p:spPr>
      </p:pic>
      <p:sp>
        <p:nvSpPr>
          <p:cNvPr id="19" name="内容占位符 2">
            <a:extLst>
              <a:ext uri="{FF2B5EF4-FFF2-40B4-BE49-F238E27FC236}">
                <a16:creationId xmlns:a16="http://schemas.microsoft.com/office/drawing/2014/main" id="{993ED1D7-F733-3464-F265-1FF1F43C5074}"/>
              </a:ext>
            </a:extLst>
          </p:cNvPr>
          <p:cNvSpPr txBox="1">
            <a:spLocks/>
          </p:cNvSpPr>
          <p:nvPr/>
        </p:nvSpPr>
        <p:spPr>
          <a:xfrm>
            <a:off x="4305299" y="518481"/>
            <a:ext cx="1457326" cy="298727"/>
          </a:xfrm>
        </p:spPr>
        <p:txBody>
          <a:bodyPr vert="horz" wrap="square" lIns="91440" tIns="45720" rIns="91440" bIns="45720" anchor="t"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lnSpc>
                <a:spcPct val="100000"/>
              </a:lnSpc>
              <a:spcBef>
                <a:spcPct val="20000"/>
              </a:spcBef>
              <a:spcAft>
                <a:spcPct val="0"/>
              </a:spcAft>
              <a:buFont typeface="Arial" panose="020B0604020202020204" pitchFamily="34" charset="0"/>
              <a:buNone/>
            </a:pPr>
            <a:r>
              <a:rPr lang="en-US" altLang="zh-CN" sz="1600" dirty="0">
                <a:solidFill>
                  <a:srgbClr val="000000"/>
                </a:solidFill>
                <a:latin typeface="Arial" panose="020B0604020202020204" pitchFamily="34" charset="0"/>
              </a:rPr>
              <a:t>TOP(L1)</a:t>
            </a:r>
            <a:endParaRPr lang="en-US" altLang="zh-CN" sz="2400" dirty="0">
              <a:sym typeface="+mn-ea"/>
            </a:endParaRPr>
          </a:p>
        </p:txBody>
      </p:sp>
      <p:sp>
        <p:nvSpPr>
          <p:cNvPr id="20" name="内容占位符 2">
            <a:extLst>
              <a:ext uri="{FF2B5EF4-FFF2-40B4-BE49-F238E27FC236}">
                <a16:creationId xmlns:a16="http://schemas.microsoft.com/office/drawing/2014/main" id="{66085B16-14F1-AF39-12DA-D06AEEC99505}"/>
              </a:ext>
            </a:extLst>
          </p:cNvPr>
          <p:cNvSpPr txBox="1">
            <a:spLocks/>
          </p:cNvSpPr>
          <p:nvPr/>
        </p:nvSpPr>
        <p:spPr>
          <a:xfrm>
            <a:off x="8255952" y="519844"/>
            <a:ext cx="1457326" cy="298727"/>
          </a:xfrm>
        </p:spPr>
        <p:txBody>
          <a:bodyPr vert="horz" wrap="square" lIns="91440" tIns="45720" rIns="91440" bIns="45720" anchor="t"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lnSpc>
                <a:spcPct val="100000"/>
              </a:lnSpc>
              <a:spcBef>
                <a:spcPct val="20000"/>
              </a:spcBef>
              <a:spcAft>
                <a:spcPct val="0"/>
              </a:spcAft>
              <a:buFont typeface="Arial" panose="020B0604020202020204" pitchFamily="34" charset="0"/>
              <a:buNone/>
            </a:pPr>
            <a:r>
              <a:rPr lang="en-US" altLang="zh-CN" sz="1600" dirty="0">
                <a:solidFill>
                  <a:srgbClr val="000000"/>
                </a:solidFill>
                <a:latin typeface="Arial" panose="020B0604020202020204" pitchFamily="34" charset="0"/>
              </a:rPr>
              <a:t>GND(L2)</a:t>
            </a:r>
            <a:endParaRPr lang="en-US" altLang="zh-CN" sz="2400" dirty="0">
              <a:sym typeface="+mn-ea"/>
            </a:endParaRPr>
          </a:p>
        </p:txBody>
      </p:sp>
      <p:sp>
        <p:nvSpPr>
          <p:cNvPr id="21" name="内容占位符 2">
            <a:extLst>
              <a:ext uri="{FF2B5EF4-FFF2-40B4-BE49-F238E27FC236}">
                <a16:creationId xmlns:a16="http://schemas.microsoft.com/office/drawing/2014/main" id="{915380E7-CD94-99BA-DAE1-FB66CD807DD6}"/>
              </a:ext>
            </a:extLst>
          </p:cNvPr>
          <p:cNvSpPr txBox="1">
            <a:spLocks/>
          </p:cNvSpPr>
          <p:nvPr/>
        </p:nvSpPr>
        <p:spPr>
          <a:xfrm>
            <a:off x="4341177" y="3458124"/>
            <a:ext cx="1457326" cy="298727"/>
          </a:xfrm>
        </p:spPr>
        <p:txBody>
          <a:bodyPr vert="horz" wrap="square" lIns="91440" tIns="45720" rIns="91440" bIns="45720" anchor="t"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lnSpc>
                <a:spcPct val="100000"/>
              </a:lnSpc>
              <a:spcBef>
                <a:spcPct val="20000"/>
              </a:spcBef>
              <a:spcAft>
                <a:spcPct val="0"/>
              </a:spcAft>
              <a:buFont typeface="Arial" panose="020B0604020202020204" pitchFamily="34" charset="0"/>
              <a:buNone/>
            </a:pPr>
            <a:r>
              <a:rPr lang="en-US" altLang="zh-CN" sz="1600" dirty="0">
                <a:solidFill>
                  <a:srgbClr val="000000"/>
                </a:solidFill>
                <a:latin typeface="Arial" panose="020B0604020202020204" pitchFamily="34" charset="0"/>
              </a:rPr>
              <a:t>VCC(L3)</a:t>
            </a:r>
            <a:endParaRPr lang="en-US" altLang="zh-CN" sz="2400" dirty="0">
              <a:sym typeface="+mn-ea"/>
            </a:endParaRPr>
          </a:p>
        </p:txBody>
      </p:sp>
      <p:sp>
        <p:nvSpPr>
          <p:cNvPr id="22" name="内容占位符 2">
            <a:extLst>
              <a:ext uri="{FF2B5EF4-FFF2-40B4-BE49-F238E27FC236}">
                <a16:creationId xmlns:a16="http://schemas.microsoft.com/office/drawing/2014/main" id="{C2E27A3D-1CBB-918A-4909-6D9E7C4A3826}"/>
              </a:ext>
            </a:extLst>
          </p:cNvPr>
          <p:cNvSpPr txBox="1">
            <a:spLocks/>
          </p:cNvSpPr>
          <p:nvPr/>
        </p:nvSpPr>
        <p:spPr>
          <a:xfrm>
            <a:off x="8291830" y="3459487"/>
            <a:ext cx="1457326" cy="298727"/>
          </a:xfrm>
        </p:spPr>
        <p:txBody>
          <a:bodyPr vert="horz" wrap="square" lIns="91440" tIns="45720" rIns="91440" bIns="45720" anchor="t" anchorCtr="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lnSpc>
                <a:spcPct val="100000"/>
              </a:lnSpc>
              <a:spcBef>
                <a:spcPct val="20000"/>
              </a:spcBef>
              <a:spcAft>
                <a:spcPct val="0"/>
              </a:spcAft>
              <a:buFont typeface="Arial" panose="020B0604020202020204" pitchFamily="34" charset="0"/>
              <a:buNone/>
            </a:pPr>
            <a:r>
              <a:rPr lang="en-US" altLang="zh-CN" sz="1600" dirty="0">
                <a:solidFill>
                  <a:srgbClr val="000000"/>
                </a:solidFill>
                <a:latin typeface="Arial" panose="020B0604020202020204" pitchFamily="34" charset="0"/>
              </a:rPr>
              <a:t>BOTTOM(L4)</a:t>
            </a:r>
            <a:endParaRPr lang="en-US" altLang="zh-CN" sz="2400" dirty="0">
              <a:sym typeface="+mn-ea"/>
            </a:endParaRPr>
          </a:p>
        </p:txBody>
      </p:sp>
    </p:spTree>
    <p:extLst>
      <p:ext uri="{BB962C8B-B14F-4D97-AF65-F5344CB8AC3E}">
        <p14:creationId xmlns:p14="http://schemas.microsoft.com/office/powerpoint/2010/main" val="32730844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20395" y="-5080"/>
            <a:ext cx="7125970" cy="519822"/>
          </a:xfrm>
          <a:prstGeom prst="rect">
            <a:avLst/>
          </a:prstGeom>
          <a:noFill/>
        </p:spPr>
        <p:txBody>
          <a:bodyPr wrap="square">
            <a:spAutoFit/>
          </a:bodyPr>
          <a:lstStyle>
            <a:defPPr>
              <a:defRPr lang="zh-CN"/>
            </a:defPPr>
            <a:lvl1pPr algn="dist">
              <a:lnSpc>
                <a:spcPct val="125000"/>
              </a:lnSpc>
              <a:defRPr sz="2400" b="1">
                <a:solidFill>
                  <a:schemeClr val="bg2">
                    <a:lumMod val="50000"/>
                  </a:schemeClr>
                </a:solidFill>
                <a:latin typeface="Arial" panose="020B0604020202020204" pitchFamily="34" charset="0"/>
                <a:ea typeface="微软雅黑" panose="020B0503020204020204" pitchFamily="34" charset="-122"/>
                <a:cs typeface="Arial" panose="020B0604020202020204" pitchFamily="34" charset="0"/>
              </a:defRPr>
            </a:lvl1pPr>
          </a:lstStyle>
          <a:p>
            <a:pPr algn="l">
              <a:buFont typeface="Wingdings" panose="05000000000000000000" charset="0"/>
            </a:pPr>
            <a:r>
              <a:rPr lang="en-US" altLang="zh-CN" dirty="0">
                <a:ea typeface="宋体" panose="02010600030101010101" pitchFamily="2" charset="-122"/>
                <a:sym typeface="+mn-ea"/>
              </a:rPr>
              <a:t>HDMI TX/RX</a:t>
            </a:r>
          </a:p>
        </p:txBody>
      </p:sp>
      <p:sp>
        <p:nvSpPr>
          <p:cNvPr id="13314" name="内容占位符 2"/>
          <p:cNvSpPr>
            <a:spLocks noGrp="1"/>
          </p:cNvSpPr>
          <p:nvPr>
            <p:ph idx="4294967295"/>
          </p:nvPr>
        </p:nvSpPr>
        <p:spPr>
          <a:xfrm>
            <a:off x="386700" y="904875"/>
            <a:ext cx="7734012" cy="5006975"/>
          </a:xfrm>
        </p:spPr>
        <p:txBody>
          <a:bodyPr vert="horz" wrap="square" lIns="91440" tIns="45720" rIns="91440" bIns="45720" anchor="t" anchorCtr="0"/>
          <a:lstStyle/>
          <a:p>
            <a:pPr marL="342900" marR="0" indent="-342900" algn="l" defTabSz="914400" rtl="0" eaLnBrk="1" fontAlgn="base" latinLnBrk="0" hangingPunct="1">
              <a:lnSpc>
                <a:spcPct val="100000"/>
              </a:lnSpc>
              <a:spcBef>
                <a:spcPct val="20000"/>
              </a:spcBef>
              <a:spcAft>
                <a:spcPct val="0"/>
              </a:spcAft>
              <a:buClrTx/>
              <a:buSzTx/>
              <a:buFont typeface="Arial" panose="020B0604020202020204" pitchFamily="34" charset="0"/>
              <a:buChar char="•"/>
            </a:pPr>
            <a:r>
              <a:rPr lang="en-US" sz="2400" dirty="0">
                <a:sym typeface="+mn-ea"/>
              </a:rPr>
              <a:t>HDMI 2layer layout gu</a:t>
            </a:r>
            <a:r>
              <a:rPr lang="en-US" altLang="zh-CN" sz="2400" dirty="0">
                <a:sym typeface="+mn-ea"/>
              </a:rPr>
              <a:t>i</a:t>
            </a:r>
            <a:r>
              <a:rPr lang="en-US" sz="2400" dirty="0">
                <a:sym typeface="+mn-ea"/>
              </a:rPr>
              <a:t>de</a:t>
            </a:r>
          </a:p>
          <a:p>
            <a:pPr marL="0" indent="0" fontAlgn="base">
              <a:lnSpc>
                <a:spcPct val="100000"/>
              </a:lnSpc>
              <a:spcBef>
                <a:spcPct val="20000"/>
              </a:spcBef>
              <a:spcAft>
                <a:spcPct val="0"/>
              </a:spcAft>
              <a:buNone/>
            </a:pPr>
            <a:r>
              <a:rPr lang="en-US" altLang="zh-CN" sz="1600" b="0" i="0" dirty="0">
                <a:solidFill>
                  <a:srgbClr val="000000"/>
                </a:solidFill>
                <a:effectLst/>
                <a:latin typeface="Arial" panose="020B0604020202020204" pitchFamily="34" charset="0"/>
                <a:cs typeface="Arial" panose="020B0604020202020204" pitchFamily="34" charset="0"/>
              </a:rPr>
              <a:t>Line Width(W)= 8 mil</a:t>
            </a:r>
            <a:br>
              <a:rPr lang="en-US" altLang="zh-CN" sz="1600" b="0" i="0" dirty="0">
                <a:solidFill>
                  <a:srgbClr val="000000"/>
                </a:solidFill>
                <a:effectLst/>
                <a:latin typeface="Arial" panose="020B0604020202020204" pitchFamily="34" charset="0"/>
                <a:cs typeface="Arial" panose="020B0604020202020204" pitchFamily="34" charset="0"/>
              </a:rPr>
            </a:br>
            <a:r>
              <a:rPr lang="en-US" altLang="zh-CN" sz="1600" b="0" i="0" dirty="0">
                <a:solidFill>
                  <a:srgbClr val="000000"/>
                </a:solidFill>
                <a:effectLst/>
                <a:latin typeface="Arial" panose="020B0604020202020204" pitchFamily="34" charset="0"/>
                <a:cs typeface="Arial" panose="020B0604020202020204" pitchFamily="34" charset="0"/>
              </a:rPr>
              <a:t>Line Space(S)</a:t>
            </a:r>
            <a:r>
              <a:rPr lang="en-US" altLang="zh-CN" sz="1600" dirty="0">
                <a:solidFill>
                  <a:srgbClr val="000000"/>
                </a:solidFill>
                <a:latin typeface="Arial" panose="020B0604020202020204" pitchFamily="34" charset="0"/>
                <a:cs typeface="Arial" panose="020B0604020202020204" pitchFamily="34" charset="0"/>
              </a:rPr>
              <a:t>=</a:t>
            </a:r>
            <a:r>
              <a:rPr lang="en-US" altLang="zh-CN" sz="1600" b="0" i="0" dirty="0">
                <a:solidFill>
                  <a:srgbClr val="000000"/>
                </a:solidFill>
                <a:effectLst/>
                <a:latin typeface="Arial" panose="020B0604020202020204" pitchFamily="34" charset="0"/>
                <a:cs typeface="Arial" panose="020B0604020202020204" pitchFamily="34" charset="0"/>
              </a:rPr>
              <a:t> 5 mil</a:t>
            </a:r>
            <a:br>
              <a:rPr lang="en-US" altLang="zh-CN" sz="1600" b="0" i="0" dirty="0">
                <a:solidFill>
                  <a:srgbClr val="000000"/>
                </a:solidFill>
                <a:effectLst/>
                <a:latin typeface="Arial" panose="020B0604020202020204" pitchFamily="34" charset="0"/>
                <a:cs typeface="Arial" panose="020B0604020202020204" pitchFamily="34" charset="0"/>
              </a:rPr>
            </a:br>
            <a:r>
              <a:rPr lang="en-US" altLang="zh-CN" sz="1600" b="0" i="0" dirty="0">
                <a:solidFill>
                  <a:srgbClr val="000000"/>
                </a:solidFill>
                <a:effectLst/>
                <a:latin typeface="Arial" panose="020B0604020202020204" pitchFamily="34" charset="0"/>
                <a:cs typeface="Arial" panose="020B0604020202020204" pitchFamily="34" charset="0"/>
              </a:rPr>
              <a:t>Clearance (D)= 5 mil</a:t>
            </a:r>
            <a:endParaRPr lang="en-US" altLang="zh-CN" sz="1600" dirty="0">
              <a:latin typeface="Arial" panose="020B0604020202020204" pitchFamily="34" charset="0"/>
              <a:cs typeface="Arial" panose="020B0604020202020204" pitchFamily="34" charset="0"/>
              <a:sym typeface="+mn-ea"/>
            </a:endParaRPr>
          </a:p>
          <a:p>
            <a:pPr marL="342900" marR="0" indent="-342900" fontAlgn="base">
              <a:lnSpc>
                <a:spcPct val="100000"/>
              </a:lnSpc>
              <a:spcBef>
                <a:spcPct val="20000"/>
              </a:spcBef>
              <a:spcAft>
                <a:spcPct val="0"/>
              </a:spcAft>
              <a:buClrTx/>
              <a:buSzPct val="80000"/>
            </a:pPr>
            <a:r>
              <a:rPr lang="en-US" altLang="zh-CN" sz="2400" dirty="0">
                <a:sym typeface="+mn-ea"/>
              </a:rPr>
              <a:t>Differential 100ohm</a:t>
            </a:r>
          </a:p>
          <a:p>
            <a:pPr marL="342900" marR="0" indent="-342900" fontAlgn="base">
              <a:lnSpc>
                <a:spcPct val="100000"/>
              </a:lnSpc>
              <a:spcBef>
                <a:spcPct val="20000"/>
              </a:spcBef>
              <a:spcAft>
                <a:spcPct val="0"/>
              </a:spcAft>
              <a:buClrTx/>
              <a:buSzPct val="80000"/>
            </a:pPr>
            <a:r>
              <a:rPr lang="zh-CN" altLang="en-US" sz="2400" dirty="0">
                <a:sym typeface="+mn-ea"/>
              </a:rPr>
              <a:t>差分对严格按照差分走线要求</a:t>
            </a:r>
            <a:endParaRPr lang="en-US" altLang="zh-CN" sz="2400" dirty="0">
              <a:sym typeface="+mn-ea"/>
            </a:endParaRPr>
          </a:p>
          <a:p>
            <a:pPr marL="342900" marR="0" indent="-342900" fontAlgn="base">
              <a:lnSpc>
                <a:spcPct val="100000"/>
              </a:lnSpc>
              <a:spcBef>
                <a:spcPct val="20000"/>
              </a:spcBef>
              <a:spcAft>
                <a:spcPct val="0"/>
              </a:spcAft>
              <a:buClrTx/>
              <a:buSzPct val="80000"/>
            </a:pPr>
            <a:r>
              <a:rPr lang="en-US" altLang="zh-CN" sz="2400" dirty="0">
                <a:sym typeface="+mn-ea"/>
              </a:rPr>
              <a:t>4</a:t>
            </a:r>
            <a:r>
              <a:rPr lang="zh-CN" altLang="en-US" sz="2400" dirty="0">
                <a:sym typeface="+mn-ea"/>
              </a:rPr>
              <a:t>组差分对等长并单独包地</a:t>
            </a:r>
            <a:endParaRPr lang="zh-CN" altLang="en-US" sz="2400" noProof="1"/>
          </a:p>
          <a:p>
            <a:pPr marL="342900" marR="0" indent="-342900" fontAlgn="base">
              <a:lnSpc>
                <a:spcPct val="100000"/>
              </a:lnSpc>
              <a:spcBef>
                <a:spcPct val="20000"/>
              </a:spcBef>
              <a:spcAft>
                <a:spcPct val="0"/>
              </a:spcAft>
              <a:buClrTx/>
              <a:buSzPct val="80000"/>
            </a:pPr>
            <a:r>
              <a:rPr lang="zh-CN" altLang="en-US" sz="2400" dirty="0">
                <a:sym typeface="+mn-ea"/>
              </a:rPr>
              <a:t>确保底层完整地平面</a:t>
            </a:r>
            <a:endParaRPr lang="en-US" altLang="zh-CN" sz="2400" dirty="0">
              <a:sym typeface="+mn-ea"/>
            </a:endParaRPr>
          </a:p>
          <a:p>
            <a:pPr marL="342900" marR="0" indent="-342900" fontAlgn="base">
              <a:lnSpc>
                <a:spcPct val="100000"/>
              </a:lnSpc>
              <a:spcBef>
                <a:spcPct val="20000"/>
              </a:spcBef>
              <a:spcAft>
                <a:spcPct val="0"/>
              </a:spcAft>
              <a:buClrTx/>
              <a:buSzPct val="80000"/>
            </a:pPr>
            <a:r>
              <a:rPr lang="en-US" altLang="zh-CN" sz="2400" noProof="1"/>
              <a:t>HDMI RX</a:t>
            </a:r>
            <a:r>
              <a:rPr lang="zh-CN" altLang="en-US" sz="2400" noProof="1"/>
              <a:t>信号不允许打孔换层</a:t>
            </a:r>
            <a:endParaRPr lang="en-US" altLang="zh-CN" sz="2400" noProof="1"/>
          </a:p>
          <a:p>
            <a:pPr marL="342900" marR="0" indent="-342900" fontAlgn="base">
              <a:lnSpc>
                <a:spcPct val="100000"/>
              </a:lnSpc>
              <a:spcBef>
                <a:spcPct val="20000"/>
              </a:spcBef>
              <a:spcAft>
                <a:spcPct val="0"/>
              </a:spcAft>
              <a:buClrTx/>
              <a:buSzPct val="80000"/>
            </a:pPr>
            <a:r>
              <a:rPr lang="en-US" altLang="zh-CN" sz="2400" noProof="1"/>
              <a:t>HDMI TX</a:t>
            </a:r>
            <a:r>
              <a:rPr lang="zh-CN" altLang="en-US" sz="2400" noProof="1"/>
              <a:t>焊线式要预留信号地和电源地</a:t>
            </a:r>
            <a:endParaRPr lang="en-US" altLang="zh-CN" sz="2400" noProof="1"/>
          </a:p>
          <a:p>
            <a:pPr marL="342900" marR="0" indent="-342900" fontAlgn="base">
              <a:lnSpc>
                <a:spcPct val="100000"/>
              </a:lnSpc>
              <a:spcBef>
                <a:spcPct val="20000"/>
              </a:spcBef>
              <a:spcAft>
                <a:spcPct val="0"/>
              </a:spcAft>
              <a:buClrTx/>
              <a:buSzPct val="80000"/>
            </a:pPr>
            <a:r>
              <a:rPr lang="zh-CN" altLang="en-US" sz="2400" noProof="1"/>
              <a:t>连接器</a:t>
            </a:r>
            <a:r>
              <a:rPr lang="en-US" altLang="zh-CN" sz="2400" noProof="1"/>
              <a:t>GND</a:t>
            </a:r>
            <a:r>
              <a:rPr lang="zh-CN" altLang="en-US" sz="2400" noProof="1"/>
              <a:t>必须就近打孔</a:t>
            </a:r>
            <a:endParaRPr lang="en-US" altLang="zh-CN" sz="2400" noProof="1"/>
          </a:p>
          <a:p>
            <a:pPr marL="342900" marR="0" indent="-342900" fontAlgn="base">
              <a:lnSpc>
                <a:spcPct val="100000"/>
              </a:lnSpc>
              <a:spcBef>
                <a:spcPct val="20000"/>
              </a:spcBef>
              <a:spcAft>
                <a:spcPct val="0"/>
              </a:spcAft>
              <a:buClrTx/>
              <a:buSzPct val="80000"/>
            </a:pPr>
            <a:r>
              <a:rPr lang="zh-CN" altLang="en-US" sz="2400" noProof="1"/>
              <a:t>包地线尽量包到</a:t>
            </a:r>
            <a:r>
              <a:rPr lang="en-US" altLang="zh-CN" sz="2400" noProof="1"/>
              <a:t>PIN</a:t>
            </a:r>
            <a:r>
              <a:rPr lang="zh-CN" altLang="en-US" sz="2400" noProof="1"/>
              <a:t>脚并多打</a:t>
            </a:r>
            <a:r>
              <a:rPr lang="en-US" altLang="zh-CN" sz="2400" noProof="1"/>
              <a:t>VIA</a:t>
            </a:r>
            <a:endParaRPr lang="zh-CN" altLang="en-US" sz="2400" noProof="1"/>
          </a:p>
        </p:txBody>
      </p:sp>
      <p:pic>
        <p:nvPicPr>
          <p:cNvPr id="23555" name="图片 2"/>
          <p:cNvPicPr>
            <a:picLocks noChangeAspect="1"/>
          </p:cNvPicPr>
          <p:nvPr/>
        </p:nvPicPr>
        <p:blipFill>
          <a:blip r:embed="rId2"/>
          <a:stretch>
            <a:fillRect/>
          </a:stretch>
        </p:blipFill>
        <p:spPr>
          <a:xfrm>
            <a:off x="7124700" y="904875"/>
            <a:ext cx="3935095" cy="5007480"/>
          </a:xfrm>
          <a:prstGeom prst="rect">
            <a:avLst/>
          </a:prstGeom>
          <a:noFill/>
          <a:ln w="9525">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20395" y="-5080"/>
            <a:ext cx="7125970" cy="519822"/>
          </a:xfrm>
          <a:prstGeom prst="rect">
            <a:avLst/>
          </a:prstGeom>
          <a:noFill/>
        </p:spPr>
        <p:txBody>
          <a:bodyPr wrap="square">
            <a:spAutoFit/>
          </a:bodyPr>
          <a:lstStyle>
            <a:defPPr>
              <a:defRPr lang="zh-CN"/>
            </a:defPPr>
            <a:lvl1pPr algn="dist">
              <a:lnSpc>
                <a:spcPct val="125000"/>
              </a:lnSpc>
              <a:defRPr sz="2400" b="1">
                <a:solidFill>
                  <a:schemeClr val="bg2">
                    <a:lumMod val="50000"/>
                  </a:schemeClr>
                </a:solidFill>
                <a:latin typeface="Arial" panose="020B0604020202020204" pitchFamily="34" charset="0"/>
                <a:ea typeface="微软雅黑" panose="020B0503020204020204" pitchFamily="34" charset="-122"/>
                <a:cs typeface="Arial" panose="020B0604020202020204" pitchFamily="34" charset="0"/>
              </a:defRPr>
            </a:lvl1pPr>
          </a:lstStyle>
          <a:p>
            <a:pPr algn="l">
              <a:buFont typeface="Wingdings" panose="05000000000000000000" charset="0"/>
            </a:pPr>
            <a:r>
              <a:rPr lang="en-US" altLang="zh-CN" dirty="0">
                <a:ea typeface="宋体" panose="02010600030101010101" pitchFamily="2" charset="-122"/>
                <a:sym typeface="+mn-ea"/>
              </a:rPr>
              <a:t>SDIO3.0</a:t>
            </a:r>
          </a:p>
        </p:txBody>
      </p:sp>
      <p:sp>
        <p:nvSpPr>
          <p:cNvPr id="13314" name="内容占位符 2"/>
          <p:cNvSpPr>
            <a:spLocks noGrp="1"/>
          </p:cNvSpPr>
          <p:nvPr>
            <p:ph idx="4294967295"/>
          </p:nvPr>
        </p:nvSpPr>
        <p:spPr>
          <a:xfrm>
            <a:off x="502732" y="904875"/>
            <a:ext cx="10671236" cy="5248275"/>
          </a:xfrm>
        </p:spPr>
        <p:txBody>
          <a:bodyPr vert="horz" wrap="square" lIns="91440" tIns="45720" rIns="91440" bIns="45720" anchor="t" anchorCtr="0"/>
          <a:lstStyle/>
          <a:p>
            <a:pPr marL="0" indent="0" fontAlgn="base">
              <a:lnSpc>
                <a:spcPct val="100000"/>
              </a:lnSpc>
              <a:spcBef>
                <a:spcPct val="20000"/>
              </a:spcBef>
              <a:spcAft>
                <a:spcPct val="0"/>
              </a:spcAft>
              <a:buNone/>
            </a:pPr>
            <a:r>
              <a:rPr lang="en-US" altLang="zh-CN" sz="2400" dirty="0">
                <a:sym typeface="+mn-ea"/>
              </a:rPr>
              <a:t>    SDIO3.0</a:t>
            </a:r>
            <a:r>
              <a:rPr lang="zh-CN" altLang="en-US" sz="2400" dirty="0">
                <a:sym typeface="+mn-ea"/>
              </a:rPr>
              <a:t>支持高速模式，</a:t>
            </a:r>
            <a:r>
              <a:rPr lang="en-US" altLang="zh-CN" sz="2400" dirty="0">
                <a:sym typeface="+mn-ea"/>
              </a:rPr>
              <a:t>CMOS</a:t>
            </a:r>
            <a:r>
              <a:rPr lang="zh-CN" altLang="en-US" sz="2400" dirty="0">
                <a:sym typeface="+mn-ea"/>
              </a:rPr>
              <a:t>电平速率达到</a:t>
            </a:r>
            <a:r>
              <a:rPr lang="en-US" altLang="zh-CN" sz="2400" dirty="0">
                <a:sym typeface="+mn-ea"/>
              </a:rPr>
              <a:t>104MHz</a:t>
            </a:r>
            <a:r>
              <a:rPr lang="zh-CN" altLang="en-US" sz="2400" dirty="0">
                <a:sym typeface="+mn-ea"/>
              </a:rPr>
              <a:t>，对</a:t>
            </a:r>
            <a:r>
              <a:rPr lang="en-US" altLang="zh-CN" sz="2400" dirty="0">
                <a:sym typeface="+mn-ea"/>
              </a:rPr>
              <a:t>PCB</a:t>
            </a:r>
            <a:r>
              <a:rPr lang="zh-CN" altLang="en-US" sz="2400" dirty="0">
                <a:sym typeface="+mn-ea"/>
              </a:rPr>
              <a:t>走线要求较高。</a:t>
            </a:r>
            <a:endParaRPr kumimoji="0" lang="en-US" sz="2400" b="0" i="0" u="none" strike="noStrike" kern="1200" cap="none" spc="0" normalizeH="0" baseline="0" noProof="1">
              <a:solidFill>
                <a:schemeClr val="tx1"/>
              </a:solidFill>
              <a:latin typeface="+mn-lt"/>
              <a:ea typeface="+mn-ea"/>
              <a:cs typeface="+mn-cs"/>
              <a:sym typeface="+mn-ea"/>
            </a:endParaRPr>
          </a:p>
          <a:p>
            <a:pPr marL="342900" indent="-342900" fontAlgn="base">
              <a:lnSpc>
                <a:spcPct val="100000"/>
              </a:lnSpc>
              <a:spcBef>
                <a:spcPct val="20000"/>
              </a:spcBef>
              <a:spcAft>
                <a:spcPct val="0"/>
              </a:spcAft>
              <a:buSzPct val="80000"/>
            </a:pPr>
            <a:r>
              <a:rPr lang="en-US" altLang="zh-CN" sz="2400" dirty="0">
                <a:sym typeface="+mn-ea"/>
              </a:rPr>
              <a:t>Single end 50ohm</a:t>
            </a:r>
          </a:p>
          <a:p>
            <a:pPr marL="342900" marR="0" indent="-342900" fontAlgn="base">
              <a:lnSpc>
                <a:spcPct val="100000"/>
              </a:lnSpc>
              <a:spcBef>
                <a:spcPct val="20000"/>
              </a:spcBef>
              <a:spcAft>
                <a:spcPct val="0"/>
              </a:spcAft>
              <a:buClrTx/>
              <a:buSzPct val="80000"/>
            </a:pPr>
            <a:r>
              <a:rPr lang="zh-CN" altLang="en-US" sz="2400" noProof="1">
                <a:sym typeface="+mn-ea"/>
              </a:rPr>
              <a:t>信号线独立包地</a:t>
            </a:r>
            <a:endParaRPr lang="en-US" altLang="zh-CN" sz="2400" noProof="1">
              <a:sym typeface="+mn-ea"/>
            </a:endParaRPr>
          </a:p>
          <a:p>
            <a:pPr marL="342900" marR="0" indent="-342900" fontAlgn="base">
              <a:lnSpc>
                <a:spcPct val="100000"/>
              </a:lnSpc>
              <a:spcBef>
                <a:spcPct val="20000"/>
              </a:spcBef>
              <a:spcAft>
                <a:spcPct val="0"/>
              </a:spcAft>
              <a:buClrTx/>
              <a:buSzPct val="80000"/>
            </a:pPr>
            <a:r>
              <a:rPr lang="zh-CN" altLang="en-US" sz="2400" noProof="1">
                <a:sym typeface="+mn-ea"/>
              </a:rPr>
              <a:t>至少要保证时钟包地，信号</a:t>
            </a:r>
            <a:r>
              <a:rPr lang="en-US" altLang="zh-CN" sz="2400" noProof="1">
                <a:sym typeface="+mn-ea"/>
              </a:rPr>
              <a:t>2W</a:t>
            </a:r>
          </a:p>
          <a:p>
            <a:pPr marL="342900" marR="0" indent="-342900" fontAlgn="base">
              <a:lnSpc>
                <a:spcPct val="100000"/>
              </a:lnSpc>
              <a:spcBef>
                <a:spcPct val="20000"/>
              </a:spcBef>
              <a:spcAft>
                <a:spcPct val="0"/>
              </a:spcAft>
              <a:buClrTx/>
              <a:buSzPct val="80000"/>
            </a:pPr>
            <a:r>
              <a:rPr lang="zh-CN" altLang="en-US" sz="2400" noProof="1">
                <a:sym typeface="+mn-ea"/>
              </a:rPr>
              <a:t>参考时钟</a:t>
            </a:r>
            <a:r>
              <a:rPr lang="en-US" altLang="zh-CN" sz="2400" noProof="1">
                <a:sym typeface="+mn-ea"/>
              </a:rPr>
              <a:t>CLK</a:t>
            </a:r>
            <a:r>
              <a:rPr lang="zh-CN" altLang="en-US" sz="2400" noProof="1">
                <a:sym typeface="+mn-ea"/>
              </a:rPr>
              <a:t>做等长误差</a:t>
            </a:r>
            <a:r>
              <a:rPr lang="en-US" altLang="zh-CN" sz="2400" noProof="1">
                <a:sym typeface="+mn-ea"/>
              </a:rPr>
              <a:t>±200mil</a:t>
            </a:r>
          </a:p>
          <a:p>
            <a:pPr marL="342900" marR="0" indent="-342900" fontAlgn="base">
              <a:lnSpc>
                <a:spcPct val="100000"/>
              </a:lnSpc>
              <a:spcBef>
                <a:spcPct val="20000"/>
              </a:spcBef>
              <a:spcAft>
                <a:spcPct val="0"/>
              </a:spcAft>
              <a:buClrTx/>
              <a:buSzPct val="80000"/>
            </a:pPr>
            <a:r>
              <a:rPr lang="zh-CN" altLang="en-US" sz="2400" noProof="1">
                <a:sym typeface="+mn-ea"/>
              </a:rPr>
              <a:t>走线长度不超过</a:t>
            </a:r>
            <a:r>
              <a:rPr lang="en-US" altLang="zh-CN" sz="2400" noProof="1">
                <a:sym typeface="+mn-ea"/>
              </a:rPr>
              <a:t>4000mil</a:t>
            </a:r>
          </a:p>
          <a:p>
            <a:pPr marL="342900" indent="-342900" fontAlgn="base">
              <a:lnSpc>
                <a:spcPct val="100000"/>
              </a:lnSpc>
              <a:spcBef>
                <a:spcPct val="20000"/>
              </a:spcBef>
              <a:spcAft>
                <a:spcPct val="0"/>
              </a:spcAft>
              <a:buSzPct val="80000"/>
            </a:pPr>
            <a:r>
              <a:rPr lang="zh-CN" altLang="en-US" sz="2400" dirty="0">
                <a:sym typeface="+mn-ea"/>
              </a:rPr>
              <a:t>上拉电阻靠近</a:t>
            </a:r>
            <a:r>
              <a:rPr lang="en-US" altLang="zh-CN" sz="2400" dirty="0">
                <a:sym typeface="+mn-ea"/>
              </a:rPr>
              <a:t>SD</a:t>
            </a:r>
            <a:r>
              <a:rPr lang="zh-CN" altLang="en-US" sz="2400" dirty="0">
                <a:sym typeface="+mn-ea"/>
              </a:rPr>
              <a:t>卡放置</a:t>
            </a:r>
            <a:endParaRPr lang="en-US" altLang="zh-CN" sz="2400" dirty="0">
              <a:sym typeface="+mn-ea"/>
            </a:endParaRPr>
          </a:p>
          <a:p>
            <a:pPr marL="342900" marR="0" indent="-342900" fontAlgn="base">
              <a:lnSpc>
                <a:spcPct val="100000"/>
              </a:lnSpc>
              <a:spcBef>
                <a:spcPct val="20000"/>
              </a:spcBef>
              <a:spcAft>
                <a:spcPct val="0"/>
              </a:spcAft>
              <a:buClrTx/>
              <a:buSzPct val="80000"/>
            </a:pPr>
            <a:r>
              <a:rPr lang="zh-CN" altLang="en-US" sz="2400" dirty="0"/>
              <a:t>避免其他与其他高速信号交叉</a:t>
            </a:r>
            <a:endParaRPr lang="en-US" altLang="zh-CN" sz="2400" dirty="0"/>
          </a:p>
          <a:p>
            <a:pPr marL="342900" marR="0" indent="-342900" fontAlgn="base">
              <a:lnSpc>
                <a:spcPct val="100000"/>
              </a:lnSpc>
              <a:spcBef>
                <a:spcPct val="20000"/>
              </a:spcBef>
              <a:spcAft>
                <a:spcPct val="0"/>
              </a:spcAft>
              <a:buClrTx/>
              <a:buSzPct val="80000"/>
            </a:pPr>
            <a:r>
              <a:rPr lang="zh-CN" altLang="en-US" sz="2400" dirty="0"/>
              <a:t>避免</a:t>
            </a:r>
            <a:r>
              <a:rPr lang="en-US" altLang="zh-CN" sz="2400" dirty="0"/>
              <a:t>SD</a:t>
            </a:r>
            <a:r>
              <a:rPr lang="zh-CN" altLang="en-US" sz="2400" dirty="0"/>
              <a:t>卡座双</a:t>
            </a:r>
            <a:r>
              <a:rPr lang="en-US" altLang="zh-CN" sz="2400" dirty="0"/>
              <a:t>lay</a:t>
            </a:r>
            <a:r>
              <a:rPr lang="zh-CN" altLang="en-US" sz="2400" dirty="0"/>
              <a:t>时信号分叉引起反射</a:t>
            </a:r>
            <a:endParaRPr lang="en-US" altLang="zh-CN" sz="2400" dirty="0"/>
          </a:p>
          <a:p>
            <a:pPr marL="342900" marR="0" indent="-342900" fontAlgn="base">
              <a:lnSpc>
                <a:spcPct val="100000"/>
              </a:lnSpc>
              <a:spcBef>
                <a:spcPct val="20000"/>
              </a:spcBef>
              <a:spcAft>
                <a:spcPct val="0"/>
              </a:spcAft>
              <a:buClrTx/>
              <a:buSzPct val="80000"/>
            </a:pPr>
            <a:r>
              <a:rPr lang="zh-CN" altLang="en-US" sz="2400" dirty="0"/>
              <a:t>避免地平面支离破碎</a:t>
            </a:r>
            <a:endParaRPr lang="en-US" altLang="zh-CN" sz="2400" dirty="0"/>
          </a:p>
          <a:p>
            <a:pPr fontAlgn="base">
              <a:lnSpc>
                <a:spcPct val="100000"/>
              </a:lnSpc>
              <a:spcBef>
                <a:spcPct val="20000"/>
              </a:spcBef>
              <a:spcAft>
                <a:spcPct val="0"/>
              </a:spcAft>
              <a:buSzPct val="80000"/>
              <a:buFont typeface="Wingdings" panose="05000000000000000000" pitchFamily="2" charset="2"/>
              <a:buChar char="Ø"/>
            </a:pPr>
            <a:r>
              <a:rPr lang="zh-CN" altLang="en-US" sz="2400" dirty="0">
                <a:solidFill>
                  <a:srgbClr val="0000FF"/>
                </a:solidFill>
                <a:latin typeface="+mj-lt"/>
                <a:cs typeface="+mj-lt"/>
                <a:sym typeface="+mn-ea"/>
              </a:rPr>
              <a:t>无法满足</a:t>
            </a:r>
            <a:r>
              <a:rPr lang="en-US" altLang="zh-CN" sz="2400" dirty="0">
                <a:solidFill>
                  <a:srgbClr val="0000FF"/>
                </a:solidFill>
                <a:latin typeface="+mj-lt"/>
                <a:cs typeface="+mj-lt"/>
                <a:sym typeface="+mn-ea"/>
              </a:rPr>
              <a:t>layout guide</a:t>
            </a:r>
            <a:r>
              <a:rPr lang="zh-CN" altLang="en-US" sz="2400" dirty="0">
                <a:solidFill>
                  <a:srgbClr val="0000FF"/>
                </a:solidFill>
                <a:latin typeface="+mj-lt"/>
                <a:cs typeface="+mj-lt"/>
                <a:sym typeface="+mn-ea"/>
              </a:rPr>
              <a:t>时应关闭高速</a:t>
            </a:r>
            <a:r>
              <a:rPr lang="zh-CN" altLang="en-US" sz="2400" dirty="0">
                <a:solidFill>
                  <a:srgbClr val="0000FF"/>
                </a:solidFill>
                <a:latin typeface="+mj-lt"/>
                <a:cs typeface="+mj-lt"/>
              </a:rPr>
              <a:t>模式再使用，避免兼容性问题。</a:t>
            </a:r>
            <a:endParaRPr lang="en-US" altLang="zh-CN" sz="2400" dirty="0">
              <a:solidFill>
                <a:srgbClr val="0000FF"/>
              </a:solidFill>
              <a:latin typeface="+mj-lt"/>
              <a:cs typeface="+mj-lt"/>
            </a:endParaRPr>
          </a:p>
        </p:txBody>
      </p:sp>
      <p:pic>
        <p:nvPicPr>
          <p:cNvPr id="5" name="图片 4">
            <a:extLst>
              <a:ext uri="{FF2B5EF4-FFF2-40B4-BE49-F238E27FC236}">
                <a16:creationId xmlns:a16="http://schemas.microsoft.com/office/drawing/2014/main" id="{C3638432-7CDE-3D62-DB34-B8564D54CCED}"/>
              </a:ext>
            </a:extLst>
          </p:cNvPr>
          <p:cNvPicPr>
            <a:picLocks noChangeAspect="1"/>
          </p:cNvPicPr>
          <p:nvPr/>
        </p:nvPicPr>
        <p:blipFill>
          <a:blip r:embed="rId2"/>
          <a:stretch>
            <a:fillRect/>
          </a:stretch>
        </p:blipFill>
        <p:spPr>
          <a:xfrm>
            <a:off x="6096000" y="1761368"/>
            <a:ext cx="5933666" cy="3335263"/>
          </a:xfrm>
          <a:prstGeom prst="rect">
            <a:avLst/>
          </a:prstGeom>
        </p:spPr>
      </p:pic>
    </p:spTree>
    <p:extLst>
      <p:ext uri="{BB962C8B-B14F-4D97-AF65-F5344CB8AC3E}">
        <p14:creationId xmlns:p14="http://schemas.microsoft.com/office/powerpoint/2010/main" val="1818869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20395" y="-5080"/>
            <a:ext cx="7125970" cy="519822"/>
          </a:xfrm>
          <a:prstGeom prst="rect">
            <a:avLst/>
          </a:prstGeom>
          <a:noFill/>
        </p:spPr>
        <p:txBody>
          <a:bodyPr wrap="square">
            <a:spAutoFit/>
          </a:bodyPr>
          <a:lstStyle>
            <a:defPPr>
              <a:defRPr lang="zh-CN"/>
            </a:defPPr>
            <a:lvl1pPr algn="dist">
              <a:lnSpc>
                <a:spcPct val="125000"/>
              </a:lnSpc>
              <a:defRPr sz="2400" b="1">
                <a:solidFill>
                  <a:schemeClr val="bg2">
                    <a:lumMod val="50000"/>
                  </a:schemeClr>
                </a:solidFill>
                <a:latin typeface="Arial" panose="020B0604020202020204" pitchFamily="34" charset="0"/>
                <a:ea typeface="微软雅黑" panose="020B0503020204020204" pitchFamily="34" charset="-122"/>
                <a:cs typeface="Arial" panose="020B0604020202020204" pitchFamily="34" charset="0"/>
              </a:defRPr>
            </a:lvl1pPr>
          </a:lstStyle>
          <a:p>
            <a:pPr algn="l">
              <a:buFont typeface="Wingdings" panose="05000000000000000000" charset="0"/>
            </a:pPr>
            <a:r>
              <a:rPr lang="en-US" altLang="zh-CN" dirty="0">
                <a:ea typeface="宋体" panose="02010600030101010101" pitchFamily="2" charset="-122"/>
                <a:sym typeface="+mn-ea"/>
              </a:rPr>
              <a:t>USB2.0</a:t>
            </a:r>
          </a:p>
        </p:txBody>
      </p:sp>
      <p:sp>
        <p:nvSpPr>
          <p:cNvPr id="13314" name="内容占位符 2"/>
          <p:cNvSpPr>
            <a:spLocks noGrp="1"/>
          </p:cNvSpPr>
          <p:nvPr>
            <p:ph idx="4294967295"/>
          </p:nvPr>
        </p:nvSpPr>
        <p:spPr>
          <a:xfrm>
            <a:off x="456984" y="904875"/>
            <a:ext cx="9139671" cy="4525963"/>
          </a:xfrm>
        </p:spPr>
        <p:txBody>
          <a:bodyPr vert="horz" wrap="square" lIns="91440" tIns="45720" rIns="91440" bIns="45720" anchor="t" anchorCtr="0"/>
          <a:lstStyle/>
          <a:p>
            <a:pPr marL="0" indent="0" fontAlgn="base">
              <a:lnSpc>
                <a:spcPct val="100000"/>
              </a:lnSpc>
              <a:spcBef>
                <a:spcPct val="20000"/>
              </a:spcBef>
              <a:spcAft>
                <a:spcPct val="0"/>
              </a:spcAft>
              <a:buNone/>
            </a:pPr>
            <a:r>
              <a:rPr lang="en-US" altLang="zh-CN" sz="2400" dirty="0">
                <a:sym typeface="+mn-ea"/>
              </a:rPr>
              <a:t>    USB2.0 layout guide</a:t>
            </a:r>
            <a:endParaRPr kumimoji="0" lang="en-US" sz="2400" b="0" i="0" u="none" strike="noStrike" kern="1200" cap="none" spc="0" normalizeH="0" baseline="0" noProof="1">
              <a:solidFill>
                <a:schemeClr val="tx1"/>
              </a:solidFill>
              <a:latin typeface="+mn-lt"/>
              <a:ea typeface="+mn-ea"/>
              <a:cs typeface="+mn-cs"/>
              <a:sym typeface="+mn-ea"/>
            </a:endParaRPr>
          </a:p>
          <a:p>
            <a:pPr marL="342900" indent="-342900" fontAlgn="base">
              <a:lnSpc>
                <a:spcPct val="100000"/>
              </a:lnSpc>
              <a:spcBef>
                <a:spcPct val="20000"/>
              </a:spcBef>
              <a:spcAft>
                <a:spcPct val="0"/>
              </a:spcAft>
              <a:buSzPct val="80000"/>
            </a:pPr>
            <a:r>
              <a:rPr lang="en-US" altLang="zh-CN" sz="2400" dirty="0">
                <a:sym typeface="+mn-ea"/>
              </a:rPr>
              <a:t>Differential 90ohm</a:t>
            </a:r>
          </a:p>
          <a:p>
            <a:pPr marL="342900" indent="-342900" fontAlgn="base">
              <a:lnSpc>
                <a:spcPct val="100000"/>
              </a:lnSpc>
              <a:spcBef>
                <a:spcPct val="20000"/>
              </a:spcBef>
              <a:spcAft>
                <a:spcPct val="0"/>
              </a:spcAft>
              <a:buSzPct val="80000"/>
            </a:pPr>
            <a:r>
              <a:rPr lang="en-US" altLang="zh-CN" sz="2400" dirty="0">
                <a:sym typeface="+mn-ea"/>
              </a:rPr>
              <a:t>2layer </a:t>
            </a:r>
            <a:r>
              <a:rPr lang="zh-CN" altLang="en-US" sz="2400" dirty="0">
                <a:sym typeface="+mn-ea"/>
              </a:rPr>
              <a:t>线径走</a:t>
            </a:r>
            <a:r>
              <a:rPr lang="en-US" altLang="zh-CN" sz="2400" dirty="0">
                <a:sym typeface="+mn-ea"/>
              </a:rPr>
              <a:t>9mil</a:t>
            </a:r>
            <a:r>
              <a:rPr lang="zh-CN" altLang="en-US" sz="2400" dirty="0">
                <a:sym typeface="+mn-ea"/>
              </a:rPr>
              <a:t>降低阻抗</a:t>
            </a:r>
            <a:endParaRPr lang="en-US" altLang="zh-CN" sz="2400" dirty="0">
              <a:sym typeface="+mn-ea"/>
            </a:endParaRPr>
          </a:p>
          <a:p>
            <a:pPr marL="342900" marR="0" indent="-342900" fontAlgn="base">
              <a:lnSpc>
                <a:spcPct val="100000"/>
              </a:lnSpc>
              <a:spcBef>
                <a:spcPct val="20000"/>
              </a:spcBef>
              <a:spcAft>
                <a:spcPct val="0"/>
              </a:spcAft>
              <a:buClrTx/>
              <a:buSzPct val="80000"/>
            </a:pPr>
            <a:r>
              <a:rPr lang="zh-CN" altLang="en-US" sz="2400" dirty="0">
                <a:sym typeface="+mn-ea"/>
              </a:rPr>
              <a:t>差分对严格按照差分走线要求</a:t>
            </a:r>
            <a:endParaRPr lang="en-US" altLang="zh-CN" sz="2400" dirty="0">
              <a:sym typeface="+mn-ea"/>
            </a:endParaRPr>
          </a:p>
          <a:p>
            <a:pPr marL="342900" indent="-342900" fontAlgn="base">
              <a:lnSpc>
                <a:spcPct val="100000"/>
              </a:lnSpc>
              <a:spcBef>
                <a:spcPct val="20000"/>
              </a:spcBef>
              <a:spcAft>
                <a:spcPct val="0"/>
              </a:spcAft>
              <a:buSzPct val="80000"/>
            </a:pPr>
            <a:r>
              <a:rPr lang="zh-CN" altLang="en-US" sz="2400" dirty="0">
                <a:sym typeface="+mn-ea"/>
              </a:rPr>
              <a:t>差分对单独包地，有充足</a:t>
            </a:r>
            <a:r>
              <a:rPr lang="en-US" altLang="zh-CN" sz="2400" dirty="0">
                <a:sym typeface="+mn-ea"/>
              </a:rPr>
              <a:t>GND VIA</a:t>
            </a:r>
            <a:endParaRPr lang="zh-CN" altLang="en-US" sz="2400" noProof="1">
              <a:sym typeface="+mn-ea"/>
            </a:endParaRPr>
          </a:p>
          <a:p>
            <a:pPr marL="342900" indent="-342900" fontAlgn="base">
              <a:lnSpc>
                <a:spcPct val="100000"/>
              </a:lnSpc>
              <a:spcBef>
                <a:spcPct val="20000"/>
              </a:spcBef>
              <a:spcAft>
                <a:spcPct val="0"/>
              </a:spcAft>
              <a:buSzPct val="80000"/>
            </a:pPr>
            <a:r>
              <a:rPr lang="zh-CN" altLang="en-US" sz="2400" dirty="0">
                <a:sym typeface="+mn-ea"/>
              </a:rPr>
              <a:t>确保底层完整地平面</a:t>
            </a:r>
            <a:endParaRPr lang="en-US" altLang="zh-CN" sz="2400" dirty="0"/>
          </a:p>
          <a:p>
            <a:pPr marL="342900" indent="-342900" fontAlgn="base">
              <a:lnSpc>
                <a:spcPct val="100000"/>
              </a:lnSpc>
              <a:spcBef>
                <a:spcPct val="20000"/>
              </a:spcBef>
              <a:spcAft>
                <a:spcPct val="0"/>
              </a:spcAft>
              <a:buSzPct val="80000"/>
            </a:pPr>
            <a:r>
              <a:rPr lang="zh-CN" altLang="en-US" sz="2400" noProof="1"/>
              <a:t>避免</a:t>
            </a:r>
            <a:r>
              <a:rPr lang="en-US" altLang="zh-CN" sz="2400" noProof="1"/>
              <a:t>2</a:t>
            </a:r>
            <a:r>
              <a:rPr lang="zh-CN" altLang="en-US" sz="2400" noProof="1"/>
              <a:t>次过孔换层</a:t>
            </a:r>
            <a:endParaRPr lang="en-US" altLang="zh-CN" sz="2400" noProof="1"/>
          </a:p>
          <a:p>
            <a:pPr marL="342900" indent="-342900" fontAlgn="base">
              <a:lnSpc>
                <a:spcPct val="100000"/>
              </a:lnSpc>
              <a:spcBef>
                <a:spcPct val="20000"/>
              </a:spcBef>
              <a:spcAft>
                <a:spcPct val="0"/>
              </a:spcAft>
              <a:buSzPct val="80000"/>
            </a:pPr>
            <a:r>
              <a:rPr lang="en-US" altLang="zh-CN" sz="2400" noProof="1"/>
              <a:t>ESD</a:t>
            </a:r>
            <a:r>
              <a:rPr lang="zh-CN" altLang="en-US" sz="2400" noProof="1"/>
              <a:t>器件靠近端口放置</a:t>
            </a:r>
            <a:endParaRPr lang="en-US" altLang="zh-CN" sz="2400" noProof="1"/>
          </a:p>
        </p:txBody>
      </p:sp>
      <p:pic>
        <p:nvPicPr>
          <p:cNvPr id="2" name="图片 3">
            <a:extLst>
              <a:ext uri="{FF2B5EF4-FFF2-40B4-BE49-F238E27FC236}">
                <a16:creationId xmlns:a16="http://schemas.microsoft.com/office/drawing/2014/main" id="{82C6EB8F-01E0-61BC-B3E5-88DBFF00B231}"/>
              </a:ext>
            </a:extLst>
          </p:cNvPr>
          <p:cNvPicPr>
            <a:picLocks noChangeAspect="1"/>
          </p:cNvPicPr>
          <p:nvPr/>
        </p:nvPicPr>
        <p:blipFill>
          <a:blip r:embed="rId2"/>
          <a:stretch>
            <a:fillRect/>
          </a:stretch>
        </p:blipFill>
        <p:spPr>
          <a:xfrm>
            <a:off x="5633895" y="1506474"/>
            <a:ext cx="6292319" cy="3017901"/>
          </a:xfrm>
          <a:prstGeom prst="rect">
            <a:avLst/>
          </a:prstGeom>
          <a:noFill/>
          <a:ln w="9525">
            <a:noFill/>
          </a:ln>
        </p:spPr>
      </p:pic>
    </p:spTree>
    <p:extLst>
      <p:ext uri="{BB962C8B-B14F-4D97-AF65-F5344CB8AC3E}">
        <p14:creationId xmlns:p14="http://schemas.microsoft.com/office/powerpoint/2010/main" val="31606861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20395" y="-5080"/>
            <a:ext cx="7125970" cy="519822"/>
          </a:xfrm>
          <a:prstGeom prst="rect">
            <a:avLst/>
          </a:prstGeom>
          <a:noFill/>
        </p:spPr>
        <p:txBody>
          <a:bodyPr wrap="square">
            <a:spAutoFit/>
          </a:bodyPr>
          <a:lstStyle>
            <a:defPPr>
              <a:defRPr lang="zh-CN"/>
            </a:defPPr>
            <a:lvl1pPr algn="dist">
              <a:lnSpc>
                <a:spcPct val="125000"/>
              </a:lnSpc>
              <a:defRPr sz="2400" b="1">
                <a:solidFill>
                  <a:schemeClr val="bg2">
                    <a:lumMod val="50000"/>
                  </a:schemeClr>
                </a:solidFill>
                <a:latin typeface="Arial" panose="020B0604020202020204" pitchFamily="34" charset="0"/>
                <a:ea typeface="微软雅黑" panose="020B0503020204020204" pitchFamily="34" charset="-122"/>
                <a:cs typeface="Arial" panose="020B0604020202020204" pitchFamily="34" charset="0"/>
              </a:defRPr>
            </a:lvl1pPr>
          </a:lstStyle>
          <a:p>
            <a:pPr algn="l">
              <a:buFont typeface="Wingdings" panose="05000000000000000000" charset="0"/>
            </a:pPr>
            <a:r>
              <a:rPr lang="en-US" altLang="zh-CN" dirty="0">
                <a:ea typeface="宋体" panose="02010600030101010101" pitchFamily="2" charset="-122"/>
                <a:sym typeface="+mn-ea"/>
              </a:rPr>
              <a:t>LCD LVDS/RGB/MIPI DSI</a:t>
            </a:r>
          </a:p>
        </p:txBody>
      </p:sp>
      <p:sp>
        <p:nvSpPr>
          <p:cNvPr id="13314" name="内容占位符 2"/>
          <p:cNvSpPr>
            <a:spLocks noGrp="1"/>
          </p:cNvSpPr>
          <p:nvPr>
            <p:ph idx="4294967295"/>
          </p:nvPr>
        </p:nvSpPr>
        <p:spPr>
          <a:xfrm>
            <a:off x="456984" y="904875"/>
            <a:ext cx="9884880" cy="4525963"/>
          </a:xfrm>
        </p:spPr>
        <p:txBody>
          <a:bodyPr vert="horz" wrap="square" lIns="91440" tIns="45720" rIns="91440" bIns="45720" anchor="t" anchorCtr="0"/>
          <a:lstStyle/>
          <a:p>
            <a:pPr marL="0" indent="0" fontAlgn="base">
              <a:lnSpc>
                <a:spcPct val="100000"/>
              </a:lnSpc>
              <a:spcBef>
                <a:spcPct val="20000"/>
              </a:spcBef>
              <a:spcAft>
                <a:spcPct val="0"/>
              </a:spcAft>
              <a:buNone/>
            </a:pPr>
            <a:r>
              <a:rPr lang="en-US" altLang="zh-CN" sz="2400" dirty="0">
                <a:sym typeface="+mn-ea"/>
              </a:rPr>
              <a:t>    LCD</a:t>
            </a:r>
            <a:r>
              <a:rPr lang="zh-CN" altLang="en-US" sz="2400" dirty="0">
                <a:sym typeface="+mn-ea"/>
              </a:rPr>
              <a:t>信号质量也会影响显示效果，尤其是</a:t>
            </a:r>
            <a:r>
              <a:rPr lang="en-US" altLang="zh-CN" sz="2400" dirty="0">
                <a:sym typeface="+mn-ea"/>
              </a:rPr>
              <a:t>RGB 148.5MHz</a:t>
            </a:r>
            <a:r>
              <a:rPr lang="zh-CN" altLang="en-US" sz="2400" dirty="0">
                <a:sym typeface="+mn-ea"/>
              </a:rPr>
              <a:t>，</a:t>
            </a:r>
            <a:r>
              <a:rPr lang="en-US" altLang="zh-CN" sz="2400" dirty="0">
                <a:sym typeface="+mn-ea"/>
              </a:rPr>
              <a:t>LVDS 30cm</a:t>
            </a:r>
            <a:r>
              <a:rPr lang="zh-CN" altLang="en-US" sz="2400" dirty="0">
                <a:sym typeface="+mn-ea"/>
              </a:rPr>
              <a:t> </a:t>
            </a:r>
            <a:r>
              <a:rPr lang="en-US" altLang="zh-CN" sz="2400" dirty="0">
                <a:sym typeface="+mn-ea"/>
              </a:rPr>
              <a:t>cable</a:t>
            </a:r>
            <a:r>
              <a:rPr lang="zh-CN" altLang="en-US" sz="2400" dirty="0">
                <a:sym typeface="+mn-ea"/>
              </a:rPr>
              <a:t>，</a:t>
            </a:r>
            <a:r>
              <a:rPr lang="en-US" altLang="zh-CN" sz="2400" dirty="0">
                <a:sym typeface="+mn-ea"/>
              </a:rPr>
              <a:t>MIPI 2.5K</a:t>
            </a:r>
            <a:r>
              <a:rPr lang="zh-CN" altLang="en-US" sz="2400" dirty="0">
                <a:sym typeface="+mn-ea"/>
              </a:rPr>
              <a:t>屏经转接延长等使用场景，</a:t>
            </a:r>
            <a:r>
              <a:rPr lang="en-US" altLang="zh-CN" sz="2400" dirty="0">
                <a:sym typeface="+mn-ea"/>
              </a:rPr>
              <a:t>layout</a:t>
            </a:r>
            <a:r>
              <a:rPr lang="zh-CN" altLang="en-US" sz="2400" dirty="0">
                <a:sym typeface="+mn-ea"/>
              </a:rPr>
              <a:t>都要特别注意。</a:t>
            </a:r>
            <a:endParaRPr kumimoji="0" lang="en-US" sz="2400" b="0" i="0" u="none" strike="noStrike" kern="1200" cap="none" spc="0" normalizeH="0" baseline="0" noProof="1">
              <a:solidFill>
                <a:schemeClr val="tx1"/>
              </a:solidFill>
              <a:latin typeface="+mn-lt"/>
              <a:ea typeface="+mn-ea"/>
              <a:cs typeface="+mn-cs"/>
              <a:sym typeface="+mn-ea"/>
            </a:endParaRPr>
          </a:p>
          <a:p>
            <a:pPr marL="342900" indent="-342900" fontAlgn="base">
              <a:lnSpc>
                <a:spcPct val="100000"/>
              </a:lnSpc>
              <a:spcBef>
                <a:spcPct val="20000"/>
              </a:spcBef>
              <a:spcAft>
                <a:spcPct val="0"/>
              </a:spcAft>
              <a:buSzPct val="80000"/>
            </a:pPr>
            <a:r>
              <a:rPr lang="en-US" altLang="zh-CN" sz="2400" dirty="0">
                <a:sym typeface="+mn-ea"/>
              </a:rPr>
              <a:t>Differential 100ohm</a:t>
            </a:r>
          </a:p>
          <a:p>
            <a:pPr marL="342900" indent="-342900" fontAlgn="base">
              <a:lnSpc>
                <a:spcPct val="100000"/>
              </a:lnSpc>
              <a:spcBef>
                <a:spcPct val="20000"/>
              </a:spcBef>
              <a:spcAft>
                <a:spcPct val="0"/>
              </a:spcAft>
              <a:buSzPct val="80000"/>
            </a:pPr>
            <a:r>
              <a:rPr lang="en-US" altLang="zh-CN" sz="2400" dirty="0">
                <a:sym typeface="+mn-ea"/>
              </a:rPr>
              <a:t>RGB/LVDS/MIPI </a:t>
            </a:r>
            <a:r>
              <a:rPr lang="zh-CN" altLang="en-US" sz="2400" dirty="0">
                <a:sym typeface="+mn-ea"/>
              </a:rPr>
              <a:t>时钟信号</a:t>
            </a:r>
            <a:r>
              <a:rPr lang="en-US" altLang="zh-CN" sz="2400" dirty="0">
                <a:sym typeface="+mn-ea"/>
              </a:rPr>
              <a:t>CLK</a:t>
            </a:r>
            <a:r>
              <a:rPr lang="zh-CN" altLang="en-US" sz="2400" dirty="0">
                <a:sym typeface="+mn-ea"/>
              </a:rPr>
              <a:t>尤为关键，严格包地处理</a:t>
            </a:r>
            <a:endParaRPr lang="en-US" altLang="zh-CN" sz="2400" dirty="0">
              <a:sym typeface="+mn-ea"/>
            </a:endParaRPr>
          </a:p>
          <a:p>
            <a:pPr marL="342900" indent="-342900" fontAlgn="base">
              <a:lnSpc>
                <a:spcPct val="100000"/>
              </a:lnSpc>
              <a:spcBef>
                <a:spcPct val="20000"/>
              </a:spcBef>
              <a:spcAft>
                <a:spcPct val="0"/>
              </a:spcAft>
              <a:buSzPct val="80000"/>
            </a:pPr>
            <a:r>
              <a:rPr lang="en-US" altLang="zh-CN" sz="2400" dirty="0">
                <a:sym typeface="+mn-ea"/>
              </a:rPr>
              <a:t>RGB</a:t>
            </a:r>
            <a:r>
              <a:rPr lang="zh-CN" altLang="en-US" sz="2400" dirty="0">
                <a:sym typeface="+mn-ea"/>
              </a:rPr>
              <a:t>是</a:t>
            </a:r>
            <a:r>
              <a:rPr lang="en-US" altLang="zh-CN" sz="2400" dirty="0">
                <a:sym typeface="+mn-ea"/>
              </a:rPr>
              <a:t>TTL</a:t>
            </a:r>
            <a:r>
              <a:rPr lang="zh-CN" altLang="en-US" sz="2400" dirty="0">
                <a:sym typeface="+mn-ea"/>
              </a:rPr>
              <a:t>信号，</a:t>
            </a:r>
            <a:r>
              <a:rPr lang="en-US" altLang="zh-CN" sz="2400" dirty="0">
                <a:sym typeface="+mn-ea"/>
              </a:rPr>
              <a:t>MSB</a:t>
            </a:r>
            <a:r>
              <a:rPr lang="zh-CN" altLang="en-US" sz="2400" dirty="0">
                <a:sym typeface="+mn-ea"/>
              </a:rPr>
              <a:t>信号尤为关键，走线优先</a:t>
            </a:r>
            <a:endParaRPr lang="en-US" altLang="zh-CN" sz="2400" dirty="0">
              <a:sym typeface="+mn-ea"/>
            </a:endParaRPr>
          </a:p>
          <a:p>
            <a:pPr marL="342900" indent="-342900" fontAlgn="base">
              <a:lnSpc>
                <a:spcPct val="100000"/>
              </a:lnSpc>
              <a:spcBef>
                <a:spcPct val="20000"/>
              </a:spcBef>
              <a:spcAft>
                <a:spcPct val="0"/>
              </a:spcAft>
              <a:buSzPct val="80000"/>
            </a:pPr>
            <a:r>
              <a:rPr lang="en-US" altLang="zh-CN" sz="2400" dirty="0">
                <a:sym typeface="+mn-ea"/>
              </a:rPr>
              <a:t>LVDS</a:t>
            </a:r>
            <a:r>
              <a:rPr lang="zh-CN" altLang="en-US" sz="2400" dirty="0">
                <a:sym typeface="+mn-ea"/>
              </a:rPr>
              <a:t>是</a:t>
            </a:r>
            <a:r>
              <a:rPr lang="en-US" altLang="zh-CN" sz="2400" dirty="0">
                <a:sym typeface="+mn-ea"/>
              </a:rPr>
              <a:t>1.8V</a:t>
            </a:r>
            <a:r>
              <a:rPr lang="zh-CN" altLang="en-US" sz="2400" dirty="0">
                <a:sym typeface="+mn-ea"/>
              </a:rPr>
              <a:t>差分信号，</a:t>
            </a:r>
            <a:r>
              <a:rPr lang="en-US" altLang="zh-CN" sz="2400" dirty="0">
                <a:sym typeface="+mn-ea"/>
              </a:rPr>
              <a:t>D2/D6</a:t>
            </a:r>
            <a:r>
              <a:rPr lang="zh-CN" altLang="en-US" sz="2400" dirty="0">
                <a:sym typeface="+mn-ea"/>
              </a:rPr>
              <a:t>组差分对走线优先，所有信号参考</a:t>
            </a:r>
            <a:r>
              <a:rPr lang="en-US" altLang="zh-CN" sz="2400" dirty="0">
                <a:sym typeface="+mn-ea"/>
              </a:rPr>
              <a:t>CLK</a:t>
            </a:r>
            <a:r>
              <a:rPr lang="zh-CN" altLang="en-US" sz="2400" noProof="1">
                <a:sym typeface="+mn-ea"/>
              </a:rPr>
              <a:t>等长误差</a:t>
            </a:r>
            <a:r>
              <a:rPr lang="en-US" altLang="zh-CN" sz="2400" noProof="1">
                <a:sym typeface="+mn-ea"/>
              </a:rPr>
              <a:t>±400mil</a:t>
            </a:r>
            <a:endParaRPr lang="en-US" altLang="zh-CN" sz="2400" dirty="0">
              <a:sym typeface="+mn-ea"/>
            </a:endParaRPr>
          </a:p>
          <a:p>
            <a:pPr marL="342900" indent="-342900" fontAlgn="base">
              <a:lnSpc>
                <a:spcPct val="100000"/>
              </a:lnSpc>
              <a:spcBef>
                <a:spcPct val="20000"/>
              </a:spcBef>
              <a:spcAft>
                <a:spcPct val="0"/>
              </a:spcAft>
              <a:buSzPct val="80000"/>
            </a:pPr>
            <a:r>
              <a:rPr lang="en-US" altLang="zh-CN" sz="2400" dirty="0">
                <a:sym typeface="+mn-ea"/>
              </a:rPr>
              <a:t>MIPI</a:t>
            </a:r>
            <a:r>
              <a:rPr lang="zh-CN" altLang="en-US" sz="2400" dirty="0">
                <a:sym typeface="+mn-ea"/>
              </a:rPr>
              <a:t>是</a:t>
            </a:r>
            <a:r>
              <a:rPr lang="en-US" altLang="zh-CN" sz="2400" dirty="0">
                <a:sym typeface="+mn-ea"/>
              </a:rPr>
              <a:t>1.2V</a:t>
            </a:r>
            <a:r>
              <a:rPr lang="zh-CN" altLang="en-US" sz="2400" dirty="0">
                <a:sym typeface="+mn-ea"/>
              </a:rPr>
              <a:t>差分信号，</a:t>
            </a:r>
            <a:r>
              <a:rPr lang="en-US" altLang="zh-CN" sz="2400" dirty="0">
                <a:sym typeface="+mn-ea"/>
              </a:rPr>
              <a:t>D0</a:t>
            </a:r>
            <a:r>
              <a:rPr lang="zh-CN" altLang="en-US" sz="2400" dirty="0">
                <a:sym typeface="+mn-ea"/>
              </a:rPr>
              <a:t>组差分对走线优先，所有信号参考</a:t>
            </a:r>
            <a:r>
              <a:rPr lang="en-US" altLang="zh-CN" sz="2400" dirty="0">
                <a:sym typeface="+mn-ea"/>
              </a:rPr>
              <a:t>CLK</a:t>
            </a:r>
            <a:r>
              <a:rPr lang="zh-CN" altLang="en-US" sz="2400" dirty="0">
                <a:sym typeface="+mn-ea"/>
              </a:rPr>
              <a:t>做</a:t>
            </a:r>
            <a:r>
              <a:rPr lang="zh-CN" altLang="en-US" sz="2400" noProof="1">
                <a:sym typeface="+mn-ea"/>
              </a:rPr>
              <a:t>等长误差</a:t>
            </a:r>
            <a:r>
              <a:rPr lang="en-US" altLang="zh-CN" sz="2400" noProof="1">
                <a:sym typeface="+mn-ea"/>
              </a:rPr>
              <a:t>±200mil</a:t>
            </a:r>
            <a:endParaRPr lang="en-US" altLang="zh-CN" sz="2400" dirty="0">
              <a:sym typeface="+mn-ea"/>
            </a:endParaRPr>
          </a:p>
        </p:txBody>
      </p:sp>
    </p:spTree>
    <p:extLst>
      <p:ext uri="{BB962C8B-B14F-4D97-AF65-F5344CB8AC3E}">
        <p14:creationId xmlns:p14="http://schemas.microsoft.com/office/powerpoint/2010/main" val="18881861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20395" y="-5080"/>
            <a:ext cx="7125970" cy="519822"/>
          </a:xfrm>
          <a:prstGeom prst="rect">
            <a:avLst/>
          </a:prstGeom>
          <a:noFill/>
        </p:spPr>
        <p:txBody>
          <a:bodyPr wrap="square">
            <a:spAutoFit/>
          </a:bodyPr>
          <a:lstStyle>
            <a:defPPr>
              <a:defRPr lang="zh-CN"/>
            </a:defPPr>
            <a:lvl1pPr algn="dist">
              <a:lnSpc>
                <a:spcPct val="125000"/>
              </a:lnSpc>
              <a:defRPr sz="2400" b="1">
                <a:solidFill>
                  <a:schemeClr val="bg2">
                    <a:lumMod val="50000"/>
                  </a:schemeClr>
                </a:solidFill>
                <a:latin typeface="Arial" panose="020B0604020202020204" pitchFamily="34" charset="0"/>
                <a:ea typeface="微软雅黑" panose="020B0503020204020204" pitchFamily="34" charset="-122"/>
                <a:cs typeface="Arial" panose="020B0604020202020204" pitchFamily="34" charset="0"/>
              </a:defRPr>
            </a:lvl1pPr>
          </a:lstStyle>
          <a:p>
            <a:pPr algn="l">
              <a:buFont typeface="Wingdings" panose="05000000000000000000" charset="0"/>
            </a:pPr>
            <a:r>
              <a:rPr lang="en-US" altLang="zh-CN" dirty="0">
                <a:ea typeface="宋体" panose="02010600030101010101" pitchFamily="2" charset="-122"/>
                <a:sym typeface="+mn-ea"/>
              </a:rPr>
              <a:t>AV</a:t>
            </a:r>
          </a:p>
        </p:txBody>
      </p:sp>
      <p:sp>
        <p:nvSpPr>
          <p:cNvPr id="13314" name="内容占位符 2"/>
          <p:cNvSpPr>
            <a:spLocks noGrp="1"/>
          </p:cNvSpPr>
          <p:nvPr>
            <p:ph idx="4294967295"/>
          </p:nvPr>
        </p:nvSpPr>
        <p:spPr>
          <a:xfrm>
            <a:off x="451210" y="904875"/>
            <a:ext cx="10055245" cy="4953000"/>
          </a:xfrm>
        </p:spPr>
        <p:txBody>
          <a:bodyPr vert="horz" wrap="square" lIns="91440" tIns="45720" rIns="91440" bIns="45720" anchor="t" anchorCtr="0"/>
          <a:lstStyle/>
          <a:p>
            <a:pPr marL="0" marR="0" indent="0" fontAlgn="base">
              <a:lnSpc>
                <a:spcPct val="100000"/>
              </a:lnSpc>
              <a:spcBef>
                <a:spcPct val="20000"/>
              </a:spcBef>
              <a:spcAft>
                <a:spcPct val="0"/>
              </a:spcAft>
              <a:buClrTx/>
              <a:buSzPct val="80000"/>
              <a:buNone/>
            </a:pPr>
            <a:r>
              <a:rPr lang="en-US" altLang="zh-CN" sz="2400" dirty="0">
                <a:sym typeface="+mn-ea"/>
              </a:rPr>
              <a:t>    Video</a:t>
            </a:r>
            <a:r>
              <a:rPr lang="zh-CN" altLang="en-US" sz="2400" dirty="0">
                <a:sym typeface="+mn-ea"/>
              </a:rPr>
              <a:t> </a:t>
            </a:r>
            <a:r>
              <a:rPr lang="en-US" altLang="zh-CN" sz="2400" dirty="0">
                <a:sym typeface="+mn-ea"/>
              </a:rPr>
              <a:t>CVBS/VGA</a:t>
            </a:r>
            <a:r>
              <a:rPr lang="zh-CN" altLang="en-US" sz="2400" dirty="0">
                <a:sym typeface="+mn-ea"/>
              </a:rPr>
              <a:t>和</a:t>
            </a:r>
            <a:r>
              <a:rPr lang="en-US" altLang="zh-CN" sz="2400" dirty="0">
                <a:sym typeface="+mn-ea"/>
              </a:rPr>
              <a:t>Audio Line Out</a:t>
            </a:r>
            <a:r>
              <a:rPr lang="zh-CN" altLang="en-US" sz="2400" dirty="0">
                <a:sym typeface="+mn-ea"/>
              </a:rPr>
              <a:t>都是模拟电路，处理不好会有水波纹，底噪等问题。</a:t>
            </a:r>
            <a:endParaRPr lang="en-US" altLang="zh-CN" sz="2400" noProof="1">
              <a:sym typeface="+mn-ea"/>
            </a:endParaRPr>
          </a:p>
          <a:p>
            <a:pPr marL="342900" marR="0" indent="-342900" fontAlgn="base">
              <a:lnSpc>
                <a:spcPct val="100000"/>
              </a:lnSpc>
              <a:spcBef>
                <a:spcPct val="20000"/>
              </a:spcBef>
              <a:spcAft>
                <a:spcPct val="0"/>
              </a:spcAft>
              <a:buClrTx/>
              <a:buSzPct val="80000"/>
            </a:pPr>
            <a:r>
              <a:rPr lang="en-US" altLang="zh-CN" sz="2400" dirty="0">
                <a:sym typeface="+mn-ea"/>
              </a:rPr>
              <a:t>VDAC_IOUT</a:t>
            </a:r>
            <a:r>
              <a:rPr lang="zh-CN" altLang="en-US" sz="2400" dirty="0">
                <a:sym typeface="+mn-ea"/>
              </a:rPr>
              <a:t>需要包地处理</a:t>
            </a:r>
            <a:endParaRPr lang="en-US" altLang="zh-CN" sz="2400" dirty="0">
              <a:sym typeface="+mn-ea"/>
            </a:endParaRPr>
          </a:p>
          <a:p>
            <a:pPr marL="342900" marR="0" indent="-342900" fontAlgn="base">
              <a:lnSpc>
                <a:spcPct val="100000"/>
              </a:lnSpc>
              <a:spcBef>
                <a:spcPct val="20000"/>
              </a:spcBef>
              <a:spcAft>
                <a:spcPct val="0"/>
              </a:spcAft>
              <a:buClrTx/>
              <a:buSzPct val="80000"/>
            </a:pPr>
            <a:r>
              <a:rPr lang="en-US" altLang="zh-CN" sz="2400" dirty="0"/>
              <a:t>VDDA_LO_DAC</a:t>
            </a:r>
            <a:r>
              <a:rPr lang="zh-CN" altLang="en-US" sz="2400" dirty="0"/>
              <a:t>电源需要取源端独立供电路径</a:t>
            </a:r>
            <a:endParaRPr lang="en-US" altLang="zh-CN" sz="2400" dirty="0"/>
          </a:p>
          <a:p>
            <a:pPr marL="342900" marR="0" indent="-342900" fontAlgn="base">
              <a:lnSpc>
                <a:spcPct val="100000"/>
              </a:lnSpc>
              <a:spcBef>
                <a:spcPct val="20000"/>
              </a:spcBef>
              <a:spcAft>
                <a:spcPct val="0"/>
              </a:spcAft>
              <a:buClrTx/>
              <a:buSzPct val="80000"/>
            </a:pPr>
            <a:r>
              <a:rPr lang="en-US" altLang="zh-CN" sz="2400" dirty="0"/>
              <a:t>LO_PWMLP/RP</a:t>
            </a:r>
            <a:r>
              <a:rPr lang="zh-CN" altLang="en-US" sz="2400" dirty="0"/>
              <a:t>为</a:t>
            </a:r>
            <a:r>
              <a:rPr lang="en-US" altLang="zh-CN" sz="2400" dirty="0"/>
              <a:t>PWM</a:t>
            </a:r>
            <a:r>
              <a:rPr lang="zh-CN" altLang="en-US" sz="2400" dirty="0"/>
              <a:t>方波，滤波器电路靠近</a:t>
            </a:r>
            <a:r>
              <a:rPr lang="en-US" altLang="zh-CN" sz="2400" dirty="0"/>
              <a:t>SOC</a:t>
            </a:r>
            <a:r>
              <a:rPr lang="zh-CN" altLang="en-US" sz="2400" dirty="0"/>
              <a:t>放置</a:t>
            </a:r>
            <a:endParaRPr lang="en-US" altLang="zh-CN" sz="2400" dirty="0"/>
          </a:p>
          <a:p>
            <a:pPr marL="342900" marR="0" indent="-342900" fontAlgn="base">
              <a:lnSpc>
                <a:spcPct val="100000"/>
              </a:lnSpc>
              <a:spcBef>
                <a:spcPct val="20000"/>
              </a:spcBef>
              <a:spcAft>
                <a:spcPct val="0"/>
              </a:spcAft>
              <a:buClrTx/>
              <a:buSzPct val="80000"/>
            </a:pPr>
            <a:r>
              <a:rPr lang="en-US" altLang="zh-CN" sz="2400" dirty="0"/>
              <a:t>Audio</a:t>
            </a:r>
            <a:r>
              <a:rPr lang="zh-CN" altLang="en-US" sz="2400" dirty="0"/>
              <a:t>应该有独立模拟地，回路地应靠近电源，</a:t>
            </a:r>
            <a:endParaRPr lang="en-US" altLang="zh-CN" sz="2400" dirty="0"/>
          </a:p>
          <a:p>
            <a:pPr marL="0" marR="0" indent="0" fontAlgn="base">
              <a:lnSpc>
                <a:spcPct val="100000"/>
              </a:lnSpc>
              <a:spcBef>
                <a:spcPct val="20000"/>
              </a:spcBef>
              <a:spcAft>
                <a:spcPct val="0"/>
              </a:spcAft>
              <a:buClrTx/>
              <a:buSzPct val="80000"/>
              <a:buNone/>
            </a:pPr>
            <a:r>
              <a:rPr lang="zh-CN" altLang="en-US" sz="2400" dirty="0"/>
              <a:t>避免与其他器件的地共同回流</a:t>
            </a:r>
            <a:endParaRPr lang="en-US" altLang="zh-CN" sz="2400" dirty="0"/>
          </a:p>
          <a:p>
            <a:pPr marL="342900" marR="0" indent="-342900" fontAlgn="base">
              <a:lnSpc>
                <a:spcPct val="100000"/>
              </a:lnSpc>
              <a:spcBef>
                <a:spcPct val="20000"/>
              </a:spcBef>
              <a:spcAft>
                <a:spcPct val="0"/>
              </a:spcAft>
              <a:buClrTx/>
              <a:buSzPct val="80000"/>
            </a:pPr>
            <a:r>
              <a:rPr lang="en-US" altLang="zh-CN" sz="2400" dirty="0"/>
              <a:t>CVBS_IN</a:t>
            </a:r>
            <a:r>
              <a:rPr lang="zh-CN" altLang="en-US" sz="2400" dirty="0"/>
              <a:t>的去耦电容和偏置电阻应靠近</a:t>
            </a:r>
            <a:r>
              <a:rPr lang="en-US" altLang="zh-CN" sz="2400" dirty="0"/>
              <a:t>PIN</a:t>
            </a:r>
            <a:r>
              <a:rPr lang="zh-CN" altLang="en-US" sz="2400" dirty="0"/>
              <a:t>放置</a:t>
            </a:r>
            <a:endParaRPr lang="en-US" altLang="zh-CN" sz="2400" dirty="0"/>
          </a:p>
          <a:p>
            <a:pPr marL="342900" marR="0" indent="-342900" fontAlgn="base">
              <a:lnSpc>
                <a:spcPct val="100000"/>
              </a:lnSpc>
              <a:spcBef>
                <a:spcPct val="20000"/>
              </a:spcBef>
              <a:spcAft>
                <a:spcPct val="0"/>
              </a:spcAft>
              <a:buClrTx/>
              <a:buSzPct val="80000"/>
            </a:pPr>
            <a:r>
              <a:rPr lang="en-US" altLang="zh-CN" sz="2400" dirty="0"/>
              <a:t>VDAC_VDDA</a:t>
            </a:r>
            <a:r>
              <a:rPr lang="zh-CN" altLang="en-US" sz="2400" dirty="0"/>
              <a:t>供电电流较大，走线大于</a:t>
            </a:r>
            <a:r>
              <a:rPr lang="en-US" altLang="zh-CN" sz="2400" dirty="0"/>
              <a:t>20mil</a:t>
            </a:r>
          </a:p>
        </p:txBody>
      </p:sp>
      <p:pic>
        <p:nvPicPr>
          <p:cNvPr id="4" name="图片 3">
            <a:extLst>
              <a:ext uri="{FF2B5EF4-FFF2-40B4-BE49-F238E27FC236}">
                <a16:creationId xmlns:a16="http://schemas.microsoft.com/office/drawing/2014/main" id="{78374175-85F1-3D5C-0C83-26D6870B2517}"/>
              </a:ext>
            </a:extLst>
          </p:cNvPr>
          <p:cNvPicPr>
            <a:picLocks noChangeAspect="1"/>
          </p:cNvPicPr>
          <p:nvPr/>
        </p:nvPicPr>
        <p:blipFill>
          <a:blip r:embed="rId2"/>
          <a:stretch>
            <a:fillRect/>
          </a:stretch>
        </p:blipFill>
        <p:spPr>
          <a:xfrm>
            <a:off x="7185851" y="3099180"/>
            <a:ext cx="4548949" cy="2917953"/>
          </a:xfrm>
          <a:prstGeom prst="rect">
            <a:avLst/>
          </a:prstGeom>
        </p:spPr>
      </p:pic>
    </p:spTree>
    <p:extLst>
      <p:ext uri="{BB962C8B-B14F-4D97-AF65-F5344CB8AC3E}">
        <p14:creationId xmlns:p14="http://schemas.microsoft.com/office/powerpoint/2010/main" val="41691144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620395" y="-5080"/>
            <a:ext cx="7125970" cy="519822"/>
          </a:xfrm>
          <a:prstGeom prst="rect">
            <a:avLst/>
          </a:prstGeom>
          <a:noFill/>
        </p:spPr>
        <p:txBody>
          <a:bodyPr wrap="square">
            <a:spAutoFit/>
          </a:bodyPr>
          <a:lstStyle>
            <a:defPPr>
              <a:defRPr lang="zh-CN"/>
            </a:defPPr>
            <a:lvl1pPr algn="dist">
              <a:lnSpc>
                <a:spcPct val="125000"/>
              </a:lnSpc>
              <a:defRPr sz="2400" b="1">
                <a:solidFill>
                  <a:schemeClr val="bg2">
                    <a:lumMod val="50000"/>
                  </a:schemeClr>
                </a:solidFill>
                <a:latin typeface="Arial" panose="020B0604020202020204" pitchFamily="34" charset="0"/>
                <a:ea typeface="微软雅黑" panose="020B0503020204020204" pitchFamily="34" charset="-122"/>
                <a:cs typeface="Arial" panose="020B0604020202020204" pitchFamily="34" charset="0"/>
              </a:defRPr>
            </a:lvl1pPr>
          </a:lstStyle>
          <a:p>
            <a:pPr algn="l">
              <a:buFont typeface="Wingdings" panose="05000000000000000000" charset="0"/>
            </a:pPr>
            <a:r>
              <a:rPr lang="en-US" altLang="zh-CN" dirty="0">
                <a:ea typeface="宋体" panose="02010600030101010101" pitchFamily="2" charset="-122"/>
                <a:sym typeface="+mn-ea"/>
              </a:rPr>
              <a:t>Other</a:t>
            </a:r>
          </a:p>
        </p:txBody>
      </p:sp>
      <p:sp>
        <p:nvSpPr>
          <p:cNvPr id="13314" name="内容占位符 2"/>
          <p:cNvSpPr>
            <a:spLocks noGrp="1"/>
          </p:cNvSpPr>
          <p:nvPr>
            <p:ph idx="4294967295"/>
          </p:nvPr>
        </p:nvSpPr>
        <p:spPr>
          <a:xfrm>
            <a:off x="451210" y="904875"/>
            <a:ext cx="10219837" cy="4953000"/>
          </a:xfrm>
        </p:spPr>
        <p:txBody>
          <a:bodyPr vert="horz" wrap="square" lIns="91440" tIns="45720" rIns="91440" bIns="45720" anchor="t" anchorCtr="0">
            <a:normAutofit/>
          </a:bodyPr>
          <a:lstStyle/>
          <a:p>
            <a:pPr marL="342900" marR="0" indent="-342900" fontAlgn="base">
              <a:lnSpc>
                <a:spcPct val="100000"/>
              </a:lnSpc>
              <a:spcBef>
                <a:spcPct val="20000"/>
              </a:spcBef>
              <a:spcAft>
                <a:spcPct val="0"/>
              </a:spcAft>
              <a:buClrTx/>
              <a:buSzPct val="80000"/>
            </a:pPr>
            <a:r>
              <a:rPr lang="en-US" altLang="zh-CN" sz="2400" dirty="0">
                <a:sym typeface="+mn-ea"/>
              </a:rPr>
              <a:t>Crystal</a:t>
            </a:r>
            <a:r>
              <a:rPr lang="zh-CN" altLang="en-US" sz="2400" dirty="0">
                <a:sym typeface="+mn-ea"/>
              </a:rPr>
              <a:t>走线做包地处理，尽量短，优先</a:t>
            </a:r>
            <a:r>
              <a:rPr lang="en-US" altLang="zh-CN" sz="2400" dirty="0">
                <a:sym typeface="+mn-ea"/>
              </a:rPr>
              <a:t>XIN</a:t>
            </a:r>
            <a:endParaRPr lang="en-US" altLang="zh-CN" sz="2400" noProof="1">
              <a:sym typeface="+mn-ea"/>
            </a:endParaRPr>
          </a:p>
          <a:p>
            <a:pPr marL="342900" marR="0" indent="-342900" fontAlgn="base">
              <a:lnSpc>
                <a:spcPct val="100000"/>
              </a:lnSpc>
              <a:spcBef>
                <a:spcPct val="20000"/>
              </a:spcBef>
              <a:spcAft>
                <a:spcPct val="0"/>
              </a:spcAft>
              <a:buClrTx/>
              <a:buSzPct val="80000"/>
            </a:pPr>
            <a:r>
              <a:rPr lang="en-US" altLang="zh-CN" sz="2400" dirty="0">
                <a:sym typeface="+mn-ea"/>
              </a:rPr>
              <a:t>Bypass</a:t>
            </a:r>
            <a:r>
              <a:rPr lang="zh-CN" altLang="en-US" sz="2400" dirty="0">
                <a:sym typeface="+mn-ea"/>
              </a:rPr>
              <a:t>电容要靠近</a:t>
            </a:r>
            <a:r>
              <a:rPr lang="en-US" altLang="zh-CN" sz="2400" dirty="0">
                <a:sym typeface="+mn-ea"/>
              </a:rPr>
              <a:t>PIN</a:t>
            </a:r>
            <a:r>
              <a:rPr lang="zh-CN" altLang="en-US" sz="2400" dirty="0">
                <a:sym typeface="+mn-ea"/>
              </a:rPr>
              <a:t>放置</a:t>
            </a:r>
            <a:endParaRPr lang="en-US" altLang="zh-CN" sz="2400" dirty="0">
              <a:sym typeface="+mn-ea"/>
            </a:endParaRPr>
          </a:p>
          <a:p>
            <a:pPr marL="342900" marR="0" indent="-342900" fontAlgn="base">
              <a:lnSpc>
                <a:spcPct val="100000"/>
              </a:lnSpc>
              <a:spcBef>
                <a:spcPct val="20000"/>
              </a:spcBef>
              <a:spcAft>
                <a:spcPct val="0"/>
              </a:spcAft>
              <a:buClrTx/>
              <a:buSzPct val="80000"/>
            </a:pPr>
            <a:r>
              <a:rPr lang="en-US" altLang="zh-CN" sz="2400" dirty="0">
                <a:sym typeface="+mn-ea"/>
              </a:rPr>
              <a:t>RC</a:t>
            </a:r>
            <a:r>
              <a:rPr lang="zh-CN" altLang="en-US" sz="2400" dirty="0">
                <a:sym typeface="+mn-ea"/>
              </a:rPr>
              <a:t>滤波靠近源端放置</a:t>
            </a:r>
            <a:endParaRPr lang="en-US" altLang="zh-CN" sz="2400" dirty="0">
              <a:sym typeface="+mn-ea"/>
            </a:endParaRPr>
          </a:p>
          <a:p>
            <a:pPr marL="342900" marR="0" indent="-342900" fontAlgn="base">
              <a:lnSpc>
                <a:spcPct val="100000"/>
              </a:lnSpc>
              <a:spcBef>
                <a:spcPct val="20000"/>
              </a:spcBef>
              <a:spcAft>
                <a:spcPct val="0"/>
              </a:spcAft>
              <a:buClrTx/>
              <a:buSzPct val="80000"/>
            </a:pPr>
            <a:r>
              <a:rPr lang="zh-CN" altLang="en-US" sz="2400" noProof="1">
                <a:sym typeface="+mn-ea"/>
              </a:rPr>
              <a:t>仿真口</a:t>
            </a:r>
            <a:r>
              <a:rPr lang="en-US" altLang="zh-CN" sz="2400" noProof="1">
                <a:sym typeface="+mn-ea"/>
              </a:rPr>
              <a:t>EJTAG</a:t>
            </a:r>
            <a:r>
              <a:rPr lang="zh-CN" altLang="en-US" sz="2400" noProof="1">
                <a:sym typeface="+mn-ea"/>
              </a:rPr>
              <a:t> </a:t>
            </a:r>
            <a:r>
              <a:rPr lang="en-US" altLang="zh-CN" sz="2400" noProof="1">
                <a:sym typeface="+mn-ea"/>
              </a:rPr>
              <a:t>share</a:t>
            </a:r>
            <a:r>
              <a:rPr lang="zh-CN" altLang="en-US" sz="2400" noProof="1">
                <a:sym typeface="+mn-ea"/>
              </a:rPr>
              <a:t>外围电路时应靠近末端</a:t>
            </a:r>
          </a:p>
          <a:p>
            <a:pPr marL="342900" marR="0" indent="-342900" fontAlgn="base">
              <a:lnSpc>
                <a:spcPct val="100000"/>
              </a:lnSpc>
              <a:spcBef>
                <a:spcPct val="20000"/>
              </a:spcBef>
              <a:spcAft>
                <a:spcPct val="0"/>
              </a:spcAft>
              <a:buClrTx/>
              <a:buSzPct val="80000"/>
            </a:pPr>
            <a:r>
              <a:rPr lang="en-US" altLang="zh-CN" sz="2400" dirty="0">
                <a:sym typeface="+mn-ea"/>
              </a:rPr>
              <a:t>ESD</a:t>
            </a:r>
            <a:r>
              <a:rPr lang="zh-CN" altLang="en-US" sz="2400" dirty="0">
                <a:sym typeface="+mn-ea"/>
              </a:rPr>
              <a:t>器件尽量靠近连接器，并最短距离打</a:t>
            </a:r>
            <a:r>
              <a:rPr lang="en-US" altLang="zh-CN" sz="2400" dirty="0">
                <a:sym typeface="+mn-ea"/>
              </a:rPr>
              <a:t>VIA</a:t>
            </a:r>
            <a:endParaRPr lang="en-US" altLang="zh-CN" sz="2400" noProof="1">
              <a:sym typeface="+mn-ea"/>
            </a:endParaRPr>
          </a:p>
          <a:p>
            <a:pPr marL="342900" marR="0" indent="-342900" fontAlgn="base">
              <a:lnSpc>
                <a:spcPct val="100000"/>
              </a:lnSpc>
              <a:spcBef>
                <a:spcPct val="20000"/>
              </a:spcBef>
              <a:spcAft>
                <a:spcPct val="0"/>
              </a:spcAft>
              <a:buClrTx/>
              <a:buSzPct val="80000"/>
            </a:pPr>
            <a:r>
              <a:rPr lang="zh-CN" altLang="en-US" sz="2400" dirty="0">
                <a:sym typeface="+mn-ea"/>
              </a:rPr>
              <a:t>系统上所有</a:t>
            </a:r>
            <a:r>
              <a:rPr lang="en-US" altLang="zh-CN" sz="2400" dirty="0">
                <a:sym typeface="+mn-ea"/>
              </a:rPr>
              <a:t>CLOCK</a:t>
            </a:r>
            <a:r>
              <a:rPr lang="zh-CN" altLang="en-US" sz="2400" dirty="0">
                <a:sym typeface="+mn-ea"/>
              </a:rPr>
              <a:t>应尽量包地处理</a:t>
            </a:r>
            <a:endParaRPr lang="zh-CN" altLang="en-US" sz="2400" noProof="1">
              <a:sym typeface="+mn-ea"/>
            </a:endParaRPr>
          </a:p>
          <a:p>
            <a:pPr marL="342900" marR="0" indent="-342900" fontAlgn="base">
              <a:lnSpc>
                <a:spcPct val="100000"/>
              </a:lnSpc>
              <a:spcBef>
                <a:spcPct val="20000"/>
              </a:spcBef>
              <a:spcAft>
                <a:spcPct val="0"/>
              </a:spcAft>
              <a:buClrTx/>
              <a:buSzPct val="80000"/>
            </a:pPr>
            <a:r>
              <a:rPr lang="zh-CN" altLang="en-US" sz="2400" dirty="0">
                <a:sym typeface="+mn-ea"/>
              </a:rPr>
              <a:t>注意地的完整性，由于</a:t>
            </a:r>
            <a:r>
              <a:rPr lang="en-US" altLang="zh-CN" sz="2400" dirty="0">
                <a:sym typeface="+mn-ea"/>
              </a:rPr>
              <a:t>SOC</a:t>
            </a:r>
            <a:r>
              <a:rPr lang="zh-CN" altLang="en-US" sz="2400" dirty="0">
                <a:sym typeface="+mn-ea"/>
              </a:rPr>
              <a:t>四边有电源</a:t>
            </a:r>
            <a:r>
              <a:rPr lang="en-US" altLang="zh-CN" sz="2400" dirty="0">
                <a:sym typeface="+mn-ea"/>
              </a:rPr>
              <a:t>PIN</a:t>
            </a:r>
            <a:r>
              <a:rPr lang="zh-CN" altLang="en-US" sz="2400" dirty="0">
                <a:sym typeface="+mn-ea"/>
              </a:rPr>
              <a:t>，避免电源和信号在底层走线对地平面的切割引起高速信号阻抗不连续，回路路径长等问题</a:t>
            </a:r>
            <a:endParaRPr lang="zh-CN" altLang="en-US" sz="2400" noProof="1">
              <a:sym typeface="+mn-ea"/>
            </a:endParaRPr>
          </a:p>
          <a:p>
            <a:pPr marL="342900" marR="0" indent="-342900" fontAlgn="base">
              <a:lnSpc>
                <a:spcPct val="100000"/>
              </a:lnSpc>
              <a:spcBef>
                <a:spcPct val="20000"/>
              </a:spcBef>
              <a:spcAft>
                <a:spcPct val="0"/>
              </a:spcAft>
              <a:buClrTx/>
              <a:buSzPct val="80000"/>
            </a:pPr>
            <a:r>
              <a:rPr lang="zh-CN" altLang="en-US" sz="2400" dirty="0">
                <a:sym typeface="+mn-ea"/>
              </a:rPr>
              <a:t>注意地的回路路径，确保回路畅通，</a:t>
            </a:r>
            <a:r>
              <a:rPr lang="en-US" altLang="zh-CN" sz="2400" dirty="0">
                <a:sym typeface="+mn-ea"/>
              </a:rPr>
              <a:t>noise</a:t>
            </a:r>
            <a:r>
              <a:rPr lang="zh-CN" altLang="en-US" sz="2400" dirty="0">
                <a:sym typeface="+mn-ea"/>
              </a:rPr>
              <a:t>能直接导出</a:t>
            </a:r>
            <a:endParaRPr lang="zh-CN" altLang="en-US" sz="2400" noProof="1">
              <a:sym typeface="+mn-ea"/>
            </a:endParaRPr>
          </a:p>
          <a:p>
            <a:pPr marL="342900" marR="0" indent="-342900" fontAlgn="base">
              <a:lnSpc>
                <a:spcPct val="100000"/>
              </a:lnSpc>
              <a:spcBef>
                <a:spcPct val="20000"/>
              </a:spcBef>
              <a:spcAft>
                <a:spcPct val="0"/>
              </a:spcAft>
              <a:buClrTx/>
              <a:buSzPct val="80000"/>
            </a:pPr>
            <a:r>
              <a:rPr lang="zh-CN" altLang="en-US" sz="2400" dirty="0">
                <a:sym typeface="+mn-ea"/>
              </a:rPr>
              <a:t>考虑散热，避免热源扎堆</a:t>
            </a:r>
          </a:p>
          <a:p>
            <a:pPr marL="342900" marR="0" indent="-342900" fontAlgn="base">
              <a:lnSpc>
                <a:spcPct val="100000"/>
              </a:lnSpc>
              <a:spcBef>
                <a:spcPct val="20000"/>
              </a:spcBef>
              <a:spcAft>
                <a:spcPct val="0"/>
              </a:spcAft>
              <a:buClrTx/>
              <a:buSzPct val="80000"/>
            </a:pPr>
            <a:r>
              <a:rPr lang="en-US" altLang="zh-CN" sz="2400" dirty="0"/>
              <a:t>Epad</a:t>
            </a:r>
            <a:r>
              <a:rPr lang="zh-CN" altLang="en-US" sz="2400" dirty="0"/>
              <a:t>封装设计要大于芯片衬底，开窗面积大于</a:t>
            </a:r>
            <a:r>
              <a:rPr lang="en-US" altLang="zh-CN" sz="2400" dirty="0"/>
              <a:t>70%</a:t>
            </a:r>
            <a:r>
              <a:rPr lang="zh-CN" altLang="en-US" sz="2400" dirty="0"/>
              <a:t>，尽量多打</a:t>
            </a:r>
            <a:r>
              <a:rPr lang="en-US" altLang="zh-CN" sz="2400" dirty="0"/>
              <a:t>Via</a:t>
            </a:r>
            <a:endParaRPr lang="zh-CN" alt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0" y="33377"/>
            <a:ext cx="12192000" cy="6818924"/>
          </a:xfrm>
          <a:prstGeom prst="rect">
            <a:avLst/>
          </a:prstGeom>
          <a:solidFill>
            <a:schemeClr val="tx1">
              <a:lumMod val="85000"/>
              <a:lumOff val="15000"/>
              <a:alpha val="4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cxnSp>
        <p:nvCxnSpPr>
          <p:cNvPr id="9" name="直接连接符 8"/>
          <p:cNvCxnSpPr/>
          <p:nvPr/>
        </p:nvCxnSpPr>
        <p:spPr>
          <a:xfrm>
            <a:off x="4022877" y="4709621"/>
            <a:ext cx="3467616" cy="0"/>
          </a:xfrm>
          <a:prstGeom prst="line">
            <a:avLst/>
          </a:prstGeom>
          <a:ln w="19050">
            <a:solidFill>
              <a:schemeClr val="bg1"/>
            </a:solidFill>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11" name="文本框 10"/>
          <p:cNvSpPr txBox="1"/>
          <p:nvPr/>
        </p:nvSpPr>
        <p:spPr>
          <a:xfrm>
            <a:off x="4330654" y="4709621"/>
            <a:ext cx="2749471" cy="531043"/>
          </a:xfrm>
          <a:prstGeom prst="rect">
            <a:avLst/>
          </a:prstGeom>
          <a:noFill/>
          <a:effectLst>
            <a:outerShdw blurRad="50800" dist="38100" dir="5400000" algn="t" rotWithShape="0">
              <a:prstClr val="black">
                <a:alpha val="40000"/>
              </a:prstClr>
            </a:outerShdw>
          </a:effectLst>
        </p:spPr>
        <p:txBody>
          <a:bodyPr wrap="none" rtlCol="0">
            <a:spAutoFit/>
          </a:bodyPr>
          <a:lstStyle/>
          <a:p>
            <a:pPr algn="dist">
              <a:lnSpc>
                <a:spcPts val="3800"/>
              </a:lnSpc>
            </a:pPr>
            <a:r>
              <a:rPr lang="zh-CN" altLang="en-US" sz="2400" b="1" spc="1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欢迎您的宝贵意见</a:t>
            </a:r>
          </a:p>
        </p:txBody>
      </p:sp>
      <p:sp>
        <p:nvSpPr>
          <p:cNvPr id="25" name="文本框 24"/>
          <p:cNvSpPr txBox="1"/>
          <p:nvPr/>
        </p:nvSpPr>
        <p:spPr>
          <a:xfrm>
            <a:off x="4026083" y="4129975"/>
            <a:ext cx="3464410" cy="579646"/>
          </a:xfrm>
          <a:prstGeom prst="rect">
            <a:avLst/>
          </a:prstGeom>
          <a:noFill/>
          <a:effectLst>
            <a:outerShdw blurRad="50800" dist="38100" dir="5400000" algn="t" rotWithShape="0">
              <a:prstClr val="black">
                <a:alpha val="40000"/>
              </a:prstClr>
            </a:outerShdw>
          </a:effectLst>
        </p:spPr>
        <p:txBody>
          <a:bodyPr wrap="square" rtlCol="0">
            <a:spAutoFit/>
          </a:bodyPr>
          <a:lstStyle/>
          <a:p>
            <a:pPr algn="dist">
              <a:lnSpc>
                <a:spcPts val="3800"/>
              </a:lnSpc>
            </a:pPr>
            <a:r>
              <a:rPr lang="zh-CN" altLang="en-US" sz="3200" b="1" spc="10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珠海海奇半导体</a:t>
            </a:r>
          </a:p>
        </p:txBody>
      </p:sp>
      <p:pic>
        <p:nvPicPr>
          <p:cNvPr id="13" name="图片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1493106" y="1343"/>
            <a:ext cx="698894" cy="734869"/>
          </a:xfrm>
          <a:prstGeom prst="rect">
            <a:avLst/>
          </a:prstGeom>
          <a:effectLst>
            <a:outerShdw blurRad="152400" dist="317500" dir="5400000" sx="90000" sy="-19000" rotWithShape="0">
              <a:schemeClr val="bg1">
                <a:lumMod val="95000"/>
                <a:alpha val="15000"/>
              </a:schemeClr>
            </a:outerShdw>
          </a:effectLst>
        </p:spPr>
      </p:pic>
      <p:pic>
        <p:nvPicPr>
          <p:cNvPr id="8" name="Picture 2" descr="F:\公众号\公众号QRcode.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420214" y="5240664"/>
            <a:ext cx="675700" cy="675700"/>
          </a:xfrm>
          <a:prstGeom prst="rect">
            <a:avLst/>
          </a:prstGeom>
          <a:noFill/>
          <a:extLst>
            <a:ext uri="{909E8E84-426E-40DD-AFC4-6F175D3DCCD1}">
              <a14:hiddenFill xmlns:a14="http://schemas.microsoft.com/office/drawing/2010/main">
                <a:solidFill>
                  <a:srgbClr val="FFFFFF"/>
                </a:solidFill>
              </a14:hiddenFill>
            </a:ext>
          </a:extLst>
        </p:spPr>
      </p:pic>
      <p:sp>
        <p:nvSpPr>
          <p:cNvPr id="16" name="文本框 28"/>
          <p:cNvSpPr txBox="1"/>
          <p:nvPr/>
        </p:nvSpPr>
        <p:spPr>
          <a:xfrm>
            <a:off x="1841268" y="1862528"/>
            <a:ext cx="8638746" cy="1017942"/>
          </a:xfrm>
          <a:prstGeom prst="rect">
            <a:avLst/>
          </a:prstGeom>
          <a:noFill/>
          <a:ln w="12700" cap="flat">
            <a:noFill/>
            <a:miter lim="400000"/>
          </a:ln>
          <a:effectLst>
            <a:outerShdw blurRad="50800" dist="38100" dir="5400000" algn="t" rotWithShape="0">
              <a:prstClr val="black">
                <a:alpha val="40000"/>
              </a:prstClr>
            </a:outerShdw>
          </a:effectLst>
        </p:spPr>
        <p:style>
          <a:lnRef idx="0">
            <a:scrgbClr r="0" g="0" b="0"/>
          </a:lnRef>
          <a:fillRef idx="0">
            <a:scrgbClr r="0" g="0" b="0"/>
          </a:fillRef>
          <a:effectRef idx="0">
            <a:scrgbClr r="0" g="0" b="0"/>
          </a:effectRef>
          <a:fontRef idx="none"/>
        </p:style>
        <p:txBody>
          <a:bodyPr rot="0" vertOverflow="overflow" horzOverflow="overflow" vert="horz" wrap="none" lIns="46912" tIns="46912" rIns="46912" bIns="46912" numCol="1" spcCol="38100" rtlCol="0" anchor="t" forceAA="0">
            <a:spAutoFit/>
          </a:bodyPr>
          <a:lstStyle/>
          <a:p>
            <a:pPr defTabSz="938530" hangingPunct="0"/>
            <a:r>
              <a:rPr lang="zh-CN" altLang="en-US" sz="6000" b="1" dirty="0">
                <a:solidFill>
                  <a:srgbClr val="FFC000"/>
                </a:solidFill>
                <a:effectLst>
                  <a:outerShdw blurRad="38100" dist="38100" dir="2700000" algn="tl">
                    <a:srgbClr val="000000">
                      <a:alpha val="43137"/>
                    </a:srgbClr>
                  </a:outerShdw>
                </a:effectLst>
                <a:latin typeface="+mn-ea"/>
                <a:sym typeface="Calibri" panose="020F0502020204030204"/>
              </a:rPr>
              <a:t>海</a:t>
            </a:r>
            <a:r>
              <a:rPr lang="zh-CN" altLang="en-US" sz="4800" b="1" dirty="0">
                <a:solidFill>
                  <a:schemeClr val="bg1"/>
                </a:solidFill>
                <a:effectLst>
                  <a:outerShdw blurRad="38100" dist="38100" dir="2700000" algn="tl">
                    <a:srgbClr val="000000">
                      <a:alpha val="43137"/>
                    </a:srgbClr>
                  </a:outerShdw>
                </a:effectLst>
                <a:latin typeface="+mn-ea"/>
                <a:sym typeface="Calibri" panose="020F0502020204030204"/>
              </a:rPr>
              <a:t>纳天下英才    </a:t>
            </a:r>
            <a:r>
              <a:rPr lang="zh-CN" altLang="en-US" sz="6000" b="1" dirty="0">
                <a:solidFill>
                  <a:srgbClr val="FFC000"/>
                </a:solidFill>
                <a:effectLst>
                  <a:outerShdw blurRad="38100" dist="38100" dir="2700000" algn="tl">
                    <a:srgbClr val="000000">
                      <a:alpha val="43137"/>
                    </a:srgbClr>
                  </a:outerShdw>
                </a:effectLst>
                <a:latin typeface="+mn-ea"/>
                <a:sym typeface="Calibri" panose="020F0502020204030204"/>
              </a:rPr>
              <a:t>奇</a:t>
            </a:r>
            <a:r>
              <a:rPr lang="zh-CN" altLang="en-US" sz="4800" b="1" dirty="0">
                <a:solidFill>
                  <a:schemeClr val="bg1"/>
                </a:solidFill>
                <a:effectLst>
                  <a:outerShdw blurRad="38100" dist="38100" dir="2700000" algn="tl">
                    <a:srgbClr val="000000">
                      <a:alpha val="43137"/>
                    </a:srgbClr>
                  </a:outerShdw>
                </a:effectLst>
                <a:latin typeface="+mn-ea"/>
                <a:sym typeface="Calibri" panose="020F0502020204030204"/>
              </a:rPr>
              <a:t>迹中华芯片</a:t>
            </a: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1">
          <a:schemeClr val="dk1"/>
        </a:lnRef>
        <a:fillRef idx="0">
          <a:schemeClr val="dk1"/>
        </a:fillRef>
        <a:effectRef idx="0">
          <a:schemeClr val="dk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229</TotalTime>
  <Words>1261</Words>
  <Application>Microsoft Office PowerPoint</Application>
  <PresentationFormat>宽屏</PresentationFormat>
  <Paragraphs>145</Paragraphs>
  <Slides>14</Slides>
  <Notes>1</Notes>
  <HiddenSlides>0</HiddenSlides>
  <MMClips>0</MMClips>
  <ScaleCrop>false</ScaleCrop>
  <HeadingPairs>
    <vt:vector size="6" baseType="variant">
      <vt:variant>
        <vt:lpstr>已用的字体</vt:lpstr>
      </vt:variant>
      <vt:variant>
        <vt:i4>7</vt:i4>
      </vt:variant>
      <vt:variant>
        <vt:lpstr>主题</vt:lpstr>
      </vt:variant>
      <vt:variant>
        <vt:i4>4</vt:i4>
      </vt:variant>
      <vt:variant>
        <vt:lpstr>幻灯片标题</vt:lpstr>
      </vt:variant>
      <vt:variant>
        <vt:i4>14</vt:i4>
      </vt:variant>
    </vt:vector>
  </HeadingPairs>
  <TitlesOfParts>
    <vt:vector size="25" baseType="lpstr">
      <vt:lpstr>等线</vt:lpstr>
      <vt:lpstr>等线 Light</vt:lpstr>
      <vt:lpstr>宋体</vt:lpstr>
      <vt:lpstr>微软雅黑</vt:lpstr>
      <vt:lpstr>Arial</vt:lpstr>
      <vt:lpstr>Calibri</vt:lpstr>
      <vt:lpstr>Wingdings</vt:lpstr>
      <vt:lpstr>Office 主题​​</vt:lpstr>
      <vt:lpstr>2_自定义设计方案</vt:lpstr>
      <vt:lpstr>1_自定义设计方案</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张 小凤</dc:creator>
  <cp:lastModifiedBy>terry_lzc@outlook.com</cp:lastModifiedBy>
  <cp:revision>591</cp:revision>
  <dcterms:created xsi:type="dcterms:W3CDTF">2021-04-01T06:50:00Z</dcterms:created>
  <dcterms:modified xsi:type="dcterms:W3CDTF">2023-12-21T01:39:13Z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3C5DC3148F8549328B0E6A6642EA1A89</vt:lpwstr>
  </property>
  <property fmtid="{D5CDD505-2E9C-101B-9397-08002B2CF9AE}" pid="3" name="KSOProductBuildVer">
    <vt:lpwstr>2052-11.1.0.11115</vt:lpwstr>
  </property>
</Properties>
</file>