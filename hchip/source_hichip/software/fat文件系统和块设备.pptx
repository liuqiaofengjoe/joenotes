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6" r:id="rId5"/>
    <p:sldId id="268" r:id="rId6"/>
    <p:sldId id="267" r:id="rId7"/>
    <p:sldId id="269" r:id="rId8"/>
    <p:sldId id="270" r:id="rId9"/>
    <p:sldId id="271" r:id="rId10"/>
    <p:sldId id="263" r:id="rId11"/>
    <p:sldId id="261" r:id="rId12"/>
    <p:sldId id="259" r:id="rId13"/>
    <p:sldId id="264" r:id="rId14"/>
  </p:sldIdLst>
  <p:sldSz cx="9144000" cy="6858000" type="screen4x3"/>
  <p:notesSz cx="6858000" cy="9144000"/>
  <p:custDataLst>
    <p:tags r:id="rId1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-admin" initials="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>
        <p:scale>
          <a:sx n="150" d="100"/>
          <a:sy n="150" d="100"/>
        </p:scale>
        <p:origin x="-504" y="822"/>
      </p:cViewPr>
      <p:guideLst>
        <p:guide orient="horz" pos="2129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fontAlgn="base"/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fontAlgn="base"/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fontAlgn="base"/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fontAlgn="base"/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fontAlgn="base"/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fontAlgn="base"/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fontAlgn="base"/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fontAlgn="base"/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fontAlgn="base"/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fontAlgn="base"/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fontAlgn="base"/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lvl="0" fontAlgn="base"/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标题 307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lstStyle/>
          <a:p>
            <a:pPr defTabSz="914400">
              <a:buClrTx/>
              <a:buSzTx/>
              <a:buFontTx/>
              <a:buNone/>
            </a:pPr>
            <a:r>
              <a:rPr lang="en-US" altLang="zh-CN" sz="4400" kern="1200" baseline="0" dirty="0" smtClean="0">
                <a:latin typeface="+mj-lt"/>
                <a:ea typeface="+mj-ea"/>
                <a:cs typeface="+mj-cs"/>
              </a:rPr>
              <a:t>FAT</a:t>
            </a:r>
            <a:r>
              <a:rPr lang="en-US" altLang="zh-CN" sz="4400" kern="1200" dirty="0" smtClean="0">
                <a:latin typeface="+mj-lt"/>
                <a:ea typeface="+mj-ea"/>
                <a:cs typeface="+mj-cs"/>
              </a:rPr>
              <a:t> </a:t>
            </a:r>
            <a:r>
              <a:rPr lang="zh-CN" altLang="en-US" sz="4400" kern="1200" dirty="0" smtClean="0">
                <a:latin typeface="+mj-lt"/>
                <a:ea typeface="+mj-ea"/>
                <a:cs typeface="+mj-cs"/>
              </a:rPr>
              <a:t>文件系统和块设备</a:t>
            </a:r>
            <a:endParaRPr lang="zh-CN" altLang="en-US" sz="4400" kern="120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2050" name="副标题 307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t" anchorCtr="0"/>
          <a:lstStyle/>
          <a:p>
            <a:pPr defTabSz="914400">
              <a:buClrTx/>
              <a:buSzTx/>
              <a:buFontTx/>
            </a:pPr>
            <a:endParaRPr lang="zh-CN" sz="3200" kern="1200" baseline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标题 1"/>
          <p:cNvSpPr>
            <a:spLocks noGrp="1"/>
          </p:cNvSpPr>
          <p:nvPr>
            <p:ph type="title"/>
          </p:nvPr>
        </p:nvSpPr>
        <p:spPr>
          <a:xfrm>
            <a:off x="611188" y="260350"/>
            <a:ext cx="7813675" cy="889000"/>
          </a:xfrm>
        </p:spPr>
        <p:txBody>
          <a:bodyPr anchor="b" anchorCtr="0"/>
          <a:lstStyle/>
          <a:p>
            <a:pPr defTabSz="914400">
              <a:buNone/>
            </a:pPr>
            <a:r>
              <a:rPr lang="en-US" altLang="zh-CN" dirty="0" smtClean="0"/>
              <a:t>FAT </a:t>
            </a:r>
            <a:r>
              <a:rPr lang="zh-CN" altLang="en-US" dirty="0" smtClean="0"/>
              <a:t>文件系统和块设备之</a:t>
            </a:r>
            <a:r>
              <a:rPr lang="en-US" altLang="zh-CN" dirty="0" smtClean="0"/>
              <a:t>HCRTOS </a:t>
            </a:r>
            <a:r>
              <a:rPr lang="zh-CN" altLang="en-US" dirty="0" smtClean="0"/>
              <a:t>系统框架</a:t>
            </a:r>
            <a:endParaRPr lang="zh-CN" altLang="en-US" kern="120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3075" name="文本占位符 4"/>
          <p:cNvSpPr>
            <a:spLocks noGrp="1"/>
          </p:cNvSpPr>
          <p:nvPr>
            <p:ph type="body" sz="half" idx="2"/>
          </p:nvPr>
        </p:nvSpPr>
        <p:spPr>
          <a:xfrm>
            <a:off x="630238" y="1643050"/>
            <a:ext cx="7656538" cy="4225938"/>
          </a:xfrm>
        </p:spPr>
        <p:txBody>
          <a:bodyPr anchor="t" anchorCtr="0"/>
          <a:lstStyle/>
          <a:p>
            <a:pPr defTabSz="914400">
              <a:buClrTx/>
              <a:buSzTx/>
              <a:buFontTx/>
            </a:pPr>
            <a:endParaRPr lang="zh-CN" altLang="en-US" kern="1200" baseline="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500174"/>
            <a:ext cx="8382000" cy="4676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标题 4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zh-CN" sz="4200" dirty="0" smtClean="0"/>
              <a:t>FAT</a:t>
            </a:r>
            <a:r>
              <a:rPr lang="zh-CN" altLang="en-US" sz="4200" dirty="0" smtClean="0"/>
              <a:t>文件系统之</a:t>
            </a:r>
            <a:r>
              <a:rPr lang="en-US" altLang="zh-CN" sz="4200" dirty="0" smtClean="0"/>
              <a:t>HCRTOS</a:t>
            </a:r>
            <a:r>
              <a:rPr lang="zh-CN" altLang="en-US" sz="4200" dirty="0" smtClean="0"/>
              <a:t>调用</a:t>
            </a:r>
            <a:endParaRPr lang="en-US" altLang="zh-CN" sz="4200" dirty="0"/>
          </a:p>
        </p:txBody>
      </p:sp>
      <p:sp>
        <p:nvSpPr>
          <p:cNvPr id="4098" name="内容占位符 5"/>
          <p:cNvSpPr>
            <a:spLocks noGrp="1"/>
          </p:cNvSpPr>
          <p:nvPr>
            <p:ph sz="half" idx="1"/>
          </p:nvPr>
        </p:nvSpPr>
        <p:spPr>
          <a:xfrm>
            <a:off x="457201" y="1357298"/>
            <a:ext cx="4972056" cy="4769182"/>
          </a:xfrm>
        </p:spPr>
        <p:txBody>
          <a:bodyPr anchor="t" anchorCtr="0"/>
          <a:lstStyle/>
          <a:p>
            <a:pPr lvl="8"/>
            <a:endParaRPr lang="zh-CN" altLang="en-US" sz="4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86446" y="1428736"/>
            <a:ext cx="25003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注册</a:t>
            </a:r>
            <a:r>
              <a:rPr lang="en-US" altLang="zh-CN" dirty="0" smtClean="0"/>
              <a:t>ops </a:t>
            </a:r>
            <a:r>
              <a:rPr lang="zh-CN" altLang="en-US" dirty="0" smtClean="0"/>
              <a:t>操作接口函数</a:t>
            </a:r>
            <a:endParaRPr lang="en-US" altLang="zh-CN" dirty="0" smtClean="0"/>
          </a:p>
          <a:p>
            <a:r>
              <a:rPr lang="en-US" altLang="zh-CN" dirty="0" err="1" smtClean="0"/>
              <a:t>register_driver</a:t>
            </a:r>
            <a:r>
              <a:rPr lang="en-US" altLang="zh-CN" dirty="0" smtClean="0"/>
              <a:t> </a:t>
            </a:r>
          </a:p>
          <a:p>
            <a:r>
              <a:rPr lang="en-US" altLang="zh-CN" dirty="0" err="1" smtClean="0"/>
              <a:t>register_blockdriver</a:t>
            </a:r>
            <a:r>
              <a:rPr lang="en-US" altLang="zh-CN" dirty="0" smtClean="0"/>
              <a:t> </a:t>
            </a:r>
            <a:r>
              <a:rPr lang="zh-CN" altLang="en-US" dirty="0" smtClean="0"/>
              <a:t>设置设备为</a:t>
            </a:r>
            <a:r>
              <a:rPr lang="en-US" altLang="zh-CN" dirty="0" smtClean="0"/>
              <a:t>block </a:t>
            </a:r>
            <a:r>
              <a:rPr lang="zh-CN" altLang="en-US" dirty="0" smtClean="0"/>
              <a:t>设备</a:t>
            </a:r>
            <a:endParaRPr lang="en-US" altLang="zh-CN" dirty="0" smtClean="0"/>
          </a:p>
          <a:p>
            <a:r>
              <a:rPr lang="en-US" altLang="zh-CN" dirty="0" smtClean="0"/>
              <a:t>Mount </a:t>
            </a:r>
            <a:r>
              <a:rPr lang="zh-CN" altLang="en-US" dirty="0" smtClean="0"/>
              <a:t>操作时会设置</a:t>
            </a:r>
            <a:r>
              <a:rPr lang="en-US" altLang="zh-CN" dirty="0" smtClean="0"/>
              <a:t>mount flag</a:t>
            </a:r>
            <a:endParaRPr lang="zh-CN" alt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357298"/>
            <a:ext cx="4929222" cy="364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Fat</a:t>
            </a:r>
            <a:r>
              <a:rPr lang="zh-CN" altLang="en-US" dirty="0" smtClean="0"/>
              <a:t>文件系统文件结构解析</a:t>
            </a:r>
            <a:endParaRPr lang="zh-CN" alt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1631976"/>
            <a:ext cx="7286676" cy="2368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000100" y="3857629"/>
            <a:ext cx="70009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扇区：一般是</a:t>
            </a:r>
            <a:r>
              <a:rPr lang="en-US" altLang="zh-CN" sz="1400" dirty="0" smtClean="0"/>
              <a:t>512</a:t>
            </a:r>
            <a:r>
              <a:rPr lang="zh-CN" altLang="en-US" sz="1400" dirty="0" smtClean="0"/>
              <a:t>字节，采用小端格式存储</a:t>
            </a:r>
            <a:endParaRPr lang="en-US" altLang="zh-CN" sz="1400" dirty="0" smtClean="0"/>
          </a:p>
          <a:p>
            <a:r>
              <a:rPr lang="zh-CN" altLang="en-US" sz="1400" dirty="0" smtClean="0"/>
              <a:t>簇</a:t>
            </a:r>
            <a:r>
              <a:rPr lang="zh-CN" altLang="en-US" sz="1400" dirty="0" smtClean="0"/>
              <a:t>：</a:t>
            </a:r>
            <a:r>
              <a:rPr lang="en-US" altLang="zh-CN" sz="1400" dirty="0" smtClean="0"/>
              <a:t>N</a:t>
            </a:r>
            <a:r>
              <a:rPr lang="zh-CN" altLang="en-US" sz="1400" dirty="0" smtClean="0"/>
              <a:t>个</a:t>
            </a:r>
            <a:r>
              <a:rPr lang="zh-CN" altLang="en-US" sz="1400" dirty="0" smtClean="0"/>
              <a:t>扇区</a:t>
            </a:r>
            <a:r>
              <a:rPr lang="zh-CN" altLang="en-US" sz="1400" dirty="0" smtClean="0"/>
              <a:t>，</a:t>
            </a:r>
            <a:r>
              <a:rPr lang="zh-CN" altLang="en-US" sz="1400" dirty="0" smtClean="0"/>
              <a:t>一般为</a:t>
            </a:r>
            <a:r>
              <a:rPr lang="en-US" altLang="zh-CN" sz="1400" dirty="0" smtClean="0"/>
              <a:t>4</a:t>
            </a:r>
            <a:r>
              <a:rPr lang="zh-CN" altLang="en-US" sz="1400" dirty="0" smtClean="0"/>
              <a:t>或者</a:t>
            </a:r>
            <a:r>
              <a:rPr lang="en-US" altLang="zh-CN" sz="1400" dirty="0" smtClean="0"/>
              <a:t>8</a:t>
            </a:r>
            <a:endParaRPr lang="en-US" altLang="zh-CN" sz="1400" dirty="0" smtClean="0"/>
          </a:p>
          <a:p>
            <a:r>
              <a:rPr lang="zh-CN" altLang="en-US" sz="1400" dirty="0" smtClean="0"/>
              <a:t>物理</a:t>
            </a:r>
            <a:r>
              <a:rPr lang="zh-CN" altLang="en-US" sz="1400" dirty="0" smtClean="0"/>
              <a:t>扇区和逻辑分区：线性关系</a:t>
            </a:r>
            <a:endParaRPr lang="en-US" altLang="zh-CN" sz="1400" dirty="0" smtClean="0"/>
          </a:p>
          <a:p>
            <a:r>
              <a:rPr lang="en-US" altLang="zh-CN" sz="1400" dirty="0" smtClean="0"/>
              <a:t>FAT1</a:t>
            </a:r>
            <a:r>
              <a:rPr lang="zh-CN" altLang="en-US" sz="1400" dirty="0" smtClean="0"/>
              <a:t>起始扇区 </a:t>
            </a:r>
            <a:r>
              <a:rPr lang="en-US" altLang="zh-CN" sz="1400" dirty="0" smtClean="0"/>
              <a:t>=  DBR</a:t>
            </a:r>
            <a:r>
              <a:rPr lang="zh-CN" altLang="en-US" sz="1400" dirty="0" smtClean="0"/>
              <a:t>的扇区号 </a:t>
            </a:r>
            <a:r>
              <a:rPr lang="en-US" altLang="zh-CN" sz="1400" dirty="0" smtClean="0"/>
              <a:t>+ </a:t>
            </a:r>
            <a:r>
              <a:rPr lang="zh-CN" altLang="en-US" sz="1400" dirty="0" smtClean="0"/>
              <a:t>保留扇区数</a:t>
            </a:r>
            <a:endParaRPr lang="en-US" altLang="zh-CN" sz="1400" dirty="0" smtClean="0"/>
          </a:p>
          <a:p>
            <a:r>
              <a:rPr lang="en-US" altLang="zh-CN" sz="1400" dirty="0" smtClean="0"/>
              <a:t>FAT2</a:t>
            </a:r>
            <a:r>
              <a:rPr lang="zh-CN" altLang="en-US" sz="1400" dirty="0" smtClean="0"/>
              <a:t>的起始扇区 </a:t>
            </a:r>
            <a:r>
              <a:rPr lang="en-US" altLang="zh-CN" sz="1400" dirty="0" smtClean="0"/>
              <a:t>= FAT1</a:t>
            </a:r>
            <a:r>
              <a:rPr lang="zh-CN" altLang="en-US" sz="1400" dirty="0" smtClean="0"/>
              <a:t>的起始扇区 </a:t>
            </a:r>
            <a:r>
              <a:rPr lang="en-US" altLang="zh-CN" sz="1400" dirty="0" smtClean="0"/>
              <a:t>+ </a:t>
            </a:r>
            <a:r>
              <a:rPr lang="zh-CN" altLang="en-US" sz="1400" dirty="0" smtClean="0"/>
              <a:t>一个</a:t>
            </a:r>
            <a:r>
              <a:rPr lang="en-US" altLang="zh-CN" sz="1400" dirty="0" smtClean="0"/>
              <a:t>FAT</a:t>
            </a:r>
            <a:r>
              <a:rPr lang="zh-CN" altLang="en-US" sz="1400" dirty="0" smtClean="0"/>
              <a:t>的扇区数</a:t>
            </a:r>
            <a:endParaRPr lang="en-US" altLang="zh-CN" sz="1400" dirty="0" smtClean="0"/>
          </a:p>
          <a:p>
            <a:r>
              <a:rPr lang="zh-CN" altLang="en-US" sz="1400" dirty="0" smtClean="0"/>
              <a:t>根目录起始扇区 </a:t>
            </a:r>
            <a:r>
              <a:rPr lang="en-US" altLang="zh-CN" sz="1400" dirty="0" smtClean="0"/>
              <a:t>= </a:t>
            </a:r>
            <a:r>
              <a:rPr lang="zh-CN" altLang="en-US" sz="1400" dirty="0" smtClean="0"/>
              <a:t>保留扇区数 </a:t>
            </a:r>
            <a:r>
              <a:rPr lang="en-US" altLang="zh-CN" sz="1400" dirty="0" smtClean="0"/>
              <a:t>+   DBR</a:t>
            </a:r>
            <a:r>
              <a:rPr lang="zh-CN" altLang="en-US" sz="1400" dirty="0" smtClean="0"/>
              <a:t>的扇区号 </a:t>
            </a:r>
            <a:r>
              <a:rPr lang="en-US" altLang="zh-CN" sz="1400" dirty="0" smtClean="0"/>
              <a:t>+ </a:t>
            </a:r>
            <a:r>
              <a:rPr lang="zh-CN" altLang="en-US" sz="1400" dirty="0" smtClean="0"/>
              <a:t>一个</a:t>
            </a:r>
            <a:r>
              <a:rPr lang="en-US" altLang="zh-CN" sz="1400" dirty="0" smtClean="0"/>
              <a:t>FAT</a:t>
            </a:r>
            <a:r>
              <a:rPr lang="zh-CN" altLang="en-US" sz="1400" dirty="0" smtClean="0"/>
              <a:t>的扇区数 </a:t>
            </a:r>
            <a:r>
              <a:rPr lang="en-US" altLang="zh-CN" sz="1400" dirty="0" smtClean="0"/>
              <a:t>× FAT</a:t>
            </a:r>
            <a:r>
              <a:rPr lang="zh-CN" altLang="en-US" sz="1400" dirty="0" smtClean="0"/>
              <a:t>表个数 </a:t>
            </a:r>
            <a:r>
              <a:rPr lang="en-US" altLang="zh-CN" sz="1400" dirty="0" smtClean="0"/>
              <a:t>+ (</a:t>
            </a:r>
            <a:r>
              <a:rPr lang="zh-CN" altLang="en-US" sz="1400" dirty="0" smtClean="0"/>
              <a:t>起始簇号</a:t>
            </a:r>
            <a:r>
              <a:rPr lang="en-US" altLang="zh-CN" sz="1400" dirty="0" smtClean="0"/>
              <a:t>-2) x </a:t>
            </a:r>
            <a:r>
              <a:rPr lang="zh-CN" altLang="en-US" sz="1400" dirty="0" smtClean="0"/>
              <a:t>每簇的扇区数</a:t>
            </a:r>
            <a:endParaRPr lang="en-US" altLang="zh-CN" sz="1400" dirty="0" smtClean="0"/>
          </a:p>
          <a:p>
            <a:r>
              <a:rPr lang="zh-CN" altLang="en-US" sz="1400" dirty="0" smtClean="0"/>
              <a:t>文件地址 </a:t>
            </a:r>
            <a:r>
              <a:rPr lang="en-US" altLang="zh-CN" sz="1400" dirty="0" smtClean="0"/>
              <a:t>= </a:t>
            </a:r>
            <a:r>
              <a:rPr lang="zh-CN" altLang="en-US" sz="1400" dirty="0" smtClean="0"/>
              <a:t>根目录开始地址 </a:t>
            </a:r>
            <a:r>
              <a:rPr lang="en-US" altLang="zh-CN" sz="1400" dirty="0" smtClean="0"/>
              <a:t>+ ((</a:t>
            </a:r>
            <a:r>
              <a:rPr lang="zh-CN" altLang="en-US" sz="1400" dirty="0" smtClean="0"/>
              <a:t>起始簇号 </a:t>
            </a:r>
            <a:r>
              <a:rPr lang="en-US" altLang="zh-CN" sz="1400" dirty="0" smtClean="0"/>
              <a:t>- </a:t>
            </a:r>
            <a:r>
              <a:rPr lang="zh-CN" altLang="en-US" sz="1400" dirty="0" smtClean="0"/>
              <a:t>根目录簇号</a:t>
            </a:r>
            <a:r>
              <a:rPr lang="en-US" altLang="zh-CN" sz="1400" dirty="0" smtClean="0"/>
              <a:t>(Root Cluster Number)) * </a:t>
            </a:r>
            <a:r>
              <a:rPr lang="zh-CN" altLang="en-US" sz="1400" dirty="0" smtClean="0"/>
              <a:t>每簇扇区数</a:t>
            </a:r>
            <a:r>
              <a:rPr lang="en-US" altLang="zh-CN" sz="1400" dirty="0" smtClean="0"/>
              <a:t>(Sectors Per Cluster) * </a:t>
            </a:r>
            <a:r>
              <a:rPr lang="zh-CN" altLang="en-US" sz="1400" dirty="0" smtClean="0"/>
              <a:t>扇区字节数</a:t>
            </a:r>
            <a:r>
              <a:rPr lang="en-US" altLang="zh-CN" sz="1400" dirty="0" smtClean="0"/>
              <a:t>(Bytes Per Sector))</a:t>
            </a:r>
            <a:endParaRPr lang="zh-CN" altLang="en-US" sz="1400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DBP</a:t>
            </a:r>
            <a:r>
              <a:rPr lang="zh-CN" altLang="en-US" dirty="0" smtClean="0"/>
              <a:t>扇区内容</a:t>
            </a: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500174"/>
            <a:ext cx="8358246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86" y="1785926"/>
            <a:ext cx="5715040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DBP</a:t>
            </a:r>
            <a:r>
              <a:rPr lang="zh-CN" altLang="en-US" dirty="0" smtClean="0"/>
              <a:t>扇区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altLang="zh-CN" sz="1400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634740"/>
            <a:ext cx="6953272" cy="4424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FAT</a:t>
            </a:r>
            <a:r>
              <a:rPr lang="zh-CN" altLang="en-US" dirty="0" smtClean="0"/>
              <a:t>表项格式</a:t>
            </a:r>
            <a:endParaRPr lang="zh-CN" altLang="en-US" dirty="0"/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71612"/>
            <a:ext cx="4257676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857752" y="1500174"/>
            <a:ext cx="4032250" cy="20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Root</a:t>
            </a:r>
            <a:r>
              <a:rPr lang="zh-CN" altLang="en-US" dirty="0" smtClean="0"/>
              <a:t>分区内容</a:t>
            </a:r>
            <a:endParaRPr lang="zh-CN" alt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70730" y="1600200"/>
            <a:ext cx="3215517" cy="36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000628" y="1592042"/>
            <a:ext cx="3334095" cy="3551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5984" y="5143512"/>
            <a:ext cx="4032250" cy="1058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 smtClean="0"/>
              <a:t>块设备挂载流程</a:t>
            </a:r>
            <a:endParaRPr lang="zh-CN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93160" y="1600200"/>
            <a:ext cx="7557679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zh-CN" dirty="0" smtClean="0"/>
              <a:t>FAT</a:t>
            </a:r>
            <a:r>
              <a:rPr lang="zh-CN" altLang="en-US" dirty="0" smtClean="0"/>
              <a:t>文件系统调用</a:t>
            </a:r>
            <a:r>
              <a:rPr lang="en-US" altLang="zh-CN" dirty="0" err="1" smtClean="0"/>
              <a:t>api</a:t>
            </a:r>
            <a:endParaRPr lang="en-US" altLang="zh-CN" dirty="0"/>
          </a:p>
        </p:txBody>
      </p:sp>
      <p:sp>
        <p:nvSpPr>
          <p:cNvPr id="3" name="TextBox 2"/>
          <p:cNvSpPr txBox="1"/>
          <p:nvPr/>
        </p:nvSpPr>
        <p:spPr>
          <a:xfrm>
            <a:off x="428596" y="1285860"/>
            <a:ext cx="7358114" cy="51398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上层调用文件系统两</a:t>
            </a:r>
            <a:r>
              <a:rPr lang="zh-CN" altLang="en-US" dirty="0" smtClean="0"/>
              <a:t>套接口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r>
              <a:rPr lang="zh-CN" altLang="en-US" dirty="0" smtClean="0"/>
              <a:t>第一</a:t>
            </a:r>
            <a:r>
              <a:rPr lang="zh-CN" altLang="en-US" dirty="0" smtClean="0"/>
              <a:t>套：位于</a:t>
            </a:r>
            <a:r>
              <a:rPr lang="en-US" altLang="zh-CN" dirty="0" smtClean="0"/>
              <a:t>components\kernel\source\</a:t>
            </a:r>
            <a:r>
              <a:rPr lang="en-US" altLang="zh-CN" dirty="0" err="1" smtClean="0"/>
              <a:t>third_party</a:t>
            </a:r>
            <a:r>
              <a:rPr lang="en-US" altLang="zh-CN" dirty="0" smtClean="0"/>
              <a:t>\</a:t>
            </a:r>
            <a:r>
              <a:rPr lang="en-US" altLang="zh-CN" dirty="0" err="1" smtClean="0"/>
              <a:t>nuttx</a:t>
            </a:r>
            <a:r>
              <a:rPr lang="en-US" altLang="zh-CN" dirty="0" smtClean="0"/>
              <a:t>\</a:t>
            </a:r>
            <a:r>
              <a:rPr lang="en-US" altLang="zh-CN" dirty="0" err="1" smtClean="0"/>
              <a:t>fs</a:t>
            </a:r>
            <a:r>
              <a:rPr lang="en-US" altLang="zh-CN" dirty="0" smtClean="0"/>
              <a:t>\</a:t>
            </a:r>
            <a:r>
              <a:rPr lang="en-US" altLang="zh-CN" dirty="0" err="1" smtClean="0"/>
              <a:t>vfs</a:t>
            </a:r>
            <a:endParaRPr lang="en-US" altLang="zh-CN" dirty="0" smtClean="0"/>
          </a:p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open(FAR const char *path,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oflags</a:t>
            </a:r>
            <a:r>
              <a:rPr lang="en-US" altLang="zh-CN" dirty="0" smtClean="0"/>
              <a:t>, </a:t>
            </a:r>
            <a:r>
              <a:rPr lang="en-US" altLang="zh-CN" dirty="0" smtClean="0"/>
              <a:t>...)</a:t>
            </a:r>
          </a:p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write(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fd</a:t>
            </a:r>
            <a:r>
              <a:rPr lang="en-US" altLang="zh-CN" dirty="0" smtClean="0"/>
              <a:t>, const void *</a:t>
            </a:r>
            <a:r>
              <a:rPr lang="en-US" altLang="zh-CN" dirty="0" err="1" smtClean="0"/>
              <a:t>buf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size_t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nbytes</a:t>
            </a:r>
            <a:r>
              <a:rPr lang="en-US" altLang="zh-CN" dirty="0" smtClean="0"/>
              <a:t>)</a:t>
            </a:r>
          </a:p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unlink(FAR const char *pathname</a:t>
            </a:r>
            <a:r>
              <a:rPr lang="en-US" altLang="zh-CN" dirty="0" smtClean="0"/>
              <a:t>)</a:t>
            </a:r>
          </a:p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statfs</a:t>
            </a:r>
            <a:r>
              <a:rPr lang="en-US" altLang="zh-CN" dirty="0" smtClean="0"/>
              <a:t>(FAR const char *path, FAR </a:t>
            </a:r>
            <a:r>
              <a:rPr lang="en-US" altLang="zh-CN" dirty="0" err="1" smtClean="0"/>
              <a:t>struct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statfs</a:t>
            </a:r>
            <a:r>
              <a:rPr lang="en-US" altLang="zh-CN" dirty="0" smtClean="0"/>
              <a:t> *</a:t>
            </a:r>
            <a:r>
              <a:rPr lang="en-US" altLang="zh-CN" dirty="0" err="1" smtClean="0"/>
              <a:t>buf</a:t>
            </a:r>
            <a:r>
              <a:rPr lang="en-US" altLang="zh-CN" dirty="0" smtClean="0"/>
              <a:t>)</a:t>
            </a:r>
          </a:p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stat(FAR const char *path, FAR </a:t>
            </a:r>
            <a:r>
              <a:rPr lang="en-US" altLang="zh-CN" dirty="0" err="1" smtClean="0"/>
              <a:t>struct</a:t>
            </a:r>
            <a:r>
              <a:rPr lang="en-US" altLang="zh-CN" dirty="0" smtClean="0"/>
              <a:t> stat *</a:t>
            </a:r>
            <a:r>
              <a:rPr lang="en-US" altLang="zh-CN" dirty="0" err="1" smtClean="0"/>
              <a:t>buf</a:t>
            </a:r>
            <a:r>
              <a:rPr lang="en-US" altLang="zh-CN" dirty="0" smtClean="0"/>
              <a:t>)</a:t>
            </a:r>
          </a:p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read(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fd</a:t>
            </a:r>
            <a:r>
              <a:rPr lang="en-US" altLang="zh-CN" dirty="0" smtClean="0"/>
              <a:t>, void *</a:t>
            </a:r>
            <a:r>
              <a:rPr lang="en-US" altLang="zh-CN" dirty="0" err="1" smtClean="0"/>
              <a:t>buf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size_t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nbytes</a:t>
            </a:r>
            <a:r>
              <a:rPr lang="en-US" altLang="zh-CN" dirty="0" smtClean="0"/>
              <a:t>)</a:t>
            </a:r>
          </a:p>
          <a:p>
            <a:r>
              <a:rPr lang="fr-FR" altLang="zh-CN" dirty="0" smtClean="0"/>
              <a:t>int mkdir(const char *pathname, mode_t mode</a:t>
            </a:r>
            <a:r>
              <a:rPr lang="fr-FR" altLang="zh-CN" dirty="0" smtClean="0"/>
              <a:t>)</a:t>
            </a:r>
          </a:p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close(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fd</a:t>
            </a:r>
            <a:r>
              <a:rPr lang="en-US" altLang="zh-CN" dirty="0" smtClean="0"/>
              <a:t>)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第二套：</a:t>
            </a:r>
            <a:r>
              <a:rPr lang="en-US" altLang="zh-CN" dirty="0" err="1" smtClean="0"/>
              <a:t>new_lib</a:t>
            </a:r>
            <a:r>
              <a:rPr lang="en-US" altLang="zh-CN" dirty="0" smtClean="0"/>
              <a:t> </a:t>
            </a:r>
            <a:r>
              <a:rPr lang="zh-CN" altLang="en-US" dirty="0" smtClean="0"/>
              <a:t>目录下</a:t>
            </a:r>
            <a:endParaRPr lang="en-US" altLang="zh-CN" dirty="0" smtClean="0"/>
          </a:p>
          <a:p>
            <a:r>
              <a:rPr lang="en-US" altLang="zh-CN" sz="1600" dirty="0" smtClean="0"/>
              <a:t>FILE *	</a:t>
            </a:r>
            <a:r>
              <a:rPr lang="en-US" altLang="zh-CN" sz="1600" dirty="0" err="1" smtClean="0"/>
              <a:t>fopen</a:t>
            </a:r>
            <a:r>
              <a:rPr lang="en-US" altLang="zh-CN" sz="1600" dirty="0" smtClean="0"/>
              <a:t> (const char *__restrict _name, const char *__restrict _type</a:t>
            </a:r>
            <a:r>
              <a:rPr lang="en-US" altLang="zh-CN" sz="1600" dirty="0" smtClean="0"/>
              <a:t>)</a:t>
            </a:r>
          </a:p>
          <a:p>
            <a:r>
              <a:rPr lang="en-US" altLang="zh-CN" sz="1600" dirty="0" err="1" smtClean="0"/>
              <a:t>size_t</a:t>
            </a:r>
            <a:r>
              <a:rPr lang="en-US" altLang="zh-CN" sz="1600" dirty="0" smtClean="0"/>
              <a:t>	</a:t>
            </a:r>
            <a:r>
              <a:rPr lang="en-US" altLang="zh-CN" sz="1600" dirty="0" err="1" smtClean="0"/>
              <a:t>fread</a:t>
            </a:r>
            <a:r>
              <a:rPr lang="en-US" altLang="zh-CN" sz="1600" dirty="0" smtClean="0"/>
              <a:t> (void *__restrict, </a:t>
            </a:r>
            <a:r>
              <a:rPr lang="en-US" altLang="zh-CN" sz="1600" dirty="0" err="1" smtClean="0"/>
              <a:t>size_t</a:t>
            </a:r>
            <a:r>
              <a:rPr lang="en-US" altLang="zh-CN" sz="1600" dirty="0" smtClean="0"/>
              <a:t> _size, </a:t>
            </a:r>
            <a:r>
              <a:rPr lang="en-US" altLang="zh-CN" sz="1600" dirty="0" err="1" smtClean="0"/>
              <a:t>size_t</a:t>
            </a:r>
            <a:r>
              <a:rPr lang="en-US" altLang="zh-CN" sz="1600" dirty="0" smtClean="0"/>
              <a:t> _n, FILE *__restrict);</a:t>
            </a:r>
          </a:p>
          <a:p>
            <a:r>
              <a:rPr lang="en-US" altLang="zh-CN" sz="1600" dirty="0" err="1" smtClean="0"/>
              <a:t>size_t</a:t>
            </a:r>
            <a:r>
              <a:rPr lang="en-US" altLang="zh-CN" sz="1600" dirty="0" smtClean="0"/>
              <a:t>	</a:t>
            </a:r>
            <a:r>
              <a:rPr lang="en-US" altLang="zh-CN" sz="1600" dirty="0" err="1" smtClean="0"/>
              <a:t>fwrite</a:t>
            </a:r>
            <a:r>
              <a:rPr lang="en-US" altLang="zh-CN" sz="1600" dirty="0" smtClean="0"/>
              <a:t> (const void *__restrict , </a:t>
            </a:r>
            <a:r>
              <a:rPr lang="en-US" altLang="zh-CN" sz="1600" dirty="0" err="1" smtClean="0"/>
              <a:t>size_t</a:t>
            </a:r>
            <a:r>
              <a:rPr lang="en-US" altLang="zh-CN" sz="1600" dirty="0" smtClean="0"/>
              <a:t> _size, </a:t>
            </a:r>
            <a:r>
              <a:rPr lang="en-US" altLang="zh-CN" sz="1600" dirty="0" err="1" smtClean="0"/>
              <a:t>size_t</a:t>
            </a:r>
            <a:r>
              <a:rPr lang="en-US" altLang="zh-CN" sz="1600" dirty="0" smtClean="0"/>
              <a:t> _n, FILE </a:t>
            </a:r>
            <a:r>
              <a:rPr lang="en-US" altLang="zh-CN" sz="1600" dirty="0" smtClean="0"/>
              <a:t>*);</a:t>
            </a:r>
          </a:p>
          <a:p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	</a:t>
            </a:r>
            <a:r>
              <a:rPr lang="en-US" altLang="zh-CN" sz="1600" dirty="0" err="1" smtClean="0"/>
              <a:t>fclose</a:t>
            </a:r>
            <a:r>
              <a:rPr lang="en-US" altLang="zh-CN" sz="1600" dirty="0" smtClean="0"/>
              <a:t> (FILE *);</a:t>
            </a:r>
          </a:p>
          <a:p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	</a:t>
            </a:r>
            <a:r>
              <a:rPr lang="en-US" altLang="zh-CN" sz="1600" dirty="0" err="1" smtClean="0"/>
              <a:t>fflush</a:t>
            </a:r>
            <a:r>
              <a:rPr lang="en-US" altLang="zh-CN" sz="1600" dirty="0" smtClean="0"/>
              <a:t> (FILE </a:t>
            </a:r>
            <a:r>
              <a:rPr lang="en-US" altLang="zh-CN" sz="1600" dirty="0" smtClean="0"/>
              <a:t>*);</a:t>
            </a:r>
          </a:p>
          <a:p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	</a:t>
            </a:r>
            <a:r>
              <a:rPr lang="en-US" altLang="zh-CN" sz="1600" dirty="0" err="1" smtClean="0"/>
              <a:t>feof</a:t>
            </a:r>
            <a:r>
              <a:rPr lang="en-US" altLang="zh-CN" sz="1600" dirty="0" smtClean="0"/>
              <a:t> (FILE *);</a:t>
            </a:r>
          </a:p>
          <a:p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	</a:t>
            </a:r>
            <a:r>
              <a:rPr lang="en-US" altLang="zh-CN" sz="1600" dirty="0" err="1" smtClean="0"/>
              <a:t>ferror</a:t>
            </a:r>
            <a:r>
              <a:rPr lang="en-US" altLang="zh-CN" sz="1600" dirty="0" smtClean="0"/>
              <a:t> (FILE </a:t>
            </a:r>
            <a:r>
              <a:rPr lang="en-US" altLang="zh-CN" sz="1600" dirty="0" smtClean="0"/>
              <a:t>*);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zh-CN" dirty="0" smtClean="0"/>
              <a:t>Fat</a:t>
            </a:r>
            <a:r>
              <a:rPr lang="zh-CN" altLang="en-US" dirty="0" smtClean="0"/>
              <a:t>文件系统相关</a:t>
            </a:r>
            <a:r>
              <a:rPr lang="en-US" altLang="zh-CN" dirty="0" smtClean="0"/>
              <a:t>source 1</a:t>
            </a:r>
            <a:endParaRPr lang="zh-CN" altLang="en-US" dirty="0"/>
          </a:p>
        </p:txBody>
      </p:sp>
      <p:sp>
        <p:nvSpPr>
          <p:cNvPr id="6146" name="内容占位符 2"/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r>
              <a:rPr lang="en-US" altLang="zh-CN" sz="1200" dirty="0" err="1" smtClean="0"/>
              <a:t>fs_registerblockdriver.c</a:t>
            </a:r>
            <a:endParaRPr lang="en-US" altLang="zh-CN" sz="1200" dirty="0" smtClean="0"/>
          </a:p>
          <a:p>
            <a:r>
              <a:rPr lang="en-US" altLang="zh-CN" sz="1200" dirty="0" smtClean="0"/>
              <a:t>components\kernel\source\</a:t>
            </a:r>
            <a:r>
              <a:rPr lang="en-US" altLang="zh-CN" sz="1200" dirty="0" err="1" smtClean="0"/>
              <a:t>third_party</a:t>
            </a:r>
            <a:r>
              <a:rPr lang="en-US" altLang="zh-CN" sz="1200" dirty="0" smtClean="0"/>
              <a:t>\</a:t>
            </a:r>
            <a:r>
              <a:rPr lang="en-US" altLang="zh-CN" sz="1200" dirty="0" err="1" smtClean="0"/>
              <a:t>nuttx</a:t>
            </a:r>
            <a:r>
              <a:rPr lang="en-US" altLang="zh-CN" sz="1200" dirty="0" smtClean="0"/>
              <a:t>\</a:t>
            </a:r>
            <a:r>
              <a:rPr lang="en-US" altLang="zh-CN" sz="1200" dirty="0" err="1" smtClean="0"/>
              <a:t>fs</a:t>
            </a:r>
            <a:r>
              <a:rPr lang="en-US" altLang="zh-CN" sz="1200" dirty="0" smtClean="0"/>
              <a:t>\</a:t>
            </a:r>
            <a:r>
              <a:rPr lang="en-US" altLang="zh-CN" sz="1200" dirty="0" err="1" smtClean="0"/>
              <a:t>vfs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vfs</a:t>
            </a:r>
            <a:r>
              <a:rPr lang="en-US" altLang="zh-CN" sz="1200" dirty="0" smtClean="0"/>
              <a:t> </a:t>
            </a:r>
            <a:r>
              <a:rPr lang="zh-CN" altLang="en-US" sz="1200" dirty="0" smtClean="0"/>
              <a:t>接口相关</a:t>
            </a:r>
            <a:r>
              <a:rPr lang="en-US" altLang="zh-CN" sz="1200" dirty="0" smtClean="0"/>
              <a:t>code</a:t>
            </a:r>
          </a:p>
          <a:p>
            <a:r>
              <a:rPr lang="en-US" altLang="zh-CN" sz="1200" dirty="0" smtClean="0"/>
              <a:t>components\kernel\source\</a:t>
            </a:r>
            <a:r>
              <a:rPr lang="en-US" altLang="zh-CN" sz="1200" dirty="0" err="1" smtClean="0"/>
              <a:t>third_party</a:t>
            </a:r>
            <a:r>
              <a:rPr lang="en-US" altLang="zh-CN" sz="1200" dirty="0" smtClean="0"/>
              <a:t>\</a:t>
            </a:r>
            <a:r>
              <a:rPr lang="en-US" altLang="zh-CN" sz="1200" dirty="0" err="1" smtClean="0"/>
              <a:t>nuttx</a:t>
            </a:r>
            <a:r>
              <a:rPr lang="en-US" altLang="zh-CN" sz="1200" dirty="0" smtClean="0"/>
              <a:t>\</a:t>
            </a:r>
            <a:r>
              <a:rPr lang="en-US" altLang="zh-CN" sz="1200" dirty="0" err="1" smtClean="0"/>
              <a:t>fs</a:t>
            </a:r>
            <a:r>
              <a:rPr lang="en-US" altLang="zh-CN" sz="1200" dirty="0" smtClean="0"/>
              <a:t>\partition </a:t>
            </a:r>
            <a:r>
              <a:rPr lang="zh-CN" altLang="en-US" sz="1200" dirty="0" smtClean="0"/>
              <a:t>解析分区</a:t>
            </a:r>
            <a:endParaRPr lang="en-US" altLang="zh-CN" sz="1200" dirty="0" smtClean="0"/>
          </a:p>
          <a:p>
            <a:r>
              <a:rPr lang="en-US" altLang="zh-CN" sz="1200" dirty="0" smtClean="0"/>
              <a:t>Fat</a:t>
            </a:r>
            <a:r>
              <a:rPr lang="zh-CN" altLang="en-US" sz="1200" dirty="0" smtClean="0"/>
              <a:t>相关</a:t>
            </a:r>
            <a:r>
              <a:rPr lang="en-US" altLang="zh-CN" sz="1200" dirty="0" smtClean="0"/>
              <a:t>source code </a:t>
            </a:r>
            <a:r>
              <a:rPr lang="zh-CN" altLang="en-US" sz="1200" dirty="0" smtClean="0"/>
              <a:t>位于</a:t>
            </a:r>
            <a:r>
              <a:rPr lang="en-US" altLang="zh-CN" sz="1200" dirty="0" smtClean="0"/>
              <a:t>components\kernel\source\</a:t>
            </a:r>
            <a:r>
              <a:rPr lang="en-US" altLang="zh-CN" sz="1200" dirty="0" err="1" smtClean="0"/>
              <a:t>third_party</a:t>
            </a:r>
            <a:r>
              <a:rPr lang="en-US" altLang="zh-CN" sz="1200" dirty="0" smtClean="0"/>
              <a:t>\</a:t>
            </a:r>
            <a:r>
              <a:rPr lang="en-US" altLang="zh-CN" sz="1200" dirty="0" err="1" smtClean="0"/>
              <a:t>FatFs</a:t>
            </a:r>
            <a:r>
              <a:rPr lang="en-US" altLang="zh-CN" sz="1200" dirty="0" smtClean="0"/>
              <a:t>\source</a:t>
            </a:r>
          </a:p>
          <a:p>
            <a:endParaRPr lang="zh-CN" altLang="en-US" sz="1400" dirty="0"/>
          </a:p>
        </p:txBody>
      </p:sp>
      <p:pic>
        <p:nvPicPr>
          <p:cNvPr id="5" name="图片 4" descr="b61364167c197a419256e6aa5b60e5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8" y="2571744"/>
            <a:ext cx="4857784" cy="3071834"/>
          </a:xfrm>
          <a:prstGeom prst="rect">
            <a:avLst/>
          </a:prstGeom>
        </p:spPr>
      </p:pic>
      <p:pic>
        <p:nvPicPr>
          <p:cNvPr id="7" name="图片 6" descr="f03fa5de98d3b94d933a0e7d9eb351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8" y="2571745"/>
            <a:ext cx="2786082" cy="30003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4205" y="1000108"/>
            <a:ext cx="7886700" cy="788687"/>
          </a:xfrm>
        </p:spPr>
        <p:txBody>
          <a:bodyPr/>
          <a:lstStyle/>
          <a:p>
            <a:r>
              <a:rPr lang="en-US" altLang="zh-CN" dirty="0" smtClean="0"/>
              <a:t>Fat</a:t>
            </a:r>
            <a:r>
              <a:rPr lang="zh-CN" altLang="en-US" dirty="0" smtClean="0"/>
              <a:t>文件系统相关</a:t>
            </a:r>
            <a:r>
              <a:rPr lang="en-US" altLang="zh-CN" dirty="0" smtClean="0"/>
              <a:t>source 1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4205" y="2071678"/>
            <a:ext cx="7886700" cy="4017972"/>
          </a:xfrm>
        </p:spPr>
        <p:txBody>
          <a:bodyPr/>
          <a:lstStyle/>
          <a:p>
            <a:r>
              <a:rPr lang="en-US" altLang="zh-CN" dirty="0" err="1" smtClean="0"/>
              <a:t>diskio.c</a:t>
            </a:r>
            <a:r>
              <a:rPr lang="en-US" altLang="zh-CN" dirty="0" smtClean="0"/>
              <a:t>  fat</a:t>
            </a:r>
            <a:r>
              <a:rPr lang="zh-CN" altLang="en-US" dirty="0" smtClean="0"/>
              <a:t>文件系统和底层对接的函数</a:t>
            </a:r>
            <a:r>
              <a:rPr lang="en-US" altLang="zh-CN" dirty="0" smtClean="0"/>
              <a:t>components\kernel\source\</a:t>
            </a:r>
            <a:r>
              <a:rPr lang="en-US" altLang="zh-CN" dirty="0" err="1" smtClean="0"/>
              <a:t>third_party</a:t>
            </a:r>
            <a:r>
              <a:rPr lang="en-US" altLang="zh-CN" dirty="0" smtClean="0"/>
              <a:t>\</a:t>
            </a:r>
            <a:r>
              <a:rPr lang="en-US" altLang="zh-CN" dirty="0" err="1" smtClean="0"/>
              <a:t>nuttx</a:t>
            </a:r>
            <a:r>
              <a:rPr lang="en-US" altLang="zh-CN" dirty="0" smtClean="0"/>
              <a:t>\drivers\bch</a:t>
            </a:r>
          </a:p>
          <a:p>
            <a:endParaRPr lang="en-US" altLang="zh-CN" dirty="0" smtClean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714620"/>
            <a:ext cx="501015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49fa0ffb-c24e-486c-9fa4-867454998f6c"/>
  <p:tag name="COMMONDATA" val="eyJoZGlkIjoiNDI1MzMzYTI5NjljMjU5OGJlNDlmMzAxZDg5YzU3MTc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230</Words>
  <Application>WPS 演示</Application>
  <PresentationFormat>全屏显示(4:3)</PresentationFormat>
  <Paragraphs>49</Paragraphs>
  <Slides>13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默认设计模板</vt:lpstr>
      <vt:lpstr>FAT 文件系统和块设备</vt:lpstr>
      <vt:lpstr>FAT 文件系统和块设备之HCRTOS 系统框架</vt:lpstr>
      <vt:lpstr>FAT文件系统之HCRTOS调用</vt:lpstr>
      <vt:lpstr>Fat文件系统文件结构解析</vt:lpstr>
      <vt:lpstr>DBP扇区内容</vt:lpstr>
      <vt:lpstr>幻灯片 6</vt:lpstr>
      <vt:lpstr>DBP扇区</vt:lpstr>
      <vt:lpstr>FAT表项格式</vt:lpstr>
      <vt:lpstr>Root分区内容</vt:lpstr>
      <vt:lpstr>块设备挂载流程</vt:lpstr>
      <vt:lpstr>FAT文件系统调用api</vt:lpstr>
      <vt:lpstr>Fat文件系统相关source 1</vt:lpstr>
      <vt:lpstr>Fat文件系统相关source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wifi cfg80211 mac80211 nl80211之流程</dc:title>
  <dc:creator>PC-admin</dc:creator>
  <cp:lastModifiedBy>PC-admin</cp:lastModifiedBy>
  <cp:revision>136</cp:revision>
  <dcterms:created xsi:type="dcterms:W3CDTF">2022-09-27T06:28:00Z</dcterms:created>
  <dcterms:modified xsi:type="dcterms:W3CDTF">2023-07-29T08:33:29Z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FC50C35CDBFB4230A373E2D44F21109F</vt:lpwstr>
  </property>
</Properties>
</file>