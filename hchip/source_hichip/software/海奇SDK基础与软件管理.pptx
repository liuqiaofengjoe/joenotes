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28"/>
  </p:notesMasterIdLst>
  <p:handoutMasterIdLst>
    <p:handoutMasterId r:id="rId29"/>
  </p:handoutMasterIdLst>
  <p:sldIdLst>
    <p:sldId id="257" r:id="rId3"/>
    <p:sldId id="273" r:id="rId4"/>
    <p:sldId id="331" r:id="rId5"/>
    <p:sldId id="308" r:id="rId6"/>
    <p:sldId id="307" r:id="rId7"/>
    <p:sldId id="309" r:id="rId8"/>
    <p:sldId id="311" r:id="rId9"/>
    <p:sldId id="332" r:id="rId10"/>
    <p:sldId id="310" r:id="rId11"/>
    <p:sldId id="312" r:id="rId12"/>
    <p:sldId id="313" r:id="rId13"/>
    <p:sldId id="314" r:id="rId14"/>
    <p:sldId id="315" r:id="rId15"/>
    <p:sldId id="316" r:id="rId16"/>
    <p:sldId id="324" r:id="rId17"/>
    <p:sldId id="320" r:id="rId18"/>
    <p:sldId id="321" r:id="rId19"/>
    <p:sldId id="322" r:id="rId20"/>
    <p:sldId id="325" r:id="rId21"/>
    <p:sldId id="326" r:id="rId22"/>
    <p:sldId id="317" r:id="rId23"/>
    <p:sldId id="327" r:id="rId24"/>
    <p:sldId id="329" r:id="rId25"/>
    <p:sldId id="333" r:id="rId26"/>
    <p:sldId id="334" r:id="rId27"/>
  </p:sldIdLst>
  <p:sldSz cx="9144000" cy="6858000" type="screen4x3"/>
  <p:notesSz cx="6645275" cy="97774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/>
    <p:restoredTop sz="94712"/>
  </p:normalViewPr>
  <p:slideViewPr>
    <p:cSldViewPr showGuides="1">
      <p:cViewPr varScale="1">
        <p:scale>
          <a:sx n="109" d="100"/>
          <a:sy n="109" d="100"/>
        </p:scale>
        <p:origin x="1884" y="78"/>
      </p:cViewPr>
      <p:guideLst>
        <p:guide orient="horz" pos="23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0076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2023/7/5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0507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zh-CN" altLang="en-US" sz="4800" dirty="0"/>
              <a:t>海奇</a:t>
            </a:r>
            <a:r>
              <a:rPr lang="en-US" altLang="zh-CN" sz="4800" dirty="0"/>
              <a:t>SDK</a:t>
            </a:r>
            <a:r>
              <a:rPr lang="zh-CN" altLang="en-US" sz="4800" dirty="0"/>
              <a:t>基础与软件管理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 smtClean="0"/>
              <a:t>				       	</a:t>
            </a:r>
          </a:p>
          <a:p>
            <a:pPr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		</a:t>
            </a:r>
          </a:p>
          <a:p>
            <a:pPr eaLnBrk="1" hangingPunct="1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		javen</a:t>
            </a:r>
            <a:endParaRPr lang="en-US" altLang="zh-CN" dirty="0"/>
          </a:p>
          <a:p>
            <a:pPr algn="ctr" eaLnBrk="1" hangingPunct="1">
              <a:buNone/>
            </a:pPr>
            <a:r>
              <a:rPr lang="en-US" altLang="zh-CN" dirty="0" smtClean="0"/>
              <a:t> 2023-7-5</a:t>
            </a: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  <a:pPr lvl="0" algn="r">
                <a:buSzTx/>
                <a:buFontTx/>
              </a:pPr>
              <a:t>1</a:t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2977097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2456122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407261" y="3573016"/>
            <a:ext cx="1745991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8"/>
          </a:xfrm>
        </p:spPr>
        <p:txBody>
          <a:bodyPr/>
          <a:lstStyle/>
          <a:p>
            <a:r>
              <a:rPr lang="zh-CN" altLang="en-US" dirty="0" smtClean="0"/>
              <a:t>操作系统介绍</a:t>
            </a:r>
            <a:endParaRPr lang="en-US" altLang="zh-CN" dirty="0" smtClean="0"/>
          </a:p>
          <a:p>
            <a:r>
              <a:rPr lang="en-US" altLang="zh-CN" dirty="0" err="1" smtClean="0"/>
              <a:t>Hcrtos</a:t>
            </a:r>
            <a:r>
              <a:rPr lang="zh-CN" altLang="en-US" dirty="0" smtClean="0"/>
              <a:t>架构</a:t>
            </a:r>
            <a:endParaRPr lang="en-US" altLang="zh-CN" dirty="0" smtClean="0"/>
          </a:p>
          <a:p>
            <a:r>
              <a:rPr lang="en-US" altLang="zh-CN" dirty="0" err="1" smtClean="0"/>
              <a:t>Hclinux</a:t>
            </a:r>
            <a:r>
              <a:rPr lang="zh-CN" altLang="en-US" dirty="0" smtClean="0"/>
              <a:t>架构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76" y="1843088"/>
            <a:ext cx="83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 solution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81476" y="3631883"/>
            <a:ext cx="830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altLang="zh-CN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 solution</a:t>
            </a: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271963" y="1981588"/>
            <a:ext cx="0" cy="3583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33424" y="1843087"/>
            <a:ext cx="4431064" cy="404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方案系统启动均采用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hcboot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Hcboot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开发平台进行开发，经过深度裁减后用于启动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系统固件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支持开机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show logo (jpeg/mpeg2 format)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支持开机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show a/v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动画 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(mpeg2 format)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可根据需要使用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软件平台中的其他功能组件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hcRTOS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FreeRTOS v10.4.4 </a:t>
            </a:r>
            <a:r>
              <a:rPr lang="zh-CN" altLang="en-US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内核开发</a:t>
            </a:r>
            <a:endParaRPr lang="en-US" altLang="zh-CN" sz="1400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Posix Compatible API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hcLinux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Linux kernel v4.4.186</a:t>
            </a:r>
          </a:p>
          <a:p>
            <a:pPr marL="557213" lvl="1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Buildroot based build engine</a:t>
            </a:r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971637"/>
              </p:ext>
            </p:extLst>
          </p:nvPr>
        </p:nvGraphicFramePr>
        <p:xfrm>
          <a:off x="985838" y="2397086"/>
          <a:ext cx="2904789" cy="835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Visio" r:id="rId3" imgW="2554815" imgH="736623" progId="Visio.Drawing.11">
                  <p:embed/>
                </p:oleObj>
              </mc:Choice>
              <mc:Fallback>
                <p:oleObj name="Visio" r:id="rId3" imgW="2554815" imgH="736623" progId="Visio.Drawing.11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2397086"/>
                        <a:ext cx="2904789" cy="835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11414" y="4145682"/>
            <a:ext cx="2590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9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hcRTOS Software Stack</a:t>
            </a:r>
            <a:endParaRPr lang="zh-CN" altLang="en-US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917871"/>
              </p:ext>
            </p:extLst>
          </p:nvPr>
        </p:nvGraphicFramePr>
        <p:xfrm>
          <a:off x="179512" y="1628800"/>
          <a:ext cx="8702402" cy="44207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Visio" r:id="rId3" imgW="8343976" imgH="4238489" progId="">
                  <p:embed/>
                </p:oleObj>
              </mc:Choice>
              <mc:Fallback>
                <p:oleObj name="Visio" r:id="rId3" imgW="8343976" imgH="4238489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628800"/>
                        <a:ext cx="8702402" cy="44207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489786"/>
              </p:ext>
            </p:extLst>
          </p:nvPr>
        </p:nvGraphicFramePr>
        <p:xfrm>
          <a:off x="8100392" y="846138"/>
          <a:ext cx="8858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Visio" r:id="rId5" imgW="885959" imgH="495368" progId="">
                  <p:embed/>
                </p:oleObj>
              </mc:Choice>
              <mc:Fallback>
                <p:oleObj name="Visio" r:id="rId5" imgW="885959" imgH="495368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846138"/>
                        <a:ext cx="8858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23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hcLinux Software Stack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022505"/>
              </p:ext>
            </p:extLst>
          </p:nvPr>
        </p:nvGraphicFramePr>
        <p:xfrm>
          <a:off x="107504" y="1556792"/>
          <a:ext cx="9010884" cy="4514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Visio" r:id="rId3" imgW="9525051" imgH="4772127" progId="">
                  <p:embed/>
                </p:oleObj>
              </mc:Choice>
              <mc:Fallback>
                <p:oleObj name="Visio" r:id="rId3" imgW="9525051" imgH="4772127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556792"/>
                        <a:ext cx="9010884" cy="45144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544875"/>
              </p:ext>
            </p:extLst>
          </p:nvPr>
        </p:nvGraphicFramePr>
        <p:xfrm>
          <a:off x="8028384" y="1556792"/>
          <a:ext cx="800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Visio" r:id="rId5" imgW="800024" imgH="647836" progId="">
                  <p:embed/>
                </p:oleObj>
              </mc:Choice>
              <mc:Fallback>
                <p:oleObj name="Visio" r:id="rId5" imgW="800024" imgH="647836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84" y="1556792"/>
                        <a:ext cx="80010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022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2977097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2456122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  <a:endParaRPr lang="zh-CN" altLang="en-US" sz="2400" b="1" dirty="0">
              <a:solidFill>
                <a:srgbClr val="FF0000"/>
              </a:solidFill>
              <a:latin typeface="Verdana" pitchFamily="34" charset="0"/>
              <a:cs typeface="Verdana" pitchFamily="34" charset="0"/>
            </a:endParaRPr>
          </a:p>
        </p:txBody>
      </p:sp>
      <p:sp>
        <p:nvSpPr>
          <p:cNvPr id="8" name="文本框 12"/>
          <p:cNvSpPr txBox="1"/>
          <p:nvPr/>
        </p:nvSpPr>
        <p:spPr>
          <a:xfrm>
            <a:off x="4407261" y="3573016"/>
            <a:ext cx="1745991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4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4114800" cy="2764904"/>
          </a:xfrm>
        </p:spPr>
        <p:txBody>
          <a:bodyPr/>
          <a:lstStyle/>
          <a:p>
            <a:r>
              <a:rPr lang="en-US" altLang="zh-CN" dirty="0" err="1" smtClean="0"/>
              <a:t>Hcrtos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sdk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r>
              <a:rPr lang="en-US" altLang="zh-CN" dirty="0" err="1" smtClean="0"/>
              <a:t>Hclinux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sdk</a:t>
            </a:r>
            <a:r>
              <a:rPr lang="zh-CN" altLang="en-US" dirty="0" smtClean="0"/>
              <a:t>介绍</a:t>
            </a:r>
            <a:endParaRPr lang="en-US" altLang="zh-CN" dirty="0" smtClean="0"/>
          </a:p>
          <a:p>
            <a:r>
              <a:rPr lang="en-US" altLang="zh-CN" dirty="0" err="1" smtClean="0"/>
              <a:t>Sdk</a:t>
            </a:r>
            <a:r>
              <a:rPr lang="zh-CN" altLang="en-US" dirty="0" smtClean="0"/>
              <a:t>编译</a:t>
            </a:r>
            <a:endParaRPr lang="en-US" altLang="zh-CN" dirty="0" smtClean="0"/>
          </a:p>
          <a:p>
            <a:r>
              <a:rPr lang="zh-CN" altLang="en-US" dirty="0" smtClean="0"/>
              <a:t>固件打包和升级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Sdk</a:t>
            </a:r>
            <a:r>
              <a:rPr lang="zh-CN" altLang="en-US" dirty="0" smtClean="0"/>
              <a:t>平台介绍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hcrtos</a:t>
            </a:r>
            <a:r>
              <a:rPr lang="zh-CN" altLang="en-US" dirty="0"/>
              <a:t>平台介绍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5576" y="15599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988840"/>
            <a:ext cx="8378080" cy="37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6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板级配置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43608" y="1484784"/>
            <a:ext cx="2849415" cy="453997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16016" y="1772816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板级配置的作用：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内存分配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en-US" altLang="zh-CN" dirty="0"/>
              <a:t>Pin</a:t>
            </a:r>
            <a:r>
              <a:rPr lang="zh-CN" altLang="en-US" dirty="0"/>
              <a:t>脚定义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模块硬件开关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9024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  <a:r>
              <a:rPr lang="zh-CN" altLang="en-US" dirty="0" smtClean="0"/>
              <a:t>方案配置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796136" y="1772816"/>
            <a:ext cx="27363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方案</a:t>
            </a:r>
            <a:r>
              <a:rPr lang="zh-CN" altLang="en-US" dirty="0" smtClean="0"/>
              <a:t>配置的作用：</a:t>
            </a:r>
            <a:endParaRPr lang="en-US" altLang="zh-CN" dirty="0" smtClean="0"/>
          </a:p>
          <a:p>
            <a:r>
              <a:rPr lang="en-US" altLang="zh-CN" dirty="0" smtClean="0"/>
              <a:t>1. </a:t>
            </a:r>
            <a:r>
              <a:rPr lang="zh-CN" altLang="en-US" dirty="0" smtClean="0"/>
              <a:t>方案选择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系统配置</a:t>
            </a:r>
            <a:endParaRPr lang="en-US" altLang="zh-CN" dirty="0" smtClean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板级方案</a:t>
            </a:r>
            <a:r>
              <a:rPr lang="en-US" altLang="zh-CN" dirty="0" smtClean="0"/>
              <a:t>Dts</a:t>
            </a:r>
            <a:r>
              <a:rPr lang="zh-CN" altLang="en-US" dirty="0" smtClean="0"/>
              <a:t>选择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固件编译和打包规则</a:t>
            </a:r>
            <a:endParaRPr lang="en-US" altLang="zh-CN" dirty="0"/>
          </a:p>
          <a:p>
            <a:r>
              <a:rPr lang="en-US" altLang="zh-CN" dirty="0" smtClean="0"/>
              <a:t>5. </a:t>
            </a:r>
            <a:r>
              <a:rPr lang="zh-CN" altLang="en-US" dirty="0" smtClean="0"/>
              <a:t>宏开关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/>
          <a:srcRect r="3603"/>
          <a:stretch/>
        </p:blipFill>
        <p:spPr>
          <a:xfrm>
            <a:off x="1331640" y="1556792"/>
            <a:ext cx="4176464" cy="442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平台介绍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5576" y="15599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目录结构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29267"/>
            <a:ext cx="8895962" cy="479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15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/>
              <a:t>板</a:t>
            </a:r>
            <a:r>
              <a:rPr lang="zh-CN" altLang="en-US" dirty="0" smtClean="0"/>
              <a:t>级配置目录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83968" y="1429769"/>
            <a:ext cx="4143375" cy="4610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7102" y="1844824"/>
            <a:ext cx="38671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16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Hclinux</a:t>
            </a:r>
            <a:r>
              <a:rPr lang="zh-CN" altLang="en-US" dirty="0" smtClean="0"/>
              <a:t>方案配置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/>
          <a:srcRect b="6895"/>
          <a:stretch/>
        </p:blipFill>
        <p:spPr>
          <a:xfrm>
            <a:off x="2267744" y="1484784"/>
            <a:ext cx="4143375" cy="453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68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Hcrtos</a:t>
            </a:r>
          </a:p>
          <a:p>
            <a:pPr marL="0" indent="0">
              <a:buNone/>
            </a:pPr>
            <a:r>
              <a:rPr lang="en-US" altLang="zh-CN" sz="1800" dirty="0" smtClean="0"/>
              <a:t>#make </a:t>
            </a:r>
            <a:r>
              <a:rPr lang="en-US" altLang="zh-CN" sz="1800" dirty="0"/>
              <a:t>O=output-bl hichip_hc15xx_db_a210_hcscreen_bl_defconfig</a:t>
            </a:r>
          </a:p>
          <a:p>
            <a:pPr marL="0" indent="0">
              <a:buNone/>
            </a:pPr>
            <a:r>
              <a:rPr lang="en-US" altLang="zh-CN" sz="1800" dirty="0" smtClean="0"/>
              <a:t>#make </a:t>
            </a:r>
            <a:r>
              <a:rPr lang="en-US" altLang="zh-CN" sz="1800" dirty="0"/>
              <a:t>O=output-bl all</a:t>
            </a:r>
          </a:p>
          <a:p>
            <a:pPr marL="0" indent="0">
              <a:buNone/>
            </a:pPr>
            <a:r>
              <a:rPr lang="en-US" altLang="zh-CN" sz="1800" dirty="0" smtClean="0"/>
              <a:t>#make </a:t>
            </a:r>
            <a:r>
              <a:rPr lang="en-US" altLang="zh-CN" sz="1800" dirty="0"/>
              <a:t>hichip_hc15xx_db_a210_hcscreen_defconfig</a:t>
            </a:r>
          </a:p>
          <a:p>
            <a:pPr marL="0" indent="0">
              <a:buNone/>
            </a:pPr>
            <a:r>
              <a:rPr lang="en-US" altLang="zh-CN" sz="1800" dirty="0" smtClean="0"/>
              <a:t>#make </a:t>
            </a:r>
            <a:r>
              <a:rPr lang="en-US" altLang="zh-CN" sz="1800" dirty="0"/>
              <a:t>all</a:t>
            </a:r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Hclinux</a:t>
            </a:r>
          </a:p>
          <a:p>
            <a:pPr marL="0" indent="0">
              <a:buNone/>
            </a:pPr>
            <a:r>
              <a:rPr lang="en-US" altLang="zh-CN" sz="2000" dirty="0" smtClean="0"/>
              <a:t>#make </a:t>
            </a:r>
            <a:r>
              <a:rPr lang="en-US" altLang="zh-CN" sz="2000" dirty="0"/>
              <a:t>O=output/a3100_v10 BR2_EXTERNAL=$PWD/../ hichip_hc16xx_db_a3100_v10_defconfig</a:t>
            </a:r>
          </a:p>
          <a:p>
            <a:pPr marL="0" indent="0">
              <a:buNone/>
            </a:pPr>
            <a:r>
              <a:rPr lang="en-US" altLang="zh-CN" sz="2000" dirty="0" smtClean="0"/>
              <a:t>#make </a:t>
            </a:r>
            <a:r>
              <a:rPr lang="en-US" altLang="zh-CN" sz="2000" dirty="0"/>
              <a:t>O=output/a3100_v10 all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SDK</a:t>
            </a:r>
            <a:r>
              <a:rPr lang="zh-CN" altLang="en-US" dirty="0" smtClean="0"/>
              <a:t>编</a:t>
            </a:r>
            <a:r>
              <a:rPr lang="zh-CN" altLang="en-US" dirty="0" smtClean="0"/>
              <a:t>译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固件烧写和升级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403648" y="1628800"/>
            <a:ext cx="7848872" cy="4274989"/>
          </a:xfrm>
        </p:spPr>
        <p:txBody>
          <a:bodyPr>
            <a:normAutofit/>
          </a:bodyPr>
          <a:lstStyle/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WindowsGDB (use with Hichip ICE)</a:t>
            </a:r>
          </a:p>
          <a:p>
            <a:pPr lvl="1"/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hcRTOS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和内核调试工具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Norflash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烧录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HCProgram.exe 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空片烧录（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uart/usb)</a:t>
            </a: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PQ Tool.exe</a:t>
            </a: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hcFOTA-Gen.exe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升级包打包工具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hcFOTA-unpack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升级包拆包（可用于拆包后修改固件的部分组成部分，如配置文件）</a:t>
            </a:r>
            <a:endParaRPr lang="en-US" altLang="zh-CN" sz="18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hcFOTA-pack</a:t>
            </a: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升级包重新打包（可用于将拆包并修改部分文件之后，重新打包）</a:t>
            </a:r>
            <a:endParaRPr lang="zh-CN" alt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4656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+mn-ea"/>
                <a:cs typeface="Verdana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2977097" cy="572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</a:t>
            </a: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海奇操作系统介绍</a:t>
            </a:r>
            <a:endParaRPr lang="zh-CN" altLang="en-US" sz="2400" b="1" dirty="0" smtClean="0">
              <a:solidFill>
                <a:srgbClr val="FF0000"/>
              </a:solidFill>
              <a:latin typeface="Verdana" pitchFamily="34" charset="0"/>
              <a:ea typeface="+mn-ea"/>
              <a:cs typeface="Verdana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2456122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sdk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平台介绍</a:t>
            </a:r>
          </a:p>
        </p:txBody>
      </p:sp>
      <p:sp>
        <p:nvSpPr>
          <p:cNvPr id="8" name="文本框 12"/>
          <p:cNvSpPr txBox="1"/>
          <p:nvPr/>
        </p:nvSpPr>
        <p:spPr>
          <a:xfrm>
            <a:off x="4407261" y="3573016"/>
            <a:ext cx="1745991" cy="523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代码管理</a:t>
            </a:r>
          </a:p>
        </p:txBody>
      </p:sp>
    </p:spTree>
    <p:extLst>
      <p:ext uri="{BB962C8B-B14F-4D97-AF65-F5344CB8AC3E}">
        <p14:creationId xmlns:p14="http://schemas.microsoft.com/office/powerpoint/2010/main" val="157381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7"/>
          </a:xfrm>
        </p:spPr>
        <p:txBody>
          <a:bodyPr/>
          <a:lstStyle/>
          <a:p>
            <a:r>
              <a:rPr lang="zh-CN" altLang="en-US" dirty="0" smtClean="0"/>
              <a:t>分支管理</a:t>
            </a:r>
            <a:endParaRPr lang="en-US" altLang="zh-CN" dirty="0" smtClean="0"/>
          </a:p>
          <a:p>
            <a:r>
              <a:rPr lang="zh-CN" altLang="en-US" dirty="0" smtClean="0"/>
              <a:t>代</a:t>
            </a:r>
            <a:r>
              <a:rPr lang="zh-CN" altLang="en-US" dirty="0" smtClean="0"/>
              <a:t>码下载和上传</a:t>
            </a:r>
            <a:endParaRPr lang="en-US" altLang="zh-CN" dirty="0" smtClean="0"/>
          </a:p>
          <a:p>
            <a:r>
              <a:rPr lang="zh-CN" altLang="en-US" dirty="0" smtClean="0"/>
              <a:t>补丁的生成和使用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代码管理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789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分支管理</a:t>
            </a:r>
            <a:endParaRPr lang="zh-CN" altLang="en-US" dirty="0"/>
          </a:p>
        </p:txBody>
      </p:sp>
      <p:pic>
        <p:nvPicPr>
          <p:cNvPr id="7" name="图片 6" descr="无标题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844824"/>
            <a:ext cx="9144000" cy="38545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1772817"/>
            <a:ext cx="8229600" cy="3312368"/>
          </a:xfrm>
        </p:spPr>
        <p:txBody>
          <a:bodyPr/>
          <a:lstStyle/>
          <a:p>
            <a:pPr marL="457200" indent="-457200">
              <a:buNone/>
            </a:pPr>
            <a:r>
              <a:rPr lang="en-US" altLang="zh-CN" sz="2400" b="1" dirty="0" smtClean="0"/>
              <a:t>1. Master</a:t>
            </a:r>
            <a:r>
              <a:rPr lang="zh-CN" altLang="en-US" sz="2400" b="1" dirty="0" smtClean="0"/>
              <a:t>分支与</a:t>
            </a:r>
            <a:r>
              <a:rPr lang="en-US" altLang="zh-CN" sz="2400" b="1" dirty="0" smtClean="0"/>
              <a:t>release</a:t>
            </a:r>
            <a:r>
              <a:rPr lang="zh-CN" altLang="en-US" sz="2400" b="1" dirty="0" smtClean="0"/>
              <a:t>分支的关系？</a:t>
            </a:r>
            <a:endParaRPr lang="en-US" altLang="zh-CN" sz="2400" b="1" dirty="0" smtClean="0"/>
          </a:p>
          <a:p>
            <a:pPr marL="457200" indent="-457200">
              <a:buNone/>
            </a:pPr>
            <a:r>
              <a:rPr lang="en-US" altLang="zh-CN" sz="1800" dirty="0" smtClean="0"/>
              <a:t>(1). Release</a:t>
            </a:r>
            <a:r>
              <a:rPr lang="zh-CN" altLang="en-US" sz="1800" dirty="0" smtClean="0"/>
              <a:t>是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的子集，</a:t>
            </a:r>
            <a:r>
              <a:rPr lang="en-US" altLang="zh-CN" sz="1800" dirty="0" smtClean="0"/>
              <a:t> Release</a:t>
            </a:r>
            <a:r>
              <a:rPr lang="zh-CN" altLang="en-US" sz="1800" dirty="0" smtClean="0"/>
              <a:t>产生代码必须上传到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分支。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分支解决的重大问题，必须同步到</a:t>
            </a:r>
            <a:r>
              <a:rPr lang="en-US" altLang="zh-CN" sz="1800" dirty="0" smtClean="0"/>
              <a:t>Release</a:t>
            </a:r>
            <a:r>
              <a:rPr lang="zh-CN" altLang="en-US" sz="1800" dirty="0" smtClean="0"/>
              <a:t>分支。</a:t>
            </a:r>
            <a:endParaRPr lang="en-US" altLang="zh-CN" sz="1800" dirty="0" smtClean="0"/>
          </a:p>
          <a:p>
            <a:pPr marL="457200" indent="-457200">
              <a:buNone/>
            </a:pPr>
            <a:r>
              <a:rPr lang="en-US" altLang="zh-CN" sz="1800" dirty="0" smtClean="0"/>
              <a:t>(2). Release</a:t>
            </a:r>
            <a:r>
              <a:rPr lang="zh-CN" altLang="en-US" sz="1800" dirty="0" smtClean="0"/>
              <a:t>永远是稳定的，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允许不稳定。</a:t>
            </a:r>
            <a:endParaRPr lang="en-US" altLang="zh-CN" sz="1800" dirty="0" smtClean="0"/>
          </a:p>
          <a:p>
            <a:pPr marL="457200" indent="-457200">
              <a:buNone/>
            </a:pPr>
            <a:endParaRPr lang="en-US" altLang="zh-CN" sz="2000" dirty="0" smtClean="0"/>
          </a:p>
          <a:p>
            <a:pPr marL="457200" indent="-457200">
              <a:buNone/>
            </a:pPr>
            <a:r>
              <a:rPr lang="en-US" altLang="zh-CN" sz="2400" b="1" dirty="0" smtClean="0"/>
              <a:t>2. </a:t>
            </a:r>
            <a:r>
              <a:rPr lang="zh-CN" altLang="en-US" sz="2400" b="1" dirty="0" smtClean="0"/>
              <a:t>重要补丁的管理路径？</a:t>
            </a:r>
            <a:endParaRPr lang="en-US" altLang="zh-CN" sz="2400" b="1" dirty="0" smtClean="0"/>
          </a:p>
          <a:p>
            <a:pPr marL="457200" indent="-457200">
              <a:buNone/>
            </a:pPr>
            <a:r>
              <a:rPr lang="zh-CN" altLang="en-US" sz="1800" dirty="0" smtClean="0">
                <a:latin typeface="+mn-ea"/>
              </a:rPr>
              <a:t>研发人员：重要补丁</a:t>
            </a:r>
            <a:r>
              <a:rPr lang="en-US" altLang="zh-CN" sz="1800" dirty="0" smtClean="0">
                <a:latin typeface="+mn-ea"/>
              </a:rPr>
              <a:t>-&gt;</a:t>
            </a:r>
            <a:r>
              <a:rPr lang="zh-CN" altLang="en-US" sz="1800" dirty="0" smtClean="0">
                <a:latin typeface="+mn-ea"/>
              </a:rPr>
              <a:t>上传到</a:t>
            </a:r>
            <a:r>
              <a:rPr lang="en-US" altLang="zh-CN" sz="1800" dirty="0" smtClean="0">
                <a:latin typeface="+mn-ea"/>
              </a:rPr>
              <a:t>master-&gt;</a:t>
            </a:r>
            <a:r>
              <a:rPr lang="zh-CN" altLang="en-US" sz="1800" dirty="0" smtClean="0">
                <a:latin typeface="+mn-ea"/>
              </a:rPr>
              <a:t>同步到各个版本的内部</a:t>
            </a:r>
            <a:r>
              <a:rPr lang="en-US" altLang="zh-CN" sz="1800" dirty="0" smtClean="0">
                <a:latin typeface="+mn-ea"/>
              </a:rPr>
              <a:t>Release</a:t>
            </a:r>
            <a:r>
              <a:rPr lang="zh-CN" altLang="en-US" sz="1800" dirty="0" smtClean="0">
                <a:latin typeface="+mn-ea"/>
              </a:rPr>
              <a:t>分支</a:t>
            </a:r>
            <a:endParaRPr lang="en-US" altLang="zh-CN" sz="1800" dirty="0" smtClean="0">
              <a:latin typeface="+mn-ea"/>
            </a:endParaRPr>
          </a:p>
          <a:p>
            <a:pPr marL="457200" indent="-457200">
              <a:buNone/>
            </a:pPr>
            <a:r>
              <a:rPr lang="zh-CN" altLang="en-US" sz="1800" dirty="0" smtClean="0">
                <a:latin typeface="+mn-ea"/>
              </a:rPr>
              <a:t>支持人员：通过邮件发给客户</a:t>
            </a:r>
            <a:endParaRPr lang="en-US" altLang="zh-CN" sz="1800" dirty="0" smtClean="0">
              <a:latin typeface="+mn-ea"/>
            </a:endParaRPr>
          </a:p>
          <a:p>
            <a:pPr marL="457200" indent="-457200">
              <a:buNone/>
            </a:pPr>
            <a:endParaRPr lang="zh-CN" altLang="en-US" sz="2000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分支管理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2"/>
          </a:xfrm>
        </p:spPr>
        <p:txBody>
          <a:bodyPr/>
          <a:lstStyle/>
          <a:p>
            <a:r>
              <a:rPr lang="en-US" altLang="zh-CN" dirty="0" smtClean="0"/>
              <a:t>Hcrtos</a:t>
            </a:r>
          </a:p>
          <a:p>
            <a:pPr marL="0" indent="0">
              <a:buNone/>
            </a:pPr>
            <a:r>
              <a:rPr lang="en-US" altLang="zh-CN" sz="1400" dirty="0"/>
              <a:t>git clone ssh://git@hichiptech.gitlab.com:33888/hcrtos_sdk/hcrtos.git</a:t>
            </a:r>
          </a:p>
          <a:p>
            <a:pPr marL="0" indent="0">
              <a:buNone/>
            </a:pPr>
            <a:r>
              <a:rPr lang="en-US" altLang="zh-CN" sz="1400" dirty="0"/>
              <a:t>cd hcrtos</a:t>
            </a:r>
          </a:p>
          <a:p>
            <a:pPr marL="0" indent="0">
              <a:buNone/>
            </a:pPr>
            <a:r>
              <a:rPr lang="en-US" altLang="zh-CN" sz="1400" dirty="0"/>
              <a:t>git pull</a:t>
            </a:r>
          </a:p>
          <a:p>
            <a:pPr marL="0" indent="0">
              <a:buNone/>
            </a:pPr>
            <a:r>
              <a:rPr lang="en-US" altLang="zh-CN" sz="1400" dirty="0"/>
              <a:t>git submodule update --init --recursive</a:t>
            </a:r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代码下载</a:t>
            </a:r>
            <a:endParaRPr lang="zh-CN" altLang="en-US" dirty="0"/>
          </a:p>
        </p:txBody>
      </p:sp>
      <p:sp>
        <p:nvSpPr>
          <p:cNvPr id="4" name="内容占位符 1"/>
          <p:cNvSpPr txBox="1">
            <a:spLocks/>
          </p:cNvSpPr>
          <p:nvPr/>
        </p:nvSpPr>
        <p:spPr>
          <a:xfrm>
            <a:off x="441730" y="3568156"/>
            <a:ext cx="8229600" cy="175679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Hclinux</a:t>
            </a:r>
          </a:p>
          <a:p>
            <a:pPr marL="0" indent="0">
              <a:buNone/>
            </a:pPr>
            <a:r>
              <a:rPr lang="en-US" altLang="zh-CN" sz="1400" dirty="0"/>
              <a:t>git clone ssh://git@hichiptech.gitlab.com:33888/hclinux_sdk/hclinux.git</a:t>
            </a:r>
          </a:p>
          <a:p>
            <a:pPr marL="0" indent="0">
              <a:buNone/>
            </a:pPr>
            <a:r>
              <a:rPr lang="en-US" altLang="zh-CN" sz="1400" dirty="0"/>
              <a:t>cd </a:t>
            </a:r>
            <a:r>
              <a:rPr lang="en-US" altLang="zh-CN" sz="1400" dirty="0" smtClean="0"/>
              <a:t>hclinux</a:t>
            </a:r>
          </a:p>
          <a:p>
            <a:pPr marL="0" indent="0">
              <a:buNone/>
            </a:pPr>
            <a:r>
              <a:rPr lang="en-US" altLang="zh-CN" sz="1400" dirty="0"/>
              <a:t>git </a:t>
            </a:r>
            <a:r>
              <a:rPr lang="en-US" altLang="zh-CN" sz="1400" dirty="0" smtClean="0"/>
              <a:t>pull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git submodule update --init --recursive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1357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3096"/>
          </a:xfrm>
        </p:spPr>
        <p:txBody>
          <a:bodyPr/>
          <a:lstStyle/>
          <a:p>
            <a:pPr>
              <a:buNone/>
            </a:pPr>
            <a:r>
              <a:rPr lang="en-US" altLang="zh-CN" sz="2800" dirty="0" smtClean="0"/>
              <a:t>1.</a:t>
            </a:r>
            <a:r>
              <a:rPr lang="zh-CN" altLang="en-US" sz="2800" dirty="0" smtClean="0"/>
              <a:t>上传到本地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1800" dirty="0" smtClean="0"/>
              <a:t>git branch –av    </a:t>
            </a:r>
            <a:r>
              <a:rPr lang="en-US" altLang="zh-CN" sz="1800" dirty="0" smtClean="0"/>
              <a:t>//</a:t>
            </a:r>
            <a:r>
              <a:rPr lang="zh-CN" altLang="en-US" sz="1800" dirty="0"/>
              <a:t>查</a:t>
            </a:r>
            <a:r>
              <a:rPr lang="zh-CN" altLang="en-US" sz="1800" dirty="0" smtClean="0"/>
              <a:t>看当前分支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/>
              <a:t>g</a:t>
            </a:r>
            <a:r>
              <a:rPr lang="en-US" altLang="zh-CN" sz="1800" dirty="0" smtClean="0"/>
              <a:t>it pull                 //</a:t>
            </a:r>
            <a:r>
              <a:rPr lang="zh-CN" altLang="en-US" sz="1800" dirty="0" smtClean="0"/>
              <a:t>更新到最新代码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 smtClean="0"/>
              <a:t>git status            //</a:t>
            </a:r>
            <a:r>
              <a:rPr lang="zh-CN" altLang="en-US" sz="1800" dirty="0" smtClean="0"/>
              <a:t>查看当前代码差异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 smtClean="0"/>
              <a:t>git add xxx         //</a:t>
            </a:r>
            <a:r>
              <a:rPr lang="zh-CN" altLang="en-US" sz="1800" dirty="0" smtClean="0"/>
              <a:t>添加差异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 smtClean="0"/>
              <a:t>git commit –m “xxx”   //</a:t>
            </a:r>
            <a:r>
              <a:rPr lang="zh-CN" altLang="en-US" sz="1800" dirty="0" smtClean="0"/>
              <a:t>提交差异到本地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 smtClean="0"/>
              <a:t>git log                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查看提交</a:t>
            </a:r>
            <a:endParaRPr lang="en-US" altLang="zh-CN" sz="1800" dirty="0" smtClean="0"/>
          </a:p>
          <a:p>
            <a:pPr>
              <a:buNone/>
            </a:pPr>
            <a:endParaRPr lang="en-US" altLang="zh-CN" sz="2800" dirty="0" smtClean="0"/>
          </a:p>
          <a:p>
            <a:pPr>
              <a:buNone/>
            </a:pPr>
            <a:r>
              <a:rPr lang="en-US" altLang="zh-CN" sz="2800" dirty="0" smtClean="0"/>
              <a:t>2.</a:t>
            </a:r>
            <a:r>
              <a:rPr lang="zh-CN" altLang="en-US" sz="2800" dirty="0" smtClean="0"/>
              <a:t>上传到远程仓</a:t>
            </a:r>
            <a:r>
              <a:rPr lang="zh-CN" altLang="en-US" sz="2800" dirty="0" smtClean="0"/>
              <a:t>库</a:t>
            </a:r>
            <a:endParaRPr lang="en-US" altLang="zh-CN" sz="2800" dirty="0" smtClean="0"/>
          </a:p>
          <a:p>
            <a:pPr>
              <a:buNone/>
            </a:pPr>
            <a:r>
              <a:rPr lang="en-US" altLang="zh-CN" sz="1800" dirty="0"/>
              <a:t>git remote -v </a:t>
            </a:r>
            <a:r>
              <a:rPr lang="en-US" altLang="zh-CN" sz="1800" dirty="0" smtClean="0"/>
              <a:t>                   //</a:t>
            </a:r>
            <a:r>
              <a:rPr lang="zh-CN" altLang="en-US" sz="1800" dirty="0"/>
              <a:t>查</a:t>
            </a:r>
            <a:r>
              <a:rPr lang="zh-CN" altLang="en-US" sz="1800" dirty="0" smtClean="0"/>
              <a:t>看远程仓库</a:t>
            </a:r>
            <a:endParaRPr lang="en-US" altLang="zh-CN" sz="1800" dirty="0" smtClean="0"/>
          </a:p>
          <a:p>
            <a:pPr>
              <a:buNone/>
            </a:pPr>
            <a:r>
              <a:rPr lang="en-US" altLang="zh-CN" sz="1800" dirty="0"/>
              <a:t>git push origin </a:t>
            </a:r>
            <a:r>
              <a:rPr lang="en-US" altLang="zh-CN" sz="1800" dirty="0" smtClean="0"/>
              <a:t>master    //</a:t>
            </a:r>
            <a:r>
              <a:rPr lang="zh-CN" altLang="en-US" sz="1800" dirty="0" smtClean="0"/>
              <a:t>提交到远程仓库，</a:t>
            </a:r>
            <a:r>
              <a:rPr lang="en-US" altLang="zh-CN" sz="1800" dirty="0" smtClean="0"/>
              <a:t>origin</a:t>
            </a:r>
            <a:r>
              <a:rPr lang="zh-CN" altLang="en-US" sz="1800" dirty="0" smtClean="0"/>
              <a:t>是远程仓库，</a:t>
            </a:r>
            <a:r>
              <a:rPr lang="en-US" altLang="zh-CN" sz="1800" dirty="0" smtClean="0"/>
              <a:t>master</a:t>
            </a:r>
            <a:r>
              <a:rPr lang="zh-CN" altLang="en-US" sz="1800" dirty="0" smtClean="0"/>
              <a:t>是远程分支</a:t>
            </a:r>
            <a:endParaRPr lang="en-US" altLang="zh-CN" sz="1800" dirty="0"/>
          </a:p>
          <a:p>
            <a:pPr>
              <a:buNone/>
            </a:pP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代码上传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68960"/>
          </a:xfrm>
        </p:spPr>
        <p:txBody>
          <a:bodyPr/>
          <a:lstStyle/>
          <a:p>
            <a:r>
              <a:rPr lang="zh-CN" altLang="en-US" dirty="0" smtClean="0"/>
              <a:t>补丁的生成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sz="1800" dirty="0"/>
              <a:t>某次提交以后的所有</a:t>
            </a:r>
            <a:r>
              <a:rPr lang="en-US" altLang="zh-CN" sz="1800" dirty="0"/>
              <a:t>patch</a:t>
            </a:r>
            <a:r>
              <a:rPr lang="zh-CN" altLang="en-US" sz="1800" dirty="0"/>
              <a:t>：</a:t>
            </a:r>
            <a:r>
              <a:rPr lang="en-US" altLang="zh-CN" sz="1800" dirty="0"/>
              <a:t>git format-patch xxx</a:t>
            </a:r>
            <a:r>
              <a:rPr lang="zh-CN" altLang="en-US" sz="1800" dirty="0"/>
              <a:t>，</a:t>
            </a:r>
            <a:r>
              <a:rPr lang="en-US" altLang="zh-CN" sz="1800" dirty="0"/>
              <a:t>xxx</a:t>
            </a:r>
            <a:r>
              <a:rPr lang="zh-CN" altLang="en-US" sz="1800" dirty="0"/>
              <a:t>是</a:t>
            </a:r>
            <a:r>
              <a:rPr lang="en-US" altLang="zh-CN" sz="1800" dirty="0"/>
              <a:t>commit</a:t>
            </a:r>
            <a:r>
              <a:rPr lang="zh-CN" altLang="en-US" sz="1800" dirty="0" smtClean="0"/>
              <a:t>名</a:t>
            </a:r>
            <a:endParaRPr lang="en-US" altLang="zh-CN" sz="1800" dirty="0" smtClean="0"/>
          </a:p>
          <a:p>
            <a:pPr marL="0" indent="0">
              <a:buNone/>
            </a:pPr>
            <a:endParaRPr lang="en-US" altLang="zh-CN" sz="1800" dirty="0"/>
          </a:p>
          <a:p>
            <a:r>
              <a:rPr lang="zh-CN" altLang="en-US" dirty="0" smtClean="0"/>
              <a:t>补丁生成脚本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800" dirty="0"/>
              <a:t>./support/scripts/create_git_patch.sh "hclinux-2022.08.y-</a:t>
            </a:r>
            <a:r>
              <a:rPr lang="zh-CN" altLang="en-US" sz="1800" dirty="0"/>
              <a:t>支持</a:t>
            </a:r>
            <a:r>
              <a:rPr lang="en-US" altLang="zh-CN" sz="1800" dirty="0"/>
              <a:t>FM25M4AA_nor_flash" "/media/ps/data/home/javen.xu/hclinux" "./" "cce09b6d95da2d9a6f142bfad1aae0e27f29988b" "37b771ec18474eaa4c975626fa7467e123734710"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补丁的生成和使用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补丁的组成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231" y="1766094"/>
            <a:ext cx="2143125" cy="1314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429000"/>
            <a:ext cx="2447925" cy="1495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1860506"/>
            <a:ext cx="26289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48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03648" y="1556792"/>
            <a:ext cx="7067128" cy="31249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/>
              <a:t>1.</a:t>
            </a:r>
            <a:r>
              <a:rPr lang="zh-CN" altLang="en-US" sz="2400" dirty="0" smtClean="0"/>
              <a:t>打</a:t>
            </a:r>
            <a:r>
              <a:rPr lang="zh-CN" altLang="en-US" sz="2400" dirty="0"/>
              <a:t>补丁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1800" dirty="0" smtClean="0"/>
              <a:t>git </a:t>
            </a:r>
            <a:r>
              <a:rPr lang="en-US" altLang="zh-CN" sz="1800" dirty="0"/>
              <a:t>apply --ignore-space-change --ignore-whitespace </a:t>
            </a:r>
            <a:r>
              <a:rPr lang="en-US" altLang="zh-CN" sz="1800" dirty="0" smtClean="0"/>
              <a:t>patch_file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打补丁并且提交到本地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1800" dirty="0" smtClean="0"/>
              <a:t>git </a:t>
            </a:r>
            <a:r>
              <a:rPr lang="en-US" altLang="zh-CN" sz="1800" dirty="0"/>
              <a:t>am --ignore-space-change --ignore-whitespace patch_file</a:t>
            </a:r>
            <a:endParaRPr lang="zh-CN" altLang="en-US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补丁的使用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7848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6224</TotalTime>
  <Words>942</Words>
  <Application>Microsoft Office PowerPoint</Application>
  <PresentationFormat>全屏显示(4:3)</PresentationFormat>
  <Paragraphs>140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仿宋</vt:lpstr>
      <vt:lpstr>楷体</vt:lpstr>
      <vt:lpstr>宋体</vt:lpstr>
      <vt:lpstr>Arial</vt:lpstr>
      <vt:lpstr>Calibri</vt:lpstr>
      <vt:lpstr>Times New Roman</vt:lpstr>
      <vt:lpstr>Verdana</vt:lpstr>
      <vt:lpstr>Office 主题</vt:lpstr>
      <vt:lpstr>2_Office 主题</vt:lpstr>
      <vt:lpstr>Visio</vt:lpstr>
      <vt:lpstr>PowerPoint 演示文稿</vt:lpstr>
      <vt:lpstr>目录</vt:lpstr>
      <vt:lpstr>海奇操作系统介绍</vt:lpstr>
      <vt:lpstr>海奇操作系统介绍</vt:lpstr>
      <vt:lpstr>hcRTOS Software Stack</vt:lpstr>
      <vt:lpstr>hcLinux Software Stack</vt:lpstr>
      <vt:lpstr>目录</vt:lpstr>
      <vt:lpstr>Sdk平台介绍</vt:lpstr>
      <vt:lpstr>hcrtos平台介绍</vt:lpstr>
      <vt:lpstr>Hcrtos板级配置</vt:lpstr>
      <vt:lpstr>Hcrtos方案配置</vt:lpstr>
      <vt:lpstr>Hclinux平台介绍</vt:lpstr>
      <vt:lpstr>Hclinux板级配置目录</vt:lpstr>
      <vt:lpstr>Hclinux方案配置</vt:lpstr>
      <vt:lpstr>SDK编译</vt:lpstr>
      <vt:lpstr>固件烧写和升级</vt:lpstr>
      <vt:lpstr>目录</vt:lpstr>
      <vt:lpstr>代码管理</vt:lpstr>
      <vt:lpstr>分支管理</vt:lpstr>
      <vt:lpstr>分支管理</vt:lpstr>
      <vt:lpstr>代码下载</vt:lpstr>
      <vt:lpstr>代码上传</vt:lpstr>
      <vt:lpstr>补丁的生成和使用</vt:lpstr>
      <vt:lpstr>补丁的组成</vt:lpstr>
      <vt:lpstr>补丁的使用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xbany</dc:creator>
  <cp:lastModifiedBy>Administrator</cp:lastModifiedBy>
  <cp:revision>1196</cp:revision>
  <dcterms:created xsi:type="dcterms:W3CDTF">2019-11-11T11:15:00Z</dcterms:created>
  <dcterms:modified xsi:type="dcterms:W3CDTF">2023-07-05T01:58:03Z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A99C97CE63B5481BA1E838BBF44C90C0</vt:lpwstr>
  </property>
</Properties>
</file>