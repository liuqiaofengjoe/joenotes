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257" r:id="rId3"/>
    <p:sldId id="289" r:id="rId4"/>
    <p:sldId id="291" r:id="rId5"/>
    <p:sldId id="292" r:id="rId6"/>
    <p:sldId id="294" r:id="rId7"/>
    <p:sldId id="293" r:id="rId8"/>
    <p:sldId id="304" r:id="rId9"/>
    <p:sldId id="305" r:id="rId10"/>
    <p:sldId id="295" r:id="rId11"/>
    <p:sldId id="296" r:id="rId12"/>
    <p:sldId id="298" r:id="rId13"/>
    <p:sldId id="301" r:id="rId14"/>
    <p:sldId id="302" r:id="rId15"/>
    <p:sldId id="306" r:id="rId16"/>
    <p:sldId id="290" r:id="rId17"/>
  </p:sldIdLst>
  <p:sldSz cx="9144000" cy="6858000" type="screen4x3"/>
  <p:notesSz cx="6645275" cy="9777413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="" xmlns:p14="http://schemas.microsoft.com/office/powerpoint/2010/main">
        <p14:section name="默认节" id="{0050EB71-E979-41FF-8F4C-A12C5E010A46}">
          <p14:sldIdLst>
            <p14:sldId id="257"/>
            <p14:sldId id="289"/>
            <p14:sldId id="291"/>
            <p14:sldId id="292"/>
            <p14:sldId id="294"/>
            <p14:sldId id="293"/>
            <p14:sldId id="304"/>
            <p14:sldId id="305"/>
            <p14:sldId id="295"/>
            <p14:sldId id="296"/>
            <p14:sldId id="298"/>
            <p14:sldId id="301"/>
            <p14:sldId id="302"/>
            <p14:sldId id="303"/>
            <p14:sldId id="290"/>
          </p14:sldIdLst>
        </p14:section>
        <p14:section name="无标题节" id="{99B6FF17-9852-48D2-BA79-9239E4B7F81D}">
          <p14:sldIdLst/>
        </p14:section>
        <p14:section name="无标题节" id="{AC90B5FE-8AC2-4871-9762-6CB9C36C1B67}">
          <p14:sldIdLst/>
        </p14:section>
      </p14:sectionLst>
    </p:ext>
    <p:ext uri="{EFAFB233-063F-42B5-8137-9DF3F51BA10A}">
      <p15:sldGuideLst xmlns="" xmlns:p15="http://schemas.microsoft.com/office/powerpoint/2012/main">
        <p15:guide id="1" orient="horz" pos="231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016"/>
    <p:restoredTop sz="94712"/>
  </p:normalViewPr>
  <p:slideViewPr>
    <p:cSldViewPr showGuides="1">
      <p:cViewPr varScale="1">
        <p:scale>
          <a:sx n="108" d="100"/>
          <a:sy n="108" d="100"/>
        </p:scale>
        <p:origin x="-3624" y="-12"/>
      </p:cViewPr>
      <p:guideLst>
        <p:guide orient="horz" pos="231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C8D7B18-B09A-42DD-AC8B-D1B6057284F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2023/7/7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E147D0-261A-461E-A872-EF036CB218C1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791926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BE4609-4092-497A-B4A8-88E41EBF9C0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2023/7/7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77888" y="733425"/>
            <a:ext cx="4889500" cy="366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5163" y="4645025"/>
            <a:ext cx="5314950" cy="4398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7224AB-B769-4E34-8844-0C2F6B52D3C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820090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412875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075" name="图片 7" descr="hichip_logo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338" y="115888"/>
            <a:ext cx="1116012" cy="1325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6165850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6308725"/>
            <a:ext cx="4824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8" name="图片 10" descr="timg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698625"/>
            <a:ext cx="9144000" cy="4322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D24E2D-0CF0-4806-A5A1-D78E5C2E628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412875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099" name="图片 7" descr="hichip_logo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338" y="115888"/>
            <a:ext cx="1116012" cy="1325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6165850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6308725"/>
            <a:ext cx="4824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702310-F98B-41DF-BDEF-BA111847C7D8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413" cy="4525963"/>
          </a:xfrm>
        </p:spPr>
        <p:txBody>
          <a:bodyPr vert="horz" wrap="square" lIns="91440" tIns="45720" rIns="91440" bIns="45720" anchor="t" anchorCtr="0"/>
          <a:lstStyle/>
          <a:p>
            <a:pPr algn="ctr" eaLnBrk="1" hangingPunct="1">
              <a:buNone/>
            </a:pPr>
            <a:endParaRPr lang="en-US" altLang="zh-CN" sz="4800" dirty="0"/>
          </a:p>
          <a:p>
            <a:pPr algn="ctr" eaLnBrk="1" hangingPunct="1">
              <a:buNone/>
            </a:pPr>
            <a:r>
              <a:rPr lang="zh-CN" altLang="en-US" sz="4800" dirty="0"/>
              <a:t>同屏技术简介</a:t>
            </a:r>
            <a:endParaRPr lang="en-US" altLang="zh-CN" dirty="0"/>
          </a:p>
          <a:p>
            <a:pPr eaLnBrk="1" hangingPunct="1">
              <a:buNone/>
            </a:pPr>
            <a:endParaRPr lang="en-US" altLang="zh-CN" dirty="0"/>
          </a:p>
          <a:p>
            <a:pPr algn="ctr" eaLnBrk="1" hangingPunct="1">
              <a:buNone/>
            </a:pPr>
            <a:r>
              <a:rPr lang="en-US" altLang="zh-CN" dirty="0"/>
              <a:t>Peter</a:t>
            </a:r>
          </a:p>
          <a:p>
            <a:pPr algn="ctr" eaLnBrk="1" hangingPunct="1">
              <a:buNone/>
            </a:pPr>
            <a:r>
              <a:rPr lang="en-US" altLang="zh-CN" dirty="0"/>
              <a:t>2023-7-6</a:t>
            </a:r>
          </a:p>
        </p:txBody>
      </p:sp>
      <p:sp>
        <p:nvSpPr>
          <p:cNvPr id="7170" name="灯片编号占位符 3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Tx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latin typeface="Calibri" panose="020F0502020204030204" pitchFamily="34" charset="0"/>
              </a:rPr>
              <a:pPr lvl="0" algn="r">
                <a:buSzTx/>
                <a:buFontTx/>
              </a:pPr>
              <a:t>1</a:t>
            </a:fld>
            <a:endParaRPr lang="en-US" altLang="en-US" sz="120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29063"/>
          </a:xfrm>
        </p:spPr>
        <p:txBody>
          <a:bodyPr/>
          <a:lstStyle/>
          <a:p>
            <a:r>
              <a:rPr lang="zh-CN" altLang="en-US" sz="2400" dirty="0"/>
              <a:t>同屏（镜像）</a:t>
            </a:r>
            <a:endParaRPr lang="en-US" altLang="zh-CN" sz="24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/>
              <a:t>将手机</a:t>
            </a:r>
            <a:r>
              <a:rPr lang="en-US" altLang="zh-CN" sz="2000" dirty="0"/>
              <a:t>/PC</a:t>
            </a:r>
            <a:r>
              <a:rPr lang="zh-CN" altLang="en-US" sz="2000" dirty="0"/>
              <a:t>的</a:t>
            </a:r>
            <a:r>
              <a:rPr lang="zh-CN" altLang="en-US" sz="2000" dirty="0">
                <a:solidFill>
                  <a:srgbClr val="FF0000"/>
                </a:solidFill>
              </a:rPr>
              <a:t>屏幕画面投射</a:t>
            </a:r>
            <a:r>
              <a:rPr lang="zh-CN" altLang="en-US" sz="2000" dirty="0"/>
              <a:t>到另一个设备的屏幕上</a:t>
            </a:r>
            <a:endParaRPr lang="en-US" altLang="zh-CN" sz="2000" dirty="0"/>
          </a:p>
          <a:p>
            <a:pPr lvl="1">
              <a:buFont typeface="Wingdings" pitchFamily="2" charset="2"/>
              <a:buChar char="Ø"/>
            </a:pPr>
            <a:endParaRPr lang="en-US" altLang="zh-CN" sz="2000" dirty="0"/>
          </a:p>
          <a:p>
            <a:pPr lvl="1">
              <a:buFont typeface="Wingdings" pitchFamily="2" charset="2"/>
              <a:buChar char="Ø"/>
            </a:pPr>
            <a:endParaRPr lang="en-US" altLang="zh-CN" sz="2000" dirty="0"/>
          </a:p>
          <a:p>
            <a:r>
              <a:rPr lang="zh-CN" altLang="en-US" sz="2400" dirty="0"/>
              <a:t>投屏（推送）</a:t>
            </a:r>
            <a:endParaRPr lang="en-US" altLang="zh-CN" sz="24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/>
              <a:t>将手机</a:t>
            </a:r>
            <a:r>
              <a:rPr lang="en-US" altLang="zh-CN" sz="2000" dirty="0"/>
              <a:t>/PC</a:t>
            </a:r>
            <a:r>
              <a:rPr lang="zh-CN" altLang="en-US" sz="2000" dirty="0"/>
              <a:t>的</a:t>
            </a:r>
            <a:r>
              <a:rPr lang="zh-CN" altLang="en-US" sz="2000" dirty="0">
                <a:solidFill>
                  <a:srgbClr val="FF0000"/>
                </a:solidFill>
              </a:rPr>
              <a:t>多媒体内容</a:t>
            </a:r>
            <a:r>
              <a:rPr lang="zh-CN" altLang="en-US" sz="2000" dirty="0"/>
              <a:t>推送到另一个设备</a:t>
            </a:r>
            <a:r>
              <a:rPr lang="zh-CN" altLang="en-US" sz="2000" dirty="0" smtClean="0"/>
              <a:t>播放</a:t>
            </a:r>
            <a:endParaRPr lang="en-US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71604" y="274638"/>
            <a:ext cx="7115196" cy="1143000"/>
          </a:xfrm>
        </p:spPr>
        <p:txBody>
          <a:bodyPr/>
          <a:lstStyle/>
          <a:p>
            <a:pPr algn="l"/>
            <a:r>
              <a:rPr lang="zh-CN" altLang="en-US" dirty="0"/>
              <a:t>什么是同屏？</a:t>
            </a:r>
          </a:p>
        </p:txBody>
      </p:sp>
    </p:spTree>
    <p:extLst>
      <p:ext uri="{BB962C8B-B14F-4D97-AF65-F5344CB8AC3E}">
        <p14:creationId xmlns="" xmlns:p14="http://schemas.microsoft.com/office/powerpoint/2010/main" val="2798199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71604" y="274638"/>
            <a:ext cx="7115196" cy="1143000"/>
          </a:xfrm>
        </p:spPr>
        <p:txBody>
          <a:bodyPr/>
          <a:lstStyle/>
          <a:p>
            <a:pPr algn="l"/>
            <a:r>
              <a:rPr lang="zh-CN" altLang="en-US" dirty="0"/>
              <a:t>同屏技术应用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7AE0BFA4-7EFB-6F86-FEA6-373737A44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16" y="1594251"/>
            <a:ext cx="2116640" cy="13982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B15CD2EE-55FD-612A-56B8-3DBE7636C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85" y="3968806"/>
            <a:ext cx="2448868" cy="159210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B6AA424F-677A-AD2B-F4F7-1D56D9A0F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144" y="4171098"/>
            <a:ext cx="2116640" cy="118751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409F1EC2-96E9-A90E-8A6E-FA06149BD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5099" y="1591472"/>
            <a:ext cx="3751649" cy="139826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56269692-57A8-FE92-AD6C-EB63EA5BED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6182" y="4071942"/>
            <a:ext cx="1259321" cy="137011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98199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71604" y="274638"/>
            <a:ext cx="7115196" cy="1143000"/>
          </a:xfrm>
        </p:spPr>
        <p:txBody>
          <a:bodyPr/>
          <a:lstStyle/>
          <a:p>
            <a:pPr algn="l"/>
            <a:r>
              <a:rPr lang="zh-CN" altLang="en-US" dirty="0"/>
              <a:t>常见的同屏技术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="" xmlns:a16="http://schemas.microsoft.com/office/drawing/2014/main" id="{98D3BD85-A57D-2CFB-3D88-C571EA113D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12094370"/>
              </p:ext>
            </p:extLst>
          </p:nvPr>
        </p:nvGraphicFramePr>
        <p:xfrm>
          <a:off x="611560" y="1754815"/>
          <a:ext cx="7920879" cy="40924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="" xmlns:a16="http://schemas.microsoft.com/office/drawing/2014/main" val="2674514606"/>
                    </a:ext>
                  </a:extLst>
                </a:gridCol>
                <a:gridCol w="2808312">
                  <a:extLst>
                    <a:ext uri="{9D8B030D-6E8A-4147-A177-3AD203B41FA5}">
                      <a16:colId xmlns="" xmlns:a16="http://schemas.microsoft.com/office/drawing/2014/main" val="3787597021"/>
                    </a:ext>
                  </a:extLst>
                </a:gridCol>
                <a:gridCol w="1584176">
                  <a:extLst>
                    <a:ext uri="{9D8B030D-6E8A-4147-A177-3AD203B41FA5}">
                      <a16:colId xmlns="" xmlns:a16="http://schemas.microsoft.com/office/drawing/2014/main" val="1590605545"/>
                    </a:ext>
                  </a:extLst>
                </a:gridCol>
                <a:gridCol w="2232247">
                  <a:extLst>
                    <a:ext uri="{9D8B030D-6E8A-4147-A177-3AD203B41FA5}">
                      <a16:colId xmlns="" xmlns:a16="http://schemas.microsoft.com/office/drawing/2014/main" val="1871790185"/>
                    </a:ext>
                  </a:extLst>
                </a:gridCol>
              </a:tblGrid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连接方式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特点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77395524"/>
                  </a:ext>
                </a:extLst>
              </a:tr>
              <a:tr h="372041">
                <a:tc rowSpan="6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网络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DLNA</a:t>
                      </a:r>
                      <a:r>
                        <a:rPr lang="zh-CN" altLang="en-US" dirty="0"/>
                        <a:t>（投屏）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UPnP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开放协议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82833097"/>
                  </a:ext>
                </a:extLst>
              </a:tr>
              <a:tr h="372041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Aircast</a:t>
                      </a:r>
                      <a:r>
                        <a:rPr lang="zh-CN" altLang="en-US" dirty="0"/>
                        <a:t>（同屏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投屏）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mDNS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苹果私有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512697979"/>
                  </a:ext>
                </a:extLst>
              </a:tr>
              <a:tr h="372041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Miracast</a:t>
                      </a:r>
                      <a:r>
                        <a:rPr lang="zh-CN" altLang="en-US" dirty="0"/>
                        <a:t>（同屏）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Wi-Fi Direct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开放协议</a:t>
                      </a:r>
                      <a:endParaRPr lang="en-US" altLang="zh-CN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253688409"/>
                  </a:ext>
                </a:extLst>
              </a:tr>
              <a:tr h="372041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DIAL</a:t>
                      </a:r>
                      <a:r>
                        <a:rPr lang="zh-CN" altLang="en-US" dirty="0"/>
                        <a:t>（投屏）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UPnP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私有</a:t>
                      </a:r>
                      <a:r>
                        <a:rPr lang="en-US" altLang="zh-CN" dirty="0"/>
                        <a:t>(</a:t>
                      </a:r>
                      <a:r>
                        <a:rPr lang="en-US" altLang="zh-CN" dirty="0" err="1"/>
                        <a:t>Youtube</a:t>
                      </a:r>
                      <a:r>
                        <a:rPr lang="en-US" altLang="zh-CN" dirty="0"/>
                        <a:t>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85790751"/>
                  </a:ext>
                </a:extLst>
              </a:tr>
              <a:tr h="372041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GoogleCast</a:t>
                      </a:r>
                      <a:r>
                        <a:rPr lang="zh-CN" altLang="en-US" dirty="0"/>
                        <a:t>（同屏）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mDNS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Google</a:t>
                      </a:r>
                      <a:r>
                        <a:rPr lang="zh-CN" altLang="en-US" dirty="0"/>
                        <a:t>私有</a:t>
                      </a:r>
                      <a:endParaRPr lang="en-US" altLang="zh-CN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060276585"/>
                  </a:ext>
                </a:extLst>
              </a:tr>
              <a:tr h="372041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Carplay</a:t>
                      </a:r>
                      <a:r>
                        <a:rPr lang="en-US" altLang="zh-CN" dirty="0"/>
                        <a:t>/</a:t>
                      </a:r>
                      <a:r>
                        <a:rPr lang="en-US" altLang="zh-CN" dirty="0" err="1"/>
                        <a:t>CarLife</a:t>
                      </a:r>
                      <a:r>
                        <a:rPr lang="zh-CN" altLang="en-US" dirty="0"/>
                        <a:t>（车机）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私有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苹果</a:t>
                      </a:r>
                      <a:r>
                        <a:rPr lang="en-US" altLang="zh-CN" dirty="0"/>
                        <a:t>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678225192"/>
                  </a:ext>
                </a:extLst>
              </a:tr>
              <a:tr h="372041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USB</a:t>
                      </a:r>
                      <a:endParaRPr lang="zh-CN" alt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en-US" altLang="zh-CN" dirty="0"/>
                        <a:t>Host</a:t>
                      </a:r>
                      <a:r>
                        <a:rPr lang="zh-CN" altLang="en-US" dirty="0"/>
                        <a:t>（同屏）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Android AOA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自定义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548626656"/>
                  </a:ext>
                </a:extLst>
              </a:tr>
              <a:tr h="37204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iOS </a:t>
                      </a:r>
                      <a:r>
                        <a:rPr lang="en-US" altLang="zh-CN" dirty="0" err="1"/>
                        <a:t>iAP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苹果私有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827818422"/>
                  </a:ext>
                </a:extLst>
              </a:tr>
              <a:tr h="37204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dirty="0"/>
                        <a:t>Device</a:t>
                      </a:r>
                      <a:r>
                        <a:rPr lang="zh-CN" altLang="en-US" dirty="0"/>
                        <a:t>（同屏）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Android UAC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自定义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48582995"/>
                  </a:ext>
                </a:extLst>
              </a:tr>
              <a:tr h="372041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r>
                        <a:rPr lang="en-US" altLang="zh-CN" dirty="0"/>
                        <a:t>Device</a:t>
                      </a:r>
                      <a:r>
                        <a:rPr lang="zh-CN" altLang="en-US" dirty="0"/>
                        <a:t>（同屏）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iOS</a:t>
                      </a:r>
                      <a:r>
                        <a:rPr lang="en-US" altLang="zh-CN" dirty="0"/>
                        <a:t> </a:t>
                      </a:r>
                      <a:r>
                        <a:rPr lang="en-US" altLang="zh-CN" dirty="0" err="1" smtClean="0"/>
                        <a:t>iAP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苹果私有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19981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798199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84783"/>
          </a:xfrm>
        </p:spPr>
        <p:txBody>
          <a:bodyPr/>
          <a:lstStyle/>
          <a:p>
            <a:r>
              <a:rPr lang="zh-CN" altLang="en-US" sz="2400" dirty="0"/>
              <a:t>设备发现协议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SSDP, </a:t>
            </a:r>
            <a:r>
              <a:rPr lang="en-US" altLang="zh-CN" sz="2000" dirty="0" err="1"/>
              <a:t>mDNS</a:t>
            </a:r>
            <a:endParaRPr lang="en-US" altLang="zh-CN" sz="2000" dirty="0"/>
          </a:p>
          <a:p>
            <a:r>
              <a:rPr lang="zh-CN" altLang="en-US" sz="2400" dirty="0"/>
              <a:t>设备控制协议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UPnP, SOAP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71604" y="274638"/>
            <a:ext cx="7115196" cy="1143000"/>
          </a:xfrm>
        </p:spPr>
        <p:txBody>
          <a:bodyPr/>
          <a:lstStyle/>
          <a:p>
            <a:pPr algn="l"/>
            <a:r>
              <a:rPr lang="zh-CN" altLang="en-US" dirty="0"/>
              <a:t>投屏技术基本原理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="" xmlns:a16="http://schemas.microsoft.com/office/drawing/2014/main" id="{5D8C9525-B21D-829B-CFA1-DDBA26E2991C}"/>
              </a:ext>
            </a:extLst>
          </p:cNvPr>
          <p:cNvSpPr/>
          <p:nvPr/>
        </p:nvSpPr>
        <p:spPr>
          <a:xfrm>
            <a:off x="3563888" y="3284984"/>
            <a:ext cx="2016224" cy="7200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路由器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="" xmlns:a16="http://schemas.microsoft.com/office/drawing/2014/main" id="{9E2E2DD7-1194-886A-733F-87AC850F71A0}"/>
              </a:ext>
            </a:extLst>
          </p:cNvPr>
          <p:cNvSpPr/>
          <p:nvPr/>
        </p:nvSpPr>
        <p:spPr>
          <a:xfrm>
            <a:off x="827584" y="4797152"/>
            <a:ext cx="1440160" cy="720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发射端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="" xmlns:a16="http://schemas.microsoft.com/office/drawing/2014/main" id="{F0A7B227-F648-E294-F131-1E62A69FBCDC}"/>
              </a:ext>
            </a:extLst>
          </p:cNvPr>
          <p:cNvSpPr/>
          <p:nvPr/>
        </p:nvSpPr>
        <p:spPr>
          <a:xfrm>
            <a:off x="7092280" y="4797152"/>
            <a:ext cx="1440160" cy="720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接收端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="" xmlns:a16="http://schemas.microsoft.com/office/drawing/2014/main" id="{3364F724-51D8-0650-C168-3E067CAE02D1}"/>
              </a:ext>
            </a:extLst>
          </p:cNvPr>
          <p:cNvCxnSpPr>
            <a:stCxn id="10" idx="0"/>
            <a:endCxn id="8" idx="3"/>
          </p:cNvCxnSpPr>
          <p:nvPr/>
        </p:nvCxnSpPr>
        <p:spPr>
          <a:xfrm flipH="1" flipV="1">
            <a:off x="5580112" y="3645024"/>
            <a:ext cx="2232248" cy="1152128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="" xmlns:a16="http://schemas.microsoft.com/office/drawing/2014/main" id="{D1AA2C30-D19D-65BF-B304-A2D96045F690}"/>
              </a:ext>
            </a:extLst>
          </p:cNvPr>
          <p:cNvCxnSpPr>
            <a:stCxn id="8" idx="1"/>
            <a:endCxn id="9" idx="0"/>
          </p:cNvCxnSpPr>
          <p:nvPr/>
        </p:nvCxnSpPr>
        <p:spPr>
          <a:xfrm flipH="1">
            <a:off x="1547664" y="3645024"/>
            <a:ext cx="2016224" cy="1152128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="" xmlns:a16="http://schemas.microsoft.com/office/drawing/2014/main" id="{DF6CEC40-B8DF-2060-A012-A70D18F025E3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267744" y="4003324"/>
            <a:ext cx="1934879" cy="115386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="" xmlns:a16="http://schemas.microsoft.com/office/drawing/2014/main" id="{D9F237B8-576C-3A4C-1913-C1836E7ACCF2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941378" y="4003324"/>
            <a:ext cx="2150902" cy="115386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="" xmlns:a16="http://schemas.microsoft.com/office/drawing/2014/main" id="{4FCD75DC-CB13-E22C-3DD3-5EAC061FB78E}"/>
              </a:ext>
            </a:extLst>
          </p:cNvPr>
          <p:cNvSpPr txBox="1"/>
          <p:nvPr/>
        </p:nvSpPr>
        <p:spPr>
          <a:xfrm>
            <a:off x="6615564" y="3626957"/>
            <a:ext cx="1556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SSDP/</a:t>
            </a:r>
            <a:r>
              <a:rPr lang="en-US" altLang="zh-CN" dirty="0" err="1"/>
              <a:t>mDNS</a:t>
            </a:r>
            <a:endParaRPr lang="en-US" altLang="zh-CN" dirty="0"/>
          </a:p>
          <a:p>
            <a:r>
              <a:rPr lang="zh-CN" altLang="en-US" dirty="0"/>
              <a:t>设备发现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3348E5D9-C23A-385A-36B1-52E3D89E936B}"/>
              </a:ext>
            </a:extLst>
          </p:cNvPr>
          <p:cNvSpPr txBox="1"/>
          <p:nvPr/>
        </p:nvSpPr>
        <p:spPr>
          <a:xfrm>
            <a:off x="1331640" y="3573017"/>
            <a:ext cx="1556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SSDP/</a:t>
            </a:r>
            <a:r>
              <a:rPr lang="en-US" altLang="zh-CN" dirty="0" err="1"/>
              <a:t>mDNS</a:t>
            </a:r>
            <a:endParaRPr lang="en-US" altLang="zh-CN" dirty="0"/>
          </a:p>
          <a:p>
            <a:r>
              <a:rPr lang="zh-CN" altLang="en-US" dirty="0"/>
              <a:t>设备发现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="" xmlns:a16="http://schemas.microsoft.com/office/drawing/2014/main" id="{FEF95752-25F9-80DF-8901-D1C1C1C53233}"/>
              </a:ext>
            </a:extLst>
          </p:cNvPr>
          <p:cNvSpPr txBox="1"/>
          <p:nvPr/>
        </p:nvSpPr>
        <p:spPr>
          <a:xfrm>
            <a:off x="3500681" y="4580258"/>
            <a:ext cx="2142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URL(UPnP, SOAP)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2798199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64703"/>
          </a:xfrm>
        </p:spPr>
        <p:txBody>
          <a:bodyPr/>
          <a:lstStyle/>
          <a:p>
            <a:r>
              <a:rPr lang="zh-CN" altLang="en-US" sz="2400" dirty="0"/>
              <a:t>发现协议：</a:t>
            </a:r>
            <a:r>
              <a:rPr lang="en-US" altLang="zh-CN" sz="2400" dirty="0" err="1"/>
              <a:t>mDNS</a:t>
            </a:r>
            <a:r>
              <a:rPr lang="en-US" altLang="zh-CN" sz="2400" dirty="0"/>
              <a:t>, Wi-Fi direct</a:t>
            </a:r>
          </a:p>
          <a:p>
            <a:r>
              <a:rPr lang="zh-CN" altLang="en-US" sz="2400" dirty="0"/>
              <a:t>流服务</a:t>
            </a:r>
            <a:r>
              <a:rPr lang="en-US" altLang="zh-CN" sz="2400" dirty="0"/>
              <a:t>: UDP, TCP, RTP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71604" y="274638"/>
            <a:ext cx="7115196" cy="1143000"/>
          </a:xfrm>
        </p:spPr>
        <p:txBody>
          <a:bodyPr/>
          <a:lstStyle/>
          <a:p>
            <a:pPr algn="l"/>
            <a:r>
              <a:rPr lang="zh-CN" altLang="en-US" dirty="0"/>
              <a:t>同屏技术基本原理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96C2A1B4-ACF2-E64F-45D7-7135675C1F86}"/>
              </a:ext>
            </a:extLst>
          </p:cNvPr>
          <p:cNvSpPr/>
          <p:nvPr/>
        </p:nvSpPr>
        <p:spPr>
          <a:xfrm>
            <a:off x="323528" y="4005064"/>
            <a:ext cx="1296144" cy="720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显示帧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98EE2F0E-1985-BF06-D8C2-2B3A54B8669F}"/>
              </a:ext>
            </a:extLst>
          </p:cNvPr>
          <p:cNvSpPr/>
          <p:nvPr/>
        </p:nvSpPr>
        <p:spPr>
          <a:xfrm>
            <a:off x="2051720" y="4005064"/>
            <a:ext cx="1296144" cy="720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编码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0AAE94E5-5BCB-FF15-507E-36484184620E}"/>
              </a:ext>
            </a:extLst>
          </p:cNvPr>
          <p:cNvSpPr/>
          <p:nvPr/>
        </p:nvSpPr>
        <p:spPr>
          <a:xfrm>
            <a:off x="323528" y="2747467"/>
            <a:ext cx="3024336" cy="72008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设备发现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2883ABCD-0FA5-F1A8-6CE5-A41DFF9962CA}"/>
              </a:ext>
            </a:extLst>
          </p:cNvPr>
          <p:cNvSpPr/>
          <p:nvPr/>
        </p:nvSpPr>
        <p:spPr>
          <a:xfrm>
            <a:off x="323528" y="5257799"/>
            <a:ext cx="3024336" cy="720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视频流发送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8441D334-DE9D-4F6C-66D9-1601E9BB1471}"/>
              </a:ext>
            </a:extLst>
          </p:cNvPr>
          <p:cNvSpPr/>
          <p:nvPr/>
        </p:nvSpPr>
        <p:spPr>
          <a:xfrm>
            <a:off x="7164288" y="4005064"/>
            <a:ext cx="1296144" cy="720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显示帧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EEA4FBC2-F5F7-3809-5CE5-E93D234C8EF2}"/>
              </a:ext>
            </a:extLst>
          </p:cNvPr>
          <p:cNvSpPr/>
          <p:nvPr/>
        </p:nvSpPr>
        <p:spPr>
          <a:xfrm>
            <a:off x="5436096" y="4009256"/>
            <a:ext cx="1296144" cy="720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解码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DFB8936E-660D-B70B-E3B5-122A506B5438}"/>
              </a:ext>
            </a:extLst>
          </p:cNvPr>
          <p:cNvSpPr/>
          <p:nvPr/>
        </p:nvSpPr>
        <p:spPr>
          <a:xfrm>
            <a:off x="5436096" y="2747467"/>
            <a:ext cx="3024336" cy="72008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设备发现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C469CB9B-0AC2-05F7-AB2E-EACE7CC10671}"/>
              </a:ext>
            </a:extLst>
          </p:cNvPr>
          <p:cNvSpPr/>
          <p:nvPr/>
        </p:nvSpPr>
        <p:spPr>
          <a:xfrm>
            <a:off x="5436096" y="5257798"/>
            <a:ext cx="3024336" cy="720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音视频流接收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="" xmlns:a16="http://schemas.microsoft.com/office/drawing/2014/main" id="{06339BE7-051B-BEB5-1033-797C00561824}"/>
              </a:ext>
            </a:extLst>
          </p:cNvPr>
          <p:cNvSpPr/>
          <p:nvPr/>
        </p:nvSpPr>
        <p:spPr>
          <a:xfrm>
            <a:off x="107504" y="2564904"/>
            <a:ext cx="3600401" cy="356439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="" xmlns:a16="http://schemas.microsoft.com/office/drawing/2014/main" id="{5B59345B-54E8-8500-A521-64DBB97E3FFF}"/>
              </a:ext>
            </a:extLst>
          </p:cNvPr>
          <p:cNvSpPr/>
          <p:nvPr/>
        </p:nvSpPr>
        <p:spPr>
          <a:xfrm>
            <a:off x="5129202" y="2600908"/>
            <a:ext cx="3600401" cy="3528392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="" xmlns:a16="http://schemas.microsoft.com/office/drawing/2014/main" id="{D9AA5292-D824-0AF4-DBFF-85FC1ECB28D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619672" y="4365104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="" xmlns:a16="http://schemas.microsoft.com/office/drawing/2014/main" id="{E4F87487-5F71-E1A2-A37C-E89705430CD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699792" y="4725144"/>
            <a:ext cx="0" cy="532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="" xmlns:a16="http://schemas.microsoft.com/office/drawing/2014/main" id="{E49E0851-1ECF-585A-2C3F-1B86E3869841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3347864" y="5617839"/>
            <a:ext cx="20882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="" xmlns:a16="http://schemas.microsoft.com/office/drawing/2014/main" id="{A97CC8F4-EAF7-4CCB-C405-BBDA1342966D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3347864" y="3107507"/>
            <a:ext cx="2088232" cy="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="" xmlns:a16="http://schemas.microsoft.com/office/drawing/2014/main" id="{02B00BB9-9A89-03A1-EACC-4AEC80C660B7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6084168" y="4729336"/>
            <a:ext cx="0" cy="524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="" xmlns:a16="http://schemas.microsoft.com/office/drawing/2014/main" id="{C71F3F34-A9C7-FB86-4FB0-CC31060EDE58}"/>
              </a:ext>
            </a:extLst>
          </p:cNvPr>
          <p:cNvCxnSpPr>
            <a:stCxn id="9" idx="3"/>
            <a:endCxn id="8" idx="1"/>
          </p:cNvCxnSpPr>
          <p:nvPr/>
        </p:nvCxnSpPr>
        <p:spPr>
          <a:xfrm flipV="1">
            <a:off x="6732240" y="4365104"/>
            <a:ext cx="432048" cy="4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798199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65103"/>
          </a:xfrm>
        </p:spPr>
        <p:txBody>
          <a:bodyPr/>
          <a:lstStyle/>
          <a:p>
            <a:r>
              <a:rPr lang="en-US" altLang="zh-CN" sz="2400" dirty="0"/>
              <a:t>AP(Access Point)</a:t>
            </a:r>
          </a:p>
          <a:p>
            <a:r>
              <a:rPr lang="en-US" altLang="zh-CN" sz="2400" dirty="0"/>
              <a:t>Station</a:t>
            </a:r>
          </a:p>
          <a:p>
            <a:r>
              <a:rPr lang="en-US" altLang="zh-CN" sz="2400" dirty="0"/>
              <a:t>P2P</a:t>
            </a:r>
          </a:p>
          <a:p>
            <a:r>
              <a:rPr lang="en-US" altLang="zh-CN" sz="2400" dirty="0"/>
              <a:t>Concurrent mode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AP + P2P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STA + P2P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71604" y="274638"/>
            <a:ext cx="7115196" cy="1143000"/>
          </a:xfrm>
        </p:spPr>
        <p:txBody>
          <a:bodyPr/>
          <a:lstStyle/>
          <a:p>
            <a:pPr algn="l"/>
            <a:r>
              <a:rPr lang="zh-CN" altLang="en-US" dirty="0"/>
              <a:t>无线工作模式</a:t>
            </a:r>
          </a:p>
        </p:txBody>
      </p:sp>
    </p:spTree>
    <p:extLst>
      <p:ext uri="{BB962C8B-B14F-4D97-AF65-F5344CB8AC3E}">
        <p14:creationId xmlns="" xmlns:p14="http://schemas.microsoft.com/office/powerpoint/2010/main" val="2798199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65103"/>
          </a:xfrm>
        </p:spPr>
        <p:txBody>
          <a:bodyPr/>
          <a:lstStyle/>
          <a:p>
            <a:r>
              <a:rPr lang="zh-CN" altLang="en-US" sz="2400" dirty="0"/>
              <a:t>性能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/>
              <a:t>开机速度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/>
              <a:t>连接速度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/>
              <a:t>播放速度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/>
              <a:t>画面延时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/>
              <a:t>视频流畅度</a:t>
            </a:r>
            <a:endParaRPr lang="en-US" altLang="zh-CN" sz="2000" dirty="0"/>
          </a:p>
          <a:p>
            <a:r>
              <a:rPr lang="zh-CN" altLang="en-US" sz="2400" dirty="0"/>
              <a:t>资源消耗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/>
              <a:t>内存消耗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Flash size</a:t>
            </a:r>
          </a:p>
          <a:p>
            <a:r>
              <a:rPr lang="zh-CN" altLang="en-US" sz="2400" dirty="0"/>
              <a:t>举例：苹果有线方案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/>
              <a:t>开机</a:t>
            </a:r>
            <a:r>
              <a:rPr lang="en-US" altLang="zh-CN" sz="2000" dirty="0"/>
              <a:t>+</a:t>
            </a:r>
            <a:r>
              <a:rPr lang="zh-CN" altLang="en-US" sz="2000" dirty="0"/>
              <a:t>连接 </a:t>
            </a:r>
            <a:r>
              <a:rPr lang="en-US" altLang="zh-CN" sz="2000" dirty="0"/>
              <a:t>3.5s,</a:t>
            </a:r>
            <a:r>
              <a:rPr lang="zh-CN" altLang="en-US" sz="2000" dirty="0"/>
              <a:t>，延时</a:t>
            </a:r>
            <a:r>
              <a:rPr lang="en-US" altLang="zh-CN" sz="2000" dirty="0"/>
              <a:t>20~40ms</a:t>
            </a:r>
            <a:r>
              <a:rPr lang="zh-CN" altLang="en-US" sz="2000" dirty="0"/>
              <a:t>，</a:t>
            </a:r>
            <a:r>
              <a:rPr lang="en-US" altLang="zh-CN" sz="2000" dirty="0"/>
              <a:t>1MB flash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71604" y="274638"/>
            <a:ext cx="7115196" cy="1143000"/>
          </a:xfrm>
        </p:spPr>
        <p:txBody>
          <a:bodyPr/>
          <a:lstStyle/>
          <a:p>
            <a:pPr algn="l"/>
            <a:r>
              <a:rPr lang="zh-CN" altLang="en-US" dirty="0"/>
              <a:t>主要技术指标</a:t>
            </a:r>
          </a:p>
        </p:txBody>
      </p:sp>
    </p:spTree>
    <p:extLst>
      <p:ext uri="{BB962C8B-B14F-4D97-AF65-F5344CB8AC3E}">
        <p14:creationId xmlns="" xmlns:p14="http://schemas.microsoft.com/office/powerpoint/2010/main" val="1858995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49079"/>
          </a:xfrm>
        </p:spPr>
        <p:txBody>
          <a:bodyPr/>
          <a:lstStyle/>
          <a:p>
            <a:r>
              <a:rPr lang="en-US" altLang="zh-CN" sz="2400" dirty="0"/>
              <a:t>Digital Living Network Alliance (</a:t>
            </a:r>
            <a:r>
              <a:rPr lang="zh-CN" altLang="en-US" sz="2400" dirty="0"/>
              <a:t>数字生活网络联盟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4</a:t>
            </a:r>
            <a:r>
              <a:rPr lang="zh-CN" altLang="en-US" sz="2400" dirty="0"/>
              <a:t>种角色：</a:t>
            </a:r>
            <a:r>
              <a:rPr lang="en-US" altLang="zh-CN" sz="2400" dirty="0"/>
              <a:t>DMS, </a:t>
            </a:r>
            <a:r>
              <a:rPr lang="en-US" altLang="zh-CN" sz="2400" dirty="0">
                <a:solidFill>
                  <a:srgbClr val="FF0000"/>
                </a:solidFill>
              </a:rPr>
              <a:t>DMR</a:t>
            </a:r>
            <a:r>
              <a:rPr lang="en-US" altLang="zh-CN" sz="2400" dirty="0"/>
              <a:t>, </a:t>
            </a:r>
            <a:r>
              <a:rPr lang="en-US" altLang="zh-CN" sz="2400" dirty="0">
                <a:solidFill>
                  <a:srgbClr val="FF0000"/>
                </a:solidFill>
              </a:rPr>
              <a:t>DMC</a:t>
            </a:r>
            <a:r>
              <a:rPr lang="en-US" altLang="zh-CN" sz="2400" dirty="0"/>
              <a:t>, DMP</a:t>
            </a:r>
          </a:p>
          <a:p>
            <a:r>
              <a:rPr lang="en-US" altLang="zh-CN" sz="2400" dirty="0"/>
              <a:t>DMR:</a:t>
            </a:r>
            <a:r>
              <a:rPr lang="zh-CN" altLang="en-US" sz="2400" dirty="0"/>
              <a:t> </a:t>
            </a:r>
            <a:r>
              <a:rPr lang="en-US" altLang="zh-CN" sz="2400" dirty="0"/>
              <a:t>Digital Media Renderer</a:t>
            </a:r>
          </a:p>
          <a:p>
            <a:r>
              <a:rPr lang="en-US" altLang="zh-CN" sz="2400" dirty="0"/>
              <a:t>DMC: Digital Media controller</a:t>
            </a:r>
          </a:p>
          <a:p>
            <a:r>
              <a:rPr lang="en-US" altLang="zh-CN" sz="2400" dirty="0"/>
              <a:t>UPnP(Universal Plug and Play)</a:t>
            </a:r>
          </a:p>
          <a:p>
            <a:pPr lvl="1"/>
            <a:r>
              <a:rPr lang="zh-CN" altLang="en-US" sz="2000" dirty="0"/>
              <a:t>设备发现协议：</a:t>
            </a:r>
            <a:r>
              <a:rPr lang="en-US" altLang="zh-CN" sz="2000" dirty="0"/>
              <a:t>SSDP(Simple Service Discovery Protocol)</a:t>
            </a:r>
          </a:p>
          <a:p>
            <a:pPr lvl="1"/>
            <a:r>
              <a:rPr lang="en-US" altLang="zh-CN" sz="2000" dirty="0"/>
              <a:t>TCP, UDP, HTTP, XML</a:t>
            </a:r>
          </a:p>
          <a:p>
            <a:r>
              <a:rPr lang="zh-CN" altLang="en-US" sz="2400" dirty="0"/>
              <a:t>支持应用</a:t>
            </a:r>
            <a:endParaRPr lang="en-US" altLang="zh-CN" sz="2400" dirty="0"/>
          </a:p>
          <a:p>
            <a:pPr lvl="1"/>
            <a:r>
              <a:rPr lang="zh-CN" altLang="en-US" sz="2000" dirty="0"/>
              <a:t>华为手机，腾讯，爱奇艺，优酷 </a:t>
            </a:r>
            <a:r>
              <a:rPr lang="en-US" altLang="zh-CN" sz="2000" dirty="0"/>
              <a:t>…</a:t>
            </a:r>
          </a:p>
          <a:p>
            <a:pPr lvl="1"/>
            <a:r>
              <a:rPr lang="zh-CN" altLang="en-US" sz="2000" dirty="0"/>
              <a:t>视频、音频、图片</a:t>
            </a:r>
            <a:endParaRPr lang="en-US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71604" y="274638"/>
            <a:ext cx="7115196" cy="1143000"/>
          </a:xfrm>
        </p:spPr>
        <p:txBody>
          <a:bodyPr/>
          <a:lstStyle/>
          <a:p>
            <a:pPr algn="l"/>
            <a:r>
              <a:rPr lang="en-US" altLang="zh-CN" dirty="0"/>
              <a:t>DLNA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D4A3002E-80F4-E840-CECC-E223477BB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575" y="2132856"/>
            <a:ext cx="3019425" cy="14668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98199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21087"/>
          </a:xfrm>
        </p:spPr>
        <p:txBody>
          <a:bodyPr/>
          <a:lstStyle/>
          <a:p>
            <a:r>
              <a:rPr lang="zh-CN" altLang="en-US" sz="2400" dirty="0"/>
              <a:t>苹果私有协议，开发用于</a:t>
            </a:r>
            <a:r>
              <a:rPr lang="en-US" altLang="zh-CN" sz="2400" dirty="0"/>
              <a:t>Apple TV</a:t>
            </a:r>
            <a:r>
              <a:rPr lang="zh-CN" altLang="en-US" sz="2400" dirty="0"/>
              <a:t>，支持同屏</a:t>
            </a:r>
            <a:r>
              <a:rPr lang="en-US" altLang="zh-CN" sz="2400" dirty="0"/>
              <a:t>+</a:t>
            </a:r>
            <a:r>
              <a:rPr lang="zh-CN" altLang="en-US" sz="2400" dirty="0"/>
              <a:t>投屏</a:t>
            </a:r>
            <a:endParaRPr lang="en-US" altLang="zh-CN" sz="2400" dirty="0"/>
          </a:p>
          <a:p>
            <a:r>
              <a:rPr lang="zh-CN" altLang="en-US" sz="2400" dirty="0"/>
              <a:t>支持</a:t>
            </a:r>
            <a:r>
              <a:rPr lang="en-US" altLang="zh-CN" sz="2400" dirty="0"/>
              <a:t>iPhone, iPad, </a:t>
            </a:r>
            <a:r>
              <a:rPr lang="en-US" altLang="zh-CN" sz="2400" dirty="0" err="1"/>
              <a:t>iPodtouch</a:t>
            </a:r>
            <a:r>
              <a:rPr lang="zh-CN" altLang="en-US" sz="2400" dirty="0"/>
              <a:t>等设备</a:t>
            </a:r>
            <a:endParaRPr lang="en-US" altLang="zh-CN" sz="2400" dirty="0"/>
          </a:p>
          <a:p>
            <a:r>
              <a:rPr lang="zh-CN" altLang="en-US" sz="2400" dirty="0"/>
              <a:t>支持图片，音频，视频，屏幕镜像</a:t>
            </a:r>
            <a:endParaRPr lang="en-US" altLang="zh-CN" sz="2400" dirty="0"/>
          </a:p>
          <a:p>
            <a:r>
              <a:rPr lang="zh-CN" altLang="en-US" sz="2400" dirty="0"/>
              <a:t>关键技术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 err="1"/>
              <a:t>mDNS</a:t>
            </a:r>
            <a:r>
              <a:rPr lang="zh-CN" altLang="en-US" sz="2000" dirty="0"/>
              <a:t>：</a:t>
            </a:r>
            <a:r>
              <a:rPr lang="en-US" altLang="zh-CN" sz="2000" dirty="0"/>
              <a:t>Multicast DNS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ROAP: Simple Object Access Protocol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zh-CN" sz="1600" dirty="0"/>
              <a:t>XML &amp; http based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/>
              <a:t>流服务：</a:t>
            </a:r>
            <a:r>
              <a:rPr lang="en-US" altLang="zh-CN" sz="2000" dirty="0"/>
              <a:t>TCP/</a:t>
            </a:r>
            <a:r>
              <a:rPr lang="en-US" altLang="zh-CN" sz="2000" dirty="0" err="1"/>
              <a:t>UDPx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H264 video + AAC-ELD audio</a:t>
            </a:r>
          </a:p>
          <a:p>
            <a:r>
              <a:rPr lang="zh-CN" altLang="en-US" sz="2400" dirty="0"/>
              <a:t>连接方式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AP, STA, P2P</a:t>
            </a:r>
          </a:p>
          <a:p>
            <a:endParaRPr lang="en-US" altLang="zh-CN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71604" y="274638"/>
            <a:ext cx="7115196" cy="1143000"/>
          </a:xfrm>
        </p:spPr>
        <p:txBody>
          <a:bodyPr/>
          <a:lstStyle/>
          <a:p>
            <a:pPr algn="l"/>
            <a:r>
              <a:rPr lang="en-US" altLang="zh-CN" dirty="0" err="1"/>
              <a:t>Aircast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70606D18-F5E7-D683-31E3-5A47DC1CB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40" y="2762994"/>
            <a:ext cx="1304925" cy="10477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A70E0E34-3A24-4431-86EE-BD2060697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515" y="4581128"/>
            <a:ext cx="1228725" cy="11049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98199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29063"/>
          </a:xfrm>
        </p:spPr>
        <p:txBody>
          <a:bodyPr/>
          <a:lstStyle/>
          <a:p>
            <a:r>
              <a:rPr lang="zh-CN" altLang="en-US" sz="2400" dirty="0" smtClean="0"/>
              <a:t>由</a:t>
            </a:r>
            <a:r>
              <a:rPr lang="en-US" altLang="zh-CN" sz="2400" dirty="0" smtClean="0"/>
              <a:t>Wi-Fi</a:t>
            </a:r>
            <a:r>
              <a:rPr lang="zh-CN" altLang="en-US" sz="2400" dirty="0" smtClean="0"/>
              <a:t>联盟制定的屏幕镜像技术，开放协议</a:t>
            </a:r>
            <a:endParaRPr lang="en-US" altLang="zh-CN" sz="2400" dirty="0" smtClean="0"/>
          </a:p>
          <a:p>
            <a:r>
              <a:rPr lang="en-US" altLang="zh-CN" sz="2400" dirty="0" smtClean="0"/>
              <a:t>Android/Win10</a:t>
            </a:r>
            <a:r>
              <a:rPr lang="zh-CN" altLang="en-US" sz="2400" dirty="0" smtClean="0"/>
              <a:t>支持</a:t>
            </a:r>
            <a:endParaRPr lang="en-US" altLang="zh-CN" sz="2400" dirty="0" smtClean="0"/>
          </a:p>
          <a:p>
            <a:r>
              <a:rPr lang="zh-CN" altLang="en-US" sz="2400" dirty="0" smtClean="0"/>
              <a:t>基于</a:t>
            </a:r>
            <a:r>
              <a:rPr lang="en-US" altLang="zh-CN" sz="2400" dirty="0" smtClean="0"/>
              <a:t>Wi-Fi Direct(P2P)</a:t>
            </a:r>
            <a:r>
              <a:rPr lang="zh-CN" altLang="en-US" sz="2400" dirty="0" smtClean="0"/>
              <a:t>连接</a:t>
            </a:r>
            <a:endParaRPr lang="en-US" altLang="zh-CN" sz="2400" dirty="0" smtClean="0"/>
          </a:p>
          <a:p>
            <a:r>
              <a:rPr lang="zh-CN" altLang="en-US" sz="2400" dirty="0" smtClean="0"/>
              <a:t>媒体流基于</a:t>
            </a:r>
            <a:r>
              <a:rPr lang="en-US" altLang="zh-CN" sz="2400" dirty="0" smtClean="0"/>
              <a:t>RTP(UDP)</a:t>
            </a:r>
            <a:r>
              <a:rPr lang="zh-CN" altLang="en-US" sz="2400" dirty="0" smtClean="0"/>
              <a:t>传输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缺点：会发现错包，丢包而导致卡顿、花屏等现象</a:t>
            </a:r>
            <a:endParaRPr lang="en-US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71604" y="274638"/>
            <a:ext cx="7115196" cy="1143000"/>
          </a:xfrm>
        </p:spPr>
        <p:txBody>
          <a:bodyPr/>
          <a:lstStyle/>
          <a:p>
            <a:pPr algn="l"/>
            <a:r>
              <a:rPr lang="en-US" altLang="zh-CN" dirty="0" err="1"/>
              <a:t>Miracast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4071942"/>
            <a:ext cx="3500461" cy="1192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798199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29063"/>
          </a:xfrm>
        </p:spPr>
        <p:txBody>
          <a:bodyPr/>
          <a:lstStyle/>
          <a:p>
            <a:r>
              <a:rPr lang="zh-CN" altLang="en-US" sz="2400" dirty="0"/>
              <a:t>自定义协议，由</a:t>
            </a:r>
            <a:r>
              <a:rPr lang="en-US" altLang="zh-CN" sz="2400" dirty="0"/>
              <a:t>APK</a:t>
            </a:r>
            <a:r>
              <a:rPr lang="zh-CN" altLang="en-US" sz="2400" dirty="0"/>
              <a:t>完成屏幕录制及</a:t>
            </a:r>
            <a:r>
              <a:rPr lang="en-US" altLang="zh-CN" sz="2400" dirty="0"/>
              <a:t>USB</a:t>
            </a:r>
            <a:r>
              <a:rPr lang="zh-CN" altLang="en-US" sz="2400" dirty="0"/>
              <a:t>通信</a:t>
            </a:r>
            <a:endParaRPr lang="en-US" altLang="zh-CN" sz="2400" dirty="0"/>
          </a:p>
          <a:p>
            <a:r>
              <a:rPr lang="zh-CN" altLang="en-US" sz="2400" dirty="0"/>
              <a:t>主模式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AOA + APK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/>
              <a:t>缺点：无法录制声音</a:t>
            </a:r>
            <a:endParaRPr lang="en-US" altLang="zh-CN" sz="2000" dirty="0"/>
          </a:p>
          <a:p>
            <a:r>
              <a:rPr lang="zh-CN" altLang="en-US" sz="2400" dirty="0"/>
              <a:t>从模式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UAC + APK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71604" y="274638"/>
            <a:ext cx="7115196" cy="1143000"/>
          </a:xfrm>
        </p:spPr>
        <p:txBody>
          <a:bodyPr/>
          <a:lstStyle/>
          <a:p>
            <a:pPr algn="l"/>
            <a:r>
              <a:rPr lang="zh-CN" altLang="en-US" dirty="0"/>
              <a:t>安卓</a:t>
            </a:r>
            <a:r>
              <a:rPr lang="en-US" altLang="zh-CN" dirty="0"/>
              <a:t>USB</a:t>
            </a:r>
            <a:r>
              <a:rPr lang="zh-CN" altLang="en-US" dirty="0"/>
              <a:t>有线同屏</a:t>
            </a:r>
          </a:p>
        </p:txBody>
      </p:sp>
    </p:spTree>
    <p:extLst>
      <p:ext uri="{BB962C8B-B14F-4D97-AF65-F5344CB8AC3E}">
        <p14:creationId xmlns="" xmlns:p14="http://schemas.microsoft.com/office/powerpoint/2010/main" val="2798199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29063"/>
          </a:xfrm>
        </p:spPr>
        <p:txBody>
          <a:bodyPr/>
          <a:lstStyle/>
          <a:p>
            <a:r>
              <a:rPr lang="zh-CN" altLang="en-US" sz="2400" dirty="0" smtClean="0"/>
              <a:t>苹果系统自带，私有协议</a:t>
            </a:r>
            <a:endParaRPr lang="en-US" altLang="zh-CN" sz="2400" dirty="0" smtClean="0"/>
          </a:p>
          <a:p>
            <a:r>
              <a:rPr lang="zh-CN" altLang="en-US" sz="2400" dirty="0" smtClean="0"/>
              <a:t>主模式</a:t>
            </a:r>
            <a:endParaRPr lang="en-US" altLang="zh-CN" sz="2400" dirty="0" smtClean="0"/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 smtClean="0"/>
              <a:t>点信任</a:t>
            </a:r>
            <a:endParaRPr lang="en-US" altLang="zh-CN" sz="2000" dirty="0" smtClean="0"/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 smtClean="0"/>
              <a:t>外部电源供电</a:t>
            </a:r>
            <a:endParaRPr lang="en-US" altLang="zh-CN" sz="2000" dirty="0" smtClean="0"/>
          </a:p>
          <a:p>
            <a:r>
              <a:rPr lang="zh-CN" altLang="en-US" sz="2400" dirty="0" smtClean="0"/>
              <a:t>从模式</a:t>
            </a:r>
            <a:endParaRPr lang="en-US" altLang="zh-CN" sz="2400" dirty="0" smtClean="0"/>
          </a:p>
          <a:p>
            <a:pPr lvl="1">
              <a:buFont typeface="Wingdings" pitchFamily="2" charset="2"/>
              <a:buChar char="Ø"/>
            </a:pPr>
            <a:r>
              <a:rPr lang="en-US" altLang="zh-CN" sz="2000" dirty="0" smtClean="0"/>
              <a:t>OTG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 smtClean="0"/>
              <a:t>无需信任</a:t>
            </a:r>
            <a:endParaRPr lang="en-US" altLang="zh-CN" sz="2000" dirty="0" smtClean="0"/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 smtClean="0"/>
              <a:t>可由手机供电</a:t>
            </a:r>
            <a:endParaRPr lang="en-US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71604" y="274638"/>
            <a:ext cx="7115196" cy="1143000"/>
          </a:xfrm>
        </p:spPr>
        <p:txBody>
          <a:bodyPr/>
          <a:lstStyle/>
          <a:p>
            <a:pPr algn="l"/>
            <a:r>
              <a:rPr lang="zh-CN" altLang="en-US" dirty="0" smtClean="0"/>
              <a:t>苹果</a:t>
            </a:r>
            <a:r>
              <a:rPr lang="en-US" altLang="zh-CN" dirty="0" smtClean="0"/>
              <a:t>USB</a:t>
            </a:r>
            <a:r>
              <a:rPr lang="zh-CN" altLang="en-US" dirty="0" smtClean="0"/>
              <a:t>有线</a:t>
            </a:r>
            <a:r>
              <a:rPr lang="zh-CN" altLang="en-US" dirty="0"/>
              <a:t>同屏</a:t>
            </a:r>
          </a:p>
        </p:txBody>
      </p:sp>
    </p:spTree>
    <p:extLst>
      <p:ext uri="{BB962C8B-B14F-4D97-AF65-F5344CB8AC3E}">
        <p14:creationId xmlns="" xmlns:p14="http://schemas.microsoft.com/office/powerpoint/2010/main" val="2798199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/>
          <p:cNvSpPr>
            <a:spLocks noGrp="1"/>
          </p:cNvSpPr>
          <p:nvPr>
            <p:ph type="title"/>
          </p:nvPr>
        </p:nvSpPr>
        <p:spPr>
          <a:xfrm>
            <a:off x="1571604" y="274638"/>
            <a:ext cx="7115196" cy="1143000"/>
          </a:xfrm>
        </p:spPr>
        <p:txBody>
          <a:bodyPr anchor="ctr" anchorCtr="0"/>
          <a:lstStyle/>
          <a:p>
            <a:pPr algn="l"/>
            <a:r>
              <a:rPr lang="zh-CN" altLang="en-US" dirty="0" smtClean="0"/>
              <a:t>海奇</a:t>
            </a:r>
            <a:r>
              <a:rPr lang="en-US" altLang="zh-CN" dirty="0" smtClean="0"/>
              <a:t>HCCAST</a:t>
            </a:r>
            <a:r>
              <a:rPr lang="zh-CN" altLang="en-US" dirty="0" smtClean="0"/>
              <a:t>框架</a:t>
            </a:r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500034" y="2357430"/>
            <a:ext cx="6072230" cy="1588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28596" y="4572008"/>
            <a:ext cx="8286808" cy="1588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1500166" y="1714488"/>
            <a:ext cx="4929222" cy="42862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UI/App</a:t>
            </a:r>
            <a:endParaRPr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1500166" y="2643182"/>
            <a:ext cx="1643074" cy="42862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Aircast</a:t>
            </a:r>
            <a:r>
              <a:rPr lang="en-US" altLang="zh-CN" dirty="0" smtClean="0"/>
              <a:t> service</a:t>
            </a:r>
            <a:endParaRPr lang="zh-CN" altLang="en-US" dirty="0"/>
          </a:p>
        </p:txBody>
      </p:sp>
      <p:sp>
        <p:nvSpPr>
          <p:cNvPr id="10" name="圆角矩形 9"/>
          <p:cNvSpPr/>
          <p:nvPr/>
        </p:nvSpPr>
        <p:spPr>
          <a:xfrm>
            <a:off x="1500166" y="4786322"/>
            <a:ext cx="1071570" cy="42862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Aircast</a:t>
            </a:r>
            <a:endParaRPr lang="zh-CN" altLang="en-US" dirty="0"/>
          </a:p>
        </p:txBody>
      </p:sp>
      <p:sp>
        <p:nvSpPr>
          <p:cNvPr id="11" name="圆角矩形 10"/>
          <p:cNvSpPr/>
          <p:nvPr/>
        </p:nvSpPr>
        <p:spPr>
          <a:xfrm>
            <a:off x="2786050" y="4786322"/>
            <a:ext cx="1285884" cy="42862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DLNA</a:t>
            </a:r>
            <a:endParaRPr lang="zh-CN" altLang="en-US" dirty="0"/>
          </a:p>
        </p:txBody>
      </p:sp>
      <p:sp>
        <p:nvSpPr>
          <p:cNvPr id="12" name="圆角矩形 11"/>
          <p:cNvSpPr/>
          <p:nvPr/>
        </p:nvSpPr>
        <p:spPr>
          <a:xfrm>
            <a:off x="1500166" y="5429264"/>
            <a:ext cx="1071570" cy="42862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Miracast</a:t>
            </a:r>
            <a:endParaRPr lang="zh-CN" altLang="en-US" dirty="0"/>
          </a:p>
        </p:txBody>
      </p:sp>
      <p:sp>
        <p:nvSpPr>
          <p:cNvPr id="13" name="圆角矩形 12"/>
          <p:cNvSpPr/>
          <p:nvPr/>
        </p:nvSpPr>
        <p:spPr>
          <a:xfrm>
            <a:off x="2786050" y="5429264"/>
            <a:ext cx="1285884" cy="42862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有线同屏</a:t>
            </a:r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00034" y="3214686"/>
            <a:ext cx="100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hccast</a:t>
            </a:r>
            <a:r>
              <a:rPr lang="en-US" altLang="zh-CN" dirty="0" smtClean="0"/>
              <a:t> </a:t>
            </a:r>
            <a:r>
              <a:rPr lang="zh-CN" altLang="en-US" dirty="0" smtClean="0"/>
              <a:t>中间件</a:t>
            </a:r>
            <a:endParaRPr lang="en-US" altLang="zh-CN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571472" y="1785926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User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500034" y="4643446"/>
            <a:ext cx="3714776" cy="1357322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71472" y="514351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协议</a:t>
            </a:r>
            <a:endParaRPr lang="zh-CN" altLang="en-US" dirty="0"/>
          </a:p>
        </p:txBody>
      </p:sp>
      <p:sp>
        <p:nvSpPr>
          <p:cNvPr id="20" name="圆角矩形 19"/>
          <p:cNvSpPr/>
          <p:nvPr/>
        </p:nvSpPr>
        <p:spPr>
          <a:xfrm>
            <a:off x="1500166" y="3286124"/>
            <a:ext cx="1643074" cy="42862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DLNA service</a:t>
            </a:r>
            <a:endParaRPr lang="zh-CN" altLang="en-US" dirty="0"/>
          </a:p>
        </p:txBody>
      </p:sp>
      <p:sp>
        <p:nvSpPr>
          <p:cNvPr id="21" name="圆角矩形 20"/>
          <p:cNvSpPr/>
          <p:nvPr/>
        </p:nvSpPr>
        <p:spPr>
          <a:xfrm>
            <a:off x="1500166" y="3857628"/>
            <a:ext cx="1643074" cy="57150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Miracast</a:t>
            </a:r>
            <a:r>
              <a:rPr lang="en-US" altLang="zh-CN" dirty="0" smtClean="0"/>
              <a:t> service</a:t>
            </a:r>
            <a:endParaRPr lang="zh-CN" altLang="en-US" dirty="0"/>
          </a:p>
        </p:txBody>
      </p:sp>
      <p:sp>
        <p:nvSpPr>
          <p:cNvPr id="22" name="圆角矩形 21"/>
          <p:cNvSpPr/>
          <p:nvPr/>
        </p:nvSpPr>
        <p:spPr>
          <a:xfrm>
            <a:off x="7072330" y="3214686"/>
            <a:ext cx="1714512" cy="57150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libwpa</a:t>
            </a:r>
            <a:endParaRPr lang="zh-CN" altLang="en-US" dirty="0"/>
          </a:p>
        </p:txBody>
      </p:sp>
      <p:sp>
        <p:nvSpPr>
          <p:cNvPr id="23" name="圆角矩形 22"/>
          <p:cNvSpPr/>
          <p:nvPr/>
        </p:nvSpPr>
        <p:spPr>
          <a:xfrm>
            <a:off x="3357554" y="3857628"/>
            <a:ext cx="1643074" cy="57150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Sence</a:t>
            </a:r>
            <a:r>
              <a:rPr lang="en-US" altLang="zh-CN" dirty="0" smtClean="0"/>
              <a:t> switch</a:t>
            </a:r>
            <a:endParaRPr lang="zh-CN" altLang="en-US" dirty="0"/>
          </a:p>
        </p:txBody>
      </p:sp>
      <p:sp>
        <p:nvSpPr>
          <p:cNvPr id="24" name="圆角矩形 23"/>
          <p:cNvSpPr/>
          <p:nvPr/>
        </p:nvSpPr>
        <p:spPr>
          <a:xfrm>
            <a:off x="3357554" y="3286124"/>
            <a:ext cx="1643074" cy="42862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DHCP(C/D)</a:t>
            </a:r>
            <a:endParaRPr lang="zh-CN" altLang="en-US" dirty="0"/>
          </a:p>
        </p:txBody>
      </p:sp>
      <p:sp>
        <p:nvSpPr>
          <p:cNvPr id="25" name="圆角矩形 24"/>
          <p:cNvSpPr/>
          <p:nvPr/>
        </p:nvSpPr>
        <p:spPr>
          <a:xfrm>
            <a:off x="5286380" y="3500438"/>
            <a:ext cx="1143008" cy="92869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Wi-Fi MGR</a:t>
            </a:r>
            <a:endParaRPr lang="zh-CN" altLang="en-US" dirty="0"/>
          </a:p>
        </p:txBody>
      </p:sp>
      <p:sp>
        <p:nvSpPr>
          <p:cNvPr id="26" name="圆角矩形 25"/>
          <p:cNvSpPr/>
          <p:nvPr/>
        </p:nvSpPr>
        <p:spPr>
          <a:xfrm>
            <a:off x="7072330" y="1785926"/>
            <a:ext cx="1714512" cy="114300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wpa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hostap</a:t>
            </a:r>
            <a:r>
              <a:rPr lang="en-US" altLang="zh-CN" dirty="0" smtClean="0"/>
              <a:t> supplicant</a:t>
            </a:r>
            <a:endParaRPr lang="zh-CN" altLang="en-US" dirty="0"/>
          </a:p>
        </p:txBody>
      </p:sp>
      <p:sp>
        <p:nvSpPr>
          <p:cNvPr id="27" name="圆角矩形 26"/>
          <p:cNvSpPr/>
          <p:nvPr/>
        </p:nvSpPr>
        <p:spPr>
          <a:xfrm>
            <a:off x="3357554" y="2643182"/>
            <a:ext cx="1643074" cy="42862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hccast_simple</a:t>
            </a:r>
            <a:endParaRPr lang="zh-CN" altLang="en-US" dirty="0"/>
          </a:p>
        </p:txBody>
      </p:sp>
      <p:cxnSp>
        <p:nvCxnSpPr>
          <p:cNvPr id="29" name="形状 28"/>
          <p:cNvCxnSpPr>
            <a:stCxn id="25" idx="3"/>
            <a:endCxn id="22" idx="2"/>
          </p:cNvCxnSpPr>
          <p:nvPr/>
        </p:nvCxnSpPr>
        <p:spPr>
          <a:xfrm flipV="1">
            <a:off x="6429388" y="3786190"/>
            <a:ext cx="1500198" cy="17859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2" idx="0"/>
            <a:endCxn id="26" idx="2"/>
          </p:cNvCxnSpPr>
          <p:nvPr/>
        </p:nvCxnSpPr>
        <p:spPr>
          <a:xfrm rot="5400000" flipH="1" flipV="1">
            <a:off x="7786710" y="3071810"/>
            <a:ext cx="285752" cy="158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4572000" y="4643446"/>
            <a:ext cx="4143404" cy="1357322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/>
        </p:nvSpPr>
        <p:spPr>
          <a:xfrm>
            <a:off x="4714876" y="4786322"/>
            <a:ext cx="1285884" cy="4286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TCP/IP</a:t>
            </a:r>
            <a:endParaRPr lang="zh-CN" altLang="en-US" dirty="0"/>
          </a:p>
        </p:txBody>
      </p:sp>
      <p:sp>
        <p:nvSpPr>
          <p:cNvPr id="38" name="圆角矩形 37"/>
          <p:cNvSpPr/>
          <p:nvPr/>
        </p:nvSpPr>
        <p:spPr>
          <a:xfrm>
            <a:off x="6286512" y="4786322"/>
            <a:ext cx="1285884" cy="4286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A/V</a:t>
            </a:r>
            <a:endParaRPr lang="zh-CN" altLang="en-US" dirty="0"/>
          </a:p>
        </p:txBody>
      </p:sp>
      <p:sp>
        <p:nvSpPr>
          <p:cNvPr id="39" name="圆角矩形 38"/>
          <p:cNvSpPr/>
          <p:nvPr/>
        </p:nvSpPr>
        <p:spPr>
          <a:xfrm>
            <a:off x="4714876" y="5429264"/>
            <a:ext cx="1285884" cy="4286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USB</a:t>
            </a:r>
            <a:endParaRPr lang="zh-CN" altLang="en-US" dirty="0"/>
          </a:p>
        </p:txBody>
      </p:sp>
      <p:sp>
        <p:nvSpPr>
          <p:cNvPr id="40" name="圆角矩形 39"/>
          <p:cNvSpPr/>
          <p:nvPr/>
        </p:nvSpPr>
        <p:spPr>
          <a:xfrm>
            <a:off x="6286512" y="5429264"/>
            <a:ext cx="1285884" cy="4286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Wi-Fi</a:t>
            </a:r>
            <a:endParaRPr lang="zh-CN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7715272" y="5143512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System</a:t>
            </a:r>
            <a:endParaRPr lang="zh-CN" altLang="en-US" dirty="0"/>
          </a:p>
        </p:txBody>
      </p:sp>
      <p:sp>
        <p:nvSpPr>
          <p:cNvPr id="32" name="圆角矩形 31"/>
          <p:cNvSpPr/>
          <p:nvPr/>
        </p:nvSpPr>
        <p:spPr>
          <a:xfrm>
            <a:off x="5286380" y="2643182"/>
            <a:ext cx="1143008" cy="42862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httpd</a:t>
            </a:r>
            <a:endParaRPr lang="zh-CN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6929454" y="1714488"/>
            <a:ext cx="2000264" cy="2714644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719856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00567"/>
          </a:xfrm>
        </p:spPr>
        <p:txBody>
          <a:bodyPr/>
          <a:lstStyle/>
          <a:p>
            <a:r>
              <a:rPr lang="zh-CN" altLang="en-US" sz="1600" dirty="0"/>
              <a:t>申请一个开发板（</a:t>
            </a:r>
            <a:r>
              <a:rPr lang="en-US" altLang="zh-CN" sz="1600" dirty="0"/>
              <a:t>A210</a:t>
            </a:r>
            <a:r>
              <a:rPr lang="zh-CN" altLang="en-US" sz="1600" dirty="0"/>
              <a:t>，</a:t>
            </a:r>
            <a:r>
              <a:rPr lang="en-US" altLang="zh-CN" sz="1600" dirty="0"/>
              <a:t>A5100</a:t>
            </a:r>
            <a:r>
              <a:rPr lang="zh-CN" altLang="en-US" sz="1600" dirty="0"/>
              <a:t>，</a:t>
            </a:r>
            <a:r>
              <a:rPr lang="en-US" altLang="zh-CN" sz="1600" dirty="0"/>
              <a:t>A3100</a:t>
            </a:r>
            <a:r>
              <a:rPr lang="zh-CN" altLang="en-US" sz="1600" dirty="0"/>
              <a:t>均可）</a:t>
            </a:r>
            <a:endParaRPr lang="en-US" altLang="zh-CN" sz="1600" dirty="0"/>
          </a:p>
          <a:p>
            <a:r>
              <a:rPr lang="zh-CN" altLang="en-US" sz="1600" dirty="0"/>
              <a:t>分别编译无线同屏器和有线同屏器软件</a:t>
            </a:r>
            <a:endParaRPr lang="en-US" altLang="zh-CN" sz="1600" dirty="0"/>
          </a:p>
          <a:p>
            <a:r>
              <a:rPr lang="zh-CN" altLang="en-US" sz="1600" dirty="0"/>
              <a:t>将软件烧写到板子上运行</a:t>
            </a:r>
            <a:endParaRPr lang="en-US" altLang="zh-CN" sz="1600" dirty="0"/>
          </a:p>
          <a:p>
            <a:r>
              <a:rPr lang="zh-CN" altLang="en-US" sz="1600" dirty="0"/>
              <a:t>详细测试以下功能，并尝试了解它们的原理</a:t>
            </a:r>
            <a:endParaRPr lang="en-US" altLang="zh-CN" sz="1600" dirty="0"/>
          </a:p>
          <a:p>
            <a:pPr lvl="1">
              <a:buFont typeface="Wingdings" pitchFamily="2" charset="2"/>
              <a:buChar char="Ø"/>
            </a:pPr>
            <a:r>
              <a:rPr lang="en-US" altLang="zh-CN" sz="1400" dirty="0"/>
              <a:t>AP</a:t>
            </a:r>
            <a:r>
              <a:rPr lang="zh-CN" altLang="en-US" sz="1400" dirty="0"/>
              <a:t>模式：</a:t>
            </a:r>
            <a:r>
              <a:rPr lang="en-US" altLang="zh-CN" sz="1400" dirty="0" err="1"/>
              <a:t>Aircast</a:t>
            </a:r>
            <a:r>
              <a:rPr lang="en-US" altLang="zh-CN" sz="1400" dirty="0"/>
              <a:t>, Miracast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zh-CN" sz="1400" dirty="0"/>
              <a:t> </a:t>
            </a:r>
            <a:r>
              <a:rPr lang="zh-CN" altLang="en-US" sz="1400" dirty="0"/>
              <a:t>平台配网</a:t>
            </a:r>
            <a:endParaRPr lang="en-US" altLang="zh-CN" sz="1400" dirty="0"/>
          </a:p>
          <a:p>
            <a:pPr lvl="1">
              <a:buFont typeface="Wingdings" pitchFamily="2" charset="2"/>
              <a:buChar char="Ø"/>
            </a:pPr>
            <a:r>
              <a:rPr lang="en-US" altLang="zh-CN" sz="1400" dirty="0"/>
              <a:t>STA</a:t>
            </a:r>
            <a:r>
              <a:rPr lang="zh-CN" altLang="en-US" sz="1400" dirty="0"/>
              <a:t>模式：</a:t>
            </a:r>
            <a:r>
              <a:rPr lang="en-US" altLang="zh-CN" sz="1400" dirty="0" err="1"/>
              <a:t>Aircast</a:t>
            </a:r>
            <a:r>
              <a:rPr lang="en-US" altLang="zh-CN" sz="1400" dirty="0"/>
              <a:t>, DLNA, Miracast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sz="1400" dirty="0"/>
              <a:t>安卓有线</a:t>
            </a:r>
            <a:endParaRPr lang="en-US" altLang="zh-CN" sz="14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1400" dirty="0"/>
              <a:t>苹果</a:t>
            </a:r>
            <a:r>
              <a:rPr lang="zh-CN" altLang="en-US" sz="1400" dirty="0" smtClean="0"/>
              <a:t>有线</a:t>
            </a:r>
            <a:endParaRPr lang="en-US" altLang="zh-CN" sz="1400" dirty="0" smtClean="0"/>
          </a:p>
          <a:p>
            <a:r>
              <a:rPr lang="en-US" altLang="zh-CN" sz="1800" dirty="0" smtClean="0"/>
              <a:t>SDK</a:t>
            </a:r>
            <a:r>
              <a:rPr lang="zh-CN" altLang="en-US" sz="1800" dirty="0" smtClean="0"/>
              <a:t>分支：</a:t>
            </a:r>
            <a:r>
              <a:rPr lang="en-US" altLang="zh-CN" sz="1800" dirty="0" smtClean="0"/>
              <a:t> hcrtos-2023.04.y</a:t>
            </a:r>
          </a:p>
          <a:p>
            <a:r>
              <a:rPr lang="zh-CN" altLang="en-US" sz="1800" dirty="0" smtClean="0"/>
              <a:t>软件配置</a:t>
            </a:r>
            <a:endParaRPr lang="en-US" altLang="zh-CN" sz="1800" dirty="0" smtClean="0"/>
          </a:p>
          <a:p>
            <a:pPr lvl="1"/>
            <a:r>
              <a:rPr lang="en-US" altLang="zh-CN" sz="1100" dirty="0" smtClean="0"/>
              <a:t>hichip_hc15xx_db_a210_hcscreen_bl_defconfig / hichip_hc15xx_db_a210_hcscreen_defconfig  </a:t>
            </a:r>
            <a:r>
              <a:rPr lang="en-US" altLang="zh-CN" sz="1100" dirty="0" smtClean="0">
                <a:sym typeface="Wingdings" pitchFamily="2" charset="2"/>
              </a:rPr>
              <a:t> A210 + 8188FTV</a:t>
            </a:r>
            <a:endParaRPr lang="en-US" altLang="zh-CN" sz="1100" dirty="0" smtClean="0"/>
          </a:p>
          <a:p>
            <a:pPr lvl="1"/>
            <a:r>
              <a:rPr lang="en-US" altLang="zh-CN" sz="1100" dirty="0" smtClean="0"/>
              <a:t>hichip_hc15xx_db_a210_hcusbcast_bl_defconfig / hichip_hc15xx_db_a210_hcusbcast_defconfig  </a:t>
            </a:r>
            <a:r>
              <a:rPr lang="en-US" altLang="zh-CN" sz="1100" dirty="0" smtClean="0">
                <a:sym typeface="Wingdings" pitchFamily="2" charset="2"/>
              </a:rPr>
              <a:t> A210 </a:t>
            </a:r>
            <a:r>
              <a:rPr lang="zh-CN" altLang="en-US" sz="1100" dirty="0" smtClean="0">
                <a:sym typeface="Wingdings" pitchFamily="2" charset="2"/>
              </a:rPr>
              <a:t>有线同屏</a:t>
            </a:r>
            <a:endParaRPr lang="en-US" altLang="zh-CN" sz="1100" dirty="0" smtClean="0"/>
          </a:p>
          <a:p>
            <a:pPr lvl="1"/>
            <a:r>
              <a:rPr lang="en-US" altLang="zh-CN" sz="1100" dirty="0" smtClean="0"/>
              <a:t>hichip_hc16xx_db_a5100_v10_hcscreen_bl_defconfig / hichip_hc16xx_db_a5100_v10_hcscreen_defconfig  </a:t>
            </a:r>
            <a:r>
              <a:rPr lang="en-US" altLang="zh-CN" sz="1100" dirty="0" smtClean="0">
                <a:sym typeface="Wingdings" pitchFamily="2" charset="2"/>
              </a:rPr>
              <a:t> A5100 + 8731bu</a:t>
            </a:r>
            <a:endParaRPr lang="en-US" altLang="zh-CN" sz="11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71604" y="274638"/>
            <a:ext cx="7115196" cy="1143000"/>
          </a:xfrm>
        </p:spPr>
        <p:txBody>
          <a:bodyPr/>
          <a:lstStyle/>
          <a:p>
            <a:pPr algn="l"/>
            <a:r>
              <a:rPr lang="zh-CN" altLang="en-US" dirty="0"/>
              <a:t>课后小任务</a:t>
            </a:r>
          </a:p>
        </p:txBody>
      </p:sp>
    </p:spTree>
    <p:extLst>
      <p:ext uri="{BB962C8B-B14F-4D97-AF65-F5344CB8AC3E}">
        <p14:creationId xmlns="" xmlns:p14="http://schemas.microsoft.com/office/powerpoint/2010/main" val="2798199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3393</TotalTime>
  <Words>645</Words>
  <Application>Microsoft Office PowerPoint</Application>
  <PresentationFormat>全屏显示(4:3)</PresentationFormat>
  <Paragraphs>175</Paragraphs>
  <Slides>15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17" baseType="lpstr">
      <vt:lpstr>Office 主题</vt:lpstr>
      <vt:lpstr>1_Office 主题</vt:lpstr>
      <vt:lpstr>幻灯片 1</vt:lpstr>
      <vt:lpstr>什么是同屏？</vt:lpstr>
      <vt:lpstr>同屏技术应用</vt:lpstr>
      <vt:lpstr>常见的同屏技术</vt:lpstr>
      <vt:lpstr>投屏技术基本原理</vt:lpstr>
      <vt:lpstr>同屏技术基本原理</vt:lpstr>
      <vt:lpstr>无线工作模式</vt:lpstr>
      <vt:lpstr>主要技术指标</vt:lpstr>
      <vt:lpstr>DLNA</vt:lpstr>
      <vt:lpstr>Aircast</vt:lpstr>
      <vt:lpstr>Miracast</vt:lpstr>
      <vt:lpstr>安卓USB有线同屏</vt:lpstr>
      <vt:lpstr>苹果USB有线同屏</vt:lpstr>
      <vt:lpstr>海奇HCCAST框架</vt:lpstr>
      <vt:lpstr>课后小任务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xbany</dc:creator>
  <cp:lastModifiedBy>PC-Admin</cp:lastModifiedBy>
  <cp:revision>623</cp:revision>
  <dcterms:created xsi:type="dcterms:W3CDTF">2019-11-11T11:15:00Z</dcterms:created>
  <dcterms:modified xsi:type="dcterms:W3CDTF">2023-07-07T01:47:14Z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2052-11.1.0.10667</vt:lpwstr>
  </property>
  <property fmtid="{D5CDD505-2E9C-101B-9397-08002B2CF9AE}" pid="3" name="ICV">
    <vt:lpwstr>A99C97CE63B5481BA1E838BBF44C90C0</vt:lpwstr>
  </property>
</Properties>
</file>