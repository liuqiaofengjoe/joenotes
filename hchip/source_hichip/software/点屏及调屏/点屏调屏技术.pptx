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4"/>
  </p:notesMasterIdLst>
  <p:handoutMasterIdLst>
    <p:handoutMasterId r:id="rId25"/>
  </p:handoutMasterIdLst>
  <p:sldIdLst>
    <p:sldId id="257" r:id="rId4"/>
    <p:sldId id="273" r:id="rId5"/>
    <p:sldId id="288" r:id="rId6"/>
    <p:sldId id="289" r:id="rId7"/>
    <p:sldId id="262" r:id="rId8"/>
    <p:sldId id="264" r:id="rId9"/>
    <p:sldId id="304" r:id="rId10"/>
    <p:sldId id="305" r:id="rId11"/>
    <p:sldId id="292" r:id="rId12"/>
    <p:sldId id="268" r:id="rId13"/>
    <p:sldId id="277" r:id="rId14"/>
    <p:sldId id="303" r:id="rId15"/>
    <p:sldId id="269" r:id="rId16"/>
    <p:sldId id="274" r:id="rId17"/>
    <p:sldId id="271" r:id="rId18"/>
    <p:sldId id="272" r:id="rId19"/>
    <p:sldId id="275" r:id="rId20"/>
    <p:sldId id="294" r:id="rId21"/>
    <p:sldId id="270" r:id="rId22"/>
    <p:sldId id="302" r:id="rId23"/>
  </p:sldIdLst>
  <p:sldSz cx="9144000" cy="5143500"/>
  <p:notesSz cx="6645275" cy="9777730"/>
  <p:custDataLst>
    <p:tags r:id="rId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16"/>
    <p:restoredTop sz="94712"/>
  </p:normalViewPr>
  <p:slideViewPr>
    <p:cSldViewPr showGuides="1">
      <p:cViewPr varScale="1">
        <p:scale>
          <a:sx n="144" d="100"/>
          <a:sy n="144" d="100"/>
        </p:scale>
        <p:origin x="-864" y="-96"/>
      </p:cViewPr>
      <p:guideLst>
        <p:guide orient="horz" pos="177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15410E-059C-4A07-A3BF-713D6B03475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D56F49-B242-4D52-924F-8E689F86404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3500" y="733425"/>
            <a:ext cx="6518275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058863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87313"/>
            <a:ext cx="1116012" cy="9937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4624388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4732338"/>
            <a:ext cx="4824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274763"/>
            <a:ext cx="9144000" cy="3241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058863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338" y="87313"/>
            <a:ext cx="1116012" cy="9937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4624388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4732338"/>
            <a:ext cx="48244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内容占位符 2"/>
          <p:cNvSpPr>
            <a:spLocks noGrp="1"/>
          </p:cNvSpPr>
          <p:nvPr>
            <p:ph idx="1"/>
          </p:nvPr>
        </p:nvSpPr>
        <p:spPr>
          <a:xfrm>
            <a:off x="106998" y="1203960"/>
            <a:ext cx="8507412" cy="339407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en-US" altLang="zh-CN" sz="4800" dirty="0"/>
              <a:t>      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LCD</a:t>
            </a:r>
            <a:r>
              <a:rPr 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调屏</a:t>
            </a:r>
            <a:r>
              <a:rPr 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点屏</a:t>
            </a:r>
            <a:r>
              <a:rPr 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技术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                            		</a:t>
            </a:r>
            <a:r>
              <a:rPr lang="zh-CN" altLang="en-US" dirty="0"/>
              <a:t>陈林森</a:t>
            </a:r>
            <a:endParaRPr lang="en-US" altLang="zh-CN" dirty="0"/>
          </a:p>
          <a:p>
            <a:pPr algn="ctr" eaLnBrk="1" hangingPunct="1">
              <a:buNone/>
            </a:pPr>
            <a:r>
              <a:rPr lang="en-US" altLang="zh-CN" dirty="0"/>
              <a:t>  2023-07-20</a:t>
            </a:r>
            <a:endParaRPr lang="en-US" altLang="zh-CN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显示接口（</a:t>
            </a:r>
            <a:r>
              <a:rPr lang="en-US" altLang="zh-CN"/>
              <a:t>RGB\LVDS\MIPI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点屏调</a:t>
            </a:r>
            <a:r>
              <a:rPr lang="zh-CN" altLang="en-US"/>
              <a:t>屏</a:t>
            </a:r>
            <a:endParaRPr lang="zh-CN" altLang="en-US"/>
          </a:p>
          <a:p>
            <a:r>
              <a:rPr lang="zh-CN" altLang="en-US"/>
              <a:t>实际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芯片支持的</a:t>
            </a:r>
            <a:r>
              <a:rPr lang="zh-CN" altLang="en-US"/>
              <a:t>接口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3775" y="1200150"/>
            <a:ext cx="7155815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hcrtos config</a:t>
            </a:r>
            <a:r>
              <a:rPr lang="zh-CN" altLang="en-US"/>
              <a:t>默认的接口</a:t>
            </a:r>
            <a:r>
              <a:rPr lang="zh-CN" altLang="en-US"/>
              <a:t>配置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9400" y="1200150"/>
            <a:ext cx="6043930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基本的</a:t>
            </a:r>
            <a:r>
              <a:rPr lang="zh-CN" altLang="en-US" dirty="0"/>
              <a:t>知识点</a:t>
            </a:r>
            <a:endParaRPr lang="zh-CN" altLang="en-US" dirty="0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光的三原色。三原色指色彩中不能再分解的三种基本颜色，</a:t>
            </a:r>
            <a:r>
              <a:rPr lang="zh-CN" altLang="en-US">
                <a:sym typeface="+mn-ea"/>
              </a:rPr>
              <a:t>红、绿、蓝。通过红、绿、蓝可以混合各种各样的颜色。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像素点。画面成像由无数的像素点形成，点</a:t>
            </a:r>
            <a:r>
              <a:rPr lang="en-US" altLang="zh-CN">
                <a:sym typeface="+mn-ea"/>
              </a:rPr>
              <a:t> -- </a:t>
            </a:r>
            <a:r>
              <a:rPr lang="zh-CN" altLang="en-US">
                <a:sym typeface="+mn-ea"/>
              </a:rPr>
              <a:t>线</a:t>
            </a:r>
            <a:r>
              <a:rPr lang="en-US" altLang="zh-CN">
                <a:sym typeface="+mn-ea"/>
              </a:rPr>
              <a:t> -- </a:t>
            </a:r>
            <a:r>
              <a:rPr lang="zh-CN" altLang="en-US">
                <a:sym typeface="+mn-ea"/>
              </a:rPr>
              <a:t>面。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 txBox="1"/>
          <p:nvPr/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>
                <a:sym typeface="+mn-ea"/>
              </a:rPr>
              <a:t>什么是</a:t>
            </a:r>
            <a:r>
              <a:rPr lang="en-US" altLang="zh-CN" sz="4400">
                <a:sym typeface="+mn-ea"/>
              </a:rPr>
              <a:t>LCD</a:t>
            </a:r>
            <a:endParaRPr lang="zh-CN" altLang="en-US" sz="4400" dirty="0"/>
          </a:p>
        </p:txBody>
      </p:sp>
      <p:sp>
        <p:nvSpPr>
          <p:cNvPr id="614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LCD（液晶显示器）是一种常见的平面显示技术，它使用液晶分子来控制光的透过和阻挡，从而产生图像。</a:t>
            </a:r>
            <a:endParaRPr lang="zh-CN" altLang="en-US"/>
          </a:p>
          <a:p>
            <a:r>
              <a:rPr lang="zh-CN" altLang="en-US"/>
              <a:t>LCD显示屏具有轻薄、低功耗、高分辨率、色彩鲜艳等特点，因此在各种设备和应用领域中得到广泛使用。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LCD</a:t>
            </a:r>
            <a:r>
              <a:rPr lang="zh-CN" altLang="en-US"/>
              <a:t>的</a:t>
            </a:r>
            <a:r>
              <a:rPr lang="en-US" altLang="zh-CN"/>
              <a:t>tim</a:t>
            </a:r>
            <a:r>
              <a:rPr lang="en-US" altLang="zh-CN"/>
              <a:t>ing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5230" y="1200150"/>
            <a:ext cx="4192270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LCD</a:t>
            </a:r>
            <a:r>
              <a:rPr lang="zh-CN" altLang="en-US"/>
              <a:t>的</a:t>
            </a:r>
            <a:r>
              <a:rPr lang="en-US" altLang="zh-CN"/>
              <a:t>timing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9145" y="1200150"/>
            <a:ext cx="5045075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电源</a:t>
            </a:r>
            <a:endParaRPr lang="zh-CN" altLang="en-US"/>
          </a:p>
          <a:p>
            <a:r>
              <a:rPr lang="zh-CN" altLang="en-US">
                <a:sym typeface="+mn-ea"/>
              </a:rPr>
              <a:t>数据（</a:t>
            </a:r>
            <a:r>
              <a:rPr lang="en-US" altLang="zh-CN">
                <a:sym typeface="+mn-ea"/>
              </a:rPr>
              <a:t>RGB/LVDS/MIPI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分辨率）</a:t>
            </a:r>
            <a:endParaRPr lang="zh-CN" altLang="en-US"/>
          </a:p>
          <a:p>
            <a:r>
              <a:rPr lang="zh-CN" altLang="en-US">
                <a:sym typeface="+mn-ea"/>
              </a:rPr>
              <a:t>背光</a:t>
            </a:r>
            <a:endParaRPr lang="zh-CN" altLang="en-US"/>
          </a:p>
          <a:p>
            <a:r>
              <a:rPr lang="zh-CN" altLang="en-US">
                <a:sym typeface="+mn-ea"/>
              </a:rPr>
              <a:t>偏置电路</a:t>
            </a:r>
            <a:endParaRPr lang="zh-CN" altLang="en-US"/>
          </a:p>
          <a:p>
            <a:r>
              <a:rPr lang="zh-CN" altLang="en-US">
                <a:sym typeface="+mn-ea"/>
              </a:rPr>
              <a:t>复位</a:t>
            </a:r>
            <a:endParaRPr lang="zh-CN" altLang="en-US"/>
          </a:p>
          <a:p>
            <a:r>
              <a:rPr lang="zh-CN" altLang="en-US">
                <a:sym typeface="+mn-ea"/>
              </a:rPr>
              <a:t>驱动（</a:t>
            </a:r>
            <a:r>
              <a:rPr lang="en-US" altLang="zh-CN">
                <a:sym typeface="+mn-ea"/>
              </a:rPr>
              <a:t>SPI/I2C/MIPI LANE0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LCD</a:t>
            </a:r>
            <a:r>
              <a:rPr lang="zh-CN" altLang="en-US">
                <a:sym typeface="+mn-ea"/>
              </a:rPr>
              <a:t>点屏要素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00150"/>
            <a:ext cx="5357495" cy="3394075"/>
          </a:xfrm>
        </p:spPr>
        <p:txBody>
          <a:bodyPr/>
          <a:p>
            <a:r>
              <a:rPr lang="en-US" altLang="zh-CN" sz="2400">
                <a:sym typeface="+mn-ea"/>
              </a:rPr>
              <a:t>RGB</a:t>
            </a:r>
            <a:r>
              <a:rPr lang="zh-CN" altLang="en-US" sz="2400">
                <a:sym typeface="+mn-ea"/>
              </a:rPr>
              <a:t>一般是由</a:t>
            </a:r>
            <a:r>
              <a:rPr lang="en-US" altLang="zh-CN" sz="2400">
                <a:sym typeface="+mn-ea"/>
              </a:rPr>
              <a:t>15~24</a:t>
            </a:r>
            <a:r>
              <a:rPr lang="zh-CN" altLang="en-US" sz="2400">
                <a:sym typeface="+mn-ea"/>
              </a:rPr>
              <a:t>单通道信号、</a:t>
            </a:r>
            <a:r>
              <a:rPr lang="en-US" altLang="zh-CN" sz="2400">
                <a:sym typeface="+mn-ea"/>
              </a:rPr>
              <a:t>PCLK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HSYNC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VSYNC</a:t>
            </a:r>
            <a:r>
              <a:rPr lang="zh-CN" altLang="en-US" sz="2400">
                <a:sym typeface="+mn-ea"/>
              </a:rPr>
              <a:t>、</a:t>
            </a:r>
            <a:r>
              <a:rPr lang="en-US" altLang="zh-CN" sz="2400">
                <a:sym typeface="+mn-ea"/>
              </a:rPr>
              <a:t>DE</a:t>
            </a:r>
            <a:r>
              <a:rPr lang="zh-CN" altLang="en-US" sz="2400">
                <a:sym typeface="+mn-ea"/>
              </a:rPr>
              <a:t>组成。</a:t>
            </a:r>
            <a:endParaRPr lang="zh-CN" altLang="en-US" sz="2400">
              <a:sym typeface="+mn-ea"/>
            </a:endParaRPr>
          </a:p>
          <a:p>
            <a:r>
              <a:rPr lang="zh-CN" altLang="en-US" sz="2400"/>
              <a:t>常用数据格式：</a:t>
            </a:r>
            <a:r>
              <a:rPr lang="en-US" altLang="zh-CN" sz="2400"/>
              <a:t>RGB888</a:t>
            </a:r>
            <a:r>
              <a:rPr lang="zh-CN" altLang="en-US" sz="2400"/>
              <a:t>、</a:t>
            </a:r>
            <a:r>
              <a:rPr lang="en-US" altLang="zh-CN" sz="2400"/>
              <a:t>RGB666</a:t>
            </a:r>
            <a:r>
              <a:rPr lang="zh-CN" altLang="en-US" sz="2400"/>
              <a:t>、</a:t>
            </a:r>
            <a:r>
              <a:rPr lang="en-US" altLang="zh-CN" sz="2400"/>
              <a:t>RGB565</a:t>
            </a:r>
            <a:r>
              <a:rPr lang="zh-CN" altLang="en-US" sz="2400"/>
              <a:t>、</a:t>
            </a:r>
            <a:r>
              <a:rPr lang="en-US" altLang="zh-CN" sz="2400"/>
              <a:t>RGB555</a:t>
            </a:r>
            <a:endParaRPr lang="en-US" altLang="zh-CN" sz="2400"/>
          </a:p>
          <a:p>
            <a:r>
              <a:rPr lang="zh-CN" altLang="en-US" sz="2400"/>
              <a:t>支持</a:t>
            </a:r>
            <a:r>
              <a:rPr lang="en-US" altLang="zh-CN" sz="2400"/>
              <a:t>CLK</a:t>
            </a:r>
            <a:r>
              <a:rPr lang="zh-CN" altLang="en-US" sz="2400"/>
              <a:t>时钟反转</a:t>
            </a:r>
            <a:endParaRPr lang="zh-CN" altLang="en-US" sz="2400"/>
          </a:p>
          <a:p>
            <a:r>
              <a:rPr lang="en-US" altLang="zh-CN" sz="2400"/>
              <a:t>H1600</a:t>
            </a:r>
            <a:r>
              <a:rPr lang="zh-CN" altLang="en-US" sz="2400"/>
              <a:t>支持</a:t>
            </a:r>
            <a:r>
              <a:rPr lang="en-US" altLang="zh-CN" sz="2400"/>
              <a:t>RGB</a:t>
            </a:r>
            <a:r>
              <a:rPr lang="zh-CN" altLang="en-US" sz="2400"/>
              <a:t>数据</a:t>
            </a:r>
            <a:r>
              <a:rPr lang="zh-CN" altLang="en-US" sz="2400"/>
              <a:t>源通道的</a:t>
            </a:r>
            <a:r>
              <a:rPr lang="zh-CN" altLang="en-US" sz="2400"/>
              <a:t>切换，rgb gbr bgr rbg grb brg，高低位数据</a:t>
            </a:r>
            <a:r>
              <a:rPr lang="zh-CN" altLang="en-US" sz="2400"/>
              <a:t>转化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RGB</a:t>
            </a:r>
            <a:endParaRPr lang="zh-CN" altLang="en-US"/>
          </a:p>
        </p:txBody>
      </p:sp>
      <p:pic>
        <p:nvPicPr>
          <p:cNvPr id="6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68035" y="195395"/>
            <a:ext cx="3188335" cy="45262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RGB</a:t>
            </a:r>
            <a:r>
              <a:rPr lang="zh-CN" altLang="en-US"/>
              <a:t>的数据</a:t>
            </a:r>
            <a:r>
              <a:rPr lang="zh-CN" altLang="en-US"/>
              <a:t>格式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2370" y="1200150"/>
            <a:ext cx="6777990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RGB</a:t>
            </a:r>
            <a:r>
              <a:rPr lang="zh-CN" altLang="en-US">
                <a:sym typeface="+mn-ea"/>
              </a:rPr>
              <a:t>的数据格式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2890" y="1334770"/>
            <a:ext cx="607695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955" y="51250"/>
            <a:ext cx="4997450" cy="294513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00150"/>
            <a:ext cx="4759325" cy="3249930"/>
          </a:xfrm>
        </p:spPr>
        <p:txBody>
          <a:bodyPr/>
          <a:p>
            <a:r>
              <a:rPr lang="zh-CN" altLang="en-US" sz="2000">
                <a:sym typeface="+mn-ea"/>
              </a:rPr>
              <a:t>单通道</a:t>
            </a:r>
            <a:r>
              <a:rPr lang="en-US" altLang="zh-CN" sz="2000">
                <a:sym typeface="+mn-ea"/>
              </a:rPr>
              <a:t>LVDS</a:t>
            </a:r>
            <a:r>
              <a:rPr lang="zh-CN" altLang="en-US" sz="2000">
                <a:sym typeface="+mn-ea"/>
              </a:rPr>
              <a:t>是由一路差分</a:t>
            </a:r>
            <a:r>
              <a:rPr lang="en-US" altLang="zh-CN" sz="2000">
                <a:sym typeface="+mn-ea"/>
              </a:rPr>
              <a:t>CLOCK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N</a:t>
            </a:r>
            <a:r>
              <a:rPr lang="zh-CN" altLang="en-US" sz="2000">
                <a:sym typeface="+mn-ea"/>
              </a:rPr>
              <a:t>路差分数据组成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双通道</a:t>
            </a:r>
            <a:r>
              <a:rPr lang="en-US" altLang="zh-CN" sz="2000">
                <a:sym typeface="+mn-ea"/>
              </a:rPr>
              <a:t>LVDS</a:t>
            </a:r>
            <a:r>
              <a:rPr lang="zh-CN" altLang="en-US" sz="2000">
                <a:sym typeface="+mn-ea"/>
              </a:rPr>
              <a:t>是由两路差分</a:t>
            </a:r>
            <a:r>
              <a:rPr lang="en-US" altLang="zh-CN" sz="2000">
                <a:sym typeface="+mn-ea"/>
              </a:rPr>
              <a:t>CLOCK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2N</a:t>
            </a:r>
            <a:r>
              <a:rPr lang="zh-CN" altLang="en-US" sz="2000">
                <a:sym typeface="+mn-ea"/>
              </a:rPr>
              <a:t>路差分数据组成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数据格式：</a:t>
            </a:r>
            <a:r>
              <a:rPr lang="en-US" altLang="zh-CN" sz="2000">
                <a:sym typeface="+mn-ea"/>
              </a:rPr>
              <a:t>JEDIA</a:t>
            </a:r>
            <a:r>
              <a:rPr lang="zh-CN" altLang="en-US" sz="2000">
                <a:sym typeface="+mn-ea"/>
              </a:rPr>
              <a:t>和</a:t>
            </a:r>
            <a:r>
              <a:rPr lang="en-US" altLang="zh-CN" sz="2000">
                <a:sym typeface="+mn-ea"/>
              </a:rPr>
              <a:t>VESA</a:t>
            </a:r>
            <a:endParaRPr lang="en-US" altLang="zh-CN" sz="2000">
              <a:sym typeface="+mn-ea"/>
            </a:endParaRPr>
          </a:p>
          <a:p>
            <a:r>
              <a:rPr lang="zh-CN" altLang="en-US" sz="2000">
                <a:sym typeface="+mn-ea"/>
              </a:rPr>
              <a:t>模式：单通道、双通道、</a:t>
            </a:r>
            <a:r>
              <a:rPr lang="en-US" altLang="zh-CN" sz="2000">
                <a:sym typeface="+mn-ea"/>
              </a:rPr>
              <a:t>SPLIT</a:t>
            </a:r>
            <a:r>
              <a:rPr lang="zh-CN" altLang="en-US" sz="2000">
                <a:sym typeface="+mn-ea"/>
              </a:rPr>
              <a:t>通道</a:t>
            </a:r>
            <a:endParaRPr lang="zh-CN" altLang="en-US" sz="2000">
              <a:sym typeface="+mn-ea"/>
            </a:endParaRPr>
          </a:p>
          <a:p>
            <a:r>
              <a:rPr lang="en-US" altLang="zh-CN" sz="2000"/>
              <a:t>LVDS</a:t>
            </a:r>
            <a:r>
              <a:rPr lang="zh-CN" altLang="en-US" sz="2000"/>
              <a:t>通道支持双屏异显，双屏同显</a:t>
            </a:r>
            <a:endParaRPr lang="zh-CN" altLang="en-US" sz="2000"/>
          </a:p>
          <a:p>
            <a:r>
              <a:rPr lang="zh-CN" altLang="en-US" sz="2000"/>
              <a:t>支持增强</a:t>
            </a:r>
            <a:r>
              <a:rPr lang="en-US" altLang="zh-CN" sz="2000"/>
              <a:t>LVDS</a:t>
            </a:r>
            <a:r>
              <a:rPr lang="zh-CN" altLang="en-US" sz="2000"/>
              <a:t>信号强度</a:t>
            </a:r>
            <a:endParaRPr lang="en-US" altLang="zh-CN" sz="2000"/>
          </a:p>
          <a:p>
            <a:pPr marL="0" indent="0">
              <a:buNone/>
            </a:pPr>
            <a:endParaRPr lang="zh-CN" altLang="en-US" sz="2000">
              <a:sym typeface="+mn-ea"/>
            </a:endParaRPr>
          </a:p>
          <a:p>
            <a:pPr marL="0" indent="0">
              <a:buNone/>
            </a:pPr>
            <a:endParaRPr lang="en-US" altLang="zh-CN" sz="2000"/>
          </a:p>
          <a:p>
            <a:endParaRPr lang="en-US" altLang="zh-CN" sz="20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LVDS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 dirty="0">
                <a:sym typeface="+mn-ea"/>
              </a:rPr>
              <a:t>LVDS</a:t>
            </a:r>
            <a:r>
              <a:rPr lang="zh-CN" altLang="en-US" sz="2000" dirty="0">
                <a:sym typeface="+mn-ea"/>
              </a:rPr>
              <a:t>即 </a:t>
            </a:r>
            <a:r>
              <a:rPr lang="en-US" altLang="zh-CN" sz="2000" dirty="0">
                <a:sym typeface="+mn-ea"/>
              </a:rPr>
              <a:t>Low Voltage Differential Signaling </a:t>
            </a:r>
            <a:r>
              <a:rPr lang="zh-CN" altLang="en-US" sz="2000" dirty="0">
                <a:sym typeface="+mn-ea"/>
              </a:rPr>
              <a:t>，是一种低摆幅差分信号技术，它有一系列技术优点 ：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高数据传输速率，</a:t>
            </a:r>
            <a:r>
              <a:rPr lang="zh-CN" altLang="zh-CN" sz="2000" dirty="0">
                <a:sym typeface="+mn-ea"/>
              </a:rPr>
              <a:t>推荐最大速率为</a:t>
            </a:r>
            <a:r>
              <a:rPr lang="en-US" altLang="zh-CN" sz="2000" dirty="0">
                <a:sym typeface="+mn-ea"/>
              </a:rPr>
              <a:t>655Mbps </a:t>
            </a:r>
            <a:r>
              <a:rPr lang="zh-CN" altLang="zh-CN" sz="2000" dirty="0">
                <a:sym typeface="+mn-ea"/>
              </a:rPr>
              <a:t>，理论极限速率为</a:t>
            </a:r>
            <a:r>
              <a:rPr lang="en-US" altLang="zh-CN" sz="2000" dirty="0">
                <a:sym typeface="+mn-ea"/>
              </a:rPr>
              <a:t>1.923Gbps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低压摆幅，超低功耗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低压电源兼容性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低噪声和高抗扰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接口简单，易于集成到</a:t>
            </a:r>
            <a:r>
              <a:rPr lang="en-US" altLang="zh-CN" sz="2000" dirty="0">
                <a:sym typeface="+mn-ea"/>
              </a:rPr>
              <a:t>IC</a:t>
            </a:r>
            <a:r>
              <a:rPr lang="zh-CN" altLang="en-US" sz="2000" dirty="0">
                <a:sym typeface="+mn-ea"/>
              </a:rPr>
              <a:t>上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LVDS</a:t>
            </a:r>
            <a:r>
              <a:rPr lang="zh-CN" altLang="en-US"/>
              <a:t>的</a:t>
            </a:r>
            <a:r>
              <a:rPr lang="zh-CN" altLang="en-US"/>
              <a:t>特点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99" y="3248991"/>
            <a:ext cx="4572508" cy="1894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685" y="1393076"/>
            <a:ext cx="4752528" cy="1856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LVDS - VESA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457200" y="1203960"/>
            <a:ext cx="8229600" cy="3394075"/>
          </a:xfrm>
        </p:spPr>
        <p:txBody>
          <a:bodyPr>
            <a:normAutofit/>
          </a:bodyPr>
          <a:p>
            <a:r>
              <a:rPr lang="en-US" altLang="zh-CN" sz="2000" dirty="0"/>
              <a:t>LVDS </a:t>
            </a:r>
            <a:r>
              <a:rPr lang="zh-CN" altLang="en-US" sz="2000" dirty="0"/>
              <a:t> </a:t>
            </a:r>
            <a:r>
              <a:rPr lang="en-US" altLang="zh-CN" sz="2000" dirty="0"/>
              <a:t>data mapping has two types  : VESA and JEDIA</a:t>
            </a:r>
            <a:endParaRPr lang="en-US" altLang="zh-CN" sz="2000" dirty="0"/>
          </a:p>
          <a:p>
            <a:r>
              <a:rPr lang="en-US" altLang="zh-CN" sz="2000" dirty="0"/>
              <a:t>Every clock transmit 7 bit data</a:t>
            </a:r>
            <a:endParaRPr lang="en-US" altLang="zh-CN" sz="2000" dirty="0"/>
          </a:p>
          <a:p>
            <a:pPr lvl="1"/>
            <a:r>
              <a:rPr lang="en-US" altLang="zh-CN" sz="1600" dirty="0"/>
              <a:t>VESA 18bit LVDS</a:t>
            </a:r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r>
              <a:rPr lang="en-US" altLang="zh-CN" sz="1600" dirty="0"/>
              <a:t>VESA 24bit LVDS</a:t>
            </a:r>
            <a:endParaRPr lang="en-US" altLang="zh-CN" sz="1600" dirty="0"/>
          </a:p>
          <a:p>
            <a:pPr lvl="2"/>
            <a:r>
              <a:rPr lang="en-US" altLang="zh-CN" sz="1200" dirty="0"/>
              <a:t> 	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699770"/>
            <a:ext cx="5358130" cy="4091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LVDS - VESA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540" y="699770"/>
            <a:ext cx="5554980" cy="407479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LVDS - JEDIA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LVDS&amp;RGB的</a:t>
            </a:r>
            <a:r>
              <a:rPr lang="en-US" altLang="zh-CN" sz="3200"/>
              <a:t>Bootloader</a:t>
            </a:r>
            <a:r>
              <a:rPr lang="zh-CN" altLang="en-US" sz="3200"/>
              <a:t>显示流程</a:t>
            </a:r>
            <a:endParaRPr lang="zh-CN" altLang="en-US" sz="3200"/>
          </a:p>
        </p:txBody>
      </p:sp>
      <p:pic>
        <p:nvPicPr>
          <p:cNvPr id="2" name="图片 1" descr="LVDS与RGB的初始化流程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063625"/>
            <a:ext cx="7712710" cy="3439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93165"/>
            <a:ext cx="4700905" cy="3401060"/>
          </a:xfrm>
        </p:spPr>
        <p:txBody>
          <a:bodyPr/>
          <a:p>
            <a:r>
              <a:rPr lang="zh-CN" sz="1600"/>
              <a:t>单通道</a:t>
            </a:r>
            <a:r>
              <a:rPr sz="1600"/>
              <a:t>MIPI接口由一组差分clock和1~4组差分信号线组成。</a:t>
            </a:r>
            <a:endParaRPr sz="1600"/>
          </a:p>
          <a:p>
            <a:r>
              <a:rPr lang="zh-CN" altLang="en-US" sz="1600"/>
              <a:t>最多四条D-PHY数据通道</a:t>
            </a:r>
            <a:endParaRPr lang="zh-CN" altLang="en-US" sz="1600"/>
          </a:p>
          <a:p>
            <a:r>
              <a:rPr lang="zh-CN" altLang="en-US" sz="1600"/>
              <a:t>视频模式像素格式：16 bpp（5,6,5 RGB）18 bpp（6,6,6，RGB）packed</a:t>
            </a:r>
            <a:r>
              <a:rPr lang="en-US" altLang="zh-CN" sz="1600"/>
              <a:t> </a:t>
            </a:r>
            <a:r>
              <a:rPr lang="zh-CN" altLang="en-US" sz="1600"/>
              <a:t>18bpp（6,6,6，RGB）loosely</a:t>
            </a:r>
            <a:r>
              <a:rPr lang="en-US" altLang="zh-CN" sz="1600"/>
              <a:t> </a:t>
            </a:r>
            <a:r>
              <a:rPr lang="zh-CN" altLang="en-US" sz="1600"/>
              <a:t>24 bpp（8,8,8，RGB）</a:t>
            </a:r>
            <a:endParaRPr lang="zh-CN" altLang="en-US" sz="1600"/>
          </a:p>
          <a:p>
            <a:r>
              <a:rPr lang="zh-CN" altLang="en-US" sz="1600"/>
              <a:t>所有通用命令的传输</a:t>
            </a:r>
            <a:endParaRPr lang="zh-CN" altLang="en-US" sz="1600"/>
          </a:p>
          <a:p>
            <a:r>
              <a:rPr lang="zh-CN" altLang="en-US" sz="1600"/>
              <a:t>ECC和校验和功能</a:t>
            </a:r>
            <a:endParaRPr lang="zh-CN" altLang="en-US" sz="1600"/>
          </a:p>
          <a:p>
            <a:r>
              <a:rPr lang="zh-CN" altLang="en-US" sz="1600"/>
              <a:t>传输包结束（EoTp）</a:t>
            </a:r>
            <a:endParaRPr lang="zh-CN" altLang="en-US" sz="1600"/>
          </a:p>
          <a:p>
            <a:r>
              <a:rPr lang="zh-CN" altLang="en-US" sz="1600"/>
              <a:t>超低功率模式</a:t>
            </a:r>
            <a:endParaRPr lang="zh-CN" altLang="en-US" sz="16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MIPI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235" y="339725"/>
            <a:ext cx="3356610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MIPI</a:t>
            </a:r>
            <a:r>
              <a:rPr lang="zh-CN" altLang="en-US"/>
              <a:t>的</a:t>
            </a:r>
            <a:r>
              <a:rPr lang="en-US" altLang="zh-CN"/>
              <a:t>bootloader</a:t>
            </a:r>
            <a:r>
              <a:rPr lang="zh-CN" altLang="en-US"/>
              <a:t>显示</a:t>
            </a:r>
            <a:r>
              <a:rPr lang="zh-CN" altLang="en-US"/>
              <a:t>流程</a:t>
            </a:r>
            <a:endParaRPr lang="zh-CN" altLang="en-US"/>
          </a:p>
        </p:txBody>
      </p:sp>
      <p:pic>
        <p:nvPicPr>
          <p:cNvPr id="4" name="图片 3" descr="mipi的显示流程-168956176854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131570"/>
            <a:ext cx="7962900" cy="3429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345,&quot;width&quot;:11269}"/>
</p:tagLst>
</file>

<file path=ppt/tags/tag2.xml><?xml version="1.0" encoding="utf-8"?>
<p:tagLst xmlns:p="http://schemas.openxmlformats.org/presentationml/2006/main">
  <p:tag name="KSO_WM_UNIT_PLACING_PICTURE_USER_VIEWPORT" val="{&quot;height&quot;:7128,&quot;width&quot;:5021}"/>
</p:tagLst>
</file>

<file path=ppt/tags/tag3.xml><?xml version="1.0" encoding="utf-8"?>
<p:tagLst xmlns:p="http://schemas.openxmlformats.org/presentationml/2006/main">
  <p:tag name="KSO_WM_UNIT_PLACING_PICTURE_USER_VIEWPORT" val="{&quot;height&quot;:5565,&quot;width&quot;:12480}"/>
</p:tagLst>
</file>

<file path=ppt/tags/tag4.xml><?xml version="1.0" encoding="utf-8"?>
<p:tagLst xmlns:p="http://schemas.openxmlformats.org/presentationml/2006/main">
  <p:tag name="COMMONDATA" val="eyJoZGlkIjoiOWIyZjA1YjY0ZTdiYzRiNTRjZDhkZDRjMGU1ODIyZD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WPS 演示</Application>
  <PresentationFormat>全屏显示(16:9)</PresentationFormat>
  <Paragraphs>110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Calibri</vt:lpstr>
      <vt:lpstr>微软雅黑</vt:lpstr>
      <vt:lpstr>Arial Unicode MS</vt:lpstr>
      <vt:lpstr>Office 主题</vt:lpstr>
      <vt:lpstr>1_Office 主题</vt:lpstr>
      <vt:lpstr>PowerPoint 演示文稿</vt:lpstr>
      <vt:lpstr>目录</vt:lpstr>
      <vt:lpstr>芯片支持的接口</vt:lpstr>
      <vt:lpstr>hcrtos config默认的接口配置</vt:lpstr>
      <vt:lpstr>基本的知识点</vt:lpstr>
      <vt:lpstr>PowerPoint 演示文稿</vt:lpstr>
      <vt:lpstr>PowerPoint 演示文稿</vt:lpstr>
      <vt:lpstr>PowerPoint 演示文稿</vt:lpstr>
      <vt:lpstr>点屏要素</vt:lpstr>
      <vt:lpstr>RGB</vt:lpstr>
      <vt:lpstr>RGB的数据格式</vt:lpstr>
      <vt:lpstr>PowerPoint 演示文稿</vt:lpstr>
      <vt:lpstr>LVDS</vt:lpstr>
      <vt:lpstr>LVDS的特点</vt:lpstr>
      <vt:lpstr>LVDS - VESA</vt:lpstr>
      <vt:lpstr>LVDS - VESA</vt:lpstr>
      <vt:lpstr>LVDS - JEDIA</vt:lpstr>
      <vt:lpstr>LVDS&amp;RGB的显示流程</vt:lpstr>
      <vt:lpstr>MIPI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linsen.chen</cp:lastModifiedBy>
  <cp:revision>173</cp:revision>
  <dcterms:created xsi:type="dcterms:W3CDTF">2019-11-11T11:15:00Z</dcterms:created>
  <dcterms:modified xsi:type="dcterms:W3CDTF">2023-07-19T14:07:55Z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9C50F3C018CB4912AA3ABD26438B46DB</vt:lpwstr>
  </property>
</Properties>
</file>