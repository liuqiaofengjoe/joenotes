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30"/>
  </p:notesMasterIdLst>
  <p:handoutMasterIdLst>
    <p:handoutMasterId r:id="rId31"/>
  </p:handoutMasterIdLst>
  <p:sldIdLst>
    <p:sldId id="257" r:id="rId3"/>
    <p:sldId id="273" r:id="rId4"/>
    <p:sldId id="331" r:id="rId5"/>
    <p:sldId id="308" r:id="rId6"/>
    <p:sldId id="357" r:id="rId7"/>
    <p:sldId id="348" r:id="rId8"/>
    <p:sldId id="337" r:id="rId9"/>
    <p:sldId id="347" r:id="rId10"/>
    <p:sldId id="341" r:id="rId11"/>
    <p:sldId id="342" r:id="rId12"/>
    <p:sldId id="340" r:id="rId13"/>
    <p:sldId id="346" r:id="rId14"/>
    <p:sldId id="339" r:id="rId15"/>
    <p:sldId id="343" r:id="rId16"/>
    <p:sldId id="345" r:id="rId17"/>
    <p:sldId id="344" r:id="rId18"/>
    <p:sldId id="336" r:id="rId19"/>
    <p:sldId id="350" r:id="rId20"/>
    <p:sldId id="335" r:id="rId21"/>
    <p:sldId id="349" r:id="rId22"/>
    <p:sldId id="332" r:id="rId23"/>
    <p:sldId id="351" r:id="rId24"/>
    <p:sldId id="352" r:id="rId25"/>
    <p:sldId id="353" r:id="rId26"/>
    <p:sldId id="354" r:id="rId27"/>
    <p:sldId id="356" r:id="rId28"/>
    <p:sldId id="355" r:id="rId29"/>
  </p:sldIdLst>
  <p:sldSz cx="9144000" cy="6858000" type="screen4x3"/>
  <p:notesSz cx="6645275" cy="97774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3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16"/>
    <p:restoredTop sz="94712"/>
  </p:normalViewPr>
  <p:slideViewPr>
    <p:cSldViewPr showGuides="1">
      <p:cViewPr varScale="1">
        <p:scale>
          <a:sx n="108" d="100"/>
          <a:sy n="108" d="100"/>
        </p:scale>
        <p:origin x="-1884" y="-78"/>
      </p:cViewPr>
      <p:guideLst>
        <p:guide orient="horz" pos="23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80076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900507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Windows_2.0" TargetMode="External"/><Relationship Id="rId3" Type="http://schemas.openxmlformats.org/officeDocument/2006/relationships/hyperlink" Target="https://en.wikipedia.org/wiki/IBM_System/360" TargetMode="External"/><Relationship Id="rId7" Type="http://schemas.openxmlformats.org/officeDocument/2006/relationships/hyperlink" Target="https://en.wikipedia.org/wiki/MS-DOS" TargetMode="External"/><Relationship Id="rId2" Type="http://schemas.openxmlformats.org/officeDocument/2006/relationships/hyperlink" Target="https://en.wikipedia.org/wiki/Bell_Labs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n.wikipedia.org/wiki/Microsoft" TargetMode="External"/><Relationship Id="rId11" Type="http://schemas.openxmlformats.org/officeDocument/2006/relationships/image" Target="../media/image4.jpeg"/><Relationship Id="rId5" Type="http://schemas.openxmlformats.org/officeDocument/2006/relationships/hyperlink" Target="https://en.wikipedia.org/wiki/IBM_mainframe" TargetMode="External"/><Relationship Id="rId10" Type="http://schemas.openxmlformats.org/officeDocument/2006/relationships/hyperlink" Target="https://en.wikipedia.org/wiki/BMP_file_format" TargetMode="External"/><Relationship Id="rId4" Type="http://schemas.openxmlformats.org/officeDocument/2006/relationships/hyperlink" Target="https://en.wikipedia.org/wiki/System/370" TargetMode="External"/><Relationship Id="rId9" Type="http://schemas.openxmlformats.org/officeDocument/2006/relationships/hyperlink" Target="https://en.wikipedia.org/wiki/OS/2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.261" TargetMode="External"/><Relationship Id="rId3" Type="http://schemas.openxmlformats.org/officeDocument/2006/relationships/hyperlink" Target="https://en.wikipedia.org/wiki/Hitachi" TargetMode="External"/><Relationship Id="rId7" Type="http://schemas.openxmlformats.org/officeDocument/2006/relationships/hyperlink" Target="https://en.wikipedia.org/wiki/Toshiba" TargetMode="External"/><Relationship Id="rId2" Type="http://schemas.openxmlformats.org/officeDocument/2006/relationships/hyperlink" Target="https://en.wikipedia.org/wiki/ITU-T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n.wikipedia.org/wiki/BT_plc" TargetMode="External"/><Relationship Id="rId5" Type="http://schemas.openxmlformats.org/officeDocument/2006/relationships/hyperlink" Target="https://en.wikipedia.org/wiki/Nippon_Telegraph_and_Telephone" TargetMode="External"/><Relationship Id="rId4" Type="http://schemas.openxmlformats.org/officeDocument/2006/relationships/hyperlink" Target="https://en.wikipedia.org/wiki/PictureTe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.262" TargetMode="External"/><Relationship Id="rId2" Type="http://schemas.openxmlformats.org/officeDocument/2006/relationships/hyperlink" Target="https://en.wikipedia.org/wiki/H.261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n.wikipedia.org/wiki/MPEG-1" TargetMode="External"/><Relationship Id="rId5" Type="http://schemas.openxmlformats.org/officeDocument/2006/relationships/hyperlink" Target="https://en.wikipedia.org/wiki/H.263" TargetMode="External"/><Relationship Id="rId4" Type="http://schemas.openxmlformats.org/officeDocument/2006/relationships/hyperlink" Target="https://en.wikipedia.org/wiki/MPEG-2_Video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543956" cy="454344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zh-CN" altLang="en-US" sz="4800" dirty="0" smtClean="0"/>
              <a:t>海奇</a:t>
            </a:r>
            <a:r>
              <a:rPr lang="en-US" altLang="zh-CN" sz="4800" dirty="0" smtClean="0"/>
              <a:t>Video Decoder Engine</a:t>
            </a:r>
            <a:r>
              <a:rPr lang="zh-CN" altLang="en-US" sz="4800" dirty="0" smtClean="0"/>
              <a:t>与</a:t>
            </a:r>
            <a:r>
              <a:rPr lang="en-US" altLang="zh-CN" sz="4800" dirty="0" smtClean="0"/>
              <a:t>VE</a:t>
            </a:r>
            <a:r>
              <a:rPr lang="zh-CN" altLang="en-US" sz="4800" dirty="0" smtClean="0"/>
              <a:t>驱动程序介绍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 smtClean="0"/>
              <a:t>				       	</a:t>
            </a:r>
          </a:p>
          <a:p>
            <a:pPr eaLnBrk="1" hangingPunct="1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	</a:t>
            </a:r>
            <a:r>
              <a:rPr lang="zh-CN" altLang="en-US" dirty="0" smtClean="0"/>
              <a:t>软件一部：白天奎</a:t>
            </a:r>
            <a:r>
              <a:rPr lang="en-US" altLang="zh-CN" dirty="0" smtClean="0"/>
              <a:t>(blank)</a:t>
            </a:r>
            <a:endParaRPr lang="en-US" altLang="zh-CN" dirty="0"/>
          </a:p>
          <a:p>
            <a:pPr algn="ctr" eaLnBrk="1" hangingPunct="1">
              <a:buNone/>
            </a:pPr>
            <a:r>
              <a:rPr lang="en-US" altLang="zh-CN" dirty="0" smtClean="0"/>
              <a:t> 2023-7-12</a:t>
            </a:r>
            <a:endParaRPr lang="en-US" altLang="zh-CN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  <a:pPr lvl="0" algn="r">
                <a:buSzTx/>
                <a:buFontTx/>
              </a:pPr>
              <a:t>1</a:t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286248" y="1988840"/>
            <a:ext cx="3500462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1.Video </a:t>
            </a:r>
            <a:r>
              <a:rPr lang="zh-CN" altLang="en-US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基础知识简介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286248" y="2797432"/>
            <a:ext cx="506499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海奇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decoder engine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介绍</a:t>
            </a:r>
            <a:endParaRPr lang="zh-CN" altLang="en-US" sz="2400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286248" y="3929066"/>
            <a:ext cx="1827953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3.VE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介绍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8"/>
          </a:xfrm>
        </p:spPr>
        <p:txBody>
          <a:bodyPr/>
          <a:lstStyle/>
          <a:p>
            <a:r>
              <a:rPr lang="en-US" altLang="zh-CN" dirty="0" smtClean="0"/>
              <a:t>Video </a:t>
            </a:r>
            <a:r>
              <a:rPr lang="zh-CN" altLang="en-US" dirty="0" smtClean="0"/>
              <a:t>基本概念介绍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Video codec </a:t>
            </a:r>
            <a:r>
              <a:rPr lang="zh-CN" altLang="en-US" dirty="0" smtClean="0"/>
              <a:t>简介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基础知识简介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图像简介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43087"/>
            <a:ext cx="44310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+mn-ea"/>
                <a:ea typeface="+mn-ea"/>
              </a:rPr>
              <a:t>像素？</a:t>
            </a:r>
            <a:r>
              <a:rPr lang="en-US" sz="1400" dirty="0" smtClean="0"/>
              <a:t> Raster graphics</a:t>
            </a:r>
            <a:endParaRPr lang="en-US" altLang="zh-CN" sz="1400" b="1" dirty="0" smtClean="0">
              <a:latin typeface="+mn-ea"/>
              <a:ea typeface="+mn-ea"/>
            </a:endParaRPr>
          </a:p>
          <a:p>
            <a:r>
              <a:rPr lang="zh-CN" altLang="en-US" sz="1400" dirty="0" smtClean="0">
                <a:latin typeface="+mn-ea"/>
                <a:ea typeface="+mn-ea"/>
              </a:rPr>
              <a:t> 囿于计算机处理数据，显示图像的特点。 </a:t>
            </a:r>
            <a:endParaRPr lang="en-US" altLang="zh-CN" sz="1400" dirty="0" smtClean="0">
              <a:latin typeface="+mn-ea"/>
              <a:ea typeface="+mn-ea"/>
            </a:endParaRPr>
          </a:p>
          <a:p>
            <a:r>
              <a:rPr lang="zh-CN" altLang="en-US" sz="1400" dirty="0" smtClean="0">
                <a:latin typeface="+mn-ea"/>
                <a:ea typeface="+mn-ea"/>
              </a:rPr>
              <a:t>    图像，是由很多“带有颜色的点”组成的，放大后会发现很多小方块（常规是正方形，还有其他形状），每个点就是一个 “</a:t>
            </a:r>
            <a:r>
              <a:rPr lang="zh-CN" altLang="en-US" sz="1400" b="1" dirty="0" smtClean="0">
                <a:latin typeface="+mn-ea"/>
                <a:ea typeface="+mn-ea"/>
              </a:rPr>
              <a:t>像素点</a:t>
            </a:r>
            <a:r>
              <a:rPr lang="zh-CN" altLang="en-US" sz="1400" dirty="0" smtClean="0">
                <a:latin typeface="+mn-ea"/>
                <a:ea typeface="+mn-ea"/>
              </a:rPr>
              <a:t>” 。</a:t>
            </a:r>
            <a:endParaRPr lang="en-US" altLang="zh-CN" sz="1400" b="1" dirty="0" smtClean="0">
              <a:latin typeface="+mn-ea"/>
              <a:ea typeface="+mn-ea"/>
            </a:endParaRPr>
          </a:p>
          <a:p>
            <a:endParaRPr lang="zh-CN" altLang="en-US" sz="1400" b="1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pic>
        <p:nvPicPr>
          <p:cNvPr id="8" name="图片 7" descr="Rgb-raster-image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928934"/>
            <a:ext cx="3214710" cy="32077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图像简介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29124" y="2428868"/>
            <a:ext cx="4431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ENIAC:</a:t>
            </a:r>
            <a:r>
              <a:rPr lang="en-US" altLang="zh-CN" sz="1400" dirty="0" smtClean="0"/>
              <a:t>1946</a:t>
            </a:r>
            <a:endParaRPr lang="en-US" sz="1400" dirty="0" smtClean="0">
              <a:latin typeface="+mn-ea"/>
              <a:ea typeface="+mn-ea"/>
            </a:endParaRPr>
          </a:p>
          <a:p>
            <a:r>
              <a:rPr lang="en-US" sz="1400" dirty="0" smtClean="0">
                <a:latin typeface="+mn-ea"/>
                <a:ea typeface="+mn-ea"/>
              </a:rPr>
              <a:t>raster </a:t>
            </a:r>
            <a:r>
              <a:rPr lang="en-US" sz="1400" dirty="0" smtClean="0">
                <a:latin typeface="+mn-ea"/>
                <a:ea typeface="+mn-ea"/>
              </a:rPr>
              <a:t>computer </a:t>
            </a:r>
            <a:r>
              <a:rPr lang="en-US" sz="1400" dirty="0" smtClean="0">
                <a:latin typeface="+mn-ea"/>
                <a:ea typeface="+mn-ea"/>
              </a:rPr>
              <a:t>graphics</a:t>
            </a:r>
            <a:r>
              <a:rPr lang="zh-CN" altLang="en-US" sz="1400" dirty="0" smtClean="0">
                <a:latin typeface="+mn-ea"/>
                <a:ea typeface="+mn-ea"/>
              </a:rPr>
              <a:t>：</a:t>
            </a:r>
            <a:r>
              <a:rPr lang="en-US" sz="1400" dirty="0" smtClean="0">
                <a:latin typeface="+mn-ea"/>
                <a:ea typeface="+mn-ea"/>
              </a:rPr>
              <a:t>was </a:t>
            </a:r>
            <a:r>
              <a:rPr lang="en-US" sz="1400" dirty="0" smtClean="0">
                <a:latin typeface="+mn-ea"/>
                <a:ea typeface="+mn-ea"/>
              </a:rPr>
              <a:t>invented in the late </a:t>
            </a:r>
            <a:r>
              <a:rPr lang="en-US" sz="1400" dirty="0" smtClean="0">
                <a:latin typeface="+mn-ea"/>
                <a:ea typeface="+mn-ea"/>
              </a:rPr>
              <a:t>   1960s </a:t>
            </a:r>
            <a:r>
              <a:rPr lang="en-US" sz="1400" dirty="0" smtClean="0">
                <a:latin typeface="+mn-ea"/>
                <a:ea typeface="+mn-ea"/>
              </a:rPr>
              <a:t>by A. Michael Noll at </a:t>
            </a:r>
            <a:r>
              <a:rPr lang="en-US" sz="1400" dirty="0" smtClean="0">
                <a:latin typeface="+mn-ea"/>
                <a:ea typeface="+mn-ea"/>
                <a:hlinkClick r:id="rId2" tooltip="Bell Labs"/>
              </a:rPr>
              <a:t>Bell </a:t>
            </a:r>
            <a:r>
              <a:rPr lang="en-US" sz="1400" dirty="0" smtClean="0">
                <a:latin typeface="+mn-ea"/>
                <a:ea typeface="+mn-ea"/>
                <a:hlinkClick r:id="rId2" tooltip="Bell Labs"/>
              </a:rPr>
              <a:t>Labs</a:t>
            </a:r>
            <a:r>
              <a:rPr lang="zh-CN" altLang="en-US" sz="1400" dirty="0" smtClean="0">
                <a:latin typeface="+mn-ea"/>
                <a:ea typeface="+mn-ea"/>
              </a:rPr>
              <a:t>。</a:t>
            </a:r>
            <a:endParaRPr lang="en-US" altLang="zh-CN" sz="1400" dirty="0" smtClean="0">
              <a:latin typeface="+mn-ea"/>
              <a:ea typeface="+mn-ea"/>
            </a:endParaRPr>
          </a:p>
          <a:p>
            <a:endParaRPr lang="en-US" sz="1400" dirty="0" smtClean="0">
              <a:latin typeface="+mn-ea"/>
              <a:ea typeface="+mn-ea"/>
            </a:endParaRPr>
          </a:p>
          <a:p>
            <a:r>
              <a:rPr lang="en-US" sz="1400" dirty="0" smtClean="0">
                <a:latin typeface="+mn-ea"/>
                <a:ea typeface="+mn-ea"/>
              </a:rPr>
              <a:t>DOS/360:1960,</a:t>
            </a:r>
            <a:r>
              <a:rPr lang="en-US" sz="1400" dirty="0" smtClean="0">
                <a:latin typeface="+mn-ea"/>
                <a:ea typeface="+mn-ea"/>
                <a:hlinkClick r:id="rId3" tooltip="IBM System/360"/>
              </a:rPr>
              <a:t> IBM System/360</a:t>
            </a:r>
            <a:r>
              <a:rPr lang="en-US" sz="1400" dirty="0" smtClean="0">
                <a:latin typeface="+mn-ea"/>
                <a:ea typeface="+mn-ea"/>
              </a:rPr>
              <a:t>, </a:t>
            </a:r>
            <a:r>
              <a:rPr lang="en-US" sz="1400" dirty="0" smtClean="0">
                <a:latin typeface="+mn-ea"/>
                <a:ea typeface="+mn-ea"/>
                <a:hlinkClick r:id="rId4" tooltip="System/370"/>
              </a:rPr>
              <a:t>System/370</a:t>
            </a:r>
            <a:r>
              <a:rPr lang="en-US" sz="1400" dirty="0" smtClean="0">
                <a:latin typeface="+mn-ea"/>
                <a:ea typeface="+mn-ea"/>
              </a:rPr>
              <a:t> and later </a:t>
            </a:r>
            <a:r>
              <a:rPr lang="en-US" sz="1400" dirty="0" smtClean="0">
                <a:latin typeface="+mn-ea"/>
                <a:ea typeface="+mn-ea"/>
                <a:hlinkClick r:id="rId5" tooltip="IBM mainframe"/>
              </a:rPr>
              <a:t>mainframes</a:t>
            </a:r>
            <a:endParaRPr lang="en-US" altLang="zh-CN" sz="1400" dirty="0" smtClean="0">
              <a:latin typeface="+mn-ea"/>
              <a:ea typeface="+mn-ea"/>
            </a:endParaRPr>
          </a:p>
          <a:p>
            <a:endParaRPr lang="en-US" altLang="zh-CN" sz="1400" dirty="0" smtClean="0">
              <a:latin typeface="+mn-ea"/>
              <a:ea typeface="+mn-ea"/>
            </a:endParaRPr>
          </a:p>
          <a:p>
            <a:r>
              <a:rPr lang="en-US" sz="1400" dirty="0" smtClean="0">
                <a:latin typeface="+mn-ea"/>
                <a:ea typeface="+mn-ea"/>
              </a:rPr>
              <a:t> </a:t>
            </a:r>
            <a:r>
              <a:rPr lang="en-US" sz="1400" dirty="0" smtClean="0">
                <a:latin typeface="+mn-ea"/>
                <a:ea typeface="+mn-ea"/>
                <a:hlinkClick r:id="rId6" tooltip="Microsoft"/>
              </a:rPr>
              <a:t>Microsoft</a:t>
            </a:r>
            <a:r>
              <a:rPr lang="en-US" sz="1400" dirty="0" smtClean="0">
                <a:latin typeface="+mn-ea"/>
                <a:ea typeface="+mn-ea"/>
              </a:rPr>
              <a:t>'s </a:t>
            </a:r>
            <a:r>
              <a:rPr lang="en-US" sz="1400" dirty="0" smtClean="0">
                <a:latin typeface="+mn-ea"/>
                <a:ea typeface="+mn-ea"/>
                <a:hlinkClick r:id="rId7" tooltip="MS-DOS"/>
              </a:rPr>
              <a:t>MS-DOS</a:t>
            </a:r>
            <a:r>
              <a:rPr lang="en-US" altLang="zh-CN" sz="1400" dirty="0" smtClean="0">
                <a:latin typeface="+mn-ea"/>
                <a:ea typeface="+mn-ea"/>
              </a:rPr>
              <a:t>:1981</a:t>
            </a:r>
          </a:p>
          <a:p>
            <a:endParaRPr lang="en-US" altLang="zh-CN" sz="1400" dirty="0" smtClean="0">
              <a:latin typeface="+mn-ea"/>
              <a:ea typeface="+mn-ea"/>
            </a:endParaRPr>
          </a:p>
          <a:p>
            <a:r>
              <a:rPr lang="en-US" altLang="zh-CN" sz="1400" dirty="0" smtClean="0">
                <a:latin typeface="+mn-ea"/>
                <a:ea typeface="+mn-ea"/>
              </a:rPr>
              <a:t>GIF:1987</a:t>
            </a:r>
          </a:p>
          <a:p>
            <a:endParaRPr lang="en-US" altLang="zh-CN" sz="1400" dirty="0" smtClean="0">
              <a:latin typeface="+mn-ea"/>
              <a:ea typeface="+mn-ea"/>
            </a:endParaRPr>
          </a:p>
          <a:p>
            <a:r>
              <a:rPr lang="en-US" altLang="zh-CN" sz="1400" dirty="0" smtClean="0">
                <a:latin typeface="+mn-ea"/>
                <a:ea typeface="+mn-ea"/>
              </a:rPr>
              <a:t>JPEG:1992</a:t>
            </a:r>
          </a:p>
          <a:p>
            <a:endParaRPr lang="en-US" altLang="zh-CN" sz="1400" b="1" dirty="0" smtClean="0">
              <a:latin typeface="+mn-ea"/>
              <a:ea typeface="+mn-ea"/>
            </a:endParaRPr>
          </a:p>
          <a:p>
            <a:r>
              <a:rPr lang="en-US" altLang="zh-CN" sz="1400" b="1" dirty="0" smtClean="0">
                <a:latin typeface="+mn-ea"/>
                <a:ea typeface="+mn-ea"/>
              </a:rPr>
              <a:t>BMP</a:t>
            </a:r>
            <a:r>
              <a:rPr lang="zh-CN" altLang="en-US" sz="1400" b="1" dirty="0" smtClean="0">
                <a:latin typeface="+mn-ea"/>
                <a:ea typeface="+mn-ea"/>
              </a:rPr>
              <a:t>：</a:t>
            </a:r>
            <a:r>
              <a:rPr lang="en-US" sz="1400" dirty="0" smtClean="0">
                <a:latin typeface="+mn-ea"/>
                <a:ea typeface="+mn-ea"/>
                <a:hlinkClick r:id="rId8"/>
              </a:rPr>
              <a:t>Windows </a:t>
            </a:r>
            <a:r>
              <a:rPr lang="en-US" sz="1400" dirty="0" smtClean="0">
                <a:latin typeface="+mn-ea"/>
                <a:ea typeface="+mn-ea"/>
                <a:hlinkClick r:id="rId8"/>
              </a:rPr>
              <a:t>2.0</a:t>
            </a:r>
            <a:r>
              <a:rPr lang="en-US" sz="1400" dirty="0" smtClean="0">
                <a:latin typeface="+mn-ea"/>
                <a:ea typeface="+mn-ea"/>
              </a:rPr>
              <a:t> or later</a:t>
            </a:r>
            <a:br>
              <a:rPr lang="en-US" sz="1400" dirty="0" smtClean="0">
                <a:latin typeface="+mn-ea"/>
                <a:ea typeface="+mn-ea"/>
              </a:rPr>
            </a:br>
            <a:r>
              <a:rPr lang="en-US" sz="1400" dirty="0" smtClean="0">
                <a:latin typeface="+mn-ea"/>
                <a:ea typeface="+mn-ea"/>
                <a:hlinkClick r:id="rId9" tooltip="OS/2"/>
              </a:rPr>
              <a:t>OS/2</a:t>
            </a:r>
            <a:r>
              <a:rPr lang="en-US" sz="1400" dirty="0" smtClean="0">
                <a:latin typeface="+mn-ea"/>
                <a:ea typeface="+mn-ea"/>
              </a:rPr>
              <a:t> 1.x</a:t>
            </a:r>
            <a:r>
              <a:rPr lang="en-US" sz="1400" baseline="30000" dirty="0" smtClean="0">
                <a:latin typeface="+mn-ea"/>
                <a:ea typeface="+mn-ea"/>
                <a:hlinkClick r:id="rId10"/>
              </a:rPr>
              <a:t>[3</a:t>
            </a:r>
            <a:r>
              <a:rPr lang="en-US" sz="1400" baseline="30000" dirty="0" smtClean="0">
                <a:latin typeface="+mn-ea"/>
                <a:ea typeface="+mn-ea"/>
                <a:hlinkClick r:id="rId10"/>
              </a:rPr>
              <a:t>]</a:t>
            </a:r>
            <a:r>
              <a:rPr lang="en-US" sz="1400" baseline="30000" dirty="0" smtClean="0">
                <a:latin typeface="+mn-ea"/>
                <a:ea typeface="+mn-ea"/>
              </a:rPr>
              <a:t> </a:t>
            </a:r>
            <a:r>
              <a:rPr lang="en-US" sz="1400" dirty="0" smtClean="0">
                <a:latin typeface="+mn-ea"/>
                <a:ea typeface="+mn-ea"/>
              </a:rPr>
              <a:t> </a:t>
            </a:r>
            <a:r>
              <a:rPr lang="zh-CN" altLang="en-US" sz="1400" dirty="0" smtClean="0">
                <a:latin typeface="+mn-ea"/>
                <a:ea typeface="+mn-ea"/>
              </a:rPr>
              <a:t>，</a:t>
            </a:r>
            <a:r>
              <a:rPr lang="en-US" altLang="zh-CN" sz="1400" dirty="0" smtClean="0">
                <a:latin typeface="+mn-ea"/>
                <a:ea typeface="+mn-ea"/>
              </a:rPr>
              <a:t>1995</a:t>
            </a:r>
            <a:r>
              <a:rPr lang="en-US" altLang="zh-CN" sz="1400" dirty="0" smtClean="0">
                <a:latin typeface="+mn-ea"/>
                <a:ea typeface="+mn-ea"/>
              </a:rPr>
              <a:t>.</a:t>
            </a:r>
            <a:endParaRPr lang="en-US" altLang="zh-CN" sz="1400" b="1" dirty="0" smtClean="0">
              <a:latin typeface="+mn-ea"/>
              <a:ea typeface="+mn-ea"/>
            </a:endParaRPr>
          </a:p>
          <a:p>
            <a:endParaRPr lang="zh-CN" altLang="en-US" sz="1400" b="1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pic>
        <p:nvPicPr>
          <p:cNvPr id="7" name="图片 6" descr="Eniac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158" y="2500306"/>
            <a:ext cx="3833370" cy="292893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图像简介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sp>
        <p:nvSpPr>
          <p:cNvPr id="65538" name="AutoShape 2" descr="https://pic4.zhimg.com/80/v2-2338146d104a9e1e3e627b2e649576c7_720w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540" name="AutoShape 4" descr="https://pic4.zhimg.com/80/v2-2338146d104a9e1e3e627b2e649576c7_720w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 descr="v2-2338146d104a9e1e3e627b2e649576c7_720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2" y="1500175"/>
            <a:ext cx="4786346" cy="457203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643050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29124" y="2214554"/>
            <a:ext cx="4181980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一张</a:t>
            </a:r>
            <a:r>
              <a:rPr lang="en-US" altLang="zh-CN" sz="1400" dirty="0" smtClean="0">
                <a:latin typeface="+mn-ea"/>
                <a:ea typeface="+mn-ea"/>
              </a:rPr>
              <a:t>1080P </a:t>
            </a:r>
            <a:r>
              <a:rPr lang="zh-CN" altLang="en-US" sz="1400" dirty="0" smtClean="0">
                <a:latin typeface="+mn-ea"/>
                <a:ea typeface="+mn-ea"/>
              </a:rPr>
              <a:t>的图片，原始数据占用的空间：</a:t>
            </a:r>
            <a:r>
              <a:rPr lang="en-US" altLang="zh-CN" sz="1400" dirty="0" smtClean="0">
                <a:latin typeface="+mn-ea"/>
                <a:ea typeface="+mn-ea"/>
              </a:rPr>
              <a:t>1920*1080*3*8 = 49,766,400(bits)</a:t>
            </a:r>
            <a:r>
              <a:rPr lang="zh-CN" altLang="en-US" sz="1400" dirty="0" smtClean="0">
                <a:latin typeface="+mn-ea"/>
                <a:ea typeface="+mn-ea"/>
              </a:rPr>
              <a:t>；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</a:rPr>
              <a:t>49766400 * 3</a:t>
            </a:r>
            <a:r>
              <a:rPr lang="en-US" altLang="zh-CN" sz="1400" dirty="0" smtClean="0">
                <a:latin typeface="+mn-ea"/>
                <a:ea typeface="+mn-ea"/>
              </a:rPr>
              <a:t>0 = 1,492,992,000(bps)</a:t>
            </a:r>
            <a:r>
              <a:rPr lang="zh-CN" altLang="en-US" sz="1400" dirty="0" smtClean="0">
                <a:latin typeface="+mn-ea"/>
              </a:rPr>
              <a:t>≈</a:t>
            </a:r>
            <a:r>
              <a:rPr lang="en-US" altLang="zh-CN" sz="1400" dirty="0" smtClean="0">
                <a:latin typeface="+mn-ea"/>
                <a:ea typeface="+mn-ea"/>
              </a:rPr>
              <a:t>186MB</a:t>
            </a:r>
            <a:r>
              <a:rPr lang="zh-CN" altLang="en-US" sz="1400" dirty="0" smtClean="0">
                <a:latin typeface="+mn-ea"/>
                <a:ea typeface="+mn-ea"/>
              </a:rPr>
              <a:t>。</a:t>
            </a:r>
            <a:r>
              <a:rPr lang="en-US" altLang="zh-CN" sz="1400" dirty="0" smtClean="0">
                <a:latin typeface="+mn-ea"/>
                <a:ea typeface="+mn-ea"/>
              </a:rPr>
              <a:t>186*60</a:t>
            </a:r>
            <a:r>
              <a:rPr lang="zh-CN" altLang="en-US" sz="1400" dirty="0" smtClean="0">
                <a:latin typeface="+mn-ea"/>
              </a:rPr>
              <a:t>≈</a:t>
            </a:r>
            <a:r>
              <a:rPr lang="en-US" altLang="zh-CN" sz="1400" dirty="0" smtClean="0">
                <a:latin typeface="+mn-ea"/>
                <a:ea typeface="+mn-ea"/>
              </a:rPr>
              <a:t>11GB,90*11</a:t>
            </a:r>
            <a:r>
              <a:rPr lang="zh-CN" altLang="en-US" sz="1400" dirty="0" smtClean="0">
                <a:latin typeface="+mn-ea"/>
              </a:rPr>
              <a:t>≈</a:t>
            </a:r>
            <a:r>
              <a:rPr lang="en-US" altLang="zh-CN" sz="1400" dirty="0" smtClean="0">
                <a:latin typeface="+mn-ea"/>
                <a:ea typeface="+mn-ea"/>
              </a:rPr>
              <a:t>1000;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ea typeface="+mn-ea"/>
              </a:rPr>
              <a:t>4K,8K?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原始图像数据非常非常大，所以早期的图像和视频分辨率非常小：</a:t>
            </a:r>
            <a:r>
              <a:rPr lang="en-US" altLang="zh-CN" sz="1400" dirty="0" smtClean="0">
                <a:latin typeface="+mn-ea"/>
                <a:ea typeface="+mn-ea"/>
              </a:rPr>
              <a:t>160*122</a:t>
            </a:r>
            <a:r>
              <a:rPr lang="zh-CN" altLang="en-US" sz="1400" dirty="0" smtClean="0">
                <a:latin typeface="+mn-ea"/>
                <a:ea typeface="+mn-ea"/>
              </a:rPr>
              <a:t>，</a:t>
            </a:r>
            <a:r>
              <a:rPr lang="en-US" altLang="zh-CN" sz="1400" dirty="0" smtClean="0">
                <a:latin typeface="+mn-ea"/>
                <a:ea typeface="+mn-ea"/>
              </a:rPr>
              <a:t>176*144(QCIF)</a:t>
            </a:r>
            <a:r>
              <a:rPr lang="zh-CN" altLang="en-US" sz="1400" dirty="0" smtClean="0">
                <a:latin typeface="+mn-ea"/>
                <a:ea typeface="+mn-ea"/>
              </a:rPr>
              <a:t>，</a:t>
            </a:r>
            <a:r>
              <a:rPr lang="en-US" altLang="zh-CN" sz="1400" dirty="0" smtClean="0">
                <a:latin typeface="+mn-ea"/>
                <a:ea typeface="+mn-ea"/>
              </a:rPr>
              <a:t>240*176</a:t>
            </a:r>
            <a:r>
              <a:rPr lang="zh-CN" altLang="en-US" sz="1400" dirty="0" smtClean="0">
                <a:latin typeface="+mn-ea"/>
                <a:ea typeface="+mn-ea"/>
              </a:rPr>
              <a:t>，</a:t>
            </a:r>
            <a:r>
              <a:rPr lang="en-US" altLang="zh-CN" sz="1400" dirty="0" smtClean="0">
                <a:latin typeface="+mn-ea"/>
                <a:ea typeface="+mn-ea"/>
              </a:rPr>
              <a:t>352*288</a:t>
            </a:r>
            <a:r>
              <a:rPr lang="zh-CN" altLang="en-US" sz="1400" dirty="0" smtClean="0">
                <a:latin typeface="+mn-ea"/>
                <a:ea typeface="+mn-ea"/>
              </a:rPr>
              <a:t>（</a:t>
            </a:r>
            <a:r>
              <a:rPr lang="en-US" altLang="zh-CN" sz="1400" dirty="0" smtClean="0">
                <a:latin typeface="+mn-ea"/>
                <a:ea typeface="+mn-ea"/>
              </a:rPr>
              <a:t>CIF</a:t>
            </a:r>
            <a:r>
              <a:rPr lang="zh-CN" altLang="en-US" sz="1400" dirty="0" smtClean="0">
                <a:latin typeface="+mn-ea"/>
                <a:ea typeface="+mn-ea"/>
              </a:rPr>
              <a:t>）。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643050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3714744" y="2000240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57620" y="1500175"/>
            <a:ext cx="4857784" cy="4978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</a:rPr>
              <a:t>早期的存储设备</a:t>
            </a:r>
            <a:r>
              <a:rPr lang="en-US" altLang="zh-CN" sz="1400" dirty="0" smtClean="0">
                <a:latin typeface="+mn-ea"/>
              </a:rPr>
              <a:t>: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磁带，</a:t>
            </a:r>
            <a:r>
              <a:rPr lang="en-US" altLang="zh-CN" sz="1400" dirty="0" smtClean="0">
                <a:latin typeface="+mn-ea"/>
                <a:ea typeface="+mn-ea"/>
              </a:rPr>
              <a:t>3.5</a:t>
            </a:r>
            <a:r>
              <a:rPr lang="zh-CN" altLang="en-US" sz="1400" dirty="0" smtClean="0">
                <a:latin typeface="+mn-ea"/>
                <a:ea typeface="+mn-ea"/>
              </a:rPr>
              <a:t>寸软盘，</a:t>
            </a:r>
            <a:r>
              <a:rPr lang="en-US" altLang="zh-CN" sz="1400" dirty="0" smtClean="0">
                <a:latin typeface="+mn-ea"/>
                <a:ea typeface="+mn-ea"/>
              </a:rPr>
              <a:t>1971</a:t>
            </a:r>
            <a:r>
              <a:rPr lang="zh-CN" altLang="en-US" sz="1400" dirty="0" smtClean="0">
                <a:latin typeface="+mn-ea"/>
                <a:ea typeface="+mn-ea"/>
              </a:rPr>
              <a:t>年</a:t>
            </a:r>
            <a:r>
              <a:rPr lang="en-US" altLang="zh-CN" sz="1400" dirty="0" smtClean="0">
                <a:latin typeface="+mn-ea"/>
                <a:ea typeface="+mn-ea"/>
              </a:rPr>
              <a:t>IBM</a:t>
            </a:r>
            <a:r>
              <a:rPr lang="zh-CN" altLang="en-US" sz="1400" dirty="0" smtClean="0">
                <a:latin typeface="+mn-ea"/>
                <a:ea typeface="+mn-ea"/>
              </a:rPr>
              <a:t>发布第一张只读的</a:t>
            </a:r>
            <a:r>
              <a:rPr lang="en-US" altLang="zh-CN" sz="1400" dirty="0" smtClean="0">
                <a:latin typeface="+mn-ea"/>
                <a:ea typeface="+mn-ea"/>
              </a:rPr>
              <a:t>8</a:t>
            </a:r>
            <a:r>
              <a:rPr lang="zh-CN" altLang="en-US" sz="1400" dirty="0" smtClean="0">
                <a:latin typeface="+mn-ea"/>
                <a:ea typeface="+mn-ea"/>
              </a:rPr>
              <a:t>英寸软盘，容量为（</a:t>
            </a:r>
            <a:r>
              <a:rPr lang="en-US" altLang="zh-CN" sz="1400" dirty="0" smtClean="0">
                <a:latin typeface="+mn-ea"/>
                <a:ea typeface="+mn-ea"/>
              </a:rPr>
              <a:t>80KB</a:t>
            </a:r>
            <a:r>
              <a:rPr lang="zh-CN" altLang="en-US" sz="1400" dirty="0" smtClean="0">
                <a:latin typeface="+mn-ea"/>
                <a:ea typeface="+mn-ea"/>
              </a:rPr>
              <a:t>），</a:t>
            </a:r>
            <a:r>
              <a:rPr lang="en-US" altLang="zh-CN" sz="1400" dirty="0" smtClean="0">
                <a:latin typeface="+mn-ea"/>
                <a:ea typeface="+mn-ea"/>
              </a:rPr>
              <a:t>1972</a:t>
            </a:r>
            <a:r>
              <a:rPr lang="zh-CN" altLang="en-US" sz="1400" dirty="0" smtClean="0">
                <a:latin typeface="+mn-ea"/>
                <a:ea typeface="+mn-ea"/>
              </a:rPr>
              <a:t>年</a:t>
            </a:r>
            <a:r>
              <a:rPr lang="en-US" altLang="zh-CN" sz="1400" dirty="0" smtClean="0">
                <a:latin typeface="+mn-ea"/>
                <a:ea typeface="+mn-ea"/>
              </a:rPr>
              <a:t>Memorex</a:t>
            </a:r>
            <a:r>
              <a:rPr lang="zh-CN" altLang="en-US" sz="1400" dirty="0" smtClean="0">
                <a:latin typeface="+mn-ea"/>
                <a:ea typeface="+mn-ea"/>
              </a:rPr>
              <a:t>公司推出了第一款软盘</a:t>
            </a:r>
            <a:r>
              <a:rPr lang="en-US" altLang="zh-CN" sz="1400" dirty="0" smtClean="0">
                <a:latin typeface="+mn-ea"/>
                <a:ea typeface="+mn-ea"/>
              </a:rPr>
              <a:t>Memorex 650</a:t>
            </a:r>
            <a:r>
              <a:rPr lang="zh-CN" altLang="en-US" sz="1400" dirty="0" smtClean="0">
                <a:latin typeface="+mn-ea"/>
                <a:ea typeface="+mn-ea"/>
              </a:rPr>
              <a:t>（</a:t>
            </a:r>
            <a:r>
              <a:rPr lang="en-US" altLang="zh-CN" sz="1400" dirty="0" smtClean="0">
                <a:latin typeface="+mn-ea"/>
                <a:ea typeface="+mn-ea"/>
              </a:rPr>
              <a:t>175KB</a:t>
            </a:r>
            <a:r>
              <a:rPr lang="zh-CN" altLang="en-US" sz="1400" dirty="0" smtClean="0">
                <a:latin typeface="+mn-ea"/>
                <a:ea typeface="+mn-ea"/>
              </a:rPr>
              <a:t>）。 </a:t>
            </a:r>
            <a:r>
              <a:rPr lang="en-US" altLang="zh-CN" sz="1400" dirty="0" smtClean="0">
                <a:latin typeface="+mn-ea"/>
                <a:ea typeface="+mn-ea"/>
              </a:rPr>
              <a:t>1976</a:t>
            </a:r>
            <a:r>
              <a:rPr lang="zh-CN" altLang="en-US" sz="1400" dirty="0" smtClean="0">
                <a:latin typeface="+mn-ea"/>
                <a:ea typeface="+mn-ea"/>
              </a:rPr>
              <a:t>年，</a:t>
            </a:r>
            <a:r>
              <a:rPr lang="en-US" altLang="zh-CN" sz="1400" dirty="0" smtClean="0">
                <a:latin typeface="+mn-ea"/>
                <a:ea typeface="+mn-ea"/>
              </a:rPr>
              <a:t>5.25</a:t>
            </a:r>
            <a:r>
              <a:rPr lang="zh-CN" altLang="en-US" sz="1400" dirty="0" smtClean="0">
                <a:latin typeface="+mn-ea"/>
                <a:ea typeface="+mn-ea"/>
              </a:rPr>
              <a:t>英寸软盘问世，</a:t>
            </a:r>
            <a:r>
              <a:rPr lang="en-US" altLang="zh-CN" sz="1400" dirty="0" smtClean="0">
                <a:latin typeface="+mn-ea"/>
                <a:ea typeface="+mn-ea"/>
              </a:rPr>
              <a:t>1980</a:t>
            </a:r>
            <a:r>
              <a:rPr lang="zh-CN" altLang="en-US" sz="1400" dirty="0" smtClean="0">
                <a:latin typeface="+mn-ea"/>
                <a:ea typeface="+mn-ea"/>
              </a:rPr>
              <a:t>年，索尼开发了</a:t>
            </a:r>
            <a:r>
              <a:rPr lang="en-US" altLang="zh-CN" sz="1400" dirty="0" smtClean="0">
                <a:latin typeface="+mn-ea"/>
                <a:ea typeface="+mn-ea"/>
              </a:rPr>
              <a:t>3.5</a:t>
            </a:r>
            <a:r>
              <a:rPr lang="zh-CN" altLang="en-US" sz="1400" dirty="0" smtClean="0">
                <a:latin typeface="+mn-ea"/>
                <a:ea typeface="+mn-ea"/>
              </a:rPr>
              <a:t>英寸软盘（</a:t>
            </a:r>
            <a:r>
              <a:rPr lang="en-US" altLang="zh-CN" sz="1400" dirty="0" smtClean="0">
                <a:latin typeface="+mn-ea"/>
                <a:ea typeface="+mn-ea"/>
              </a:rPr>
              <a:t>1.44MB</a:t>
            </a:r>
            <a:r>
              <a:rPr lang="zh-CN" altLang="en-US" sz="1400" dirty="0" smtClean="0">
                <a:latin typeface="+mn-ea"/>
                <a:ea typeface="+mn-ea"/>
              </a:rPr>
              <a:t>），并成为市场标准。从 </a:t>
            </a:r>
            <a:r>
              <a:rPr lang="en-US" altLang="zh-CN" sz="1400" dirty="0" smtClean="0">
                <a:latin typeface="+mn-ea"/>
                <a:ea typeface="+mn-ea"/>
              </a:rPr>
              <a:t>1971</a:t>
            </a:r>
            <a:r>
              <a:rPr lang="zh-CN" altLang="en-US" sz="1400" dirty="0" smtClean="0">
                <a:latin typeface="+mn-ea"/>
                <a:ea typeface="+mn-ea"/>
              </a:rPr>
              <a:t>年直到 </a:t>
            </a:r>
            <a:r>
              <a:rPr lang="en-US" altLang="zh-CN" sz="1400" dirty="0" smtClean="0">
                <a:latin typeface="+mn-ea"/>
                <a:ea typeface="+mn-ea"/>
              </a:rPr>
              <a:t>20</a:t>
            </a:r>
            <a:r>
              <a:rPr lang="zh-CN" altLang="en-US" sz="1400" dirty="0" smtClean="0">
                <a:latin typeface="+mn-ea"/>
                <a:ea typeface="+mn-ea"/>
              </a:rPr>
              <a:t>世纪 </a:t>
            </a:r>
            <a:r>
              <a:rPr lang="en-US" altLang="zh-CN" sz="1400" dirty="0" smtClean="0">
                <a:latin typeface="+mn-ea"/>
                <a:ea typeface="+mn-ea"/>
              </a:rPr>
              <a:t>90</a:t>
            </a:r>
            <a:r>
              <a:rPr lang="zh-CN" altLang="en-US" sz="1400" dirty="0" smtClean="0">
                <a:latin typeface="+mn-ea"/>
                <a:ea typeface="+mn-ea"/>
              </a:rPr>
              <a:t>年代的近三十年内，软盘一直被用于存储和交换数据，并带动了计算机行业的快速发展。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</a:rPr>
              <a:t>1980</a:t>
            </a:r>
            <a:r>
              <a:rPr lang="zh-CN" altLang="en-US" sz="1400" dirty="0" smtClean="0">
                <a:latin typeface="+mn-ea"/>
              </a:rPr>
              <a:t>年，两位前</a:t>
            </a:r>
            <a:r>
              <a:rPr lang="en-US" altLang="zh-CN" sz="1400" dirty="0" smtClean="0">
                <a:latin typeface="+mn-ea"/>
              </a:rPr>
              <a:t>IBM</a:t>
            </a:r>
            <a:r>
              <a:rPr lang="zh-CN" altLang="en-US" sz="1400" dirty="0" smtClean="0">
                <a:latin typeface="+mn-ea"/>
              </a:rPr>
              <a:t>员工创立的公司开发出</a:t>
            </a:r>
            <a:r>
              <a:rPr lang="en-US" altLang="zh-CN" sz="1400" dirty="0" smtClean="0">
                <a:latin typeface="+mn-ea"/>
              </a:rPr>
              <a:t>5.25</a:t>
            </a:r>
            <a:r>
              <a:rPr lang="zh-CN" altLang="en-US" sz="1400" dirty="0" smtClean="0">
                <a:latin typeface="+mn-ea"/>
              </a:rPr>
              <a:t>英寸规格的</a:t>
            </a:r>
            <a:r>
              <a:rPr lang="en-US" altLang="zh-CN" sz="1400" dirty="0" smtClean="0">
                <a:latin typeface="+mn-ea"/>
              </a:rPr>
              <a:t>5MB</a:t>
            </a:r>
            <a:r>
              <a:rPr lang="zh-CN" altLang="en-US" sz="1400" dirty="0" smtClean="0">
                <a:latin typeface="+mn-ea"/>
              </a:rPr>
              <a:t>硬盘，这是首款面向台式机的产品，而该公司正是希捷公司（</a:t>
            </a:r>
            <a:r>
              <a:rPr lang="en-US" altLang="zh-CN" sz="1400" dirty="0" smtClean="0">
                <a:latin typeface="+mn-ea"/>
              </a:rPr>
              <a:t>Seagate</a:t>
            </a:r>
            <a:r>
              <a:rPr lang="zh-CN" altLang="en-US" sz="1400" dirty="0" smtClean="0">
                <a:latin typeface="+mn-ea"/>
              </a:rPr>
              <a:t>）公司。</a:t>
            </a:r>
            <a:endParaRPr lang="en-US" altLang="zh-CN" sz="1400" dirty="0" smtClean="0">
              <a:latin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</a:rPr>
              <a:t>1989</a:t>
            </a:r>
            <a:r>
              <a:rPr lang="zh-CN" altLang="en-US" sz="1400" dirty="0" smtClean="0">
                <a:latin typeface="+mn-ea"/>
              </a:rPr>
              <a:t>年，</a:t>
            </a:r>
            <a:r>
              <a:rPr lang="en-US" altLang="zh-CN" sz="1400" dirty="0" smtClean="0">
                <a:latin typeface="+mn-ea"/>
              </a:rPr>
              <a:t>IBM</a:t>
            </a:r>
            <a:r>
              <a:rPr lang="zh-CN" altLang="en-US" sz="1400" dirty="0" smtClean="0">
                <a:latin typeface="+mn-ea"/>
              </a:rPr>
              <a:t>推出</a:t>
            </a:r>
            <a:r>
              <a:rPr lang="en-US" altLang="zh-CN" sz="1400" dirty="0" smtClean="0">
                <a:latin typeface="+mn-ea"/>
              </a:rPr>
              <a:t>MR</a:t>
            </a:r>
            <a:r>
              <a:rPr lang="zh-CN" altLang="en-US" sz="1400" dirty="0" smtClean="0">
                <a:latin typeface="+mn-ea"/>
              </a:rPr>
              <a:t>（</a:t>
            </a:r>
            <a:r>
              <a:rPr lang="en-US" altLang="zh-CN" sz="1400" dirty="0" smtClean="0">
                <a:latin typeface="+mn-ea"/>
              </a:rPr>
              <a:t>Magneto Resistive</a:t>
            </a:r>
            <a:r>
              <a:rPr lang="zh-CN" altLang="en-US" sz="1400" dirty="0" smtClean="0">
                <a:latin typeface="+mn-ea"/>
              </a:rPr>
              <a:t>磁阻）技术令磁头灵敏度大大提升，使盘片的存储密度较之前的</a:t>
            </a:r>
            <a:r>
              <a:rPr lang="en-US" altLang="zh-CN" sz="1400" dirty="0" smtClean="0">
                <a:latin typeface="+mn-ea"/>
              </a:rPr>
              <a:t>20Mbpsi</a:t>
            </a:r>
            <a:r>
              <a:rPr lang="zh-CN" altLang="en-US" sz="1400" dirty="0" smtClean="0">
                <a:latin typeface="+mn-ea"/>
              </a:rPr>
              <a:t>（</a:t>
            </a:r>
            <a:r>
              <a:rPr lang="en-US" altLang="zh-CN" sz="1400" dirty="0" smtClean="0">
                <a:latin typeface="+mn-ea"/>
              </a:rPr>
              <a:t>bit/</a:t>
            </a:r>
            <a:r>
              <a:rPr lang="zh-CN" altLang="en-US" sz="1400" dirty="0" smtClean="0">
                <a:latin typeface="+mn-ea"/>
              </a:rPr>
              <a:t>每平方英寸）提高了数十倍，该技术为硬盘容量的巨大提升奠定了基础。</a:t>
            </a:r>
            <a:r>
              <a:rPr lang="en-US" altLang="zh-CN" sz="1400" dirty="0" smtClean="0">
                <a:latin typeface="+mn-ea"/>
              </a:rPr>
              <a:t>1991</a:t>
            </a:r>
            <a:r>
              <a:rPr lang="zh-CN" altLang="en-US" sz="1400" dirty="0" smtClean="0">
                <a:latin typeface="+mn-ea"/>
              </a:rPr>
              <a:t>年，</a:t>
            </a:r>
            <a:r>
              <a:rPr lang="en-US" altLang="zh-CN" sz="1400" dirty="0" smtClean="0">
                <a:latin typeface="+mn-ea"/>
              </a:rPr>
              <a:t>IBM</a:t>
            </a:r>
            <a:r>
              <a:rPr lang="zh-CN" altLang="en-US" sz="1400" dirty="0" smtClean="0">
                <a:latin typeface="+mn-ea"/>
              </a:rPr>
              <a:t>应用该技术推出了首款</a:t>
            </a:r>
            <a:r>
              <a:rPr lang="en-US" altLang="zh-CN" sz="1400" dirty="0" smtClean="0">
                <a:latin typeface="+mn-ea"/>
              </a:rPr>
              <a:t>3.5</a:t>
            </a:r>
            <a:r>
              <a:rPr lang="zh-CN" altLang="en-US" sz="1400" dirty="0" smtClean="0">
                <a:latin typeface="+mn-ea"/>
              </a:rPr>
              <a:t>英寸的</a:t>
            </a:r>
            <a:r>
              <a:rPr lang="en-US" altLang="zh-CN" sz="1400" dirty="0" smtClean="0">
                <a:latin typeface="+mn-ea"/>
              </a:rPr>
              <a:t>1GB</a:t>
            </a:r>
            <a:r>
              <a:rPr lang="zh-CN" altLang="en-US" sz="1400" dirty="0" smtClean="0">
                <a:latin typeface="+mn-ea"/>
              </a:rPr>
              <a:t>硬盘。</a:t>
            </a:r>
            <a:endParaRPr lang="en-US" altLang="zh-CN" sz="1400" dirty="0" smtClean="0">
              <a:latin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</a:rPr>
              <a:t>这些是发达国家</a:t>
            </a:r>
            <a:r>
              <a:rPr lang="en-US" altLang="zh-CN" sz="1400" dirty="0" smtClean="0">
                <a:latin typeface="+mn-ea"/>
              </a:rPr>
              <a:t>(</a:t>
            </a:r>
            <a:r>
              <a:rPr lang="zh-CN" altLang="en-US" sz="1400" dirty="0" smtClean="0">
                <a:latin typeface="+mn-ea"/>
              </a:rPr>
              <a:t>美、日</a:t>
            </a:r>
            <a:r>
              <a:rPr lang="en-US" altLang="zh-CN" sz="1400" dirty="0" smtClean="0">
                <a:latin typeface="+mn-ea"/>
              </a:rPr>
              <a:t>)</a:t>
            </a:r>
            <a:r>
              <a:rPr lang="zh-CN" altLang="en-US" sz="1400" dirty="0" smtClean="0">
                <a:latin typeface="+mn-ea"/>
              </a:rPr>
              <a:t>的进度，只有少数人有这个条件使用。在中国等其他多数国家还远落后于这个水平。国内</a:t>
            </a:r>
            <a:r>
              <a:rPr lang="en-US" altLang="zh-CN" sz="1400" dirty="0" smtClean="0">
                <a:latin typeface="+mn-ea"/>
              </a:rPr>
              <a:t>2000</a:t>
            </a:r>
            <a:r>
              <a:rPr lang="zh-CN" altLang="en-US" sz="1400" dirty="0" smtClean="0">
                <a:latin typeface="+mn-ea"/>
              </a:rPr>
              <a:t>年左右多数还在使用</a:t>
            </a:r>
            <a:r>
              <a:rPr lang="en-US" altLang="zh-CN" sz="1400" dirty="0" smtClean="0">
                <a:latin typeface="+mn-ea"/>
              </a:rPr>
              <a:t>3.5</a:t>
            </a:r>
            <a:r>
              <a:rPr lang="zh-CN" altLang="en-US" sz="1400" dirty="0" smtClean="0">
                <a:latin typeface="+mn-ea"/>
              </a:rPr>
              <a:t>寸、</a:t>
            </a:r>
            <a:r>
              <a:rPr lang="en-US" altLang="zh-CN" sz="1400" dirty="0" smtClean="0">
                <a:latin typeface="+mn-ea"/>
              </a:rPr>
              <a:t>5</a:t>
            </a:r>
            <a:r>
              <a:rPr lang="zh-CN" altLang="en-US" sz="1400" dirty="0" smtClean="0">
                <a:latin typeface="+mn-ea"/>
              </a:rPr>
              <a:t>寸的软盘。</a:t>
            </a:r>
            <a:endParaRPr lang="en-US" altLang="zh-CN" sz="1400" dirty="0" smtClean="0">
              <a:latin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643050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357686" y="3214686"/>
            <a:ext cx="4181980" cy="106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世界第一个运动图像标准</a:t>
            </a:r>
            <a:r>
              <a:rPr lang="en-US" altLang="zh-CN" sz="1400" dirty="0" smtClean="0">
                <a:latin typeface="+mn-ea"/>
                <a:ea typeface="+mn-ea"/>
              </a:rPr>
              <a:t>h261</a:t>
            </a:r>
            <a:r>
              <a:rPr lang="zh-CN" altLang="en-US" sz="1400" dirty="0" smtClean="0">
                <a:latin typeface="+mn-ea"/>
                <a:ea typeface="+mn-ea"/>
              </a:rPr>
              <a:t>在</a:t>
            </a:r>
            <a:r>
              <a:rPr lang="en-US" altLang="zh-CN" sz="1400" dirty="0" smtClean="0">
                <a:latin typeface="+mn-ea"/>
                <a:ea typeface="+mn-ea"/>
              </a:rPr>
              <a:t>1988</a:t>
            </a:r>
            <a:r>
              <a:rPr lang="zh-CN" altLang="en-US" sz="1400" dirty="0" smtClean="0">
                <a:latin typeface="+mn-ea"/>
                <a:ea typeface="+mn-ea"/>
              </a:rPr>
              <a:t>年由</a:t>
            </a:r>
            <a:r>
              <a:rPr lang="en-US" sz="1400" dirty="0" smtClean="0">
                <a:latin typeface="+mn-ea"/>
                <a:ea typeface="+mn-ea"/>
                <a:hlinkClick r:id="rId2" tooltip="ITU-T"/>
              </a:rPr>
              <a:t>ITU-T</a:t>
            </a:r>
            <a:r>
              <a:rPr lang="en-US" sz="1400" dirty="0" smtClean="0">
                <a:latin typeface="+mn-ea"/>
                <a:ea typeface="+mn-ea"/>
              </a:rPr>
              <a:t>, </a:t>
            </a:r>
            <a:r>
              <a:rPr lang="en-US" sz="1400" dirty="0" smtClean="0">
                <a:latin typeface="+mn-ea"/>
                <a:ea typeface="+mn-ea"/>
                <a:hlinkClick r:id="rId3" tooltip="Hitachi"/>
              </a:rPr>
              <a:t>Hitachi</a:t>
            </a:r>
            <a:r>
              <a:rPr lang="en-US" sz="1400" dirty="0" smtClean="0">
                <a:latin typeface="+mn-ea"/>
                <a:ea typeface="+mn-ea"/>
              </a:rPr>
              <a:t>, </a:t>
            </a:r>
            <a:r>
              <a:rPr lang="en-US" sz="1400" dirty="0" err="1" smtClean="0">
                <a:latin typeface="+mn-ea"/>
                <a:ea typeface="+mn-ea"/>
                <a:hlinkClick r:id="rId4" tooltip="PictureTel"/>
              </a:rPr>
              <a:t>PictureTel</a:t>
            </a:r>
            <a:r>
              <a:rPr lang="en-US" sz="1400" dirty="0" smtClean="0">
                <a:latin typeface="+mn-ea"/>
                <a:ea typeface="+mn-ea"/>
              </a:rPr>
              <a:t>, </a:t>
            </a:r>
            <a:r>
              <a:rPr lang="en-US" sz="1400" dirty="0" smtClean="0">
                <a:latin typeface="+mn-ea"/>
                <a:ea typeface="+mn-ea"/>
                <a:hlinkClick r:id="rId5" tooltip="Nippon Telegraph and Telephone"/>
              </a:rPr>
              <a:t>NTT</a:t>
            </a:r>
            <a:r>
              <a:rPr lang="en-US" sz="1400" dirty="0" smtClean="0">
                <a:latin typeface="+mn-ea"/>
                <a:ea typeface="+mn-ea"/>
              </a:rPr>
              <a:t>, </a:t>
            </a:r>
            <a:r>
              <a:rPr lang="en-US" sz="1400" dirty="0" smtClean="0">
                <a:latin typeface="+mn-ea"/>
                <a:ea typeface="+mn-ea"/>
                <a:hlinkClick r:id="rId6" tooltip="BT plc"/>
              </a:rPr>
              <a:t>BT</a:t>
            </a:r>
            <a:r>
              <a:rPr lang="en-US" sz="1400" dirty="0" smtClean="0">
                <a:latin typeface="+mn-ea"/>
                <a:ea typeface="+mn-ea"/>
              </a:rPr>
              <a:t>, </a:t>
            </a:r>
            <a:r>
              <a:rPr lang="en-US" sz="1400" dirty="0" smtClean="0">
                <a:latin typeface="+mn-ea"/>
                <a:ea typeface="+mn-ea"/>
                <a:hlinkClick r:id="rId7" tooltip="Toshiba"/>
              </a:rPr>
              <a:t>Toshiba</a:t>
            </a:r>
            <a:r>
              <a:rPr lang="en-US" sz="1400" dirty="0" smtClean="0">
                <a:latin typeface="+mn-ea"/>
                <a:ea typeface="+mn-ea"/>
              </a:rPr>
              <a:t>, </a:t>
            </a:r>
            <a:r>
              <a:rPr lang="en-US" sz="1400" dirty="0" smtClean="0">
                <a:latin typeface="+mn-ea"/>
                <a:ea typeface="+mn-ea"/>
                <a:hlinkClick r:id="rId8"/>
              </a:rPr>
              <a:t>etc.</a:t>
            </a:r>
            <a:r>
              <a:rPr lang="zh-CN" altLang="en-US" sz="1400" dirty="0" smtClean="0">
                <a:latin typeface="+mn-ea"/>
                <a:ea typeface="+mn-ea"/>
              </a:rPr>
              <a:t>发布。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</a:pPr>
            <a:r>
              <a:rPr lang="zh-CN" altLang="en-US" sz="1400" dirty="0" smtClean="0">
                <a:latin typeface="+mn-ea"/>
                <a:ea typeface="+mn-ea"/>
              </a:rPr>
              <a:t/>
            </a:r>
            <a:br>
              <a:rPr lang="zh-CN" altLang="en-US" sz="1400" dirty="0" smtClean="0">
                <a:latin typeface="+mn-ea"/>
                <a:ea typeface="+mn-ea"/>
              </a:rPr>
            </a:b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643050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57364"/>
            <a:ext cx="4181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/>
            </a:r>
            <a:br>
              <a:rPr lang="zh-CN" altLang="en-US" sz="1400" dirty="0" smtClean="0"/>
            </a:b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pic>
        <p:nvPicPr>
          <p:cNvPr id="6" name="图片 5" descr="floppy-disc-ib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2428868"/>
            <a:ext cx="3786214" cy="3333750"/>
          </a:xfrm>
          <a:prstGeom prst="rect">
            <a:avLst/>
          </a:prstGeom>
        </p:spPr>
      </p:pic>
      <p:pic>
        <p:nvPicPr>
          <p:cNvPr id="7" name="图片 6" descr="ibm-floppy_disc_driv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4" y="2357430"/>
            <a:ext cx="4000528" cy="33337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43086"/>
            <a:ext cx="4181980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早期的网络带宽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</a:pPr>
            <a:r>
              <a:rPr lang="en-US" altLang="zh-CN" sz="1400" b="1" dirty="0" smtClean="0">
                <a:latin typeface="+mn-ea"/>
                <a:ea typeface="+mn-ea"/>
              </a:rPr>
              <a:t>   90</a:t>
            </a:r>
            <a:r>
              <a:rPr lang="zh-CN" altLang="en-US" sz="1400" b="1" dirty="0" smtClean="0">
                <a:latin typeface="+mn-ea"/>
                <a:ea typeface="+mn-ea"/>
              </a:rPr>
              <a:t>年代中期至</a:t>
            </a:r>
            <a:r>
              <a:rPr lang="en-US" altLang="zh-CN" sz="1400" b="1" dirty="0" smtClean="0">
                <a:latin typeface="+mn-ea"/>
                <a:ea typeface="+mn-ea"/>
              </a:rPr>
              <a:t>2000</a:t>
            </a:r>
            <a:r>
              <a:rPr lang="zh-CN" altLang="en-US" sz="1400" b="1" dirty="0" smtClean="0">
                <a:latin typeface="+mn-ea"/>
                <a:ea typeface="+mn-ea"/>
              </a:rPr>
              <a:t>年：电话线</a:t>
            </a:r>
            <a:r>
              <a:rPr lang="en-US" altLang="zh-CN" sz="1400" b="1" dirty="0" smtClean="0">
                <a:latin typeface="+mn-ea"/>
                <a:ea typeface="+mn-ea"/>
              </a:rPr>
              <a:t>+“</a:t>
            </a:r>
            <a:r>
              <a:rPr lang="zh-CN" altLang="en-US" sz="1400" b="1" dirty="0" smtClean="0">
                <a:latin typeface="+mn-ea"/>
                <a:ea typeface="+mn-ea"/>
              </a:rPr>
              <a:t>猫” 龟速中的奢侈，</a:t>
            </a:r>
            <a:r>
              <a:rPr lang="en-US" altLang="zh-CN" sz="1400" b="1" smtClean="0">
                <a:latin typeface="+mn-ea"/>
                <a:ea typeface="+mn-ea"/>
              </a:rPr>
              <a:t>PSTN,</a:t>
            </a:r>
            <a:r>
              <a:rPr lang="zh-CN" altLang="en-US" sz="1400" dirty="0" smtClean="0">
                <a:latin typeface="+mn-ea"/>
                <a:ea typeface="+mn-ea"/>
              </a:rPr>
              <a:t>那个时候，电脑还是个奢侈品，国人想要上网，需要电话线</a:t>
            </a:r>
            <a:r>
              <a:rPr lang="en-US" altLang="zh-CN" sz="1400" dirty="0" smtClean="0">
                <a:latin typeface="+mn-ea"/>
                <a:ea typeface="+mn-ea"/>
              </a:rPr>
              <a:t>+“</a:t>
            </a:r>
            <a:r>
              <a:rPr lang="zh-CN" altLang="en-US" sz="1400" dirty="0" smtClean="0">
                <a:latin typeface="+mn-ea"/>
                <a:ea typeface="+mn-ea"/>
              </a:rPr>
              <a:t>猫” （调制解调器 </a:t>
            </a:r>
            <a:r>
              <a:rPr lang="en-US" altLang="zh-CN" sz="1400" dirty="0" smtClean="0">
                <a:latin typeface="+mn-ea"/>
                <a:ea typeface="+mn-ea"/>
              </a:rPr>
              <a:t>Modem</a:t>
            </a:r>
            <a:r>
              <a:rPr lang="zh-CN" altLang="en-US" sz="1400" dirty="0" smtClean="0">
                <a:latin typeface="+mn-ea"/>
                <a:ea typeface="+mn-ea"/>
              </a:rPr>
              <a:t>），网速又慢又贵，还时不时断网。你得专门去电信局申请一个服务号。带宽范围只有</a:t>
            </a:r>
            <a:r>
              <a:rPr lang="en-US" altLang="zh-CN" sz="1400" dirty="0" smtClean="0">
                <a:latin typeface="+mn-ea"/>
                <a:ea typeface="+mn-ea"/>
              </a:rPr>
              <a:t>14.4K-56K</a:t>
            </a:r>
            <a:r>
              <a:rPr lang="zh-CN" altLang="en-US" sz="1400" dirty="0" smtClean="0">
                <a:latin typeface="+mn-ea"/>
                <a:ea typeface="+mn-ea"/>
              </a:rPr>
              <a:t>，下载速度约每秒</a:t>
            </a:r>
            <a:r>
              <a:rPr lang="en-US" altLang="zh-CN" sz="1400" dirty="0" smtClean="0">
                <a:latin typeface="+mn-ea"/>
                <a:ea typeface="+mn-ea"/>
              </a:rPr>
              <a:t>7KB</a:t>
            </a:r>
            <a:r>
              <a:rPr lang="zh-CN" altLang="en-US" sz="1400" dirty="0" smtClean="0">
                <a:latin typeface="+mn-ea"/>
                <a:ea typeface="+mn-ea"/>
              </a:rPr>
              <a:t>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</a:pPr>
            <a:r>
              <a:rPr lang="en-US" altLang="zh-CN" sz="1400" dirty="0" smtClean="0">
                <a:latin typeface="+mn-ea"/>
                <a:ea typeface="+mn-ea"/>
              </a:rPr>
              <a:t>   </a:t>
            </a:r>
            <a:r>
              <a:rPr lang="en-US" altLang="zh-CN" sz="1400" b="1" dirty="0" smtClean="0">
                <a:latin typeface="+mn-ea"/>
                <a:ea typeface="+mn-ea"/>
              </a:rPr>
              <a:t>2000-2011</a:t>
            </a:r>
            <a:r>
              <a:rPr lang="zh-CN" altLang="en-US" sz="1400" b="1" dirty="0" smtClean="0">
                <a:latin typeface="+mn-ea"/>
                <a:ea typeface="+mn-ea"/>
              </a:rPr>
              <a:t>：</a:t>
            </a:r>
            <a:r>
              <a:rPr lang="en-US" altLang="zh-CN" sz="1400" b="1" dirty="0" smtClean="0">
                <a:latin typeface="+mn-ea"/>
                <a:ea typeface="+mn-ea"/>
              </a:rPr>
              <a:t>ADSL</a:t>
            </a:r>
            <a:r>
              <a:rPr lang="zh-CN" altLang="en-US" sz="1400" b="1" dirty="0" smtClean="0">
                <a:latin typeface="+mn-ea"/>
                <a:ea typeface="+mn-ea"/>
              </a:rPr>
              <a:t>宽带加速及网吧崛起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 在这个时候，网吧像雨后春笋一样在祖国大地冒出来了。去网吧</a:t>
            </a:r>
            <a:r>
              <a:rPr lang="en-US" altLang="zh-CN" sz="1400" dirty="0" smtClean="0">
                <a:latin typeface="+mn-ea"/>
                <a:ea typeface="+mn-ea"/>
              </a:rPr>
              <a:t>OICQ</a:t>
            </a:r>
            <a:r>
              <a:rPr lang="zh-CN" altLang="en-US" sz="1400" dirty="0" smtClean="0">
                <a:latin typeface="+mn-ea"/>
                <a:ea typeface="+mn-ea"/>
              </a:rPr>
              <a:t>聊天、游戏、电影、会友，成为</a:t>
            </a:r>
            <a:r>
              <a:rPr lang="en-US" altLang="zh-CN" sz="1400" dirty="0" smtClean="0">
                <a:latin typeface="+mn-ea"/>
                <a:ea typeface="+mn-ea"/>
              </a:rPr>
              <a:t>70</a:t>
            </a:r>
            <a:r>
              <a:rPr lang="zh-CN" altLang="en-US" sz="1400" dirty="0" smtClean="0">
                <a:latin typeface="+mn-ea"/>
                <a:ea typeface="+mn-ea"/>
              </a:rPr>
              <a:t>后、</a:t>
            </a:r>
            <a:r>
              <a:rPr lang="en-US" altLang="zh-CN" sz="1400" dirty="0" smtClean="0">
                <a:latin typeface="+mn-ea"/>
                <a:ea typeface="+mn-ea"/>
              </a:rPr>
              <a:t>80</a:t>
            </a:r>
            <a:r>
              <a:rPr lang="zh-CN" altLang="en-US" sz="1400" dirty="0" smtClean="0">
                <a:latin typeface="+mn-ea"/>
                <a:ea typeface="+mn-ea"/>
              </a:rPr>
              <a:t>后的集体记忆之一。 </a:t>
            </a:r>
            <a:r>
              <a:rPr lang="en-US" altLang="zh-CN" sz="1400" dirty="0" smtClean="0">
                <a:latin typeface="+mn-ea"/>
                <a:ea typeface="+mn-ea"/>
              </a:rPr>
              <a:t>ADSL</a:t>
            </a:r>
            <a:r>
              <a:rPr lang="zh-CN" altLang="en-US" sz="1400" dirty="0" smtClean="0">
                <a:latin typeface="+mn-ea"/>
                <a:ea typeface="+mn-ea"/>
              </a:rPr>
              <a:t>的初装费是</a:t>
            </a:r>
            <a:r>
              <a:rPr lang="en-US" altLang="zh-CN" sz="1400" dirty="0" smtClean="0">
                <a:latin typeface="+mn-ea"/>
                <a:ea typeface="+mn-ea"/>
              </a:rPr>
              <a:t>3000</a:t>
            </a:r>
            <a:r>
              <a:rPr lang="zh-CN" altLang="en-US" sz="1400" dirty="0" smtClean="0">
                <a:latin typeface="+mn-ea"/>
                <a:ea typeface="+mn-ea"/>
              </a:rPr>
              <a:t>元，可以打对折。装一部电话都要</a:t>
            </a:r>
            <a:r>
              <a:rPr lang="en-US" altLang="zh-CN" sz="1400" dirty="0" smtClean="0">
                <a:latin typeface="+mn-ea"/>
                <a:ea typeface="+mn-ea"/>
              </a:rPr>
              <a:t>1000</a:t>
            </a:r>
            <a:r>
              <a:rPr lang="zh-CN" altLang="en-US" sz="1400" dirty="0" smtClean="0">
                <a:latin typeface="+mn-ea"/>
                <a:ea typeface="+mn-ea"/>
              </a:rPr>
              <a:t>多元，</a:t>
            </a:r>
            <a:r>
              <a:rPr lang="en-US" altLang="zh-CN" sz="1400" dirty="0" smtClean="0">
                <a:latin typeface="+mn-ea"/>
                <a:ea typeface="+mn-ea"/>
              </a:rPr>
              <a:t>1500</a:t>
            </a:r>
            <a:r>
              <a:rPr lang="zh-CN" altLang="en-US" sz="1400" dirty="0" smtClean="0">
                <a:latin typeface="+mn-ea"/>
                <a:ea typeface="+mn-ea"/>
              </a:rPr>
              <a:t>元的</a:t>
            </a:r>
            <a:r>
              <a:rPr lang="en-US" altLang="zh-CN" sz="1400" dirty="0" smtClean="0">
                <a:latin typeface="+mn-ea"/>
                <a:ea typeface="+mn-ea"/>
              </a:rPr>
              <a:t>ADSL</a:t>
            </a:r>
            <a:r>
              <a:rPr lang="zh-CN" altLang="en-US" sz="1400" dirty="0" smtClean="0">
                <a:latin typeface="+mn-ea"/>
                <a:ea typeface="+mn-ea"/>
              </a:rPr>
              <a:t>。</a:t>
            </a:r>
            <a:r>
              <a:rPr lang="en-US" sz="1400" b="1" dirty="0" smtClean="0">
                <a:latin typeface="+mn-ea"/>
                <a:ea typeface="+mn-ea"/>
              </a:rPr>
              <a:t> 7.8M</a:t>
            </a:r>
            <a:r>
              <a:rPr lang="en-US" altLang="zh-CN" sz="1400" b="1" dirty="0" smtClean="0">
                <a:latin typeface="+mn-ea"/>
                <a:ea typeface="+mn-ea"/>
              </a:rPr>
              <a:t>bps</a:t>
            </a:r>
            <a:r>
              <a:rPr lang="zh-CN" altLang="en-US" sz="1400" b="1" dirty="0" smtClean="0">
                <a:latin typeface="+mn-ea"/>
                <a:ea typeface="+mn-ea"/>
              </a:rPr>
              <a:t>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ea typeface="+mn-ea"/>
              </a:rPr>
              <a:t>2011-2023</a:t>
            </a:r>
            <a:r>
              <a:rPr lang="zh-CN" altLang="en-US" sz="1400" dirty="0" smtClean="0">
                <a:latin typeface="+mn-ea"/>
                <a:ea typeface="+mn-ea"/>
              </a:rPr>
              <a:t>：“宽带中国”，光纤到户，带宽达</a:t>
            </a:r>
            <a:r>
              <a:rPr lang="en-US" sz="1400" dirty="0" smtClean="0">
                <a:latin typeface="+mn-ea"/>
                <a:ea typeface="+mn-ea"/>
              </a:rPr>
              <a:t>100Mbps </a:t>
            </a:r>
            <a:r>
              <a:rPr lang="zh-CN" altLang="en-US" sz="1400" dirty="0" smtClean="0">
                <a:latin typeface="+mn-ea"/>
                <a:ea typeface="+mn-ea"/>
              </a:rPr>
              <a:t>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33424" y="1843086"/>
            <a:ext cx="4181980" cy="63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</a:pPr>
            <a:r>
              <a:rPr lang="en-US" altLang="zh-CN" sz="1400" b="1" dirty="0" smtClean="0">
                <a:latin typeface="+mn-ea"/>
                <a:ea typeface="+mn-ea"/>
              </a:rPr>
              <a:t>   </a:t>
            </a:r>
            <a:endParaRPr lang="en-US" altLang="zh-CN" sz="1400" dirty="0" smtClean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643182"/>
            <a:ext cx="8858312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43086"/>
            <a:ext cx="418198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在网络和存储的发展同时</a:t>
            </a:r>
            <a:r>
              <a:rPr lang="en-US" altLang="zh-CN" sz="1400" dirty="0" smtClean="0">
                <a:latin typeface="+mn-ea"/>
                <a:ea typeface="+mn-ea"/>
              </a:rPr>
              <a:t>,</a:t>
            </a:r>
            <a:r>
              <a:rPr lang="zh-CN" altLang="en-US" sz="1400" dirty="0" smtClean="0">
                <a:latin typeface="+mn-ea"/>
                <a:ea typeface="+mn-ea"/>
              </a:rPr>
              <a:t>图像编码标准不断推出。</a:t>
            </a: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ea typeface="+mn-ea"/>
              </a:rPr>
              <a:t>1988:H261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ea typeface="+mn-ea"/>
              </a:rPr>
              <a:t>1992</a:t>
            </a:r>
            <a:r>
              <a:rPr lang="zh-CN" altLang="en-US" sz="1400" dirty="0" smtClean="0">
                <a:latin typeface="+mn-ea"/>
                <a:ea typeface="+mn-ea"/>
              </a:rPr>
              <a:t>：</a:t>
            </a:r>
            <a:r>
              <a:rPr lang="en-US" altLang="zh-CN" sz="1400" dirty="0" smtClean="0">
                <a:latin typeface="+mn-ea"/>
                <a:ea typeface="+mn-ea"/>
              </a:rPr>
              <a:t>jpeg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solidFill>
                  <a:srgbClr val="FF0000"/>
                </a:solidFill>
                <a:latin typeface="+mn-ea"/>
                <a:ea typeface="+mn-ea"/>
              </a:rPr>
              <a:t>1995:H263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ea typeface="+mn-ea"/>
              </a:rPr>
              <a:t>1997:RV(Base 263)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ea typeface="+mn-ea"/>
              </a:rPr>
              <a:t>2000</a:t>
            </a:r>
            <a:r>
              <a:rPr lang="zh-CN" altLang="en-US" sz="1400" dirty="0" smtClean="0">
                <a:latin typeface="+mn-ea"/>
                <a:ea typeface="+mn-ea"/>
              </a:rPr>
              <a:t>：</a:t>
            </a:r>
            <a:r>
              <a:rPr lang="en-US" altLang="zh-CN" sz="1400" dirty="0" smtClean="0">
                <a:latin typeface="+mn-ea"/>
                <a:ea typeface="+mn-ea"/>
              </a:rPr>
              <a:t>MPEG4 (Part 2) 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ea typeface="+mn-ea"/>
                <a:cs typeface="Times New Roman" panose="02020603050405020304" pitchFamily="18" charset="0"/>
              </a:rPr>
              <a:t>2004</a:t>
            </a: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sz="1400" dirty="0" smtClean="0">
                <a:latin typeface="+mn-ea"/>
                <a:ea typeface="+mn-ea"/>
              </a:rPr>
              <a:t>Advanced Video Coding / H.264 / MPEG-4 Part 10, Base:</a:t>
            </a:r>
            <a:r>
              <a:rPr lang="nn-NO" sz="1400" dirty="0" smtClean="0">
                <a:hlinkClick r:id="rId2" tooltip="H.261"/>
              </a:rPr>
              <a:t> H.261</a:t>
            </a:r>
            <a:r>
              <a:rPr lang="nn-NO" sz="1400" dirty="0" smtClean="0"/>
              <a:t>, </a:t>
            </a:r>
            <a:r>
              <a:rPr lang="nn-NO" sz="1400" dirty="0" smtClean="0">
                <a:hlinkClick r:id="rId3" tooltip="H.262"/>
              </a:rPr>
              <a:t>H.262</a:t>
            </a:r>
            <a:r>
              <a:rPr lang="nn-NO" sz="1400" dirty="0" smtClean="0"/>
              <a:t> (aka </a:t>
            </a:r>
            <a:r>
              <a:rPr lang="nn-NO" sz="1400" dirty="0" smtClean="0">
                <a:hlinkClick r:id="rId4" tooltip="MPEG-2 Video"/>
              </a:rPr>
              <a:t>MPEG-2 Video</a:t>
            </a:r>
            <a:r>
              <a:rPr lang="nn-NO" sz="1400" dirty="0" smtClean="0"/>
              <a:t>), </a:t>
            </a:r>
            <a:r>
              <a:rPr lang="nn-NO" sz="1400" dirty="0" smtClean="0">
                <a:hlinkClick r:id="rId5" tooltip="H.263"/>
              </a:rPr>
              <a:t>H.263</a:t>
            </a:r>
            <a:r>
              <a:rPr lang="nn-NO" sz="1400" dirty="0" smtClean="0"/>
              <a:t>, </a:t>
            </a:r>
            <a:r>
              <a:rPr lang="nn-NO" sz="1400" dirty="0" smtClean="0">
                <a:hlinkClick r:id="rId6"/>
              </a:rPr>
              <a:t>MPEG-1</a:t>
            </a:r>
            <a:r>
              <a:rPr lang="zh-CN" altLang="en-US" sz="1400" dirty="0" smtClean="0"/>
              <a:t>。</a:t>
            </a: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43086"/>
            <a:ext cx="418198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500174"/>
            <a:ext cx="8001057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43086"/>
            <a:ext cx="418198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pic>
        <p:nvPicPr>
          <p:cNvPr id="6" name="图片 5" descr="R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1428736"/>
            <a:ext cx="8286808" cy="471490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29124" y="2000240"/>
            <a:ext cx="418198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</a:rPr>
              <a:t>人们绞尽脑汁，通过发展各种编码压缩图像视频，节省对传输带宽和储存空间的需求</a:t>
            </a:r>
            <a:r>
              <a:rPr lang="zh-CN" altLang="en-US" sz="14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1400" dirty="0" smtClean="0">
              <a:latin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cs typeface="Times New Roman" panose="02020603050405020304" pitchFamily="18" charset="0"/>
              </a:rPr>
              <a:t>这个发展过程中，发展了许多门类的标准：</a:t>
            </a:r>
            <a:endParaRPr lang="en-US" altLang="zh-CN" sz="1400" dirty="0" smtClean="0">
              <a:latin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endParaRPr lang="en-US" altLang="zh-CN" sz="1400" dirty="0" smtClean="0">
              <a:latin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cs typeface="Times New Roman" panose="02020603050405020304" pitchFamily="18" charset="0"/>
              </a:rPr>
              <a:t>MPEG4:XVID,Divx, Sorenson Spark, msmpeg4,zygo,dcod,mpeg4 </a:t>
            </a:r>
            <a:r>
              <a:rPr lang="zh-CN" altLang="en-US" sz="1400" dirty="0" smtClean="0">
                <a:latin typeface="+mn-ea"/>
                <a:cs typeface="Times New Roman" panose="02020603050405020304" pitchFamily="18" charset="0"/>
              </a:rPr>
              <a:t>最多故事。</a:t>
            </a:r>
            <a:endParaRPr lang="en-US" altLang="zh-CN" sz="1400" dirty="0" smtClean="0">
              <a:latin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cs typeface="Times New Roman" panose="02020603050405020304" pitchFamily="18" charset="0"/>
              </a:rPr>
              <a:t>VC1:WMV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cs typeface="Times New Roman" panose="02020603050405020304" pitchFamily="18" charset="0"/>
              </a:rPr>
              <a:t>RV: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smtClean="0">
                <a:latin typeface="+mn-ea"/>
                <a:cs typeface="Times New Roman" panose="02020603050405020304" pitchFamily="18" charset="0"/>
              </a:rPr>
              <a:t>AVC: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err="1" smtClean="0">
                <a:latin typeface="+mn-ea"/>
                <a:cs typeface="Times New Roman" panose="02020603050405020304" pitchFamily="18" charset="0"/>
              </a:rPr>
              <a:t>VPx</a:t>
            </a:r>
            <a:r>
              <a:rPr lang="en-US" altLang="zh-CN" sz="1400" dirty="0" smtClean="0">
                <a:latin typeface="+mn-ea"/>
                <a:cs typeface="Times New Roman" panose="02020603050405020304" pitchFamily="18" charset="0"/>
              </a:rPr>
              <a:t>: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en-US" altLang="zh-CN" sz="1400" dirty="0" err="1" smtClean="0">
                <a:latin typeface="+mn-ea"/>
                <a:cs typeface="Times New Roman" panose="02020603050405020304" pitchFamily="18" charset="0"/>
              </a:rPr>
              <a:t>Hevc</a:t>
            </a:r>
            <a:r>
              <a:rPr lang="en-US" altLang="zh-CN" sz="1400" dirty="0" smtClean="0">
                <a:latin typeface="+mn-ea"/>
                <a:cs typeface="Times New Roman" panose="02020603050405020304" pitchFamily="18" charset="0"/>
              </a:rPr>
              <a:t>:</a:t>
            </a:r>
            <a:endParaRPr lang="en-US" altLang="zh-CN" sz="1400" dirty="0" smtClean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基本概念介绍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71472" y="1785926"/>
            <a:ext cx="340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为什么需要图像与视频编码？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图像与视频编码基本原理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3286116" y="1928802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86182" y="1843087"/>
            <a:ext cx="5178306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视频编码是建立在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图像</a:t>
            </a: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编码的基础上</a:t>
            </a:r>
            <a:r>
              <a:rPr lang="en-US" altLang="zh-CN" sz="1400" dirty="0" smtClean="0"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视频是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连续的图像序列</a:t>
            </a: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，由连 续的帧 构成，</a:t>
            </a:r>
          </a:p>
          <a:p>
            <a:pPr marL="214313" indent="-214313">
              <a:spcAft>
                <a:spcPts val="900"/>
              </a:spcAft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    一帧即为一幅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图像</a:t>
            </a: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。由于人眼的视觉暂留效应，当帧序列以一定的速率播放时，我们看到的就是动作连续的视频。由于连续的帧之间相似性极高，为便于储存、传输，我们需要对原始的视频进行编码压缩，以去除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空间、时间</a:t>
            </a: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维度的冗余。</a:t>
            </a: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codec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简介</a:t>
            </a:r>
            <a:endParaRPr lang="zh-CN" altLang="en-US" dirty="0"/>
          </a:p>
        </p:txBody>
      </p:sp>
      <p:pic>
        <p:nvPicPr>
          <p:cNvPr id="44034" name="Picture 2" descr="https://pic2.zhimg.com/80/v2-e08c299f06790db031ac62ecda0a21b1_720w.web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3571876"/>
            <a:ext cx="5457464" cy="939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7" y="1843088"/>
            <a:ext cx="390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图像与视频编码基本原理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3286116" y="1928802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86182" y="1843087"/>
            <a:ext cx="517830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采集：光</a:t>
            </a:r>
            <a:r>
              <a:rPr lang="en-US" altLang="zh-CN" sz="1400" dirty="0" smtClean="0">
                <a:latin typeface="+mn-ea"/>
                <a:ea typeface="+mn-ea"/>
                <a:cs typeface="Times New Roman" panose="02020603050405020304" pitchFamily="18" charset="0"/>
              </a:rPr>
              <a:t>-&gt;</a:t>
            </a: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电，</a:t>
            </a:r>
            <a:r>
              <a:rPr lang="en-US" altLang="zh-CN" sz="1400" dirty="0" smtClean="0">
                <a:latin typeface="+mn-ea"/>
                <a:ea typeface="+mn-ea"/>
                <a:cs typeface="Times New Roman" panose="02020603050405020304" pitchFamily="18" charset="0"/>
              </a:rPr>
              <a:t>RGB,YUV;</a:t>
            </a: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预处理：</a:t>
            </a:r>
            <a:r>
              <a:rPr lang="zh-CN" altLang="en-US" sz="1400" dirty="0" smtClean="0"/>
              <a:t>消除图像中无关的信息，</a:t>
            </a:r>
            <a:r>
              <a:rPr lang="zh-CN" altLang="en-US" sz="1400" dirty="0" smtClean="0">
                <a:latin typeface="+mn-ea"/>
                <a:ea typeface="+mn-ea"/>
              </a:rPr>
              <a:t>抑制不想要的变形或者增强某些对于后续处理重要的图像特征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编码：将原始数据处理成方便再现的数据。</a:t>
            </a: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传输：存储或者网络收发。</a:t>
            </a: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解码：把编码的数据最接近原样地还原出来。</a:t>
            </a: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图像处理：缩放，旋转，等等。</a:t>
            </a: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>
                <a:latin typeface="+mn-ea"/>
                <a:ea typeface="+mn-ea"/>
                <a:cs typeface="Times New Roman" panose="02020603050405020304" pitchFamily="18" charset="0"/>
              </a:rPr>
              <a:t>显示：把还原出来的图像数据用屏幕呈现出来。</a:t>
            </a: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codec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简介</a:t>
            </a:r>
            <a:endParaRPr lang="zh-CN" altLang="en-US" dirty="0"/>
          </a:p>
        </p:txBody>
      </p:sp>
      <p:pic>
        <p:nvPicPr>
          <p:cNvPr id="8" name="Picture 4" descr="https://pic3.zhimg.com/80/v2-6ab263372cec8b4a544d858d3a7fdc32_720w.web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4766081"/>
            <a:ext cx="8715436" cy="13775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357686" y="2500306"/>
            <a:ext cx="4431064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/>
              <a:t>视频编码后主要有两个输出方向：</a:t>
            </a:r>
            <a:endParaRPr lang="en-US" altLang="zh-CN" sz="1400" dirty="0" smtClean="0"/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/>
              <a:t>一个输出方向是应用于实时传输，直播，视频通话，在线视频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tcp,rtp,rtsp,rtmp</a:t>
            </a:r>
            <a:r>
              <a:rPr lang="en-US" altLang="zh-CN" sz="1400" dirty="0" smtClean="0"/>
              <a:t> etc)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itchFamily="34" charset="0"/>
              <a:buChar char="•"/>
            </a:pPr>
            <a:r>
              <a:rPr lang="zh-CN" altLang="en-US" sz="1400" dirty="0" smtClean="0"/>
              <a:t>第二个输出方向是应用于本地视频封装成文件</a:t>
            </a:r>
            <a:r>
              <a:rPr lang="en-US" altLang="zh-CN" sz="1400" dirty="0" smtClean="0"/>
              <a:t>(mpeg,dat,wmv,avi,rmvb,mp4,mkv,webm etc.)</a:t>
            </a:r>
            <a:r>
              <a:rPr lang="zh-CN" altLang="en-US" sz="1400" dirty="0" smtClean="0"/>
              <a:t>。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</a:pP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00166" y="274638"/>
            <a:ext cx="7186634" cy="1143000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codec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简介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8596" y="1857364"/>
            <a:ext cx="383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视频后续处理简介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286248" y="1988840"/>
            <a:ext cx="3500462" cy="51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1.Video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基础知识简介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286248" y="2797432"/>
            <a:ext cx="5064995" cy="99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海奇</a:t>
            </a: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decoder engine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zh-CN" altLang="en-US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介绍</a:t>
            </a:r>
            <a:endParaRPr lang="zh-CN" altLang="en-US" sz="2400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286248" y="3929066"/>
            <a:ext cx="1827953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3.VE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介绍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57290" y="0"/>
            <a:ext cx="7329510" cy="141763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</a:t>
            </a:r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decoder engine</a:t>
            </a:r>
            <a:b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介绍</a:t>
            </a:r>
            <a:endParaRPr lang="zh-CN" altLang="en-US" sz="36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634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45" y="3143248"/>
            <a:ext cx="8075744" cy="3000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500174"/>
            <a:ext cx="8072494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 dirty="0" smtClean="0"/>
              <a:t>Dec </a:t>
            </a:r>
            <a:r>
              <a:rPr lang="zh-CN" altLang="en-US" sz="1400" dirty="0" smtClean="0"/>
              <a:t>流程</a:t>
            </a:r>
            <a:endParaRPr lang="en-US" altLang="zh-CN" sz="1400" dirty="0" smtClean="0"/>
          </a:p>
          <a:p>
            <a:endParaRPr lang="zh-CN" altLang="en-US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57290" y="0"/>
            <a:ext cx="7329510" cy="1417638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</a:rPr>
              <a:t>海奇</a:t>
            </a:r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</a:rPr>
              <a:t>Video decoder engine</a:t>
            </a:r>
            <a:b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</a:rPr>
            </a:br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</a:rPr>
              <a:t>   </a:t>
            </a:r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</a:rPr>
              <a:t>介绍</a:t>
            </a:r>
            <a:endParaRPr lang="zh-CN" altLang="en-US" sz="36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</a:endParaRPr>
          </a:p>
        </p:txBody>
      </p:sp>
      <p:pic>
        <p:nvPicPr>
          <p:cNvPr id="7" name="图片 6" descr="decp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64" y="1500174"/>
            <a:ext cx="5500726" cy="4572033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2643174" y="2000240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286248" y="1988840"/>
            <a:ext cx="3500462" cy="51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1.Video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基础知识简介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286248" y="2797432"/>
            <a:ext cx="5064995" cy="99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海奇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 decoder engine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介绍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286248" y="3929066"/>
            <a:ext cx="1827953" cy="51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3.VE </a:t>
            </a:r>
            <a:r>
              <a:rPr lang="zh-CN" altLang="en-US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介绍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1400" dirty="0" smtClean="0"/>
              <a:t>主要给播放器的接口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VCODEC_CMD_INIT:</a:t>
            </a:r>
            <a:r>
              <a:rPr lang="zh-CN" altLang="en-US" sz="1400" dirty="0" smtClean="0"/>
              <a:t>解码器初始化。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VCODEC_CMD_RELEASE:</a:t>
            </a:r>
            <a:r>
              <a:rPr lang="zh-CN" altLang="en-US" sz="1400" dirty="0" smtClean="0"/>
              <a:t>解码器反初始化。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VCODEC_CMD_DECODE_FRAME:</a:t>
            </a:r>
            <a:r>
              <a:rPr lang="zh-CN" altLang="en-US" sz="1400" dirty="0" smtClean="0"/>
              <a:t>解码一帧数据。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VCODEC_CMD_DECODE_EXTRA_DATA:</a:t>
            </a:r>
            <a:r>
              <a:rPr lang="zh-CN" altLang="en-US" sz="1400" dirty="0" smtClean="0"/>
              <a:t>解码附加数据。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VCODEC_CMD_SWRESET: decoder </a:t>
            </a:r>
            <a:r>
              <a:rPr lang="zh-CN" altLang="en-US" sz="1400" dirty="0" smtClean="0"/>
              <a:t>状态复位，在快进快退时候回被调用。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VCODEC_CMD_HWRESET:</a:t>
            </a:r>
            <a:r>
              <a:rPr lang="zh-CN" altLang="en-US" sz="1400" dirty="0" smtClean="0"/>
              <a:t>解码器复位。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VCODEC_CMD_GET_STATUS:</a:t>
            </a:r>
            <a:r>
              <a:rPr lang="zh-CN" altLang="en-US" sz="1400" dirty="0" smtClean="0"/>
              <a:t>获取当前解码一些参数，如图像分辨率，</a:t>
            </a:r>
            <a:r>
              <a:rPr lang="en-US" altLang="zh-CN" sz="1400" dirty="0" smtClean="0"/>
              <a:t>PTS etc.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VCODEC_CMD_PAUSE :</a:t>
            </a:r>
            <a:r>
              <a:rPr lang="zh-CN" altLang="en-US" sz="1400" dirty="0" smtClean="0"/>
              <a:t>暂停解码。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VCODEC_CMD_SET_ROTATE_MODE :</a:t>
            </a:r>
            <a:r>
              <a:rPr lang="zh-CN" altLang="en-US" sz="1400" dirty="0" smtClean="0"/>
              <a:t>设置旋转（</a:t>
            </a:r>
            <a:r>
              <a:rPr lang="en-US" altLang="zh-CN" sz="1400" dirty="0" smtClean="0"/>
              <a:t>0,90,180,270</a:t>
            </a:r>
            <a:r>
              <a:rPr lang="zh-CN" altLang="en-US" sz="1400" dirty="0" smtClean="0"/>
              <a:t>）。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VCODEC_CMD_SET_MIRROR_MODE :</a:t>
            </a:r>
            <a:r>
              <a:rPr lang="zh-CN" altLang="en-US" sz="1400" dirty="0" smtClean="0"/>
              <a:t>设置镜像。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VCODEC_CMD_FRAME_GET_INFO :</a:t>
            </a:r>
            <a:r>
              <a:rPr lang="zh-CN" altLang="en-US" sz="1400" dirty="0" smtClean="0"/>
              <a:t>获取当前解码图像数据。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VCODEC_CMD_SET_SYNC_MODE :</a:t>
            </a:r>
            <a:r>
              <a:rPr lang="zh-CN" altLang="en-US" sz="1400" dirty="0" smtClean="0"/>
              <a:t>设置同步模式。</a:t>
            </a:r>
            <a:endParaRPr lang="en-US" altLang="zh-CN" sz="1400" dirty="0" smtClean="0"/>
          </a:p>
          <a:p>
            <a:r>
              <a:rPr lang="en-US" altLang="zh-CN" sz="1400" dirty="0" smtClean="0"/>
              <a:t>VDEC_CFG_SYNC_THRESHOLD :</a:t>
            </a:r>
            <a:r>
              <a:rPr lang="zh-CN" altLang="en-US" sz="1400" dirty="0" smtClean="0"/>
              <a:t>设置同步时间阈值。</a:t>
            </a:r>
            <a:endParaRPr lang="en-US" altLang="zh-CN" sz="1400" dirty="0" smtClean="0"/>
          </a:p>
          <a:p>
            <a:r>
              <a:rPr lang="en-US" altLang="zh-CN" sz="1400" dirty="0" smtClean="0"/>
              <a:t>VDEC_CFG_FREERUN_TRD :</a:t>
            </a:r>
            <a:r>
              <a:rPr lang="zh-CN" altLang="en-US" sz="1400" dirty="0" smtClean="0"/>
              <a:t>设置是否</a:t>
            </a:r>
            <a:r>
              <a:rPr lang="en-US" altLang="zh-CN" sz="1400" dirty="0" err="1" smtClean="0"/>
              <a:t>Freerun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 smtClean="0"/>
              <a:t>VCODEC_CMD_SET_DISPLAY_RECT :</a:t>
            </a:r>
            <a:r>
              <a:rPr lang="zh-CN" altLang="en-US" sz="1400" dirty="0" smtClean="0"/>
              <a:t>设置解码显示区域。</a:t>
            </a:r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zh-CN" altLang="en-US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</a:rPr>
              <a:t>VE  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介绍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</a:rPr>
              <a:t>VE  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介绍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Verdana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600200"/>
            <a:ext cx="3543296" cy="4525963"/>
          </a:xfrm>
        </p:spPr>
        <p:txBody>
          <a:bodyPr/>
          <a:lstStyle/>
          <a:p>
            <a:pPr>
              <a:buNone/>
            </a:pPr>
            <a:r>
              <a:rPr lang="zh-CN" altLang="en-US" sz="1400" dirty="0" smtClean="0">
                <a:latin typeface="+mn-ea"/>
              </a:rPr>
              <a:t>一些和视频相关的常用工具</a:t>
            </a:r>
            <a:r>
              <a:rPr lang="en-US" altLang="zh-CN" sz="1400" dirty="0" smtClean="0">
                <a:latin typeface="+mn-ea"/>
              </a:rPr>
              <a:t>:</a:t>
            </a:r>
          </a:p>
          <a:p>
            <a:r>
              <a:rPr lang="en-US" altLang="zh-CN" sz="1400" dirty="0" err="1" smtClean="0">
                <a:latin typeface="+mn-ea"/>
              </a:rPr>
              <a:t>Mediainfo</a:t>
            </a:r>
            <a:r>
              <a:rPr lang="en-US" altLang="zh-CN" sz="1400" dirty="0" smtClean="0">
                <a:latin typeface="+mn-ea"/>
              </a:rPr>
              <a:t>:</a:t>
            </a:r>
            <a:r>
              <a:rPr lang="zh-CN" altLang="en-US" sz="1400" dirty="0" smtClean="0">
                <a:latin typeface="+mn-ea"/>
              </a:rPr>
              <a:t>获取媒体信息，查看文件是什么编码格式，多少个参考帧；比特率</a:t>
            </a:r>
            <a:r>
              <a:rPr lang="en-US" altLang="zh-CN" sz="1400" dirty="0" smtClean="0">
                <a:latin typeface="+mn-ea"/>
              </a:rPr>
              <a:t>etc.</a:t>
            </a:r>
            <a:r>
              <a:rPr lang="zh-CN" altLang="en-US" sz="1400" dirty="0" smtClean="0">
                <a:latin typeface="+mn-ea"/>
              </a:rPr>
              <a:t>。</a:t>
            </a:r>
            <a:endParaRPr lang="en-US" altLang="zh-CN" sz="1400" dirty="0" smtClean="0">
              <a:latin typeface="+mn-ea"/>
            </a:endParaRPr>
          </a:p>
          <a:p>
            <a:r>
              <a:rPr lang="en-US" altLang="zh-CN" sz="1400" dirty="0" smtClean="0">
                <a:latin typeface="+mn-ea"/>
              </a:rPr>
              <a:t>VLC</a:t>
            </a:r>
            <a:r>
              <a:rPr lang="zh-CN" altLang="en-US" sz="1400" dirty="0" smtClean="0">
                <a:latin typeface="+mn-ea"/>
              </a:rPr>
              <a:t>：播放视频。</a:t>
            </a:r>
            <a:endParaRPr lang="en-US" altLang="zh-CN" sz="1400" dirty="0" smtClean="0">
              <a:latin typeface="+mn-ea"/>
            </a:endParaRPr>
          </a:p>
          <a:p>
            <a:r>
              <a:rPr lang="zh-CN" altLang="en-US" sz="1400" dirty="0" smtClean="0">
                <a:latin typeface="+mn-ea"/>
              </a:rPr>
              <a:t>暴风</a:t>
            </a:r>
            <a:r>
              <a:rPr lang="en-US" altLang="zh-CN" sz="1400" dirty="0" smtClean="0">
                <a:latin typeface="+mn-ea"/>
              </a:rPr>
              <a:t>:</a:t>
            </a:r>
            <a:r>
              <a:rPr lang="zh-CN" altLang="en-US" sz="1400" dirty="0" smtClean="0">
                <a:latin typeface="+mn-ea"/>
              </a:rPr>
              <a:t>按帧播放。</a:t>
            </a:r>
            <a:endParaRPr lang="en-US" altLang="zh-CN" sz="1400" dirty="0" smtClean="0">
              <a:latin typeface="+mn-ea"/>
            </a:endParaRPr>
          </a:p>
          <a:p>
            <a:endParaRPr lang="en-US" altLang="zh-CN" sz="1400" dirty="0" smtClean="0">
              <a:latin typeface="+mn-ea"/>
            </a:endParaRPr>
          </a:p>
          <a:p>
            <a:endParaRPr lang="zh-CN" altLang="en-US" sz="1400" dirty="0">
              <a:latin typeface="+mn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1500174"/>
            <a:ext cx="4786345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9600" b="1" dirty="0" smtClean="0">
              <a:solidFill>
                <a:srgbClr val="C00000"/>
              </a:solidFill>
            </a:endParaRPr>
          </a:p>
          <a:p>
            <a:r>
              <a:rPr lang="zh-CN" altLang="en-US" sz="1400" dirty="0" smtClean="0"/>
              <a:t>答疑：</a:t>
            </a:r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zh-CN" altLang="en-US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</a:rPr>
              <a:t>VE  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介绍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8000" b="1" dirty="0" smtClean="0">
              <a:solidFill>
                <a:srgbClr val="C00000"/>
              </a:solidFill>
              <a:latin typeface="+mn-ea"/>
            </a:endParaRPr>
          </a:p>
          <a:p>
            <a:pPr>
              <a:buNone/>
            </a:pPr>
            <a:r>
              <a:rPr lang="en-US" altLang="zh-CN" sz="80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Thanks,The</a:t>
            </a:r>
            <a:r>
              <a:rPr lang="en-US" altLang="zh-CN" sz="80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End</a:t>
            </a:r>
          </a:p>
          <a:p>
            <a:pPr>
              <a:buNone/>
            </a:pPr>
            <a:endParaRPr lang="en-US" altLang="zh-CN" sz="8000" dirty="0" smtClean="0">
              <a:latin typeface="+mn-ea"/>
            </a:endParaRPr>
          </a:p>
          <a:p>
            <a:endParaRPr lang="en-US" altLang="zh-CN" sz="8000" dirty="0" smtClean="0">
              <a:latin typeface="+mn-ea"/>
            </a:endParaRPr>
          </a:p>
          <a:p>
            <a:endParaRPr lang="en-US" altLang="zh-CN" sz="8000" dirty="0" smtClean="0">
              <a:latin typeface="+mn-ea"/>
            </a:endParaRPr>
          </a:p>
          <a:p>
            <a:endParaRPr lang="zh-CN" altLang="en-US" sz="8000" dirty="0"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>
              <a:solidFill>
                <a:schemeClr val="accent1">
                  <a:lumMod val="75000"/>
                </a:schemeClr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6979</TotalTime>
  <Words>1277</Words>
  <Application>Microsoft Office PowerPoint</Application>
  <PresentationFormat>全屏显示(4:3)</PresentationFormat>
  <Paragraphs>177</Paragraphs>
  <Slides>27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29" baseType="lpstr">
      <vt:lpstr>Office 主题</vt:lpstr>
      <vt:lpstr>2_Office 主题</vt:lpstr>
      <vt:lpstr>幻灯片 1</vt:lpstr>
      <vt:lpstr>目录</vt:lpstr>
      <vt:lpstr>Video 基础知识简介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基本概念介绍</vt:lpstr>
      <vt:lpstr>Video codec简介</vt:lpstr>
      <vt:lpstr>Video codec简介</vt:lpstr>
      <vt:lpstr>Video codec简介</vt:lpstr>
      <vt:lpstr>目录</vt:lpstr>
      <vt:lpstr>海奇Video decoder engine    介绍</vt:lpstr>
      <vt:lpstr>海奇Video decoder engine    介绍</vt:lpstr>
      <vt:lpstr>目录</vt:lpstr>
      <vt:lpstr>VE   介绍</vt:lpstr>
      <vt:lpstr>VE   介绍</vt:lpstr>
      <vt:lpstr>VE   介绍</vt:lpstr>
      <vt:lpstr>幻灯片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PC</cp:lastModifiedBy>
  <cp:revision>1532</cp:revision>
  <dcterms:created xsi:type="dcterms:W3CDTF">2019-11-11T11:15:00Z</dcterms:created>
  <dcterms:modified xsi:type="dcterms:W3CDTF">2023-07-12T02:35:28Z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A99C97CE63B5481BA1E838BBF44C90C0</vt:lpwstr>
  </property>
</Properties>
</file>