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19"/>
  </p:notesMasterIdLst>
  <p:handoutMasterIdLst>
    <p:handoutMasterId r:id="rId20"/>
  </p:handoutMasterIdLst>
  <p:sldIdLst>
    <p:sldId id="257" r:id="rId4"/>
    <p:sldId id="273" r:id="rId5"/>
    <p:sldId id="354" r:id="rId6"/>
    <p:sldId id="355" r:id="rId7"/>
    <p:sldId id="358" r:id="rId8"/>
    <p:sldId id="357" r:id="rId9"/>
    <p:sldId id="356" r:id="rId10"/>
    <p:sldId id="360" r:id="rId11"/>
    <p:sldId id="361" r:id="rId12"/>
    <p:sldId id="367" r:id="rId13"/>
    <p:sldId id="368" r:id="rId14"/>
    <p:sldId id="359" r:id="rId15"/>
    <p:sldId id="362" r:id="rId16"/>
    <p:sldId id="363" r:id="rId17"/>
    <p:sldId id="365" r:id="rId18"/>
  </p:sldIdLst>
  <p:sldSz cx="9144000" cy="6858000" type="screen4x3"/>
  <p:notesSz cx="6645275" cy="9777095"/>
  <p:custDataLst>
    <p:tags r:id="rId2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016"/>
    <p:restoredTop sz="94712"/>
  </p:normalViewPr>
  <p:slideViewPr>
    <p:cSldViewPr showGuides="1">
      <p:cViewPr varScale="1">
        <p:scale>
          <a:sx n="109" d="100"/>
          <a:sy n="109" d="100"/>
        </p:scale>
        <p:origin x="1884" y="78"/>
      </p:cViewPr>
      <p:guideLst>
        <p:guide orient="horz" pos="229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1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notesMaster" Target="notesMasters/notesMaster1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FC8D7B18-B09A-42DD-AC8B-D1B6057284FF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2E147D0-261A-461E-A872-EF036CB218C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763963" y="0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61BE4609-4092-497A-B4A8-88E41EBF9C0C}" type="datetimeFigureOut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877888" y="733425"/>
            <a:ext cx="4889500" cy="36671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65163" y="4645025"/>
            <a:ext cx="5314950" cy="4398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286875"/>
            <a:ext cx="2879725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763963" y="9286875"/>
            <a:ext cx="2879725" cy="4889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noProof="1" dirty="0"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77224AB-B769-4E34-8844-0C2F6B52D3C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3075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3078" name="图片 10" descr="timg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0" y="1698625"/>
            <a:ext cx="9144000" cy="43227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DD24E2D-0CF0-4806-A5A1-D78E5C2E628A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直接连接符 6"/>
          <p:cNvCxnSpPr/>
          <p:nvPr/>
        </p:nvCxnSpPr>
        <p:spPr>
          <a:xfrm>
            <a:off x="1476375" y="1412875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4099" name="图片 7" descr="hichip_logo.pn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287338" y="115888"/>
            <a:ext cx="1116012" cy="1325562"/>
          </a:xfrm>
          <a:prstGeom prst="rect">
            <a:avLst/>
          </a:prstGeom>
          <a:noFill/>
          <a:ln w="9525">
            <a:noFill/>
          </a:ln>
        </p:spPr>
      </p:pic>
      <p:cxnSp>
        <p:nvCxnSpPr>
          <p:cNvPr id="2" name="直接连接符 8"/>
          <p:cNvCxnSpPr/>
          <p:nvPr/>
        </p:nvCxnSpPr>
        <p:spPr>
          <a:xfrm>
            <a:off x="1476375" y="6165850"/>
            <a:ext cx="7056438" cy="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68313" y="6308725"/>
            <a:ext cx="4824413" cy="64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smtClean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HCSEMI_Confidential – Do not distribute</a:t>
            </a:r>
            <a:endParaRPr kumimoji="0" lang="en-US" altLang="zh-CN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800" b="1" i="0" u="none" strike="noStrike" kern="1200" cap="none" spc="0" normalizeH="0" baseline="0" noProof="0" smtClean="0">
              <a:ln>
                <a:noFill/>
              </a:ln>
              <a:solidFill>
                <a:srgbClr val="7F7F7F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9" name="标题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11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 dirty="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702310-F98B-41DF-BDEF-BA111847C7D8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3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9A1DFB69-A932-4F26-86A5-11720BAC029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文本占位符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HCSEMI_Confidential – Do not distribute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 noProof="1" dirty="0">
                <a:solidFill>
                  <a:srgbClr val="898989"/>
                </a:solidFill>
                <a:latin typeface="Calibri" panose="020F0502020204030204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1B602DDF-E76C-4E76-8706-F4B49CC8B9C9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3.xml"/><Relationship Id="rId6" Type="http://schemas.openxmlformats.org/officeDocument/2006/relationships/image" Target="../media/image5.png"/><Relationship Id="rId5" Type="http://schemas.openxmlformats.org/officeDocument/2006/relationships/tags" Target="../tags/tag4.xml"/><Relationship Id="rId4" Type="http://schemas.openxmlformats.org/officeDocument/2006/relationships/image" Target="../media/image4.png"/><Relationship Id="rId3" Type="http://schemas.openxmlformats.org/officeDocument/2006/relationships/tags" Target="../tags/tag3.xml"/><Relationship Id="rId2" Type="http://schemas.openxmlformats.org/officeDocument/2006/relationships/image" Target="../media/image3.png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tags" Target="../tags/tag5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image" Target="../media/image13.png"/><Relationship Id="rId7" Type="http://schemas.openxmlformats.org/officeDocument/2006/relationships/tags" Target="../tags/tag10.x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4" Type="http://schemas.openxmlformats.org/officeDocument/2006/relationships/image" Target="../media/image12.png"/><Relationship Id="rId3" Type="http://schemas.openxmlformats.org/officeDocument/2006/relationships/tags" Target="../tags/tag7.xml"/><Relationship Id="rId2" Type="http://schemas.openxmlformats.org/officeDocument/2006/relationships/image" Target="../media/image11.png"/><Relationship Id="rId1" Type="http://schemas.openxmlformats.org/officeDocument/2006/relationships/tags" Target="../tags/tag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3.xml"/><Relationship Id="rId3" Type="http://schemas.openxmlformats.org/officeDocument/2006/relationships/image" Target="../media/image16.png"/><Relationship Id="rId2" Type="http://schemas.openxmlformats.org/officeDocument/2006/relationships/tags" Target="../tags/tag11.xml"/><Relationship Id="rId1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r>
              <a:rPr lang="en-US" sz="4800" dirty="0"/>
              <a:t>AUDIO</a:t>
            </a:r>
            <a:r>
              <a:rPr lang="zh-CN" altLang="en-US" sz="4800" dirty="0"/>
              <a:t>驱动简介</a:t>
            </a:r>
            <a:endParaRPr lang="en-US" altLang="zh-CN" dirty="0" smtClean="0"/>
          </a:p>
          <a:p>
            <a:pPr eaLnBrk="1" hangingPunct="1">
              <a:buNone/>
            </a:pPr>
            <a:r>
              <a:rPr lang="en-US" altLang="zh-CN" dirty="0" smtClean="0"/>
              <a:t> </a:t>
            </a:r>
            <a:endParaRPr lang="en-US" altLang="zh-CN" dirty="0" smtClean="0"/>
          </a:p>
          <a:p>
            <a:pPr algn="ctr" eaLnBrk="1" hangingPunct="1">
              <a:buNone/>
            </a:pPr>
            <a:r>
              <a:rPr lang="en-US" altLang="zh-CN" dirty="0" smtClean="0"/>
              <a:t>edison.xie</a:t>
            </a:r>
            <a:endParaRPr lang="en-US" altLang="zh-CN" dirty="0" smtClean="0"/>
          </a:p>
          <a:p>
            <a:pPr algn="ctr" eaLnBrk="1" hangingPunct="1">
              <a:buNone/>
            </a:pPr>
            <a:r>
              <a:rPr lang="en-US" altLang="zh-CN" dirty="0" smtClean="0"/>
              <a:t>2023-7-21</a:t>
            </a:r>
            <a:endParaRPr lang="en-US" altLang="zh-CN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目录</a:t>
            </a:r>
            <a:endParaRPr lang="zh-CN" altLang="en-US" dirty="0"/>
          </a:p>
        </p:txBody>
      </p:sp>
      <p:sp>
        <p:nvSpPr>
          <p:cNvPr id="5" name="文本框 5"/>
          <p:cNvSpPr txBox="1"/>
          <p:nvPr/>
        </p:nvSpPr>
        <p:spPr>
          <a:xfrm>
            <a:off x="2165848" y="2636912"/>
            <a:ext cx="1008609" cy="7325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32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+mn-ea"/>
                <a:cs typeface="Verdana" panose="020B0604030504040204" pitchFamily="34" charset="0"/>
              </a:rPr>
              <a:t>目录</a:t>
            </a:r>
            <a:endParaRPr lang="zh-CN" altLang="en-US" sz="3200" b="1" dirty="0" smtClean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+mn-ea"/>
              <a:cs typeface="Verdana" panose="020B0604030504040204" pitchFamily="34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515067" y="3573016"/>
            <a:ext cx="265970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CONTENTS</a:t>
            </a:r>
            <a:endParaRPr lang="zh-CN" altLang="en-US" sz="32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+mn-ea"/>
              <a:cs typeface="Verdana" panose="020B0604030504040204" pitchFamily="34" charset="0"/>
            </a:endParaRPr>
          </a:p>
        </p:txBody>
      </p:sp>
      <p:sp>
        <p:nvSpPr>
          <p:cNvPr id="7" name="文本框 8"/>
          <p:cNvSpPr txBox="1"/>
          <p:nvPr/>
        </p:nvSpPr>
        <p:spPr>
          <a:xfrm>
            <a:off x="4395387" y="1988840"/>
            <a:ext cx="3397885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1. </a:t>
            </a:r>
            <a:r>
              <a:rPr 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audio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基础知识</a:t>
            </a:r>
            <a:r>
              <a:rPr lang="zh-CN" altLang="en-US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介绍</a:t>
            </a:r>
            <a:endParaRPr lang="zh-CN" altLang="en-US" sz="2400" b="1" dirty="0" smtClean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文本框 11"/>
          <p:cNvSpPr txBox="1"/>
          <p:nvPr/>
        </p:nvSpPr>
        <p:spPr>
          <a:xfrm>
            <a:off x="4407261" y="2797432"/>
            <a:ext cx="3312795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2.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en-US" altLang="zh-CN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hichip audio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框架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" name="文本框 11"/>
          <p:cNvSpPr txBox="1"/>
          <p:nvPr>
            <p:custDataLst>
              <p:tags r:id="rId1"/>
            </p:custDataLst>
          </p:nvPr>
        </p:nvSpPr>
        <p:spPr>
          <a:xfrm>
            <a:off x="4428216" y="3605787"/>
            <a:ext cx="2143760" cy="5708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>
              <a:lnSpc>
                <a:spcPct val="130000"/>
              </a:lnSpc>
            </a:pPr>
            <a:r>
              <a:rPr lang="en-US" altLang="zh-CN" sz="2400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3.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配置与</a:t>
            </a:r>
            <a:r>
              <a:rPr lang="zh-CN" altLang="en-US" sz="2400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播放</a:t>
            </a:r>
            <a:endParaRPr lang="zh-CN" altLang="en-US" sz="2400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600200"/>
            <a:ext cx="3114675" cy="598805"/>
          </a:xfrm>
        </p:spPr>
        <p:txBody>
          <a:bodyPr/>
          <a:lstStyle/>
          <a:p>
            <a:r>
              <a:rPr lang="zh-CN" altLang="en-US" dirty="0"/>
              <a:t>音频基本概念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audio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基础知识介绍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683895" y="2348865"/>
            <a:ext cx="467931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ym typeface="+mn-ea"/>
              </a:rPr>
              <a:t>模拟音频</a:t>
            </a:r>
            <a:endParaRPr lang="zh-CN" altLang="en-US" b="1"/>
          </a:p>
          <a:p>
            <a:r>
              <a:rPr lang="zh-CN" altLang="en-US" sz="1600"/>
              <a:t>频率</a:t>
            </a:r>
            <a:r>
              <a:rPr lang="en-US" altLang="zh-CN" sz="1400"/>
              <a:t> </a:t>
            </a:r>
            <a:r>
              <a:rPr lang="zh-CN" altLang="en-US" sz="1400">
                <a:solidFill>
                  <a:schemeClr val="tx2">
                    <a:lumMod val="75000"/>
                  </a:schemeClr>
                </a:solidFill>
              </a:rPr>
              <a:t>声波的频率，即声音的音调，音调越高，频率越大</a:t>
            </a:r>
            <a:endParaRPr lang="zh-CN" altLang="en-US" sz="140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zh-CN" altLang="en-US" sz="1600"/>
              <a:t>振幅</a:t>
            </a:r>
            <a:r>
              <a:rPr lang="en-US" altLang="zh-CN" sz="1600"/>
              <a:t> 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声波的响度</a:t>
            </a:r>
            <a:r>
              <a:rPr lang="zh-CN" altLang="en-US" sz="1400">
                <a:solidFill>
                  <a:schemeClr val="tx2">
                    <a:lumMod val="75000"/>
                  </a:schemeClr>
                </a:solidFill>
              </a:rPr>
              <a:t>，即声音的高低，音量越大，振幅越大</a:t>
            </a:r>
            <a:endParaRPr lang="zh-CN" altLang="en-US" sz="1400"/>
          </a:p>
          <a:p>
            <a:r>
              <a:rPr lang="zh-CN" altLang="en-US" sz="1600"/>
              <a:t>波形</a:t>
            </a:r>
            <a:r>
              <a:rPr lang="en-US" altLang="zh-CN" sz="1600"/>
              <a:t> 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  <a:sym typeface="+mn-ea"/>
              </a:rPr>
              <a:t>声波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的音色</a:t>
            </a:r>
            <a:endParaRPr lang="en-US" altLang="zh-CN" sz="1400"/>
          </a:p>
          <a:p>
            <a:endParaRPr lang="zh-CN" altLang="en-US"/>
          </a:p>
          <a:p>
            <a:r>
              <a:rPr lang="zh-CN" altLang="en-US" b="1"/>
              <a:t>数字音频</a:t>
            </a:r>
            <a:endParaRPr lang="zh-CN" altLang="en-US" b="1"/>
          </a:p>
          <a:p>
            <a:r>
              <a:rPr lang="zh-CN" altLang="en-US" sz="1600"/>
              <a:t>采样</a:t>
            </a:r>
            <a:r>
              <a:rPr lang="en-US" altLang="zh-CN" sz="1600"/>
              <a:t> 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将连续时间的信号处理成离散时间的信号</a:t>
            </a:r>
            <a:endParaRPr lang="en-US" altLang="zh-CN" sz="1400">
              <a:solidFill>
                <a:schemeClr val="tx2">
                  <a:lumMod val="75000"/>
                </a:schemeClr>
              </a:solidFill>
            </a:endParaRPr>
          </a:p>
          <a:p>
            <a:r>
              <a:rPr lang="zh-CN" altLang="en-US" sz="1600"/>
              <a:t>采样率</a:t>
            </a:r>
            <a:r>
              <a:rPr lang="en-US" altLang="zh-CN" sz="1600"/>
              <a:t> 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每秒采样的次数（44.1K，48K</a:t>
            </a:r>
            <a:r>
              <a:rPr lang="zh-CN" altLang="en-US" sz="1400">
                <a:solidFill>
                  <a:schemeClr val="tx2">
                    <a:lumMod val="75000"/>
                  </a:schemeClr>
                </a:solidFill>
              </a:rPr>
              <a:t>等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）</a:t>
            </a:r>
            <a:endParaRPr lang="en-US" altLang="zh-CN" sz="1600"/>
          </a:p>
          <a:p>
            <a:r>
              <a:rPr lang="en-US" altLang="zh-CN" sz="1600">
                <a:sym typeface="+mn-ea"/>
              </a:rPr>
              <a:t>PCM 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  <a:sym typeface="+mn-ea"/>
              </a:rPr>
              <a:t>脉冲编码调制， 等时间隔采样</a:t>
            </a:r>
            <a:endParaRPr lang="en-US" altLang="zh-CN" sz="1400">
              <a:solidFill>
                <a:schemeClr val="tx2">
                  <a:lumMod val="75000"/>
                </a:schemeClr>
              </a:solidFill>
              <a:sym typeface="+mn-ea"/>
            </a:endParaRPr>
          </a:p>
          <a:p>
            <a:r>
              <a:rPr lang="zh-CN" altLang="en-US" sz="1600">
                <a:sym typeface="+mn-ea"/>
              </a:rPr>
              <a:t>重采样</a:t>
            </a:r>
            <a:r>
              <a:rPr lang="en-US" altLang="zh-CN" sz="1600">
                <a:sym typeface="+mn-ea"/>
              </a:rPr>
              <a:t> </a:t>
            </a:r>
            <a:r>
              <a:rPr lang="en-US" altLang="zh-CN" sz="1200">
                <a:solidFill>
                  <a:schemeClr val="tx2">
                    <a:lumMod val="75000"/>
                  </a:schemeClr>
                </a:solidFill>
                <a:sym typeface="+mn-ea"/>
              </a:rPr>
              <a:t>原始采样率和目标不一致时，</a:t>
            </a:r>
            <a:r>
              <a:rPr lang="zh-CN" altLang="en-US" sz="1200">
                <a:solidFill>
                  <a:schemeClr val="tx2">
                    <a:lumMod val="75000"/>
                  </a:schemeClr>
                </a:solidFill>
                <a:sym typeface="+mn-ea"/>
              </a:rPr>
              <a:t>对原始数据重新采样</a:t>
            </a:r>
            <a:endParaRPr lang="zh-CN" altLang="en-US" sz="1400">
              <a:sym typeface="+mn-ea"/>
            </a:endParaRPr>
          </a:p>
          <a:p>
            <a:endParaRPr lang="zh-CN" altLang="en-US"/>
          </a:p>
          <a:p>
            <a:r>
              <a:rPr lang="en-US" altLang="zh-CN" sz="1600"/>
              <a:t>DAC 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数模转换器</a:t>
            </a:r>
            <a:endParaRPr lang="zh-CN" altLang="en-US" sz="1600"/>
          </a:p>
          <a:p>
            <a:r>
              <a:rPr lang="en-US" altLang="zh-CN" sz="1600"/>
              <a:t>ADC 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模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  <a:sym typeface="+mn-ea"/>
              </a:rPr>
              <a:t>数</a:t>
            </a:r>
            <a:r>
              <a:rPr lang="en-US" altLang="zh-CN" sz="1400">
                <a:solidFill>
                  <a:schemeClr val="tx2">
                    <a:lumMod val="75000"/>
                  </a:schemeClr>
                </a:solidFill>
              </a:rPr>
              <a:t>转换器</a:t>
            </a:r>
            <a:endParaRPr lang="en-US" altLang="zh-CN" sz="1600"/>
          </a:p>
        </p:txBody>
      </p:sp>
      <p:pic>
        <p:nvPicPr>
          <p:cNvPr id="5" name="图片 4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rcRect t="10907" r="37498"/>
          <a:stretch>
            <a:fillRect/>
          </a:stretch>
        </p:blipFill>
        <p:spPr>
          <a:xfrm>
            <a:off x="5363845" y="3282315"/>
            <a:ext cx="3559810" cy="11722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5364480" y="4454525"/>
            <a:ext cx="3559810" cy="1628775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rcRect l="8008"/>
          <a:stretch>
            <a:fillRect/>
          </a:stretch>
        </p:blipFill>
        <p:spPr>
          <a:xfrm>
            <a:off x="5363210" y="1821180"/>
            <a:ext cx="3530600" cy="14319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audio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基础知识介绍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11505" y="1628775"/>
            <a:ext cx="684276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b="1"/>
              <a:t>PCM</a:t>
            </a:r>
            <a:r>
              <a:rPr lang="en-US" altLang="zh-CN"/>
              <a:t>: </a:t>
            </a:r>
            <a:r>
              <a:rPr lang="zh-CN" altLang="en-US"/>
              <a:t>Pulse Code Modulation</a:t>
            </a:r>
            <a:r>
              <a:rPr lang="en-US"/>
              <a:t>, </a:t>
            </a:r>
            <a:r>
              <a:rPr lang="zh-CN" altLang="en-US"/>
              <a:t>被称为脉冲编码调制。</a:t>
            </a:r>
            <a:endParaRPr lang="zh-CN" altLang="en-US"/>
          </a:p>
          <a:p>
            <a:endParaRPr lang="zh-CN" altLang="en-US"/>
          </a:p>
          <a:p>
            <a:r>
              <a:rPr lang="en-US" altLang="zh-CN" b="1"/>
              <a:t>PCM</a:t>
            </a:r>
            <a:r>
              <a:rPr lang="zh-CN" altLang="en-US" b="1"/>
              <a:t>音频数据</a:t>
            </a:r>
            <a:r>
              <a:rPr lang="en-US" altLang="zh-CN"/>
              <a:t>: 由模拟信号经过采样、量化、编码转换成的标准的数字音频数据</a:t>
            </a:r>
            <a:r>
              <a:rPr lang="zh-CN" altLang="en-US"/>
              <a:t>，是没有经过压缩的音频采样数据裸</a:t>
            </a:r>
            <a:r>
              <a:rPr lang="zh-CN" altLang="en-US"/>
              <a:t>流。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611505" y="3038475"/>
            <a:ext cx="7830820" cy="2768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800" b="1">
                <a:sym typeface="+mn-ea"/>
              </a:rPr>
              <a:t>PCM</a:t>
            </a:r>
            <a:r>
              <a:rPr lang="zh-CN" altLang="en-US" sz="1800" b="1"/>
              <a:t>数据存储格式：</a:t>
            </a:r>
            <a:endParaRPr lang="zh-CN" altLang="en-US" sz="18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/>
              <a:t>采样率</a:t>
            </a:r>
            <a:endParaRPr lang="zh-CN" alt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声道</a:t>
            </a:r>
            <a:endParaRPr lang="zh-CN" altLang="en-US" sz="16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interleaved</a:t>
            </a:r>
            <a:endParaRPr lang="en-US" altLang="zh-CN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400">
                <a:sym typeface="+mn-ea"/>
              </a:rPr>
              <a:t>non-interleaved/planar</a:t>
            </a:r>
            <a:endParaRPr lang="zh-CN" altLang="en-US" sz="1400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1600">
                <a:sym typeface="+mn-ea"/>
              </a:rPr>
              <a:t>采样格式</a:t>
            </a:r>
            <a:endParaRPr lang="zh-CN" altLang="en-US" sz="16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位宽</a:t>
            </a:r>
            <a:r>
              <a:rPr lang="en-US" altLang="zh-CN" sz="1400">
                <a:sym typeface="+mn-ea"/>
              </a:rPr>
              <a:t>: 8bits, 16bits, 24bits, 32bits, 64bits</a:t>
            </a:r>
            <a:endParaRPr lang="en-US" altLang="zh-CN" sz="1400"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存储位宽</a:t>
            </a:r>
            <a:endParaRPr lang="zh-CN" altLang="en-US" sz="1200">
              <a:sym typeface="+mn-ea"/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zh-CN" altLang="en-US" sz="1200">
                <a:sym typeface="+mn-ea"/>
              </a:rPr>
              <a:t>采样位宽</a:t>
            </a:r>
            <a:endParaRPr lang="en-US" altLang="zh-CN" sz="12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大小端</a:t>
            </a:r>
            <a:r>
              <a:rPr lang="en-US" altLang="zh-CN" sz="1400">
                <a:sym typeface="+mn-ea"/>
              </a:rPr>
              <a:t>: </a:t>
            </a:r>
            <a:r>
              <a:rPr lang="en-US" altLang="zh-CN" sz="1400">
                <a:sym typeface="+mn-ea"/>
              </a:rPr>
              <a:t>little-endian(LE), big-endian(BE)</a:t>
            </a:r>
            <a:endParaRPr lang="zh-CN" altLang="en-US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对齐</a:t>
            </a:r>
            <a:r>
              <a:rPr lang="en-US" altLang="zh-CN" sz="1400">
                <a:sym typeface="+mn-ea"/>
              </a:rPr>
              <a:t>: </a:t>
            </a:r>
            <a:r>
              <a:rPr lang="zh-CN" altLang="en-US" sz="1400">
                <a:sym typeface="+mn-ea"/>
              </a:rPr>
              <a:t>左对齐</a:t>
            </a:r>
            <a:r>
              <a:rPr lang="en-US" altLang="zh-CN" sz="1400">
                <a:sym typeface="+mn-ea"/>
              </a:rPr>
              <a:t>(left-align)</a:t>
            </a:r>
            <a:r>
              <a:rPr lang="zh-CN" altLang="en-US" sz="1400">
                <a:sym typeface="+mn-ea"/>
              </a:rPr>
              <a:t>，右对齐</a:t>
            </a:r>
            <a:r>
              <a:rPr lang="en-US" altLang="zh-CN" sz="1400">
                <a:sym typeface="+mn-ea"/>
              </a:rPr>
              <a:t>(</a:t>
            </a:r>
            <a:r>
              <a:rPr lang="en-US" altLang="zh-CN" sz="1400">
                <a:sym typeface="+mn-ea"/>
              </a:rPr>
              <a:t>right-align</a:t>
            </a:r>
            <a:r>
              <a:rPr lang="en-US" altLang="zh-CN" sz="1400">
                <a:sym typeface="+mn-ea"/>
              </a:rPr>
              <a:t>)</a:t>
            </a:r>
            <a:endParaRPr lang="en-US" altLang="zh-CN" sz="1400">
              <a:sym typeface="+mn-ea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zh-CN" altLang="en-US" sz="1400">
                <a:sym typeface="+mn-ea"/>
              </a:rPr>
              <a:t>数据类型</a:t>
            </a:r>
            <a:r>
              <a:rPr lang="en-US" altLang="zh-CN" sz="1400">
                <a:sym typeface="+mn-ea"/>
              </a:rPr>
              <a:t>: </a:t>
            </a:r>
            <a:r>
              <a:rPr lang="zh-CN" altLang="en-US" sz="1400">
                <a:sym typeface="+mn-ea"/>
              </a:rPr>
              <a:t>整形，浮点，</a:t>
            </a:r>
            <a:r>
              <a:rPr lang="en-US" altLang="zh-CN" sz="1400">
                <a:sym typeface="+mn-ea"/>
              </a:rPr>
              <a:t>signed</a:t>
            </a:r>
            <a:r>
              <a:rPr lang="zh-CN" altLang="en-US" sz="1400">
                <a:sym typeface="+mn-ea"/>
              </a:rPr>
              <a:t>，</a:t>
            </a:r>
            <a:r>
              <a:rPr lang="en-US" altLang="zh-CN" sz="1400">
                <a:sym typeface="+mn-ea"/>
              </a:rPr>
              <a:t>un</a:t>
            </a:r>
            <a:r>
              <a:rPr lang="en-US" altLang="zh-CN" sz="1400">
                <a:sym typeface="+mn-ea"/>
              </a:rPr>
              <a:t>signed</a:t>
            </a:r>
            <a:endParaRPr lang="zh-CN" altLang="en-US" sz="1400">
              <a:sym typeface="+mn-ea"/>
            </a:endParaRPr>
          </a:p>
        </p:txBody>
      </p:sp>
      <p:pic>
        <p:nvPicPr>
          <p:cNvPr id="7" name="图片 6" descr="interleaved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77460" y="3573145"/>
            <a:ext cx="3371850" cy="430530"/>
          </a:xfrm>
          <a:prstGeom prst="rect">
            <a:avLst/>
          </a:prstGeom>
        </p:spPr>
      </p:pic>
      <p:pic>
        <p:nvPicPr>
          <p:cNvPr id="8" name="图片 7" descr="noninterleaved.drawio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7460" y="4003675"/>
            <a:ext cx="3371850" cy="430530"/>
          </a:xfrm>
          <a:prstGeom prst="rect">
            <a:avLst/>
          </a:prstGeom>
        </p:spPr>
      </p:pic>
      <p:pic>
        <p:nvPicPr>
          <p:cNvPr id="9" name="图片 8" descr="align.draw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9195" y="4982845"/>
            <a:ext cx="3520440" cy="68008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zh-CN" altLang="en-US"/>
              <a:t>音频传输</a:t>
            </a:r>
            <a:r>
              <a:rPr lang="zh-CN" altLang="en-US"/>
              <a:t>协议</a:t>
            </a:r>
            <a:endParaRPr lang="zh-CN" altLang="en-US"/>
          </a:p>
          <a:p>
            <a:pPr lvl="1"/>
            <a:r>
              <a:rPr lang="en-US" altLang="zh-CN"/>
              <a:t>I2S</a:t>
            </a:r>
            <a:r>
              <a:rPr lang="en-US" altLang="zh-CN" sz="1400"/>
              <a:t> (Integrated Interchip Sound)</a:t>
            </a:r>
            <a:r>
              <a:rPr lang="en-US" altLang="zh-CN"/>
              <a:t>: mclk, bclk, lrclk, data</a:t>
            </a:r>
            <a:endParaRPr lang="en-US" altLang="zh-CN"/>
          </a:p>
          <a:p>
            <a:pPr lvl="1"/>
            <a:r>
              <a:rPr lang="en-US" altLang="zh-CN"/>
              <a:t>PCM</a:t>
            </a:r>
            <a:r>
              <a:rPr lang="en-US" altLang="zh-CN" sz="1400"/>
              <a:t>(Pulse Code Modulation)脉冲编码调制</a:t>
            </a:r>
            <a:r>
              <a:rPr lang="zh-CN" altLang="en-US" sz="1400"/>
              <a:t>接口</a:t>
            </a:r>
            <a:r>
              <a:rPr lang="en-US" altLang="zh-CN">
                <a:sym typeface="+mn-ea"/>
              </a:rPr>
              <a:t>: mclk, bclk, fs, data</a:t>
            </a:r>
            <a:endParaRPr lang="en-US" altLang="zh-CN"/>
          </a:p>
          <a:p>
            <a:pPr lvl="1"/>
            <a:r>
              <a:rPr lang="en-US" altLang="zh-CN"/>
              <a:t>PDM</a:t>
            </a:r>
            <a:r>
              <a:rPr lang="en-US" altLang="zh-CN" sz="1400"/>
              <a:t>(Pulse Density Modulation)脉冲密度调制</a:t>
            </a:r>
            <a:r>
              <a:rPr lang="en-US" altLang="zh-CN" sz="1400">
                <a:sym typeface="+mn-ea"/>
              </a:rPr>
              <a:t>接口</a:t>
            </a:r>
            <a:r>
              <a:rPr lang="en-US" altLang="zh-CN">
                <a:sym typeface="+mn-ea"/>
              </a:rPr>
              <a:t>: clk, data</a:t>
            </a:r>
            <a:endParaRPr lang="en-US" altLang="zh-CN">
              <a:sym typeface="+mn-ea"/>
            </a:endParaRPr>
          </a:p>
          <a:p>
            <a:pPr lvl="1"/>
            <a:r>
              <a:rPr lang="en-US" altLang="zh-CN">
                <a:sym typeface="+mn-ea"/>
              </a:rPr>
              <a:t>SPDIF</a:t>
            </a:r>
            <a:r>
              <a:rPr lang="en-US" altLang="zh-CN" sz="1400">
                <a:sym typeface="+mn-ea"/>
              </a:rPr>
              <a:t>(BMC)</a:t>
            </a:r>
            <a:r>
              <a:rPr lang="zh-CN" altLang="en-US" sz="1400">
                <a:sym typeface="+mn-ea"/>
              </a:rPr>
              <a:t>双相位编码调制</a:t>
            </a:r>
            <a:r>
              <a:rPr lang="en-US" altLang="zh-CN">
                <a:sym typeface="+mn-ea"/>
              </a:rPr>
              <a:t>: </a:t>
            </a:r>
            <a:r>
              <a:rPr lang="en-US" altLang="zh-CN">
                <a:sym typeface="+mn-ea"/>
              </a:rPr>
              <a:t>data</a:t>
            </a:r>
            <a:endParaRPr lang="en-US" altLang="zh-CN">
              <a:sym typeface="+mn-ea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audio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基础知识介绍</a:t>
            </a:r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835785" y="4421505"/>
            <a:ext cx="6250305" cy="1675130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audio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基础知识介绍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467995" y="1628775"/>
            <a:ext cx="20707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I2S</a:t>
            </a:r>
            <a:endParaRPr lang="zh-CN" altLang="en-US" sz="3200"/>
          </a:p>
        </p:txBody>
      </p:sp>
      <p:pic>
        <p:nvPicPr>
          <p:cNvPr id="9" name="图片 8" descr="i2s.draw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420" y="1484630"/>
            <a:ext cx="5970905" cy="303974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audio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基础知识介绍</a:t>
            </a:r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403985" y="1412875"/>
            <a:ext cx="7019925" cy="22193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539750" y="2204720"/>
            <a:ext cx="819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PCM</a:t>
            </a:r>
            <a:endParaRPr lang="en-US" altLang="zh-CN" sz="2000"/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358900" y="3789045"/>
            <a:ext cx="7266940" cy="98044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584835" y="4004945"/>
            <a:ext cx="81915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PDM</a:t>
            </a:r>
            <a:endParaRPr lang="en-US" altLang="zh-CN" sz="2000"/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437515" y="5229225"/>
            <a:ext cx="96647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/>
              <a:t>SPDIF</a:t>
            </a:r>
            <a:endParaRPr lang="en-US" altLang="zh-CN" sz="2000"/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03985" y="4868545"/>
            <a:ext cx="7181850" cy="12477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9" name="图片 8" descr="snd架构简图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9795" y="1418590"/>
            <a:ext cx="7637780" cy="4746625"/>
          </a:xfrm>
          <a:prstGeom prst="rect">
            <a:avLst/>
          </a:prstGeom>
        </p:spPr>
      </p:pic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audio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框架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988310" y="1452245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audio ip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框架简图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audio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框架</a:t>
            </a:r>
            <a:endParaRPr lang="zh-CN" altLang="en-US"/>
          </a:p>
        </p:txBody>
      </p:sp>
      <p:pic>
        <p:nvPicPr>
          <p:cNvPr id="4" name="图片 3" descr="i2so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91640" y="2064385"/>
            <a:ext cx="5143500" cy="1685925"/>
          </a:xfrm>
          <a:prstGeom prst="rect">
            <a:avLst/>
          </a:prstGeom>
        </p:spPr>
      </p:pic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2988310" y="1557020"/>
            <a:ext cx="3048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sound</a:t>
            </a:r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card</a:t>
            </a:r>
            <a:endParaRPr lang="en-US" altLang="zh-CN" b="1" dirty="0">
              <a:solidFill>
                <a:schemeClr val="accent1">
                  <a:lumMod val="7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+mn-ea"/>
            </a:endParaRPr>
          </a:p>
        </p:txBody>
      </p:sp>
      <p:pic>
        <p:nvPicPr>
          <p:cNvPr id="6" name="图片 5" descr="spo.drawi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4076700"/>
            <a:ext cx="5143500" cy="9810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audio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框架</a:t>
            </a:r>
            <a:endParaRPr lang="zh-CN" altLang="en-US"/>
          </a:p>
        </p:txBody>
      </p:sp>
      <p:pic>
        <p:nvPicPr>
          <p:cNvPr id="4" name="图片 3" descr="audsink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1505" y="2709545"/>
            <a:ext cx="8296275" cy="286702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715010" y="1739265"/>
            <a:ext cx="81775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我们需要一个设备来管理声卡设备，来实现声卡设备的</a:t>
            </a:r>
            <a:r>
              <a:rPr lang="zh-CN" altLang="en-US"/>
              <a:t>复用</a:t>
            </a:r>
            <a:endParaRPr lang="zh-CN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audio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框架</a:t>
            </a:r>
            <a:endParaRPr lang="zh-CN" altLang="en-US"/>
          </a:p>
        </p:txBody>
      </p:sp>
      <p:pic>
        <p:nvPicPr>
          <p:cNvPr id="2" name="图片 1" descr="auddec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54910" y="3644900"/>
            <a:ext cx="3914775" cy="196215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944245" y="1628775"/>
            <a:ext cx="722820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pcm</a:t>
            </a:r>
            <a:r>
              <a:rPr lang="zh-CN" altLang="en-US"/>
              <a:t>格式是一种无损编码，虽然能最大程度的无限接近保真，但是</a:t>
            </a:r>
            <a:r>
              <a:rPr lang="en-US" altLang="zh-CN"/>
              <a:t>pcm</a:t>
            </a:r>
            <a:r>
              <a:rPr lang="zh-CN" altLang="en-US"/>
              <a:t>占用的空间比较大，不便于存储，因此就有了各种压缩</a:t>
            </a:r>
            <a:r>
              <a:rPr lang="zh-CN" altLang="en-US"/>
              <a:t>格式。</a:t>
            </a:r>
            <a:endParaRPr lang="zh-CN" altLang="en-US"/>
          </a:p>
          <a:p>
            <a:r>
              <a:rPr lang="zh-CN" altLang="en-US"/>
              <a:t>常见的音频压缩格式有</a:t>
            </a:r>
            <a:r>
              <a:rPr lang="en-US" altLang="zh-CN"/>
              <a:t>mp3, aac, ac3, eac3, dts, truehd, ape, ra, wma, wmapro, flac, vorbis, opus, amr, adpcm, alac, cook</a:t>
            </a:r>
            <a:r>
              <a:rPr lang="zh-CN" altLang="en-US"/>
              <a:t>等。</a:t>
            </a:r>
            <a:endParaRPr lang="zh-CN" altLang="en-US"/>
          </a:p>
          <a:p>
            <a:r>
              <a:rPr lang="zh-CN" altLang="en-US"/>
              <a:t>在输出到声卡设备前，我们需要把音频格式解压缩为</a:t>
            </a:r>
            <a:r>
              <a:rPr lang="en-US" altLang="zh-CN"/>
              <a:t>pcm</a:t>
            </a:r>
            <a:r>
              <a:rPr lang="zh-CN" altLang="en-US"/>
              <a:t>数据。</a:t>
            </a:r>
            <a:endParaRPr lang="zh-CN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zh-CN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audio</a:t>
            </a:r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框架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2998470" y="1556385"/>
            <a:ext cx="3277235" cy="326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hichip audio </a:t>
            </a:r>
            <a:r>
              <a:rPr lang="zh-CN" altLang="en-US" b="1" dirty="0" smtClean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软件框架简图</a:t>
            </a:r>
            <a:endParaRPr lang="zh-CN" altLang="en-US"/>
          </a:p>
          <a:p>
            <a:endParaRPr lang="zh-CN" altLang="en-US"/>
          </a:p>
        </p:txBody>
      </p:sp>
      <p:pic>
        <p:nvPicPr>
          <p:cNvPr id="5" name="图片 4" descr="audio软件框架.drawio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085" y="1988820"/>
            <a:ext cx="7058025" cy="401002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配置与播放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55650" y="1628775"/>
            <a:ext cx="7061835" cy="44926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dts</a:t>
            </a:r>
            <a:r>
              <a:rPr lang="zh-CN" altLang="en-US" sz="2400"/>
              <a:t>中的配置</a:t>
            </a:r>
            <a:endParaRPr lang="zh-CN" altLang="en-US" sz="2400"/>
          </a:p>
          <a:p>
            <a:endParaRPr lang="zh-CN" altLang="en-US" sz="2400"/>
          </a:p>
          <a:p>
            <a:r>
              <a:rPr lang="zh-CN" altLang="en-US" sz="1400"/>
              <a:t>i2s {</a:t>
            </a:r>
            <a:endParaRPr lang="zh-CN" altLang="en-US" sz="1400"/>
          </a:p>
          <a:p>
            <a:r>
              <a:rPr lang="zh-CN" altLang="en-US" sz="1400"/>
              <a:t>        pinmux-clock = &lt;PINPAD_B13 3 PINPAD_B15 3 PINPAD_B16 3&gt;;</a:t>
            </a:r>
            <a:endParaRPr lang="zh-CN" altLang="en-US" sz="1400"/>
          </a:p>
          <a:p>
            <a:r>
              <a:rPr lang="zh-CN" altLang="en-US" sz="1400"/>
              <a:t>        status = "okay";</a:t>
            </a:r>
            <a:endParaRPr lang="zh-CN" altLang="en-US" sz="1400"/>
          </a:p>
          <a:p>
            <a:r>
              <a:rPr lang="zh-CN" altLang="en-US" sz="1400"/>
              <a:t>        ejtag = "disabled";</a:t>
            </a:r>
            <a:endParaRPr lang="zh-CN" altLang="en-US" sz="1400"/>
          </a:p>
          <a:p>
            <a:r>
              <a:rPr lang="zh-CN" altLang="en-US" sz="1400"/>
              <a:t>};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cs4344 {</a:t>
            </a:r>
            <a:endParaRPr lang="zh-CN" altLang="en-US" sz="1400"/>
          </a:p>
          <a:p>
            <a:r>
              <a:rPr lang="zh-CN" altLang="en-US" sz="1400"/>
              <a:t>        status = "okay";</a:t>
            </a:r>
            <a:endParaRPr lang="zh-CN" altLang="en-US" sz="1400"/>
          </a:p>
          <a:p>
            <a:r>
              <a:rPr lang="zh-CN" altLang="en-US" sz="1400"/>
              <a:t>};</a:t>
            </a:r>
            <a:endParaRPr lang="zh-CN" altLang="en-US" sz="1400"/>
          </a:p>
          <a:p>
            <a:endParaRPr lang="zh-CN" altLang="en-US" sz="1400"/>
          </a:p>
          <a:p>
            <a:r>
              <a:rPr lang="zh-CN" altLang="en-US" sz="1400"/>
              <a:t>i2so {</a:t>
            </a:r>
            <a:endParaRPr lang="zh-CN" altLang="en-US" sz="1400"/>
          </a:p>
          <a:p>
            <a:r>
              <a:rPr lang="zh-CN" altLang="en-US" sz="1400"/>
              <a:t>        pinmux-data = &lt;PINPAD_B17 3&gt;;</a:t>
            </a:r>
            <a:endParaRPr lang="zh-CN" altLang="en-US" sz="1400"/>
          </a:p>
          <a:p>
            <a:r>
              <a:rPr lang="zh-CN" altLang="en-US" sz="1400"/>
              <a:t>        volume = &lt;255&gt;;</a:t>
            </a:r>
            <a:endParaRPr lang="zh-CN" altLang="en-US" sz="1400"/>
          </a:p>
          <a:p>
            <a:r>
              <a:rPr lang="zh-CN" altLang="en-US" sz="1400"/>
              <a:t>        pinmux-mute = &lt;PINPAD_B12 0&gt;;</a:t>
            </a:r>
            <a:endParaRPr lang="zh-CN" altLang="en-US" sz="1400"/>
          </a:p>
          <a:p>
            <a:r>
              <a:rPr lang="zh-CN" altLang="en-US" sz="1400"/>
              <a:t>        mute-polar = &lt;0&gt;;</a:t>
            </a:r>
            <a:endParaRPr lang="zh-CN" altLang="en-US" sz="1400"/>
          </a:p>
          <a:p>
            <a:r>
              <a:rPr lang="zh-CN" altLang="en-US" sz="1400"/>
              <a:t>        status = "okay";</a:t>
            </a:r>
            <a:endParaRPr lang="zh-CN" altLang="en-US" sz="1400"/>
          </a:p>
          <a:p>
            <a:r>
              <a:rPr lang="zh-CN" altLang="en-US" sz="1400"/>
              <a:t>};</a:t>
            </a:r>
            <a:endParaRPr lang="zh-CN" altLang="en-US" sz="14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 b="1" dirty="0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+mn-ea"/>
              </a:rPr>
              <a:t>配置与播放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755650" y="1628775"/>
            <a:ext cx="7061835" cy="4184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/>
              <a:t>播放参考代码：</a:t>
            </a:r>
            <a:endParaRPr lang="zh-CN" altLang="en-US" sz="1600" b="1"/>
          </a:p>
          <a:p>
            <a:r>
              <a:rPr lang="en-US" altLang="zh-CN" sz="1000"/>
              <a:t>#include&lt;hcuapi/snd.h&gt;</a:t>
            </a:r>
            <a:endParaRPr lang="en-US" altLang="zh-CN" sz="1000"/>
          </a:p>
          <a:p>
            <a:endParaRPr lang="zh-CN" altLang="en-US" sz="1000"/>
          </a:p>
          <a:p>
            <a:r>
              <a:rPr lang="zh-CN" altLang="en-US" sz="1000"/>
              <a:t>struct snd_pcm_params params = {0};</a:t>
            </a:r>
            <a:endParaRPr lang="zh-CN" altLang="en-US" sz="1000"/>
          </a:p>
          <a:p>
            <a:r>
              <a:rPr lang="zh-CN" altLang="en-US" sz="1000"/>
              <a:t>params.access = SND_PCM_ACCESS_RW_INTERLEAVED;</a:t>
            </a:r>
            <a:endParaRPr lang="zh-CN" altLang="en-US" sz="1000"/>
          </a:p>
          <a:p>
            <a:r>
              <a:rPr lang="zh-CN" altLang="en-US" sz="1000"/>
              <a:t>params.rate = </a:t>
            </a:r>
            <a:r>
              <a:rPr lang="en-US" altLang="zh-CN" sz="1000"/>
              <a:t>48</a:t>
            </a:r>
            <a:r>
              <a:rPr lang="zh-CN" altLang="en-US" sz="1000"/>
              <a:t>000;</a:t>
            </a:r>
            <a:endParaRPr lang="zh-CN" altLang="en-US" sz="1000"/>
          </a:p>
          <a:p>
            <a:r>
              <a:rPr lang="zh-CN" altLang="en-US" sz="1000"/>
              <a:t>params.channels = 2;</a:t>
            </a:r>
            <a:endParaRPr lang="zh-CN" altLang="en-US" sz="1000"/>
          </a:p>
          <a:p>
            <a:r>
              <a:rPr lang="zh-CN" altLang="en-US" sz="1000"/>
              <a:t>params.bitdepth = 16;</a:t>
            </a:r>
            <a:endParaRPr lang="zh-CN" altLang="en-US" sz="1000"/>
          </a:p>
          <a:p>
            <a:r>
              <a:rPr lang="zh-CN" altLang="en-US" sz="1000"/>
              <a:t>params.format = SND_PCM_FORMAT_S16_LE;</a:t>
            </a:r>
            <a:endParaRPr lang="zh-CN" altLang="en-US" sz="1000"/>
          </a:p>
          <a:p>
            <a:r>
              <a:rPr lang="zh-CN" altLang="en-US" sz="1000"/>
              <a:t>params.align = SND_PCM_ALIGN_RIGHT</a:t>
            </a:r>
            <a:r>
              <a:rPr lang="en-US" altLang="zh-CN" sz="1000"/>
              <a:t>;</a:t>
            </a:r>
            <a:endParaRPr lang="en-US" altLang="zh-CN" sz="1000"/>
          </a:p>
          <a:p>
            <a:r>
              <a:rPr lang="en-US" altLang="zh-CN" sz="1000"/>
              <a:t>params.period_size = 1536;</a:t>
            </a:r>
            <a:endParaRPr lang="en-US" altLang="zh-CN" sz="1000"/>
          </a:p>
          <a:p>
            <a:r>
              <a:rPr lang="en-US" altLang="zh-CN" sz="1000"/>
              <a:t>params.periods = 16;</a:t>
            </a:r>
            <a:endParaRPr lang="en-US" altLang="zh-CN" sz="1000"/>
          </a:p>
          <a:p>
            <a:r>
              <a:rPr lang="en-US" altLang="zh-CN" sz="1000"/>
              <a:t>params.start_threshold = 480;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int snd_fd = open("/dev/sndC0i2so", O_WRONLY);</a:t>
            </a:r>
            <a:endParaRPr lang="en-US" altLang="zh-CN" sz="1000"/>
          </a:p>
          <a:p>
            <a:r>
              <a:rPr lang="en-US" altLang="zh-CN" sz="1000"/>
              <a:t>ioctl(snd_fd, SND_IOCTL_HW_PARAMS, &amp;params);</a:t>
            </a:r>
            <a:endParaRPr lang="en-US" altLang="zh-CN" sz="1000"/>
          </a:p>
          <a:p>
            <a:r>
              <a:rPr lang="en-US" altLang="zh-CN" sz="1000"/>
              <a:t>ioctl(snd_fd, SND_IOCTL_START, 0);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struct snd_xfer xfer = {0};</a:t>
            </a:r>
            <a:endParaRPr lang="en-US" altLang="zh-CN" sz="1000"/>
          </a:p>
          <a:p>
            <a:r>
              <a:rPr lang="en-US" altLang="zh-CN" sz="1000"/>
              <a:t>xfer.data = ***;</a:t>
            </a:r>
            <a:endParaRPr lang="en-US" altLang="zh-CN" sz="1000"/>
          </a:p>
          <a:p>
            <a:r>
              <a:rPr lang="en-US" altLang="zh-CN" sz="1000"/>
              <a:t>xfer.frames = ***;</a:t>
            </a:r>
            <a:endParaRPr lang="en-US" altLang="zh-CN" sz="1000"/>
          </a:p>
          <a:p>
            <a:r>
              <a:rPr lang="en-US" altLang="zh-CN" sz="1000"/>
              <a:t>ioctl(snd_fd, SND_IOCTL_XFER, &amp;xfer);</a:t>
            </a:r>
            <a:endParaRPr lang="en-US" altLang="zh-CN" sz="1000"/>
          </a:p>
          <a:p>
            <a:endParaRPr lang="en-US" altLang="zh-CN" sz="1000"/>
          </a:p>
          <a:p>
            <a:r>
              <a:rPr lang="en-US" altLang="zh-CN" sz="1000"/>
              <a:t>ioctl(snd_fd, SND_IOCTL_DROP, 0);</a:t>
            </a:r>
            <a:endParaRPr lang="en-US" altLang="zh-CN" sz="1000"/>
          </a:p>
          <a:p>
            <a:r>
              <a:rPr lang="en-US" altLang="zh-CN" sz="1000"/>
              <a:t>ioctl(snd_fd, SND_IOCTL_HW_FREE, 0);</a:t>
            </a:r>
            <a:endParaRPr lang="en-US" altLang="zh-CN" sz="1000"/>
          </a:p>
          <a:p>
            <a:r>
              <a:rPr lang="en-US" altLang="zh-CN" sz="1000"/>
              <a:t>close(snd_fd);</a:t>
            </a:r>
            <a:endParaRPr lang="en-US" altLang="zh-CN" sz="1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507413" cy="4525963"/>
          </a:xfrm>
        </p:spPr>
        <p:txBody>
          <a:bodyPr vert="horz" wrap="square" lIns="91440" tIns="45720" rIns="91440" bIns="45720" anchor="t" anchorCtr="0"/>
          <a:lstStyle/>
          <a:p>
            <a:pPr eaLnBrk="1" hangingPunct="1">
              <a:buNone/>
            </a:pPr>
            <a:endParaRPr lang="en-US" altLang="zh-CN" sz="4800" dirty="0"/>
          </a:p>
          <a:p>
            <a:pPr algn="ctr" eaLnBrk="1" hangingPunct="1">
              <a:buNone/>
            </a:pPr>
            <a:endParaRPr lang="zh-CN" altLang="en-US" sz="4800" dirty="0"/>
          </a:p>
          <a:p>
            <a:pPr algn="ctr" eaLnBrk="1" hangingPunct="1">
              <a:buNone/>
            </a:pPr>
            <a:r>
              <a:rPr lang="zh-CN" altLang="en-US" sz="4800" dirty="0"/>
              <a:t>谢谢</a:t>
            </a:r>
            <a:endParaRPr lang="zh-CN" altLang="en-US" sz="4800" dirty="0"/>
          </a:p>
        </p:txBody>
      </p:sp>
      <p:sp>
        <p:nvSpPr>
          <p:cNvPr id="7170" name="灯片编号占位符 3"/>
          <p:cNvSpPr>
            <a:spLocks noGrp="1"/>
          </p:cNvSpPr>
          <p:nvPr>
            <p:ph type="sldNum" sz="quarter" idx="4"/>
          </p:nvPr>
        </p:nvSpPr>
        <p:spPr>
          <a:noFill/>
          <a:ln>
            <a:noFill/>
          </a:ln>
        </p:spPr>
        <p:txBody>
          <a:bodyPr wrap="square" lIns="91440" tIns="45720" rIns="91440" bIns="45720" anchor="ctr" anchorCtr="0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8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</a:lstStyle>
          <a:p>
            <a:pPr lvl="0" algn="r">
              <a:buSzTx/>
              <a:buFontTx/>
            </a:pPr>
            <a:fld id="{9A0DB2DC-4C9A-4742-B13C-FB6460FD3503}" type="slidenum">
              <a:rPr lang="en-US" altLang="en-US" sz="1200" dirty="0">
                <a:solidFill>
                  <a:srgbClr val="898989"/>
                </a:solidFill>
                <a:latin typeface="Calibri" panose="020F0502020204030204" pitchFamily="34" charset="0"/>
              </a:rPr>
            </a:fld>
            <a:endParaRPr lang="en-US" altLang="en-US" sz="1200" dirty="0">
              <a:solidFill>
                <a:srgbClr val="898989"/>
              </a:solidFill>
              <a:latin typeface="Calibri" panose="020F0502020204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PP_MARK_KEY" val="38086e5a-413e-4bff-a969-9262c989dc98"/>
  <p:tag name="COMMONDATA" val="eyJoZGlkIjoiOTE5M2RiYzYyYjc3NTVlZmNkYzRjMTAxNDY1YTE1ZDkifQ==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2118</Words>
  <Application>WPS 演示</Application>
  <PresentationFormat>全屏显示(4:3)</PresentationFormat>
  <Paragraphs>156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Calibri</vt:lpstr>
      <vt:lpstr>Verdana</vt:lpstr>
      <vt:lpstr>微软雅黑</vt:lpstr>
      <vt:lpstr>Arial Unicode MS</vt:lpstr>
      <vt:lpstr>Office 主题</vt:lpstr>
      <vt:lpstr>2_Office 主题</vt:lpstr>
      <vt:lpstr>PowerPoint 演示文稿</vt:lpstr>
      <vt:lpstr>目录</vt:lpstr>
      <vt:lpstr>audio基础知识介绍</vt:lpstr>
      <vt:lpstr>audio基础知识介绍</vt:lpstr>
      <vt:lpstr>audio基础知识介绍</vt:lpstr>
      <vt:lpstr>audio基础知识介绍</vt:lpstr>
      <vt:lpstr>audio基础知识介绍</vt:lpstr>
      <vt:lpstr>hichip audio框架</vt:lpstr>
      <vt:lpstr>hichip audio框架</vt:lpstr>
      <vt:lpstr>hichip audio框架</vt:lpstr>
      <vt:lpstr>hichip audio框架</vt:lpstr>
      <vt:lpstr>hichip audio框架</vt:lpstr>
      <vt:lpstr>配置与播放</vt:lpstr>
      <vt:lpstr>配置与播放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edison</dc:creator>
  <cp:lastModifiedBy>浩南</cp:lastModifiedBy>
  <cp:revision>1317</cp:revision>
  <dcterms:created xsi:type="dcterms:W3CDTF">2019-11-11T11:15:00Z</dcterms:created>
  <dcterms:modified xsi:type="dcterms:W3CDTF">2023-07-24T09:53:10Z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2052-11.1.0.11294</vt:lpwstr>
  </property>
  <property fmtid="{D5CDD505-2E9C-101B-9397-08002B2CF9AE}" pid="3" name="ICV">
    <vt:lpwstr>4F42F1600D534DFB8197107DDB2AE061_13</vt:lpwstr>
  </property>
</Properties>
</file>