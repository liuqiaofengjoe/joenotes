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3"/>
  </p:notesMasterIdLst>
  <p:handoutMasterIdLst>
    <p:handoutMasterId r:id="rId24"/>
  </p:handoutMasterIdLst>
  <p:sldIdLst>
    <p:sldId id="257" r:id="rId4"/>
    <p:sldId id="273" r:id="rId5"/>
    <p:sldId id="331" r:id="rId6"/>
    <p:sldId id="368" r:id="rId7"/>
    <p:sldId id="371" r:id="rId8"/>
    <p:sldId id="367" r:id="rId9"/>
    <p:sldId id="372" r:id="rId10"/>
    <p:sldId id="366" r:id="rId11"/>
    <p:sldId id="374" r:id="rId12"/>
    <p:sldId id="389" r:id="rId13"/>
    <p:sldId id="376" r:id="rId14"/>
    <p:sldId id="377" r:id="rId15"/>
    <p:sldId id="379" r:id="rId16"/>
    <p:sldId id="380" r:id="rId17"/>
    <p:sldId id="381" r:id="rId18"/>
    <p:sldId id="382" r:id="rId19"/>
    <p:sldId id="384" r:id="rId20"/>
    <p:sldId id="385" r:id="rId21"/>
    <p:sldId id="383" r:id="rId22"/>
  </p:sldIdLst>
  <p:sldSz cx="9144000" cy="6858000" type="screen4x3"/>
  <p:notesSz cx="6645275" cy="9777095"/>
  <p:custDataLst>
    <p:tags r:id="rId2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6"/>
    <p:restoredTop sz="94712"/>
  </p:normalViewPr>
  <p:slideViewPr>
    <p:cSldViewPr showGuides="1">
      <p:cViewPr varScale="1">
        <p:scale>
          <a:sx n="109" d="100"/>
          <a:sy n="109" d="100"/>
        </p:scale>
        <p:origin x="1884" y="78"/>
      </p:cViewPr>
      <p:guideLst>
        <p:guide orient="horz" pos="22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6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zh-CN" altLang="en-US" sz="4800" dirty="0"/>
              <a:t>多媒体播放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dirty="0" smtClean="0"/>
              <a:t> </a:t>
            </a:r>
            <a:endParaRPr lang="en-US" altLang="zh-CN" dirty="0" smtClean="0"/>
          </a:p>
          <a:p>
            <a:pPr algn="ctr" eaLnBrk="1" hangingPunct="1">
              <a:buNone/>
            </a:pPr>
            <a:r>
              <a:rPr lang="en-US" altLang="zh-CN" dirty="0" smtClean="0"/>
              <a:t>edison.xie</a:t>
            </a:r>
            <a:endParaRPr lang="en-US" altLang="zh-CN" dirty="0" smtClean="0"/>
          </a:p>
          <a:p>
            <a:pPr algn="ctr" eaLnBrk="1" hangingPunct="1">
              <a:buNone/>
            </a:pPr>
            <a:r>
              <a:rPr lang="en-US" altLang="zh-CN" dirty="0" smtClean="0"/>
              <a:t>2023-7-28</a:t>
            </a: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+mn-ea"/>
                <a:cs typeface="Verdana" panose="020B0604030504040204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+mn-ea"/>
              <a:cs typeface="Verdana" panose="020B060403050404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+mn-ea"/>
              <a:cs typeface="Verdana" panose="020B0604030504040204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3068975"/>
            <a:ext cx="2755900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多媒体基础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知识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3877567"/>
            <a:ext cx="2872740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hichip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播放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框架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995" y="2348865"/>
            <a:ext cx="8229600" cy="3507740"/>
          </a:xfrm>
        </p:spPr>
        <p:txBody>
          <a:bodyPr/>
          <a:lstStyle/>
          <a:p>
            <a:r>
              <a:rPr lang="zh-CN" altLang="en-US" dirty="0"/>
              <a:t>多媒体</a:t>
            </a:r>
            <a:r>
              <a:rPr lang="en-US" altLang="zh-CN" dirty="0">
                <a:sym typeface="+mn-ea"/>
              </a:rPr>
              <a:t>(Multimedia)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指的是各种信息表示和传播的载体，包含图片，动画，声音，文本，</a:t>
            </a:r>
            <a:r>
              <a:rPr lang="zh-CN" altLang="en-US" dirty="0"/>
              <a:t>视频等。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475740" y="2276475"/>
            <a:ext cx="5978525" cy="3189605"/>
          </a:xfrm>
        </p:spPr>
        <p:txBody>
          <a:bodyPr/>
          <a:lstStyle/>
          <a:p>
            <a:r>
              <a:rPr lang="zh-CN" altLang="en-US" dirty="0"/>
              <a:t>多媒体的</a:t>
            </a:r>
            <a:r>
              <a:rPr lang="zh-CN" altLang="en-US" dirty="0"/>
              <a:t>来源</a:t>
            </a:r>
            <a:endParaRPr lang="zh-CN" altLang="en-US" dirty="0"/>
          </a:p>
          <a:p>
            <a:pPr marL="457200" lvl="1" indent="0">
              <a:buNone/>
            </a:pPr>
            <a:r>
              <a:rPr lang="zh-CN" altLang="en-US" dirty="0"/>
              <a:t>硬盘，</a:t>
            </a:r>
            <a:r>
              <a:rPr lang="en-US" altLang="zh-CN" dirty="0"/>
              <a:t>U</a:t>
            </a:r>
            <a:r>
              <a:rPr lang="zh-CN" altLang="en-US" dirty="0"/>
              <a:t>盘，</a:t>
            </a:r>
            <a:r>
              <a:rPr lang="en-US" altLang="zh-CN" dirty="0"/>
              <a:t>SD</a:t>
            </a:r>
            <a:r>
              <a:rPr lang="zh-CN" altLang="en-US" dirty="0"/>
              <a:t>卡，</a:t>
            </a:r>
            <a:r>
              <a:rPr lang="en-US" altLang="zh-CN" dirty="0"/>
              <a:t>CD</a:t>
            </a:r>
            <a:endParaRPr lang="en-US" altLang="zh-CN" dirty="0"/>
          </a:p>
          <a:p>
            <a:pPr marL="0" lvl="1" indent="457200">
              <a:buNone/>
            </a:pPr>
            <a:r>
              <a:rPr lang="zh-CN" altLang="en-US" dirty="0">
                <a:sym typeface="+mn-ea"/>
              </a:rPr>
              <a:t>网线，蓝牙，</a:t>
            </a:r>
            <a:r>
              <a:rPr lang="en-US" altLang="zh-CN" dirty="0">
                <a:sym typeface="+mn-ea"/>
              </a:rPr>
              <a:t>wifi</a:t>
            </a:r>
            <a:r>
              <a:rPr lang="zh-CN" altLang="en-US" dirty="0">
                <a:sym typeface="+mn-ea"/>
              </a:rPr>
              <a:t>，天线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MIC</a:t>
            </a:r>
            <a:r>
              <a:rPr lang="zh-CN" altLang="en-US" dirty="0"/>
              <a:t>，</a:t>
            </a:r>
            <a:r>
              <a:rPr lang="en-US" altLang="zh-CN" dirty="0"/>
              <a:t>CVBS in</a:t>
            </a:r>
            <a:r>
              <a:rPr lang="zh-CN" altLang="en-US" dirty="0"/>
              <a:t>，</a:t>
            </a:r>
            <a:r>
              <a:rPr lang="en-US" altLang="zh-CN" dirty="0"/>
              <a:t>HDMI in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995" y="2493010"/>
            <a:ext cx="8229600" cy="3189605"/>
          </a:xfrm>
        </p:spPr>
        <p:txBody>
          <a:bodyPr/>
          <a:lstStyle/>
          <a:p>
            <a:pPr marL="457200" lvl="1" indent="0">
              <a:buNone/>
            </a:pPr>
            <a:r>
              <a:rPr lang="zh-CN" altLang="en-US" dirty="0"/>
              <a:t>多媒体的</a:t>
            </a:r>
            <a:r>
              <a:rPr lang="zh-CN" altLang="en-US" dirty="0"/>
              <a:t>分类</a:t>
            </a:r>
            <a:endParaRPr lang="zh-CN" altLang="en-US" dirty="0"/>
          </a:p>
          <a:p>
            <a:pPr marL="457200" lvl="1" indent="457200">
              <a:buNone/>
            </a:pPr>
            <a:r>
              <a:rPr lang="zh-CN" altLang="en-US" sz="2000" dirty="0"/>
              <a:t>按来源：</a:t>
            </a:r>
            <a:r>
              <a:rPr lang="en-US" altLang="zh-CN" sz="2000" dirty="0"/>
              <a:t> </a:t>
            </a:r>
            <a:r>
              <a:rPr lang="zh-CN" altLang="en-US" sz="2000" dirty="0"/>
              <a:t>本地多媒体，网络多媒体，天流</a:t>
            </a:r>
            <a:endParaRPr lang="zh-CN" altLang="en-US" sz="2000" dirty="0"/>
          </a:p>
          <a:p>
            <a:pPr marL="457200" lvl="1" indent="457200">
              <a:buNone/>
            </a:pPr>
            <a:r>
              <a:rPr lang="zh-CN" altLang="en-US" sz="2000" dirty="0"/>
              <a:t>按照实时性：直播流</a:t>
            </a:r>
            <a:r>
              <a:rPr lang="en-US" altLang="zh-CN" sz="2000" dirty="0"/>
              <a:t>(livestream),  </a:t>
            </a:r>
            <a:r>
              <a:rPr lang="zh-CN" altLang="en-US" sz="2000" dirty="0"/>
              <a:t>点播流</a:t>
            </a:r>
            <a:r>
              <a:rPr lang="en-US" altLang="zh-CN" sz="2000" dirty="0"/>
              <a:t>(VOD, Video On Demand)</a:t>
            </a:r>
            <a:endParaRPr lang="en-US" altLang="zh-CN" sz="2000" dirty="0"/>
          </a:p>
          <a:p>
            <a:pPr marL="457200" lvl="1" indent="457200">
              <a:buNone/>
            </a:pPr>
            <a:r>
              <a:rPr lang="zh-CN" altLang="en-US" sz="2000" dirty="0"/>
              <a:t>按照传输协议：</a:t>
            </a:r>
            <a:r>
              <a:rPr lang="en-US" altLang="zh-CN" sz="2000" dirty="0"/>
              <a:t>http, https, mms, rtsp, rtmp, hls, dash......</a:t>
            </a:r>
            <a:endParaRPr lang="en-US" altLang="zh-CN" sz="2000" dirty="0"/>
          </a:p>
          <a:p>
            <a:pPr marL="457200" lvl="1" indent="457200">
              <a:buNone/>
            </a:pPr>
            <a:r>
              <a:rPr lang="zh-CN" altLang="en-US" sz="2000" dirty="0"/>
              <a:t>按照封装格式：</a:t>
            </a:r>
            <a:r>
              <a:rPr lang="en-US" altLang="zh-CN" sz="2000" dirty="0"/>
              <a:t>mp4, mpegts, flv, mkv, rm, asf......</a:t>
            </a:r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360" y="1772920"/>
            <a:ext cx="8229600" cy="4303395"/>
          </a:xfrm>
        </p:spPr>
        <p:txBody>
          <a:bodyPr/>
          <a:p>
            <a:pPr marL="457200" lvl="1" indent="0">
              <a:buNone/>
            </a:pPr>
            <a:r>
              <a:rPr lang="zh-CN" altLang="en-US" sz="3200" dirty="0">
                <a:sym typeface="+mn-ea"/>
              </a:rPr>
              <a:t>容器（container）：</a:t>
            </a:r>
            <a:endParaRPr lang="zh-CN" altLang="en-US" sz="3200" dirty="0">
              <a:sym typeface="+mn-ea"/>
            </a:endParaRPr>
          </a:p>
          <a:p>
            <a:pPr marL="914400" lvl="2" indent="0">
              <a:buNone/>
            </a:pPr>
            <a:r>
              <a:rPr lang="zh-CN" altLang="en-US" sz="2055" dirty="0">
                <a:sym typeface="+mn-ea"/>
              </a:rPr>
              <a:t>存储多媒体文件时，需要把音视频等内容按照特定的格式组织起来，装载多媒体信息的框架被称为容器。</a:t>
            </a:r>
            <a:endParaRPr lang="zh-CN" altLang="en-US" sz="2055" dirty="0"/>
          </a:p>
          <a:p>
            <a:pPr marL="914400" lvl="2" indent="0">
              <a:buNone/>
            </a:pPr>
            <a:r>
              <a:rPr lang="zh-CN" altLang="en-US" sz="2055" dirty="0">
                <a:sym typeface="+mn-ea"/>
              </a:rPr>
              <a:t>常见的容器格式：</a:t>
            </a:r>
            <a:r>
              <a:rPr lang="en-US" altLang="zh-CN" sz="2055" dirty="0">
                <a:sym typeface="+mn-ea"/>
              </a:rPr>
              <a:t>mp4, flv, mpegts, avi, mkv, mpegps,asf, rm, wav, mp3, aac,flac</a:t>
            </a:r>
            <a:r>
              <a:rPr lang="zh-CN" altLang="en-US" sz="2055" dirty="0">
                <a:sym typeface="+mn-ea"/>
              </a:rPr>
              <a:t>等。</a:t>
            </a:r>
            <a:endParaRPr lang="zh-CN" altLang="en-US" sz="2055" dirty="0">
              <a:sym typeface="+mn-ea"/>
            </a:endParaRPr>
          </a:p>
          <a:p>
            <a:pPr marL="457200" lvl="1" indent="0">
              <a:buNone/>
            </a:pPr>
            <a:r>
              <a:rPr lang="en-US" altLang="zh-CN" sz="3200" dirty="0"/>
              <a:t>ES</a:t>
            </a:r>
            <a:r>
              <a:rPr lang="zh-CN" altLang="en-US" sz="3200" dirty="0"/>
              <a:t>流：</a:t>
            </a:r>
            <a:endParaRPr lang="zh-CN" altLang="en-US" sz="3200" dirty="0"/>
          </a:p>
          <a:p>
            <a:pPr marL="457200" lvl="1" indent="457200">
              <a:buNone/>
            </a:pPr>
            <a:r>
              <a:rPr lang="zh-CN" altLang="en-US" sz="2000" dirty="0"/>
              <a:t>也叫基本码流，包含音频、视频的连续码流。</a:t>
            </a:r>
            <a:endParaRPr lang="zh-CN" altLang="en-US" sz="2000"/>
          </a:p>
          <a:p>
            <a:pPr marL="457200" lvl="1" indent="0">
              <a:buNone/>
            </a:pPr>
            <a:r>
              <a:rPr lang="en-US" altLang="zh-CN" sz="3200"/>
              <a:t>PES</a:t>
            </a:r>
            <a:r>
              <a:rPr lang="zh-CN" altLang="en-US" sz="3200"/>
              <a:t>流：</a:t>
            </a:r>
            <a:endParaRPr lang="zh-CN" altLang="en-US" sz="3200"/>
          </a:p>
          <a:p>
            <a:pPr marL="457200" lvl="1" indent="457200">
              <a:buNone/>
            </a:pPr>
            <a:r>
              <a:rPr lang="zh-CN" altLang="en-US" sz="2400"/>
              <a:t>打包的基本</a:t>
            </a:r>
            <a:r>
              <a:rPr lang="zh-CN" altLang="en-US" sz="2400"/>
              <a:t>码流。</a:t>
            </a:r>
            <a:endParaRPr lang="zh-CN" altLang="en-US" sz="2400"/>
          </a:p>
          <a:p>
            <a:pPr marL="457200" lvl="1" indent="0">
              <a:buNone/>
            </a:pP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750" y="2276475"/>
            <a:ext cx="8229600" cy="3461385"/>
          </a:xfrm>
        </p:spPr>
        <p:txBody>
          <a:bodyPr/>
          <a:p>
            <a:pPr marL="457200" lvl="1" indent="0">
              <a:buNone/>
            </a:pPr>
            <a:r>
              <a:rPr lang="en-US" altLang="zh-CN" sz="3200" dirty="0">
                <a:sym typeface="+mn-ea"/>
              </a:rPr>
              <a:t>index table</a:t>
            </a:r>
            <a:r>
              <a:rPr lang="zh-CN" altLang="en-US" sz="3200" dirty="0">
                <a:sym typeface="+mn-ea"/>
              </a:rPr>
              <a:t>：</a:t>
            </a:r>
            <a:endParaRPr lang="zh-CN" altLang="en-US" sz="3200" dirty="0">
              <a:sym typeface="+mn-ea"/>
            </a:endParaRPr>
          </a:p>
          <a:p>
            <a:pPr marL="457200" lvl="1" indent="0">
              <a:buNone/>
            </a:pPr>
            <a:r>
              <a:rPr lang="zh-CN" altLang="en-US" sz="2400" dirty="0">
                <a:sym typeface="+mn-ea"/>
              </a:rPr>
              <a:t>大多数的多媒体容器里，都会有一张索引表，通过这张表格，我们能够找到指定时间点的音频或视频</a:t>
            </a:r>
            <a:r>
              <a:rPr lang="zh-CN" altLang="en-US" sz="2400" dirty="0">
                <a:sym typeface="+mn-ea"/>
              </a:rPr>
              <a:t>数据。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403350" y="3860800"/>
          <a:ext cx="64001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525"/>
                <a:gridCol w="1279525"/>
                <a:gridCol w="1279525"/>
                <a:gridCol w="1279525"/>
                <a:gridCol w="12795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offset1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duration1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position1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size1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offset2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duration2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position2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size2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......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offsetn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durationn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positionn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sizen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/>
          </a:p>
        </p:txBody>
      </p:sp>
      <p:pic>
        <p:nvPicPr>
          <p:cNvPr id="4" name="图片 3" descr="多媒体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3575" y="1484630"/>
            <a:ext cx="5286375" cy="4676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5650" y="1700530"/>
            <a:ext cx="2087880" cy="4117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容器的格式有很多，但是分析时一般从数据摆放方式查看</a:t>
            </a:r>
            <a:r>
              <a:rPr lang="zh-CN" altLang="en-US"/>
              <a:t>问题。右图列出了一些主要的数据摆放</a:t>
            </a:r>
            <a:r>
              <a:rPr lang="zh-CN" altLang="en-US"/>
              <a:t>格式。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2300" y="3606800"/>
            <a:ext cx="742315" cy="647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src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639060" y="3606165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demux</a:t>
            </a:r>
            <a:endParaRPr lang="en-US" altLang="zh-CN"/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630680" y="3606165"/>
            <a:ext cx="742315" cy="6477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probe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4078605" y="2889250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aparser</a:t>
            </a:r>
            <a:endParaRPr lang="en-US" altLang="zh-CN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4078605" y="3606800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vparser</a:t>
            </a:r>
            <a:endParaRPr lang="en-US" altLang="zh-CN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4078605" y="4326890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sparser</a:t>
            </a:r>
            <a:endParaRPr lang="en-US" altLang="zh-CN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7164705" y="2896235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snd</a:t>
            </a:r>
            <a:r>
              <a:rPr lang="en-US" altLang="zh-CN"/>
              <a:t>dev</a:t>
            </a:r>
            <a:endParaRPr lang="en-US" altLang="zh-CN"/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7164705" y="3613785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dis</a:t>
            </a:r>
            <a:r>
              <a:rPr lang="en-US" altLang="zh-CN"/>
              <a:t>dev</a:t>
            </a:r>
            <a:endParaRPr lang="en-US" altLang="zh-CN"/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7164705" y="4331335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dis</a:t>
            </a:r>
            <a:r>
              <a:rPr lang="en-US" altLang="zh-CN"/>
              <a:t>dev</a:t>
            </a:r>
            <a:endParaRPr lang="en-US" altLang="zh-CN"/>
          </a:p>
        </p:txBody>
      </p:sp>
      <p:cxnSp>
        <p:nvCxnSpPr>
          <p:cNvPr id="13" name="直接箭头连接符 12"/>
          <p:cNvCxnSpPr>
            <a:stCxn id="4" idx="3"/>
            <a:endCxn id="6" idx="1"/>
          </p:cNvCxnSpPr>
          <p:nvPr/>
        </p:nvCxnSpPr>
        <p:spPr>
          <a:xfrm flipV="1">
            <a:off x="1364615" y="3930015"/>
            <a:ext cx="26606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3"/>
            <a:endCxn id="5" idx="1"/>
          </p:cNvCxnSpPr>
          <p:nvPr/>
        </p:nvCxnSpPr>
        <p:spPr>
          <a:xfrm>
            <a:off x="2372995" y="3930015"/>
            <a:ext cx="26606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5" idx="3"/>
            <a:endCxn id="7" idx="1"/>
          </p:cNvCxnSpPr>
          <p:nvPr/>
        </p:nvCxnSpPr>
        <p:spPr>
          <a:xfrm flipV="1">
            <a:off x="3647440" y="3213735"/>
            <a:ext cx="431165" cy="7169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3"/>
            <a:endCxn id="8" idx="1"/>
          </p:cNvCxnSpPr>
          <p:nvPr/>
        </p:nvCxnSpPr>
        <p:spPr>
          <a:xfrm>
            <a:off x="3647440" y="3930650"/>
            <a:ext cx="43116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5" idx="3"/>
            <a:endCxn id="9" idx="1"/>
          </p:cNvCxnSpPr>
          <p:nvPr/>
        </p:nvCxnSpPr>
        <p:spPr>
          <a:xfrm>
            <a:off x="3647440" y="3930650"/>
            <a:ext cx="431165" cy="720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331595" y="1772920"/>
            <a:ext cx="2898775" cy="778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播放的基本流程</a:t>
            </a:r>
            <a:endParaRPr lang="zh-CN" altLang="en-US" sz="2800"/>
          </a:p>
        </p:txBody>
      </p:sp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5507990" y="2896235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aud</a:t>
            </a:r>
            <a:r>
              <a:rPr lang="en-US" altLang="zh-CN"/>
              <a:t>dec</a:t>
            </a:r>
            <a:endParaRPr lang="en-US" altLang="zh-CN"/>
          </a:p>
        </p:txBody>
      </p: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5502910" y="3605530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vid</a:t>
            </a:r>
            <a:r>
              <a:rPr lang="en-US" altLang="zh-CN"/>
              <a:t>dec</a:t>
            </a:r>
            <a:endParaRPr lang="en-US" altLang="zh-CN"/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5507990" y="4330065"/>
            <a:ext cx="1008380" cy="6483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sub</a:t>
            </a:r>
            <a:r>
              <a:rPr lang="en-US" altLang="zh-CN"/>
              <a:t>dec</a:t>
            </a:r>
            <a:endParaRPr lang="en-US" altLang="zh-CN"/>
          </a:p>
        </p:txBody>
      </p:sp>
      <p:cxnSp>
        <p:nvCxnSpPr>
          <p:cNvPr id="24" name="直接箭头连接符 23"/>
          <p:cNvCxnSpPr>
            <a:stCxn id="7" idx="3"/>
            <a:endCxn id="2" idx="1"/>
          </p:cNvCxnSpPr>
          <p:nvPr/>
        </p:nvCxnSpPr>
        <p:spPr>
          <a:xfrm>
            <a:off x="5086985" y="3213735"/>
            <a:ext cx="421005" cy="6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8" idx="3"/>
            <a:endCxn id="16" idx="1"/>
          </p:cNvCxnSpPr>
          <p:nvPr/>
        </p:nvCxnSpPr>
        <p:spPr>
          <a:xfrm flipV="1">
            <a:off x="5086985" y="3930015"/>
            <a:ext cx="415925" cy="12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9" idx="3"/>
            <a:endCxn id="17" idx="1"/>
          </p:cNvCxnSpPr>
          <p:nvPr/>
        </p:nvCxnSpPr>
        <p:spPr>
          <a:xfrm>
            <a:off x="5086985" y="4651375"/>
            <a:ext cx="421005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" idx="3"/>
            <a:endCxn id="10" idx="1"/>
          </p:cNvCxnSpPr>
          <p:nvPr/>
        </p:nvCxnSpPr>
        <p:spPr>
          <a:xfrm>
            <a:off x="6516370" y="3220720"/>
            <a:ext cx="6483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6" idx="3"/>
            <a:endCxn id="11" idx="1"/>
          </p:cNvCxnSpPr>
          <p:nvPr/>
        </p:nvCxnSpPr>
        <p:spPr>
          <a:xfrm>
            <a:off x="6511290" y="3930015"/>
            <a:ext cx="653415" cy="82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12" idx="1"/>
          </p:cNvCxnSpPr>
          <p:nvPr/>
        </p:nvCxnSpPr>
        <p:spPr>
          <a:xfrm>
            <a:off x="6516370" y="4654550"/>
            <a:ext cx="648335" cy="12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05" y="1628775"/>
            <a:ext cx="2809875" cy="4385945"/>
          </a:xfrm>
        </p:spPr>
        <p:txBody>
          <a:bodyPr/>
          <a:p>
            <a:pPr marL="0" indent="0">
              <a:buNone/>
            </a:pPr>
            <a:r>
              <a:rPr lang="zh-CN" altLang="en-US" sz="2400" dirty="0"/>
              <a:t>多媒体的</a:t>
            </a:r>
            <a:r>
              <a:rPr lang="zh-CN" altLang="en-US" sz="2400" dirty="0"/>
              <a:t>操作：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play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pause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resume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seek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stop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fast </a:t>
            </a:r>
            <a:r>
              <a:rPr lang="en-US" altLang="zh-CN" sz="2400" dirty="0"/>
              <a:t>front play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fast back </a:t>
            </a:r>
            <a:r>
              <a:rPr lang="en-US" altLang="zh-CN" sz="2400" dirty="0"/>
              <a:t>play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slow front </a:t>
            </a:r>
            <a:r>
              <a:rPr lang="en-US" altLang="zh-CN" sz="2400" dirty="0"/>
              <a:t>play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change track</a:t>
            </a:r>
            <a:endParaRPr lang="en-US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多媒体基础知识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284345" y="1628775"/>
            <a:ext cx="3046095" cy="42684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/>
              <a:t>多媒体的基本</a:t>
            </a:r>
            <a:r>
              <a:rPr lang="zh-CN" altLang="en-US" sz="2400" dirty="0"/>
              <a:t>信息：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duration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postion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filesize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track </a:t>
            </a:r>
            <a:r>
              <a:rPr lang="en-US" altLang="zh-CN" sz="2400" dirty="0"/>
              <a:t>num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format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主流的多媒体播放框架</a:t>
            </a:r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8130" y="2493010"/>
            <a:ext cx="6376035" cy="253238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79705" y="1556385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gstreamer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主流的多媒体播放框架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39750" y="1844675"/>
            <a:ext cx="121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ffmpeg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979930" y="2421255"/>
            <a:ext cx="957580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ffplayer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051685" y="3213100"/>
            <a:ext cx="810260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AVUtil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833245" y="3861435"/>
            <a:ext cx="1289685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AVFormat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4958715" y="3861435"/>
            <a:ext cx="1062990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AVFilter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417570" y="3861435"/>
            <a:ext cx="1246505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AVCodec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907540" y="4509770"/>
            <a:ext cx="1062990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swscale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442075" y="3861435"/>
            <a:ext cx="1231265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AVDevice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3417570" y="4509770"/>
            <a:ext cx="1496695" cy="3683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swresample</a:t>
            </a:r>
            <a:endParaRPr lang="en-US" altLang="zh-CN"/>
          </a:p>
        </p:txBody>
      </p:sp>
      <p:cxnSp>
        <p:nvCxnSpPr>
          <p:cNvPr id="13" name="直接箭头连接符 12"/>
          <p:cNvCxnSpPr>
            <a:stCxn id="2" idx="2"/>
            <a:endCxn id="5" idx="0"/>
          </p:cNvCxnSpPr>
          <p:nvPr/>
        </p:nvCxnSpPr>
        <p:spPr>
          <a:xfrm flipH="1">
            <a:off x="2456815" y="2789555"/>
            <a:ext cx="1905" cy="423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483485" y="3573145"/>
            <a:ext cx="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2" idx="3"/>
            <a:endCxn id="9" idx="0"/>
          </p:cNvCxnSpPr>
          <p:nvPr/>
        </p:nvCxnSpPr>
        <p:spPr>
          <a:xfrm>
            <a:off x="2937510" y="2605405"/>
            <a:ext cx="1103630" cy="1256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9" idx="0"/>
          </p:cNvCxnSpPr>
          <p:nvPr/>
        </p:nvCxnSpPr>
        <p:spPr>
          <a:xfrm>
            <a:off x="2861945" y="3397250"/>
            <a:ext cx="1179195" cy="464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endCxn id="10" idx="1"/>
          </p:cNvCxnSpPr>
          <p:nvPr/>
        </p:nvCxnSpPr>
        <p:spPr>
          <a:xfrm rot="5400000">
            <a:off x="1238885" y="3449320"/>
            <a:ext cx="1912620" cy="575945"/>
          </a:xfrm>
          <a:prstGeom prst="bentConnector4">
            <a:avLst>
              <a:gd name="adj1" fmla="val 7785"/>
              <a:gd name="adj2" fmla="val 1414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hichip ffplayer </a:t>
            </a:r>
            <a:r>
              <a:rPr lang="zh-CN" altLang="en-US"/>
              <a:t>框架</a:t>
            </a:r>
            <a:endParaRPr lang="zh-CN" altLang="en-US"/>
          </a:p>
        </p:txBody>
      </p:sp>
      <p:pic>
        <p:nvPicPr>
          <p:cNvPr id="7" name="图片 6" descr="ffplayer.drawi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84120" y="1556385"/>
            <a:ext cx="3597275" cy="4973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hichip ffplayer </a:t>
            </a:r>
            <a:r>
              <a:rPr lang="en-US" altLang="zh-CN"/>
              <a:t>api1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28040" y="1484630"/>
            <a:ext cx="7179945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int hcplayer_init (HCPlayerLogLevel log_level);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hcplayer_deinit (void);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*hcplayer_create (HCPlayerInitArgs *init_args);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hcplayer_stop2 (void *player, bool closevp, bool fillblack);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hcplayer_stop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hcplayer_play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hcplayer_play2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hcplayer_pause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hcplayer_pause2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hcplayer_resume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hcplayer_resume2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hcplayer_seek (void *player, int64_t time_ms);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hcplayer_change_audio_track (void *player, int index);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hcplayer_change_video_track (void *player, int index);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hcplayer_change_subtitle_track (void *player, int index);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hcplayer_set_speed_rate (void *player, float rate);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hcplayer_set_audio_output_dev (void *player, AudioOutDev snd_devs);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hcplayer_set_display_rect (void *player, struct vdec_dis_rect *rect);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hcplayer_change_rotate_type(void *player, rotate_type_e rotate_type);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hcplayer_change_mirror_type(void *player, mirror_type_e mirror_type);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void hcplayer_change_log_level (HCPlayerLogLevel level);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hichip ffplayer ap</a:t>
            </a:r>
            <a:r>
              <a:rPr lang="en-US" altLang="zh-CN"/>
              <a:t>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27380" y="1916430"/>
            <a:ext cx="7889875" cy="4184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int64_t hcplayer_get_duration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int64_t hcplayer_get_position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hcplayer_get_audio_streams_count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hcplayer_get_nth_audio_stream_info (void *player, int index, HCPlayerAudioInfo *audio_info);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hcplayer_get_video_streams_count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hcplayer_get_nth_video_stream_info (void *player, int index, HCPlayerVideoInfo *video_info);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hcplayer_get_subtitle_streams_count (void *player);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hcplayer_get_nth_subtitle_stream_info (void *player, int index, HCPlayerSubtitleInfo *subtitle_info);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hcplayer_get_cur_audio_stream_info (void *player, HCPlayerAudioInfo *audio_info);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hcplayer_get_cur_video_stream_info (void *player, HCPlayerVideoInfo *video_info);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hcplayer_get_cur_subtitle_stream_info (void *player, HCPlayerSubtitleInfo *subtitle_info);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hcplayer_get_media_info (void *player, HCPlayerMediaInfo *media_info);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int64_t hcplayer_get_filesize (void *player);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int hcplayer_read_transcoded_picture(void *player, void *buf, int len);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int hcplayer_get_buffering_percent(void *hdl);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int hcplayer_set_audio_pitch_shift(void *player, int pitch);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int hcplayer_pic_transcode2(HCPlayerTranscodeArgs *transcode_args);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int hcplayer_get_bypass_mode(void *player);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hichip ffplayer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2095" y="1628140"/>
            <a:ext cx="4092575" cy="4342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00" y="1701165"/>
            <a:ext cx="2044065" cy="44284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70" y="1628140"/>
            <a:ext cx="2440940" cy="2168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ffmpeg</a:t>
            </a:r>
            <a:r>
              <a:rPr lang="zh-CN" altLang="en-US"/>
              <a:t>的</a:t>
            </a:r>
            <a:r>
              <a:rPr lang="zh-CN" altLang="en-US"/>
              <a:t>配置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2575" y="1557020"/>
            <a:ext cx="83826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make menuconfig -&gt;  Components  ---&gt;  -*- ffmpeg  ---&gt;  [*]   ffmpeg plugins  ---&gt;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395605" y="2853055"/>
            <a:ext cx="565721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--- ffmpeg plugins                 </a:t>
            </a:r>
            <a:endParaRPr lang="zh-CN" altLang="en-US" sz="2400"/>
          </a:p>
          <a:p>
            <a:r>
              <a:rPr lang="zh-CN" altLang="en-US" sz="2400"/>
              <a:t>[*]   ffmpeg protocol plugins  ---&gt;</a:t>
            </a:r>
            <a:endParaRPr lang="zh-CN" altLang="en-US" sz="2400"/>
          </a:p>
          <a:p>
            <a:r>
              <a:rPr lang="zh-CN" altLang="en-US" sz="2400"/>
              <a:t>[*]   ffmpeg demuxer plugins  ---&gt; </a:t>
            </a:r>
            <a:endParaRPr lang="zh-CN" altLang="en-US" sz="2400"/>
          </a:p>
          <a:p>
            <a:r>
              <a:rPr lang="zh-CN" altLang="en-US" sz="2400"/>
              <a:t>[*]   ffmpeg parser plugins  ---&gt;  </a:t>
            </a:r>
            <a:endParaRPr lang="zh-CN" altLang="en-US" sz="2400"/>
          </a:p>
          <a:p>
            <a:r>
              <a:rPr lang="zh-CN" altLang="en-US" sz="2400"/>
              <a:t>[*]   ffmpeg decoder plugins  ---&gt; </a:t>
            </a:r>
            <a:endParaRPr lang="zh-CN" altLang="en-US" sz="2400"/>
          </a:p>
          <a:p>
            <a:r>
              <a:rPr lang="zh-CN" altLang="en-US" sz="2400"/>
              <a:t>                                   </a:t>
            </a:r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ffmpeg</a:t>
            </a:r>
            <a:r>
              <a:rPr lang="zh-CN" altLang="en-US">
                <a:sym typeface="+mn-ea"/>
              </a:rPr>
              <a:t>的配置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99795" y="1484630"/>
            <a:ext cx="3205480" cy="203009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p>
            <a:r>
              <a:rPr lang="zh-CN" altLang="en-US" sz="1400"/>
              <a:t>[*]   ffmpeg protocol plugins  ---&gt;</a:t>
            </a:r>
            <a:endParaRPr lang="zh-CN" altLang="en-US" sz="1400"/>
          </a:p>
          <a:p>
            <a:r>
              <a:rPr lang="zh-CN" altLang="en-US" sz="1400"/>
              <a:t>[ ]   file protocol     </a:t>
            </a:r>
            <a:endParaRPr lang="zh-CN" altLang="en-US" sz="1400"/>
          </a:p>
          <a:p>
            <a:r>
              <a:rPr lang="zh-CN" altLang="en-US" sz="1400"/>
              <a:t>[ ]   http protocol     </a:t>
            </a:r>
            <a:endParaRPr lang="zh-CN" altLang="en-US" sz="1400"/>
          </a:p>
          <a:p>
            <a:r>
              <a:rPr lang="zh-CN" altLang="en-US" sz="1400"/>
              <a:t>[ ]   https protocol    </a:t>
            </a:r>
            <a:endParaRPr lang="zh-CN" altLang="en-US" sz="1400"/>
          </a:p>
          <a:p>
            <a:r>
              <a:rPr lang="zh-CN" altLang="en-US" sz="1400"/>
              <a:t>[ ]   httpproxy protocol</a:t>
            </a:r>
            <a:endParaRPr lang="zh-CN" altLang="en-US" sz="1400"/>
          </a:p>
          <a:p>
            <a:r>
              <a:rPr lang="zh-CN" altLang="en-US" sz="1400"/>
              <a:t>[ ]   ftp protocol      </a:t>
            </a:r>
            <a:endParaRPr lang="zh-CN" altLang="en-US" sz="1400"/>
          </a:p>
          <a:p>
            <a:r>
              <a:rPr lang="zh-CN" altLang="en-US" sz="1400"/>
              <a:t>[ ]   tcp protocol      </a:t>
            </a:r>
            <a:endParaRPr lang="zh-CN" altLang="en-US" sz="1400"/>
          </a:p>
          <a:p>
            <a:r>
              <a:rPr lang="zh-CN" altLang="en-US" sz="1400"/>
              <a:t>[ ]   udp protocol      </a:t>
            </a:r>
            <a:endParaRPr lang="zh-CN" altLang="en-US" sz="1400"/>
          </a:p>
          <a:p>
            <a:r>
              <a:rPr lang="zh-CN" altLang="en-US" sz="1400"/>
              <a:t>[ ]   rtp protocol  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899795" y="3514725"/>
            <a:ext cx="3205480" cy="246126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p>
            <a:r>
              <a:rPr lang="zh-CN" altLang="en-US" sz="1400"/>
              <a:t>[*]   ffmpeg demuxer plugins  ---&gt;  </a:t>
            </a:r>
            <a:endParaRPr lang="zh-CN" altLang="en-US" sz="1400"/>
          </a:p>
          <a:p>
            <a:r>
              <a:rPr lang="zh-CN" altLang="en-US" sz="1400"/>
              <a:t>[ ]   mov demuxer     </a:t>
            </a:r>
            <a:endParaRPr lang="zh-CN" altLang="en-US" sz="1400"/>
          </a:p>
          <a:p>
            <a:r>
              <a:rPr lang="zh-CN" altLang="en-US" sz="1400"/>
              <a:t>[ ]   m4v demuxer     </a:t>
            </a:r>
            <a:endParaRPr lang="zh-CN" altLang="en-US" sz="1400"/>
          </a:p>
          <a:p>
            <a:r>
              <a:rPr lang="zh-CN" altLang="en-US" sz="1400"/>
              <a:t>[ ]   asf demuxer     </a:t>
            </a:r>
            <a:endParaRPr lang="zh-CN" altLang="en-US" sz="1400"/>
          </a:p>
          <a:p>
            <a:r>
              <a:rPr lang="zh-CN" altLang="en-US" sz="1400"/>
              <a:t>[ ]   avi demuxer     </a:t>
            </a:r>
            <a:endParaRPr lang="zh-CN" altLang="en-US" sz="1400"/>
          </a:p>
          <a:p>
            <a:r>
              <a:rPr lang="zh-CN" altLang="en-US" sz="1400"/>
              <a:t>[ ]   flv demuxer     </a:t>
            </a:r>
            <a:endParaRPr lang="zh-CN" altLang="en-US" sz="1400"/>
          </a:p>
          <a:p>
            <a:r>
              <a:rPr lang="zh-CN" altLang="en-US" sz="1400"/>
              <a:t>[ ]   matroska demuxer</a:t>
            </a:r>
            <a:endParaRPr lang="zh-CN" altLang="en-US" sz="1400"/>
          </a:p>
          <a:p>
            <a:r>
              <a:rPr lang="zh-CN" altLang="en-US" sz="1400"/>
              <a:t>[ ]   mpegps demuxer  </a:t>
            </a:r>
            <a:endParaRPr lang="zh-CN" altLang="en-US" sz="1400"/>
          </a:p>
          <a:p>
            <a:r>
              <a:rPr lang="zh-CN" altLang="en-US" sz="1400"/>
              <a:t>[ ]   mpegts demuxer  </a:t>
            </a:r>
            <a:endParaRPr lang="zh-CN" altLang="en-US" sz="1400"/>
          </a:p>
          <a:p>
            <a:r>
              <a:rPr lang="zh-CN" altLang="en-US" sz="1400"/>
              <a:t>[ ]   rm demuxer      </a:t>
            </a:r>
            <a:endParaRPr lang="zh-CN" altLang="en-US" sz="1400"/>
          </a:p>
          <a:p>
            <a:r>
              <a:rPr lang="zh-CN" altLang="en-US" sz="1400"/>
              <a:t>...... 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4105275" y="1484630"/>
            <a:ext cx="3566160" cy="203009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r>
              <a:rPr lang="zh-CN" altLang="en-US" sz="1200"/>
              <a:t>[*]   ffmpeg parser plugins  ---&gt;</a:t>
            </a:r>
            <a:endParaRPr lang="zh-CN" altLang="en-US" sz="1200"/>
          </a:p>
          <a:p>
            <a:r>
              <a:rPr lang="zh-CN" altLang="en-US" sz="1200"/>
              <a:t>[ ]   mpegaudio parser</a:t>
            </a:r>
            <a:endParaRPr lang="zh-CN" altLang="en-US" sz="1200"/>
          </a:p>
          <a:p>
            <a:r>
              <a:rPr lang="zh-CN" altLang="en-US" sz="1200"/>
              <a:t>[ ]   aac parser      </a:t>
            </a:r>
            <a:endParaRPr lang="zh-CN" altLang="en-US" sz="1200"/>
          </a:p>
          <a:p>
            <a:r>
              <a:rPr lang="zh-CN" altLang="en-US" sz="1200"/>
              <a:t>[ ]   aac_latm parser </a:t>
            </a:r>
            <a:endParaRPr lang="zh-CN" altLang="en-US" sz="1200"/>
          </a:p>
          <a:p>
            <a:r>
              <a:rPr lang="zh-CN" altLang="en-US" sz="1200"/>
              <a:t>[ ]   flac parser     </a:t>
            </a:r>
            <a:endParaRPr lang="zh-CN" altLang="en-US" sz="1200"/>
          </a:p>
          <a:p>
            <a:r>
              <a:rPr lang="zh-CN" altLang="en-US" sz="1200"/>
              <a:t>[ ]   xma parser      </a:t>
            </a:r>
            <a:endParaRPr lang="zh-CN" altLang="en-US" sz="1200"/>
          </a:p>
          <a:p>
            <a:r>
              <a:rPr lang="zh-CN" altLang="en-US" sz="1200"/>
              <a:t>[ ]   opus parser     </a:t>
            </a:r>
            <a:endParaRPr lang="zh-CN" altLang="en-US" sz="1200"/>
          </a:p>
          <a:p>
            <a:r>
              <a:rPr lang="zh-CN" altLang="en-US" sz="1200"/>
              <a:t>[ ]   vorbis parser   </a:t>
            </a:r>
            <a:endParaRPr lang="zh-CN" altLang="en-US" sz="1200"/>
          </a:p>
          <a:p>
            <a:r>
              <a:rPr lang="zh-CN" altLang="en-US" sz="1200"/>
              <a:t>[ ]   cook parser     </a:t>
            </a:r>
            <a:endParaRPr lang="zh-CN" altLang="en-US" sz="1200"/>
          </a:p>
          <a:p>
            <a:r>
              <a:rPr lang="zh-CN" altLang="en-US" sz="1200"/>
              <a:t>[ ]   ac3 parser      </a:t>
            </a:r>
            <a:endParaRPr lang="zh-CN" altLang="en-US" sz="1200"/>
          </a:p>
          <a:p>
            <a:r>
              <a:rPr lang="en-US" altLang="zh-CN" sz="1200"/>
              <a:t>......</a:t>
            </a:r>
            <a:endParaRPr lang="en-US" altLang="zh-CN" sz="1200"/>
          </a:p>
        </p:txBody>
      </p:sp>
      <p:sp>
        <p:nvSpPr>
          <p:cNvPr id="7" name="文本框 6"/>
          <p:cNvSpPr txBox="1"/>
          <p:nvPr/>
        </p:nvSpPr>
        <p:spPr>
          <a:xfrm>
            <a:off x="4114800" y="3501390"/>
            <a:ext cx="3550285" cy="2474595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noAutofit/>
          </a:bodyPr>
          <a:p>
            <a:r>
              <a:rPr lang="zh-CN" altLang="en-US" sz="1400"/>
              <a:t>[*]   ffmpeg decoder plugins  ---&gt;</a:t>
            </a:r>
            <a:endParaRPr lang="zh-CN" altLang="en-US" sz="1400"/>
          </a:p>
          <a:p>
            <a:r>
              <a:rPr lang="zh-CN" altLang="en-US" sz="1400"/>
              <a:t>[ ]   aac decoder       </a:t>
            </a:r>
            <a:endParaRPr lang="zh-CN" altLang="en-US" sz="1400"/>
          </a:p>
          <a:p>
            <a:r>
              <a:rPr lang="zh-CN" altLang="en-US" sz="1400"/>
              <a:t>[ ]   aac latm decoder  </a:t>
            </a:r>
            <a:endParaRPr lang="zh-CN" altLang="en-US" sz="1400"/>
          </a:p>
          <a:p>
            <a:r>
              <a:rPr lang="zh-CN" altLang="en-US" sz="1400"/>
              <a:t>[ ]   pcm_bluray decoder</a:t>
            </a:r>
            <a:endParaRPr lang="zh-CN" altLang="en-US" sz="1400"/>
          </a:p>
          <a:p>
            <a:r>
              <a:rPr lang="zh-CN" altLang="en-US" sz="1400"/>
              <a:t>[ ]   pcm_dvd decoder   </a:t>
            </a:r>
            <a:endParaRPr lang="zh-CN" altLang="en-US" sz="1400"/>
          </a:p>
          <a:p>
            <a:r>
              <a:rPr lang="zh-CN" altLang="en-US" sz="1400"/>
              <a:t>[ ]   ape decoder       </a:t>
            </a:r>
            <a:endParaRPr lang="zh-CN" altLang="en-US" sz="1400"/>
          </a:p>
          <a:p>
            <a:r>
              <a:rPr lang="zh-CN" altLang="en-US" sz="1400"/>
              <a:t>[ ]   dd decoder        </a:t>
            </a:r>
            <a:endParaRPr lang="zh-CN" altLang="en-US" sz="1400"/>
          </a:p>
          <a:p>
            <a:r>
              <a:rPr lang="zh-CN" altLang="en-US" sz="1400"/>
              <a:t>[ ]   ddp decoder       </a:t>
            </a:r>
            <a:endParaRPr lang="zh-CN" altLang="en-US" sz="1400"/>
          </a:p>
          <a:p>
            <a:r>
              <a:rPr lang="zh-CN" altLang="en-US" sz="1400"/>
              <a:t>[ ]   adpcm decoder    </a:t>
            </a:r>
            <a:endParaRPr lang="zh-CN" altLang="en-US" sz="1400"/>
          </a:p>
          <a:p>
            <a:r>
              <a:rPr lang="en-US" altLang="zh-CN" sz="1400"/>
              <a:t>......</a:t>
            </a:r>
            <a:r>
              <a:rPr lang="zh-CN" altLang="en-US" sz="1400"/>
              <a:t> </a:t>
            </a:r>
            <a:endParaRPr lang="zh-CN" alt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3850" y="2996248"/>
            <a:ext cx="8229600" cy="1143000"/>
          </a:xfrm>
        </p:spPr>
        <p:txBody>
          <a:bodyPr/>
          <a:p>
            <a:r>
              <a:rPr lang="zh-CN" altLang="en-US"/>
              <a:t>谢</a:t>
            </a:r>
            <a:r>
              <a:rPr lang="zh-CN" altLang="en-US"/>
              <a:t>谢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49fef183-3840-428a-b7e8-e7d6f015f83e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PP_MARK_KEY" val="38086e5a-413e-4bff-a969-9262c989dc98"/>
  <p:tag name="COMMONDATA" val="eyJoZGlkIjoiOTE5M2RiYzYyYjc3NTVlZmNkYzRjMTAxNDY1YTE1Z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4705</Words>
  <Application>WPS 演示</Application>
  <PresentationFormat>全屏显示(4:3)</PresentationFormat>
  <Paragraphs>280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Calibri</vt:lpstr>
      <vt:lpstr>Verdana</vt:lpstr>
      <vt:lpstr>微软雅黑</vt:lpstr>
      <vt:lpstr>Arial Unicode MS</vt:lpstr>
      <vt:lpstr>Office 主题</vt:lpstr>
      <vt:lpstr>2_Office 主题</vt:lpstr>
      <vt:lpstr>PowerPoint 演示文稿</vt:lpstr>
      <vt:lpstr>目录</vt:lpstr>
      <vt:lpstr>多媒体基础知识</vt:lpstr>
      <vt:lpstr>多媒体基础知识</vt:lpstr>
      <vt:lpstr>多媒体基础知识</vt:lpstr>
      <vt:lpstr>多媒体基础知识</vt:lpstr>
      <vt:lpstr>多媒体基础知识</vt:lpstr>
      <vt:lpstr>多媒体基础知识</vt:lpstr>
      <vt:lpstr>多媒体基础知识</vt:lpstr>
      <vt:lpstr>多媒体基础知识</vt:lpstr>
      <vt:lpstr>主流的多媒体播放框架</vt:lpstr>
      <vt:lpstr>主流的多媒体播放框架</vt:lpstr>
      <vt:lpstr>hichip ffplayer 框架</vt:lpstr>
      <vt:lpstr>hichip ffplayer api1</vt:lpstr>
      <vt:lpstr>hichip ffplayer api2</vt:lpstr>
      <vt:lpstr>hichip ffplayer</vt:lpstr>
      <vt:lpstr>ffmpeg的使能</vt:lpstr>
      <vt:lpstr>ffmpeg的使能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PC-Admin</cp:lastModifiedBy>
  <cp:revision>1313</cp:revision>
  <dcterms:created xsi:type="dcterms:W3CDTF">2019-11-11T11:15:00Z</dcterms:created>
  <dcterms:modified xsi:type="dcterms:W3CDTF">2024-07-26T09:54:35Z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A99C97CE63B5481BA1E838BBF44C90C0</vt:lpwstr>
  </property>
</Properties>
</file>