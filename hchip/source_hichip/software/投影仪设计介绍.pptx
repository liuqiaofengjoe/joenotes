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03" r:id="rId6"/>
    <p:sldId id="293" r:id="rId7"/>
    <p:sldId id="352" r:id="rId8"/>
    <p:sldId id="353" r:id="rId9"/>
    <p:sldId id="354" r:id="rId10"/>
    <p:sldId id="355" r:id="rId11"/>
    <p:sldId id="357" r:id="rId12"/>
    <p:sldId id="358" r:id="rId13"/>
    <p:sldId id="359" r:id="rId14"/>
    <p:sldId id="361" r:id="rId15"/>
    <p:sldId id="362" r:id="rId16"/>
    <p:sldId id="363" r:id="rId17"/>
    <p:sldId id="364" r:id="rId18"/>
    <p:sldId id="368" r:id="rId19"/>
    <p:sldId id="369" r:id="rId20"/>
    <p:sldId id="365" r:id="rId21"/>
    <p:sldId id="419" r:id="rId22"/>
    <p:sldId id="370" r:id="rId23"/>
    <p:sldId id="371" r:id="rId24"/>
    <p:sldId id="434" r:id="rId25"/>
    <p:sldId id="435" r:id="rId26"/>
    <p:sldId id="436" r:id="rId27"/>
    <p:sldId id="372" r:id="rId28"/>
    <p:sldId id="413" r:id="rId29"/>
    <p:sldId id="420" r:id="rId30"/>
    <p:sldId id="421" r:id="rId31"/>
    <p:sldId id="423" r:id="rId32"/>
    <p:sldId id="424" r:id="rId33"/>
    <p:sldId id="425" r:id="rId34"/>
    <p:sldId id="412" r:id="rId35"/>
    <p:sldId id="458" r:id="rId36"/>
    <p:sldId id="459" r:id="rId37"/>
    <p:sldId id="432" r:id="rId38"/>
    <p:sldId id="373" r:id="rId39"/>
    <p:sldId id="426" r:id="rId40"/>
    <p:sldId id="437" r:id="rId41"/>
    <p:sldId id="438" r:id="rId42"/>
    <p:sldId id="439" r:id="rId43"/>
    <p:sldId id="449" r:id="rId44"/>
    <p:sldId id="441" r:id="rId45"/>
    <p:sldId id="445" r:id="rId46"/>
    <p:sldId id="446" r:id="rId47"/>
    <p:sldId id="442" r:id="rId48"/>
    <p:sldId id="447" r:id="rId49"/>
    <p:sldId id="448" r:id="rId50"/>
    <p:sldId id="450" r:id="rId51"/>
    <p:sldId id="443" r:id="rId52"/>
    <p:sldId id="444" r:id="rId53"/>
    <p:sldId id="452" r:id="rId54"/>
    <p:sldId id="453" r:id="rId55"/>
    <p:sldId id="454" r:id="rId56"/>
    <p:sldId id="461" r:id="rId57"/>
    <p:sldId id="462" r:id="rId58"/>
    <p:sldId id="455" r:id="rId59"/>
    <p:sldId id="463" r:id="rId60"/>
    <p:sldId id="276" r:id="rId61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5" Type="http://schemas.openxmlformats.org/officeDocument/2006/relationships/tags" Target="tags/tag79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541E6-FD60-47DD-9595-423AC9A2AA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ac1421d3-8b4e-422a-b892-e51086d04a2e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bd9674ce-7138-4f64-95c0-953e83785393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ae35f064-321a-4522-b011-a490c2418c06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ae35f064-321a-4522-b011-a490c2418c06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ae35f064-321a-4522-b011-a490c2418c06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038e0277-5319-478c-bde2-dedd86d914ac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9925" y="1130299"/>
            <a:ext cx="10852150" cy="2379663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69925" y="3602038"/>
            <a:ext cx="1085215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130300"/>
            <a:ext cx="10850563" cy="343217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25" y="4589463"/>
            <a:ext cx="10850563" cy="1500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69925" y="1130300"/>
            <a:ext cx="5349875" cy="5046663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130300"/>
            <a:ext cx="5348288" cy="5046663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"/>
            <a:ext cx="10850563" cy="10287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26" y="1137955"/>
            <a:ext cx="53276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69926" y="1961867"/>
            <a:ext cx="5327650" cy="417540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137955"/>
            <a:ext cx="53482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1961867"/>
            <a:ext cx="5348288" cy="417540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130299"/>
            <a:ext cx="4879849" cy="1195387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884752" y="1130299"/>
            <a:ext cx="5635736" cy="50069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9924" y="2325687"/>
            <a:ext cx="4879849" cy="38115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130300"/>
            <a:ext cx="4716887" cy="119870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712737" y="1130300"/>
            <a:ext cx="5807750" cy="50102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9924" y="2329004"/>
            <a:ext cx="4716887" cy="381158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10600" y="1130300"/>
            <a:ext cx="2909888" cy="5006976"/>
          </a:xfrm>
        </p:spPr>
        <p:txBody>
          <a:bodyPr vert="eaVert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69925" y="1130300"/>
            <a:ext cx="7731691" cy="5006976"/>
          </a:xfrm>
        </p:spPr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 flipV="1"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28000"/>
            </a:blip>
            <a:srcRect/>
            <a:stretch>
              <a:fillRect t="-86945" r="-80000" b="-13305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12041"/>
            <a:ext cx="10850563" cy="10166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30301"/>
            <a:ext cx="10850563" cy="5006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640263" y="6238875"/>
            <a:ext cx="2911475" cy="234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5" y="6238875"/>
            <a:ext cx="3422241" cy="234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Design by </a:t>
            </a:r>
            <a:r>
              <a:rPr lang="en-US" altLang="zh-CN" dirty="0" err="1"/>
              <a:t>ZXSlide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238875"/>
            <a:ext cx="2909888" cy="234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15.png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6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5.xml"/><Relationship Id="rId2" Type="http://schemas.openxmlformats.org/officeDocument/2006/relationships/image" Target="../media/image18.png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0" Type="http://schemas.openxmlformats.org/officeDocument/2006/relationships/notesSlide" Target="../notesSlides/notesSlide34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3" Type="http://schemas.openxmlformats.org/officeDocument/2006/relationships/notesSlide" Target="../notesSlides/notesSlide36.xml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2.png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4.png"/><Relationship Id="rId3" Type="http://schemas.openxmlformats.org/officeDocument/2006/relationships/tags" Target="../tags/tag57.xml"/><Relationship Id="rId2" Type="http://schemas.openxmlformats.org/officeDocument/2006/relationships/image" Target="../media/image23.png"/><Relationship Id="rId1" Type="http://schemas.openxmlformats.org/officeDocument/2006/relationships/tags" Target="../tags/tag56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1" Type="http://schemas.openxmlformats.org/officeDocument/2006/relationships/tags" Target="../tags/tag58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1" Type="http://schemas.openxmlformats.org/officeDocument/2006/relationships/tags" Target="../tags/tag59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1" Type="http://schemas.openxmlformats.org/officeDocument/2006/relationships/tags" Target="../tags/tag60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1" Type="http://schemas.openxmlformats.org/officeDocument/2006/relationships/tags" Target="../tags/tag6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4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0.png"/><Relationship Id="rId3" Type="http://schemas.openxmlformats.org/officeDocument/2006/relationships/tags" Target="../tags/tag63.xml"/><Relationship Id="rId2" Type="http://schemas.openxmlformats.org/officeDocument/2006/relationships/image" Target="../media/image29.png"/><Relationship Id="rId1" Type="http://schemas.openxmlformats.org/officeDocument/2006/relationships/tags" Target="../tags/tag62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1.png"/><Relationship Id="rId1" Type="http://schemas.openxmlformats.org/officeDocument/2006/relationships/tags" Target="../tags/tag64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3.png"/><Relationship Id="rId3" Type="http://schemas.openxmlformats.org/officeDocument/2006/relationships/tags" Target="../tags/tag66.xml"/><Relationship Id="rId2" Type="http://schemas.openxmlformats.org/officeDocument/2006/relationships/image" Target="../media/image32.png"/><Relationship Id="rId1" Type="http://schemas.openxmlformats.org/officeDocument/2006/relationships/tags" Target="../tags/tag65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1" Type="http://schemas.openxmlformats.org/officeDocument/2006/relationships/tags" Target="../tags/tag6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5.png"/><Relationship Id="rId1" Type="http://schemas.openxmlformats.org/officeDocument/2006/relationships/tags" Target="../tags/tag68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tags" Target="../tags/tag73.xml"/><Relationship Id="rId7" Type="http://schemas.openxmlformats.org/officeDocument/2006/relationships/image" Target="../media/image38.png"/><Relationship Id="rId6" Type="http://schemas.openxmlformats.org/officeDocument/2006/relationships/tags" Target="../tags/tag72.xml"/><Relationship Id="rId5" Type="http://schemas.openxmlformats.org/officeDocument/2006/relationships/image" Target="../media/image37.png"/><Relationship Id="rId4" Type="http://schemas.openxmlformats.org/officeDocument/2006/relationships/tags" Target="../tags/tag71.xml"/><Relationship Id="rId3" Type="http://schemas.openxmlformats.org/officeDocument/2006/relationships/image" Target="../media/image36.png"/><Relationship Id="rId2" Type="http://schemas.openxmlformats.org/officeDocument/2006/relationships/tags" Target="../tags/tag70.xml"/><Relationship Id="rId11" Type="http://schemas.openxmlformats.org/officeDocument/2006/relationships/notesSlide" Target="../notesSlides/notesSlide51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69.xml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2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1.png"/><Relationship Id="rId3" Type="http://schemas.openxmlformats.org/officeDocument/2006/relationships/tags" Target="../tags/tag75.xml"/><Relationship Id="rId2" Type="http://schemas.openxmlformats.org/officeDocument/2006/relationships/image" Target="../media/image40.png"/><Relationship Id="rId1" Type="http://schemas.openxmlformats.org/officeDocument/2006/relationships/tags" Target="../tags/tag7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1" Type="http://schemas.openxmlformats.org/officeDocument/2006/relationships/tags" Target="../tags/tag76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1" Type="http://schemas.openxmlformats.org/officeDocument/2006/relationships/tags" Target="../tags/tag77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1" Type="http://schemas.openxmlformats.org/officeDocument/2006/relationships/tags" Target="../tags/tag7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/>
            <a:srcRect/>
            <a:stretch>
              <a:fillRect l="-23871" t="-28289" r="-15887" b="-1201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投影仪应用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设计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altLang="zh-CN" dirty="0">
                <a:cs typeface="+mn-ea"/>
                <a:sym typeface="+mn-lt"/>
              </a:rPr>
              <a:t>Design by </a:t>
            </a:r>
            <a:r>
              <a:rPr lang="en-US" altLang="zh-CN" dirty="0">
                <a:cs typeface="+mn-ea"/>
                <a:sym typeface="+mn-lt"/>
              </a:rPr>
              <a:t>Hichip</a:t>
            </a:r>
            <a:endParaRPr lang="en-US" altLang="zh-CN" dirty="0"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69925" y="3556000"/>
            <a:ext cx="657270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0" y="2946219"/>
            <a:ext cx="6243144" cy="854786"/>
            <a:chOff x="0" y="2946219"/>
            <a:chExt cx="6243144" cy="854786"/>
          </a:xfrm>
        </p:grpSpPr>
        <p:sp>
          <p:nvSpPr>
            <p:cNvPr id="7" name="矩形 6"/>
            <p:cNvSpPr/>
            <p:nvPr/>
          </p:nvSpPr>
          <p:spPr bwMode="auto">
            <a:xfrm>
              <a:off x="4468605" y="3190418"/>
              <a:ext cx="252494" cy="252494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4726665" y="3131414"/>
              <a:ext cx="53437" cy="53437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349743" y="3448477"/>
              <a:ext cx="113295" cy="113295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4328590" y="3358748"/>
              <a:ext cx="53437" cy="53437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0" y="3429075"/>
              <a:ext cx="4131969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 bwMode="auto">
            <a:xfrm>
              <a:off x="4111855" y="3406215"/>
              <a:ext cx="45719" cy="45720"/>
            </a:xfrm>
            <a:prstGeom prst="rect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947000" y="3561772"/>
              <a:ext cx="1296144" cy="23923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CONTENTS</a:t>
              </a:r>
              <a:endParaRPr lang="en-US" altLang="zh-CN" dirty="0">
                <a:solidFill>
                  <a:schemeClr val="tx2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947000" y="2946219"/>
              <a:ext cx="1296144" cy="61555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/>
            </a:bodyPr>
            <a:lstStyle/>
            <a:p>
              <a:pPr algn="dist"/>
              <a:r>
                <a:rPr lang="zh-CN" altLang="en-US" sz="4000" b="1" dirty="0">
                  <a:solidFill>
                    <a:schemeClr val="tx2"/>
                  </a:solidFill>
                </a:rPr>
                <a:t>目录</a:t>
              </a:r>
              <a:endParaRPr lang="zh-CN" altLang="en-US" sz="40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616881" y="1439024"/>
            <a:ext cx="3906637" cy="847227"/>
            <a:chOff x="7616881" y="1439024"/>
            <a:chExt cx="3906637" cy="847227"/>
          </a:xfrm>
        </p:grpSpPr>
        <p:sp>
          <p:nvSpPr>
            <p:cNvPr id="15" name="矩形 14"/>
            <p:cNvSpPr/>
            <p:nvPr/>
          </p:nvSpPr>
          <p:spPr bwMode="auto">
            <a:xfrm>
              <a:off x="8121071" y="1785099"/>
              <a:ext cx="3399790" cy="356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b="1" dirty="0"/>
                <a:t>投影仪介绍</a:t>
              </a:r>
              <a:endParaRPr lang="zh-CN" altLang="en-US" sz="1600" b="1" dirty="0"/>
            </a:p>
          </p:txBody>
        </p:sp>
        <p:sp>
          <p:nvSpPr>
            <p:cNvPr id="16" name="文本框 15"/>
            <p:cNvSpPr txBox="1"/>
            <p:nvPr/>
          </p:nvSpPr>
          <p:spPr bwMode="auto">
            <a:xfrm>
              <a:off x="8121000" y="1439024"/>
              <a:ext cx="33994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/>
                <a:t>第一部分</a:t>
              </a:r>
              <a:endParaRPr lang="en-US" altLang="zh-CN" sz="1800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616881" y="1529279"/>
              <a:ext cx="446918" cy="482304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77500" lnSpcReduction="20000"/>
            </a:bodyPr>
            <a:lstStyle/>
            <a:p>
              <a:pPr algn="ctr"/>
              <a:r>
                <a:rPr lang="en-US" altLang="zh-CN" sz="4000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01</a:t>
              </a:r>
              <a:endParaRPr lang="en-US" altLang="zh-CN" sz="40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7616881" y="2286251"/>
              <a:ext cx="390663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7616881" y="2515489"/>
            <a:ext cx="3913132" cy="847227"/>
            <a:chOff x="7616881" y="2515489"/>
            <a:chExt cx="3913132" cy="847227"/>
          </a:xfrm>
        </p:grpSpPr>
        <p:sp>
          <p:nvSpPr>
            <p:cNvPr id="19" name="矩形 18"/>
            <p:cNvSpPr/>
            <p:nvPr/>
          </p:nvSpPr>
          <p:spPr bwMode="auto">
            <a:xfrm>
              <a:off x="8130525" y="2889635"/>
              <a:ext cx="3399488" cy="29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b="1" dirty="0"/>
                <a:t>投影仪应用</a:t>
              </a:r>
              <a:r>
                <a:rPr lang="zh-CN" altLang="en-US" sz="1600" b="1" dirty="0"/>
                <a:t>框架</a:t>
              </a:r>
              <a:endParaRPr lang="zh-CN" altLang="en-US" sz="1600" b="1" dirty="0"/>
            </a:p>
          </p:txBody>
        </p:sp>
        <p:sp>
          <p:nvSpPr>
            <p:cNvPr id="20" name="文本框 19"/>
            <p:cNvSpPr txBox="1"/>
            <p:nvPr/>
          </p:nvSpPr>
          <p:spPr bwMode="auto">
            <a:xfrm>
              <a:off x="8121000" y="2515489"/>
              <a:ext cx="33994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/>
                <a:t>第二部分</a:t>
              </a:r>
              <a:endParaRPr lang="en-US" altLang="zh-CN" sz="1800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616881" y="2605744"/>
              <a:ext cx="446918" cy="482304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77500" lnSpcReduction="20000"/>
            </a:bodyPr>
            <a:lstStyle/>
            <a:p>
              <a:pPr algn="ctr"/>
              <a:r>
                <a:rPr lang="en-US" altLang="zh-CN" sz="4000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02</a:t>
              </a:r>
              <a:endParaRPr lang="en-US" altLang="zh-CN" sz="40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7616881" y="3362716"/>
              <a:ext cx="390663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7616881" y="3591954"/>
            <a:ext cx="3913132" cy="847227"/>
            <a:chOff x="7616881" y="3591954"/>
            <a:chExt cx="3913132" cy="847227"/>
          </a:xfrm>
        </p:grpSpPr>
        <p:sp>
          <p:nvSpPr>
            <p:cNvPr id="23" name="矩形 22"/>
            <p:cNvSpPr/>
            <p:nvPr/>
          </p:nvSpPr>
          <p:spPr bwMode="auto">
            <a:xfrm>
              <a:off x="8130525" y="3966735"/>
              <a:ext cx="3399488" cy="29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b="1" dirty="0"/>
                <a:t>投影仪应用</a:t>
              </a:r>
              <a:r>
                <a:rPr lang="zh-CN" altLang="en-US" sz="1600" b="1" dirty="0"/>
                <a:t>子模块</a:t>
              </a:r>
              <a:endParaRPr lang="zh-CN" altLang="en-US" sz="1600" b="1" dirty="0"/>
            </a:p>
          </p:txBody>
        </p:sp>
        <p:sp>
          <p:nvSpPr>
            <p:cNvPr id="24" name="文本框 23"/>
            <p:cNvSpPr txBox="1"/>
            <p:nvPr/>
          </p:nvSpPr>
          <p:spPr bwMode="auto">
            <a:xfrm>
              <a:off x="8121000" y="3591954"/>
              <a:ext cx="3399488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b="1" dirty="0"/>
                <a:t>第三部分</a:t>
              </a:r>
              <a:endParaRPr lang="en-US" altLang="zh-CN" sz="1800" b="1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616881" y="3682209"/>
              <a:ext cx="446918" cy="482304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77500" lnSpcReduction="20000"/>
            </a:bodyPr>
            <a:lstStyle/>
            <a:p>
              <a:pPr algn="ctr"/>
              <a:r>
                <a:rPr lang="en-US" altLang="zh-CN" sz="4000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03</a:t>
              </a:r>
              <a:endParaRPr lang="en-US" altLang="zh-CN" sz="40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7616881" y="4439181"/>
              <a:ext cx="390663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4468605" y="3190418"/>
            <a:ext cx="252494" cy="252494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8" name="矩形 7"/>
          <p:cNvSpPr/>
          <p:nvPr/>
        </p:nvSpPr>
        <p:spPr bwMode="auto">
          <a:xfrm>
            <a:off x="4726665" y="3131414"/>
            <a:ext cx="53437" cy="53437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9" name="矩形 8"/>
          <p:cNvSpPr/>
          <p:nvPr/>
        </p:nvSpPr>
        <p:spPr bwMode="auto">
          <a:xfrm>
            <a:off x="4349743" y="3448477"/>
            <a:ext cx="113295" cy="113295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0" name="矩形 9"/>
          <p:cNvSpPr/>
          <p:nvPr/>
        </p:nvSpPr>
        <p:spPr bwMode="auto">
          <a:xfrm>
            <a:off x="4328590" y="3358748"/>
            <a:ext cx="53437" cy="53437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cxnSp>
        <p:nvCxnSpPr>
          <p:cNvPr id="11" name="直接连接符 10"/>
          <p:cNvCxnSpPr/>
          <p:nvPr/>
        </p:nvCxnSpPr>
        <p:spPr>
          <a:xfrm>
            <a:off x="0" y="3429075"/>
            <a:ext cx="4131969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auto">
          <a:xfrm>
            <a:off x="4111855" y="3406215"/>
            <a:ext cx="45719" cy="45720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文本框 12"/>
          <p:cNvSpPr txBox="1"/>
          <p:nvPr/>
        </p:nvSpPr>
        <p:spPr>
          <a:xfrm>
            <a:off x="4947000" y="3561772"/>
            <a:ext cx="1296144" cy="239233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CONTENTS</a:t>
            </a:r>
            <a:endParaRPr lang="en-US" altLang="zh-CN" dirty="0">
              <a:solidFill>
                <a:schemeClr val="tx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47000" y="2946219"/>
            <a:ext cx="1296144" cy="615553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dist"/>
            <a:r>
              <a:rPr lang="zh-CN" altLang="en-US" sz="4000" b="1" dirty="0">
                <a:solidFill>
                  <a:schemeClr val="tx2"/>
                </a:solidFill>
              </a:rPr>
              <a:t>目录</a:t>
            </a:r>
            <a:endParaRPr lang="zh-CN" altLang="en-US" sz="4000" b="1" dirty="0">
              <a:solidFill>
                <a:schemeClr val="tx2"/>
              </a:solidFill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8121000" y="1851905"/>
            <a:ext cx="3399488" cy="2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b="1">
                <a:solidFill>
                  <a:schemeClr val="accent2"/>
                </a:solidFill>
                <a:sym typeface="+mn-ea"/>
              </a:rPr>
              <a:t>投影仪介绍</a:t>
            </a:r>
            <a:endParaRPr lang="zh-CN" altLang="en-US" sz="1500" b="1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 bwMode="auto">
          <a:xfrm>
            <a:off x="8121000" y="1439024"/>
            <a:ext cx="3399488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defTabSz="914400"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defTabSz="914400"/>
            <a:lvl3pPr marL="914400" defTabSz="914400"/>
            <a:lvl4pPr marL="1371600" defTabSz="914400"/>
            <a:lvl5pPr marL="1828800" defTabSz="914400"/>
            <a:lvl6pPr marL="2286000" defTabSz="914400"/>
            <a:lvl7pPr marL="2743200" defTabSz="914400"/>
            <a:lvl8pPr marL="3200400" defTabSz="914400"/>
            <a:lvl9pPr marL="3657600" defTabSz="914400"/>
          </a:lstStyle>
          <a:p>
            <a:r>
              <a:rPr lang="zh-CN" altLang="en-US">
                <a:solidFill>
                  <a:schemeClr val="accent2"/>
                </a:solidFill>
              </a:rPr>
              <a:t>第一部分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16881" y="1529279"/>
            <a:ext cx="446918" cy="482304"/>
          </a:xfrm>
          <a:prstGeom prst="rect">
            <a:avLst/>
          </a:prstGeom>
          <a:noFill/>
        </p:spPr>
        <p:txBody>
          <a:bodyPr wrap="none" numCol="1" anchor="ctr">
            <a:prstTxWarp prst="textPlain">
              <a:avLst/>
            </a:prstTxWarp>
            <a:normAutofit fontScale="77500" lnSpcReduction="20000"/>
          </a:bodyPr>
          <a:lstStyle>
            <a:defPPr>
              <a:defRPr lang="zh-CN"/>
            </a:defPPr>
            <a:lvl1pPr algn="ctr">
              <a:defRPr sz="400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</a:rPr>
              <a:t>01</a:t>
            </a:r>
            <a:endParaRPr lang="en-US" altLang="zh-CN" dirty="0">
              <a:solidFill>
                <a:schemeClr val="accent2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7616881" y="2286251"/>
            <a:ext cx="39066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auto">
          <a:xfrm>
            <a:off x="8140050" y="2871220"/>
            <a:ext cx="3399488" cy="2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500" b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投影仪应用框架</a:t>
            </a:r>
            <a:endParaRPr lang="zh-CN" altLang="en-US" sz="1500" b="1" dirty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 bwMode="auto">
          <a:xfrm>
            <a:off x="8121000" y="2515489"/>
            <a:ext cx="3399488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defTabSz="914400"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200" defTabSz="914400"/>
            <a:lvl3pPr marL="914400" defTabSz="914400"/>
            <a:lvl4pPr marL="1371600" defTabSz="914400"/>
            <a:lvl5pPr marL="1828800" defTabSz="914400"/>
            <a:lvl6pPr marL="2286000" defTabSz="914400"/>
            <a:lvl7pPr marL="2743200" defTabSz="914400"/>
            <a:lvl8pPr marL="3200400" defTabSz="914400"/>
            <a:lvl9pPr marL="3657600" defTabSz="914400"/>
          </a:lstStyle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第二部分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16881" y="2605744"/>
            <a:ext cx="446918" cy="482304"/>
          </a:xfrm>
          <a:prstGeom prst="rect">
            <a:avLst/>
          </a:prstGeom>
          <a:noFill/>
        </p:spPr>
        <p:txBody>
          <a:bodyPr wrap="none" numCol="1" anchor="ctr">
            <a:prstTxWarp prst="textPlain">
              <a:avLst/>
            </a:prstTxWarp>
            <a:normAutofit fontScale="77500" lnSpcReduction="20000"/>
          </a:bodyPr>
          <a:lstStyle>
            <a:defPPr>
              <a:defRPr lang="zh-CN"/>
            </a:defPPr>
            <a:lvl1pPr algn="ctr">
              <a:defRPr sz="4000">
                <a:solidFill>
                  <a:schemeClr val="accent2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02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616881" y="3362716"/>
            <a:ext cx="39066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 bwMode="auto">
          <a:xfrm>
            <a:off x="8130525" y="3943875"/>
            <a:ext cx="3399488" cy="2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投影仪应用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子模块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 bwMode="auto">
          <a:xfrm>
            <a:off x="8121000" y="3591954"/>
            <a:ext cx="3399488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第三部分</a:t>
            </a:r>
            <a:endParaRPr lang="en-US" altLang="zh-CN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16881" y="3682209"/>
            <a:ext cx="446918" cy="482304"/>
          </a:xfrm>
          <a:prstGeom prst="rect">
            <a:avLst/>
          </a:prstGeom>
          <a:noFill/>
        </p:spPr>
        <p:txBody>
          <a:bodyPr wrap="none" anchor="ctr">
            <a:prstTxWarp prst="textPlain">
              <a:avLst/>
            </a:prstTxWarp>
            <a:normAutofit fontScale="77500" lnSpcReduction="20000"/>
          </a:bodyPr>
          <a:lstStyle/>
          <a:p>
            <a:pPr algn="ctr"/>
            <a:r>
              <a:rPr lang="en-US" altLang="zh-CN" sz="40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0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7616881" y="4439181"/>
            <a:ext cx="39066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67535" y="1028700"/>
            <a:ext cx="8301355" cy="5162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6720" y="1028700"/>
            <a:ext cx="8237220" cy="5137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44980" y="1028700"/>
            <a:ext cx="8092440" cy="4829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61795" y="1062990"/>
            <a:ext cx="8267065" cy="5141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17065" y="1028700"/>
            <a:ext cx="8322310" cy="5186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85645" y="1121410"/>
            <a:ext cx="8205470" cy="5117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24050" y="1042035"/>
            <a:ext cx="7789545" cy="5139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34820" y="1052830"/>
            <a:ext cx="7942580" cy="5179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36725" y="1144905"/>
            <a:ext cx="8573135" cy="506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71320" y="1143000"/>
            <a:ext cx="8848725" cy="4981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62150" y="1171575"/>
            <a:ext cx="8267700" cy="4514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69925" y="1090930"/>
            <a:ext cx="11094085" cy="5012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多输入：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HDMI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CVBS,  Media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，有线同屏，无线同屏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多输出：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HDMI,  LCD(RGB, MIPI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etc)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SPDIF, PCM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支持横屏，竖屏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输出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支持多种投射方式：桌上正投，桌上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背投，吊装正投，吊装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背投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支持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4K/2K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多种格式解码，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显示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支持各种音视频格式解码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支持各种升级：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OTA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USB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升级，手机有线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升级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支持动态旋转：欣赏视频时可以动态翻转，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旋转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梯形校正（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自动）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4468605" y="3190418"/>
            <a:ext cx="252494" cy="252494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8" name="矩形 7"/>
          <p:cNvSpPr/>
          <p:nvPr/>
        </p:nvSpPr>
        <p:spPr bwMode="auto">
          <a:xfrm>
            <a:off x="4726665" y="3131414"/>
            <a:ext cx="53437" cy="53437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9" name="矩形 8"/>
          <p:cNvSpPr/>
          <p:nvPr/>
        </p:nvSpPr>
        <p:spPr bwMode="auto">
          <a:xfrm>
            <a:off x="4349743" y="3448477"/>
            <a:ext cx="113295" cy="113295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0" name="矩形 9"/>
          <p:cNvSpPr/>
          <p:nvPr/>
        </p:nvSpPr>
        <p:spPr bwMode="auto">
          <a:xfrm>
            <a:off x="4328590" y="3358748"/>
            <a:ext cx="53437" cy="53437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cxnSp>
        <p:nvCxnSpPr>
          <p:cNvPr id="11" name="直接连接符 10"/>
          <p:cNvCxnSpPr/>
          <p:nvPr/>
        </p:nvCxnSpPr>
        <p:spPr>
          <a:xfrm>
            <a:off x="0" y="3429075"/>
            <a:ext cx="4131969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auto">
          <a:xfrm>
            <a:off x="4111855" y="3406215"/>
            <a:ext cx="45719" cy="45720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文本框 12"/>
          <p:cNvSpPr txBox="1"/>
          <p:nvPr/>
        </p:nvSpPr>
        <p:spPr>
          <a:xfrm>
            <a:off x="4947000" y="3561772"/>
            <a:ext cx="1296144" cy="239233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CONTENTS</a:t>
            </a:r>
            <a:endParaRPr lang="en-US" altLang="zh-CN" dirty="0">
              <a:solidFill>
                <a:schemeClr val="tx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47000" y="2946219"/>
            <a:ext cx="1296144" cy="615553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dist"/>
            <a:r>
              <a:rPr lang="zh-CN" altLang="en-US" sz="4000" b="1" dirty="0">
                <a:solidFill>
                  <a:schemeClr val="tx2"/>
                </a:solidFill>
              </a:rPr>
              <a:t>目录</a:t>
            </a:r>
            <a:endParaRPr lang="zh-CN" altLang="en-US" sz="4000" b="1" dirty="0">
              <a:solidFill>
                <a:schemeClr val="tx2"/>
              </a:solidFill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8121000" y="1851905"/>
            <a:ext cx="3399488" cy="2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b="1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投影仪介绍</a:t>
            </a:r>
            <a:endParaRPr lang="zh-CN" altLang="en-US" sz="1500" b="1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 bwMode="auto">
          <a:xfrm>
            <a:off x="8121000" y="1439024"/>
            <a:ext cx="3399488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defTabSz="914400"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defTabSz="914400"/>
            <a:lvl3pPr marL="914400" defTabSz="914400"/>
            <a:lvl4pPr marL="1371600" defTabSz="914400"/>
            <a:lvl5pPr marL="1828800" defTabSz="914400"/>
            <a:lvl6pPr marL="2286000" defTabSz="914400"/>
            <a:lvl7pPr marL="2743200" defTabSz="914400"/>
            <a:lvl8pPr marL="3200400" defTabSz="914400"/>
            <a:lvl9pPr marL="3657600" defTabSz="914400"/>
          </a:lstStyle>
          <a:p>
            <a:r>
              <a:rPr lang="zh-CN" altLang="en-US"/>
              <a:t>第一部分</a:t>
            </a:r>
            <a:endParaRPr lang="en-US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7616881" y="1529279"/>
            <a:ext cx="446918" cy="482304"/>
          </a:xfrm>
          <a:prstGeom prst="rect">
            <a:avLst/>
          </a:prstGeom>
          <a:noFill/>
        </p:spPr>
        <p:txBody>
          <a:bodyPr wrap="none" numCol="1" anchor="ctr">
            <a:prstTxWarp prst="textPlain">
              <a:avLst/>
            </a:prstTxWarp>
            <a:normAutofit fontScale="77500" lnSpcReduction="20000"/>
          </a:bodyPr>
          <a:lstStyle>
            <a:defPPr>
              <a:defRPr lang="zh-CN"/>
            </a:defPPr>
            <a:lvl1pPr algn="ctr">
              <a:defRPr sz="400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dirty="0"/>
              <a:t>01</a:t>
            </a:r>
            <a:endParaRPr lang="en-US" altLang="zh-CN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7616881" y="2286251"/>
            <a:ext cx="39066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auto">
          <a:xfrm>
            <a:off x="8140050" y="2871220"/>
            <a:ext cx="3399488" cy="2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500" b="1">
                <a:solidFill>
                  <a:schemeClr val="accent2"/>
                </a:solidFill>
                <a:sym typeface="+mn-ea"/>
              </a:rPr>
              <a:t>投影仪应用</a:t>
            </a:r>
            <a:r>
              <a:rPr lang="zh-CN" altLang="en-US" sz="1500" b="1">
                <a:solidFill>
                  <a:schemeClr val="accent2"/>
                </a:solidFill>
                <a:sym typeface="+mn-ea"/>
              </a:rPr>
              <a:t>框架</a:t>
            </a:r>
            <a:endParaRPr lang="zh-CN" altLang="en-US" sz="1500" b="1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 bwMode="auto">
          <a:xfrm>
            <a:off x="8121000" y="2515489"/>
            <a:ext cx="3399488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defTabSz="914400"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200" defTabSz="914400"/>
            <a:lvl3pPr marL="914400" defTabSz="914400"/>
            <a:lvl4pPr marL="1371600" defTabSz="914400"/>
            <a:lvl5pPr marL="1828800" defTabSz="914400"/>
            <a:lvl6pPr marL="2286000" defTabSz="914400"/>
            <a:lvl7pPr marL="2743200" defTabSz="914400"/>
            <a:lvl8pPr marL="3200400" defTabSz="914400"/>
            <a:lvl9pPr marL="3657600" defTabSz="914400"/>
          </a:lstStyle>
          <a:p>
            <a:r>
              <a:rPr lang="zh-CN" altLang="en-US"/>
              <a:t>第二部分</a:t>
            </a:r>
            <a:endParaRPr lang="en-US" altLang="zh-CN" dirty="0"/>
          </a:p>
        </p:txBody>
      </p:sp>
      <p:sp>
        <p:nvSpPr>
          <p:cNvPr id="21" name="文本框 20"/>
          <p:cNvSpPr txBox="1"/>
          <p:nvPr/>
        </p:nvSpPr>
        <p:spPr>
          <a:xfrm>
            <a:off x="7616881" y="2605744"/>
            <a:ext cx="446918" cy="482304"/>
          </a:xfrm>
          <a:prstGeom prst="rect">
            <a:avLst/>
          </a:prstGeom>
          <a:noFill/>
        </p:spPr>
        <p:txBody>
          <a:bodyPr wrap="none" numCol="1" anchor="ctr">
            <a:prstTxWarp prst="textPlain">
              <a:avLst/>
            </a:prstTxWarp>
            <a:normAutofit fontScale="77500" lnSpcReduction="20000"/>
          </a:bodyPr>
          <a:lstStyle>
            <a:defPPr>
              <a:defRPr lang="zh-CN"/>
            </a:defPPr>
            <a:lvl1pPr algn="ctr">
              <a:defRPr sz="4000">
                <a:solidFill>
                  <a:schemeClr val="accent2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dirty="0"/>
              <a:t>02</a:t>
            </a:r>
            <a:endParaRPr lang="en-US" altLang="zh-CN" dirty="0"/>
          </a:p>
        </p:txBody>
      </p:sp>
      <p:cxnSp>
        <p:nvCxnSpPr>
          <p:cNvPr id="22" name="直接连接符 21"/>
          <p:cNvCxnSpPr/>
          <p:nvPr/>
        </p:nvCxnSpPr>
        <p:spPr>
          <a:xfrm>
            <a:off x="7616881" y="3362716"/>
            <a:ext cx="39066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 bwMode="auto">
          <a:xfrm>
            <a:off x="8130525" y="3943875"/>
            <a:ext cx="3399488" cy="2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投影仪应用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子模块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 bwMode="auto">
          <a:xfrm>
            <a:off x="8121000" y="3591954"/>
            <a:ext cx="3399488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第三部分</a:t>
            </a:r>
            <a:endParaRPr lang="en-US" altLang="zh-CN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16881" y="3682209"/>
            <a:ext cx="446918" cy="482304"/>
          </a:xfrm>
          <a:prstGeom prst="rect">
            <a:avLst/>
          </a:prstGeom>
          <a:noFill/>
        </p:spPr>
        <p:txBody>
          <a:bodyPr wrap="none" anchor="ctr">
            <a:prstTxWarp prst="textPlain">
              <a:avLst/>
            </a:prstTxWarp>
            <a:normAutofit fontScale="77500" lnSpcReduction="20000"/>
          </a:bodyPr>
          <a:lstStyle/>
          <a:p>
            <a:pPr algn="ctr"/>
            <a:r>
              <a:rPr lang="en-US" altLang="zh-CN" sz="40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0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7616881" y="4439181"/>
            <a:ext cx="39066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20495" y="1028700"/>
            <a:ext cx="9390380" cy="5184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</a:rPr>
              <a:t>投影仪应用</a:t>
            </a:r>
            <a:r>
              <a:rPr lang="zh-CN" altLang="en-US" dirty="0">
                <a:solidFill>
                  <a:schemeClr val="accent1"/>
                </a:solidFill>
              </a:rPr>
              <a:t>框架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02765" y="1028700"/>
            <a:ext cx="9214485" cy="5224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844550"/>
            <a:ext cx="10720070" cy="498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None/>
            </a:pP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程序布局：固件是保存在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Nor flash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中，启动时，解压固件到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DDR memory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中运行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23975" y="1400175"/>
            <a:ext cx="4661535" cy="47821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016115" y="1593850"/>
            <a:ext cx="3410585" cy="44208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179945" y="1795780"/>
            <a:ext cx="3023870" cy="658495"/>
          </a:xfrm>
          <a:prstGeom prst="round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boot</a:t>
            </a:r>
            <a:endParaRPr lang="en-US" altLang="zh-CN"/>
          </a:p>
        </p:txBody>
      </p:sp>
      <p:sp>
        <p:nvSpPr>
          <p:cNvPr id="10" name="圆角矩形 9"/>
          <p:cNvSpPr/>
          <p:nvPr>
            <p:custDataLst>
              <p:tags r:id="rId3"/>
            </p:custDataLst>
          </p:nvPr>
        </p:nvSpPr>
        <p:spPr>
          <a:xfrm>
            <a:off x="7179945" y="2659380"/>
            <a:ext cx="3023870" cy="658495"/>
          </a:xfrm>
          <a:prstGeom prst="round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indiv...: hdmi key</a:t>
            </a:r>
            <a:endParaRPr lang="zh-CN" altLang="en-US"/>
          </a:p>
        </p:txBody>
      </p:sp>
      <p:sp>
        <p:nvSpPr>
          <p:cNvPr id="11" name="圆角矩形 10"/>
          <p:cNvSpPr/>
          <p:nvPr>
            <p:custDataLst>
              <p:tags r:id="rId4"/>
            </p:custDataLst>
          </p:nvPr>
        </p:nvSpPr>
        <p:spPr>
          <a:xfrm>
            <a:off x="7179945" y="3522980"/>
            <a:ext cx="3023870" cy="658495"/>
          </a:xfrm>
          <a:prstGeom prst="round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eromfs: logo</a:t>
            </a:r>
            <a:endParaRPr lang="en-US" altLang="zh-CN"/>
          </a:p>
        </p:txBody>
      </p:sp>
      <p:sp>
        <p:nvSpPr>
          <p:cNvPr id="12" name="圆角矩形 11"/>
          <p:cNvSpPr/>
          <p:nvPr>
            <p:custDataLst>
              <p:tags r:id="rId5"/>
            </p:custDataLst>
          </p:nvPr>
        </p:nvSpPr>
        <p:spPr>
          <a:xfrm>
            <a:off x="7179945" y="4386580"/>
            <a:ext cx="3023870" cy="658495"/>
          </a:xfrm>
          <a:prstGeom prst="round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firmware</a:t>
            </a:r>
            <a:endParaRPr lang="en-US" altLang="zh-CN"/>
          </a:p>
        </p:txBody>
      </p:sp>
      <p:sp>
        <p:nvSpPr>
          <p:cNvPr id="13" name="圆角矩形 12"/>
          <p:cNvSpPr/>
          <p:nvPr>
            <p:custDataLst>
              <p:tags r:id="rId6"/>
            </p:custDataLst>
          </p:nvPr>
        </p:nvSpPr>
        <p:spPr>
          <a:xfrm>
            <a:off x="7209790" y="5201920"/>
            <a:ext cx="3023870" cy="658495"/>
          </a:xfrm>
          <a:prstGeom prst="round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pers...: save para..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应用框架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54025" y="1442720"/>
            <a:ext cx="28790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应用主框架（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LVGL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应用）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54025" y="2060575"/>
            <a:ext cx="4330065" cy="3726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LVGL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主线程负责渲染界面图像，定时器，接收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消息事件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单独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渲染控件，无需更新整个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屏幕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窗口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菜单可以自由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切换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更新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窗口，控件后。必须在主循环中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渲染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根据硬件支持，可以使用图形引擎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(2D GE)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做硬件加速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渲染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61573" y="1019175"/>
            <a:ext cx="7248525" cy="5219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id-ID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菜单，控件的绘制必须在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LVGL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主线程进行</a:t>
            </a:r>
            <a:endParaRPr lang="id-ID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通过消息在各线程之间通信，包括通知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LVGL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主线程绘制控件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在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Linux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系统，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freertos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系统中无缝兼容，同一套代码编译；不同函数用宏隔开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芯片硬件有4个图层， 4个图层可以调整顺序，值最高显示在最上面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主图层main layer（MP）:  主视频如媒体播放器全屏播放图层。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辅图层auxp_layer （AUXP）： 用于画中画等，可以和主图层同时显示解码视频，目前没有使用。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OSD 0层fb0（GMA_F）： GMA First，第一层OSD。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OSD 1层fb1（GMA_S）： GMA Second，第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二层OSD。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一般顺序是：主图层最低，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OSD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层放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最上面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80285" y="1238250"/>
            <a:ext cx="7317105" cy="40709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90905" y="1427480"/>
            <a:ext cx="1243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图层</a:t>
            </a:r>
            <a:r>
              <a:rPr lang="zh-CN" altLang="en-US"/>
              <a:t>顺序？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13305" y="1247775"/>
            <a:ext cx="7564120" cy="42037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890905" y="1427480"/>
            <a:ext cx="1243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图层</a:t>
            </a:r>
            <a:r>
              <a:rPr lang="zh-CN" altLang="en-US"/>
              <a:t>顺序？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03120" y="953770"/>
            <a:ext cx="7606665" cy="5285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80615" y="1128395"/>
            <a:ext cx="6867525" cy="4600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模块化加载：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hcrtos对于驱动模块，使用了模块化加载的方式。通过ldscript.ld脚本把驱动模块，或者其他模块配置到指定section，系统启动时，直接使用section中的模块结构体，调用对应初始化指针函数，加载初始化模块。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这种模块化加载的方式比较方便安装/卸载驱动模块，也就是没有编译进去的模块，没有对应的section，也不会加载。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15285" y="1137285"/>
            <a:ext cx="4636770" cy="49930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9860" y="1093470"/>
            <a:ext cx="29222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components/ld/ldscript.ld 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举个例子，adc驱动的加载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847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举个例子，adc驱动的加载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735330" y="1896110"/>
            <a:ext cx="10720070" cy="412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90000"/>
              </a:lnSpc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定义模块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结构体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module_system(saradc_module,hc_1512_saradc_driver_init, NULL, 0)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#define module_system(n, f1, f2, priority)                                  \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	__define_initcall(n, f1, f2, system, "system", priority)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669925" y="1028700"/>
            <a:ext cx="6581775" cy="333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__define_initcall展开后会定义如下机构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体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static __attribute__((__used__)) __attribute__ ((section(".initcall.system0.init"))) \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struct mod_init mod_init_system_saradc_module = {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 .name = "saradc_module", \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 .init = hc_1512_saradc_driver_init,\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 .exit = NULL,\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 .initialized = false \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};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7552055" y="1340485"/>
            <a:ext cx="4556125" cy="3989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.structure.init : {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		_init_start = .;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		_module_init_start = .;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		_module_init_core_start = .;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		.....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		_module_init_system_start = .;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		KEEP(*(.initcall.system0.init))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		KEEP(*(.initcall.system1.init))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		KEEP(*(.initcall.system2.init))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9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		.....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indent="0">
              <a:lnSpc>
                <a:spcPct val="190000"/>
              </a:lnSpc>
              <a:buNone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669925" y="5073650"/>
            <a:ext cx="5951855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90000"/>
              </a:lnSpc>
              <a:buNone/>
            </a:pPr>
            <a:r>
              <a:rPr lang="zh-CN" altLang="en-US" sz="1200">
                <a:sym typeface="+mn-ea"/>
              </a:rPr>
              <a:t>可以知道，mod_init_system_saradc_module 会放在段“.initcall.system0.init”中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indent="0">
              <a:lnSpc>
                <a:spcPct val="190000"/>
              </a:lnSpc>
              <a:buNone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847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系统启动，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把_module_init_start段的所有模块加载并调用init函数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800735" y="1870075"/>
            <a:ext cx="10720070" cy="412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app_main()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=&gt; assert(module_init("all") == 0);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​     = &gt; module_init2():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       for (p = mod_start; p &lt; mod_end; p++) {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	} else if (!strcmp(name, "all")) {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		log_d("init all\n");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		mod_start = (struct mod_init *)&amp;_module_init_start;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		mod_end = (struct mod_init *)&amp;_module_init_end;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	res = p-&gt;init();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	......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190000"/>
              </a:lnSpc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69925" y="1196975"/>
            <a:ext cx="1076833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projector.c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主控制文件，运行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LVGL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主任务，接收消息，处理按键，切换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菜单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63245" y="2008505"/>
            <a:ext cx="10768330" cy="2270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>
                <a:sym typeface="+mn-ea"/>
              </a:rPr>
              <a:t>__initcall(projector_auto_start)</a:t>
            </a:r>
            <a:endParaRPr lang="zh-CN" altLang="en-US"/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  </a:t>
            </a:r>
            <a:r>
              <a:rPr lang="zh-CN" altLang="en-US">
                <a:sym typeface="+mn-ea"/>
              </a:rPr>
              <a:t>assert(module_init("all") == 0);</a:t>
            </a:r>
            <a:endParaRPr lang="zh-CN" altLang="en-US"/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       </a:t>
            </a:r>
            <a:r>
              <a:rPr lang="zh-CN" altLang="en-US">
                <a:sym typeface="+mn-ea"/>
              </a:rPr>
              <a:t>projector_start(0, NULL);</a:t>
            </a:r>
            <a:endParaRPr lang="zh-CN" altLang="en-US"/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             </a:t>
            </a:r>
            <a:r>
              <a:rPr lang="zh-CN" altLang="en-US">
                <a:sym typeface="+mn-ea"/>
              </a:rPr>
              <a:t>projector_task</a:t>
            </a:r>
            <a:r>
              <a:rPr lang="en-US" altLang="zh-CN">
                <a:sym typeface="+mn-ea"/>
              </a:rPr>
              <a:t>(...)</a:t>
            </a:r>
            <a:endParaRPr lang="en-US" altLang="zh-CN"/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69925" y="1196975"/>
            <a:ext cx="10768330" cy="5041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key event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：按键输入，遥控器，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ADC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按键，触摸屏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(/dev/input/eventX)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key task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负责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poll key device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，有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key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事件则读取事件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信息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过滤事件信息中的冗余信息，把有效信息写入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队列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LVGL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主任务读取队列，如果是有效按键信息，则转入给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LVGL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内部处理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响应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key_event.c, projector.c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投影仪应用框架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69925" y="1196975"/>
            <a:ext cx="10768330" cy="641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97855" y="2987675"/>
            <a:ext cx="417195" cy="23304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5697855" y="3220720"/>
            <a:ext cx="417195" cy="23304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5697855" y="3453765"/>
            <a:ext cx="417195" cy="2330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5697855" y="3686810"/>
            <a:ext cx="417195" cy="2330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5697855" y="3919855"/>
            <a:ext cx="417195" cy="2330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5697855" y="4152900"/>
            <a:ext cx="417195" cy="23304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5697855" y="4385945"/>
            <a:ext cx="417195" cy="23304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5697855" y="4618990"/>
            <a:ext cx="417195" cy="23304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321685" y="3442970"/>
            <a:ext cx="1318895" cy="10369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key task</a:t>
            </a:r>
            <a:endParaRPr lang="en-US" altLang="zh-CN"/>
          </a:p>
        </p:txBody>
      </p:sp>
      <p:cxnSp>
        <p:nvCxnSpPr>
          <p:cNvPr id="19" name="曲线连接符 18"/>
          <p:cNvCxnSpPr>
            <a:stCxn id="18" idx="1"/>
            <a:endCxn id="18" idx="7"/>
          </p:cNvCxnSpPr>
          <p:nvPr/>
        </p:nvCxnSpPr>
        <p:spPr>
          <a:xfrm rot="16200000" flipH="1">
            <a:off x="3980815" y="3128645"/>
            <a:ext cx="3175" cy="932815"/>
          </a:xfrm>
          <a:prstGeom prst="curvedConnector3">
            <a:avLst>
              <a:gd name="adj1" fmla="val -2628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/>
          <p:cNvCxnSpPr>
            <a:stCxn id="18" idx="6"/>
            <a:endCxn id="15" idx="1"/>
          </p:cNvCxnSpPr>
          <p:nvPr/>
        </p:nvCxnSpPr>
        <p:spPr>
          <a:xfrm>
            <a:off x="4640580" y="3961765"/>
            <a:ext cx="1057275" cy="307975"/>
          </a:xfrm>
          <a:prstGeom prst="curvedConnector3">
            <a:avLst>
              <a:gd name="adj1" fmla="val 50030"/>
            </a:avLst>
          </a:prstGeom>
          <a:ln w="28575" cap="rnd">
            <a:solidFill>
              <a:srgbClr val="00B05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8"/>
            </p:custDataLst>
          </p:nvPr>
        </p:nvSpPr>
        <p:spPr>
          <a:xfrm>
            <a:off x="7552055" y="3348990"/>
            <a:ext cx="1318895" cy="10369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LVGL task</a:t>
            </a:r>
            <a:endParaRPr lang="en-US" altLang="zh-CN"/>
          </a:p>
        </p:txBody>
      </p:sp>
      <p:cxnSp>
        <p:nvCxnSpPr>
          <p:cNvPr id="24" name="曲线连接符 23"/>
          <p:cNvCxnSpPr/>
          <p:nvPr/>
        </p:nvCxnSpPr>
        <p:spPr>
          <a:xfrm rot="16200000" flipH="1" flipV="1">
            <a:off x="8211185" y="3002280"/>
            <a:ext cx="3175" cy="932815"/>
          </a:xfrm>
          <a:prstGeom prst="curvedConnector3">
            <a:avLst>
              <a:gd name="adj1" fmla="val -2536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曲线连接符 24"/>
          <p:cNvCxnSpPr/>
          <p:nvPr/>
        </p:nvCxnSpPr>
        <p:spPr>
          <a:xfrm rot="10800000">
            <a:off x="6114415" y="3538220"/>
            <a:ext cx="1437005" cy="297180"/>
          </a:xfrm>
          <a:prstGeom prst="curvedConnector3">
            <a:avLst>
              <a:gd name="adj1" fmla="val 49978"/>
            </a:avLst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4468605" y="3190418"/>
            <a:ext cx="252494" cy="252494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8" name="矩形 7"/>
          <p:cNvSpPr/>
          <p:nvPr/>
        </p:nvSpPr>
        <p:spPr bwMode="auto">
          <a:xfrm>
            <a:off x="4726665" y="3131414"/>
            <a:ext cx="53437" cy="53437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9" name="矩形 8"/>
          <p:cNvSpPr/>
          <p:nvPr/>
        </p:nvSpPr>
        <p:spPr bwMode="auto">
          <a:xfrm>
            <a:off x="4349743" y="3448477"/>
            <a:ext cx="113295" cy="113295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0" name="矩形 9"/>
          <p:cNvSpPr/>
          <p:nvPr/>
        </p:nvSpPr>
        <p:spPr bwMode="auto">
          <a:xfrm>
            <a:off x="4328590" y="3358748"/>
            <a:ext cx="53437" cy="53437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cxnSp>
        <p:nvCxnSpPr>
          <p:cNvPr id="11" name="直接连接符 10"/>
          <p:cNvCxnSpPr/>
          <p:nvPr/>
        </p:nvCxnSpPr>
        <p:spPr>
          <a:xfrm>
            <a:off x="0" y="3429075"/>
            <a:ext cx="4131969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auto">
          <a:xfrm>
            <a:off x="4111855" y="3406215"/>
            <a:ext cx="45719" cy="45720"/>
          </a:xfrm>
          <a:prstGeom prst="rect">
            <a:avLst/>
          </a:prstGeom>
          <a:solidFill>
            <a:schemeClr val="tx2"/>
          </a:solidFill>
          <a:ln w="19050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文本框 12"/>
          <p:cNvSpPr txBox="1"/>
          <p:nvPr/>
        </p:nvSpPr>
        <p:spPr>
          <a:xfrm>
            <a:off x="4947000" y="3561772"/>
            <a:ext cx="1296144" cy="239233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CONTENTS</a:t>
            </a:r>
            <a:endParaRPr lang="en-US" altLang="zh-CN" dirty="0">
              <a:solidFill>
                <a:schemeClr val="tx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47000" y="2946219"/>
            <a:ext cx="1296144" cy="615553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dist"/>
            <a:r>
              <a:rPr lang="zh-CN" altLang="en-US" sz="4000" b="1" dirty="0">
                <a:solidFill>
                  <a:schemeClr val="tx2"/>
                </a:solidFill>
              </a:rPr>
              <a:t>目录</a:t>
            </a:r>
            <a:endParaRPr lang="zh-CN" altLang="en-US" sz="4000" b="1" dirty="0">
              <a:solidFill>
                <a:schemeClr val="tx2"/>
              </a:solidFill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8121000" y="1851905"/>
            <a:ext cx="3399488" cy="2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b="1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投影仪介绍</a:t>
            </a:r>
            <a:endParaRPr lang="zh-CN" altLang="en-US" sz="1500" b="1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 bwMode="auto">
          <a:xfrm>
            <a:off x="8121000" y="1439024"/>
            <a:ext cx="3399488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defTabSz="914400"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defTabSz="914400"/>
            <a:lvl3pPr marL="914400" defTabSz="914400"/>
            <a:lvl4pPr marL="1371600" defTabSz="914400"/>
            <a:lvl5pPr marL="1828800" defTabSz="914400"/>
            <a:lvl6pPr marL="2286000" defTabSz="914400"/>
            <a:lvl7pPr marL="2743200" defTabSz="914400"/>
            <a:lvl8pPr marL="3200400" defTabSz="914400"/>
            <a:lvl9pPr marL="3657600" defTabSz="914400"/>
          </a:lstStyle>
          <a:p>
            <a:r>
              <a:rPr lang="zh-CN" altLang="en-US"/>
              <a:t>第一部分</a:t>
            </a:r>
            <a:endParaRPr lang="en-US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7616881" y="1529279"/>
            <a:ext cx="446918" cy="482304"/>
          </a:xfrm>
          <a:prstGeom prst="rect">
            <a:avLst/>
          </a:prstGeom>
          <a:noFill/>
        </p:spPr>
        <p:txBody>
          <a:bodyPr wrap="none" numCol="1" anchor="ctr">
            <a:prstTxWarp prst="textPlain">
              <a:avLst/>
            </a:prstTxWarp>
            <a:normAutofit fontScale="77500" lnSpcReduction="20000"/>
          </a:bodyPr>
          <a:lstStyle>
            <a:defPPr>
              <a:defRPr lang="zh-CN"/>
            </a:defPPr>
            <a:lvl1pPr algn="ctr">
              <a:defRPr sz="400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dirty="0"/>
              <a:t>01</a:t>
            </a:r>
            <a:endParaRPr lang="en-US" altLang="zh-CN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7616881" y="2286251"/>
            <a:ext cx="39066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auto">
          <a:xfrm>
            <a:off x="8140050" y="2871220"/>
            <a:ext cx="3399488" cy="2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500" b="1">
                <a:solidFill>
                  <a:schemeClr val="bg1">
                    <a:lumMod val="50000"/>
                  </a:schemeClr>
                </a:solidFill>
                <a:sym typeface="+mn-ea"/>
              </a:rPr>
              <a:t>投影仪应用框架</a:t>
            </a:r>
            <a:endParaRPr lang="zh-CN" altLang="en-US" sz="1500" b="1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 bwMode="auto">
          <a:xfrm>
            <a:off x="8121000" y="2515489"/>
            <a:ext cx="3399488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defTabSz="914400"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200" defTabSz="914400"/>
            <a:lvl3pPr marL="914400" defTabSz="914400"/>
            <a:lvl4pPr marL="1371600" defTabSz="914400"/>
            <a:lvl5pPr marL="1828800" defTabSz="914400"/>
            <a:lvl6pPr marL="2286000" defTabSz="914400"/>
            <a:lvl7pPr marL="2743200" defTabSz="914400"/>
            <a:lvl8pPr marL="3200400" defTabSz="914400"/>
            <a:lvl9pPr marL="3657600" defTabSz="914400"/>
          </a:lstStyle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第二部分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16881" y="2605744"/>
            <a:ext cx="446918" cy="482304"/>
          </a:xfrm>
          <a:prstGeom prst="rect">
            <a:avLst/>
          </a:prstGeom>
          <a:noFill/>
        </p:spPr>
        <p:txBody>
          <a:bodyPr wrap="none" numCol="1" anchor="ctr">
            <a:prstTxWarp prst="textPlain">
              <a:avLst/>
            </a:prstTxWarp>
            <a:normAutofit fontScale="77500" lnSpcReduction="20000"/>
          </a:bodyPr>
          <a:lstStyle>
            <a:defPPr>
              <a:defRPr lang="zh-CN"/>
            </a:defPPr>
            <a:lvl1pPr algn="ctr">
              <a:defRPr sz="4000">
                <a:solidFill>
                  <a:schemeClr val="accent2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02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616881" y="3362716"/>
            <a:ext cx="39066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 bwMode="auto">
          <a:xfrm>
            <a:off x="8130525" y="3943875"/>
            <a:ext cx="3399488" cy="29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accent2"/>
                </a:solidFill>
                <a:sym typeface="+mn-ea"/>
              </a:rPr>
              <a:t>投影仪应用子模块</a:t>
            </a:r>
            <a:endParaRPr lang="zh-CN" altLang="en-US" sz="1600" b="1" dirty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 bwMode="auto">
          <a:xfrm>
            <a:off x="8121000" y="3591954"/>
            <a:ext cx="3399488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chemeClr val="accent2"/>
                </a:solidFill>
              </a:rPr>
              <a:t>第三部分</a:t>
            </a:r>
            <a:endParaRPr lang="zh-CN" altLang="en-US" sz="1800" b="1" dirty="0">
              <a:solidFill>
                <a:schemeClr val="accent2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16881" y="3682209"/>
            <a:ext cx="446918" cy="482304"/>
          </a:xfrm>
          <a:prstGeom prst="rect">
            <a:avLst/>
          </a:prstGeom>
          <a:noFill/>
        </p:spPr>
        <p:txBody>
          <a:bodyPr wrap="none" anchor="ctr">
            <a:prstTxWarp prst="textPlain">
              <a:avLst/>
            </a:prstTxWarp>
            <a:normAutofit fontScale="77500" lnSpcReduction="20000"/>
          </a:bodyPr>
          <a:lstStyle/>
          <a:p>
            <a:pPr algn="ctr"/>
            <a:r>
              <a:rPr lang="en-US" altLang="zh-CN" sz="4000" dirty="0">
                <a:solidFill>
                  <a:schemeClr val="accent2"/>
                </a:solidFill>
                <a:latin typeface="Impact" panose="020B0806030902050204" pitchFamily="34" charset="0"/>
              </a:rPr>
              <a:t>03</a:t>
            </a:r>
            <a:endParaRPr lang="en-US" altLang="zh-CN" sz="4000" dirty="0">
              <a:solidFill>
                <a:schemeClr val="accent2"/>
              </a:solidFill>
              <a:latin typeface="Impact" panose="020B0806030902050204" pitchFamily="3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7616881" y="4439181"/>
            <a:ext cx="39066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模块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949325" y="1485265"/>
            <a:ext cx="9488170" cy="4506595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462405" y="186309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HDMI </a:t>
            </a:r>
            <a:r>
              <a:rPr lang="en-US" altLang="zh-CN"/>
              <a:t>in</a:t>
            </a:r>
            <a:endParaRPr lang="en-US" altLang="zh-CN"/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4215765" y="186309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HDMI </a:t>
            </a:r>
            <a:r>
              <a:rPr lang="en-US" altLang="zh-CN"/>
              <a:t>out</a:t>
            </a:r>
            <a:endParaRPr lang="en-US" altLang="zh-CN"/>
          </a:p>
        </p:txBody>
      </p:sp>
      <p:sp>
        <p:nvSpPr>
          <p:cNvPr id="10" name="圆角矩形 9"/>
          <p:cNvSpPr/>
          <p:nvPr>
            <p:custDataLst>
              <p:tags r:id="rId2"/>
            </p:custDataLst>
          </p:nvPr>
        </p:nvSpPr>
        <p:spPr>
          <a:xfrm>
            <a:off x="7223125" y="186309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CVBS </a:t>
            </a:r>
            <a:r>
              <a:rPr lang="en-US" altLang="zh-CN"/>
              <a:t>in</a:t>
            </a:r>
            <a:endParaRPr lang="en-US" altLang="zh-CN"/>
          </a:p>
        </p:txBody>
      </p:sp>
      <p:sp>
        <p:nvSpPr>
          <p:cNvPr id="11" name="圆角矩形 10"/>
          <p:cNvSpPr/>
          <p:nvPr>
            <p:custDataLst>
              <p:tags r:id="rId3"/>
            </p:custDataLst>
          </p:nvPr>
        </p:nvSpPr>
        <p:spPr>
          <a:xfrm>
            <a:off x="1462405" y="282321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LCD </a:t>
            </a:r>
            <a:r>
              <a:rPr lang="en-US" altLang="zh-CN"/>
              <a:t>out</a:t>
            </a:r>
            <a:endParaRPr lang="en-US" altLang="zh-CN"/>
          </a:p>
        </p:txBody>
      </p:sp>
      <p:sp>
        <p:nvSpPr>
          <p:cNvPr id="12" name="圆角矩形 11"/>
          <p:cNvSpPr/>
          <p:nvPr>
            <p:custDataLst>
              <p:tags r:id="rId4"/>
            </p:custDataLst>
          </p:nvPr>
        </p:nvSpPr>
        <p:spPr>
          <a:xfrm>
            <a:off x="4215765" y="282321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WiFi</a:t>
            </a:r>
            <a:endParaRPr lang="en-US" altLang="zh-CN"/>
          </a:p>
        </p:txBody>
      </p:sp>
      <p:sp>
        <p:nvSpPr>
          <p:cNvPr id="13" name="圆角矩形 12"/>
          <p:cNvSpPr/>
          <p:nvPr>
            <p:custDataLst>
              <p:tags r:id="rId5"/>
            </p:custDataLst>
          </p:nvPr>
        </p:nvSpPr>
        <p:spPr>
          <a:xfrm>
            <a:off x="7223125" y="282321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Media </a:t>
            </a:r>
            <a:r>
              <a:rPr lang="en-US" altLang="zh-CN"/>
              <a:t>player</a:t>
            </a:r>
            <a:endParaRPr lang="en-US" altLang="zh-CN"/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1462405" y="378333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Bluetooth</a:t>
            </a:r>
            <a:endParaRPr lang="en-US" altLang="zh-CN"/>
          </a:p>
        </p:txBody>
      </p:sp>
      <p:sp>
        <p:nvSpPr>
          <p:cNvPr id="15" name="圆角矩形 14"/>
          <p:cNvSpPr/>
          <p:nvPr>
            <p:custDataLst>
              <p:tags r:id="rId7"/>
            </p:custDataLst>
          </p:nvPr>
        </p:nvSpPr>
        <p:spPr>
          <a:xfrm>
            <a:off x="4215765" y="378333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Wireless cast</a:t>
            </a:r>
            <a:endParaRPr lang="en-US" altLang="zh-CN"/>
          </a:p>
        </p:txBody>
      </p:sp>
      <p:sp>
        <p:nvSpPr>
          <p:cNvPr id="16" name="圆角矩形 15"/>
          <p:cNvSpPr/>
          <p:nvPr>
            <p:custDataLst>
              <p:tags r:id="rId8"/>
            </p:custDataLst>
          </p:nvPr>
        </p:nvSpPr>
        <p:spPr>
          <a:xfrm>
            <a:off x="7223125" y="378333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Usb cast</a:t>
            </a:r>
            <a:endParaRPr lang="en-US" altLang="zh-CN"/>
          </a:p>
        </p:txBody>
      </p:sp>
      <p:sp>
        <p:nvSpPr>
          <p:cNvPr id="17" name="圆角矩形 16"/>
          <p:cNvSpPr/>
          <p:nvPr>
            <p:custDataLst>
              <p:tags r:id="rId9"/>
            </p:custDataLst>
          </p:nvPr>
        </p:nvSpPr>
        <p:spPr>
          <a:xfrm>
            <a:off x="1462405" y="482092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zoom</a:t>
            </a:r>
            <a:endParaRPr lang="en-US" altLang="zh-CN"/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4226560" y="481330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Flip/Rotate</a:t>
            </a:r>
            <a:endParaRPr lang="en-US" altLang="zh-CN"/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7244715" y="4820920"/>
            <a:ext cx="2239010" cy="6788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Upgrade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模块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50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HDMI in/HDMI out/cvbs in/LCD out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hdmi_rx.c,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tv_sys.c,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cvbs_rx.c, *.dts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800735" y="1870075"/>
            <a:ext cx="10720070" cy="412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硬件支持，调用相关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api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即可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插拔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消息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28725" y="3049905"/>
            <a:ext cx="7381875" cy="1762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信号源）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5330" y="1187450"/>
            <a:ext cx="4580255" cy="29686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22010" y="1187450"/>
            <a:ext cx="4552950" cy="3132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WiFi)</a:t>
            </a:r>
            <a:endParaRPr lang="en-US" altLang="zh-CN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Hostap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：其他设别连接到本设备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Station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：连接其他无线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路由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搜索无线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路由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连接无线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路由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wifi.c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92675" y="1364615"/>
            <a:ext cx="6400800" cy="335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(Media player)</a:t>
            </a:r>
            <a:endParaRPr lang="en-US" altLang="zh-CN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各种视频，音频，图片，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TXT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文本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支持增加媒体格式的解码器（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ffmpeger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支持各种外挂，内嵌字幕（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subtitle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MP3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封面图片支持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预览，快进，图片特效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06340" y="2660015"/>
            <a:ext cx="6677025" cy="3095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(Media player)</a:t>
            </a:r>
            <a:endParaRPr lang="en-US" altLang="zh-CN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图片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+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音频同时播放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19655" y="1880235"/>
            <a:ext cx="6562725" cy="396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Media player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52725" y="1095375"/>
            <a:ext cx="6686550" cy="4667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Wireless cast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DLNA: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推送播放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链接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Miracast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：安卓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镜像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Aircast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：苹果镜像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链接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hccast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：开放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中间层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libcast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：同屏库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无线同屏库通过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callback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和上层应用交互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win_cast_root.c,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win_dlna_play.c,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win_cast_play.c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cast_api.c: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处理同屏库回调函数，消息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Wireless cast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49750" y="1137920"/>
            <a:ext cx="6047740" cy="42906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4475" y="1749425"/>
            <a:ext cx="4105275" cy="3067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Wireless cast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86355" y="1513840"/>
            <a:ext cx="6657975" cy="3190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Wireless cast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35295" y="1709420"/>
            <a:ext cx="4119880" cy="34391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71575" y="1133475"/>
            <a:ext cx="3219450" cy="459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Wireless cast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48050" y="1466850"/>
            <a:ext cx="5295900" cy="3924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USB cast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USB cast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有线同屏，通过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usb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线把手机屏幕同屏到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大屏幕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安卓有线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苹果有线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hccast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：开放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中间层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libcast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：同屏库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有线同屏库通过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callback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和上层应用交互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win_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um_play.c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cast_api.c: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处理同屏库回调函数，消息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Flip/Rotate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5051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投影仪，有时使用的是横屏，有时使用的是竖屏，还有各种镜像翻转等。这就要求我们视频图像输出可以根据需要，调节成为横向或者竖屏，垂直翻转，水平翻转等。我们可以支持各种各样的投影方式，以及旋转的叠加，方便用户选择使用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上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正投：无旋转，无翻转，正面显示投影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上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背投：无旋转，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水平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方向翻转（180度），镜面显示投影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吊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装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正投：旋转180度，无翻转，倒立显示投影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吊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装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背投：旋转180度，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水平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方向翻转（180度），倒立镜面显示投影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一键切换投影模式，一键旋转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filp.c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Flip/Rotate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4215" y="1630045"/>
            <a:ext cx="7991475" cy="3305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Flip/Rotate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089785" y="2741930"/>
            <a:ext cx="1456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桌面</a:t>
            </a:r>
            <a:r>
              <a:rPr lang="zh-CN" altLang="en-US"/>
              <a:t>正投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27695" y="2733675"/>
            <a:ext cx="1595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桌上</a:t>
            </a:r>
            <a:r>
              <a:rPr lang="zh-CN" altLang="en-US"/>
              <a:t>背投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302625" y="5532120"/>
            <a:ext cx="1195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吊装</a:t>
            </a:r>
            <a:r>
              <a:rPr lang="zh-CN" altLang="en-US"/>
              <a:t>背投</a:t>
            </a:r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089785" y="5701030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吊装</a:t>
            </a:r>
            <a:r>
              <a:rPr lang="zh-CN" altLang="en-US"/>
              <a:t>正投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43560" y="3800475"/>
            <a:ext cx="4868545" cy="190055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01410" y="1028700"/>
            <a:ext cx="5077460" cy="166687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201410" y="3808730"/>
            <a:ext cx="4938395" cy="172339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84175" y="1028700"/>
            <a:ext cx="5187315" cy="1666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Flip/Rotate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028700"/>
            <a:ext cx="1072007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投屏一键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90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度旋转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9925" y="1843405"/>
            <a:ext cx="3057525" cy="3962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00220" y="1838325"/>
            <a:ext cx="6905625" cy="3590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Upgrade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无线升级（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OTA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）：平台连接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http server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主动升级；通过手机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web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被动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升级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有线（同屏）升级：通过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USB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线，从手机端传送数据到平台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升级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U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盘升级：直接升级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U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盘中固件，支持开机检测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U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盘升级，有断电保护，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flash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被破坏后可以直接从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boot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中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升级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upgrate.c, win_upgrade.c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keystone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梯形校正：使用投影仪时，投影仪投射角度应该尽可能和屏幕成垂直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90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度，否则画面会变成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梯形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17190" y="2063115"/>
            <a:ext cx="5524500" cy="3371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keystone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因此，有必要补偿图像，把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变形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的梯形按照相反补偿，这就是梯形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校正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还有自动梯形校正，使用重力传感器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或者陀螺仪，自动感应仰角，调整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校正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参数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08295" y="1028700"/>
            <a:ext cx="4669155" cy="4944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keystone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梯形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校正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7140" y="1809750"/>
            <a:ext cx="6886575" cy="3933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投影仪应用子模块（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Persistent memory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</a:t>
            </a:r>
            <a:r>
              <a:rPr lang="en-US" altLang="zh-CN"/>
              <a:t>Hichip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5330" y="1187450"/>
            <a:ext cx="10720070" cy="465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配置需要保存到非易失性存储器中（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Nor flash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WiFi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名称，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WiFi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密码，音量，制式，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等等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每个单独的配置都可以保存，负载均衡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擦写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设备节点：/dev/persistentmem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factory_setting.c, 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/>
            <a:srcRect/>
            <a:stretch>
              <a:fillRect l="-23871" t="-28289" r="-15887" b="-12017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Thanks for watching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-193040" y="3532505"/>
            <a:ext cx="657270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副标题 2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ISLIDE.GUIDESSETTING" val="{&quot;Name&quot;:&quot;正常&quot;,&quot;HeaderHeight&quot;:15.0,&quot;TopMargin&quot;:0.0,&quot;FooterHeight&quot;:9.0,&quot;BottomMargin&quot;:0.0,&quot;SideMargin&quot;:5.5,&quot;IntervalMargin&quot;:1.5,&quot;Id&quot;:&quot;GuidesStyle_Normal&quot;}"/>
  <p:tag name="KSO_WPP_MARK_KEY" val="56c39a82-ca5d-4ccd-bd98-4467022a1d20"/>
  <p:tag name="COMMONDATA" val="eyJjb3VudCI6MjMyLCJoZGlkIjoiOTI1MTlhYzk4YjYwZDgyZjU3N2JmOGI2NjA4YmFkNWYiLCJ1c2VyQ291bnQiOjIzMn0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57AA"/>
      </a:accent1>
      <a:accent2>
        <a:srgbClr val="FE7B01"/>
      </a:accent2>
      <a:accent3>
        <a:srgbClr val="527EA7"/>
      </a:accent3>
      <a:accent4>
        <a:srgbClr val="FB971C"/>
      </a:accent4>
      <a:accent5>
        <a:srgbClr val="0151AA"/>
      </a:accent5>
      <a:accent6>
        <a:srgbClr val="3B3B3B"/>
      </a:accent6>
      <a:hlink>
        <a:srgbClr val="4472C4"/>
      </a:hlink>
      <a:folHlink>
        <a:srgbClr val="BFBFBF"/>
      </a:folHlink>
    </a:clrScheme>
    <a:fontScheme name="rkrqb1d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57AA"/>
    </a:accent1>
    <a:accent2>
      <a:srgbClr val="FE7B01"/>
    </a:accent2>
    <a:accent3>
      <a:srgbClr val="527EA7"/>
    </a:accent3>
    <a:accent4>
      <a:srgbClr val="FB971C"/>
    </a:accent4>
    <a:accent5>
      <a:srgbClr val="0151AA"/>
    </a:accent5>
    <a:accent6>
      <a:srgbClr val="3B3B3B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57AA"/>
    </a:accent1>
    <a:accent2>
      <a:srgbClr val="FE7B01"/>
    </a:accent2>
    <a:accent3>
      <a:srgbClr val="527EA7"/>
    </a:accent3>
    <a:accent4>
      <a:srgbClr val="FB971C"/>
    </a:accent4>
    <a:accent5>
      <a:srgbClr val="0151AA"/>
    </a:accent5>
    <a:accent6>
      <a:srgbClr val="3B3B3B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57AA"/>
    </a:accent1>
    <a:accent2>
      <a:srgbClr val="FE7B01"/>
    </a:accent2>
    <a:accent3>
      <a:srgbClr val="527EA7"/>
    </a:accent3>
    <a:accent4>
      <a:srgbClr val="FB971C"/>
    </a:accent4>
    <a:accent5>
      <a:srgbClr val="0151AA"/>
    </a:accent5>
    <a:accent6>
      <a:srgbClr val="3B3B3B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57AA"/>
    </a:accent1>
    <a:accent2>
      <a:srgbClr val="FE7B01"/>
    </a:accent2>
    <a:accent3>
      <a:srgbClr val="527EA7"/>
    </a:accent3>
    <a:accent4>
      <a:srgbClr val="FB971C"/>
    </a:accent4>
    <a:accent5>
      <a:srgbClr val="0151AA"/>
    </a:accent5>
    <a:accent6>
      <a:srgbClr val="3B3B3B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57AA"/>
    </a:accent1>
    <a:accent2>
      <a:srgbClr val="FE7B01"/>
    </a:accent2>
    <a:accent3>
      <a:srgbClr val="527EA7"/>
    </a:accent3>
    <a:accent4>
      <a:srgbClr val="FB971C"/>
    </a:accent4>
    <a:accent5>
      <a:srgbClr val="0151AA"/>
    </a:accent5>
    <a:accent6>
      <a:srgbClr val="3B3B3B"/>
    </a:accent6>
    <a:hlink>
      <a:srgbClr val="4472C4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057AA"/>
    </a:accent1>
    <a:accent2>
      <a:srgbClr val="FE7B01"/>
    </a:accent2>
    <a:accent3>
      <a:srgbClr val="527EA7"/>
    </a:accent3>
    <a:accent4>
      <a:srgbClr val="FB971C"/>
    </a:accent4>
    <a:accent5>
      <a:srgbClr val="0151AA"/>
    </a:accent5>
    <a:accent6>
      <a:srgbClr val="3B3B3B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5699</Words>
  <Application>WPS 演示</Application>
  <PresentationFormat>宽屏</PresentationFormat>
  <Paragraphs>738</Paragraphs>
  <Slides>58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9" baseType="lpstr">
      <vt:lpstr>Arial</vt:lpstr>
      <vt:lpstr>宋体</vt:lpstr>
      <vt:lpstr>Wingdings</vt:lpstr>
      <vt:lpstr>Impact</vt:lpstr>
      <vt:lpstr>微软雅黑</vt:lpstr>
      <vt:lpstr>Arial Unicode MS</vt:lpstr>
      <vt:lpstr>等线</vt:lpstr>
      <vt:lpstr>Open Sans Light</vt:lpstr>
      <vt:lpstr>Calibri</vt:lpstr>
      <vt:lpstr>Times New Roman</vt:lpstr>
      <vt:lpstr>Office 主题​​</vt:lpstr>
      <vt:lpstr>投影仪应用设计</vt:lpstr>
      <vt:lpstr>PowerPoint 演示文稿</vt:lpstr>
      <vt:lpstr>PowerPoint 演示文稿</vt:lpstr>
      <vt:lpstr>投影仪介绍</vt:lpstr>
      <vt:lpstr>投影仪介绍</vt:lpstr>
      <vt:lpstr>投影仪介绍</vt:lpstr>
      <vt:lpstr>投影仪介绍</vt:lpstr>
      <vt:lpstr>投影仪介绍</vt:lpstr>
      <vt:lpstr>投影仪介绍</vt:lpstr>
      <vt:lpstr>投影仪介绍</vt:lpstr>
      <vt:lpstr>投影仪介绍</vt:lpstr>
      <vt:lpstr>投影仪介绍</vt:lpstr>
      <vt:lpstr>投影仪介绍</vt:lpstr>
      <vt:lpstr>投影仪介绍</vt:lpstr>
      <vt:lpstr>投影仪介绍</vt:lpstr>
      <vt:lpstr>PowerPoint 演示文稿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投影仪应用框架</vt:lpstr>
      <vt:lpstr>PowerPoint 演示文稿</vt:lpstr>
      <vt:lpstr>投影仪应用框架</vt:lpstr>
      <vt:lpstr>投影仪应用框架</vt:lpstr>
      <vt:lpstr>投影仪应用框架</vt:lpstr>
      <vt:lpstr>投影仪应用子模块</vt:lpstr>
      <vt:lpstr>投影仪应用子模块</vt:lpstr>
      <vt:lpstr>投影仪应用子模块(Media player)</vt:lpstr>
      <vt:lpstr>投影仪应用子模块（Media player）</vt:lpstr>
      <vt:lpstr>投影仪应用子模块（Wireless cast）</vt:lpstr>
      <vt:lpstr>投影仪应用子模块（Wireless cast）</vt:lpstr>
      <vt:lpstr>投影仪应用子模块（Media player）</vt:lpstr>
      <vt:lpstr>投影仪应用子模块（Wireless cast）</vt:lpstr>
      <vt:lpstr>投影仪应用子模块（Wireless cast）</vt:lpstr>
      <vt:lpstr>投影仪应用子模块（USB cast）</vt:lpstr>
      <vt:lpstr>投影仪应用子模块（Media player）</vt:lpstr>
      <vt:lpstr>投影仪应用子模块（Media player）</vt:lpstr>
      <vt:lpstr>投影仪应用子模块（Media player）</vt:lpstr>
      <vt:lpstr>投影仪应用子模块（Media player）</vt:lpstr>
      <vt:lpstr>投影仪应用子模块（Media player）</vt:lpstr>
      <vt:lpstr>投影仪应用子模块（keystone）</vt:lpstr>
      <vt:lpstr>投影仪应用子模块（keystone）</vt:lpstr>
      <vt:lpstr>投影仪应用子模块（Media player）</vt:lpstr>
      <vt:lpstr>投影仪应用子模块（keystone）</vt:lpstr>
      <vt:lpstr>Thanks for watching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曾成平</dc:creator>
  <cp:lastModifiedBy>潘锋</cp:lastModifiedBy>
  <cp:revision>242</cp:revision>
  <dcterms:created xsi:type="dcterms:W3CDTF">2018-04-29T08:07:00Z</dcterms:created>
  <dcterms:modified xsi:type="dcterms:W3CDTF">2023-08-01T10:31:31Z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KSOTemplateUUID">
    <vt:lpwstr>v1.0_mb_Bo8foXNFzSMQgqd67K050Q==</vt:lpwstr>
  </property>
  <property fmtid="{D5CDD505-2E9C-101B-9397-08002B2CF9AE}" pid="4" name="ICV">
    <vt:lpwstr>366E818E8A1F42ACB9CD2AC1A0E79397_11</vt:lpwstr>
  </property>
</Properties>
</file>