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notesMasterIdLst>
    <p:notesMasterId r:id="rId35"/>
  </p:notesMasterIdLst>
  <p:handoutMasterIdLst>
    <p:handoutMasterId r:id="rId36"/>
  </p:handoutMasterIdLst>
  <p:sldIdLst>
    <p:sldId id="257" r:id="rId3"/>
    <p:sldId id="273" r:id="rId4"/>
    <p:sldId id="308" r:id="rId5"/>
    <p:sldId id="307" r:id="rId6"/>
    <p:sldId id="309" r:id="rId7"/>
    <p:sldId id="311" r:id="rId8"/>
    <p:sldId id="310" r:id="rId9"/>
    <p:sldId id="323" r:id="rId10"/>
    <p:sldId id="312" r:id="rId11"/>
    <p:sldId id="313" r:id="rId12"/>
    <p:sldId id="328" r:id="rId13"/>
    <p:sldId id="314" r:id="rId14"/>
    <p:sldId id="324" r:id="rId15"/>
    <p:sldId id="315" r:id="rId16"/>
    <p:sldId id="316" r:id="rId17"/>
    <p:sldId id="325" r:id="rId18"/>
    <p:sldId id="326" r:id="rId19"/>
    <p:sldId id="327" r:id="rId20"/>
    <p:sldId id="320" r:id="rId21"/>
    <p:sldId id="331" r:id="rId22"/>
    <p:sldId id="330" r:id="rId23"/>
    <p:sldId id="332" r:id="rId24"/>
    <p:sldId id="321" r:id="rId25"/>
    <p:sldId id="322" r:id="rId26"/>
    <p:sldId id="334" r:id="rId27"/>
    <p:sldId id="335" r:id="rId28"/>
    <p:sldId id="336" r:id="rId29"/>
    <p:sldId id="333" r:id="rId30"/>
    <p:sldId id="338" r:id="rId31"/>
    <p:sldId id="317" r:id="rId32"/>
    <p:sldId id="337" r:id="rId33"/>
    <p:sldId id="339" r:id="rId34"/>
  </p:sldIdLst>
  <p:sldSz cx="9144000" cy="6858000" type="screen4x3"/>
  <p:notesSz cx="6645275" cy="97774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6"/>
    <p:restoredTop sz="94712"/>
  </p:normalViewPr>
  <p:slideViewPr>
    <p:cSldViewPr showGuides="1">
      <p:cViewPr varScale="1">
        <p:scale>
          <a:sx n="109" d="100"/>
          <a:sy n="109" d="100"/>
        </p:scale>
        <p:origin x="1884" y="78"/>
      </p:cViewPr>
      <p:guideLst>
        <p:guide orient="horz" pos="232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8D7B18-B09A-42DD-AC8B-D1B6057284F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2024/7/4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E147D0-261A-461E-A872-EF036CB218C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0076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BE4609-4092-497A-B4A8-88E41EBF9C0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2024/7/4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224AB-B769-4E34-8844-0C2F6B52D3C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00507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698625"/>
            <a:ext cx="9144000" cy="432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D24E2D-0CF0-4806-A5A1-D78E5C2E62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02310-F98B-41DF-BDEF-BA111847C7D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emf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sz="4800" dirty="0"/>
          </a:p>
          <a:p>
            <a:pPr algn="ctr" eaLnBrk="1" hangingPunct="1">
              <a:buNone/>
            </a:pPr>
            <a:r>
              <a:rPr lang="zh-CN" altLang="en-US" sz="4800" dirty="0"/>
              <a:t>海奇</a:t>
            </a:r>
            <a:r>
              <a:rPr lang="en-US" altLang="zh-CN" sz="4800" dirty="0"/>
              <a:t>SDK</a:t>
            </a:r>
            <a:r>
              <a:rPr lang="zh-CN" altLang="en-US" sz="4800" dirty="0"/>
              <a:t>基础与软件管理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 smtClean="0"/>
              <a:t>				       	</a:t>
            </a:r>
          </a:p>
          <a:p>
            <a:pPr eaLnBrk="1" hangingPunct="1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			</a:t>
            </a:r>
          </a:p>
          <a:p>
            <a:pPr eaLnBrk="1" hangingPunct="1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			javen</a:t>
            </a:r>
            <a:endParaRPr lang="en-US" altLang="zh-CN" dirty="0"/>
          </a:p>
          <a:p>
            <a:pPr algn="ctr" eaLnBrk="1" hangingPunct="1">
              <a:buNone/>
            </a:pPr>
            <a:r>
              <a:rPr lang="en-US" altLang="zh-CN" dirty="0" smtClean="0"/>
              <a:t> 2024-7-4</a:t>
            </a:r>
            <a:endParaRPr lang="en-US" altLang="zh-CN" dirty="0"/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  <a:pPr lvl="0" algn="r">
                <a:buSzTx/>
                <a:buFontTx/>
              </a:pPr>
              <a:t>1</a:t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  <a:cs typeface="Verdana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395387" y="1844824"/>
            <a:ext cx="3082895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zh-CN" altLang="en-US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奇操作系统介绍</a:t>
            </a:r>
            <a:endParaRPr lang="zh-CN" altLang="en-US" sz="2400" b="1" dirty="0" smtClean="0">
              <a:solidFill>
                <a:srgbClr val="FF0000"/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407261" y="2653416"/>
            <a:ext cx="2456122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sdk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平台介绍</a:t>
            </a:r>
            <a:endParaRPr lang="zh-CN" altLang="en-US" sz="2400" b="1" dirty="0">
              <a:solidFill>
                <a:srgbClr val="FF0000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4438144" y="3483572"/>
            <a:ext cx="1851789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代码管理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6" y="1843088"/>
            <a:ext cx="830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 solution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81476" y="3631883"/>
            <a:ext cx="830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hcLinux solution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33424" y="1843087"/>
            <a:ext cx="4431064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RTOS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方案系统启动均采用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hcboot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Hcboot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开发平台进行开发，经过深度裁减后用于启动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hcLinux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系统固件</a:t>
            </a: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支持开机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show logo (jpeg/mpeg2 format)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支持开机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show a/v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动画 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(mpeg2 format)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可根据需要使用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软件平台中的其他功能组件</a:t>
            </a: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FreeRTOS v10.4.4 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内核开发</a:t>
            </a: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Posix Compatible API</a:t>
            </a: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hcLinux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Linux kernel v4.4.186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Buildroot based build engine</a:t>
            </a:r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971637"/>
              </p:ext>
            </p:extLst>
          </p:nvPr>
        </p:nvGraphicFramePr>
        <p:xfrm>
          <a:off x="985838" y="2397086"/>
          <a:ext cx="2904789" cy="835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Visio" r:id="rId3" imgW="2554815" imgH="736623" progId="Visio.Drawing.11">
                  <p:embed/>
                </p:oleObj>
              </mc:Choice>
              <mc:Fallback>
                <p:oleObj name="Visio" r:id="rId3" imgW="2554815" imgH="736623" progId="Visio.Drawing.11">
                  <p:embed/>
                  <p:pic>
                    <p:nvPicPr>
                      <p:cNvPr id="63" name="对象 6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5838" y="2397086"/>
                        <a:ext cx="2904789" cy="835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海奇操作系统介绍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414" y="4145682"/>
            <a:ext cx="25908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hcRTOS Software Stack</a:t>
            </a:r>
            <a:endParaRPr lang="zh-CN" altLang="en-US" b="1" dirty="0">
              <a:solidFill>
                <a:srgbClr val="FF0000"/>
              </a:solidFill>
              <a:latin typeface="Verdana" pitchFamily="34" charset="0"/>
              <a:cs typeface="Verdana" pitchFamily="34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917871"/>
              </p:ext>
            </p:extLst>
          </p:nvPr>
        </p:nvGraphicFramePr>
        <p:xfrm>
          <a:off x="179512" y="1628800"/>
          <a:ext cx="8702402" cy="4420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" name="Visio" r:id="rId3" imgW="8343976" imgH="4238489" progId="Visio.Drawing.15">
                  <p:embed/>
                </p:oleObj>
              </mc:Choice>
              <mc:Fallback>
                <p:oleObj name="Visio" r:id="rId3" imgW="8343976" imgH="4238489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1628800"/>
                        <a:ext cx="8702402" cy="44207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489786"/>
              </p:ext>
            </p:extLst>
          </p:nvPr>
        </p:nvGraphicFramePr>
        <p:xfrm>
          <a:off x="8100392" y="846138"/>
          <a:ext cx="8858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" name="Visio" r:id="rId5" imgW="885959" imgH="495368" progId="Visio.Drawing.15">
                  <p:embed/>
                </p:oleObj>
              </mc:Choice>
              <mc:Fallback>
                <p:oleObj name="Visio" r:id="rId5" imgW="885959" imgH="495368" progId="Visio.Drawing.15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00392" y="846138"/>
                        <a:ext cx="885825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323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hcLinux Software Stack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022505"/>
              </p:ext>
            </p:extLst>
          </p:nvPr>
        </p:nvGraphicFramePr>
        <p:xfrm>
          <a:off x="107504" y="1556792"/>
          <a:ext cx="9010884" cy="4514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Visio" r:id="rId3" imgW="9525051" imgH="4772127" progId="Visio.Drawing.15">
                  <p:embed/>
                </p:oleObj>
              </mc:Choice>
              <mc:Fallback>
                <p:oleObj name="Visio" r:id="rId3" imgW="9525051" imgH="4772127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504" y="1556792"/>
                        <a:ext cx="9010884" cy="4514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544875"/>
              </p:ext>
            </p:extLst>
          </p:nvPr>
        </p:nvGraphicFramePr>
        <p:xfrm>
          <a:off x="8028384" y="1556792"/>
          <a:ext cx="800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Visio" r:id="rId5" imgW="800024" imgH="647836" progId="Visio.Drawing.15">
                  <p:embed/>
                </p:oleObj>
              </mc:Choice>
              <mc:Fallback>
                <p:oleObj name="Visio" r:id="rId5" imgW="800024" imgH="647836" progId="Visio.Drawing.15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28384" y="1556792"/>
                        <a:ext cx="8001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022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  <a:cs typeface="Verdana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395387" y="1988840"/>
            <a:ext cx="2977097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海奇操作系统介绍</a:t>
            </a:r>
            <a:endParaRPr lang="zh-CN" altLang="en-US" sz="2400" b="1" dirty="0" smtClean="0">
              <a:solidFill>
                <a:srgbClr val="FF0000"/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407261" y="2797432"/>
            <a:ext cx="2456122" cy="523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sdk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平台介绍</a:t>
            </a:r>
            <a:endParaRPr lang="zh-CN" altLang="en-US" sz="2400" b="1" dirty="0">
              <a:solidFill>
                <a:srgbClr val="FF0000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4407261" y="3573016"/>
            <a:ext cx="1745991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代码管理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4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hcrtos</a:t>
            </a:r>
            <a:r>
              <a:rPr lang="zh-CN" altLang="en-US" dirty="0"/>
              <a:t>平台介绍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5576" y="15599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88840"/>
            <a:ext cx="8378080" cy="373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6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Hcrtos</a:t>
            </a:r>
            <a:r>
              <a:rPr lang="zh-CN" altLang="en-US" dirty="0" smtClean="0"/>
              <a:t>文档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59" y="1480652"/>
            <a:ext cx="5370165" cy="475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78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Hcrtos</a:t>
            </a:r>
            <a:r>
              <a:rPr lang="zh-CN" altLang="en-US" dirty="0" smtClean="0"/>
              <a:t>板级配置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484784"/>
            <a:ext cx="2849415" cy="453997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16016" y="1772816"/>
            <a:ext cx="3096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板级配置的作用：</a:t>
            </a:r>
            <a:endParaRPr lang="en-US" altLang="zh-CN" dirty="0" smtClean="0"/>
          </a:p>
          <a:p>
            <a:r>
              <a:rPr lang="en-US" altLang="zh-CN" dirty="0" smtClean="0"/>
              <a:t>1. </a:t>
            </a:r>
            <a:r>
              <a:rPr lang="zh-CN" altLang="en-US" dirty="0" smtClean="0"/>
              <a:t>内存分配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en-US" altLang="zh-CN" dirty="0"/>
              <a:t>Pin</a:t>
            </a:r>
            <a:r>
              <a:rPr lang="zh-CN" altLang="en-US" dirty="0"/>
              <a:t>脚定义</a:t>
            </a:r>
            <a:endParaRPr lang="en-US" altLang="zh-CN" dirty="0" smtClean="0"/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模块硬件开关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9024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Hcrtos</a:t>
            </a:r>
            <a:r>
              <a:rPr lang="zh-CN" altLang="en-US" dirty="0" smtClean="0"/>
              <a:t>方案配置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796136" y="1772816"/>
            <a:ext cx="2736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方案</a:t>
            </a:r>
            <a:r>
              <a:rPr lang="zh-CN" altLang="en-US" dirty="0" smtClean="0"/>
              <a:t>配置的作用：</a:t>
            </a:r>
            <a:endParaRPr lang="en-US" altLang="zh-CN" dirty="0" smtClean="0"/>
          </a:p>
          <a:p>
            <a:r>
              <a:rPr lang="en-US" altLang="zh-CN" dirty="0" smtClean="0"/>
              <a:t>1. </a:t>
            </a:r>
            <a:r>
              <a:rPr lang="zh-CN" altLang="en-US" dirty="0" smtClean="0"/>
              <a:t>方案选择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系统配置</a:t>
            </a:r>
            <a:endParaRPr lang="en-US" altLang="zh-CN" dirty="0" smtClean="0"/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板级方案</a:t>
            </a:r>
            <a:r>
              <a:rPr lang="en-US" altLang="zh-CN" dirty="0" smtClean="0"/>
              <a:t>Dts</a:t>
            </a:r>
            <a:r>
              <a:rPr lang="zh-CN" altLang="en-US" dirty="0" smtClean="0"/>
              <a:t>选择</a:t>
            </a:r>
            <a:endParaRPr lang="en-US" altLang="zh-CN" dirty="0" smtClean="0"/>
          </a:p>
          <a:p>
            <a:r>
              <a:rPr lang="en-US" altLang="zh-CN" dirty="0" smtClean="0"/>
              <a:t>4. </a:t>
            </a:r>
            <a:r>
              <a:rPr lang="zh-CN" altLang="en-US" dirty="0" smtClean="0"/>
              <a:t>固件编译和打包规则</a:t>
            </a:r>
            <a:endParaRPr lang="en-US" altLang="zh-CN" dirty="0"/>
          </a:p>
          <a:p>
            <a:r>
              <a:rPr lang="en-US" altLang="zh-CN" dirty="0" smtClean="0"/>
              <a:t>5. </a:t>
            </a:r>
            <a:r>
              <a:rPr lang="zh-CN" altLang="en-US" dirty="0" smtClean="0"/>
              <a:t>宏开关</a:t>
            </a:r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r="3603"/>
          <a:stretch/>
        </p:blipFill>
        <p:spPr>
          <a:xfrm>
            <a:off x="1331640" y="1556792"/>
            <a:ext cx="4176464" cy="442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Hcrtos</a:t>
            </a:r>
            <a:r>
              <a:rPr lang="zh-CN" altLang="en-US" dirty="0" smtClean="0"/>
              <a:t>编译方法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437781"/>
            <a:ext cx="4434631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74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 smtClean="0"/>
              <a:t>平台介绍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5576" y="15599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929267"/>
            <a:ext cx="8895962" cy="479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1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 smtClean="0"/>
              <a:t>文档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1628800"/>
            <a:ext cx="39338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9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/>
              <a:t>板</a:t>
            </a:r>
            <a:r>
              <a:rPr lang="zh-CN" altLang="en-US" dirty="0" smtClean="0"/>
              <a:t>级配置目录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429769"/>
            <a:ext cx="4143375" cy="4610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02" y="1844824"/>
            <a:ext cx="38671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1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 smtClean="0"/>
              <a:t>方案配置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6895"/>
          <a:stretch/>
        </p:blipFill>
        <p:spPr>
          <a:xfrm>
            <a:off x="2267744" y="1484784"/>
            <a:ext cx="4143375" cy="453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6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 smtClean="0"/>
              <a:t>编译方法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484784"/>
            <a:ext cx="5760640" cy="457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8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 smtClean="0"/>
              <a:t>编译方法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417638"/>
            <a:ext cx="6447259" cy="472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3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 smtClean="0"/>
              <a:t>编译方法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417638"/>
            <a:ext cx="6447259" cy="472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4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固件烧写和升级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403648" y="1628800"/>
            <a:ext cx="7848872" cy="4274989"/>
          </a:xfrm>
        </p:spPr>
        <p:txBody>
          <a:bodyPr>
            <a:normAutofit/>
          </a:bodyPr>
          <a:lstStyle/>
          <a:p>
            <a:r>
              <a:rPr lang="en-US" altLang="zh-CN" sz="18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WindowsGDB (use with Hichip ICE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</a:p>
          <a:p>
            <a:pPr lvl="1"/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hcRTOS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和内核调试工具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Norflash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烧录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8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HCProgrammer.exe </a:t>
            </a:r>
          </a:p>
          <a:p>
            <a:pPr lvl="1"/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固件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烧录（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uart/usb)</a:t>
            </a:r>
          </a:p>
          <a:p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hcFOTA-Gen.exe</a:t>
            </a: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升级包打包工具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hcFOTA-unpack</a:t>
            </a: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升级包拆包（可用于拆包后修改固件的部分组成部分，如配置文件）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hcFOTA-pack</a:t>
            </a: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升级包重新打包（可用于将拆包并修改部分文件之后，重新打包）</a:t>
            </a:r>
            <a:endParaRPr lang="zh-CN" alt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465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固件说明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507947"/>
              </p:ext>
            </p:extLst>
          </p:nvPr>
        </p:nvGraphicFramePr>
        <p:xfrm>
          <a:off x="1619672" y="1772816"/>
          <a:ext cx="684076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3181025380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236495426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884797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目录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说明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用法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612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for-debug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HCFOTA.bin</a:t>
                      </a:r>
                      <a:r>
                        <a:rPr lang="zh-CN" altLang="en-US" sz="1200" dirty="0" smtClean="0"/>
                        <a:t>，</a:t>
                      </a:r>
                      <a:r>
                        <a:rPr lang="en-US" altLang="zh-CN" sz="1200" dirty="0" smtClean="0"/>
                        <a:t>OTA</a:t>
                      </a:r>
                      <a:r>
                        <a:rPr lang="zh-CN" altLang="en-US" sz="1200" dirty="0" smtClean="0"/>
                        <a:t>升级固件，升级所有分区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开发时，尽量用此固件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410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for-factory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spinorflash.bin</a:t>
                      </a:r>
                      <a:r>
                        <a:rPr lang="zh-CN" altLang="en-US" sz="1200" dirty="0" smtClean="0"/>
                        <a:t>，工厂量产固件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工厂量产固件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22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for-net-upgrade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/>
                        <a:t>HCFOTA.bin</a:t>
                      </a:r>
                      <a:r>
                        <a:rPr lang="zh-CN" altLang="en-US" sz="1200" dirty="0" smtClean="0"/>
                        <a:t>，</a:t>
                      </a:r>
                      <a:r>
                        <a:rPr lang="en-US" altLang="zh-CN" sz="1200" dirty="0" smtClean="0"/>
                        <a:t>OTA</a:t>
                      </a:r>
                      <a:r>
                        <a:rPr lang="zh-CN" altLang="en-US" sz="1200" dirty="0" smtClean="0"/>
                        <a:t>升级固件，不升级</a:t>
                      </a:r>
                      <a:r>
                        <a:rPr lang="en-US" altLang="zh-CN" sz="1200" dirty="0" smtClean="0"/>
                        <a:t>boot</a:t>
                      </a:r>
                      <a:r>
                        <a:rPr lang="zh-CN" altLang="en-US" sz="1200" dirty="0" smtClean="0"/>
                        <a:t>分区和数据分区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不想升级</a:t>
                      </a:r>
                      <a:r>
                        <a:rPr lang="en-US" altLang="zh-CN" sz="1200" dirty="0" smtClean="0"/>
                        <a:t>boot</a:t>
                      </a:r>
                      <a:r>
                        <a:rPr lang="zh-CN" altLang="en-US" sz="1200" dirty="0" smtClean="0"/>
                        <a:t>分区和数据分区时，用此固件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035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for-upgrade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smtClean="0"/>
                        <a:t>HCFOTA.bin</a:t>
                      </a:r>
                      <a:r>
                        <a:rPr lang="zh-CN" altLang="en-US" sz="1200" dirty="0" smtClean="0"/>
                        <a:t>，</a:t>
                      </a:r>
                      <a:r>
                        <a:rPr lang="en-US" altLang="zh-CN" sz="1200" dirty="0" smtClean="0"/>
                        <a:t>OTA</a:t>
                      </a:r>
                      <a:r>
                        <a:rPr lang="zh-CN" altLang="en-US" sz="1200" dirty="0" smtClean="0"/>
                        <a:t>升级固件，不升级</a:t>
                      </a:r>
                      <a:r>
                        <a:rPr lang="en-US" altLang="zh-CN" sz="1200" dirty="0" smtClean="0"/>
                        <a:t>boot</a:t>
                      </a:r>
                      <a:r>
                        <a:rPr lang="zh-CN" altLang="en-US" sz="1200" dirty="0" smtClean="0"/>
                        <a:t>分区和数据分区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/>
                        <a:t>不想升级</a:t>
                      </a:r>
                      <a:r>
                        <a:rPr lang="en-US" altLang="zh-CN" sz="1200" dirty="0" smtClean="0"/>
                        <a:t>boot</a:t>
                      </a:r>
                      <a:r>
                        <a:rPr lang="zh-CN" altLang="en-US" sz="1200" dirty="0" smtClean="0"/>
                        <a:t>分区和数据分区时，用此固件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531373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933056"/>
            <a:ext cx="3213378" cy="21831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11689" r="4610"/>
          <a:stretch/>
        </p:blipFill>
        <p:spPr>
          <a:xfrm>
            <a:off x="4824028" y="4221088"/>
            <a:ext cx="3852428" cy="135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4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固件烧写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475656" y="1628801"/>
            <a:ext cx="7056784" cy="1728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进入固件烧写模式的方式：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AutoNum type="arabicPeriod"/>
            </a:pP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板子上的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upgrade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按键，按住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upgrade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按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键，上电开机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AutoNum type="arabicPeriod"/>
            </a:pP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短路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flash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脚 （不建议使用）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AutoNum type="arabicPeriod"/>
            </a:pP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板子烧有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hcprogrammer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的固件，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defconfig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文件里面配置</a:t>
            </a:r>
            <a:endParaRPr lang="zh-CN" alt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119187"/>
            <a:ext cx="7056784" cy="347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1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固件升级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475656" y="1556792"/>
            <a:ext cx="7056784" cy="1728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固件升级方式有</a:t>
            </a:r>
            <a:r>
              <a:rPr lang="zh-CN" altLang="en-US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18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1.usb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device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，待支持，使用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PC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工具通过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usb device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进行升</a:t>
            </a:r>
            <a:r>
              <a:rPr lang="zh-CN" altLang="en-US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级</a:t>
            </a:r>
            <a:endParaRPr lang="en-US" altLang="zh-CN" sz="18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2.U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盘升级，已支持，通过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盘进行升</a:t>
            </a:r>
            <a:r>
              <a:rPr lang="zh-CN" altLang="en-US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级</a:t>
            </a:r>
            <a:endParaRPr lang="en-US" altLang="zh-CN" sz="18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3.sd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卡升级，已支持，通过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sd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卡进行升</a:t>
            </a:r>
            <a:r>
              <a:rPr lang="zh-CN" altLang="en-US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级</a:t>
            </a:r>
            <a:endParaRPr lang="en-US" altLang="zh-CN" sz="18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4.network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，已支持，通过网络进行升级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475656" y="3573016"/>
            <a:ext cx="7056784" cy="172819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进入固件升级方式有：</a:t>
            </a:r>
            <a:endParaRPr lang="en-US" altLang="zh-CN" sz="1800" b="1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1.adc_key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升级键：开机时，长按升级键，即可进入升级模式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2.hcfota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接口：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app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调用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hcfota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接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口。公版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sdk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的主应用“设置”里面有实现。</a:t>
            </a:r>
            <a:endParaRPr lang="zh-CN" alt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150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  <a:cs typeface="Verdana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395387" y="1988840"/>
            <a:ext cx="2977097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海奇操作系统介绍</a:t>
            </a:r>
            <a:endParaRPr lang="zh-CN" altLang="en-US" sz="2400" b="1" dirty="0" smtClean="0">
              <a:solidFill>
                <a:srgbClr val="FF0000"/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407261" y="2797432"/>
            <a:ext cx="2456122" cy="523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sdk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平台介绍</a:t>
            </a:r>
          </a:p>
        </p:txBody>
      </p:sp>
      <p:sp>
        <p:nvSpPr>
          <p:cNvPr id="8" name="文本框 12"/>
          <p:cNvSpPr txBox="1"/>
          <p:nvPr/>
        </p:nvSpPr>
        <p:spPr>
          <a:xfrm>
            <a:off x="4407261" y="3573016"/>
            <a:ext cx="1745991" cy="523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代码管理</a:t>
            </a:r>
          </a:p>
        </p:txBody>
      </p:sp>
    </p:spTree>
    <p:extLst>
      <p:ext uri="{BB962C8B-B14F-4D97-AF65-F5344CB8AC3E}">
        <p14:creationId xmlns:p14="http://schemas.microsoft.com/office/powerpoint/2010/main" val="157381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475656" y="1556792"/>
            <a:ext cx="6912768" cy="41764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代</a:t>
            </a:r>
            <a:r>
              <a:rPr lang="zh-CN" altLang="en-US" dirty="0"/>
              <a:t>码管</a:t>
            </a:r>
            <a:r>
              <a:rPr lang="zh-CN" altLang="en-US" dirty="0" smtClean="0"/>
              <a:t>理：</a:t>
            </a:r>
            <a:endParaRPr lang="zh-CN" altLang="en-US" dirty="0"/>
          </a:p>
          <a:p>
            <a:r>
              <a:rPr lang="zh-CN" altLang="en-US" dirty="0" smtClean="0"/>
              <a:t>分</a:t>
            </a:r>
            <a:r>
              <a:rPr lang="zh-CN" altLang="en-US" dirty="0"/>
              <a:t>支管理</a:t>
            </a:r>
            <a:endParaRPr lang="en-US" altLang="zh-CN" dirty="0"/>
          </a:p>
          <a:p>
            <a:r>
              <a:rPr lang="zh-CN" altLang="en-US" dirty="0" smtClean="0"/>
              <a:t>仓</a:t>
            </a:r>
            <a:r>
              <a:rPr lang="zh-CN" altLang="en-US" dirty="0"/>
              <a:t>库说明</a:t>
            </a:r>
          </a:p>
          <a:p>
            <a:r>
              <a:rPr lang="zh-CN" altLang="en-US" dirty="0" smtClean="0"/>
              <a:t>代</a:t>
            </a:r>
            <a:r>
              <a:rPr lang="zh-CN" altLang="en-US" dirty="0"/>
              <a:t>码上传和下</a:t>
            </a:r>
            <a:r>
              <a:rPr lang="zh-CN" altLang="en-US" dirty="0" smtClean="0"/>
              <a:t>载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</a:t>
            </a:r>
            <a:r>
              <a:rPr lang="zh-CN" altLang="en-US" dirty="0" smtClean="0"/>
              <a:t>码管理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78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en-US" altLang="zh-CN" dirty="0" smtClean="0"/>
              <a:t>SDK</a:t>
            </a:r>
            <a:r>
              <a:rPr lang="zh-CN" altLang="en-US" dirty="0" smtClean="0"/>
              <a:t>分支管理</a:t>
            </a:r>
            <a:endParaRPr lang="zh-CN" altLang="en-US" dirty="0"/>
          </a:p>
        </p:txBody>
      </p:sp>
      <p:grpSp>
        <p:nvGrpSpPr>
          <p:cNvPr id="30" name="组合 29"/>
          <p:cNvGrpSpPr/>
          <p:nvPr/>
        </p:nvGrpSpPr>
        <p:grpSpPr>
          <a:xfrm>
            <a:off x="214282" y="1839780"/>
            <a:ext cx="8225476" cy="4045590"/>
            <a:chOff x="214282" y="1839780"/>
            <a:chExt cx="8225476" cy="4045590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2143108" y="2313470"/>
              <a:ext cx="6286544" cy="1588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流程图: 联系 19"/>
            <p:cNvSpPr/>
            <p:nvPr/>
          </p:nvSpPr>
          <p:spPr>
            <a:xfrm>
              <a:off x="2714612" y="2242032"/>
              <a:ext cx="142876" cy="142876"/>
            </a:xfrm>
            <a:prstGeom prst="flowChartConnector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形状 22"/>
            <p:cNvCxnSpPr>
              <a:stCxn id="20" idx="4"/>
            </p:cNvCxnSpPr>
            <p:nvPr/>
          </p:nvCxnSpPr>
          <p:spPr>
            <a:xfrm rot="16200000" flipH="1">
              <a:off x="5322099" y="-151141"/>
              <a:ext cx="571504" cy="5643602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28" name="流程图: 联系 27"/>
            <p:cNvSpPr/>
            <p:nvPr/>
          </p:nvSpPr>
          <p:spPr>
            <a:xfrm>
              <a:off x="2723404" y="2884974"/>
              <a:ext cx="142876" cy="142876"/>
            </a:xfrm>
            <a:prstGeom prst="flowChartConnector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</a:endParaRPr>
            </a:p>
          </p:txBody>
        </p:sp>
        <p:cxnSp>
          <p:nvCxnSpPr>
            <p:cNvPr id="37" name="形状 36"/>
            <p:cNvCxnSpPr>
              <a:stCxn id="28" idx="4"/>
            </p:cNvCxnSpPr>
            <p:nvPr/>
          </p:nvCxnSpPr>
          <p:spPr>
            <a:xfrm rot="16200000" flipH="1">
              <a:off x="4933586" y="889106"/>
              <a:ext cx="1357322" cy="563481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500958" y="1911218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master</a:t>
              </a:r>
              <a:endParaRPr lang="zh-CN" altLang="en-US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286644" y="2561850"/>
              <a:ext cx="1103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02.y.next</a:t>
              </a:r>
              <a:endParaRPr lang="zh-CN" altLang="en-US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759232" y="4027982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</a:t>
              </a:r>
              <a:endParaRPr lang="zh-CN" altLang="en-US" dirty="0"/>
            </a:p>
          </p:txBody>
        </p:sp>
        <p:sp>
          <p:nvSpPr>
            <p:cNvPr id="51" name="左大括号 50"/>
            <p:cNvSpPr/>
            <p:nvPr/>
          </p:nvSpPr>
          <p:spPr>
            <a:xfrm>
              <a:off x="1643042" y="2242032"/>
              <a:ext cx="500066" cy="157163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14282" y="2837708"/>
              <a:ext cx="1467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Owner: SDK</a:t>
              </a:r>
              <a:endParaRPr lang="zh-CN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12096" y="4885238"/>
              <a:ext cx="12875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Owner: AE</a:t>
              </a:r>
              <a:endParaRPr lang="zh-CN" altLang="en-US" dirty="0"/>
            </a:p>
          </p:txBody>
        </p:sp>
        <p:sp>
          <p:nvSpPr>
            <p:cNvPr id="57" name="左大括号 56"/>
            <p:cNvSpPr/>
            <p:nvPr/>
          </p:nvSpPr>
          <p:spPr>
            <a:xfrm>
              <a:off x="1670520" y="4313734"/>
              <a:ext cx="500066" cy="157163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流程图: 联系 26"/>
            <p:cNvSpPr/>
            <p:nvPr/>
          </p:nvSpPr>
          <p:spPr>
            <a:xfrm>
              <a:off x="6143636" y="2242032"/>
              <a:ext cx="142876" cy="142876"/>
            </a:xfrm>
            <a:prstGeom prst="flowChartConnector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形状 28"/>
            <p:cNvCxnSpPr>
              <a:stCxn id="27" idx="4"/>
            </p:cNvCxnSpPr>
            <p:nvPr/>
          </p:nvCxnSpPr>
          <p:spPr>
            <a:xfrm rot="16200000" flipH="1">
              <a:off x="6715140" y="1884842"/>
              <a:ext cx="1214446" cy="2214578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7286644" y="3204792"/>
              <a:ext cx="1103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08.y.next</a:t>
              </a:r>
              <a:endParaRPr lang="zh-CN" altLang="en-US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500298" y="1839780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</a:t>
              </a:r>
              <a:endParaRPr lang="zh-CN" alt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929322" y="1848572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08.y</a:t>
              </a:r>
              <a:endParaRPr lang="zh-CN" altLang="en-US" dirty="0"/>
            </a:p>
          </p:txBody>
        </p:sp>
        <p:sp>
          <p:nvSpPr>
            <p:cNvPr id="42" name="流程图: 联系 41"/>
            <p:cNvSpPr/>
            <p:nvPr/>
          </p:nvSpPr>
          <p:spPr>
            <a:xfrm>
              <a:off x="4071934" y="2884974"/>
              <a:ext cx="142876" cy="142876"/>
            </a:xfrm>
            <a:prstGeom prst="flowChartConnector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</a:endParaRPr>
            </a:p>
          </p:txBody>
        </p:sp>
        <p:cxnSp>
          <p:nvCxnSpPr>
            <p:cNvPr id="43" name="形状 42"/>
            <p:cNvCxnSpPr>
              <a:stCxn id="42" idx="4"/>
            </p:cNvCxnSpPr>
            <p:nvPr/>
          </p:nvCxnSpPr>
          <p:spPr>
            <a:xfrm rot="16200000" flipH="1">
              <a:off x="5286380" y="1884842"/>
              <a:ext cx="2000264" cy="428628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3" name="流程图: 联系 52"/>
            <p:cNvSpPr/>
            <p:nvPr/>
          </p:nvSpPr>
          <p:spPr>
            <a:xfrm>
              <a:off x="5143504" y="2884974"/>
              <a:ext cx="142876" cy="142876"/>
            </a:xfrm>
            <a:prstGeom prst="flowChartConnector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732328" y="2510200"/>
              <a:ext cx="7959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02.y.1</a:t>
              </a:r>
              <a:endParaRPr lang="zh-CN" altLang="en-US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810486" y="2491514"/>
              <a:ext cx="7959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02.y.2</a:t>
              </a:r>
              <a:endParaRPr lang="zh-CN" altLang="en-US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643834" y="4670924"/>
              <a:ext cx="7959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02.y.1</a:t>
              </a:r>
              <a:endParaRPr lang="zh-CN" altLang="en-US" dirty="0"/>
            </a:p>
          </p:txBody>
        </p:sp>
        <p:cxnSp>
          <p:nvCxnSpPr>
            <p:cNvPr id="64" name="形状 63"/>
            <p:cNvCxnSpPr>
              <a:stCxn id="53" idx="4"/>
            </p:cNvCxnSpPr>
            <p:nvPr/>
          </p:nvCxnSpPr>
          <p:spPr>
            <a:xfrm rot="16200000" flipH="1">
              <a:off x="5464975" y="2777817"/>
              <a:ext cx="2714644" cy="3214710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7643834" y="5385304"/>
              <a:ext cx="7959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02.y.2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4980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en-US" altLang="zh-CN" dirty="0" smtClean="0"/>
              <a:t>SDK</a:t>
            </a:r>
            <a:r>
              <a:rPr lang="zh-CN" altLang="en-US" dirty="0" smtClean="0"/>
              <a:t>分支定义</a:t>
            </a:r>
            <a:endParaRPr lang="zh-CN" altLang="en-US" dirty="0"/>
          </a:p>
        </p:txBody>
      </p:sp>
      <p:grpSp>
        <p:nvGrpSpPr>
          <p:cNvPr id="24" name="组合 23"/>
          <p:cNvGrpSpPr/>
          <p:nvPr/>
        </p:nvGrpSpPr>
        <p:grpSpPr>
          <a:xfrm>
            <a:off x="214282" y="1857364"/>
            <a:ext cx="8358246" cy="3584042"/>
            <a:chOff x="214282" y="1857364"/>
            <a:chExt cx="8358246" cy="3584042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2143108" y="2357430"/>
              <a:ext cx="2428892" cy="1588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流程图: 联系 19"/>
            <p:cNvSpPr/>
            <p:nvPr/>
          </p:nvSpPr>
          <p:spPr>
            <a:xfrm>
              <a:off x="2285984" y="2285992"/>
              <a:ext cx="142876" cy="14287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形状 22"/>
            <p:cNvCxnSpPr>
              <a:stCxn id="20" idx="4"/>
            </p:cNvCxnSpPr>
            <p:nvPr/>
          </p:nvCxnSpPr>
          <p:spPr>
            <a:xfrm rot="16200000" flipH="1">
              <a:off x="2964645" y="1821645"/>
              <a:ext cx="1000132" cy="2214578"/>
            </a:xfrm>
            <a:prstGeom prst="bentConnector2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流程图: 联系 27"/>
            <p:cNvSpPr/>
            <p:nvPr/>
          </p:nvSpPr>
          <p:spPr>
            <a:xfrm>
              <a:off x="2571736" y="3357562"/>
              <a:ext cx="142876" cy="142876"/>
            </a:xfrm>
            <a:prstGeom prst="flowChartConnector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</a:endParaRPr>
            </a:p>
          </p:txBody>
        </p:sp>
        <p:cxnSp>
          <p:nvCxnSpPr>
            <p:cNvPr id="37" name="形状 36"/>
            <p:cNvCxnSpPr>
              <a:stCxn id="28" idx="4"/>
            </p:cNvCxnSpPr>
            <p:nvPr/>
          </p:nvCxnSpPr>
          <p:spPr>
            <a:xfrm rot="16200000" flipH="1">
              <a:off x="3178959" y="2964653"/>
              <a:ext cx="857256" cy="1928826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形状 40"/>
            <p:cNvCxnSpPr/>
            <p:nvPr/>
          </p:nvCxnSpPr>
          <p:spPr>
            <a:xfrm rot="16200000" flipH="1">
              <a:off x="3036083" y="3884555"/>
              <a:ext cx="1928826" cy="1143008"/>
            </a:xfrm>
            <a:prstGeom prst="bentConnector3">
              <a:avLst>
                <a:gd name="adj1" fmla="val 99978"/>
              </a:avLst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500430" y="2000240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master</a:t>
              </a:r>
              <a:endParaRPr lang="zh-CN" altLang="en-US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571868" y="3071810"/>
              <a:ext cx="1103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02.y.next</a:t>
              </a:r>
              <a:endParaRPr lang="zh-CN" altLang="en-US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929058" y="4000504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</a:t>
              </a:r>
              <a:endParaRPr lang="zh-CN" altLang="en-US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786182" y="5072074"/>
              <a:ext cx="7959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02.y.1</a:t>
              </a:r>
              <a:endParaRPr lang="zh-CN" altLang="en-US" dirty="0"/>
            </a:p>
          </p:txBody>
        </p:sp>
        <p:sp>
          <p:nvSpPr>
            <p:cNvPr id="51" name="左大括号 50"/>
            <p:cNvSpPr/>
            <p:nvPr/>
          </p:nvSpPr>
          <p:spPr>
            <a:xfrm>
              <a:off x="1643042" y="2285992"/>
              <a:ext cx="500066" cy="121444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14282" y="2714620"/>
              <a:ext cx="1467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Owner: SDK</a:t>
              </a:r>
              <a:endParaRPr lang="zh-CN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85720" y="4633552"/>
              <a:ext cx="1287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Owner: AE</a:t>
              </a:r>
              <a:endParaRPr lang="zh-CN" altLang="en-US" dirty="0"/>
            </a:p>
          </p:txBody>
        </p:sp>
        <p:sp>
          <p:nvSpPr>
            <p:cNvPr id="57" name="左大括号 56"/>
            <p:cNvSpPr/>
            <p:nvPr/>
          </p:nvSpPr>
          <p:spPr>
            <a:xfrm>
              <a:off x="1714480" y="4214818"/>
              <a:ext cx="500066" cy="121444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线形标注 1 57"/>
            <p:cNvSpPr/>
            <p:nvPr/>
          </p:nvSpPr>
          <p:spPr>
            <a:xfrm>
              <a:off x="5786446" y="1857364"/>
              <a:ext cx="2786082" cy="612648"/>
            </a:xfrm>
            <a:prstGeom prst="borderCallout1">
              <a:avLst>
                <a:gd name="adj1" fmla="val 18750"/>
                <a:gd name="adj2" fmla="val -8333"/>
                <a:gd name="adj3" fmla="val 80927"/>
                <a:gd name="adj4" fmla="val -35378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 smtClean="0">
                  <a:solidFill>
                    <a:srgbClr val="0000FF"/>
                  </a:solidFill>
                </a:rPr>
                <a:t>主开发分支</a:t>
              </a:r>
              <a:endParaRPr lang="en-US" altLang="zh-CN" sz="1200" dirty="0" smtClean="0">
                <a:solidFill>
                  <a:srgbClr val="0000FF"/>
                </a:solidFill>
              </a:endParaRPr>
            </a:p>
            <a:p>
              <a:r>
                <a:rPr lang="zh-CN" altLang="en-US" sz="1200" b="1" dirty="0" smtClean="0">
                  <a:solidFill>
                    <a:srgbClr val="FF0000"/>
                  </a:solidFill>
                </a:rPr>
                <a:t>所有</a:t>
              </a:r>
              <a:r>
                <a:rPr lang="zh-CN" altLang="en-US" sz="1200" b="1" dirty="0" smtClean="0">
                  <a:solidFill>
                    <a:schemeClr val="tx1"/>
                  </a:solidFill>
                </a:rPr>
                <a:t>功能开发和</a:t>
              </a:r>
              <a:r>
                <a:rPr lang="en-US" altLang="zh-CN" sz="1200" b="1" dirty="0" smtClean="0">
                  <a:solidFill>
                    <a:schemeClr val="tx1"/>
                  </a:solidFill>
                </a:rPr>
                <a:t>bug fix</a:t>
              </a:r>
              <a:r>
                <a:rPr lang="zh-CN" altLang="en-US" sz="1200" b="1" dirty="0" smtClean="0">
                  <a:solidFill>
                    <a:schemeClr val="tx1"/>
                  </a:solidFill>
                </a:rPr>
                <a:t>都要上传到这里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9" name="线形标注 1 58"/>
            <p:cNvSpPr/>
            <p:nvPr/>
          </p:nvSpPr>
          <p:spPr>
            <a:xfrm>
              <a:off x="5786446" y="2857496"/>
              <a:ext cx="2786082" cy="612648"/>
            </a:xfrm>
            <a:prstGeom prst="borderCallout1">
              <a:avLst>
                <a:gd name="adj1" fmla="val 18750"/>
                <a:gd name="adj2" fmla="val -8333"/>
                <a:gd name="adj3" fmla="val 80927"/>
                <a:gd name="adj4" fmla="val -35378"/>
              </a:avLst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 smtClean="0">
                  <a:solidFill>
                    <a:srgbClr val="0000FF"/>
                  </a:solidFill>
                </a:rPr>
                <a:t>发布版本开发分支</a:t>
              </a:r>
              <a:endParaRPr lang="en-US" altLang="zh-CN" sz="1200" dirty="0" smtClean="0">
                <a:solidFill>
                  <a:srgbClr val="0000FF"/>
                </a:solidFill>
              </a:endParaRPr>
            </a:p>
            <a:p>
              <a:r>
                <a:rPr lang="zh-CN" altLang="en-US" sz="1200" b="1" dirty="0" smtClean="0">
                  <a:solidFill>
                    <a:schemeClr val="tx1"/>
                  </a:solidFill>
                </a:rPr>
                <a:t>使用此版本的项目报的问题都要上传到这里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流程图: 过程 60"/>
            <p:cNvSpPr/>
            <p:nvPr/>
          </p:nvSpPr>
          <p:spPr>
            <a:xfrm>
              <a:off x="5786446" y="4357694"/>
              <a:ext cx="2786082" cy="1000132"/>
            </a:xfrm>
            <a:prstGeom prst="flowChartProcess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 smtClean="0">
                  <a:solidFill>
                    <a:srgbClr val="0000FF"/>
                  </a:solidFill>
                </a:rPr>
                <a:t>客户发布分支</a:t>
              </a:r>
              <a:endParaRPr lang="en-US" altLang="zh-CN" sz="1200" dirty="0" smtClean="0">
                <a:solidFill>
                  <a:srgbClr val="0000FF"/>
                </a:solidFill>
              </a:endParaRPr>
            </a:p>
            <a:p>
              <a:r>
                <a:rPr lang="zh-CN" altLang="en-US" sz="1200" b="1" dirty="0" smtClean="0">
                  <a:solidFill>
                    <a:schemeClr val="tx1"/>
                  </a:solidFill>
                </a:rPr>
                <a:t>用于客户问题补丁发布，上传到这里前</a:t>
              </a:r>
              <a:r>
                <a:rPr lang="zh-CN" altLang="en-US" sz="1200" b="1" dirty="0" smtClean="0">
                  <a:solidFill>
                    <a:srgbClr val="FF0000"/>
                  </a:solidFill>
                </a:rPr>
                <a:t>先同</a:t>
              </a:r>
              <a:r>
                <a:rPr lang="en-US" altLang="zh-CN" sz="1200" b="1" dirty="0" smtClean="0">
                  <a:solidFill>
                    <a:srgbClr val="FF0000"/>
                  </a:solidFill>
                </a:rPr>
                <a:t>FAE</a:t>
              </a:r>
              <a:r>
                <a:rPr lang="zh-CN" altLang="en-US" sz="1200" b="1" dirty="0" smtClean="0">
                  <a:solidFill>
                    <a:srgbClr val="FF0000"/>
                  </a:solidFill>
                </a:rPr>
                <a:t>确认</a:t>
              </a: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4714876" y="4357694"/>
              <a:ext cx="857256" cy="35719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V="1">
              <a:off x="4714876" y="5000636"/>
              <a:ext cx="857256" cy="35719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流程图: 联系 24"/>
            <p:cNvSpPr/>
            <p:nvPr/>
          </p:nvSpPr>
          <p:spPr>
            <a:xfrm>
              <a:off x="3357554" y="3357562"/>
              <a:ext cx="142876" cy="142876"/>
            </a:xfrm>
            <a:prstGeom prst="flowChartConnector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129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71604" y="274638"/>
            <a:ext cx="7115196" cy="1143000"/>
          </a:xfrm>
        </p:spPr>
        <p:txBody>
          <a:bodyPr/>
          <a:lstStyle/>
          <a:p>
            <a:pPr algn="l"/>
            <a:r>
              <a:rPr lang="zh-CN" altLang="en-US" dirty="0" smtClean="0"/>
              <a:t>客户问题代码合并</a:t>
            </a:r>
            <a:endParaRPr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214282" y="1832090"/>
            <a:ext cx="7929618" cy="4025802"/>
            <a:chOff x="214282" y="1832090"/>
            <a:chExt cx="7929618" cy="4025802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2143108" y="2234342"/>
              <a:ext cx="6000792" cy="1588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流程图: 联系 19"/>
            <p:cNvSpPr/>
            <p:nvPr/>
          </p:nvSpPr>
          <p:spPr>
            <a:xfrm>
              <a:off x="2285984" y="2162904"/>
              <a:ext cx="142876" cy="142876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形状 22"/>
            <p:cNvCxnSpPr>
              <a:stCxn id="20" idx="4"/>
            </p:cNvCxnSpPr>
            <p:nvPr/>
          </p:nvCxnSpPr>
          <p:spPr>
            <a:xfrm rot="16200000" flipH="1">
              <a:off x="4750595" y="-87393"/>
              <a:ext cx="1000132" cy="5786478"/>
            </a:xfrm>
            <a:prstGeom prst="bentConnector2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流程图: 联系 27"/>
            <p:cNvSpPr/>
            <p:nvPr/>
          </p:nvSpPr>
          <p:spPr>
            <a:xfrm>
              <a:off x="2571736" y="3234474"/>
              <a:ext cx="142876" cy="142876"/>
            </a:xfrm>
            <a:prstGeom prst="flowChartConnector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accent2"/>
                  </a:solidFill>
                </a:ln>
                <a:solidFill>
                  <a:schemeClr val="accent2"/>
                </a:solidFill>
              </a:endParaRPr>
            </a:p>
          </p:txBody>
        </p:sp>
        <p:cxnSp>
          <p:nvCxnSpPr>
            <p:cNvPr id="37" name="形状 36"/>
            <p:cNvCxnSpPr>
              <a:stCxn id="28" idx="4"/>
            </p:cNvCxnSpPr>
            <p:nvPr/>
          </p:nvCxnSpPr>
          <p:spPr>
            <a:xfrm rot="16200000" flipH="1">
              <a:off x="4964909" y="1055615"/>
              <a:ext cx="857256" cy="5500726"/>
            </a:xfrm>
            <a:prstGeom prst="bentConnector2">
              <a:avLst/>
            </a:prstGeom>
            <a:ln w="19050">
              <a:solidFill>
                <a:schemeClr val="accent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2500298" y="1857364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master</a:t>
              </a:r>
              <a:endParaRPr lang="zh-CN" altLang="en-US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428860" y="2857496"/>
              <a:ext cx="1103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02.y.next</a:t>
              </a:r>
              <a:endParaRPr lang="zh-CN" altLang="en-US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769568" y="387741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02.y</a:t>
              </a:r>
              <a:endParaRPr lang="zh-CN" altLang="en-US" dirty="0"/>
            </a:p>
          </p:txBody>
        </p:sp>
        <p:sp>
          <p:nvSpPr>
            <p:cNvPr id="51" name="左大括号 50"/>
            <p:cNvSpPr/>
            <p:nvPr/>
          </p:nvSpPr>
          <p:spPr>
            <a:xfrm>
              <a:off x="1643042" y="2162904"/>
              <a:ext cx="500066" cy="1214446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14282" y="2591532"/>
              <a:ext cx="1467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Owner: SDK</a:t>
              </a:r>
              <a:endParaRPr lang="zh-CN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85720" y="4791808"/>
              <a:ext cx="1287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Owner: AE</a:t>
              </a:r>
              <a:endParaRPr lang="zh-CN" altLang="en-US" dirty="0"/>
            </a:p>
          </p:txBody>
        </p:sp>
        <p:sp>
          <p:nvSpPr>
            <p:cNvPr id="57" name="左大括号 56"/>
            <p:cNvSpPr/>
            <p:nvPr/>
          </p:nvSpPr>
          <p:spPr>
            <a:xfrm>
              <a:off x="1714480" y="4091730"/>
              <a:ext cx="500066" cy="1766162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流程图: 过程 30"/>
            <p:cNvSpPr/>
            <p:nvPr/>
          </p:nvSpPr>
          <p:spPr>
            <a:xfrm>
              <a:off x="3071802" y="5411294"/>
              <a:ext cx="2143140" cy="357190"/>
            </a:xfrm>
            <a:prstGeom prst="flowChartProcess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>
                <a:buFont typeface="+mj-ea"/>
                <a:buAutoNum type="circleNumDbPlain"/>
              </a:pPr>
              <a:r>
                <a:rPr lang="en-US" altLang="zh-CN" sz="1200" b="1" dirty="0" smtClean="0">
                  <a:solidFill>
                    <a:srgbClr val="0000FF"/>
                  </a:solidFill>
                </a:rPr>
                <a:t>FAE: </a:t>
              </a:r>
              <a:r>
                <a:rPr lang="zh-CN" altLang="en-US" sz="1200" b="1" dirty="0" smtClean="0">
                  <a:solidFill>
                    <a:srgbClr val="0000FF"/>
                  </a:solidFill>
                </a:rPr>
                <a:t>客户问题提报</a:t>
              </a:r>
              <a:endParaRPr lang="zh-CN" altLang="en-US" sz="1200" b="1" dirty="0" smtClean="0">
                <a:solidFill>
                  <a:srgbClr val="FF0000"/>
                </a:solidFill>
              </a:endParaRPr>
            </a:p>
          </p:txBody>
        </p:sp>
        <p:cxnSp>
          <p:nvCxnSpPr>
            <p:cNvPr id="40" name="直接箭头连接符 39"/>
            <p:cNvCxnSpPr/>
            <p:nvPr/>
          </p:nvCxnSpPr>
          <p:spPr>
            <a:xfrm rot="5400000">
              <a:off x="2761019" y="4831141"/>
              <a:ext cx="1194658" cy="1588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流程图: 过程 51"/>
            <p:cNvSpPr/>
            <p:nvPr/>
          </p:nvSpPr>
          <p:spPr>
            <a:xfrm>
              <a:off x="5786446" y="5411294"/>
              <a:ext cx="2143140" cy="357190"/>
            </a:xfrm>
            <a:prstGeom prst="flowChartProcess">
              <a:avLst/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>
                <a:buFont typeface="+mj-ea"/>
                <a:buAutoNum type="circleNumDbPlain" startAt="2"/>
              </a:pPr>
              <a:r>
                <a:rPr lang="en-US" altLang="zh-CN" sz="1200" b="1" dirty="0" smtClean="0">
                  <a:solidFill>
                    <a:srgbClr val="0000FF"/>
                  </a:solidFill>
                </a:rPr>
                <a:t>RD/FAE: </a:t>
              </a:r>
              <a:r>
                <a:rPr lang="zh-CN" altLang="en-US" sz="1200" b="1" dirty="0" smtClean="0">
                  <a:solidFill>
                    <a:srgbClr val="0000FF"/>
                  </a:solidFill>
                </a:rPr>
                <a:t>问题解决</a:t>
              </a:r>
              <a:endParaRPr lang="zh-CN" altLang="en-US" sz="1200" b="1" dirty="0" smtClean="0">
                <a:solidFill>
                  <a:srgbClr val="FF0000"/>
                </a:solidFill>
              </a:endParaRPr>
            </a:p>
          </p:txBody>
        </p:sp>
        <p:cxnSp>
          <p:nvCxnSpPr>
            <p:cNvPr id="55" name="直接箭头连接符 54"/>
            <p:cNvCxnSpPr>
              <a:stCxn id="31" idx="3"/>
              <a:endCxn id="52" idx="1"/>
            </p:cNvCxnSpPr>
            <p:nvPr/>
          </p:nvCxnSpPr>
          <p:spPr>
            <a:xfrm>
              <a:off x="5214942" y="5589889"/>
              <a:ext cx="571504" cy="1588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流程图: 过程 58"/>
            <p:cNvSpPr/>
            <p:nvPr/>
          </p:nvSpPr>
          <p:spPr>
            <a:xfrm>
              <a:off x="5786446" y="1832090"/>
              <a:ext cx="2143140" cy="357190"/>
            </a:xfrm>
            <a:prstGeom prst="flowChartProcess">
              <a:avLst/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>
                <a:buFont typeface="+mj-ea"/>
                <a:buAutoNum type="circleNumDbPlain" startAt="5"/>
              </a:pPr>
              <a:r>
                <a:rPr lang="en-US" altLang="zh-CN" sz="1200" b="1" dirty="0" smtClean="0">
                  <a:solidFill>
                    <a:srgbClr val="0000FF"/>
                  </a:solidFill>
                </a:rPr>
                <a:t>RD/FAE: </a:t>
              </a:r>
              <a:r>
                <a:rPr lang="zh-CN" altLang="en-US" sz="1200" b="1" dirty="0" smtClean="0">
                  <a:solidFill>
                    <a:srgbClr val="0000FF"/>
                  </a:solidFill>
                </a:rPr>
                <a:t>合并至</a:t>
              </a:r>
              <a:r>
                <a:rPr lang="en-US" altLang="zh-CN" sz="1200" b="1" dirty="0" smtClean="0">
                  <a:solidFill>
                    <a:srgbClr val="0000FF"/>
                  </a:solidFill>
                </a:rPr>
                <a:t>master</a:t>
              </a:r>
              <a:endParaRPr lang="zh-CN" altLang="en-US" sz="1200" b="1" dirty="0" smtClean="0">
                <a:solidFill>
                  <a:srgbClr val="FF0000"/>
                </a:solidFill>
              </a:endParaRPr>
            </a:p>
          </p:txBody>
        </p:sp>
        <p:cxnSp>
          <p:nvCxnSpPr>
            <p:cNvPr id="60" name="直接箭头连接符 59"/>
            <p:cNvCxnSpPr/>
            <p:nvPr/>
          </p:nvCxnSpPr>
          <p:spPr>
            <a:xfrm rot="5400000" flipH="1" flipV="1">
              <a:off x="7019547" y="4803390"/>
              <a:ext cx="1105698" cy="1588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 rot="5400000" flipH="1" flipV="1">
              <a:off x="6071404" y="2770183"/>
              <a:ext cx="1000926" cy="79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 rot="5400000" flipH="1" flipV="1">
              <a:off x="4500562" y="3763965"/>
              <a:ext cx="857256" cy="1588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流程图: 过程 76"/>
            <p:cNvSpPr/>
            <p:nvPr/>
          </p:nvSpPr>
          <p:spPr>
            <a:xfrm>
              <a:off x="4992448" y="3571876"/>
              <a:ext cx="2865700" cy="357190"/>
            </a:xfrm>
            <a:prstGeom prst="flowChartProcess">
              <a:avLst/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>
                <a:buFont typeface="+mj-ea"/>
                <a:buAutoNum type="circleNumDbPlain" startAt="4"/>
              </a:pPr>
              <a:r>
                <a:rPr lang="en-US" altLang="zh-CN" sz="1200" b="1" dirty="0" smtClean="0">
                  <a:solidFill>
                    <a:srgbClr val="0000FF"/>
                  </a:solidFill>
                </a:rPr>
                <a:t>RD/FAE: </a:t>
              </a:r>
              <a:r>
                <a:rPr lang="zh-CN" altLang="en-US" sz="1200" b="1" dirty="0" smtClean="0">
                  <a:solidFill>
                    <a:srgbClr val="0000FF"/>
                  </a:solidFill>
                </a:rPr>
                <a:t>合并至发布版本开发分支</a:t>
              </a:r>
              <a:endParaRPr lang="zh-CN" altLang="en-US" sz="1200" b="1" dirty="0" smtClean="0">
                <a:solidFill>
                  <a:srgbClr val="FF0000"/>
                </a:solidFill>
              </a:endParaRPr>
            </a:p>
          </p:txBody>
        </p:sp>
        <p:sp>
          <p:nvSpPr>
            <p:cNvPr id="81" name="流程图: 过程 80"/>
            <p:cNvSpPr/>
            <p:nvPr/>
          </p:nvSpPr>
          <p:spPr>
            <a:xfrm>
              <a:off x="4500562" y="4714884"/>
              <a:ext cx="2071702" cy="357190"/>
            </a:xfrm>
            <a:prstGeom prst="flowChartProcess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>
                <a:buFont typeface="+mj-ea"/>
                <a:buAutoNum type="circleNumDbPlain" startAt="3"/>
              </a:pPr>
              <a:r>
                <a:rPr lang="en-US" altLang="zh-CN" sz="1200" b="1" dirty="0" smtClean="0">
                  <a:solidFill>
                    <a:srgbClr val="0000FF"/>
                  </a:solidFill>
                </a:rPr>
                <a:t>FAE: </a:t>
              </a:r>
              <a:r>
                <a:rPr lang="zh-CN" altLang="en-US" sz="1200" b="1" dirty="0" smtClean="0">
                  <a:solidFill>
                    <a:srgbClr val="0000FF"/>
                  </a:solidFill>
                </a:rPr>
                <a:t>释放</a:t>
              </a:r>
              <a:r>
                <a:rPr lang="en-US" altLang="zh-CN" sz="1200" b="1" dirty="0" smtClean="0">
                  <a:solidFill>
                    <a:srgbClr val="0000FF"/>
                  </a:solidFill>
                </a:rPr>
                <a:t>Patch</a:t>
              </a:r>
              <a:endParaRPr lang="zh-CN" altLang="en-US" sz="1200" b="1" dirty="0" smtClean="0">
                <a:solidFill>
                  <a:srgbClr val="FF0000"/>
                </a:solidFill>
              </a:endParaRPr>
            </a:p>
          </p:txBody>
        </p:sp>
        <p:cxnSp>
          <p:nvCxnSpPr>
            <p:cNvPr id="82" name="直接箭头连接符 81"/>
            <p:cNvCxnSpPr/>
            <p:nvPr/>
          </p:nvCxnSpPr>
          <p:spPr>
            <a:xfrm rot="5400000">
              <a:off x="5260187" y="4474375"/>
              <a:ext cx="481016" cy="2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487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Gitlab</a:t>
            </a:r>
            <a:r>
              <a:rPr lang="zh-CN" altLang="en-US" dirty="0" smtClean="0"/>
              <a:t>仓库说明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767240"/>
              </p:ext>
            </p:extLst>
          </p:nvPr>
        </p:nvGraphicFramePr>
        <p:xfrm>
          <a:off x="1619672" y="1556792"/>
          <a:ext cx="6480720" cy="425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944">
                  <a:extLst>
                    <a:ext uri="{9D8B030D-6E8A-4147-A177-3AD203B41FA5}">
                      <a16:colId xmlns:a16="http://schemas.microsoft.com/office/drawing/2014/main" val="1617106785"/>
                    </a:ext>
                  </a:extLst>
                </a:gridCol>
                <a:gridCol w="3674517">
                  <a:extLst>
                    <a:ext uri="{9D8B030D-6E8A-4147-A177-3AD203B41FA5}">
                      <a16:colId xmlns:a16="http://schemas.microsoft.com/office/drawing/2014/main" val="1519192998"/>
                    </a:ext>
                  </a:extLst>
                </a:gridCol>
                <a:gridCol w="1428259">
                  <a:extLst>
                    <a:ext uri="{9D8B030D-6E8A-4147-A177-3AD203B41FA5}">
                      <a16:colId xmlns:a16="http://schemas.microsoft.com/office/drawing/2014/main" val="3835492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仓库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备注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9165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hclinux.git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hclinux sdk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0413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hcrtos.git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hcrtos sdk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1486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dl.git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buildroot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第三方软件包，建议下载，在</a:t>
                      </a: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hclinux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编译时，就不会去国外网站下载软件包，加快编译速度。下载后，解压放到</a:t>
                      </a: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hclinux/buildroot/dl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目录。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043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datasheet.git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IC datasheet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2019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reference-design.git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板子原理图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1183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tools.git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工具、教学视频。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bootlogo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生成工具</a:t>
                      </a: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:ffmpeg-4.4-essentials_build 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测试工具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固件烧写：</a:t>
                      </a: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gdb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HCProgrammer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以及教学视频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PQ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调试教学视频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9796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zh-CN" sz="105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docment.git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zh-CN" altLang="en-US" sz="105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存放文档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991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95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Git submodule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5531" r="11494"/>
          <a:stretch/>
        </p:blipFill>
        <p:spPr>
          <a:xfrm>
            <a:off x="395536" y="1700808"/>
            <a:ext cx="3240360" cy="2847975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80854"/>
              </p:ext>
            </p:extLst>
          </p:nvPr>
        </p:nvGraphicFramePr>
        <p:xfrm>
          <a:off x="3923928" y="1830432"/>
          <a:ext cx="468052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2109490847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748985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命令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说明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964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Git clone</a:t>
                      </a:r>
                      <a:r>
                        <a:rPr lang="en-US" altLang="zh-CN" sz="1200" baseline="0" dirty="0" smtClean="0"/>
                        <a:t> &lt;</a:t>
                      </a:r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repository</a:t>
                      </a:r>
                      <a:r>
                        <a:rPr lang="en-US" altLang="zh-CN" sz="1200" baseline="0" dirty="0" smtClean="0"/>
                        <a:t>&gt; --recursive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递归的方式克隆整个项目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852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git submodule add </a:t>
                      </a:r>
                      <a:r>
                        <a:rPr lang="en-US" altLang="zh-CN" sz="1200" baseline="0" dirty="0" smtClean="0"/>
                        <a:t>&lt;</a:t>
                      </a:r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repository</a:t>
                      </a:r>
                      <a:r>
                        <a:rPr lang="en-US" altLang="zh-CN" sz="1200" baseline="0" dirty="0" smtClean="0"/>
                        <a:t>&gt;  &lt;path&gt;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添加子模块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34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git submodule init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初始化子模块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2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git submodule update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更新子模块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413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 smtClean="0"/>
                        <a:t>git submodule foreach git pull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拉取所有子模块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85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9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516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68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547664" y="1772816"/>
            <a:ext cx="6120680" cy="1756792"/>
          </a:xfrm>
        </p:spPr>
        <p:txBody>
          <a:bodyPr/>
          <a:lstStyle/>
          <a:p>
            <a:r>
              <a:rPr lang="en-US" altLang="zh-CN" dirty="0" smtClean="0"/>
              <a:t>Hcrtos</a:t>
            </a:r>
          </a:p>
          <a:p>
            <a:pPr marL="0" indent="0">
              <a:buNone/>
            </a:pPr>
            <a:r>
              <a:rPr lang="en-US" altLang="zh-CN" sz="1400" dirty="0"/>
              <a:t>git clone ssh://git@hichiptech.gitlab.com:33888/hcrtos_sdk/hcrtos.git</a:t>
            </a:r>
          </a:p>
          <a:p>
            <a:pPr marL="0" indent="0">
              <a:buNone/>
            </a:pPr>
            <a:r>
              <a:rPr lang="en-US" altLang="zh-CN" sz="1400" dirty="0"/>
              <a:t>cd hcrtos</a:t>
            </a:r>
          </a:p>
          <a:p>
            <a:pPr marL="0" indent="0">
              <a:buNone/>
            </a:pPr>
            <a:r>
              <a:rPr lang="en-US" altLang="zh-CN" sz="1400" dirty="0"/>
              <a:t>git pull</a:t>
            </a:r>
          </a:p>
          <a:p>
            <a:pPr marL="0" indent="0">
              <a:buNone/>
            </a:pPr>
            <a:r>
              <a:rPr lang="en-US" altLang="zh-CN" sz="1400" dirty="0"/>
              <a:t>git submodule update --init --recursive</a:t>
            </a:r>
            <a:endParaRPr lang="zh-CN" altLang="en-US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Sdk</a:t>
            </a:r>
            <a:r>
              <a:rPr lang="zh-CN" altLang="en-US" dirty="0" smtClean="0"/>
              <a:t>下载</a:t>
            </a:r>
            <a:endParaRPr lang="zh-CN" altLang="en-US" dirty="0"/>
          </a:p>
        </p:txBody>
      </p:sp>
      <p:sp>
        <p:nvSpPr>
          <p:cNvPr id="4" name="内容占位符 1"/>
          <p:cNvSpPr txBox="1">
            <a:spLocks/>
          </p:cNvSpPr>
          <p:nvPr/>
        </p:nvSpPr>
        <p:spPr>
          <a:xfrm>
            <a:off x="1547664" y="3745631"/>
            <a:ext cx="5832648" cy="175679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Hclinux</a:t>
            </a:r>
          </a:p>
          <a:p>
            <a:pPr marL="0" indent="0">
              <a:buNone/>
            </a:pPr>
            <a:r>
              <a:rPr lang="en-US" altLang="zh-CN" sz="1400" dirty="0"/>
              <a:t>git clone ssh://git@hichiptech.gitlab.com:33888/hclinux_sdk/hclinux.git</a:t>
            </a:r>
          </a:p>
          <a:p>
            <a:pPr marL="0" indent="0">
              <a:buNone/>
            </a:pPr>
            <a:r>
              <a:rPr lang="en-US" altLang="zh-CN" sz="1400" dirty="0"/>
              <a:t>cd </a:t>
            </a:r>
            <a:r>
              <a:rPr lang="en-US" altLang="zh-CN" sz="1400" dirty="0" smtClean="0"/>
              <a:t>hclinux</a:t>
            </a:r>
          </a:p>
          <a:p>
            <a:pPr marL="0" indent="0">
              <a:buNone/>
            </a:pPr>
            <a:r>
              <a:rPr lang="en-US" altLang="zh-CN" sz="1400" dirty="0"/>
              <a:t>git </a:t>
            </a:r>
            <a:r>
              <a:rPr lang="en-US" altLang="zh-CN" sz="1400" dirty="0" smtClean="0"/>
              <a:t>pull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git submodule update --init --recursive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135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代码上传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" y="1556792"/>
            <a:ext cx="2355811" cy="418184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326" y="1556792"/>
            <a:ext cx="6215162" cy="470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9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代码上传流程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42"/>
          <a:stretch/>
        </p:blipFill>
        <p:spPr>
          <a:xfrm>
            <a:off x="2771800" y="1484784"/>
            <a:ext cx="6169757" cy="86409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004" y="2392988"/>
            <a:ext cx="6181553" cy="20193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4470642"/>
            <a:ext cx="5191125" cy="12668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1484784"/>
            <a:ext cx="13906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7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6320</TotalTime>
  <Words>1253</Words>
  <Application>Microsoft Office PowerPoint</Application>
  <PresentationFormat>全屏显示(4:3)</PresentationFormat>
  <Paragraphs>204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等线</vt:lpstr>
      <vt:lpstr>仿宋</vt:lpstr>
      <vt:lpstr>楷体</vt:lpstr>
      <vt:lpstr>宋体</vt:lpstr>
      <vt:lpstr>Arial</vt:lpstr>
      <vt:lpstr>Calibri</vt:lpstr>
      <vt:lpstr>Times New Roman</vt:lpstr>
      <vt:lpstr>Verdana</vt:lpstr>
      <vt:lpstr>Office 主题</vt:lpstr>
      <vt:lpstr>2_Office 主题</vt:lpstr>
      <vt:lpstr>Visio</vt:lpstr>
      <vt:lpstr>PowerPoint 演示文稿</vt:lpstr>
      <vt:lpstr>目录</vt:lpstr>
      <vt:lpstr>海奇操作系统介绍</vt:lpstr>
      <vt:lpstr>hcRTOS Software Stack</vt:lpstr>
      <vt:lpstr>hcLinux Software Stack</vt:lpstr>
      <vt:lpstr>目录</vt:lpstr>
      <vt:lpstr>hcrtos平台介绍</vt:lpstr>
      <vt:lpstr>Hcrtos文档</vt:lpstr>
      <vt:lpstr>Hcrtos板级配置</vt:lpstr>
      <vt:lpstr>Hcrtos方案配置</vt:lpstr>
      <vt:lpstr>Hcrtos编译方法</vt:lpstr>
      <vt:lpstr>Hclinux平台介绍</vt:lpstr>
      <vt:lpstr>Hclinux文档</vt:lpstr>
      <vt:lpstr>Hclinux板级配置目录</vt:lpstr>
      <vt:lpstr>Hclinux方案配置</vt:lpstr>
      <vt:lpstr>Hclinux编译方法</vt:lpstr>
      <vt:lpstr>Hclinux编译方法</vt:lpstr>
      <vt:lpstr>Hclinux编译方法</vt:lpstr>
      <vt:lpstr>固件烧写和升级</vt:lpstr>
      <vt:lpstr>固件说明</vt:lpstr>
      <vt:lpstr>固件烧写</vt:lpstr>
      <vt:lpstr>固件升级</vt:lpstr>
      <vt:lpstr>目录</vt:lpstr>
      <vt:lpstr>代码管理</vt:lpstr>
      <vt:lpstr>SDK分支管理</vt:lpstr>
      <vt:lpstr>SDK分支定义</vt:lpstr>
      <vt:lpstr>客户问题代码合并</vt:lpstr>
      <vt:lpstr>Gitlab仓库说明</vt:lpstr>
      <vt:lpstr>Git submodule</vt:lpstr>
      <vt:lpstr>Sdk下载</vt:lpstr>
      <vt:lpstr>代码上传</vt:lpstr>
      <vt:lpstr>代码上传流程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xbany</dc:creator>
  <cp:lastModifiedBy>Administrator</cp:lastModifiedBy>
  <cp:revision>1216</cp:revision>
  <dcterms:created xsi:type="dcterms:W3CDTF">2019-11-11T11:15:00Z</dcterms:created>
  <dcterms:modified xsi:type="dcterms:W3CDTF">2024-07-04T12:17:04Z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A99C97CE63B5481BA1E838BBF44C90C0</vt:lpwstr>
  </property>
</Properties>
</file>